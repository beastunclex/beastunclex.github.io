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69a457cfa4edd" /><Relationship Type="http://schemas.openxmlformats.org/officeDocument/2006/relationships/extended-properties" Target="/docProps/app.xml" Id="R3aa94528d8f14c97" /><Relationship Type="http://schemas.openxmlformats.org/officeDocument/2006/relationships/officeDocument" Target="/ppt/presentation.xml" Id="R845f6bbd27ab4f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01e5ea3a74ddc"/>
  </p:sldMasterIdLst>
  <p:notesMasterIdLst>
    <p:notesMasterId xmlns:r="http://schemas.openxmlformats.org/officeDocument/2006/relationships" r:id="Rf7beffdcdd07457e"/>
  </p:notesMasterIdLst>
  <p:sldIdLst>
    <p:sldId xmlns:r="http://schemas.openxmlformats.org/officeDocument/2006/relationships" id="256" r:id="R1769bdf5375e4b85"/>
    <p:sldId xmlns:r="http://schemas.openxmlformats.org/officeDocument/2006/relationships" id="257" r:id="R4ec9c1fec41e4523"/>
    <p:sldId xmlns:r="http://schemas.openxmlformats.org/officeDocument/2006/relationships" id="258" r:id="Rccdd35b05bee4480"/>
    <p:sldId xmlns:r="http://schemas.openxmlformats.org/officeDocument/2006/relationships" id="259" r:id="R531f3244928a4ab4"/>
    <p:sldId xmlns:r="http://schemas.openxmlformats.org/officeDocument/2006/relationships" id="260" r:id="R9444ba6dba764345"/>
    <p:sldId xmlns:r="http://schemas.openxmlformats.org/officeDocument/2006/relationships" id="261" r:id="R8227d54c650344ce"/>
    <p:sldId xmlns:r="http://schemas.openxmlformats.org/officeDocument/2006/relationships" id="262" r:id="Rba83f8d71a9b4b8b"/>
    <p:sldId xmlns:r="http://schemas.openxmlformats.org/officeDocument/2006/relationships" id="263" r:id="R734ad35e330b423c"/>
    <p:sldId xmlns:r="http://schemas.openxmlformats.org/officeDocument/2006/relationships" id="264" r:id="R5ac39325d99a49bc"/>
    <p:sldId xmlns:r="http://schemas.openxmlformats.org/officeDocument/2006/relationships" id="265" r:id="Rb9ad040a3ddb4c27"/>
    <p:sldId xmlns:r="http://schemas.openxmlformats.org/officeDocument/2006/relationships" id="266" r:id="Raa39ad4c9f984f3a"/>
    <p:sldId xmlns:r="http://schemas.openxmlformats.org/officeDocument/2006/relationships" id="267" r:id="Rb862d91dac284f2d"/>
    <p:sldId xmlns:r="http://schemas.openxmlformats.org/officeDocument/2006/relationships" id="268" r:id="R2b1ea232906e4677"/>
    <p:sldId xmlns:r="http://schemas.openxmlformats.org/officeDocument/2006/relationships" id="269" r:id="R3378ef03b0e4496c"/>
    <p:sldId xmlns:r="http://schemas.openxmlformats.org/officeDocument/2006/relationships" id="270" r:id="R6e4d9e354ed54d44"/>
    <p:sldId xmlns:r="http://schemas.openxmlformats.org/officeDocument/2006/relationships" id="271" r:id="R9ed3f67365ce401d"/>
    <p:sldId xmlns:r="http://schemas.openxmlformats.org/officeDocument/2006/relationships" id="272" r:id="Rffb82646e3dc468c"/>
    <p:sldId xmlns:r="http://schemas.openxmlformats.org/officeDocument/2006/relationships" id="273" r:id="R430bca6b994a4745"/>
    <p:sldId xmlns:r="http://schemas.openxmlformats.org/officeDocument/2006/relationships" id="274" r:id="Rab97fcd6f7d24db7"/>
    <p:sldId xmlns:r="http://schemas.openxmlformats.org/officeDocument/2006/relationships" id="275" r:id="Raf18051a94674438"/>
    <p:sldId xmlns:r="http://schemas.openxmlformats.org/officeDocument/2006/relationships" id="276" r:id="R8d66e2272bea4bfd"/>
    <p:sldId xmlns:r="http://schemas.openxmlformats.org/officeDocument/2006/relationships" id="277" r:id="Rab543507d3fa40de"/>
    <p:sldId xmlns:r="http://schemas.openxmlformats.org/officeDocument/2006/relationships" id="278" r:id="R537a0652571d4697"/>
    <p:sldId xmlns:r="http://schemas.openxmlformats.org/officeDocument/2006/relationships" id="279" r:id="R95c51810a2494d0a"/>
    <p:sldId xmlns:r="http://schemas.openxmlformats.org/officeDocument/2006/relationships" id="280" r:id="R44c5c2b3c8504509"/>
    <p:sldId xmlns:r="http://schemas.openxmlformats.org/officeDocument/2006/relationships" id="281" r:id="R81559963ed9c4215"/>
    <p:sldId xmlns:r="http://schemas.openxmlformats.org/officeDocument/2006/relationships" id="282" r:id="Ra8bd0798f5e04052"/>
    <p:sldId xmlns:r="http://schemas.openxmlformats.org/officeDocument/2006/relationships" id="283" r:id="R8cfa0bc88e7d45b6"/>
    <p:sldId xmlns:r="http://schemas.openxmlformats.org/officeDocument/2006/relationships" id="284" r:id="Rf9d65e174d044cb4"/>
    <p:sldId xmlns:r="http://schemas.openxmlformats.org/officeDocument/2006/relationships" id="285" r:id="Rd81931feae5d4c5f"/>
    <p:sldId xmlns:r="http://schemas.openxmlformats.org/officeDocument/2006/relationships" id="286" r:id="Ra18e7dff4ffb4a03"/>
    <p:sldId xmlns:r="http://schemas.openxmlformats.org/officeDocument/2006/relationships" id="287" r:id="Rf21c481911ab4c62"/>
    <p:sldId xmlns:r="http://schemas.openxmlformats.org/officeDocument/2006/relationships" id="288" r:id="R96aa68ab15bc4442"/>
    <p:sldId xmlns:r="http://schemas.openxmlformats.org/officeDocument/2006/relationships" id="289" r:id="R3a90de835f6c459a"/>
    <p:sldId xmlns:r="http://schemas.openxmlformats.org/officeDocument/2006/relationships" id="290" r:id="R35074816056c410e"/>
    <p:sldId xmlns:r="http://schemas.openxmlformats.org/officeDocument/2006/relationships" id="291" r:id="R5ebec2c3d3b34c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646f10f00b411d" /><Relationship Type="http://schemas.openxmlformats.org/officeDocument/2006/relationships/slideMaster" Target="/ppt/slideMasters/slideMaster1.xml" Id="Rf7d01e5ea3a74ddc" /><Relationship Type="http://schemas.openxmlformats.org/officeDocument/2006/relationships/notesMaster" Target="/ppt/notesMasters/notesMaster1.xml" Id="Rf7beffdcdd07457e" /><Relationship Type="http://schemas.openxmlformats.org/officeDocument/2006/relationships/presProps" Target="/ppt/presProps.xml" Id="R7adc08be21f14e2e" /><Relationship Type="http://schemas.openxmlformats.org/officeDocument/2006/relationships/tableStyles" Target="/ppt/tableStyles.xml" Id="R187611b02d6c405f" /><Relationship Type="http://schemas.openxmlformats.org/officeDocument/2006/relationships/slide" Target="/ppt/slides/slide1.xml" Id="R1769bdf5375e4b85" /><Relationship Type="http://schemas.openxmlformats.org/officeDocument/2006/relationships/slide" Target="/ppt/slides/slide2.xml" Id="R4ec9c1fec41e4523" /><Relationship Type="http://schemas.openxmlformats.org/officeDocument/2006/relationships/slide" Target="/ppt/slides/slide3.xml" Id="Rccdd35b05bee4480" /><Relationship Type="http://schemas.openxmlformats.org/officeDocument/2006/relationships/slide" Target="/ppt/slides/slide4.xml" Id="R531f3244928a4ab4" /><Relationship Type="http://schemas.openxmlformats.org/officeDocument/2006/relationships/slide" Target="/ppt/slides/slide5.xml" Id="R9444ba6dba764345" /><Relationship Type="http://schemas.openxmlformats.org/officeDocument/2006/relationships/slide" Target="/ppt/slides/slide6.xml" Id="R8227d54c650344ce" /><Relationship Type="http://schemas.openxmlformats.org/officeDocument/2006/relationships/slide" Target="/ppt/slides/slide7.xml" Id="Rba83f8d71a9b4b8b" /><Relationship Type="http://schemas.openxmlformats.org/officeDocument/2006/relationships/slide" Target="/ppt/slides/slide8.xml" Id="R734ad35e330b423c" /><Relationship Type="http://schemas.openxmlformats.org/officeDocument/2006/relationships/slide" Target="/ppt/slides/slide9.xml" Id="R5ac39325d99a49bc" /><Relationship Type="http://schemas.openxmlformats.org/officeDocument/2006/relationships/slide" Target="/ppt/slides/slide10.xml" Id="Rb9ad040a3ddb4c27" /><Relationship Type="http://schemas.openxmlformats.org/officeDocument/2006/relationships/slide" Target="/ppt/slides/slide11.xml" Id="Raa39ad4c9f984f3a" /><Relationship Type="http://schemas.openxmlformats.org/officeDocument/2006/relationships/slide" Target="/ppt/slides/slide12.xml" Id="Rb862d91dac284f2d" /><Relationship Type="http://schemas.openxmlformats.org/officeDocument/2006/relationships/slide" Target="/ppt/slides/slide13.xml" Id="R2b1ea232906e4677" /><Relationship Type="http://schemas.openxmlformats.org/officeDocument/2006/relationships/slide" Target="/ppt/slides/slide14.xml" Id="R3378ef03b0e4496c" /><Relationship Type="http://schemas.openxmlformats.org/officeDocument/2006/relationships/slide" Target="/ppt/slides/slide15.xml" Id="R6e4d9e354ed54d44" /><Relationship Type="http://schemas.openxmlformats.org/officeDocument/2006/relationships/slide" Target="/ppt/slides/slide16.xml" Id="R9ed3f67365ce401d" /><Relationship Type="http://schemas.openxmlformats.org/officeDocument/2006/relationships/slide" Target="/ppt/slides/slide17.xml" Id="Rffb82646e3dc468c" /><Relationship Type="http://schemas.openxmlformats.org/officeDocument/2006/relationships/slide" Target="/ppt/slides/slide18.xml" Id="R430bca6b994a4745" /><Relationship Type="http://schemas.openxmlformats.org/officeDocument/2006/relationships/slide" Target="/ppt/slides/slide19.xml" Id="Rab97fcd6f7d24db7" /><Relationship Type="http://schemas.openxmlformats.org/officeDocument/2006/relationships/slide" Target="/ppt/slides/slide20.xml" Id="Raf18051a94674438" /><Relationship Type="http://schemas.openxmlformats.org/officeDocument/2006/relationships/slide" Target="/ppt/slides/slide21.xml" Id="R8d66e2272bea4bfd" /><Relationship Type="http://schemas.openxmlformats.org/officeDocument/2006/relationships/slide" Target="/ppt/slides/slide22.xml" Id="Rab543507d3fa40de" /><Relationship Type="http://schemas.openxmlformats.org/officeDocument/2006/relationships/slide" Target="/ppt/slides/slide23.xml" Id="R537a0652571d4697" /><Relationship Type="http://schemas.openxmlformats.org/officeDocument/2006/relationships/slide" Target="/ppt/slides/slide24.xml" Id="R95c51810a2494d0a" /><Relationship Type="http://schemas.openxmlformats.org/officeDocument/2006/relationships/slide" Target="/ppt/slides/slide25.xml" Id="R44c5c2b3c8504509" /><Relationship Type="http://schemas.openxmlformats.org/officeDocument/2006/relationships/slide" Target="/ppt/slides/slide26.xml" Id="R81559963ed9c4215" /><Relationship Type="http://schemas.openxmlformats.org/officeDocument/2006/relationships/slide" Target="/ppt/slides/slide27.xml" Id="Ra8bd0798f5e04052" /><Relationship Type="http://schemas.openxmlformats.org/officeDocument/2006/relationships/slide" Target="/ppt/slides/slide28.xml" Id="R8cfa0bc88e7d45b6" /><Relationship Type="http://schemas.openxmlformats.org/officeDocument/2006/relationships/slide" Target="/ppt/slides/slide29.xml" Id="Rf9d65e174d044cb4" /><Relationship Type="http://schemas.openxmlformats.org/officeDocument/2006/relationships/slide" Target="/ppt/slides/slide30.xml" Id="Rd81931feae5d4c5f" /><Relationship Type="http://schemas.openxmlformats.org/officeDocument/2006/relationships/slide" Target="/ppt/slides/slide31.xml" Id="Ra18e7dff4ffb4a03" /><Relationship Type="http://schemas.openxmlformats.org/officeDocument/2006/relationships/slide" Target="/ppt/slides/slide32.xml" Id="Rf21c481911ab4c62" /><Relationship Type="http://schemas.openxmlformats.org/officeDocument/2006/relationships/slide" Target="/ppt/slides/slide33.xml" Id="R96aa68ab15bc4442" /><Relationship Type="http://schemas.openxmlformats.org/officeDocument/2006/relationships/slide" Target="/ppt/slides/slide34.xml" Id="R3a90de835f6c459a" /><Relationship Type="http://schemas.openxmlformats.org/officeDocument/2006/relationships/slide" Target="/ppt/slides/slide35.xml" Id="R35074816056c410e" /><Relationship Type="http://schemas.openxmlformats.org/officeDocument/2006/relationships/slide" Target="/ppt/slides/slide36.xml" Id="R5ebec2c3d3b34c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3e2d75c27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25a879e804a45" /><Relationship Type="http://schemas.openxmlformats.org/officeDocument/2006/relationships/notesMaster" Target="/ppt/notesMasters/notesMaster1.xml" Id="R2deffa263f4647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01d22f38d94761" /><Relationship Type="http://schemas.openxmlformats.org/officeDocument/2006/relationships/notesMaster" Target="/ppt/notesMasters/notesMaster1.xml" Id="Ra5f6ace8bf16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e2cd5ba1d4f79" /><Relationship Type="http://schemas.openxmlformats.org/officeDocument/2006/relationships/notesMaster" Target="/ppt/notesMasters/notesMaster1.xml" Id="R749dc58eeefc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82b458ef26458f" /><Relationship Type="http://schemas.openxmlformats.org/officeDocument/2006/relationships/notesMaster" Target="/ppt/notesMasters/notesMaster1.xml" Id="R677f4eb91146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71a734f8eb4ffb" /><Relationship Type="http://schemas.openxmlformats.org/officeDocument/2006/relationships/notesMaster" Target="/ppt/notesMasters/notesMaster1.xml" Id="R60c66d651aed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a9dfa5ddb04d32" /><Relationship Type="http://schemas.openxmlformats.org/officeDocument/2006/relationships/notesMaster" Target="/ppt/notesMasters/notesMaster1.xml" Id="R1aa6ce2c6ef648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bd2ed2c787492a" /><Relationship Type="http://schemas.openxmlformats.org/officeDocument/2006/relationships/notesMaster" Target="/ppt/notesMasters/notesMaster1.xml" Id="R5bf7643bb228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7235c22ebc458d" /><Relationship Type="http://schemas.openxmlformats.org/officeDocument/2006/relationships/notesMaster" Target="/ppt/notesMasters/notesMaster1.xml" Id="R22881ace9c5e4c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1a643648974192" /><Relationship Type="http://schemas.openxmlformats.org/officeDocument/2006/relationships/notesMaster" Target="/ppt/notesMasters/notesMaster1.xml" Id="R56206d51ad584a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285d464844b5f" /><Relationship Type="http://schemas.openxmlformats.org/officeDocument/2006/relationships/notesMaster" Target="/ppt/notesMasters/notesMaster1.xml" Id="R4d3d15f55fca43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b5a853b77b45e0" /><Relationship Type="http://schemas.openxmlformats.org/officeDocument/2006/relationships/notesMaster" Target="/ppt/notesMasters/notesMaster1.xml" Id="R63bd308e588547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46c32c85cb451b" /><Relationship Type="http://schemas.openxmlformats.org/officeDocument/2006/relationships/notesMaster" Target="/ppt/notesMasters/notesMaster1.xml" Id="R98f6913ca414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7ce3ca95624068" /><Relationship Type="http://schemas.openxmlformats.org/officeDocument/2006/relationships/notesMaster" Target="/ppt/notesMasters/notesMaster1.xml" Id="R4d9e36cede544f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a08ed662f94aaa" /><Relationship Type="http://schemas.openxmlformats.org/officeDocument/2006/relationships/notesMaster" Target="/ppt/notesMasters/notesMaster1.xml" Id="R723e751a17854f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580b0dba244f24" /><Relationship Type="http://schemas.openxmlformats.org/officeDocument/2006/relationships/notesMaster" Target="/ppt/notesMasters/notesMaster1.xml" Id="R713d5bbc054947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79bc2e70404ffc" /><Relationship Type="http://schemas.openxmlformats.org/officeDocument/2006/relationships/notesMaster" Target="/ppt/notesMasters/notesMaster1.xml" Id="R488b33db47a94d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b2575dd37c4f7b" /><Relationship Type="http://schemas.openxmlformats.org/officeDocument/2006/relationships/notesMaster" Target="/ppt/notesMasters/notesMaster1.xml" Id="R836ef9d8c8654e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8db86aa07447e9" /><Relationship Type="http://schemas.openxmlformats.org/officeDocument/2006/relationships/notesMaster" Target="/ppt/notesMasters/notesMaster1.xml" Id="R4ee1b7aee39343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51213ed8634f10" /><Relationship Type="http://schemas.openxmlformats.org/officeDocument/2006/relationships/notesMaster" Target="/ppt/notesMasters/notesMaster1.xml" Id="R67eb1831ea4940d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9b1e54ac2a4b43" /><Relationship Type="http://schemas.openxmlformats.org/officeDocument/2006/relationships/notesMaster" Target="/ppt/notesMasters/notesMaster1.xml" Id="R8f6ccd349db046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6f56da8ced41ab" /><Relationship Type="http://schemas.openxmlformats.org/officeDocument/2006/relationships/notesMaster" Target="/ppt/notesMasters/notesMaster1.xml" Id="Rbb0e19bdf23f47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057dfc10ea4da2" /><Relationship Type="http://schemas.openxmlformats.org/officeDocument/2006/relationships/notesMaster" Target="/ppt/notesMasters/notesMaster1.xml" Id="Rde073c3055de4d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4035c429ee64f10" /><Relationship Type="http://schemas.openxmlformats.org/officeDocument/2006/relationships/notesMaster" Target="/ppt/notesMasters/notesMaster1.xml" Id="R6c7ae6787b634d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78f8026aa44ddc" /><Relationship Type="http://schemas.openxmlformats.org/officeDocument/2006/relationships/notesMaster" Target="/ppt/notesMasters/notesMaster1.xml" Id="Re4a78c7e82b34b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bf0c8d31d14da0" /><Relationship Type="http://schemas.openxmlformats.org/officeDocument/2006/relationships/notesMaster" Target="/ppt/notesMasters/notesMaster1.xml" Id="R1da3ddd155d245c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c83da010064b98" /><Relationship Type="http://schemas.openxmlformats.org/officeDocument/2006/relationships/notesMaster" Target="/ppt/notesMasters/notesMaster1.xml" Id="R0ddffdfd8d6c42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7be0dd161bd40bc" /><Relationship Type="http://schemas.openxmlformats.org/officeDocument/2006/relationships/notesMaster" Target="/ppt/notesMasters/notesMaster1.xml" Id="Rca97f2195bd646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92f2cc8222840cd" /><Relationship Type="http://schemas.openxmlformats.org/officeDocument/2006/relationships/notesMaster" Target="/ppt/notesMasters/notesMaster1.xml" Id="Rc029e8bd1153408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b9097fdfc3747a8" /><Relationship Type="http://schemas.openxmlformats.org/officeDocument/2006/relationships/notesMaster" Target="/ppt/notesMasters/notesMaster1.xml" Id="R34df1f9b927a40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64a0cd5f9b4d3f" /><Relationship Type="http://schemas.openxmlformats.org/officeDocument/2006/relationships/notesMaster" Target="/ppt/notesMasters/notesMaster1.xml" Id="R7ed974b35b1e466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011b3772bdd4c11" /><Relationship Type="http://schemas.openxmlformats.org/officeDocument/2006/relationships/notesMaster" Target="/ppt/notesMasters/notesMaster1.xml" Id="Rbcde35f9a8e24b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c1c69e3b13462c" /><Relationship Type="http://schemas.openxmlformats.org/officeDocument/2006/relationships/notesMaster" Target="/ppt/notesMasters/notesMaster1.xml" Id="R9c000d2a9a4a498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66e0c603afb4e66" /><Relationship Type="http://schemas.openxmlformats.org/officeDocument/2006/relationships/notesMaster" Target="/ppt/notesMasters/notesMaster1.xml" Id="Rf01f2ed05f7f461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11ff540b1ef4aa0" /><Relationship Type="http://schemas.openxmlformats.org/officeDocument/2006/relationships/notesMaster" Target="/ppt/notesMasters/notesMaster1.xml" Id="R8f6f452cee1c477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d4df587fe64c9c" /><Relationship Type="http://schemas.openxmlformats.org/officeDocument/2006/relationships/notesMaster" Target="/ppt/notesMasters/notesMaster1.xml" Id="R913cc8185168401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6895697dd174243" /><Relationship Type="http://schemas.openxmlformats.org/officeDocument/2006/relationships/notesMaster" Target="/ppt/notesMasters/notesMaster1.xml" Id="Rf5871a685dc4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 分钟。适用对象为云平台、网络、安全和应用运维人员。前置知识为 IPv4、CIDR、TCP/UDP 和常用端口。本课中的命名、审批、复核周期、回滚门槛均为培训建议，企业采用前应纳入内部制度。教学地址与业务均为虚构。课程依据 2026 年 10 月 16 日检索的华为云公开文档，具体操作以所用区域、实例版本和控制台为准。封面为 AI 生成的概念插画，不代表真实网络拓扑。</a:t>
            </a:r>
          </a:p>
          <a:p xmlns:a="http://schemas.openxmlformats.org/drawingml/2006/main">
            <a:r>
              <a:t>本版插图统一使用现代扁平风格。教学图为概念示意，官方图片单独注明来源。文字与表格可编辑，图示作为图片嵌入。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分钟。说明课堂以审核与桌面演练为主，不要求现场修改生产环境。分组时建议每组至少包括一名网络或平台成员与一名应用运维成员。讲师可以使用测试租户演示第 20 页流程，但不占用案例讨论时间。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分钟。让学员用一分钟画出自己理解的流量路径，并口头说明“访问成功”是否足以证明 CFW 生效。预期答案是否定的。强调数据库为自建 ECS 服务，不套用到所有托管数据库的网络路径。后续练习均基于此假设，不包含容器网络、代理或 NAT，除非题目特别说明。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分钟。先让学员说出每个对象回答的问题。产品层面的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分钟。用应用子网访问数据子网举例，询问安全边界在哪里。职责说明来自华为云 VPC 访问控制概述。实际是否经过 CFW 取决于支持的部署方式与路径。课堂不把网络 ACL 的状态机制或规则顺序套用其他厂商，应按当前华为云对象的实际文档核对。安全组内互信、多安全组叠加和既有宽泛规则都应一并审核。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分钟。让学员区分“路由对象存在”和“业务流量命中该路由”。先检查关联，再看目的网段与下一跳。华为云对部分包含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分钟。左列均为培训建议，不代表用户当前架构。重点讲实际源地址：经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企业上云安全建设指南</a:t>
            </a:r>
          </a:p>
          <a:p xmlns:a="http://schemas.openxmlformats.org/drawingml/2006/main">
            <a:r>
              <a:t>https://www.huaweicloud.com/securecenter/compliance/compliance-center/on-cloud/guidance.html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分钟。用三个问题结束 VPC 章节：谁管理这个网段？这条流量为什么走这个下一跳？业务需要哪条访问？提醒 VPC 和子网分区并不会自动落实端口隔离，需对应安全组、ACL 或已接入的 CFW 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所有流量自动受边界防火墙保护。需要跨账号或混合云时，应额外核对连接类型、共享与路由支持条件。本课程主要以 VPC 边界为例。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分钟。讲清同一 ER 上两张表承担不同职责。关联表接收来自业务 VPC 的流量并送往 CFW。CFW 处理后，关联到其连接的传播表根据两侧 VPC 路由转发。不要让业务 VPC 在送检前直接学习到可绕过 CFW 的目标路由。本页为逻辑检查清单，不是可直接导入的配置文件。</a:t>
            </a:r>
          </a:p>
          <a:p xmlns:a="http://schemas.openxmlformats.org/drawingml/2006/main">
            <a:r>
              <a:t>图片来源：https://support.huaweicloud.com/usermanual-cfw/zh-cn_image_0000001950400204.png。保留原始图示文字，展示时解释 RT1 与 RT2 的职责，不将“离开检查路径”误解为仅业务响应方向。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 xmlns:a="http://schemas.openxmlformats.org/drawingml/2006/main">
            <a:r>
              <a:t>讲师追加提问：如果新加第三个 VPC，只添加连接是否足够？应检查它在实际部署模式中的关联、传播、VPC 路由及规则覆盖。不可机械复用别的区域的默认配置。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分钟。地址及端口只是教学样例。放行数据库时，核对应用安全组出方向与数据安全组入方向，也要看历史规则、网络 ACL、主机防火墙和服务监听。兜底阻断的作用域应与审批边界一致，避免跨业务复用过宽地址组。上课时让学员指出谁可以发起新会话，谁只响应连接。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分钟。先给学员 20 秒判断 SSH 会命中哪条。答案是第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分钟。华为云支持不同域名匹配方式，应用型可依据 Host 或 SNI 等字段，网络型依赖域名解析到的地址。不能把一个匹配方式的适用条件套到全部协议。加密与协议变化也需要结合当前产品能力确认。本页强调验证，不承诺所有加密流量都能按域名精确识别。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观察模式记录事件而不执行同等拦截，不能长期当作生产防护完成的证据。误报处理优先定位具体命中规则，评估最小范围例外并跟踪恢复，不建议为单一业务问题长期关闭整体防护。白名单审批与到期复核是培训建议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分钟。此处为讲师演示脚本。先展示防护对象，再展示规则，不直接从“添加规则”开始。VPC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分钟。本页为建议岗位分工，并非用户既有制度。小团队可以一人承担多个角色，但高影响范围与宽泛放行应由另一个人复核。业务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分钟。回滚门槛应由业务与变更负责人在发布前填写具体数字或明确结果，课程不替企业设定统一阈值。规则回滚可恢复上一版本或停用本次新增规则，路由回滚应恢复已记录的前态。大范围关闭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强调拒绝证据不能只看连接超时，还要排除服务未监听等原因。新连接更便于判断新策略命中，既有会话行为不能一概而论。记录测试源、目的、协议、目的端口、时间和时区。仅在测试环境验证回滚，不为教学故意破坏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分钟。访问控制日志与攻击事件日志用于回答不同问题。不能只看 ACL 已允许，就排除 IPS。流量日志可能在会话结束时上报，长连接期间没有新流量日志不等于没有经过 CFW。实际日志入口与字段以当前控制台为准。日志保留与导出周期由内部审计和合规要求确定，课程不虚构统一天数。</a:t>
            </a:r>
          </a:p>
          <a:p xmlns:a="http://schemas.openxmlformats.org/drawingml/2006/main">
            <a:r>
              <a:t>官方界面图来自日志查询文档：https://support.huaweicloud.com/usermanual-cfw/cfw_01_0139.html。原图保留，不将示例截图视为用户环境。参考当前菜单与字段操作。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分钟。给学员一个 TCP 连接超时，要求按证据推进，不允许先新增 Any 放行。源端抓包或连接日志能证明请求是否发出，目标端能证明是否收到。路由、策略和应用排查可能交替进行，本页是最小调查顺序。无法定位时保留时间窗口、配置与日志交厂商支持。应急修改需进入上一页的变更和回滚流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分钟。要求每组写出故障层、具体错误、修改范围、应通与应拒绝用例。不要在讨论时直接展示下一页答案。教学日志和配置均为虚构。预期学员不应因 CFW 放行而断言端到端可达。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分钟。根因是数据主机安全组允许来源与应用实际来源不一致。不要将数据主机安全组扩大为 10.0.0.0/8 或所有来源。源端出方向和其他层在题目假设中正常，实际场景仍需核验。评分建议共 10 分，根因 3 分、最小变更 3 分、正反测试各 2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分钟。让学员比较“把 SSH 阻断置顶”与“替换过宽放行”的差别。题目已提供新连接命中证据，不需要猜测存量会话。要求答案同时描述业务端口是否仍可用。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分钟。解释 ACL 命中后停止继续匹配，所以不能认为靠后的拒绝天然覆盖前面的允许。先获得必要业务依赖，再替换宽泛规则。评分建议共 10 分，顺序解释 3 分、收敛规则 4 分、验证 3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4 分钟。题目已排除单纯日志延迟。不要仅删除对等连接，也不要直接替换整个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4 分钟。这是覆盖问题，不是简单放行问题。规则正确但路径绕过检查时，策略无法发挥作用。避免盲目删除承载其他业务的对等连接，只处理本次批准范围并评估路由优先级。评分建议共 10 分，根因 2 分、路径与回滚 4 分、验证覆盖 4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分钟。让学员逐条举手或在聊天区回答。每题 2 分，建议 8 分达标。答案为否、否、否、否、是。不要单靠分数，关注学员能否说明第 2 与第 4 题的原因。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分钟。快速纠正常见误解。建议课后把答错的问题与团队当前规则对应复盘，不要求学员记忆控制台菜单位置。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可在课后阅读。每个标题均附官方文档链接，相关页面讲师备注亦记录对应来源。部分链接为国际站或联盟区域文档，用于通用行为说明，具体规格应优先核对所用中国站区域与版本。未展示真实控制台截图，避免将示意界面当作当前产品事实。封面概念图使用内置 imagegen 生成，提示为深蓝留白与右侧玻璃网络分区和青绿色光路，不含文字、品牌或真实拓扑。</a:t>
            </a:r>
          </a:p>
          <a:p xmlns:a="http://schemas.openxmlformats.org/drawingml/2006/main">
            <a:r>
              <a:t>图示资产为教学用途，其中 ER 引流图与日志查询截图来自华为云官方文档，其余为 AI 生成的扁平概念图。生成方式为内置 imagegen，统一提示为白底、深蓝文字、青绿路径、珊瑚红异常、二维细线、无渐变无立体无阴影，分别依据本课业务关系绘制。所有图片均保存在工作区 assets/vpc-cfw-v2。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207fe68c144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35002b24943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65d4b1daf43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b7ba194c849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542522a1c48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e7050342242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398233-1625-401C-A6D3-A0F88C1DF8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9D1F13-5874-4936-973A-19B7453418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B15C01-6AFF-435E-A4DD-B9397A8A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925C9-C940-41BA-B2E3-B7C64EF3D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D1A574-5FAB-4CA4-BD7A-1F6BCD3882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7D9FE5-7A87-41EE-8EF0-BC767D121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59687-AD60-4B2F-B78D-5C26F6AE8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9AB726-8C5A-44EB-8D4A-5E3D1B3FF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13C9CD-156C-4753-B2D8-68E932CB2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B4A06D-D9D0-42D4-BE9B-7BA78C2256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2086499604917" /><Relationship Type="http://schemas.openxmlformats.org/officeDocument/2006/relationships/slideLayout" Target="/ppt/slideLayouts/slideLayout1.xml" Id="R5b223cb602a64a29" /><Relationship Type="http://schemas.openxmlformats.org/officeDocument/2006/relationships/slideLayout" Target="/ppt/slideLayouts/slideLayout2.xml" Id="Rce693530fb434cbb" /><Relationship Type="http://schemas.openxmlformats.org/officeDocument/2006/relationships/slideLayout" Target="/ppt/slideLayouts/slideLayout3.xml" Id="R08424f831d474b7b" /><Relationship Type="http://schemas.openxmlformats.org/officeDocument/2006/relationships/slideLayout" Target="/ppt/slideLayouts/slideLayout4.xml" Id="Ree9c0c3ce526410f" /><Relationship Type="http://schemas.openxmlformats.org/officeDocument/2006/relationships/slideLayout" Target="/ppt/slideLayouts/slideLayout5.xml" Id="R66771e15ced14a02" /><Relationship Type="http://schemas.openxmlformats.org/officeDocument/2006/relationships/slideLayout" Target="/ppt/slideLayouts/slideLayout6.xml" Id="Ree7e35564912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223cb602a64a29"/>
    <p:sldLayoutId xmlns:r="http://schemas.openxmlformats.org/officeDocument/2006/relationships" id="2147483650" r:id="Rce693530fb434cbb"/>
    <p:sldLayoutId xmlns:r="http://schemas.openxmlformats.org/officeDocument/2006/relationships" id="2147483651" r:id="R08424f831d474b7b"/>
    <p:sldLayoutId xmlns:r="http://schemas.openxmlformats.org/officeDocument/2006/relationships" id="2147483652" r:id="Ree9c0c3ce526410f"/>
    <p:sldLayoutId xmlns:r="http://schemas.openxmlformats.org/officeDocument/2006/relationships" id="2147483653" r:id="R66771e15ced14a02"/>
    <p:sldLayoutId xmlns:r="http://schemas.openxmlformats.org/officeDocument/2006/relationships" id="2147483654" r:id="Ree7e35564912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2f8d0c000423e" /><Relationship Type="http://schemas.openxmlformats.org/officeDocument/2006/relationships/image" Target="/ppt/media/image.png" Id="R8002a1dd043049d9" /><Relationship Type="http://schemas.openxmlformats.org/officeDocument/2006/relationships/notesSlide" Target="/ppt/notesSlides/notesSlide1.xml" Id="Rf185ac8d3ce6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e5a57766543a0" /><Relationship Type="http://schemas.openxmlformats.org/officeDocument/2006/relationships/notesSlide" Target="/ppt/notesSlides/notesSlide2.xml" Id="Radc19ca5567a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caecc127d4c80" /><Relationship Type="http://schemas.openxmlformats.org/officeDocument/2006/relationships/image" Target="/ppt/media/image2.png" Id="Rdfed26bfca504006" /><Relationship Type="http://schemas.openxmlformats.org/officeDocument/2006/relationships/notesSlide" Target="/ppt/notesSlides/notesSlide3.xml" Id="R74cf63effd03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ec32aee9d4470" /><Relationship Type="http://schemas.openxmlformats.org/officeDocument/2006/relationships/image" Target="/ppt/media/image3.png" Id="R98ae293ef99e4d2c" /><Relationship Type="http://schemas.openxmlformats.org/officeDocument/2006/relationships/notesSlide" Target="/ppt/notesSlides/notesSlide4.xml" Id="Rebba6aacabb343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2d2ab76984cdb" /><Relationship Type="http://schemas.openxmlformats.org/officeDocument/2006/relationships/notesSlide" Target="/ppt/notesSlides/notesSlide5.xml" Id="R736c722c84974c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9d0a9e03c4ead" /><Relationship Type="http://schemas.openxmlformats.org/officeDocument/2006/relationships/image" Target="/ppt/media/image4.png" Id="Rbc6f66e2c02f4be5" /><Relationship Type="http://schemas.openxmlformats.org/officeDocument/2006/relationships/notesSlide" Target="/ppt/notesSlides/notesSlide6.xml" Id="Rd8d456e9b07d4f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43202e2c94bb4" /><Relationship Type="http://schemas.openxmlformats.org/officeDocument/2006/relationships/notesSlide" Target="/ppt/notesSlides/notesSlide7.xml" Id="Rfcf074696630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af1b1a0ef9415b" /><Relationship Type="http://schemas.openxmlformats.org/officeDocument/2006/relationships/image" Target="/ppt/media/image5.png" Id="Ra132f94666044c8d" /><Relationship Type="http://schemas.openxmlformats.org/officeDocument/2006/relationships/notesSlide" Target="/ppt/notesSlides/notesSlide8.xml" Id="R418bd0bd4d6640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36e119a604b13" /><Relationship Type="http://schemas.openxmlformats.org/officeDocument/2006/relationships/notesSlide" Target="/ppt/notesSlides/notesSlide9.xml" Id="R3a2b3193135d4f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bf53d7fd347c1" /><Relationship Type="http://schemas.openxmlformats.org/officeDocument/2006/relationships/image" Target="/ppt/media/image6.png" Id="R3203fd8888ce42b7" /><Relationship Type="http://schemas.openxmlformats.org/officeDocument/2006/relationships/notesSlide" Target="/ppt/notesSlides/notesSlide10.xml" Id="R3b4e91ea97174f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caf1ef4e841ce" /><Relationship Type="http://schemas.openxmlformats.org/officeDocument/2006/relationships/image" Target="/ppt/media/image7.png" Id="Rf540705958df491c" /><Relationship Type="http://schemas.openxmlformats.org/officeDocument/2006/relationships/notesSlide" Target="/ppt/notesSlides/notesSlide11.xml" Id="Re89c3ebcaa0340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5fec23b7e4f05" /><Relationship Type="http://schemas.openxmlformats.org/officeDocument/2006/relationships/notesSlide" Target="/ppt/notesSlides/notesSlide12.xml" Id="R3a0d4a8e972647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2a1d4a54824439" /><Relationship Type="http://schemas.openxmlformats.org/officeDocument/2006/relationships/notesSlide" Target="/ppt/notesSlides/notesSlide13.xml" Id="R7b229fa3215340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31b58f43449b1" /><Relationship Type="http://schemas.openxmlformats.org/officeDocument/2006/relationships/notesSlide" Target="/ppt/notesSlides/notesSlide14.xml" Id="Raaf9848848c44c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ab865a43894361" /><Relationship Type="http://schemas.openxmlformats.org/officeDocument/2006/relationships/image" Target="/ppt/media/image8.png" Id="R43c3d804fa434eda" /><Relationship Type="http://schemas.openxmlformats.org/officeDocument/2006/relationships/notesSlide" Target="/ppt/notesSlides/notesSlide15.xml" Id="R4d6a76332b95464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a18800acc40bb" /><Relationship Type="http://schemas.openxmlformats.org/officeDocument/2006/relationships/notesSlide" Target="/ppt/notesSlides/notesSlide16.xml" Id="R250677c296e741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57bacf7ca4044" /><Relationship Type="http://schemas.openxmlformats.org/officeDocument/2006/relationships/notesSlide" Target="/ppt/notesSlides/notesSlide17.xml" Id="R8b0f410de3d94a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f5623613e4383" /><Relationship Type="http://schemas.openxmlformats.org/officeDocument/2006/relationships/image" Target="/ppt/media/image9.png" Id="R93727e0711034610" /><Relationship Type="http://schemas.openxmlformats.org/officeDocument/2006/relationships/notesSlide" Target="/ppt/notesSlides/notesSlide18.xml" Id="Rab19d6a7f09c43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208cb2ffe4071" /><Relationship Type="http://schemas.openxmlformats.org/officeDocument/2006/relationships/image" Target="/ppt/media/image10.png" Id="Rda6b1c50bfca4d71" /><Relationship Type="http://schemas.openxmlformats.org/officeDocument/2006/relationships/notesSlide" Target="/ppt/notesSlides/notesSlide19.xml" Id="R42d955aef1d741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6e6e7780ae4caa" /><Relationship Type="http://schemas.openxmlformats.org/officeDocument/2006/relationships/notesSlide" Target="/ppt/notesSlides/notesSlide20.xml" Id="Ra92212bb0df947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ed5e7c89c49d5" /><Relationship Type="http://schemas.openxmlformats.org/officeDocument/2006/relationships/notesSlide" Target="/ppt/notesSlides/notesSlide21.xml" Id="R2d0d11921fb140a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e6998b4b1412e" /><Relationship Type="http://schemas.openxmlformats.org/officeDocument/2006/relationships/notesSlide" Target="/ppt/notesSlides/notesSlide22.xml" Id="R1a227e62597743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cee2b5b4fd4881" /><Relationship Type="http://schemas.openxmlformats.org/officeDocument/2006/relationships/image" Target="/ppt/media/image11.png" Id="Rdcae579c67cc45ea" /><Relationship Type="http://schemas.openxmlformats.org/officeDocument/2006/relationships/notesSlide" Target="/ppt/notesSlides/notesSlide23.xml" Id="R4fc048418eac44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b22055296490b" /><Relationship Type="http://schemas.openxmlformats.org/officeDocument/2006/relationships/notesSlide" Target="/ppt/notesSlides/notesSlide24.xml" Id="R4c71ea40478740d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845c338cef4bfe" /><Relationship Type="http://schemas.openxmlformats.org/officeDocument/2006/relationships/image" Target="/ppt/media/image12.png" Id="R9222864dfe564382" /><Relationship Type="http://schemas.openxmlformats.org/officeDocument/2006/relationships/notesSlide" Target="/ppt/notesSlides/notesSlide25.xml" Id="Rf19bb6ebcc8749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890efb6c024613" /><Relationship Type="http://schemas.openxmlformats.org/officeDocument/2006/relationships/image" Target="/ppt/media/image13.png" Id="R466259c6910e4edc" /><Relationship Type="http://schemas.openxmlformats.org/officeDocument/2006/relationships/notesSlide" Target="/ppt/notesSlides/notesSlide26.xml" Id="R008752f884b1438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3386eb8ad4cb8" /><Relationship Type="http://schemas.openxmlformats.org/officeDocument/2006/relationships/image" Target="/ppt/media/image14.png" Id="R2b747356927d4556" /><Relationship Type="http://schemas.openxmlformats.org/officeDocument/2006/relationships/notesSlide" Target="/ppt/notesSlides/notesSlide27.xml" Id="Ree0d2e6c254a42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eeb7780f14824" /><Relationship Type="http://schemas.openxmlformats.org/officeDocument/2006/relationships/notesSlide" Target="/ppt/notesSlides/notesSlide28.xml" Id="R6cbb4fd46da24c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5578fccba4832" /><Relationship Type="http://schemas.openxmlformats.org/officeDocument/2006/relationships/image" Target="/ppt/media/image15.png" Id="R196bcbe922814d97" /><Relationship Type="http://schemas.openxmlformats.org/officeDocument/2006/relationships/notesSlide" Target="/ppt/notesSlides/notesSlide29.xml" Id="Rba54febe7a944b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cf01191de4816" /><Relationship Type="http://schemas.openxmlformats.org/officeDocument/2006/relationships/notesSlide" Target="/ppt/notesSlides/notesSlide30.xml" Id="R20f55c69fae040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9dc66d2f34ab7" /><Relationship Type="http://schemas.openxmlformats.org/officeDocument/2006/relationships/image" Target="/ppt/media/image16.png" Id="Ra7b68ff7964142e0" /><Relationship Type="http://schemas.openxmlformats.org/officeDocument/2006/relationships/notesSlide" Target="/ppt/notesSlides/notesSlide31.xml" Id="R1907a84fbc57483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377ac8e9d4d1c" /><Relationship Type="http://schemas.openxmlformats.org/officeDocument/2006/relationships/notesSlide" Target="/ppt/notesSlides/notesSlide32.xml" Id="Rb108561c5d6349d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6e10011614ba4" /><Relationship Type="http://schemas.openxmlformats.org/officeDocument/2006/relationships/notesSlide" Target="/ppt/notesSlides/notesSlide33.xml" Id="R5c526351791c4e7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3bfe0ff204c4c" /><Relationship Type="http://schemas.openxmlformats.org/officeDocument/2006/relationships/notesSlide" Target="/ppt/notesSlides/notesSlide34.xml" Id="R5b8e5f2a51924d2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bef47467bc4199" /><Relationship Type="http://schemas.openxmlformats.org/officeDocument/2006/relationships/notesSlide" Target="/ppt/notesSlides/notesSlide35.xml" Id="R2ccfb23984264d7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43d5595ad94c2d" /><Relationship Type="http://schemas.openxmlformats.org/officeDocument/2006/relationships/hyperlink" Target="https://support.huaweicloud.com/usermanual-vpc/vpc_0001.html" TargetMode="External" Id="R4176bb66249441f3" /><Relationship Type="http://schemas.openxmlformats.org/officeDocument/2006/relationships/hyperlink" Target="https://support.huaweicloud.com/intl/zh-cn/helppanel-vpc/vpc_help_0002.html" TargetMode="External" Id="Rf47269b9e0774fca" /><Relationship Type="http://schemas.openxmlformats.org/officeDocument/2006/relationships/hyperlink" Target="https://support.huaweicloud.com/intl/zh-cn/usermanual-vpc/zh-cn_topic_0052003963.html" TargetMode="External" Id="R4d7d49e2317c4e2a" /><Relationship Type="http://schemas.openxmlformats.org/officeDocument/2006/relationships/hyperlink" Target="https://support.huaweicloud.com/usermanual-cfw/cfw_01_0185.html" TargetMode="External" Id="R494b973403134d9a" /><Relationship Type="http://schemas.openxmlformats.org/officeDocument/2006/relationships/hyperlink" Target="https://support.huaweicloud.com/usermanual-cfw/cfw_01_0269.html" TargetMode="External" Id="R4b1cebe8d4614734" /><Relationship Type="http://schemas.openxmlformats.org/officeDocument/2006/relationships/hyperlink" Target="https://support.huaweicloud.com/usermanual-cfw/cfw_01_0133.html" TargetMode="External" Id="R6e5edb36fae44d5f" /><Relationship Type="http://schemas.openxmlformats.org/officeDocument/2006/relationships/hyperlink" Target="https://support.huaweicloud.com/intl/zh-cn/usermanual-cfw/cfw_01_0297.html" TargetMode="External" Id="Reaeacef20362484a" /><Relationship Type="http://schemas.openxmlformats.org/officeDocument/2006/relationships/hyperlink" Target="https://support.huaweicloud.com/intl/zh-cn/usermanual-cfw/cfw_01_0262.html" TargetMode="External" Id="R5cf121a5e8474548" /><Relationship Type="http://schemas.openxmlformats.org/officeDocument/2006/relationships/hyperlink" Target="https://support.huaweicloud.com/usermanual-cfw/cfw_01_0139.html" TargetMode="External" Id="R21ad3356ddbc4eba" /><Relationship Type="http://schemas.openxmlformats.org/officeDocument/2006/relationships/hyperlink" Target="https://support.huaweicloud.com/cfw_faq/cfw_01_0027.html" TargetMode="External" Id="R81989d2493f946e6" /><Relationship Type="http://schemas.openxmlformats.org/officeDocument/2006/relationships/hyperlink" Target="https://support.huaweicloud.com/intl/zh-cn/ally-visitor-1-usermanual-cfw/cfw_01_0248.html" TargetMode="External" Id="R1905ce5c7b904650" /><Relationship Type="http://schemas.openxmlformats.org/officeDocument/2006/relationships/notesSlide" Target="/ppt/notesSlides/notesSlide36.xml" Id="Radabdf69f69840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A1E0D-7533-4471-AD61-82D2D94C0E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2a1dd043049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3D1C1F95-A1D3-4641-892C-02190D86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华为云 IT 团队使用规范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238382C2-F0FF-42BA-9A81-C8F790E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914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网络与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云防火墙 CFW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C8B4F971-5E76-4242-AF99-6C83A0CA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使用规范与案例演练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C43AC97-2B07-4FF5-AA47-34BD0D5F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7D0DB"/>
                </a:solidFill>
                <a:latin typeface="Arial Unicode MS"/>
                <a:ea typeface="Arial Unicode MS"/>
                <a:cs typeface="Arial Unicode MS"/>
              </a:rPr>
              <a:t>90 分钟培训  /  架构图解  /  策略配置  /  故障演练</a:t>
            </a:r>
          </a:p>
        </p:txBody>
      </p:sp>
    </p:spTree>
    <p:extLst>
      <p:ext uri="{BB962C8B-B14F-4D97-AF65-F5344CB8AC3E}">
        <p14:creationId xmlns:p14="http://schemas.microsoft.com/office/powerpoint/2010/main" val="976334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xt-0">
            <a:extLst xmlns:a="http://schemas.openxmlformats.org/drawingml/2006/main">
              <a:ext uri="{FF2B5EF4-FFF2-40B4-BE49-F238E27FC236}">
                <a16:creationId xmlns:a16="http://schemas.microsoft.com/office/drawing/2014/main" id="{7EAD9E18-8FD9-4D22-9746-1463F9F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F577EF6-FCFA-490C-8CD8-60CC1C4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90 分钟课程安排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AC935E9-9E2A-4FAF-8404-07E3F3C8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围绕一条业务流，完成规划、放行、验证和排障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E3445022-F2C0-4CD8-B30F-24179871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121DC11-0106-4A97-9C2E-EF0808B2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A5652FF3-1BA6-4429-AE37-A5C3DD9D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分钟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507E5A69-4EEA-418F-952B-3A215B0E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1D44BD0F-43B0-465E-BA75-D68CDC0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场景与目标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3DFFCED9-8001-4A5F-A849-43A67C8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6ED7F96A-AB62-4F6F-A965-A847212A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 网络规范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EDF2F310-FD02-4445-A281-29F9F333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B667D1CD-C21B-4C43-BC76-BD9B723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配置规范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70F36A23-6B97-4345-B1D4-7A09FA2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1A02FF60-0338-4CB8-A600-0A6B9705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变更与排障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65CEF5B7-8D8B-4831-9D23-B71E8DAD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8A1FC65C-8496-4C05-B0D9-981423D6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案例演练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7A6AF90E-42C5-4DDE-ADFB-DDE1C422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226BB4A7-9F44-4708-BBA0-70BB6EC4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测验与检查表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B1CC14B4-BDFA-4042-A2E7-D5841947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课堂交付</a:t>
            </a:r>
          </a:p>
        </p:txBody>
      </p:sp>
      <p:sp>
        <p:nvSpPr>
          <p:cNvPr id="20" name="txt-19">
            <a:extLst xmlns:a="http://schemas.openxmlformats.org/drawingml/2006/main">
              <a:ext uri="{FF2B5EF4-FFF2-40B4-BE49-F238E27FC236}">
                <a16:creationId xmlns:a16="http://schemas.microsoft.com/office/drawing/2014/main" id="{80E31736-7259-4268-8391-097A33CE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能解释业务经过哪些边界</a:t>
            </a:r>
          </a:p>
        </p:txBody>
      </p:sp>
      <p:sp>
        <p:nvSpPr>
          <p:cNvPr id="21" name="txt-20">
            <a:extLst xmlns:a="http://schemas.openxmlformats.org/drawingml/2006/main">
              <a:ext uri="{FF2B5EF4-FFF2-40B4-BE49-F238E27FC236}">
                <a16:creationId xmlns:a16="http://schemas.microsoft.com/office/drawing/2014/main" id="{D5C1FC81-6308-499F-AC5A-BB187147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721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能提交可审核的精确规则</a:t>
            </a:r>
          </a:p>
        </p:txBody>
      </p:sp>
      <p:sp>
        <p:nvSpPr>
          <p:cNvPr id="22" name="txt-21">
            <a:extLst xmlns:a="http://schemas.openxmlformats.org/drawingml/2006/main">
              <a:ext uri="{FF2B5EF4-FFF2-40B4-BE49-F238E27FC236}">
                <a16:creationId xmlns:a16="http://schemas.microsoft.com/office/drawing/2014/main" id="{B69EF4F5-5E5F-4A3F-9409-0A3810FB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435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能用日志与测试证明效果</a:t>
            </a:r>
          </a:p>
        </p:txBody>
      </p:sp>
    </p:spTree>
    <p:extLst>
      <p:ext uri="{BB962C8B-B14F-4D97-AF65-F5344CB8AC3E}">
        <p14:creationId xmlns:p14="http://schemas.microsoft.com/office/powerpoint/2010/main" val="288291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1D31C44-4C82-4CE0-B1B2-87BABB5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320BF09-32CA-400C-B235-C7407360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培训案例的网络与信任域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4AF14956-2415-4D61-AC7D-7ED6BC2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订单服务跨 VPC 访问自建数据库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3E2C4BE6-4E6D-45B6-AA54-C585F534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教学地址均为虚构。图中连接表示批准的业务关系，详细 ER 引流见第 11 页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FBFEFCCB-A409-4685-B76A-C51AA48E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BF2F6-DD97-4BD6-8429-996D8F5A69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d26bfca504006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D676240E-6201-4A20-ACEB-7558B720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应用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4DE5D2D9-2925-4FA3-9E6C-665CA27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10.20.10.15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所在 VPC 10.20.0.0/16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513C9F7C-4574-425D-AF37-8CF2460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65D52978-5F42-4448-A30F-80300CDF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10.30.20.10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仅需 TCP 3306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A7F2D74-DDCA-4008-A33A-2E0676BA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1E3CE29-CA39-4E76-98DB-2CE96C1A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堡垒机发起管理连接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3265306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8C2D4586-626B-4C90-98BB-D58E4BD3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E626F73-F484-4A07-B3EA-1CD8B1F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VPC、子网与路由表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1039891-3C4B-4AFE-A00F-AF3D27F0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地址范围、部署单元和转发路径分别管理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FC048F1-E20A-4C2A-90A8-0D32163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FB22B36-57FB-47D1-B147-13A91942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84E62-067C-45AF-BC3C-70123F705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e293ef99e4d2c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6285DE89-E132-44EF-A4A1-0B435C1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VPC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5CD66A1A-63F7-4A31-BEBB-103AFB9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承载地址空间与逻辑网络边界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C496D98E-49E9-431C-B38B-119B3DC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子网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97A3176-C062-4566-B5A4-EF8A91E1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组织业务层与容量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划分后仍需访问控制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1E07F6C4-5133-45C4-9519-7701544D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路由表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B4AEF782-39A7-4DAB-BE00-4162621A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核对子网实际关联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781317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9045E389-1050-489D-9079-F0D0C5C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72907D39-E74F-4447-80E6-01D24602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IP 规划从可用容量与未来互联开始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9A0F3EC6-A801-41DD-8B49-7D65C5B6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地址台账应覆盖生产、测试、IDC、VPN 和后续互联网络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16C90E6D-A5E2-4A85-A029-9FC6933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示例地址不代表可直接套用的企业地址池。可分配 IP 数需扣除平台保留地址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A35D89F8-2F83-4CBE-A989-6A7B6E3B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C0A2C77F-8BC4-4C05-99DC-CE64FCCE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10.20.0.0/16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AF75E113-8EBE-49A4-AB4D-218431E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生产应用地址池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5A516E8E-30E9-4BC7-B615-3BB772C6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台账关联区域、环境、业务、</a:t>
            </a:r>
          </a:p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负责人和工单。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A0A1C2AF-F937-4875-ABC1-0D5B4087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规划时先检查未来互联范围，</a:t>
            </a:r>
          </a:p>
          <a:p xmlns:a="http://schemas.openxmlformats.org/drawingml/2006/main">
            <a:pPr algn="l">
              <a:def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再确定子网容量与预留。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EE527-4272-4E01-B9D5-8918262A5FA5}"/>
              </a:ext>
            </a:extLst>
          </p:cNvPr>
          <p:cNvGraphicFramePr/>
          <p:nvPr/>
        </p:nvGraphicFramePr>
        <p:xfrm>
          <a:off xmlns:a="http://schemas.openxmlformats.org/drawingml/2006/main" x="5676900" y="218122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</a:tblGrid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子网用途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Web 入口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预留未分配范围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429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F7682C34-3A43-434F-BFDF-33AF33D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BE96AC1B-2429-432F-9773-97E82E40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一次连接经过多层检查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E177EF37-3CB8-4BD1-BA1B-830E1B95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CFW 放行只是链路中的一个检查结果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3E71768-2311-467A-A4DD-9487C869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简化路径图未逐一展开源端安全组、子网 ACL 与主机防火墙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093CC5F-4161-4711-B51F-4AAEE6EE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1B223-A97A-4FE0-B3D6-D2A9CD6B5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f66e2c02f4be5"/>
          <a:srcRect xmlns:a="http://schemas.openxmlformats.org/drawingml/2006/main" l="0" t="14000" r="0" b="16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ACA7FE6F-6947-4B41-9192-E1B5844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FDBFDDB2-5614-4069-8618-9A65500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去程与回程都需正确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5E0EC628-2722-402B-ACA5-B8A69203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策略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F4006969-D0D1-4FEE-924F-DEE76D63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CFW、安全组与其他控制层共同约束访问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497AD5B1-8A95-48EB-8B90-10F33CEB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服务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79B3DB48-62C6-4AC2-9963-321D8FF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目标端口监听与应用响应仍需单独验证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1064875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B0A0A8D2-A2D6-4A7C-8B48-CC389696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B4D9B3C-F407-42CC-A273-CB8E8B05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路由审核需要看实际命中的路径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0F79531-DE56-42E3-BDBC-C839A2D3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同一目标可能存在多条可选路由，资源存在不等于业务使用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729F516-6183-464A-AB2D-A37E4C18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下表为教学配置。每次变更都需确认子网关联、去回程与更具体路由的影响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3A148A0-0F04-45F2-B2FC-15C173C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FC254-183D-4AD8-82E2-BCFA38D54EAF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162550"/>
              </a:tblGrid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审核判断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预期跨 VPC 检查路径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旧对等连接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更具体目标范围可能走旧路径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</a:tbl>
          </a:graphicData>
        </a:graphic>
      </p:graphicFrame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7495F230-5547-4C79-AA17-EFD21CB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子网关联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4ACFB732-25CE-465E-B528-973C22E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先确认实际生效的路由表。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39243735-5F81-40C2-9CFB-C0B44B4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实际命中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122A6AA9-BD70-477B-830C-90B3C6C3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按具体目标检查最终下一跳。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95828B8-44AA-4EB2-A2D7-D18FD095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双向验证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57FCB0F1-31F3-4A50-B12D-BFC0DABE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05425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去程、回程与引流同时验收。</a:t>
            </a:r>
          </a:p>
        </p:txBody>
      </p:sp>
    </p:spTree>
    <p:extLst>
      <p:ext uri="{BB962C8B-B14F-4D97-AF65-F5344CB8AC3E}">
        <p14:creationId xmlns:p14="http://schemas.microsoft.com/office/powerpoint/2010/main" val="395278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923312C-CF9F-45E7-BA57-07F77A6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F8EDDC3-B8B5-4677-AEA5-0773B54F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运维接入与公网暴露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3503CB2C-FED7-4F67-A95C-57C3674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生产管理通道集中接入并保留操作审计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EDD9159-79D3-469C-8169-EE32A3AD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图示为建议的组织基线，具体接入方式需结合企业现有架构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982AD56-A149-4568-94D9-5CFC86FA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93066-D718-40F1-B2D5-DBF697641B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2f94666044c8d"/>
          <a:srcRect xmlns:a="http://schemas.openxmlformats.org/drawingml/2006/main" l="0" t="8000" r="0" b="4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5E6602B6-A98C-4D32-92CF-9D24130B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95B59727-573E-49AA-A67B-74B107BB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通过 VPN 或企业批准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的方式接入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6AF23C42-8A21-4DF6-A079-3B44B377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3A5F6FFD-6DC1-45EE-903E-2361F06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堡垒机控制身份、目标与操作权限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BB638825-076D-4E76-A7B1-13F85C1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暴露面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60F1B137-89EC-4808-B69E-DD4EFBE6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 EIP、NAT、IPv6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逐项验证管理端口</a:t>
            </a:r>
          </a:p>
        </p:txBody>
      </p:sp>
    </p:spTree>
    <p:extLst>
      <p:ext uri="{BB962C8B-B14F-4D97-AF65-F5344CB8AC3E}">
        <p14:creationId xmlns:p14="http://schemas.microsoft.com/office/powerpoint/2010/main" val="496644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34845AAC-5D65-4441-A827-F7FDBDD5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2F285E07-4A61-455F-A291-ACAF8822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规范的三个检查维度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10AF993-9FB5-4B8C-9061-6D02FDAE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rPr>
              <a:t>子网名称体现用途，安全策略落实访问边界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1CC8EC4C-27CB-4E57-8012-1AA861CC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18A6D44-0E8B-4FCE-B466-E6B0B52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地址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9F2A05A-1142-4BD1-81F7-3A6032D2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无冲突、有容量、能定位 Owner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413FD0B8-5895-49FA-8B51-117EC95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F8673A7F-B2C8-4EC7-979D-1F1D197B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去回程明确，能证明实际下一跳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77A7D697-E7EB-4EE8-88CC-E42F308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06CFD144-5E18-4766-A441-C37B7738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只授权业务所需来源与端口</a:t>
            </a:r>
          </a:p>
        </p:txBody>
      </p:sp>
    </p:spTree>
    <p:extLst>
      <p:ext uri="{BB962C8B-B14F-4D97-AF65-F5344CB8AC3E}">
        <p14:creationId xmlns:p14="http://schemas.microsoft.com/office/powerpoint/2010/main" val="390052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6542D5D2-63F0-4012-8A5A-65125BF6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F532C26-B0D8-4938-8094-01428D44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的检查范围取决于接入边界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22F1AA8D-8FC4-42C8-A742-25B0C971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南北向与东西向需要分别核验防护覆盖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4791DDD8-AD29-4EC3-8DD0-2725571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同 VPC 子网间流量不能仅凭购买 CFW 就认定已受检查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BA8C15FE-FD47-4C93-BED9-28487C3F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F3906-2CD2-4845-ADCD-E4631373FA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3fd8888ce42b7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B5728604-4C84-495F-B0FD-260A5394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互联网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E9E64744-8490-46B9-AC85-117B2983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检查已纳管 EIP 等互联网边界对象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D34AF106-A3D5-4BE0-B6D8-6E2808E3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VPC / IDC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5CF6E68-AC2F-49EF-82D1-4FE77E14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需专业版能力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通过 ER 引流接入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F497D10F-A7E2-4CAB-8EA5-0010B517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NAT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E245FAAE-D8E4-468C-8744-F5E8DE2B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按出口方式启用防护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916326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6CF3335-C405-43F8-BB62-5FC34AC5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58739185-7BEA-441D-919B-983FFBB9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ER 两张路由表分别承担送检与转发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5448E448-7135-4037-83ED-CC7A5946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图示来自华为云新版 ER 引流官方文档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03FC263-8A44-4B9F-97ED-3B7EFC4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官方图中的“去程/回程”表示进入和离开检查路径，业务响应也需按设计检查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3DAF289-F3AC-4BB9-B791-9EC49019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4579F-1CA9-4EA3-BAD4-950213119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0705958df491c"/>
          <a:stretch xmlns:a="http://schemas.openxmlformats.org/drawingml/2006/main"/>
        </p:blipFill>
        <p:spPr>
          <a:xfrm xmlns:a="http://schemas.openxmlformats.org/drawingml/2006/main">
            <a:off x="648088" y="1895475"/>
            <a:ext cx="7676374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83AC0A62-C595-4DD7-99FB-77EB0A6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er-RT1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31AEA8B9-1F90-4804-AAF4-9F321EF0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关联业务 VPC 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把待检流量送入 CFW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0F34F074-71EF-4904-BFA1-717C820D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er-RT2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6916ED3C-88E7-41B0-8C65-3D172F83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关联 CFW 连接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学习并转发至业务 VPC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D9292FB0-6124-475D-A5E5-8E633B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E21E11EE-BC03-4466-A747-00E81EC2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业务可达、流量送检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两项分别验证</a:t>
            </a:r>
          </a:p>
        </p:txBody>
      </p:sp>
    </p:spTree>
    <p:extLst>
      <p:ext uri="{BB962C8B-B14F-4D97-AF65-F5344CB8AC3E}">
        <p14:creationId xmlns:p14="http://schemas.microsoft.com/office/powerpoint/2010/main" val="641403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CFB02926-ACEA-4D5A-87B4-7158E17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49DED717-43D3-400A-9E82-65AD3710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接入验收需要覆盖四组配置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E8C2BA4-BE25-448F-8443-C321EF8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新增 VPC 后，连接、关联、传播与 VPC 路由需要一并检查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D3C0C599-D4F4-468B-826D-E52273C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D6E7EBA-D75F-4618-84D9-61F618DA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1E3AA-70E6-4B73-9B65-CFFC550328C7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962400"/>
              </a:tblGrid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失败时的典型表现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与 ER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两侧 VPC 均有正确连接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只有一侧接入或目标不可达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关联路由表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业务连接送检，CFW 连接返回转发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绕过检查或形成错误路径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侧路由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对端网段下一跳与子网关联正确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只部分主机经过 CFW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策略与覆盖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已有阻断规则、日志、正反用例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接入即中断，或接入后仍过宽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164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F2C05C68-4FFF-48D7-A754-1280585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6C2CEEA-E0E7-4721-9841-08E8EAD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访问申请应能直接转换为策略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EF59FC0-4C02-4579-992C-B269121D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一条规则同时具备业务依据、技术字段与管理记录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71C9AC0-7D3B-4A56-903E-CED7B4DF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示例请求单 CHG-DEMO-001 为虚构，不代表真实审批记录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8A9C6D9-1CC2-4A39-8461-51097807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9BD25-C4A5-4CA8-B2CB-7FE28631B4CB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教学填写值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订单服务访问自建数据库，CHG-DEMO-001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10.20.10.15/32，应用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10.30.20.10/32，数据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端口与协议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TCP，源端口 Any，目的端口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边界，按审批窗口发布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管理与验收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负责人、复核时间、正反用例和回滚门槛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7787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0">
            <a:extLst xmlns:a="http://schemas.openxmlformats.org/drawingml/2006/main">
              <a:ext uri="{FF2B5EF4-FFF2-40B4-BE49-F238E27FC236}">
                <a16:creationId xmlns:a16="http://schemas.microsoft.com/office/drawing/2014/main" id="{E4F3186A-739B-4E6F-87AA-7C1708C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81ABEB5F-B82E-4656-9A25-C5512490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业务访问矩阵示例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828F4B6-FC5E-4C50-BC11-7DF38C2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教学基线：仅批准明确业务流。表内规则需同步核对安全组与其他控制层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6919C300-BCC1-4501-B271-0AAE7AD7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B3F87-6428-4403-8A9B-752ABA1B9778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619250"/>
                <a:gridCol w="34861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动作与依据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放行，订单服务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10.40.10.5/32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放行，受控运维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阻断，无运维需求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测试环境地址组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生产数据地址组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阻断，环境隔离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已纳管业务源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已核验业务范围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兜底阻断，依赖梳理完成后启用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5091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1FE10803-FD1A-4D38-B5EB-31D79CAF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5A20751-1D59-4C5D-87D8-37E2F7E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功能优先级与 ACL 规则顺序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4669745-D62A-41DD-B98B-A7EB277B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外层防护顺序与 ACL 内首条命中是两个层次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BA81738-5CD1-4530-8190-09C755C9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图中的兜底阻断需由管理员显式配置。VPC 边界接入本身默认放行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F077727-9549-4096-BD04-D99C5BF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86D98-77C7-4A1C-85E4-0C56AD8B9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d804fa434eda"/>
          <a:stretch xmlns:a="http://schemas.openxmlformats.org/drawingml/2006/main"/>
        </p:blipFill>
        <p:spPr>
          <a:xfrm xmlns:a="http://schemas.openxmlformats.org/drawingml/2006/main">
            <a:off x="1778000" y="1952625"/>
            <a:ext cx="8636000" cy="3238500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BABD280-F990-47C4-AC4B-5515A777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功能顺序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40F7327A-DAB6-4A1A-851B-2E36B69F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依次检查封堵、白名单、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黑名单与 ACL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4BEFD39-1159-49FB-B412-FBCAA1D5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首条命中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BA432E8-6790-4AA0-93EE-AD56611B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具体规则靠前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ACL 首条命中后停止匹配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CEF56629-032D-42E1-AD4C-D3765A9E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白名单例外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9F17518B-F288-455C-863A-D85BD8E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直接放行并跳过后续检测</a:t>
            </a:r>
          </a:p>
          <a:p xmlns:a="http://schemas.openxmlformats.org/drawingml/2006/main">
            <a:pPr algn="l">
              <a:def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0702270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xt-0">
            <a:extLst xmlns:a="http://schemas.openxmlformats.org/drawingml/2006/main">
              <a:ext uri="{FF2B5EF4-FFF2-40B4-BE49-F238E27FC236}">
                <a16:creationId xmlns:a16="http://schemas.microsoft.com/office/drawing/2014/main" id="{A49CD5BE-8370-4165-B4C6-7EE18922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FEC060E-F3D1-4569-9714-076D95D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一条宽泛放行可以使阻断规则失效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EBB6575C-2336-4EA4-9ECD-9A788F79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先判断实际首条命中，再审查授权是否超出业务需要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54BAD3E-CDFF-435A-8722-3F5B06F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仅把 SSH 阻断移到最前面仍会保留其他过宽访问，需要收敛原始授权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BD41BE4-63C4-49ED-A332-FA1A9F19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A234B-F7F1-4B75-9042-36B25E820CC9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0"/>
                <a:gridCol w="1905000"/>
                <a:gridCol w="19240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源与目的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10.20.0.0/16 到 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到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已审核业务范围内的其他流量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1DEB022-7ED8-4BCF-9099-A6079C17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D6685A"/>
                </a:solidFill>
                <a:latin typeface="Arial Unicode MS"/>
                <a:ea typeface="Arial Unicode MS"/>
                <a:cs typeface="Arial Unicode MS"/>
              </a:rPr>
              <a:t>SSH 新连接首先命中第 1 条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EA6447B4-DCB2-47BD-B607-F5407796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8622116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11B524DA-514E-442F-9182-77B0F8A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C776102A-2BC3-4A0A-A05E-863D0978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出方向控制需要覆盖低频业务依赖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E61B0262-E2EF-433C-AC6E-C8A18327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从业务外联清单建立策略，避免一次性放开全部 TCP 443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77B01D3A-3369-4894-998D-5EBFB5E7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域名规则依赖边界、协议与匹配方式。变更后需要以实际日志验证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0E15D3DD-4636-4FAF-9775-A028880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96D83-AA85-467A-B5E6-A9D9AC0EF43A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依赖类别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申请要说明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验证样例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API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目的域名、协议、业务负责人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请求完成且命中预期规则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软件与补丁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批准仓库、更新窗口、维护人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下载与更新流程正常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DNS、时间同步、证书和监控依赖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解析、校时与告警正常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低频任务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备份、月结、批处理与故障切换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覆盖任务周期后再收敛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742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9AA7EEA5-4A90-4763-80EF-8C99ED3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ED9AA8D-B8F6-49FF-84D5-3A8688B3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地址转换改变检查点看到的源地址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E5CE8C1A-BADA-49BE-8A3B-4523EA14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规则中的地址应来自实际路径与日志证据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88691D6-8806-4B67-AE5D-27E087B3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该图解释 SNAT 的地址变化，不表示所有 CFW 部署模式都只在转换后检查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99D043BF-41DE-441C-ACE7-7E19FBFC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DD0F1-DD56-4738-9374-38FE25725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27e0711034610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DB81CB72-1EEB-4201-A7C7-731171FA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转换前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E205A4CE-3153-4004-A344-EC4A33B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可看到业务私网源地址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097945B5-9DF1-4AB6-B3F2-B4E9DD6D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转换后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9642819A-0B0B-444B-84FA-A35EAC64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可能看到出口 EIP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代理也可能聚合来源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A0CF10E5-5F40-4A87-9186-BF8A5C9F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核验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EBA071B-F6A6-4926-AFD9-4601333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先明确 CFW 检查点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11560862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F67B7563-C562-4319-9230-2163113F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1EC83E1-7658-4DB6-AA0E-2B48C12E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ACL 放行与白名单例外的检测差别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42BE4204-77FF-479A-A454-77889678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普通业务授权优先使用精确 ACL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C38861C3-82B8-43B4-A985-50DD15D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A70BDC01-009D-4A73-987A-70AC0271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D0EE2-E899-471C-852E-B5CAD781D6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b1c50bfca4d71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D39D90F0-CB81-4E8D-A006-FFD553EF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正常授权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FF9D09FD-DF51-4BEB-9B58-5F1BB1A1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允许必要业务，同时保留后续威胁检测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DB33DA1-68A7-4CC8-A4AB-4C6A9E11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误报处理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D2AB0A7-355C-4557-8B0E-9604A5F6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定位 IPS 规则 ID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评估影响与最小范围例外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04588BC9-02E4-4D15-BF2A-9A7AFD7A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例外管理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EEB2986B-6A46-44A4-80EB-0AC4743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记录审批与有效时间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明确恢复条件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2003425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E4F213B0-97E4-41F0-BA01-4258A0F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A77619E2-D0E4-428C-B2C8-1FB08C39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规则填写示例与发布前复核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4C7F477-CA21-46A1-AC96-74A9FC0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按真实控制台字段核对源、目的、服务、动作与规则顺序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C87E72F-0655-43A7-B216-A94CF430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启用规则可能立即生效。先复核范围与顺序，再在批准窗口发布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6F9AFCF3-576E-4A5E-A254-00D00970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88371-180F-44F6-B28B-4FCD1F23467B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3053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填写示例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复核要点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防护对象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检查资产与路径已接入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 / 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/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地址范围与实际观测一致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 / 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 Any，目的 3306，放行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客户端源端口通常动态分配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DEF1ED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 / 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具体规则靠前，按窗口启用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排查宽泛规则与优先模块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描述 / 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订单数据库访问，关联工单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Owner、复核与回滚可追溯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5153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xt-0">
            <a:extLst xmlns:a="http://schemas.openxmlformats.org/drawingml/2006/main">
              <a:ext uri="{FF2B5EF4-FFF2-40B4-BE49-F238E27FC236}">
                <a16:creationId xmlns:a16="http://schemas.microsoft.com/office/drawing/2014/main" id="{E43B5DC1-A164-4472-852E-EE2BAB62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A268F8F8-5854-476E-9894-A004AD1E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规范落实到每条业务流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3208F7AB-146B-4973-82B2-296FBE25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A6C1CF"/>
                </a:solidFill>
                <a:latin typeface="Arial Unicode MS"/>
                <a:ea typeface="Arial Unicode MS"/>
                <a:cs typeface="Arial Unicode MS"/>
              </a:rPr>
              <a:t>低频任务、月结、备份和故障切换需纳入复核，不能仅按短期无命中删规则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BD13ED8A-793A-47A3-A916-C53C58C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93B1C5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0C4C510-C561-4A20-9A54-D44254F6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覆盖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D1E4D08-515A-4CAE-9D4D-6085FDB2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防护对象与实际流量路径一致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C4EF71DC-D98B-4D16-A292-8D78DC0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授权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712286D4-6388-4FA6-88B4-2B3735CD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来源、目的和端口有业务依据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1923BAD1-4A96-49D4-AC27-F8DF38FB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69D8D0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F60877DF-459B-4C6C-B661-4DA4773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19018402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xt-0">
            <a:extLst xmlns:a="http://schemas.openxmlformats.org/drawingml/2006/main">
              <a:ext uri="{FF2B5EF4-FFF2-40B4-BE49-F238E27FC236}">
                <a16:creationId xmlns:a16="http://schemas.microsoft.com/office/drawing/2014/main" id="{A1A9BA06-CFC3-48BA-8C50-A5613D0D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B3C293D-2654-4257-A1A8-41BD585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访问控制的岗位责任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2B9A0BA9-E017-47C2-8339-AF4EEF5B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建议分工，可结合团队规模合并角色，但关键变更保留独立复核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F4011CDB-3955-471D-91C1-9BC93007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5391-BB18-4CF6-85ED-E0A05B22DA17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57750"/>
                <a:gridCol w="3390900"/>
              </a:tblGrid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负责事项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说明依赖、确认必要性与业务验收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端口依据、业务回归结果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网络/平台工程师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确认地址、路由、接入与回程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拓扑、路由快照、覆盖记录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审查最小权限、策略顺序与例外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规则评审、风险与例外记录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安排窗口、协调验证与决定回滚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工单、验收与回滚结论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4597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B8FEB912-0E41-4964-B035-7122F165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ECD84560-136E-4E46-B444-D99DFC26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规则变更从申请到复核形成闭环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D1A59FE-CE28-4029-84B5-CD93208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回滚门槛与恢复前态应在发布前准备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038D27C-6091-4E4D-8936-5B4217FE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流程与职责为培训建议，需由企业正式确认后采用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F05D18C2-46D0-42A8-8E40-B501A24E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E0BF2-2A7B-4DB0-878F-5C45E2300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e579c67cc45ea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1DD49CF9-A15F-4006-8742-DFD176C9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快照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3E606BE6-ED7D-4DD7-ADD7-F5C073D3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规则、对象组、路由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都保留变更前态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AF3B78DF-2BCD-4535-929F-2172ACFB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61C2DD80-3ED7-40E1-8ADE-CF92A61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关键交易结果、错误率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时延与策略命中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5F2C09B7-181B-4A14-B8D5-E615C762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回滚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50FDCEEC-94D5-4848-A2DD-85507B8A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达到约定门槛即执行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6521086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xt-0">
            <a:extLst xmlns:a="http://schemas.openxmlformats.org/drawingml/2006/main">
              <a:ext uri="{FF2B5EF4-FFF2-40B4-BE49-F238E27FC236}">
                <a16:creationId xmlns:a16="http://schemas.microsoft.com/office/drawing/2014/main" id="{FB1868E6-C437-4CBC-A044-908D0EA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151D18B-5252-4144-8AF5-DEDECDF7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验收记录同时覆盖成功、拒绝与路径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13860F25-A354-4B96-9B5D-86B754D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测试时间、源、目的、协议和端口应能与日志对应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BD9912B-DAA1-4697-859C-DC7D51C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“连接失败”需结合预期阻断日志解释，避免把服务未监听当作策略生效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727F230-5B57-4A5E-BBD7-45B00073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CC7EF-7AB2-4F3E-889F-5F7CE5C18DCE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教学测试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访问目标 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连接结果、交易结果、规则命中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同一来源访问目标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失败结果与预期阻断日志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新建会话并核对对应防护边界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实例、边界、源目的与时间一致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DNS、监控、备份与关键交易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关键依赖正常，回滚步骤已验证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119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2DFD40D-8731-48D8-9512-88D431D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AA5AB6BC-CF64-417B-B103-1DEC7930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从日志筛选条件定位具体业务流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24035E17-C523-4E6C-BE67-ECE7BE45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华为云官方日志查询示例，界面可能随版本变化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2DCB6568-8B1A-4C2C-9696-018048CA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流量日志存在会话结束上报等机制。暂未查到日志时先核对上报与筛选条件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2B4B769E-F4E0-412C-B03F-1036156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E1A54-2FC8-4AED-855C-3FA29DF1D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2864dfe564382"/>
          <a:stretch xmlns:a="http://schemas.openxmlformats.org/drawingml/2006/main"/>
        </p:blipFill>
        <p:spPr>
          <a:xfrm xmlns:a="http://schemas.openxmlformats.org/drawingml/2006/main">
            <a:off x="659433" y="2028825"/>
            <a:ext cx="10873134" cy="271462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7AAEDB01-098A-475D-8827-94EF5637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 确认范围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1F8C2B6-8CF8-48A9-9C26-1309A19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实例、日志类型与防护边界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1D472FDB-3A2D-42DE-B37F-52A645F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 筛选业务流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C5B26A61-4196-4C26-8722-7455F1A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时间、源目的、协议与端口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F8420227-607B-482D-B684-83414B1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关联结果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D958A150-F5DB-4520-8AA2-D8AEA5E3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20003258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DA1E893-0BA4-4D54-A170-9889D41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FD6B644-9CA3-41C7-8C8C-88E81A4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排障按证据分支推进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BC23CF84-75C5-48D6-9868-ADA6AF5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先确定检查点的观测结果，再定位具体控制层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1172E596-04C8-48C0-8FDE-3EAF0CC5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7FCF2BAB-E638-423D-A3C7-540594F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BA126-FB5A-4836-95D9-D0292D422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259c6910e4edc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C32C0870-A4CA-462F-9ADD-92BCFEB6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有日志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30BF5721-50FD-463F-966E-D6C77C56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看访问控制动作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再看攻击事件与 IPS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2FE8FDF3-FECE-47BE-B3B8-17CC385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无即时日志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D9C6FD5C-AA25-4ACF-98B5-1EE9D27B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核对筛选、上报和路径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避免直接增加 Any 放行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7A799285-E1DF-4804-9296-D7B8D1D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端到端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6BFE0EEC-AA43-4D8B-9663-E7621D2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其他控制层与服务状态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都需验证</a:t>
            </a:r>
          </a:p>
        </p:txBody>
      </p:sp>
    </p:spTree>
    <p:extLst>
      <p:ext uri="{BB962C8B-B14F-4D97-AF65-F5344CB8AC3E}">
        <p14:creationId xmlns:p14="http://schemas.microsoft.com/office/powerpoint/2010/main" val="143766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C9AC63AB-528D-432F-8153-4E58637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3A55DC06-901C-468F-8B27-16A4D45F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案例一：CFW 放行后仍然连接超时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1A823F9C-9063-47F7-8532-B9406324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1FC5AB24-EAA1-4813-9512-45B4E21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教学假设：无 NAT，源端出方向及其他控制层正常。下一页为参考答案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43080CBA-1EDB-4A1B-9DCB-EF7D789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5DF7C-F59A-4AC8-AFD5-FF5924303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47356927d4556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A6862A3B-A254-4C9D-B5BA-D50C875D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CAB5E816-77F3-4710-8926-42A7037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双向引流正常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数据库已监听 3306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E39728D0-536C-402B-A5E8-E62D5B92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EE38C7C2-DFE5-47EC-888D-5C33B2F3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根据图中地址与来源规则定位问题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3345F321-1EEA-4BDC-B925-EC11409B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C488BD7D-1BC7-4A32-BC32-0BAF3B60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最小修改、正反用例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16235540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BFF38F84-9D57-4159-B67D-0DB032F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0FCC96E-58E3-477D-A231-FCAEDF1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案例一答案：数据安全组来源不匹配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8D6CD9DB-BF07-4BD0-BA43-1CAA7E4B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分：根因 3 分、最小变更 3 分、正反用例各 2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6120DB02-C7EE-4FBA-993F-416005CB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A1615296-C64E-42D5-8DB5-10190D73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10.20.10.15 不属于允许的 10.20.20.0/24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CBB72759-98C8-4E8A-91DA-52DC865A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经审批为实际应用来源增加 TCP 3306 的精确授权。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56BC0-FF2B-417A-9B62-19A0297709EC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 10.30.20.10:3306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连接成功且业务回归通过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按基线拒绝，关联阻断证据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规则差异、测试时间与 CFW 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能够关联 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5130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A4DBD1E8-3952-45C9-BC10-1CCCFB1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BAB8535-7581-47A5-8C23-7266413A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案例二：SSH 阻断规则为何没有生效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4938EB1-7042-4B18-B9D3-F7D9AAD0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EF6615D-47B5-448B-9C1D-6A085418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假设无白名单、黑名单或其他高优先级功能影响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F96EBADF-2ADC-4381-9CF9-5733208E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044A4-DAD8-4C95-9A8F-7B8D56E154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bcbe922814d97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0660686-4DAA-408D-AB90-947B7302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5840CDDF-391B-46D1-A7F1-94184990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新建连接命中首条规则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8E4C4FD3-8934-4494-9026-85A7ADA9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EB708CC8-85FB-4AE9-8869-24BECE44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解释阻断为何无效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审查整体授权范围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A7A08C8A-4774-49CF-BDE8-CE45C29D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3DB164B7-CBF2-4CB0-A85D-A3C0839D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给出收敛后的规则集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同时保留数据库业务</a:t>
            </a:r>
          </a:p>
        </p:txBody>
      </p:sp>
    </p:spTree>
    <p:extLst>
      <p:ext uri="{BB962C8B-B14F-4D97-AF65-F5344CB8AC3E}">
        <p14:creationId xmlns:p14="http://schemas.microsoft.com/office/powerpoint/2010/main" val="8761300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C5423584-31B8-4B40-9394-4120FB5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1139D8F0-2F19-4B3C-8EA9-C24BCDC5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案例二答案：首条 Any 放行遮蔽后续规则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C524F20-ED58-47DF-98E4-886710E7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分：顺序解释 3 分、授权收敛 4 分、验收 3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090063F8-181E-4A94-950D-31F9093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897D3E6-F769-4946-8ED6-5CFA7F44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ACL 在首条规则命中后停止继续匹配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1D69B40E-970B-491F-BDD4-A6DB4F0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以已批准的源、目的与 TCP 3306 放行替换宽泛 Any 规则。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79D9-4129-4D02-AE5A-9FD22DFFB8B5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精确业务放行、获批运维、范围内兜底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依赖梳理完成后启用阻断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新建数据库连接与业务交易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命中精确放行，业务正常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 SSH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命中预期阻断，拒绝成功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7234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xt-0">
            <a:extLst xmlns:a="http://schemas.openxmlformats.org/drawingml/2006/main">
              <a:ext uri="{FF2B5EF4-FFF2-40B4-BE49-F238E27FC236}">
                <a16:creationId xmlns:a16="http://schemas.microsoft.com/office/drawing/2014/main" id="{222E76E8-BC3E-4BE7-8FE1-9DAB420A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D1E0DB2-EAE9-4BE8-B938-63D13068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案例三：业务正常却看不到 CFW 流量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D4373937-5A6D-449A-87E2-8BB82129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4 分钟讨论 + 4 分钟讲评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7DAE4215-5F0A-47B0-A1F7-9E90A32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仅调整批准的业务范围，先评估旧互联是否还承载其他业务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8AFEA533-D22F-4AE9-BD00-1DCD9B71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F5428-B3C3-4CC9-9A5A-26D56CCA1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68ff7964142e0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E31B0376-24AA-44CE-B624-4B2075F9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已排除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CF6350A6-A039-4A42-9FA0-489158A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边界、实例、筛选时间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与上报条件问题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A90ADF2-0107-427B-9D48-4AC5B35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已观测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551488FB-E37C-42AB-9459-8AA30DA5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目标网段实际命中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旧对等连接路径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19BD04E-1A98-4199-8628-7639CA7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3413BA40-1669-431C-ADBE-37BD91D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给出路径调整、覆盖验收</a:t>
            </a:r>
          </a:p>
          <a:p xmlns:a="http://schemas.openxmlformats.org/drawingml/2006/main">
            <a:pPr algn="l">
              <a:def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与回滚方案</a:t>
            </a:r>
          </a:p>
        </p:txBody>
      </p:sp>
    </p:spTree>
    <p:extLst>
      <p:ext uri="{BB962C8B-B14F-4D97-AF65-F5344CB8AC3E}">
        <p14:creationId xmlns:p14="http://schemas.microsoft.com/office/powerpoint/2010/main" val="4079257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-0">
            <a:extLst xmlns:a="http://schemas.openxmlformats.org/drawingml/2006/main">
              <a:ext uri="{FF2B5EF4-FFF2-40B4-BE49-F238E27FC236}">
                <a16:creationId xmlns:a16="http://schemas.microsoft.com/office/drawing/2014/main" id="{A9D15237-AAE2-44B3-A89B-A5A0DCBD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6981ABD3-DA43-41F2-BB66-10B7D4F8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案例三答案：实际流量绕过预期检查路径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629A9A8B-4983-47B6-BCAB-BEBF68A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评分 10 分：根因 2 分、路径与回滚 4 分、覆盖验证 4 分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8970D374-817C-4C34-90D6-999070B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1AC823BA-32D0-4902-A038-F689D52C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业务访问成功，但 CFW 未覆盖实际命中的路径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7FC7DF38-8DA7-44BB-8D3B-425CE28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核验 ER 引流设计后，在批准窗口分范围调整去程与回程。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E2250-3654-4E68-AB65-79D2AEB089E2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旧路由、对象、业务基线快照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具备可执行的恢复步骤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受控新连接完成，日志记录该业务流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业务回归通过且规则命中正确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发起范围内禁止连接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看到预期阻断并排除旁路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6159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xt-0">
            <a:extLst xmlns:a="http://schemas.openxmlformats.org/drawingml/2006/main">
              <a:ext uri="{FF2B5EF4-FFF2-40B4-BE49-F238E27FC236}">
                <a16:creationId xmlns:a16="http://schemas.microsoft.com/office/drawing/2014/main" id="{472C9390-60D2-473A-8DC3-394F54F4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315C531-FA91-4109-A32E-EF7EA3CE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五个快速判断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AF5B397C-4C50-40BB-A5E1-AAD542A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AD3CFA1F-A7D9-46EB-ACC8-9C383528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34D17E8E-638F-4ED9-8BC2-62F09F09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同一 VPC 划出应用和数据子网，是否已经完成访问隔离？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9CB52059-6F5D-4CEA-84DF-D685FAE1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B83A311F-CD0C-481E-819F-9C2794F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VPC 边界 CFW 接入后，是否自动拒绝未配置的业务流量？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7EFA3117-EAA6-43E2-BA71-D99DA4F0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E10A7562-1194-46A4-ABA2-AB76A44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CFW 的 ACL 放行，是否代表端到端业务必定可用？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85B869EA-1429-41EF-AAEE-F7E55B7E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35946276-0ED1-4E08-80E2-3A7635D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普通业务长期使用白名单，是否等同于 ACL 精确放行？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6A614DB6-0BC3-49EC-9D8B-214D99B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9CA1BCFE-820D-4A66-8A96-E5A52CBE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66836639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-0">
            <a:extLst xmlns:a="http://schemas.openxmlformats.org/drawingml/2006/main">
              <a:ext uri="{FF2B5EF4-FFF2-40B4-BE49-F238E27FC236}">
                <a16:creationId xmlns:a16="http://schemas.microsoft.com/office/drawing/2014/main" id="{4F1AF35C-4834-487C-BF44-1CAC4282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073E8180-30F6-4929-BA54-55779F3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测验答案与理由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CCCCD05D-F87D-405B-A26F-EC435176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5DD66-9C97-488E-9B26-DF0657D79611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3439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题号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答案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2283F"/>
                      </a:solidFill>
                      <a:prstDash val="solid"/>
                    </a:lnL>
                    <a:lnR w="6350">
                      <a:solidFill>
                        <a:srgbClr val="12283F"/>
                      </a:solidFill>
                      <a:prstDash val="solid"/>
                    </a:lnR>
                    <a:lnT w="6350">
                      <a:solidFill>
                        <a:srgbClr val="12283F"/>
                      </a:solidFill>
                      <a:prstDash val="solid"/>
                    </a:lnT>
                    <a:lnB w="6350">
                      <a:solidFill>
                        <a:srgbClr val="12283F"/>
                      </a:solidFill>
                      <a:prstDash val="solid"/>
                    </a:lnB>
                    <a:solidFill>
                      <a:srgbClr val="12283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子网划分需要配合安全策略实现隔离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文档说明 VPC 边界接入后默认放行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其他安全层、路由或服务仍可影响业务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白名单可跳过后续检测，需按例外管理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EEF3F6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228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正反用例与日志共同验证策略和覆盖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EE6EC"/>
                      </a:solidFill>
                      <a:prstDash val="solid"/>
                    </a:lnL>
                    <a:lnR w="6350">
                      <a:solidFill>
                        <a:srgbClr val="DEE6EC"/>
                      </a:solidFill>
                      <a:prstDash val="solid"/>
                    </a:lnR>
                    <a:lnT w="6350">
                      <a:solidFill>
                        <a:srgbClr val="DEE6EC"/>
                      </a:solidFill>
                      <a:prstDash val="solid"/>
                    </a:lnT>
                    <a:lnB w="6350">
                      <a:solidFill>
                        <a:srgbClr val="DEE6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3760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xt-0">
            <a:extLst xmlns:a="http://schemas.openxmlformats.org/drawingml/2006/main">
              <a:ext uri="{FF2B5EF4-FFF2-40B4-BE49-F238E27FC236}">
                <a16:creationId xmlns:a16="http://schemas.microsoft.com/office/drawing/2014/main" id="{77F5147C-5592-4E89-B519-957D08D3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05  岗位检查表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F71B5A94-FDE1-4E1B-A906-2B82CC03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上线前与日常复核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F92C3FC4-3438-4C36-B97C-6CFA1B15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建议落地：统一申请模板、明确复核责任人、选择一个测试业务完成闭环演练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D19356AA-5210-4F84-9469-33796DF0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D7532512-2B5A-4FD1-90B8-65040EDA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每次上线前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54BD290C-015F-49A8-A366-72183EDC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日常持续维护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8AD55B8A-1972-48C3-B8B6-FC262498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地址、环境与业务 Owner 明确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6DB5D3FC-1A33-4F12-B822-BC8385C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去回程和 CFW 覆盖已核验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7C66CA32-32BA-4146-AE72-46543B5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端口、顺序与例外经复核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A07D028A-8E82-4266-B0FC-C6E9598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正反用例与回滚门槛已准备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00FF2227-CDFB-4637-A208-D014DCF9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新增资产同步检查纳管状态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BC9844C4-A84C-47E3-90B5-FF5C02A9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到期临时规则与白名单及时清理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571EF534-0919-4E95-AC57-361DA17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周期复核对象组与低频依赖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129CA4B6-BEFA-4EF1-A32A-E3C610E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6094428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xt-0">
            <a:extLst xmlns:a="http://schemas.openxmlformats.org/drawingml/2006/main">
              <a:ext uri="{FF2B5EF4-FFF2-40B4-BE49-F238E27FC236}">
                <a16:creationId xmlns:a16="http://schemas.microsoft.com/office/drawing/2014/main" id="{A9468D8F-54BA-4F0C-8C60-3A17718D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参考资料</a:t>
            </a:r>
          </a:p>
        </p:txBody>
      </p:sp>
      <p:sp>
        <p:nvSpPr>
          <p:cNvPr id="2" name="txt-1">
            <a:extLst xmlns:a="http://schemas.openxmlformats.org/drawingml/2006/main">
              <a:ext uri="{FF2B5EF4-FFF2-40B4-BE49-F238E27FC236}">
                <a16:creationId xmlns:a16="http://schemas.microsoft.com/office/drawing/2014/main" id="{9A03AEFC-2E1A-40D3-97D6-20F69F43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rPr>
              <a:t>华为云官方参考资料</a:t>
            </a:r>
          </a:p>
        </p:txBody>
      </p:sp>
      <p:sp>
        <p:nvSpPr>
          <p:cNvPr id="3" name="txt-2">
            <a:extLst xmlns:a="http://schemas.openxmlformats.org/drawingml/2006/main">
              <a:ext uri="{FF2B5EF4-FFF2-40B4-BE49-F238E27FC236}">
                <a16:creationId xmlns:a16="http://schemas.microsoft.com/office/drawing/2014/main" id="{22E73691-D055-4466-96AD-1DAEA40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检索日期：2026 年 10 月 16 日。各区域版本与实际控制台可能不同</a:t>
            </a:r>
          </a:p>
        </p:txBody>
      </p:sp>
      <p:sp>
        <p:nvSpPr>
          <p:cNvPr id="4" name="txt-3">
            <a:extLst xmlns:a="http://schemas.openxmlformats.org/drawingml/2006/main">
              <a:ext uri="{FF2B5EF4-FFF2-40B4-BE49-F238E27FC236}">
                <a16:creationId xmlns:a16="http://schemas.microsoft.com/office/drawing/2014/main" id="{5B1016AB-8392-4EA4-96B0-4BE0E10A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本课的命名、审批、到期复核、演练评分与验收要求为培训建议基线</a:t>
            </a:r>
          </a:p>
        </p:txBody>
      </p:sp>
      <p:sp>
        <p:nvSpPr>
          <p:cNvPr id="5" name="txt-4">
            <a:extLst xmlns:a="http://schemas.openxmlformats.org/drawingml/2006/main">
              <a:ext uri="{FF2B5EF4-FFF2-40B4-BE49-F238E27FC236}">
                <a16:creationId xmlns:a16="http://schemas.microsoft.com/office/drawing/2014/main" id="{E0BEA049-66CD-430C-879D-C59C88F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27383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6" name="txt-5">
            <a:extLst xmlns:a="http://schemas.openxmlformats.org/drawingml/2006/main">
              <a:ext uri="{FF2B5EF4-FFF2-40B4-BE49-F238E27FC236}">
                <a16:creationId xmlns:a16="http://schemas.microsoft.com/office/drawing/2014/main" id="{0D0CF803-1792-4A2D-A308-0D1DE4C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网络规划与控制层</a:t>
            </a:r>
          </a:p>
        </p:txBody>
      </p:sp>
      <p:sp>
        <p:nvSpPr>
          <p:cNvPr id="7" name="txt-6">
            <a:extLst xmlns:a="http://schemas.openxmlformats.org/drawingml/2006/main">
              <a:ext uri="{FF2B5EF4-FFF2-40B4-BE49-F238E27FC236}">
                <a16:creationId xmlns:a16="http://schemas.microsoft.com/office/drawing/2014/main" id="{4C75E8E0-3BFF-49FD-A48B-CB44643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176bb66249441f3"/>
              </a:rPr>
              <a:t>VPC 网络规划建议</a:t>
            </a:r>
          </a:p>
        </p:txBody>
      </p:sp>
      <p:sp>
        <p:nvSpPr>
          <p:cNvPr id="8" name="txt-7">
            <a:extLst xmlns:a="http://schemas.openxmlformats.org/drawingml/2006/main">
              <a:ext uri="{FF2B5EF4-FFF2-40B4-BE49-F238E27FC236}">
                <a16:creationId xmlns:a16="http://schemas.microsoft.com/office/drawing/2014/main" id="{FDD81069-6567-4767-810B-015F56E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47269b9e0774fca"/>
              </a:rPr>
              <a:t>VPC 网络规划与隔离</a:t>
            </a:r>
          </a:p>
        </p:txBody>
      </p:sp>
      <p:sp>
        <p:nvSpPr>
          <p:cNvPr id="9" name="txt-8">
            <a:extLst xmlns:a="http://schemas.openxmlformats.org/drawingml/2006/main">
              <a:ext uri="{FF2B5EF4-FFF2-40B4-BE49-F238E27FC236}">
                <a16:creationId xmlns:a16="http://schemas.microsoft.com/office/drawing/2014/main" id="{3089B4AC-A37D-4254-B70B-12147FA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d7d49e2317c4e2a"/>
              </a:rPr>
              <a:t>VPC 访问控制概述</a:t>
            </a:r>
          </a:p>
        </p:txBody>
      </p:sp>
      <p:sp>
        <p:nvSpPr>
          <p:cNvPr id="10" name="txt-9">
            <a:extLst xmlns:a="http://schemas.openxmlformats.org/drawingml/2006/main">
              <a:ext uri="{FF2B5EF4-FFF2-40B4-BE49-F238E27FC236}">
                <a16:creationId xmlns:a16="http://schemas.microsoft.com/office/drawing/2014/main" id="{7CCE03BF-082E-4133-8E6C-05B8C24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CFW 覆盖与引流</a:t>
            </a:r>
          </a:p>
        </p:txBody>
      </p:sp>
      <p:sp>
        <p:nvSpPr>
          <p:cNvPr id="11" name="txt-10">
            <a:extLst xmlns:a="http://schemas.openxmlformats.org/drawingml/2006/main">
              <a:ext uri="{FF2B5EF4-FFF2-40B4-BE49-F238E27FC236}">
                <a16:creationId xmlns:a16="http://schemas.microsoft.com/office/drawing/2014/main" id="{6D52DB79-37DF-49B7-A880-0E44EC4C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94b973403134d9a"/>
              </a:rPr>
              <a:t>VPC 边界防火墙概述</a:t>
            </a:r>
          </a:p>
        </p:txBody>
      </p:sp>
      <p:sp>
        <p:nvSpPr>
          <p:cNvPr id="12" name="txt-11">
            <a:extLst xmlns:a="http://schemas.openxmlformats.org/drawingml/2006/main">
              <a:ext uri="{FF2B5EF4-FFF2-40B4-BE49-F238E27FC236}">
                <a16:creationId xmlns:a16="http://schemas.microsoft.com/office/drawing/2014/main" id="{666CBE52-BABD-4C5A-AF05-D7794F48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b1cebe8d4614734"/>
              </a:rPr>
              <a:t>ER 引流配置（新版）</a:t>
            </a:r>
          </a:p>
        </p:txBody>
      </p:sp>
      <p:sp>
        <p:nvSpPr>
          <p:cNvPr id="13" name="txt-12">
            <a:extLst xmlns:a="http://schemas.openxmlformats.org/drawingml/2006/main">
              <a:ext uri="{FF2B5EF4-FFF2-40B4-BE49-F238E27FC236}">
                <a16:creationId xmlns:a16="http://schemas.microsoft.com/office/drawing/2014/main" id="{99B8B6DB-6EF1-4D29-9198-CDAFAB5F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e5edb36fae44d5f"/>
              </a:rPr>
              <a:t>开启防护与流量验证</a:t>
            </a:r>
          </a:p>
        </p:txBody>
      </p:sp>
      <p:sp>
        <p:nvSpPr>
          <p:cNvPr id="14" name="txt-13">
            <a:extLst xmlns:a="http://schemas.openxmlformats.org/drawingml/2006/main">
              <a:ext uri="{FF2B5EF4-FFF2-40B4-BE49-F238E27FC236}">
                <a16:creationId xmlns:a16="http://schemas.microsoft.com/office/drawing/2014/main" id="{B6A93759-7659-4212-A8D7-4AF31BE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B87"/>
                </a:solidFill>
                <a:latin typeface="Arial Unicode MS"/>
                <a:ea typeface="Arial Unicode MS"/>
                <a:cs typeface="Arial Unicode MS"/>
              </a:rPr>
              <a:t>策略与日志排障</a:t>
            </a:r>
          </a:p>
        </p:txBody>
      </p:sp>
      <p:sp>
        <p:nvSpPr>
          <p:cNvPr id="15" name="txt-14">
            <a:extLst xmlns:a="http://schemas.openxmlformats.org/drawingml/2006/main">
              <a:ext uri="{FF2B5EF4-FFF2-40B4-BE49-F238E27FC236}">
                <a16:creationId xmlns:a16="http://schemas.microsoft.com/office/drawing/2014/main" id="{DAAF8A72-28A8-4D09-AC8E-FCAC3900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aeacef20362484a"/>
              </a:rPr>
              <a:t>VPC 边界防护规则</a:t>
            </a:r>
          </a:p>
        </p:txBody>
      </p:sp>
      <p:sp>
        <p:nvSpPr>
          <p:cNvPr id="16" name="txt-15">
            <a:extLst xmlns:a="http://schemas.openxmlformats.org/drawingml/2006/main">
              <a:ext uri="{FF2B5EF4-FFF2-40B4-BE49-F238E27FC236}">
                <a16:creationId xmlns:a16="http://schemas.microsoft.com/office/drawing/2014/main" id="{48B0B5F8-0577-4018-8E40-9221BF72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5cf121a5e8474548"/>
              </a:rPr>
              <a:t>访问控制策略概述</a:t>
            </a:r>
          </a:p>
        </p:txBody>
      </p:sp>
      <p:sp>
        <p:nvSpPr>
          <p:cNvPr id="17" name="txt-16">
            <a:extLst xmlns:a="http://schemas.openxmlformats.org/drawingml/2006/main">
              <a:ext uri="{FF2B5EF4-FFF2-40B4-BE49-F238E27FC236}">
                <a16:creationId xmlns:a16="http://schemas.microsoft.com/office/drawing/2014/main" id="{F7A7ACEE-8B09-4CBA-B414-CFECBEA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1ad3356ddbc4eba"/>
              </a:rPr>
              <a:t>日志查询</a:t>
            </a:r>
          </a:p>
        </p:txBody>
      </p:sp>
      <p:sp>
        <p:nvSpPr>
          <p:cNvPr id="18" name="txt-17">
            <a:extLst xmlns:a="http://schemas.openxmlformats.org/drawingml/2006/main">
              <a:ext uri="{FF2B5EF4-FFF2-40B4-BE49-F238E27FC236}">
                <a16:creationId xmlns:a16="http://schemas.microsoft.com/office/drawing/2014/main" id="{A4C1C1A2-8F0B-480A-9F50-42C39B85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86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81989d2493f946e6"/>
              </a:rPr>
              <a:t>流量统计与会话上报</a:t>
            </a:r>
          </a:p>
        </p:txBody>
      </p:sp>
      <p:sp>
        <p:nvSpPr>
          <p:cNvPr id="19" name="txt-18">
            <a:extLst xmlns:a="http://schemas.openxmlformats.org/drawingml/2006/main">
              <a:ext uri="{FF2B5EF4-FFF2-40B4-BE49-F238E27FC236}">
                <a16:creationId xmlns:a16="http://schemas.microsoft.com/office/drawing/2014/main" id="{3DF94611-412A-4826-9B5C-18E7C4B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2283F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905ce5c7b904650"/>
              </a:rPr>
              <a:t>配置防护策略后业务无法访问</a:t>
            </a:r>
          </a:p>
        </p:txBody>
      </p:sp>
    </p:spTree>
    <p:extLst>
      <p:ext uri="{BB962C8B-B14F-4D97-AF65-F5344CB8AC3E}">
        <p14:creationId xmlns:p14="http://schemas.microsoft.com/office/powerpoint/2010/main" val="803854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2026-10-15T23:28:09.9710000Z</dcterms:created>
  <dcterms:modified xsi:type="dcterms:W3CDTF">2026-10-15T23:28:09.9710000Z</dcterms:modified>
</coreProperties>
</file>