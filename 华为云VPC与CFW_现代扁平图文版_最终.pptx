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462b5cdd7fe4290" /><Relationship Type="http://schemas.openxmlformats.org/officeDocument/2006/relationships/extended-properties" Target="/docProps/app.xml" Id="R61eb4b40f6f446f1" /><Relationship Type="http://schemas.openxmlformats.org/officeDocument/2006/relationships/officeDocument" Target="/ppt/presentation.xml" Id="R01e343f8ae0a49d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c211530f6a14e87"/>
  </p:sldMasterIdLst>
  <p:notesMasterIdLst>
    <p:notesMasterId xmlns:r="http://schemas.openxmlformats.org/officeDocument/2006/relationships" r:id="R2328054132054ef5"/>
  </p:notesMasterIdLst>
  <p:sldIdLst>
    <p:sldId xmlns:r="http://schemas.openxmlformats.org/officeDocument/2006/relationships" id="256" r:id="Re0f4e5c204994f34"/>
    <p:sldId xmlns:r="http://schemas.openxmlformats.org/officeDocument/2006/relationships" id="257" r:id="R6a379c69144c4eb5"/>
    <p:sldId xmlns:r="http://schemas.openxmlformats.org/officeDocument/2006/relationships" id="258" r:id="Re2c85bf275ac4944"/>
    <p:sldId xmlns:r="http://schemas.openxmlformats.org/officeDocument/2006/relationships" id="259" r:id="Rc86f0317524843c5"/>
    <p:sldId xmlns:r="http://schemas.openxmlformats.org/officeDocument/2006/relationships" id="260" r:id="R44e07faa48054457"/>
    <p:sldId xmlns:r="http://schemas.openxmlformats.org/officeDocument/2006/relationships" id="261" r:id="Rbd423df336e248ec"/>
    <p:sldId xmlns:r="http://schemas.openxmlformats.org/officeDocument/2006/relationships" id="262" r:id="Rf3d8d0e7e24e422b"/>
    <p:sldId xmlns:r="http://schemas.openxmlformats.org/officeDocument/2006/relationships" id="263" r:id="R674560e56b4b449f"/>
    <p:sldId xmlns:r="http://schemas.openxmlformats.org/officeDocument/2006/relationships" id="264" r:id="R2f145143f03f4792"/>
    <p:sldId xmlns:r="http://schemas.openxmlformats.org/officeDocument/2006/relationships" id="265" r:id="R24576182f8944f05"/>
    <p:sldId xmlns:r="http://schemas.openxmlformats.org/officeDocument/2006/relationships" id="266" r:id="Rd3e272d21e6c4f8c"/>
    <p:sldId xmlns:r="http://schemas.openxmlformats.org/officeDocument/2006/relationships" id="267" r:id="R98df6e7909ae49c2"/>
    <p:sldId xmlns:r="http://schemas.openxmlformats.org/officeDocument/2006/relationships" id="268" r:id="R4eef166667eb4bc0"/>
    <p:sldId xmlns:r="http://schemas.openxmlformats.org/officeDocument/2006/relationships" id="269" r:id="Ra039e99b409f48b2"/>
    <p:sldId xmlns:r="http://schemas.openxmlformats.org/officeDocument/2006/relationships" id="270" r:id="Rc6613b389e2c4ed3"/>
    <p:sldId xmlns:r="http://schemas.openxmlformats.org/officeDocument/2006/relationships" id="271" r:id="R180150298e514ada"/>
    <p:sldId xmlns:r="http://schemas.openxmlformats.org/officeDocument/2006/relationships" id="272" r:id="R6479dec25dea4fb3"/>
    <p:sldId xmlns:r="http://schemas.openxmlformats.org/officeDocument/2006/relationships" id="273" r:id="R4623cfae81bf412f"/>
    <p:sldId xmlns:r="http://schemas.openxmlformats.org/officeDocument/2006/relationships" id="274" r:id="R771caf6344e84486"/>
    <p:sldId xmlns:r="http://schemas.openxmlformats.org/officeDocument/2006/relationships" id="275" r:id="R54448d64ff434105"/>
    <p:sldId xmlns:r="http://schemas.openxmlformats.org/officeDocument/2006/relationships" id="276" r:id="R4a0e5ac30fa145bd"/>
    <p:sldId xmlns:r="http://schemas.openxmlformats.org/officeDocument/2006/relationships" id="277" r:id="R75d9d7f039684bd1"/>
    <p:sldId xmlns:r="http://schemas.openxmlformats.org/officeDocument/2006/relationships" id="278" r:id="R8640719021024a02"/>
    <p:sldId xmlns:r="http://schemas.openxmlformats.org/officeDocument/2006/relationships" id="279" r:id="R2813c5fa97984513"/>
    <p:sldId xmlns:r="http://schemas.openxmlformats.org/officeDocument/2006/relationships" id="280" r:id="Rc1444a1c99844964"/>
    <p:sldId xmlns:r="http://schemas.openxmlformats.org/officeDocument/2006/relationships" id="281" r:id="R09e140839cd645b6"/>
    <p:sldId xmlns:r="http://schemas.openxmlformats.org/officeDocument/2006/relationships" id="282" r:id="Rc3b91b16b1f34ae8"/>
    <p:sldId xmlns:r="http://schemas.openxmlformats.org/officeDocument/2006/relationships" id="283" r:id="R783bf626c7a148d6"/>
    <p:sldId xmlns:r="http://schemas.openxmlformats.org/officeDocument/2006/relationships" id="284" r:id="R3a2f585cf3f342d3"/>
    <p:sldId xmlns:r="http://schemas.openxmlformats.org/officeDocument/2006/relationships" id="285" r:id="R615fbf561d964904"/>
    <p:sldId xmlns:r="http://schemas.openxmlformats.org/officeDocument/2006/relationships" id="286" r:id="R299ce74c28f84a30"/>
    <p:sldId xmlns:r="http://schemas.openxmlformats.org/officeDocument/2006/relationships" id="287" r:id="R069d9ee884944e4d"/>
    <p:sldId xmlns:r="http://schemas.openxmlformats.org/officeDocument/2006/relationships" id="288" r:id="Rd895ebde82934fe5"/>
    <p:sldId xmlns:r="http://schemas.openxmlformats.org/officeDocument/2006/relationships" id="289" r:id="Rb1aebf3c83854b69"/>
    <p:sldId xmlns:r="http://schemas.openxmlformats.org/officeDocument/2006/relationships" id="290" r:id="R711190add0e34ad1"/>
    <p:sldId xmlns:r="http://schemas.openxmlformats.org/officeDocument/2006/relationships" id="291" r:id="R06d9dca9e700493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d7afc7081234afd" /><Relationship Type="http://schemas.openxmlformats.org/officeDocument/2006/relationships/slideMaster" Target="/ppt/slideMasters/slideMaster1.xml" Id="R5c211530f6a14e87" /><Relationship Type="http://schemas.openxmlformats.org/officeDocument/2006/relationships/notesMaster" Target="/ppt/notesMasters/notesMaster1.xml" Id="R2328054132054ef5" /><Relationship Type="http://schemas.openxmlformats.org/officeDocument/2006/relationships/presProps" Target="/ppt/presProps.xml" Id="R154008a2807644cf" /><Relationship Type="http://schemas.openxmlformats.org/officeDocument/2006/relationships/tableStyles" Target="/ppt/tableStyles.xml" Id="R26ba048381d7479c" /><Relationship Type="http://schemas.openxmlformats.org/officeDocument/2006/relationships/slide" Target="/ppt/slides/slide1.xml" Id="Re0f4e5c204994f34" /><Relationship Type="http://schemas.openxmlformats.org/officeDocument/2006/relationships/slide" Target="/ppt/slides/slide2.xml" Id="R6a379c69144c4eb5" /><Relationship Type="http://schemas.openxmlformats.org/officeDocument/2006/relationships/slide" Target="/ppt/slides/slide3.xml" Id="Re2c85bf275ac4944" /><Relationship Type="http://schemas.openxmlformats.org/officeDocument/2006/relationships/slide" Target="/ppt/slides/slide4.xml" Id="Rc86f0317524843c5" /><Relationship Type="http://schemas.openxmlformats.org/officeDocument/2006/relationships/slide" Target="/ppt/slides/slide5.xml" Id="R44e07faa48054457" /><Relationship Type="http://schemas.openxmlformats.org/officeDocument/2006/relationships/slide" Target="/ppt/slides/slide6.xml" Id="Rbd423df336e248ec" /><Relationship Type="http://schemas.openxmlformats.org/officeDocument/2006/relationships/slide" Target="/ppt/slides/slide7.xml" Id="Rf3d8d0e7e24e422b" /><Relationship Type="http://schemas.openxmlformats.org/officeDocument/2006/relationships/slide" Target="/ppt/slides/slide8.xml" Id="R674560e56b4b449f" /><Relationship Type="http://schemas.openxmlformats.org/officeDocument/2006/relationships/slide" Target="/ppt/slides/slide9.xml" Id="R2f145143f03f4792" /><Relationship Type="http://schemas.openxmlformats.org/officeDocument/2006/relationships/slide" Target="/ppt/slides/slide10.xml" Id="R24576182f8944f05" /><Relationship Type="http://schemas.openxmlformats.org/officeDocument/2006/relationships/slide" Target="/ppt/slides/slide11.xml" Id="Rd3e272d21e6c4f8c" /><Relationship Type="http://schemas.openxmlformats.org/officeDocument/2006/relationships/slide" Target="/ppt/slides/slide12.xml" Id="R98df6e7909ae49c2" /><Relationship Type="http://schemas.openxmlformats.org/officeDocument/2006/relationships/slide" Target="/ppt/slides/slide13.xml" Id="R4eef166667eb4bc0" /><Relationship Type="http://schemas.openxmlformats.org/officeDocument/2006/relationships/slide" Target="/ppt/slides/slide14.xml" Id="Ra039e99b409f48b2" /><Relationship Type="http://schemas.openxmlformats.org/officeDocument/2006/relationships/slide" Target="/ppt/slides/slide15.xml" Id="Rc6613b389e2c4ed3" /><Relationship Type="http://schemas.openxmlformats.org/officeDocument/2006/relationships/slide" Target="/ppt/slides/slide16.xml" Id="R180150298e514ada" /><Relationship Type="http://schemas.openxmlformats.org/officeDocument/2006/relationships/slide" Target="/ppt/slides/slide17.xml" Id="R6479dec25dea4fb3" /><Relationship Type="http://schemas.openxmlformats.org/officeDocument/2006/relationships/slide" Target="/ppt/slides/slide18.xml" Id="R4623cfae81bf412f" /><Relationship Type="http://schemas.openxmlformats.org/officeDocument/2006/relationships/slide" Target="/ppt/slides/slide19.xml" Id="R771caf6344e84486" /><Relationship Type="http://schemas.openxmlformats.org/officeDocument/2006/relationships/slide" Target="/ppt/slides/slide20.xml" Id="R54448d64ff434105" /><Relationship Type="http://schemas.openxmlformats.org/officeDocument/2006/relationships/slide" Target="/ppt/slides/slide21.xml" Id="R4a0e5ac30fa145bd" /><Relationship Type="http://schemas.openxmlformats.org/officeDocument/2006/relationships/slide" Target="/ppt/slides/slide22.xml" Id="R75d9d7f039684bd1" /><Relationship Type="http://schemas.openxmlformats.org/officeDocument/2006/relationships/slide" Target="/ppt/slides/slide23.xml" Id="R8640719021024a02" /><Relationship Type="http://schemas.openxmlformats.org/officeDocument/2006/relationships/slide" Target="/ppt/slides/slide24.xml" Id="R2813c5fa97984513" /><Relationship Type="http://schemas.openxmlformats.org/officeDocument/2006/relationships/slide" Target="/ppt/slides/slide25.xml" Id="Rc1444a1c99844964" /><Relationship Type="http://schemas.openxmlformats.org/officeDocument/2006/relationships/slide" Target="/ppt/slides/slide26.xml" Id="R09e140839cd645b6" /><Relationship Type="http://schemas.openxmlformats.org/officeDocument/2006/relationships/slide" Target="/ppt/slides/slide27.xml" Id="Rc3b91b16b1f34ae8" /><Relationship Type="http://schemas.openxmlformats.org/officeDocument/2006/relationships/slide" Target="/ppt/slides/slide28.xml" Id="R783bf626c7a148d6" /><Relationship Type="http://schemas.openxmlformats.org/officeDocument/2006/relationships/slide" Target="/ppt/slides/slide29.xml" Id="R3a2f585cf3f342d3" /><Relationship Type="http://schemas.openxmlformats.org/officeDocument/2006/relationships/slide" Target="/ppt/slides/slide30.xml" Id="R615fbf561d964904" /><Relationship Type="http://schemas.openxmlformats.org/officeDocument/2006/relationships/slide" Target="/ppt/slides/slide31.xml" Id="R299ce74c28f84a30" /><Relationship Type="http://schemas.openxmlformats.org/officeDocument/2006/relationships/slide" Target="/ppt/slides/slide32.xml" Id="R069d9ee884944e4d" /><Relationship Type="http://schemas.openxmlformats.org/officeDocument/2006/relationships/slide" Target="/ppt/slides/slide33.xml" Id="Rd895ebde82934fe5" /><Relationship Type="http://schemas.openxmlformats.org/officeDocument/2006/relationships/slide" Target="/ppt/slides/slide34.xml" Id="Rb1aebf3c83854b69" /><Relationship Type="http://schemas.openxmlformats.org/officeDocument/2006/relationships/slide" Target="/ppt/slides/slide35.xml" Id="R711190add0e34ad1" /><Relationship Type="http://schemas.openxmlformats.org/officeDocument/2006/relationships/slide" Target="/ppt/slides/slide36.xml" Id="R06d9dca9e700493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f43c3e441fa410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e40b0384a324bd8" /><Relationship Type="http://schemas.openxmlformats.org/officeDocument/2006/relationships/notesMaster" Target="/ppt/notesMasters/notesMaster1.xml" Id="Rfef47657485c41a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7b2b51ab8954f14" /><Relationship Type="http://schemas.openxmlformats.org/officeDocument/2006/relationships/notesMaster" Target="/ppt/notesMasters/notesMaster1.xml" Id="R2f7ec84a10c74f3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05b80840e004b1c" /><Relationship Type="http://schemas.openxmlformats.org/officeDocument/2006/relationships/notesMaster" Target="/ppt/notesMasters/notesMaster1.xml" Id="Rbfb4bc7732114ec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cd14ba8f525490f" /><Relationship Type="http://schemas.openxmlformats.org/officeDocument/2006/relationships/notesMaster" Target="/ppt/notesMasters/notesMaster1.xml" Id="R116a05c2fd4a457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c322431226a4e53" /><Relationship Type="http://schemas.openxmlformats.org/officeDocument/2006/relationships/notesMaster" Target="/ppt/notesMasters/notesMaster1.xml" Id="R60cd895327b34ce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2ac412430654ef2" /><Relationship Type="http://schemas.openxmlformats.org/officeDocument/2006/relationships/notesMaster" Target="/ppt/notesMasters/notesMaster1.xml" Id="R3efd2daca5094d6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de57897cffa4082" /><Relationship Type="http://schemas.openxmlformats.org/officeDocument/2006/relationships/notesMaster" Target="/ppt/notesMasters/notesMaster1.xml" Id="R8765ad3ca7d9428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9fbf9f7ba2b4798" /><Relationship Type="http://schemas.openxmlformats.org/officeDocument/2006/relationships/notesMaster" Target="/ppt/notesMasters/notesMaster1.xml" Id="R739a23ffa968463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a0aa8c938e145f9" /><Relationship Type="http://schemas.openxmlformats.org/officeDocument/2006/relationships/notesMaster" Target="/ppt/notesMasters/notesMaster1.xml" Id="R7a6c400827ef4f4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7aa576180204417" /><Relationship Type="http://schemas.openxmlformats.org/officeDocument/2006/relationships/notesMaster" Target="/ppt/notesMasters/notesMaster1.xml" Id="R7b4c6a23118a4d29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64a2ceb7c1004544" /><Relationship Type="http://schemas.openxmlformats.org/officeDocument/2006/relationships/notesMaster" Target="/ppt/notesMasters/notesMaster1.xml" Id="R4acafb0cf8d34a79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115d1a6123a840c1" /><Relationship Type="http://schemas.openxmlformats.org/officeDocument/2006/relationships/notesMaster" Target="/ppt/notesMasters/notesMaster1.xml" Id="Rcb15c87d63944906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d09d1ca5380b4c21" /><Relationship Type="http://schemas.openxmlformats.org/officeDocument/2006/relationships/notesMaster" Target="/ppt/notesMasters/notesMaster1.xml" Id="R0612262d2cac4824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e35e25b0da274959" /><Relationship Type="http://schemas.openxmlformats.org/officeDocument/2006/relationships/notesMaster" Target="/ppt/notesMasters/notesMaster1.xml" Id="Rcae18a635eeb4868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f773d02bef394056" /><Relationship Type="http://schemas.openxmlformats.org/officeDocument/2006/relationships/notesMaster" Target="/ppt/notesMasters/notesMaster1.xml" Id="Rd9675bdc74b540c2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d3539e1524bb477c" /><Relationship Type="http://schemas.openxmlformats.org/officeDocument/2006/relationships/notesMaster" Target="/ppt/notesMasters/notesMaster1.xml" Id="R59bbeaada041483b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fbc824bded4547fa" /><Relationship Type="http://schemas.openxmlformats.org/officeDocument/2006/relationships/notesMaster" Target="/ppt/notesMasters/notesMaster1.xml" Id="R084732eff5d74895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6dd627a44a0c4dfb" /><Relationship Type="http://schemas.openxmlformats.org/officeDocument/2006/relationships/notesMaster" Target="/ppt/notesMasters/notesMaster1.xml" Id="Rae4a0554133c44e0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4c2132735b82436b" /><Relationship Type="http://schemas.openxmlformats.org/officeDocument/2006/relationships/notesMaster" Target="/ppt/notesMasters/notesMaster1.xml" Id="R43a32535264741e6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3ca91c2fc72f4467" /><Relationship Type="http://schemas.openxmlformats.org/officeDocument/2006/relationships/notesMaster" Target="/ppt/notesMasters/notesMaster1.xml" Id="R6425bae83b6345d8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adb87e6abf6d4362" /><Relationship Type="http://schemas.openxmlformats.org/officeDocument/2006/relationships/notesMaster" Target="/ppt/notesMasters/notesMaster1.xml" Id="Rd988204a6d6f4986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0a7cb635aae34ec3" /><Relationship Type="http://schemas.openxmlformats.org/officeDocument/2006/relationships/notesMaster" Target="/ppt/notesMasters/notesMaster1.xml" Id="R1212be8b28a94f9d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58cb9ca4aade44cc" /><Relationship Type="http://schemas.openxmlformats.org/officeDocument/2006/relationships/notesMaster" Target="/ppt/notesMasters/notesMaster1.xml" Id="R7102045280884c9d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c2a994d62f5d410d" /><Relationship Type="http://schemas.openxmlformats.org/officeDocument/2006/relationships/notesMaster" Target="/ppt/notesMasters/notesMaster1.xml" Id="Rf9fd86be86dd4804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06e7ddb7a5324984" /><Relationship Type="http://schemas.openxmlformats.org/officeDocument/2006/relationships/notesMaster" Target="/ppt/notesMasters/notesMaster1.xml" Id="R4121f147daec4b9a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e953f64f62044b2e" /><Relationship Type="http://schemas.openxmlformats.org/officeDocument/2006/relationships/notesMaster" Target="/ppt/notesMasters/notesMaster1.xml" Id="Rfa79a8052abd4637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6a23c5bb12d04c25" /><Relationship Type="http://schemas.openxmlformats.org/officeDocument/2006/relationships/notesMaster" Target="/ppt/notesMasters/notesMaster1.xml" Id="Rad17c882b3124c3a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b1afaa9d507242a8" /><Relationship Type="http://schemas.openxmlformats.org/officeDocument/2006/relationships/notesMaster" Target="/ppt/notesMasters/notesMaster1.xml" Id="R1f2cab6742fc498e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56c002ee8cde422b" /><Relationship Type="http://schemas.openxmlformats.org/officeDocument/2006/relationships/notesMaster" Target="/ppt/notesMasters/notesMaster1.xml" Id="R885cd2e184b94ad1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f363abe7c72046c3" /><Relationship Type="http://schemas.openxmlformats.org/officeDocument/2006/relationships/notesMaster" Target="/ppt/notesMasters/notesMaster1.xml" Id="R8210600fdcda4703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53147fe850674d9e" /><Relationship Type="http://schemas.openxmlformats.org/officeDocument/2006/relationships/notesMaster" Target="/ppt/notesMasters/notesMaster1.xml" Id="R1dfcc8e6b6484302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ef5198d5d9964631" /><Relationship Type="http://schemas.openxmlformats.org/officeDocument/2006/relationships/notesMaster" Target="/ppt/notesMasters/notesMaster1.xml" Id="Rb0c77ea14c0f47b6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80d2b98832ee4b9b" /><Relationship Type="http://schemas.openxmlformats.org/officeDocument/2006/relationships/notesMaster" Target="/ppt/notesMasters/notesMaster1.xml" Id="R7c9ae2feab594715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6d58af21a7aa4451" /><Relationship Type="http://schemas.openxmlformats.org/officeDocument/2006/relationships/notesMaster" Target="/ppt/notesMasters/notesMaster1.xml" Id="Rd30804bf88004d22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35e5b29fe8604f00" /><Relationship Type="http://schemas.openxmlformats.org/officeDocument/2006/relationships/notesMaster" Target="/ppt/notesMasters/notesMaster1.xml" Id="R6945486c799544e5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a29c36825e2f43ac" /><Relationship Type="http://schemas.openxmlformats.org/officeDocument/2006/relationships/notesMaster" Target="/ppt/notesMasters/notesMaster1.xml" Id="R38041b6c9ba34ca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开场 1 分钟。适用对象为云平台、网络、安全和应用运维人员。前置知识为 IPv4、CIDR、TCP/UDP 和常用端口。本课中的命名、审批、复核周期、回滚门槛均为培训建议，企业采用前应纳入内部制度。教学地址与业务均为虚构。课程依据 2026 年 10 月 16 日检索的华为云公开文档，具体操作以所用区域、实例版本和控制台为准。封面为 AI 生成的概念插画，不代表真实网络拓扑。</a:t>
            </a:r>
          </a:p>
          <a:p xmlns:a="http://schemas.openxmlformats.org/drawingml/2006/main">
            <a:r>
              <a:t>本版插图统一使用现代扁平风格。教学图为概念示意，官方图片单独注明来源。文字与表格可编辑，图示作为图片嵌入。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 2 分钟。说明课堂以审核与桌面演练为主，不要求现场修改生产环境。分组时建议每组至少包括一名网络或平台成员与一名应用运维成员。讲师可以使用测试租户演示第 20 页流程，但不占用案例讨论时间。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 5 分钟。让学员用一分钟画出自己理解的流量路径，并口头说明“访问成功”是否足以证明 CFW 生效。预期答案是否定的。强调数据库为自建 ECS 服务，不套用到所有托管数据库的网络路径。后续练习均基于此假设，不包含容器网络、代理或 NAT，除非题目特别说明。</a:t>
            </a:r>
          </a:p>
          <a:p xmlns:a="http://schemas.openxmlformats.org/drawingml/2006/main">
            <a:r>
              <a:t>本页图为 AI 生成的现代扁平逻辑教学示意，非真实控制台或生产环境。图中关系配合右侧配置要点解释，产品限制以对应来源为准。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 3 分钟。先让学员说出每个对象回答的问题。产品层面的 VPC、子网、路由和安全组职责来自华为云文档。右列为建议的内部规范。不同 VPC 默认隔离，同一 VPC 不同子网默认具备互通的网络基础，访问仍受安全策略影响。不要把子网划分等同于完成安全隔离。</a:t>
            </a:r>
          </a:p>
          <a:p xmlns:a="http://schemas.openxmlformats.org/drawingml/2006/main">
            <a:r>
              <a:t>本页图为 AI 生成的现代扁平逻辑教学示意，非真实控制台或生产环境。图中关系配合右侧配置要点解释，产品限制以对应来源为准。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参考资料：</a:t>
            </a:r>
          </a:p>
          <a:p xmlns:a="http://schemas.openxmlformats.org/drawingml/2006/main">
            <a:r>
              <a:t>VPC 网络规划与隔离</a:t>
            </a:r>
          </a:p>
          <a:p xmlns:a="http://schemas.openxmlformats.org/drawingml/2006/main">
            <a:r>
              <a:t>https://support.huaweicloud.com/intl/zh-cn/helppanel-vpc/vpc_help_0002.html</a:t>
            </a:r>
          </a:p>
          <a:p xmlns:a="http://schemas.openxmlformats.org/drawingml/2006/main">
            <a:r>
              <a:t>VPC 访问控制概述</a:t>
            </a:r>
          </a:p>
          <a:p xmlns:a="http://schemas.openxmlformats.org/drawingml/2006/main">
            <a:r>
              <a:t>https://support.huaweicloud.com/intl/zh-cn/usermanual-vpc/zh-cn_topic_0052003963.html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 3 分钟。以上网段仅为演示，不应直接复制到企业地址池。检查所有将互联的 VPC、IDC、VPN 客户端网段和容器地址池。华为云建议使用 RFC 1918 私有地址并避免互通网络之间的冲突。/24 理论地址数与可分配 IP 数不同，要扣除平台保留地址，不应按 256 个业务 IP 规划。主网段与子网变更有约束，扩展网段能力需结合实际产品条件判断。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参考资料：</a:t>
            </a:r>
          </a:p>
          <a:p xmlns:a="http://schemas.openxmlformats.org/drawingml/2006/main">
            <a:r>
              <a:t>VPC 网络规划建议</a:t>
            </a:r>
          </a:p>
          <a:p xmlns:a="http://schemas.openxmlformats.org/drawingml/2006/main">
            <a:r>
              <a:t>https://support.huaweicloud.com/usermanual-vpc/vpc_0001.html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 3 分钟。用应用子网访问数据子网举例，询问安全边界在哪里。职责说明来自华为云 VPC 访问控制概述。实际是否经过 CFW 取决于支持的部署方式与路径。课堂不把网络 ACL 的状态机制或规则顺序套用其他厂商，应按当前华为云对象的实际文档核对。安全组内互信、多安全组叠加和既有宽泛规则都应一并审核。</a:t>
            </a:r>
          </a:p>
          <a:p xmlns:a="http://schemas.openxmlformats.org/drawingml/2006/main">
            <a:r>
              <a:t>本页图为 AI 生成的现代扁平逻辑教学示意，非真实控制台或生产环境。图中关系配合右侧配置要点解释，产品限制以对应来源为准。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参考资料：</a:t>
            </a:r>
          </a:p>
          <a:p xmlns:a="http://schemas.openxmlformats.org/drawingml/2006/main">
            <a:r>
              <a:t>VPC 访问控制概述</a:t>
            </a:r>
          </a:p>
          <a:p xmlns:a="http://schemas.openxmlformats.org/drawingml/2006/main">
            <a:r>
              <a:t>https://support.huaweicloud.com/intl/zh-cn/usermanual-vpc/zh-cn_topic_0052003963.html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 3 分钟。让学员区分“路由对象存在”和“业务流量命中该路由”。先检查关联，再看目的网段与下一跳。华为云对部分包含 EIP、ELB、NAT 网关等场景明确提醒，VPC 表中使用指向 ER 的 0.0.0.0/0 可能无法覆盖预期流量，因此演示使用明确对端网段。不要将 ER 内部关联表的默认引流路由与 VPC 侧默认路由限制混为一谈。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参考资料：</a:t>
            </a:r>
          </a:p>
          <a:p xmlns:a="http://schemas.openxmlformats.org/drawingml/2006/main">
            <a:r>
              <a:t>ER 引流配置（新版）</a:t>
            </a:r>
          </a:p>
          <a:p xmlns:a="http://schemas.openxmlformats.org/drawingml/2006/main">
            <a:r>
              <a:t>https://support.huaweicloud.com/usermanual-cfw/cfw_01_0269.html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 3 分钟。左列均为培训建议，不代表用户当前架构。重点讲实际源地址：经 WAF、CDN 或代理时，CFW 看到的地址可能与终端用户不同。公网禁开管理端口可以写入建议基线，但紧急访问需要受控例外，不能把直接公网管理当常态。按实际场景核对 IPv4 与 IPv6，不能只检查一个地址族。</a:t>
            </a:r>
          </a:p>
          <a:p xmlns:a="http://schemas.openxmlformats.org/drawingml/2006/main">
            <a:r>
              <a:t>本页图为 AI 生成的现代扁平逻辑教学示意，非真实控制台或生产环境。图中关系配合右侧配置要点解释，产品限制以对应来源为准。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参考资料：</a:t>
            </a:r>
          </a:p>
          <a:p xmlns:a="http://schemas.openxmlformats.org/drawingml/2006/main">
            <a:r>
              <a:t>企业上云安全建设指南</a:t>
            </a:r>
          </a:p>
          <a:p xmlns:a="http://schemas.openxmlformats.org/drawingml/2006/main">
            <a:r>
              <a:t>https://www.huaweicloud.com/securecenter/compliance/compliance-center/on-cloud/guidance.html</a:t>
            </a:r>
          </a:p>
          <a:p xmlns:a="http://schemas.openxmlformats.org/drawingml/2006/main">
            <a:r>
              <a:t>互联网边界防护规则</a:t>
            </a:r>
          </a:p>
          <a:p xmlns:a="http://schemas.openxmlformats.org/drawingml/2006/main">
            <a:r>
              <a:t>https://support.huaweicloud.com/intl/zh-cn/usermanual-cfw/cfw_01_0271.html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 2 分钟。用三个问题结束 VPC 章节：谁管理这个网段？这条流量为什么走这个下一跳？业务需要哪条访问？提醒 VPC 和子网分区并不会自动落实端口隔离，需对应安全组、ACL 或已接入的 CFW 策略。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 2 分钟。互联网与 NAT 边界不能简单套用相同源地址。VPC 边界文档当前明确仅专业版支持，并依赖 ER 引流。不要暗示同 VPC 所有流量自动受边界防火墙保护。需要跨账号或混合云时，应额外核对连接类型、共享与路由支持条件。本课程主要以 VPC 边界为例。</a:t>
            </a:r>
          </a:p>
          <a:p xmlns:a="http://schemas.openxmlformats.org/drawingml/2006/main">
            <a:r>
              <a:t>本页图为 AI 生成的现代扁平逻辑教学示意，非真实控制台或生产环境。图中关系配合右侧配置要点解释，产品限制以对应来源为准。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参考资料：</a:t>
            </a:r>
          </a:p>
          <a:p xmlns:a="http://schemas.openxmlformats.org/drawingml/2006/main">
            <a:r>
              <a:t>VPC 边界防火墙概述</a:t>
            </a:r>
          </a:p>
          <a:p xmlns:a="http://schemas.openxmlformats.org/drawingml/2006/main">
            <a:r>
              <a:t>https://support.huaweicloud.com/usermanual-cfw/cfw_01_0185.html</a:t>
            </a:r>
          </a:p>
          <a:p xmlns:a="http://schemas.openxmlformats.org/drawingml/2006/main">
            <a:r>
              <a:t>互联网边界防护规则</a:t>
            </a:r>
          </a:p>
          <a:p xmlns:a="http://schemas.openxmlformats.org/drawingml/2006/main">
            <a:r>
              <a:t>https://support.huaweicloud.com/intl/zh-cn/usermanual-cfw/cfw_01_0271.html</a:t>
            </a:r>
          </a:p>
          <a:p xmlns:a="http://schemas.openxmlformats.org/drawingml/2006/main">
            <a:r>
              <a:t>NAT 网关边界防护规则</a:t>
            </a:r>
          </a:p>
          <a:p xmlns:a="http://schemas.openxmlformats.org/drawingml/2006/main">
            <a:r>
              <a:t>https://support.huaweicloud.com/usermanual-cfw/cfw_01_0298.html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 3 分钟。讲清同一 ER 上两张表承担不同职责。关联表接收来自业务 VPC 的流量并送往 CFW。CFW 处理后，关联到其连接的传播表根据两侧 VPC 路由转发。不要让业务 VPC 在送检前直接学习到可绕过 CFW 的目标路由。本页为逻辑检查清单，不是可直接导入的配置文件。</a:t>
            </a:r>
          </a:p>
          <a:p xmlns:a="http://schemas.openxmlformats.org/drawingml/2006/main">
            <a:r>
              <a:t>图片来源：https://support.huaweicloud.com/usermanual-cfw/zh-cn_image_0000001950400204.png。保留原始图示文字，展示时解释 RT1 与 RT2 的职责，不将“离开检查路径”误解为仅业务响应方向。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参考资料：</a:t>
            </a:r>
          </a:p>
          <a:p xmlns:a="http://schemas.openxmlformats.org/drawingml/2006/main">
            <a:r>
              <a:t>ER 引流配置（新版）</a:t>
            </a:r>
          </a:p>
          <a:p xmlns:a="http://schemas.openxmlformats.org/drawingml/2006/main">
            <a:r>
              <a:t>https://support.huaweicloud.com/usermanual-cfw/cfw_01_0269.html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 3 分钟。接入完成不代表默认拒绝已落地。收敛前先梳理 DNS、时间同步、监控、备份、证书与软件仓库等依赖。不要在未知依赖时直接启用全量阻断。接入前已有阻断规则也可能立即影响新接入 VPC。保留变更窗口并准备原路由与配置恢复方案。</a:t>
            </a:r>
          </a:p>
          <a:p xmlns:a="http://schemas.openxmlformats.org/drawingml/2006/main">
            <a:r>
              <a:t>讲师追加提问：如果新加第三个 VPC，只添加连接是否足够？应检查它在实际部署模式中的关联、传播、VPC 路由及规则覆盖。不可机械复用别的区域的默认配置。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参考资料：</a:t>
            </a:r>
          </a:p>
          <a:p xmlns:a="http://schemas.openxmlformats.org/drawingml/2006/main">
            <a:r>
              <a:t>VPC 边界防火墙概述</a:t>
            </a:r>
          </a:p>
          <a:p xmlns:a="http://schemas.openxmlformats.org/drawingml/2006/main">
            <a:r>
              <a:t>https://support.huaweicloud.com/usermanual-cfw/cfw_01_0185.html</a:t>
            </a:r>
          </a:p>
          <a:p xmlns:a="http://schemas.openxmlformats.org/drawingml/2006/main">
            <a:r>
              <a:t>ER 引流配置（新版）</a:t>
            </a:r>
          </a:p>
          <a:p xmlns:a="http://schemas.openxmlformats.org/drawingml/2006/main">
            <a:r>
              <a:t>https://support.huaweicloud.com/usermanual-cfw/cfw_01_0269.html</a:t>
            </a:r>
          </a:p>
          <a:p xmlns:a="http://schemas.openxmlformats.org/drawingml/2006/main">
            <a:r>
              <a:t>开启防护与流量验证</a:t>
            </a:r>
          </a:p>
          <a:p xmlns:a="http://schemas.openxmlformats.org/drawingml/2006/main">
            <a:r>
              <a:t>https://support.huaweicloud.com/usermanual-cfw/cfw_01_0133.html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 2 分钟。示例源端口为 Any 是因为客户端通常使用动态源端口，不能把数据库的 3306 同时填入源端口。源、目的、服务、动作和优先级为产品配置相关字段。Owner、工单、有效期和回滚为建议的管理字段，可写入描述、标签或外部台账。时间计划不等同于完整的规则生命周期管理。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参考资料：</a:t>
            </a:r>
          </a:p>
          <a:p xmlns:a="http://schemas.openxmlformats.org/drawingml/2006/main">
            <a:r>
              <a:t>VPC 边界防护规则</a:t>
            </a:r>
          </a:p>
          <a:p xmlns:a="http://schemas.openxmlformats.org/drawingml/2006/main">
            <a:r>
              <a:t>https://support.huaweicloud.com/intl/zh-cn/usermanual-cfw/cfw_01_0297.html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 2 分钟。地址及端口只是教学样例。放行数据库时，核对应用安全组出方向与数据安全组入方向，也要看历史规则、网络 ACL、主机防火墙和服务监听。兜底阻断的作用域应与审批边界一致，避免跨业务复用过宽地址组。上课时让学员指出谁可以发起新会话，谁只响应连接。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参考资料：</a:t>
            </a:r>
          </a:p>
          <a:p xmlns:a="http://schemas.openxmlformats.org/drawingml/2006/main">
            <a:r>
              <a:t>VPC 边界防护规则</a:t>
            </a:r>
          </a:p>
          <a:p xmlns:a="http://schemas.openxmlformats.org/drawingml/2006/main">
            <a:r>
              <a:t>https://support.huaweicloud.com/intl/zh-cn/usermanual-cfw/cfw_01_0297.html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 2 分钟。外层功能顺序与 ACL 内的优先级是两个层次。华为云文档给出的功能优先顺序是流量封堵、白名单、黑名单、防护策略 ACL。ACL 中条件具体的规则通常应在宽泛规则之前。白名单直接放行并跳过后续检测，所以不能用它替代所有正常业务的 ACL 放行。</a:t>
            </a:r>
          </a:p>
          <a:p xmlns:a="http://schemas.openxmlformats.org/drawingml/2006/main">
            <a:r>
              <a:t>本页图为 AI 生成的现代扁平逻辑教学示意，非真实控制台或生产环境。图中关系配合右侧配置要点解释，产品限制以对应来源为准。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参考资料：</a:t>
            </a:r>
          </a:p>
          <a:p xmlns:a="http://schemas.openxmlformats.org/drawingml/2006/main">
            <a:r>
              <a:t>访问控制策略概述</a:t>
            </a:r>
          </a:p>
          <a:p xmlns:a="http://schemas.openxmlformats.org/drawingml/2006/main">
            <a:r>
              <a:t>https://support.huaweicloud.com/intl/zh-cn/usermanual-cfw/cfw_01_0262.html</a:t>
            </a:r>
          </a:p>
          <a:p xmlns:a="http://schemas.openxmlformats.org/drawingml/2006/main">
            <a:r>
              <a:t>VPC 边界防火墙概述</a:t>
            </a:r>
          </a:p>
          <a:p xmlns:a="http://schemas.openxmlformats.org/drawingml/2006/main">
            <a:r>
              <a:t>https://support.huaweicloud.com/usermanual-cfw/cfw_01_0185.html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 2 分钟。先给学员 20 秒判断 SSH 会命中哪条。答案是第 1 条。将第 2 条挪到前面只能解决 SSH 这一项，仍保留了过宽授权，较好的修复是用批准的最小权限业务规则替换第 1 条。不能仅凭规则有命中就认定整个规则集合理。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参考资料：</a:t>
            </a:r>
          </a:p>
          <a:p xmlns:a="http://schemas.openxmlformats.org/drawingml/2006/main">
            <a:r>
              <a:t>VPC 边界防护规则</a:t>
            </a:r>
          </a:p>
          <a:p xmlns:a="http://schemas.openxmlformats.org/drawingml/2006/main">
            <a:r>
              <a:t>https://support.huaweicloud.com/intl/zh-cn/usermanual-cfw/cfw_01_0297.html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 2 分钟。防火墙出方向策略需要结合实际出口类型配置。CFW 看到的源地址受 NAT 和代理影响，应以观测结果为准。固定域名也可能使用 CDN 或动态解析，地址组维护需要业务负责人参与。不得用整片云厂商地址范围长期替代精确业务依赖。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参考资料：</a:t>
            </a:r>
          </a:p>
          <a:p xmlns:a="http://schemas.openxmlformats.org/drawingml/2006/main">
            <a:r>
              <a:t>NAT 网关边界防护规则</a:t>
            </a:r>
          </a:p>
          <a:p xmlns:a="http://schemas.openxmlformats.org/drawingml/2006/main">
            <a:r>
              <a:t>https://support.huaweicloud.com/usermanual-cfw/cfw_01_0298.html</a:t>
            </a:r>
          </a:p>
          <a:p xmlns:a="http://schemas.openxmlformats.org/drawingml/2006/main">
            <a:r>
              <a:t>访问控制策略概述</a:t>
            </a:r>
          </a:p>
          <a:p xmlns:a="http://schemas.openxmlformats.org/drawingml/2006/main">
            <a:r>
              <a:t>https://support.huaweicloud.com/intl/zh-cn/usermanual-cfw/cfw_01_0262.html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 2 分钟。华为云支持不同域名匹配方式，应用型可依据 Host 或 SNI 等字段，网络型依赖域名解析到的地址。不能把一个匹配方式的适用条件套到全部协议。加密与协议变化也需要结合当前产品能力确认。本页强调验证，不承诺所有加密流量都能按域名精确识别。</a:t>
            </a:r>
          </a:p>
          <a:p xmlns:a="http://schemas.openxmlformats.org/drawingml/2006/main">
            <a:r>
              <a:t>本页图为 AI 生成的现代扁平逻辑教学示意，非真实控制台或生产环境。图中关系配合右侧配置要点解释，产品限制以对应来源为准。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参考资料：</a:t>
            </a:r>
          </a:p>
          <a:p xmlns:a="http://schemas.openxmlformats.org/drawingml/2006/main">
            <a:r>
              <a:t>访问控制策略概述</a:t>
            </a:r>
          </a:p>
          <a:p xmlns:a="http://schemas.openxmlformats.org/drawingml/2006/main">
            <a:r>
              <a:t>https://support.huaweicloud.com/intl/zh-cn/usermanual-cfw/cfw_01_0262.html</a:t>
            </a:r>
          </a:p>
          <a:p xmlns:a="http://schemas.openxmlformats.org/drawingml/2006/main">
            <a:r>
              <a:t>VPC 边界防护规则</a:t>
            </a:r>
          </a:p>
          <a:p xmlns:a="http://schemas.openxmlformats.org/drawingml/2006/main">
            <a:r>
              <a:t>https://support.huaweicloud.com/intl/zh-cn/usermanual-cfw/cfw_01_0297.html</a:t>
            </a:r>
          </a:p>
          <a:p xmlns:a="http://schemas.openxmlformats.org/drawingml/2006/main">
            <a:r>
              <a:t>NAT 网关边界防护规则</a:t>
            </a:r>
          </a:p>
          <a:p xmlns:a="http://schemas.openxmlformats.org/drawingml/2006/main">
            <a:r>
              <a:t>https://support.huaweicloud.com/usermanual-cfw/cfw_01_0298.html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 2 分钟。观察模式记录事件而不执行同等拦截，不能长期当作生产防护完成的证据。误报处理优先定位具体命中规则，评估最小范围例外并跟踪恢复，不建议为单一业务问题长期关闭整体防护。白名单审批与到期复核是培训建议。</a:t>
            </a:r>
          </a:p>
          <a:p xmlns:a="http://schemas.openxmlformats.org/drawingml/2006/main">
            <a:r>
              <a:t>本页图为 AI 生成的现代扁平逻辑教学示意，非真实控制台或生产环境。图中关系配合右侧配置要点解释，产品限制以对应来源为准。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参考资料：</a:t>
            </a:r>
          </a:p>
          <a:p xmlns:a="http://schemas.openxmlformats.org/drawingml/2006/main">
            <a:r>
              <a:t>配置防护策略后业务无法访问</a:t>
            </a:r>
          </a:p>
          <a:p xmlns:a="http://schemas.openxmlformats.org/drawingml/2006/main">
            <a:r>
              <a:t>https://support.huaweicloud.com/intl/zh-cn/ally-visitor-1-usermanual-cfw/cfw_01_0248.html</a:t>
            </a:r>
          </a:p>
          <a:p xmlns:a="http://schemas.openxmlformats.org/drawingml/2006/main">
            <a:r>
              <a:t>VPC 边界防火墙概述</a:t>
            </a:r>
          </a:p>
          <a:p xmlns:a="http://schemas.openxmlformats.org/drawingml/2006/main">
            <a:r>
              <a:t>https://support.huaweicloud.com/usermanual-cfw/cfw_01_0185.html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 2 分钟。此处为讲师演示脚本。先展示防护对象，再展示规则，不直接从“添加规则”开始。VPC 规则处于启用状态时确认后可立即生效，因此大范围变更可先建立停用规则并双人复核。最后演示用源目的和时间检索日志。控制台菜单会随版本更新，旧版可能省略“防护策略”层。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参考资料：</a:t>
            </a:r>
          </a:p>
          <a:p xmlns:a="http://schemas.openxmlformats.org/drawingml/2006/main">
            <a:r>
              <a:t>VPC 边界防护规则</a:t>
            </a:r>
          </a:p>
          <a:p xmlns:a="http://schemas.openxmlformats.org/drawingml/2006/main">
            <a:r>
              <a:t>https://support.huaweicloud.com/intl/zh-cn/usermanual-cfw/cfw_01_0297.html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 1 分钟。总结 CFW 章节并转入操作治理。清理规则前确认批任务、月结、故障切换和备份等低频业务，不能只按短时间无命中自动删除。命中次数也不是业务必要性的唯一证据。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 2 分钟。本页为建议岗位分工，并非用户既有制度。小团队可以一人承担多个角色，但高影响范围与宽泛放行应由另一个人复核。业务 Owner 对需求负责，不能将“安全组由别人管理”当作免除业务回归责任的理由。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 3 分钟。回滚门槛应由业务与变更负责人在发布前填写具体数字或明确结果，课程不替企业设定统一阈值。规则回滚可恢复上一版本或停用本次新增规则，路由回滚应恢复已记录的前态。大范围关闭 CFW 会改变检查覆盖，必须记录风险、持续时间与恢复责任人。</a:t>
            </a:r>
          </a:p>
          <a:p xmlns:a="http://schemas.openxmlformats.org/drawingml/2006/main">
            <a:r>
              <a:t>本页图为 AI 生成的现代扁平逻辑教学示意，非真实控制台或生产环境。图中关系配合右侧配置要点解释，产品限制以对应来源为准。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 3 分钟。强调拒绝证据不能只看连接超时，还要排除服务未监听等原因。新连接更便于判断新策略命中，既有会话行为不能一概而论。记录测试源、目的、协议、目的端口、时间和时区。仅在测试环境验证回滚，不为教学故意破坏生产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 2 分钟。访问控制日志与攻击事件日志用于回答不同问题。不能只看 ACL 已允许，就排除 IPS。流量日志可能在会话结束时上报，长连接期间没有新流量日志不等于没有经过 CFW。实际日志入口与字段以当前控制台为准。日志保留与导出周期由内部审计和合规要求确定，课程不虚构统一天数。</a:t>
            </a:r>
          </a:p>
          <a:p xmlns:a="http://schemas.openxmlformats.org/drawingml/2006/main">
            <a:r>
              <a:t>官方界面图来自日志查询文档：https://support.huaweicloud.com/usermanual-cfw/cfw_01_0139.html。原图保留，不将示例截图视为用户环境。参考当前菜单与字段操作。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参考资料：</a:t>
            </a:r>
          </a:p>
          <a:p xmlns:a="http://schemas.openxmlformats.org/drawingml/2006/main">
            <a:r>
              <a:t>日志查询</a:t>
            </a:r>
          </a:p>
          <a:p xmlns:a="http://schemas.openxmlformats.org/drawingml/2006/main">
            <a:r>
              <a:t>https://support.huaweicloud.com/usermanual-cfw/cfw_01_0139.html</a:t>
            </a:r>
          </a:p>
          <a:p xmlns:a="http://schemas.openxmlformats.org/drawingml/2006/main">
            <a:r>
              <a:t>流量统计与会话上报</a:t>
            </a:r>
          </a:p>
          <a:p xmlns:a="http://schemas.openxmlformats.org/drawingml/2006/main">
            <a:r>
              <a:t>https://support.huaweicloud.com/cfw_faq/cfw_01_0027.html</a:t>
            </a:r>
          </a:p>
          <a:p xmlns:a="http://schemas.openxmlformats.org/drawingml/2006/main">
            <a:r>
              <a:t>配置防护策略后业务无法访问</a:t>
            </a:r>
          </a:p>
          <a:p xmlns:a="http://schemas.openxmlformats.org/drawingml/2006/main">
            <a:r>
              <a:t>https://support.huaweicloud.com/intl/zh-cn/ally-visitor-1-usermanual-cfw/cfw_01_0248.html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 5 分钟。给学员一个 TCP 连接超时，要求按证据推进，不允许先新增 Any 放行。源端抓包或连接日志能证明请求是否发出，目标端能证明是否收到。路由、策略和应用排查可能交替进行，本页是最小调查顺序。无法定位时保留时间窗口、配置与日志交厂商支持。应急修改需进入上一页的变更和回滚流程。</a:t>
            </a:r>
          </a:p>
          <a:p xmlns:a="http://schemas.openxmlformats.org/drawingml/2006/main">
            <a:r>
              <a:t>本页图为 AI 生成的现代扁平逻辑教学示意，非真实控制台或生产环境。图中关系配合右侧配置要点解释，产品限制以对应来源为准。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参考资料：</a:t>
            </a:r>
          </a:p>
          <a:p xmlns:a="http://schemas.openxmlformats.org/drawingml/2006/main">
            <a:r>
              <a:t>配置防护策略后业务无法访问</a:t>
            </a:r>
          </a:p>
          <a:p xmlns:a="http://schemas.openxmlformats.org/drawingml/2006/main">
            <a:r>
              <a:t>https://support.huaweicloud.com/intl/zh-cn/ally-visitor-1-usermanual-cfw/cfw_01_0248.html</a:t>
            </a:r>
          </a:p>
          <a:p xmlns:a="http://schemas.openxmlformats.org/drawingml/2006/main">
            <a:r>
              <a:t>流量统计与会话上报</a:t>
            </a:r>
          </a:p>
          <a:p xmlns:a="http://schemas.openxmlformats.org/drawingml/2006/main">
            <a:r>
              <a:t>https://support.huaweicloud.com/cfw_faq/cfw_01_0027.html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本题讨论 3 分钟。要求每组写出故障层、具体错误、修改范围、应通与应拒绝用例。不要在讨论时直接展示下一页答案。教学日志和配置均为虚构。预期学员不应因 CFW 放行而断言端到端可达。</a:t>
            </a:r>
          </a:p>
          <a:p xmlns:a="http://schemas.openxmlformats.org/drawingml/2006/main">
            <a:r>
              <a:t>本页图为 AI 生成的现代扁平逻辑教学示意，非真实控制台或生产环境。图中关系配合右侧配置要点解释，产品限制以对应来源为准。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本页讲评 3 分钟。根因是数据主机安全组允许来源与应用实际来源不一致。不要将数据主机安全组扩大为 10.0.0.0/8 或所有来源。源端出方向和其他层在题目假设中正常，实际场景仍需核验。评分建议共 10 分，根因 3 分、最小变更 3 分、正反测试各 2 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参考资料：</a:t>
            </a:r>
          </a:p>
          <a:p xmlns:a="http://schemas.openxmlformats.org/drawingml/2006/main">
            <a:r>
              <a:t>VPC 访问控制概述</a:t>
            </a:r>
          </a:p>
          <a:p xmlns:a="http://schemas.openxmlformats.org/drawingml/2006/main">
            <a:r>
              <a:t>https://support.huaweicloud.com/intl/zh-cn/usermanual-vpc/zh-cn_topic_0052003963.html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本题讨论 3 分钟。让学员比较“把 SSH 阻断置顶”与“替换过宽放行”的差别。题目已提供新连接命中证据，不需要猜测存量会话。要求答案同时描述业务端口是否仍可用。</a:t>
            </a:r>
          </a:p>
          <a:p xmlns:a="http://schemas.openxmlformats.org/drawingml/2006/main">
            <a:r>
              <a:t>本页图为 AI 生成的现代扁平逻辑教学示意，非真实控制台或生产环境。图中关系配合右侧配置要点解释，产品限制以对应来源为准。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本页讲评 3 分钟。解释 ACL 命中后停止继续匹配，所以不能认为靠后的拒绝天然覆盖前面的允许。先获得必要业务依赖，再替换宽泛规则。评分建议共 10 分，顺序解释 3 分、收敛规则 4 分、验证 3 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参考资料：</a:t>
            </a:r>
          </a:p>
          <a:p xmlns:a="http://schemas.openxmlformats.org/drawingml/2006/main">
            <a:r>
              <a:t>VPC 边界防护规则</a:t>
            </a:r>
          </a:p>
          <a:p xmlns:a="http://schemas.openxmlformats.org/drawingml/2006/main">
            <a:r>
              <a:t>https://support.huaweicloud.com/intl/zh-cn/usermanual-cfw/cfw_01_0297.html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本题讨论 4 分钟。题目已排除单纯日志延迟。不要仅删除对等连接，也不要直接替换整个 VPC 默认路由。要求说明受影响业务清单、去回程、ER 表关联和回滚方案。真实环境应先分析匹配到哪条路由，不能只根据资源列表判断。</a:t>
            </a:r>
          </a:p>
          <a:p xmlns:a="http://schemas.openxmlformats.org/drawingml/2006/main">
            <a:r>
              <a:t>本页图为 AI 生成的现代扁平逻辑教学示意，非真实控制台或生产环境。图中关系配合右侧配置要点解释，产品限制以对应来源为准。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本页讲评 4 分钟。这是覆盖问题，不是简单放行问题。规则正确但路径绕过检查时，策略无法发挥作用。避免盲目删除承载其他业务的对等连接，只处理本次批准范围并评估路由优先级。评分建议共 10 分，根因 2 分、路径与回滚 4 分、验证覆盖 4 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参考资料：</a:t>
            </a:r>
          </a:p>
          <a:p xmlns:a="http://schemas.openxmlformats.org/drawingml/2006/main">
            <a:r>
              <a:t>ER 引流配置（新版）</a:t>
            </a:r>
          </a:p>
          <a:p xmlns:a="http://schemas.openxmlformats.org/drawingml/2006/main">
            <a:r>
              <a:t>https://support.huaweicloud.com/usermanual-cfw/cfw_01_0269.html</a:t>
            </a:r>
          </a:p>
          <a:p xmlns:a="http://schemas.openxmlformats.org/drawingml/2006/main">
            <a:r>
              <a:t>开启防护与流量验证</a:t>
            </a:r>
          </a:p>
          <a:p xmlns:a="http://schemas.openxmlformats.org/drawingml/2006/main">
            <a:r>
              <a:t>https://support.huaweicloud.com/usermanual-cfw/cfw_01_0133.html</a:t>
            </a:r>
          </a:p>
          <a:p xmlns:a="http://schemas.openxmlformats.org/drawingml/2006/main">
            <a:r>
              <a:t>流量统计与会话上报</a:t>
            </a:r>
          </a:p>
          <a:p xmlns:a="http://schemas.openxmlformats.org/drawingml/2006/main">
            <a:r>
              <a:t>https://support.huaweicloud.com/cfw_faq/cfw_01_0027.html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 2 分钟。让学员逐条举手或在聊天区回答。每题 2 分，建议 8 分达标。答案为否、否、否、否、是。不要单靠分数，关注学员能否说明第 2 与第 4 题的原因。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 1 分钟。快速纠正常见误解。建议课后把答错的问题与团队当前规则对应复盘，不要求学员记忆控制台菜单位置。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参考资料：</a:t>
            </a:r>
          </a:p>
          <a:p xmlns:a="http://schemas.openxmlformats.org/drawingml/2006/main">
            <a:r>
              <a:t>VPC 网络规划与隔离</a:t>
            </a:r>
          </a:p>
          <a:p xmlns:a="http://schemas.openxmlformats.org/drawingml/2006/main">
            <a:r>
              <a:t>https://support.huaweicloud.com/intl/zh-cn/helppanel-vpc/vpc_help_0002.html</a:t>
            </a:r>
          </a:p>
          <a:p xmlns:a="http://schemas.openxmlformats.org/drawingml/2006/main">
            <a:r>
              <a:t>VPC 边界防火墙概述</a:t>
            </a:r>
          </a:p>
          <a:p xmlns:a="http://schemas.openxmlformats.org/drawingml/2006/main">
            <a:r>
              <a:t>https://support.huaweicloud.com/usermanual-cfw/cfw_01_0185.html</a:t>
            </a:r>
          </a:p>
          <a:p xmlns:a="http://schemas.openxmlformats.org/drawingml/2006/main">
            <a:r>
              <a:t>访问控制策略概述</a:t>
            </a:r>
          </a:p>
          <a:p xmlns:a="http://schemas.openxmlformats.org/drawingml/2006/main">
            <a:r>
              <a:t>https://support.huaweicloud.com/intl/zh-cn/usermanual-cfw/cfw_01_0262.html</a:t>
            </a:r>
          </a:p>
          <a:p xmlns:a="http://schemas.openxmlformats.org/drawingml/2006/main">
            <a:r>
              <a:t>配置防护策略后业务无法访问</a:t>
            </a:r>
          </a:p>
          <a:p xmlns:a="http://schemas.openxmlformats.org/drawingml/2006/main">
            <a:r>
              <a:t>https://support.huaweicloud.com/intl/zh-cn/ally-visitor-1-usermanual-cfw/cfw_01_0248.html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 1 分钟。这是可以转成内部检查表的建议内容。不要把课件里的周期安排、日志期限或例外权限当成已经生效的公司制度。团队需明确责任人后正式采用。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课后参考资料。链接指向华为云官方公开文档，相关内容页亦附有对应来源。产品规格、限制与菜单以实际区域和版本为准。ER 引流图和日志查询截图来自华为云官方文档，保留原图文字；其余图示为 AI 生成的现代扁平逻辑教学插图，不代表真实生产配置。内置 imagegen 统一采用白底、深蓝文字、青绿路径、珊瑚红异常、二维细线的提示，围绕分区、层次、边界、NAT、IPS、变更、排障与三个案例绘制。封面使用深蓝平面网络线条。资产保存在 /Users/R/W/codex-images/assets/vpc-cfw-v2。文字与规则表保持可编辑，插图作为图片嵌入。培训中的命名、审批、到期复核、评分和验收要求为建议基线，企业采用前需正式确认。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参考资料：</a:t>
            </a:r>
          </a:p>
          <a:p xmlns:a="http://schemas.openxmlformats.org/drawingml/2006/main">
            <a:r>
              <a:t>VPC 网络规划建议</a:t>
            </a:r>
          </a:p>
          <a:p xmlns:a="http://schemas.openxmlformats.org/drawingml/2006/main">
            <a:r>
              <a:t>https://support.huaweicloud.com/usermanual-vpc/vpc_0001.html</a:t>
            </a:r>
          </a:p>
          <a:p xmlns:a="http://schemas.openxmlformats.org/drawingml/2006/main">
            <a:r>
              <a:t>VPC 网络规划与隔离</a:t>
            </a:r>
          </a:p>
          <a:p xmlns:a="http://schemas.openxmlformats.org/drawingml/2006/main">
            <a:r>
              <a:t>https://support.huaweicloud.com/intl/zh-cn/helppanel-vpc/vpc_help_0002.html</a:t>
            </a:r>
          </a:p>
          <a:p xmlns:a="http://schemas.openxmlformats.org/drawingml/2006/main">
            <a:r>
              <a:t>VPC 访问控制概述</a:t>
            </a:r>
          </a:p>
          <a:p xmlns:a="http://schemas.openxmlformats.org/drawingml/2006/main">
            <a:r>
              <a:t>https://support.huaweicloud.com/intl/zh-cn/usermanual-vpc/zh-cn_topic_0052003963.html</a:t>
            </a:r>
          </a:p>
          <a:p xmlns:a="http://schemas.openxmlformats.org/drawingml/2006/main">
            <a:r>
              <a:t>VPC 边界防火墙概述</a:t>
            </a:r>
          </a:p>
          <a:p xmlns:a="http://schemas.openxmlformats.org/drawingml/2006/main">
            <a:r>
              <a:t>https://support.huaweicloud.com/usermanual-cfw/cfw_01_0185.html</a:t>
            </a:r>
          </a:p>
          <a:p xmlns:a="http://schemas.openxmlformats.org/drawingml/2006/main">
            <a:r>
              <a:t>ER 引流配置（新版）</a:t>
            </a:r>
          </a:p>
          <a:p xmlns:a="http://schemas.openxmlformats.org/drawingml/2006/main">
            <a:r>
              <a:t>https://support.huaweicloud.com/usermanual-cfw/cfw_01_0269.html</a:t>
            </a:r>
          </a:p>
          <a:p xmlns:a="http://schemas.openxmlformats.org/drawingml/2006/main">
            <a:r>
              <a:t>开启防护与流量验证</a:t>
            </a:r>
          </a:p>
          <a:p xmlns:a="http://schemas.openxmlformats.org/drawingml/2006/main">
            <a:r>
              <a:t>https://support.huaweicloud.com/usermanual-cfw/cfw_01_0133.html</a:t>
            </a:r>
          </a:p>
          <a:p xmlns:a="http://schemas.openxmlformats.org/drawingml/2006/main">
            <a:r>
              <a:t>VPC 边界防护规则</a:t>
            </a:r>
          </a:p>
          <a:p xmlns:a="http://schemas.openxmlformats.org/drawingml/2006/main">
            <a:r>
              <a:t>https://support.huaweicloud.com/intl/zh-cn/usermanual-cfw/cfw_01_0297.html</a:t>
            </a:r>
          </a:p>
          <a:p xmlns:a="http://schemas.openxmlformats.org/drawingml/2006/main">
            <a:r>
              <a:t>访问控制策略概述</a:t>
            </a:r>
          </a:p>
          <a:p xmlns:a="http://schemas.openxmlformats.org/drawingml/2006/main">
            <a:r>
              <a:t>https://support.huaweicloud.com/intl/zh-cn/usermanual-cfw/cfw_01_0262.html</a:t>
            </a:r>
          </a:p>
          <a:p xmlns:a="http://schemas.openxmlformats.org/drawingml/2006/main">
            <a:r>
              <a:t>日志查询</a:t>
            </a:r>
          </a:p>
          <a:p xmlns:a="http://schemas.openxmlformats.org/drawingml/2006/main">
            <a:r>
              <a:t>https://support.huaweicloud.com/usermanual-cfw/cfw_01_0139.html</a:t>
            </a:r>
          </a:p>
          <a:p xmlns:a="http://schemas.openxmlformats.org/drawingml/2006/main">
            <a:r>
              <a:t>流量统计与会话上报</a:t>
            </a:r>
          </a:p>
          <a:p xmlns:a="http://schemas.openxmlformats.org/drawingml/2006/main">
            <a:r>
              <a:t>https://support.huaweicloud.com/cfw_faq/cfw_01_0027.html</a:t>
            </a:r>
          </a:p>
          <a:p xmlns:a="http://schemas.openxmlformats.org/drawingml/2006/main">
            <a:r>
              <a:t>配置防护策略后业务无法访问</a:t>
            </a:r>
          </a:p>
          <a:p xmlns:a="http://schemas.openxmlformats.org/drawingml/2006/main">
            <a:r>
              <a:t>https://support.huaweicloud.com/intl/zh-cn/ally-visitor-1-usermanual-cfw/cfw_01_0248.html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276fef1b6094e4f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a6cee4cb106408f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a27e90d913c4547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7a49df84a564e79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3758e663cef4fae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80aeda47e5d4b7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B09C5BA-16F4-4A52-9C98-1C44CC6AC36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5859A49A-4A65-46C8-82E3-CC64DC390C89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3022830C-E73E-45FE-A194-85766B5CE92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9D3E7FF-6A55-4214-98EC-95F5CE1EE80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E7ECD77D-23EA-4604-9987-FAD44A56ECF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F8FE614A-D34C-4662-A183-AEC238F3259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0583787A-5B24-4630-94F1-66FE57DE5DB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75E9D2DA-922F-400A-8467-049718F5FF2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9AA765A-41CA-4281-9AD6-EDFC494D1DD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9C581F2D-58C7-4A19-B0AF-2CBC16B4ED1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9c9d18ebc594e99" /><Relationship Type="http://schemas.openxmlformats.org/officeDocument/2006/relationships/slideLayout" Target="/ppt/slideLayouts/slideLayout1.xml" Id="Rfe756adc4528464d" /><Relationship Type="http://schemas.openxmlformats.org/officeDocument/2006/relationships/slideLayout" Target="/ppt/slideLayouts/slideLayout2.xml" Id="Rd6defef1bc7b4b91" /><Relationship Type="http://schemas.openxmlformats.org/officeDocument/2006/relationships/slideLayout" Target="/ppt/slideLayouts/slideLayout3.xml" Id="Rb93ada9e8f0e4650" /><Relationship Type="http://schemas.openxmlformats.org/officeDocument/2006/relationships/slideLayout" Target="/ppt/slideLayouts/slideLayout4.xml" Id="Re092b72acc364014" /><Relationship Type="http://schemas.openxmlformats.org/officeDocument/2006/relationships/slideLayout" Target="/ppt/slideLayouts/slideLayout5.xml" Id="R6f3202ff0ae448bd" /><Relationship Type="http://schemas.openxmlformats.org/officeDocument/2006/relationships/slideLayout" Target="/ppt/slideLayouts/slideLayout6.xml" Id="Ra818cf5c9b24469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e756adc4528464d"/>
    <p:sldLayoutId xmlns:r="http://schemas.openxmlformats.org/officeDocument/2006/relationships" id="2147483650" r:id="Rd6defef1bc7b4b91"/>
    <p:sldLayoutId xmlns:r="http://schemas.openxmlformats.org/officeDocument/2006/relationships" id="2147483651" r:id="Rb93ada9e8f0e4650"/>
    <p:sldLayoutId xmlns:r="http://schemas.openxmlformats.org/officeDocument/2006/relationships" id="2147483652" r:id="Re092b72acc364014"/>
    <p:sldLayoutId xmlns:r="http://schemas.openxmlformats.org/officeDocument/2006/relationships" id="2147483653" r:id="R6f3202ff0ae448bd"/>
    <p:sldLayoutId xmlns:r="http://schemas.openxmlformats.org/officeDocument/2006/relationships" id="2147483654" r:id="Ra818cf5c9b24469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aced55971874c06" /><Relationship Type="http://schemas.openxmlformats.org/officeDocument/2006/relationships/image" Target="/ppt/media/image.png" Id="Rd9bada6d924c420a" /><Relationship Type="http://schemas.openxmlformats.org/officeDocument/2006/relationships/notesSlide" Target="/ppt/notesSlides/notesSlide1.xml" Id="R4d3603175729430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2c86aa5775142d1" /><Relationship Type="http://schemas.openxmlformats.org/officeDocument/2006/relationships/notesSlide" Target="/ppt/notesSlides/notesSlide2.xml" Id="Rcc1f19af842c469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3e2ee0b0f964e35" /><Relationship Type="http://schemas.openxmlformats.org/officeDocument/2006/relationships/image" Target="/ppt/media/image2.png" Id="R3efc82f742c34a23" /><Relationship Type="http://schemas.openxmlformats.org/officeDocument/2006/relationships/notesSlide" Target="/ppt/notesSlides/notesSlide3.xml" Id="R53ec20437efa4aa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ed427a1ae9b4515" /><Relationship Type="http://schemas.openxmlformats.org/officeDocument/2006/relationships/image" Target="/ppt/media/image3.png" Id="Rb1f325a91caf4178" /><Relationship Type="http://schemas.openxmlformats.org/officeDocument/2006/relationships/notesSlide" Target="/ppt/notesSlides/notesSlide4.xml" Id="Ra76588199246427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1544727ed654645" /><Relationship Type="http://schemas.openxmlformats.org/officeDocument/2006/relationships/notesSlide" Target="/ppt/notesSlides/notesSlide5.xml" Id="Rc2067ca75afc4b1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00c761992b14929" /><Relationship Type="http://schemas.openxmlformats.org/officeDocument/2006/relationships/image" Target="/ppt/media/image4.png" Id="Rcc41d36721454c7b" /><Relationship Type="http://schemas.openxmlformats.org/officeDocument/2006/relationships/notesSlide" Target="/ppt/notesSlides/notesSlide6.xml" Id="R2b5d2c12e00d4b4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d47ca98fdc147ca" /><Relationship Type="http://schemas.openxmlformats.org/officeDocument/2006/relationships/notesSlide" Target="/ppt/notesSlides/notesSlide7.xml" Id="R9cfe7c4571f3455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74ad9cd20314f77" /><Relationship Type="http://schemas.openxmlformats.org/officeDocument/2006/relationships/image" Target="/ppt/media/image5.png" Id="Rd0740b0695c44f58" /><Relationship Type="http://schemas.openxmlformats.org/officeDocument/2006/relationships/notesSlide" Target="/ppt/notesSlides/notesSlide8.xml" Id="Rf786b82993cd439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bf0ab0d7eaf4074" /><Relationship Type="http://schemas.openxmlformats.org/officeDocument/2006/relationships/notesSlide" Target="/ppt/notesSlides/notesSlide9.xml" Id="R0a07661cdcad4d9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b462255db084bb7" /><Relationship Type="http://schemas.openxmlformats.org/officeDocument/2006/relationships/image" Target="/ppt/media/image6.png" Id="Re0e3c6d94694416f" /><Relationship Type="http://schemas.openxmlformats.org/officeDocument/2006/relationships/notesSlide" Target="/ppt/notesSlides/notesSlide10.xml" Id="R45a55ebe71874eaf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daca973101146d4" /><Relationship Type="http://schemas.openxmlformats.org/officeDocument/2006/relationships/image" Target="/ppt/media/image7.png" Id="Rb80e3f8889174204" /><Relationship Type="http://schemas.openxmlformats.org/officeDocument/2006/relationships/notesSlide" Target="/ppt/notesSlides/notesSlide11.xml" Id="R44d53141db994d97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b794a82e7e44db7" /><Relationship Type="http://schemas.openxmlformats.org/officeDocument/2006/relationships/notesSlide" Target="/ppt/notesSlides/notesSlide12.xml" Id="R902d6960e0f64da7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2f087069fd74a9a" /><Relationship Type="http://schemas.openxmlformats.org/officeDocument/2006/relationships/notesSlide" Target="/ppt/notesSlides/notesSlide13.xml" Id="R972cd7047c87429a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3d311dd1c1e485a" /><Relationship Type="http://schemas.openxmlformats.org/officeDocument/2006/relationships/notesSlide" Target="/ppt/notesSlides/notesSlide14.xml" Id="R1a8fd86065294eb3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8c385d615ac4db0" /><Relationship Type="http://schemas.openxmlformats.org/officeDocument/2006/relationships/image" Target="/ppt/media/image8.png" Id="R464e774bfbcc446a" /><Relationship Type="http://schemas.openxmlformats.org/officeDocument/2006/relationships/notesSlide" Target="/ppt/notesSlides/notesSlide15.xml" Id="R5f62a70c03b34332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3bc69a1706b41db" /><Relationship Type="http://schemas.openxmlformats.org/officeDocument/2006/relationships/notesSlide" Target="/ppt/notesSlides/notesSlide16.xml" Id="R08f04c3f58e547ac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1e61ff44b0d4156" /><Relationship Type="http://schemas.openxmlformats.org/officeDocument/2006/relationships/notesSlide" Target="/ppt/notesSlides/notesSlide17.xml" Id="R0865c473572f4153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4b1e99dcf804e6f" /><Relationship Type="http://schemas.openxmlformats.org/officeDocument/2006/relationships/image" Target="/ppt/media/image9.png" Id="R889aedb156d147c6" /><Relationship Type="http://schemas.openxmlformats.org/officeDocument/2006/relationships/notesSlide" Target="/ppt/notesSlides/notesSlide18.xml" Id="R63b05d3b069e42f1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59605f1541b4db4" /><Relationship Type="http://schemas.openxmlformats.org/officeDocument/2006/relationships/image" Target="/ppt/media/image10.png" Id="Re45551de8caf42a8" /><Relationship Type="http://schemas.openxmlformats.org/officeDocument/2006/relationships/notesSlide" Target="/ppt/notesSlides/notesSlide19.xml" Id="R2aa8ae86ed124f3a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022e8ab52504b62" /><Relationship Type="http://schemas.openxmlformats.org/officeDocument/2006/relationships/notesSlide" Target="/ppt/notesSlides/notesSlide20.xml" Id="R1cb4a1f166b24978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dea67a0769b4ce9" /><Relationship Type="http://schemas.openxmlformats.org/officeDocument/2006/relationships/notesSlide" Target="/ppt/notesSlides/notesSlide21.xml" Id="Rac9c7de68bff42c1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40baf14e5f443f6" /><Relationship Type="http://schemas.openxmlformats.org/officeDocument/2006/relationships/notesSlide" Target="/ppt/notesSlides/notesSlide22.xml" Id="R60bd5231a437442d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7c63f88000f4317" /><Relationship Type="http://schemas.openxmlformats.org/officeDocument/2006/relationships/image" Target="/ppt/media/image11.png" Id="R01c46732a2f14a5e" /><Relationship Type="http://schemas.openxmlformats.org/officeDocument/2006/relationships/notesSlide" Target="/ppt/notesSlides/notesSlide23.xml" Id="R7f1dce76b1594998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47c5a3e3c1c4110" /><Relationship Type="http://schemas.openxmlformats.org/officeDocument/2006/relationships/notesSlide" Target="/ppt/notesSlides/notesSlide24.xml" Id="Rc0029a946ac94063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7f276309ee84845" /><Relationship Type="http://schemas.openxmlformats.org/officeDocument/2006/relationships/image" Target="/ppt/media/image12.png" Id="R835b0807a13b45b1" /><Relationship Type="http://schemas.openxmlformats.org/officeDocument/2006/relationships/notesSlide" Target="/ppt/notesSlides/notesSlide25.xml" Id="Rd605848e9215455e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92f6df8fb474f57" /><Relationship Type="http://schemas.openxmlformats.org/officeDocument/2006/relationships/image" Target="/ppt/media/image13.png" Id="Rcdc7ea83e0dd4202" /><Relationship Type="http://schemas.openxmlformats.org/officeDocument/2006/relationships/notesSlide" Target="/ppt/notesSlides/notesSlide26.xml" Id="R4699b9c30c5d4c71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9eac28ed25c4f8f" /><Relationship Type="http://schemas.openxmlformats.org/officeDocument/2006/relationships/image" Target="/ppt/media/image14.png" Id="R297515e1cb254d78" /><Relationship Type="http://schemas.openxmlformats.org/officeDocument/2006/relationships/notesSlide" Target="/ppt/notesSlides/notesSlide27.xml" Id="R518be0673f5f4bce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519f1e1137c4ecc" /><Relationship Type="http://schemas.openxmlformats.org/officeDocument/2006/relationships/notesSlide" Target="/ppt/notesSlides/notesSlide28.xml" Id="R46476028cd0b4357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188c9de6e67426d" /><Relationship Type="http://schemas.openxmlformats.org/officeDocument/2006/relationships/image" Target="/ppt/media/image15.png" Id="R15182b61bd004f6f" /><Relationship Type="http://schemas.openxmlformats.org/officeDocument/2006/relationships/notesSlide" Target="/ppt/notesSlides/notesSlide29.xml" Id="Ref5209bd1e414209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f2bcd2e55ad43e7" /><Relationship Type="http://schemas.openxmlformats.org/officeDocument/2006/relationships/notesSlide" Target="/ppt/notesSlides/notesSlide30.xml" Id="Rde4cefaec6e2477f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b552765f3ba4b04" /><Relationship Type="http://schemas.openxmlformats.org/officeDocument/2006/relationships/image" Target="/ppt/media/image16.png" Id="Rb9a360e7df9644d9" /><Relationship Type="http://schemas.openxmlformats.org/officeDocument/2006/relationships/notesSlide" Target="/ppt/notesSlides/notesSlide31.xml" Id="R37c8e78e772348c2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7561532f050441f" /><Relationship Type="http://schemas.openxmlformats.org/officeDocument/2006/relationships/notesSlide" Target="/ppt/notesSlides/notesSlide32.xml" Id="R0aa947e2bd244c31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09ab476b893423d" /><Relationship Type="http://schemas.openxmlformats.org/officeDocument/2006/relationships/notesSlide" Target="/ppt/notesSlides/notesSlide33.xml" Id="R3553c6e4ecca4a63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78ba19d5cc844a2" /><Relationship Type="http://schemas.openxmlformats.org/officeDocument/2006/relationships/notesSlide" Target="/ppt/notesSlides/notesSlide34.xml" Id="Rd0a6a65834f943df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628d5e464424363" /><Relationship Type="http://schemas.openxmlformats.org/officeDocument/2006/relationships/notesSlide" Target="/ppt/notesSlides/notesSlide35.xml" Id="R3621ec00ecd44862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d6a5de3dd244ccc" /><Relationship Type="http://schemas.openxmlformats.org/officeDocument/2006/relationships/hyperlink" Target="https://support.huaweicloud.com/usermanual-vpc/vpc_0001.html" TargetMode="External" Id="Rb2e86f1d47024125" /><Relationship Type="http://schemas.openxmlformats.org/officeDocument/2006/relationships/hyperlink" Target="https://support.huaweicloud.com/intl/zh-cn/helppanel-vpc/vpc_help_0002.html" TargetMode="External" Id="R7add0b54dc464311" /><Relationship Type="http://schemas.openxmlformats.org/officeDocument/2006/relationships/hyperlink" Target="https://support.huaweicloud.com/intl/zh-cn/usermanual-vpc/zh-cn_topic_0052003963.html" TargetMode="External" Id="Rd1a2c03cd1004753" /><Relationship Type="http://schemas.openxmlformats.org/officeDocument/2006/relationships/hyperlink" Target="https://support.huaweicloud.com/usermanual-cfw/cfw_01_0185.html" TargetMode="External" Id="R6bcd2127c9674ca1" /><Relationship Type="http://schemas.openxmlformats.org/officeDocument/2006/relationships/hyperlink" Target="https://support.huaweicloud.com/usermanual-cfw/cfw_01_0269.html" TargetMode="External" Id="Rfdccdc683a5d459c" /><Relationship Type="http://schemas.openxmlformats.org/officeDocument/2006/relationships/hyperlink" Target="https://support.huaweicloud.com/usermanual-cfw/cfw_01_0133.html" TargetMode="External" Id="R32f98ef892004580" /><Relationship Type="http://schemas.openxmlformats.org/officeDocument/2006/relationships/hyperlink" Target="https://support.huaweicloud.com/intl/zh-cn/usermanual-cfw/cfw_01_0297.html" TargetMode="External" Id="R102b8b23097a4399" /><Relationship Type="http://schemas.openxmlformats.org/officeDocument/2006/relationships/hyperlink" Target="https://support.huaweicloud.com/intl/zh-cn/usermanual-cfw/cfw_01_0262.html" TargetMode="External" Id="R00c77837aca6453b" /><Relationship Type="http://schemas.openxmlformats.org/officeDocument/2006/relationships/hyperlink" Target="https://support.huaweicloud.com/usermanual-cfw/cfw_01_0139.html" TargetMode="External" Id="Reb3cae5034ff4ffe" /><Relationship Type="http://schemas.openxmlformats.org/officeDocument/2006/relationships/hyperlink" Target="https://support.huaweicloud.com/cfw_faq/cfw_01_0027.html" TargetMode="External" Id="Re0c6c57f184445cf" /><Relationship Type="http://schemas.openxmlformats.org/officeDocument/2006/relationships/hyperlink" Target="https://support.huaweicloud.com/intl/zh-cn/ally-visitor-1-usermanual-cfw/cfw_01_0248.html" TargetMode="External" Id="Rcab7fc6c28a84b34" /><Relationship Type="http://schemas.openxmlformats.org/officeDocument/2006/relationships/notesSlide" Target="/ppt/notesSlides/notesSlide36.xml" Id="R3e885d44f0694df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1C3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DFE31AC-3057-4042-9C9C-D5D926069CA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9bada6d924c420a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txt-0">
            <a:extLst xmlns:a="http://schemas.openxmlformats.org/drawingml/2006/main">
              <a:ext uri="{FF2B5EF4-FFF2-40B4-BE49-F238E27FC236}">
                <a16:creationId xmlns:a16="http://schemas.microsoft.com/office/drawing/2014/main" id="{F760E124-F070-4502-AE80-BAA70E5FC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57250"/>
            <a:ext cx="7620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69D8D0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69D8D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1">
                <a:solidFill>
                  <a:srgbClr val="69D8D0"/>
                </a:solidFill>
                <a:latin typeface="Arial Unicode MS"/>
                <a:ea typeface="Arial Unicode MS"/>
                <a:cs typeface="Arial Unicode MS"/>
              </a:rPr>
              <a:t>华为云 IT 团队使用规范</a:t>
            </a:r>
          </a:p>
        </p:txBody>
      </p:sp>
      <p:sp>
        <p:nvSpPr>
          <p:cNvPr id="3" name="txt-1">
            <a:extLst xmlns:a="http://schemas.openxmlformats.org/drawingml/2006/main">
              <a:ext uri="{FF2B5EF4-FFF2-40B4-BE49-F238E27FC236}">
                <a16:creationId xmlns:a16="http://schemas.microsoft.com/office/drawing/2014/main" id="{9AB8BDBF-EBA8-4BBD-9259-F78F1C4EE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24075"/>
            <a:ext cx="91440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87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487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487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VPC 网络与</a:t>
            </a:r>
          </a:p>
          <a:p xmlns:a="http://schemas.openxmlformats.org/drawingml/2006/main">
            <a:pPr algn="l">
              <a:defRPr sz="487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487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云防火墙 CFW</a:t>
            </a:r>
          </a:p>
        </p:txBody>
      </p:sp>
      <p:sp>
        <p:nvSpPr>
          <p:cNvPr id="4" name="txt-2">
            <a:extLst xmlns:a="http://schemas.openxmlformats.org/drawingml/2006/main">
              <a:ext uri="{FF2B5EF4-FFF2-40B4-BE49-F238E27FC236}">
                <a16:creationId xmlns:a16="http://schemas.microsoft.com/office/drawing/2014/main" id="{42C887AA-D310-4224-BEA7-BEFBD776F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24325"/>
            <a:ext cx="8096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925" b="0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2925" b="0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925" b="0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使用规范与案例演练</a:t>
            </a:r>
          </a:p>
        </p:txBody>
      </p:sp>
      <p:sp>
        <p:nvSpPr>
          <p:cNvPr id="5" name="txt-3">
            <a:extLst xmlns:a="http://schemas.openxmlformats.org/drawingml/2006/main">
              <a:ext uri="{FF2B5EF4-FFF2-40B4-BE49-F238E27FC236}">
                <a16:creationId xmlns:a16="http://schemas.microsoft.com/office/drawing/2014/main" id="{C37E7FC4-4692-4E71-8DB4-B3A98664F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53100"/>
            <a:ext cx="1066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B7D0DB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B7D0D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B7D0DB"/>
                </a:solidFill>
                <a:latin typeface="Arial Unicode MS"/>
                <a:ea typeface="Arial Unicode MS"/>
                <a:cs typeface="Arial Unicode MS"/>
              </a:rPr>
              <a:t>90 分钟培训  /  架构图解  /  策略配置  /  故障演练</a:t>
            </a:r>
          </a:p>
        </p:txBody>
      </p:sp>
    </p:spTree>
    <p:extLst>
      <p:ext uri="{BB962C8B-B14F-4D97-AF65-F5344CB8AC3E}">
        <p14:creationId xmlns:p14="http://schemas.microsoft.com/office/powerpoint/2010/main" val="176163553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txt-0">
            <a:extLst xmlns:a="http://schemas.openxmlformats.org/drawingml/2006/main">
              <a:ext uri="{FF2B5EF4-FFF2-40B4-BE49-F238E27FC236}">
                <a16:creationId xmlns:a16="http://schemas.microsoft.com/office/drawing/2014/main" id="{4DE6F7A4-C445-440F-BB99-ED726E716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28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008B87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008B8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1">
                <a:solidFill>
                  <a:srgbClr val="008B87"/>
                </a:solidFill>
                <a:latin typeface="Arial Unicode MS"/>
                <a:ea typeface="Arial Unicode MS"/>
                <a:cs typeface="Arial Unicode MS"/>
              </a:rPr>
              <a:t>课程导入</a:t>
            </a:r>
          </a:p>
        </p:txBody>
      </p:sp>
      <p:sp>
        <p:nvSpPr>
          <p:cNvPr id="2" name="txt-1">
            <a:extLst xmlns:a="http://schemas.openxmlformats.org/drawingml/2006/main">
              <a:ext uri="{FF2B5EF4-FFF2-40B4-BE49-F238E27FC236}">
                <a16:creationId xmlns:a16="http://schemas.microsoft.com/office/drawing/2014/main" id="{26D5C113-D11C-45C8-9EA4-0BF5A96CD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75" b="1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3075" b="1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75" b="1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rPr>
              <a:t>90 分钟课程安排</a:t>
            </a:r>
          </a:p>
        </p:txBody>
      </p:sp>
      <p:sp>
        <p:nvSpPr>
          <p:cNvPr id="3" name="txt-2">
            <a:extLst xmlns:a="http://schemas.openxmlformats.org/drawingml/2006/main">
              <a:ext uri="{FF2B5EF4-FFF2-40B4-BE49-F238E27FC236}">
                <a16:creationId xmlns:a16="http://schemas.microsoft.com/office/drawing/2014/main" id="{4EFE6A3B-93A2-4898-A398-16C1B20C4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62075"/>
            <a:ext cx="1097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627383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62738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627383"/>
                </a:solidFill>
                <a:latin typeface="Arial Unicode MS"/>
                <a:ea typeface="Arial Unicode MS"/>
                <a:cs typeface="Arial Unicode MS"/>
              </a:rPr>
              <a:t>围绕一条业务流，完成规划、放行、验证和排障</a:t>
            </a:r>
          </a:p>
        </p:txBody>
      </p:sp>
      <p:sp>
        <p:nvSpPr>
          <p:cNvPr id="4" name="txt-3">
            <a:extLst xmlns:a="http://schemas.openxmlformats.org/drawingml/2006/main">
              <a:ext uri="{FF2B5EF4-FFF2-40B4-BE49-F238E27FC236}">
                <a16:creationId xmlns:a16="http://schemas.microsoft.com/office/drawing/2014/main" id="{90A54382-6F25-42D7-90DB-6E9FE0626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00800"/>
            <a:ext cx="628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627383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62738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27383"/>
                </a:solidFill>
                <a:latin typeface="Arial Unicode MS"/>
                <a:ea typeface="Arial Unicode MS"/>
                <a:cs typeface="Arial Unicode MS"/>
              </a:rPr>
              <a:t>02</a:t>
            </a:r>
          </a:p>
        </p:txBody>
      </p:sp>
      <p:sp>
        <p:nvSpPr>
          <p:cNvPr id="5" name="txt-4">
            <a:extLst xmlns:a="http://schemas.openxmlformats.org/drawingml/2006/main">
              <a:ext uri="{FF2B5EF4-FFF2-40B4-BE49-F238E27FC236}">
                <a16:creationId xmlns:a16="http://schemas.microsoft.com/office/drawing/2014/main" id="{2154188B-25A9-47F2-8F78-A9F1C4E7C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9775"/>
            <a:ext cx="24765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8400" b="1">
                <a:solidFill>
                  <a:srgbClr val="008B87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8400" b="1">
                <a:solidFill>
                  <a:srgbClr val="008B8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8400" b="1">
                <a:solidFill>
                  <a:srgbClr val="008B87"/>
                </a:solidFill>
                <a:latin typeface="Arial Unicode MS"/>
                <a:ea typeface="Arial Unicode MS"/>
                <a:cs typeface="Arial Unicode MS"/>
              </a:rPr>
              <a:t>90</a:t>
            </a:r>
          </a:p>
        </p:txBody>
      </p:sp>
      <p:sp>
        <p:nvSpPr>
          <p:cNvPr id="6" name="txt-5">
            <a:extLst xmlns:a="http://schemas.openxmlformats.org/drawingml/2006/main">
              <a:ext uri="{FF2B5EF4-FFF2-40B4-BE49-F238E27FC236}">
                <a16:creationId xmlns:a16="http://schemas.microsoft.com/office/drawing/2014/main" id="{71AADA00-A765-48DA-AE0D-DE2E61427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390900"/>
            <a:ext cx="209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2400" b="0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00" b="0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rPr>
              <a:t>分钟</a:t>
            </a:r>
          </a:p>
        </p:txBody>
      </p:sp>
      <p:sp>
        <p:nvSpPr>
          <p:cNvPr id="7" name="txt-6">
            <a:extLst xmlns:a="http://schemas.openxmlformats.org/drawingml/2006/main">
              <a:ext uri="{FF2B5EF4-FFF2-40B4-BE49-F238E27FC236}">
                <a16:creationId xmlns:a16="http://schemas.microsoft.com/office/drawing/2014/main" id="{F1ED96CD-4061-4754-BAC9-9213720A3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105025"/>
            <a:ext cx="7810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008B87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3000" b="1">
                <a:solidFill>
                  <a:srgbClr val="008B8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00" b="1">
                <a:solidFill>
                  <a:srgbClr val="008B87"/>
                </a:solidFill>
                <a:latin typeface="Arial Unicode MS"/>
                <a:ea typeface="Arial Unicode MS"/>
                <a:cs typeface="Arial Unicode MS"/>
              </a:rPr>
              <a:t>08</a:t>
            </a:r>
          </a:p>
        </p:txBody>
      </p:sp>
      <p:sp>
        <p:nvSpPr>
          <p:cNvPr id="8" name="txt-7">
            <a:extLst xmlns:a="http://schemas.openxmlformats.org/drawingml/2006/main">
              <a:ext uri="{FF2B5EF4-FFF2-40B4-BE49-F238E27FC236}">
                <a16:creationId xmlns:a16="http://schemas.microsoft.com/office/drawing/2014/main" id="{894B9165-AD2A-4844-A880-D9567DDBB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171700"/>
            <a:ext cx="2809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rPr>
              <a:t>场景与目标</a:t>
            </a:r>
          </a:p>
        </p:txBody>
      </p:sp>
      <p:sp>
        <p:nvSpPr>
          <p:cNvPr id="9" name="txt-8">
            <a:extLst xmlns:a="http://schemas.openxmlformats.org/drawingml/2006/main">
              <a:ext uri="{FF2B5EF4-FFF2-40B4-BE49-F238E27FC236}">
                <a16:creationId xmlns:a16="http://schemas.microsoft.com/office/drawing/2014/main" id="{A3EA0BB9-E6C8-41EE-8532-ADAEBED93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095625"/>
            <a:ext cx="7810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008B87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3000" b="1">
                <a:solidFill>
                  <a:srgbClr val="008B8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00" b="1">
                <a:solidFill>
                  <a:srgbClr val="008B87"/>
                </a:solidFill>
                <a:latin typeface="Arial Unicode MS"/>
                <a:ea typeface="Arial Unicode MS"/>
                <a:cs typeface="Arial Unicode MS"/>
              </a:rPr>
              <a:t>17</a:t>
            </a:r>
          </a:p>
        </p:txBody>
      </p:sp>
      <p:sp>
        <p:nvSpPr>
          <p:cNvPr id="10" name="txt-9">
            <a:extLst xmlns:a="http://schemas.openxmlformats.org/drawingml/2006/main">
              <a:ext uri="{FF2B5EF4-FFF2-40B4-BE49-F238E27FC236}">
                <a16:creationId xmlns:a16="http://schemas.microsoft.com/office/drawing/2014/main" id="{D032ADDC-1DE1-4162-83DB-71621E8FD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162300"/>
            <a:ext cx="2809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rPr>
              <a:t>VPC 网络规范</a:t>
            </a:r>
          </a:p>
        </p:txBody>
      </p:sp>
      <p:sp>
        <p:nvSpPr>
          <p:cNvPr id="11" name="txt-10">
            <a:extLst xmlns:a="http://schemas.openxmlformats.org/drawingml/2006/main">
              <a:ext uri="{FF2B5EF4-FFF2-40B4-BE49-F238E27FC236}">
                <a16:creationId xmlns:a16="http://schemas.microsoft.com/office/drawing/2014/main" id="{1C7043DE-FD9C-4B63-A826-93D946131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086225"/>
            <a:ext cx="7810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008B87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3000" b="1">
                <a:solidFill>
                  <a:srgbClr val="008B8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00" b="1">
                <a:solidFill>
                  <a:srgbClr val="008B87"/>
                </a:solidFill>
                <a:latin typeface="Arial Unicode MS"/>
                <a:ea typeface="Arial Unicode MS"/>
                <a:cs typeface="Arial Unicode MS"/>
              </a:rPr>
              <a:t>25</a:t>
            </a:r>
          </a:p>
        </p:txBody>
      </p:sp>
      <p:sp>
        <p:nvSpPr>
          <p:cNvPr id="12" name="txt-11">
            <a:extLst xmlns:a="http://schemas.openxmlformats.org/drawingml/2006/main">
              <a:ext uri="{FF2B5EF4-FFF2-40B4-BE49-F238E27FC236}">
                <a16:creationId xmlns:a16="http://schemas.microsoft.com/office/drawing/2014/main" id="{D42F6687-16C5-4D0C-86BF-5FD8FF54B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152900"/>
            <a:ext cx="2809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rPr>
              <a:t>CFW 配置规范</a:t>
            </a:r>
          </a:p>
        </p:txBody>
      </p:sp>
      <p:sp>
        <p:nvSpPr>
          <p:cNvPr id="13" name="txt-12">
            <a:extLst xmlns:a="http://schemas.openxmlformats.org/drawingml/2006/main">
              <a:ext uri="{FF2B5EF4-FFF2-40B4-BE49-F238E27FC236}">
                <a16:creationId xmlns:a16="http://schemas.microsoft.com/office/drawing/2014/main" id="{3B0DD542-785D-49B4-BDFE-45CCCDE28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105025"/>
            <a:ext cx="7810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008B87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3000" b="1">
                <a:solidFill>
                  <a:srgbClr val="008B8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00" b="1">
                <a:solidFill>
                  <a:srgbClr val="008B87"/>
                </a:solidFill>
                <a:latin typeface="Arial Unicode MS"/>
                <a:ea typeface="Arial Unicode MS"/>
                <a:cs typeface="Arial Unicode MS"/>
              </a:rPr>
              <a:t>15</a:t>
            </a:r>
          </a:p>
        </p:txBody>
      </p:sp>
      <p:sp>
        <p:nvSpPr>
          <p:cNvPr id="14" name="txt-13">
            <a:extLst xmlns:a="http://schemas.openxmlformats.org/drawingml/2006/main">
              <a:ext uri="{FF2B5EF4-FFF2-40B4-BE49-F238E27FC236}">
                <a16:creationId xmlns:a16="http://schemas.microsoft.com/office/drawing/2014/main" id="{FEBC2697-6B14-432B-85F8-76A2D7C37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171700"/>
            <a:ext cx="2809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rPr>
              <a:t>变更与排障</a:t>
            </a:r>
          </a:p>
        </p:txBody>
      </p:sp>
      <p:sp>
        <p:nvSpPr>
          <p:cNvPr id="15" name="txt-14">
            <a:extLst xmlns:a="http://schemas.openxmlformats.org/drawingml/2006/main">
              <a:ext uri="{FF2B5EF4-FFF2-40B4-BE49-F238E27FC236}">
                <a16:creationId xmlns:a16="http://schemas.microsoft.com/office/drawing/2014/main" id="{09A3A2E5-ED67-4451-B844-693E2132D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095625"/>
            <a:ext cx="7810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008B87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3000" b="1">
                <a:solidFill>
                  <a:srgbClr val="008B8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00" b="1">
                <a:solidFill>
                  <a:srgbClr val="008B87"/>
                </a:solidFill>
                <a:latin typeface="Arial Unicode MS"/>
                <a:ea typeface="Arial Unicode MS"/>
                <a:cs typeface="Arial Unicode MS"/>
              </a:rPr>
              <a:t>20</a:t>
            </a:r>
          </a:p>
        </p:txBody>
      </p:sp>
      <p:sp>
        <p:nvSpPr>
          <p:cNvPr id="16" name="txt-15">
            <a:extLst xmlns:a="http://schemas.openxmlformats.org/drawingml/2006/main">
              <a:ext uri="{FF2B5EF4-FFF2-40B4-BE49-F238E27FC236}">
                <a16:creationId xmlns:a16="http://schemas.microsoft.com/office/drawing/2014/main" id="{A9CACFE8-DB26-44C3-AAF5-31701EB5A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162300"/>
            <a:ext cx="2809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rPr>
              <a:t>案例演练</a:t>
            </a:r>
          </a:p>
        </p:txBody>
      </p:sp>
      <p:sp>
        <p:nvSpPr>
          <p:cNvPr id="17" name="txt-16">
            <a:extLst xmlns:a="http://schemas.openxmlformats.org/drawingml/2006/main">
              <a:ext uri="{FF2B5EF4-FFF2-40B4-BE49-F238E27FC236}">
                <a16:creationId xmlns:a16="http://schemas.microsoft.com/office/drawing/2014/main" id="{FF3D3CD7-00FB-4598-917F-5BB69B2AE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086225"/>
            <a:ext cx="7810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008B87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3000" b="1">
                <a:solidFill>
                  <a:srgbClr val="008B8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00" b="1">
                <a:solidFill>
                  <a:srgbClr val="008B87"/>
                </a:solidFill>
                <a:latin typeface="Arial Unicode MS"/>
                <a:ea typeface="Arial Unicode MS"/>
                <a:cs typeface="Arial Unicode MS"/>
              </a:rPr>
              <a:t>05</a:t>
            </a:r>
          </a:p>
        </p:txBody>
      </p:sp>
      <p:sp>
        <p:nvSpPr>
          <p:cNvPr id="18" name="txt-17">
            <a:extLst xmlns:a="http://schemas.openxmlformats.org/drawingml/2006/main">
              <a:ext uri="{FF2B5EF4-FFF2-40B4-BE49-F238E27FC236}">
                <a16:creationId xmlns:a16="http://schemas.microsoft.com/office/drawing/2014/main" id="{130233C5-4C88-4275-8959-65B1485A3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152900"/>
            <a:ext cx="2809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rPr>
              <a:t>测验与检查表</a:t>
            </a:r>
          </a:p>
        </p:txBody>
      </p:sp>
      <p:sp>
        <p:nvSpPr>
          <p:cNvPr id="19" name="txt-18">
            <a:extLst xmlns:a="http://schemas.openxmlformats.org/drawingml/2006/main">
              <a:ext uri="{FF2B5EF4-FFF2-40B4-BE49-F238E27FC236}">
                <a16:creationId xmlns:a16="http://schemas.microsoft.com/office/drawing/2014/main" id="{C48083D0-3386-4A88-B189-9BAADB472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19675"/>
            <a:ext cx="228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1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rPr>
              <a:t>课堂交付</a:t>
            </a:r>
          </a:p>
        </p:txBody>
      </p:sp>
      <p:sp>
        <p:nvSpPr>
          <p:cNvPr id="20" name="txt-19">
            <a:extLst xmlns:a="http://schemas.openxmlformats.org/drawingml/2006/main">
              <a:ext uri="{FF2B5EF4-FFF2-40B4-BE49-F238E27FC236}">
                <a16:creationId xmlns:a16="http://schemas.microsoft.com/office/drawing/2014/main" id="{7EEEA8E0-3029-4946-B9B9-982A06DC6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5000625"/>
            <a:ext cx="781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627383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62738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627383"/>
                </a:solidFill>
                <a:latin typeface="Arial Unicode MS"/>
                <a:ea typeface="Arial Unicode MS"/>
                <a:cs typeface="Arial Unicode MS"/>
              </a:rPr>
              <a:t>能解释业务经过哪些边界</a:t>
            </a:r>
          </a:p>
        </p:txBody>
      </p:sp>
      <p:sp>
        <p:nvSpPr>
          <p:cNvPr id="21" name="txt-20">
            <a:extLst xmlns:a="http://schemas.openxmlformats.org/drawingml/2006/main">
              <a:ext uri="{FF2B5EF4-FFF2-40B4-BE49-F238E27FC236}">
                <a16:creationId xmlns:a16="http://schemas.microsoft.com/office/drawing/2014/main" id="{D9C6EBFD-E582-4EA4-9BA9-2AEAEBD92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5372100"/>
            <a:ext cx="781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627383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62738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627383"/>
                </a:solidFill>
                <a:latin typeface="Arial Unicode MS"/>
                <a:ea typeface="Arial Unicode MS"/>
                <a:cs typeface="Arial Unicode MS"/>
              </a:rPr>
              <a:t>能提交可审核的精确规则</a:t>
            </a:r>
          </a:p>
        </p:txBody>
      </p:sp>
      <p:sp>
        <p:nvSpPr>
          <p:cNvPr id="22" name="txt-21">
            <a:extLst xmlns:a="http://schemas.openxmlformats.org/drawingml/2006/main">
              <a:ext uri="{FF2B5EF4-FFF2-40B4-BE49-F238E27FC236}">
                <a16:creationId xmlns:a16="http://schemas.microsoft.com/office/drawing/2014/main" id="{63B9E210-AA4C-4F94-B89F-7408370BB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5743575"/>
            <a:ext cx="781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627383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62738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627383"/>
                </a:solidFill>
                <a:latin typeface="Arial Unicode MS"/>
                <a:ea typeface="Arial Unicode MS"/>
                <a:cs typeface="Arial Unicode MS"/>
              </a:rPr>
              <a:t>能用日志与测试证明效果</a:t>
            </a:r>
          </a:p>
        </p:txBody>
      </p:sp>
    </p:spTree>
    <p:extLst>
      <p:ext uri="{BB962C8B-B14F-4D97-AF65-F5344CB8AC3E}">
        <p14:creationId xmlns:p14="http://schemas.microsoft.com/office/powerpoint/2010/main" val="70957217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txt-0">
            <a:extLst xmlns:a="http://schemas.openxmlformats.org/drawingml/2006/main">
              <a:ext uri="{FF2B5EF4-FFF2-40B4-BE49-F238E27FC236}">
                <a16:creationId xmlns:a16="http://schemas.microsoft.com/office/drawing/2014/main" id="{AB280C67-2C48-4184-8623-B7261F625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28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008B87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008B8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1">
                <a:solidFill>
                  <a:srgbClr val="008B87"/>
                </a:solidFill>
                <a:latin typeface="Arial Unicode MS"/>
                <a:ea typeface="Arial Unicode MS"/>
                <a:cs typeface="Arial Unicode MS"/>
              </a:rPr>
              <a:t>课程导入</a:t>
            </a:r>
          </a:p>
        </p:txBody>
      </p:sp>
      <p:sp>
        <p:nvSpPr>
          <p:cNvPr id="2" name="txt-1">
            <a:extLst xmlns:a="http://schemas.openxmlformats.org/drawingml/2006/main">
              <a:ext uri="{FF2B5EF4-FFF2-40B4-BE49-F238E27FC236}">
                <a16:creationId xmlns:a16="http://schemas.microsoft.com/office/drawing/2014/main" id="{A9B5AB14-6178-482D-8F4A-C97E0654D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75" b="1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3075" b="1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75" b="1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rPr>
              <a:t>培训案例的网络与信任域</a:t>
            </a:r>
          </a:p>
        </p:txBody>
      </p:sp>
      <p:sp>
        <p:nvSpPr>
          <p:cNvPr id="3" name="txt-2">
            <a:extLst xmlns:a="http://schemas.openxmlformats.org/drawingml/2006/main">
              <a:ext uri="{FF2B5EF4-FFF2-40B4-BE49-F238E27FC236}">
                <a16:creationId xmlns:a16="http://schemas.microsoft.com/office/drawing/2014/main" id="{ABE24EE7-9AF4-4A87-A9F2-971FB32A3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62075"/>
            <a:ext cx="1097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627383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62738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627383"/>
                </a:solidFill>
                <a:latin typeface="Arial Unicode MS"/>
                <a:ea typeface="Arial Unicode MS"/>
                <a:cs typeface="Arial Unicode MS"/>
              </a:rPr>
              <a:t>订单服务跨 VPC 访问自建数据库</a:t>
            </a:r>
          </a:p>
        </p:txBody>
      </p:sp>
      <p:sp>
        <p:nvSpPr>
          <p:cNvPr id="4" name="txt-3">
            <a:extLst xmlns:a="http://schemas.openxmlformats.org/drawingml/2006/main">
              <a:ext uri="{FF2B5EF4-FFF2-40B4-BE49-F238E27FC236}">
                <a16:creationId xmlns:a16="http://schemas.microsoft.com/office/drawing/2014/main" id="{D1446B3B-E2AE-4B1C-B324-B869ED3FD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00775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627383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62738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27383"/>
                </a:solidFill>
                <a:latin typeface="Arial Unicode MS"/>
                <a:ea typeface="Arial Unicode MS"/>
                <a:cs typeface="Arial Unicode MS"/>
              </a:rPr>
              <a:t>教学地址均为虚构。图中连接表示批准的业务关系，详细 ER 引流见第 11 页</a:t>
            </a:r>
          </a:p>
        </p:txBody>
      </p:sp>
      <p:sp>
        <p:nvSpPr>
          <p:cNvPr id="5" name="txt-4">
            <a:extLst xmlns:a="http://schemas.openxmlformats.org/drawingml/2006/main">
              <a:ext uri="{FF2B5EF4-FFF2-40B4-BE49-F238E27FC236}">
                <a16:creationId xmlns:a16="http://schemas.microsoft.com/office/drawing/2014/main" id="{8DDCCF16-C496-4680-A248-5192E42F1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00800"/>
            <a:ext cx="628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627383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62738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27383"/>
                </a:solidFill>
                <a:latin typeface="Arial Unicode MS"/>
                <a:ea typeface="Arial Unicode MS"/>
                <a:cs typeface="Arial Unicode MS"/>
              </a:rPr>
              <a:t>03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28673B-C8BF-4788-BE06-6F578E92084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efc82f742c34a23"/>
          <a:stretch xmlns:a="http://schemas.openxmlformats.org/drawingml/2006/main"/>
        </p:blipFill>
        <p:spPr>
          <a:xfrm xmlns:a="http://schemas.openxmlformats.org/drawingml/2006/main">
            <a:off x="1174081" y="1895475"/>
            <a:ext cx="6624388" cy="4143375"/>
          </a:xfrm>
          <a:prstGeom xmlns:a="http://schemas.openxmlformats.org/drawingml/2006/main" prst="rect">
            <a:avLst/>
          </a:prstGeom>
        </p:spPr>
      </p:pic>
      <p:sp>
        <p:nvSpPr>
          <p:cNvPr id="7" name="txt-5">
            <a:extLst xmlns:a="http://schemas.openxmlformats.org/drawingml/2006/main">
              <a:ext uri="{FF2B5EF4-FFF2-40B4-BE49-F238E27FC236}">
                <a16:creationId xmlns:a16="http://schemas.microsoft.com/office/drawing/2014/main" id="{69B3F8BB-D53D-400E-9EEB-C8EE9A8D8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2047875"/>
            <a:ext cx="25431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008B87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008B8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1">
                <a:solidFill>
                  <a:srgbClr val="008B87"/>
                </a:solidFill>
                <a:latin typeface="Arial Unicode MS"/>
                <a:ea typeface="Arial Unicode MS"/>
                <a:cs typeface="Arial Unicode MS"/>
              </a:rPr>
              <a:t>应用</a:t>
            </a:r>
          </a:p>
        </p:txBody>
      </p:sp>
      <p:sp>
        <p:nvSpPr>
          <p:cNvPr id="8" name="txt-6">
            <a:extLst xmlns:a="http://schemas.openxmlformats.org/drawingml/2006/main">
              <a:ext uri="{FF2B5EF4-FFF2-40B4-BE49-F238E27FC236}">
                <a16:creationId xmlns:a16="http://schemas.microsoft.com/office/drawing/2014/main" id="{86B09422-4D67-47CF-AF2B-594A73233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2466975"/>
            <a:ext cx="25431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rPr>
              <a:t>10.20.10.15</a:t>
            </a:r>
          </a:p>
          <a:p xmlns:a="http://schemas.openxmlformats.org/drawingml/2006/main">
            <a:pPr algn="l">
              <a:defRPr sz="1800" b="0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rPr>
              <a:t>所在 VPC 10.20.0.0/16</a:t>
            </a:r>
          </a:p>
        </p:txBody>
      </p:sp>
      <p:sp>
        <p:nvSpPr>
          <p:cNvPr id="9" name="txt-7">
            <a:extLst xmlns:a="http://schemas.openxmlformats.org/drawingml/2006/main">
              <a:ext uri="{FF2B5EF4-FFF2-40B4-BE49-F238E27FC236}">
                <a16:creationId xmlns:a16="http://schemas.microsoft.com/office/drawing/2014/main" id="{0AE6B727-06F7-46BA-8EBC-0C20F4A2C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3352800"/>
            <a:ext cx="25431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008B87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008B8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1">
                <a:solidFill>
                  <a:srgbClr val="008B87"/>
                </a:solidFill>
                <a:latin typeface="Arial Unicode MS"/>
                <a:ea typeface="Arial Unicode MS"/>
                <a:cs typeface="Arial Unicode MS"/>
              </a:rPr>
              <a:t>数据</a:t>
            </a:r>
          </a:p>
        </p:txBody>
      </p:sp>
      <p:sp>
        <p:nvSpPr>
          <p:cNvPr id="10" name="txt-8">
            <a:extLst xmlns:a="http://schemas.openxmlformats.org/drawingml/2006/main">
              <a:ext uri="{FF2B5EF4-FFF2-40B4-BE49-F238E27FC236}">
                <a16:creationId xmlns:a16="http://schemas.microsoft.com/office/drawing/2014/main" id="{782159CA-DBD2-45D7-B663-55D2D3F4B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3771900"/>
            <a:ext cx="25431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rPr>
              <a:t>10.30.20.10</a:t>
            </a:r>
          </a:p>
          <a:p xmlns:a="http://schemas.openxmlformats.org/drawingml/2006/main">
            <a:pPr algn="l">
              <a:defRPr sz="1800" b="0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rPr>
              <a:t>仅需 TCP 3306</a:t>
            </a:r>
          </a:p>
        </p:txBody>
      </p:sp>
      <p:sp>
        <p:nvSpPr>
          <p:cNvPr id="11" name="txt-9">
            <a:extLst xmlns:a="http://schemas.openxmlformats.org/drawingml/2006/main">
              <a:ext uri="{FF2B5EF4-FFF2-40B4-BE49-F238E27FC236}">
                <a16:creationId xmlns:a16="http://schemas.microsoft.com/office/drawing/2014/main" id="{E7975BD4-83AD-4837-B97A-BA62F1EDC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4657725"/>
            <a:ext cx="25431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008B87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008B8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1">
                <a:solidFill>
                  <a:srgbClr val="008B87"/>
                </a:solidFill>
                <a:latin typeface="Arial Unicode MS"/>
                <a:ea typeface="Arial Unicode MS"/>
                <a:cs typeface="Arial Unicode MS"/>
              </a:rPr>
              <a:t>运维</a:t>
            </a:r>
          </a:p>
        </p:txBody>
      </p:sp>
      <p:sp>
        <p:nvSpPr>
          <p:cNvPr id="12" name="txt-10">
            <a:extLst xmlns:a="http://schemas.openxmlformats.org/drawingml/2006/main">
              <a:ext uri="{FF2B5EF4-FFF2-40B4-BE49-F238E27FC236}">
                <a16:creationId xmlns:a16="http://schemas.microsoft.com/office/drawing/2014/main" id="{22233538-5C75-419B-B383-78D3CF747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5076825"/>
            <a:ext cx="25431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rPr>
              <a:t>堡垒机发起管理连接</a:t>
            </a:r>
          </a:p>
          <a:p xmlns:a="http://schemas.openxmlformats.org/drawingml/2006/main">
            <a:pPr algn="l">
              <a:defRPr sz="1800" b="0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rPr>
              <a:t>测试环境另行隔离</a:t>
            </a:r>
          </a:p>
        </p:txBody>
      </p:sp>
    </p:spTree>
    <p:extLst>
      <p:ext uri="{BB962C8B-B14F-4D97-AF65-F5344CB8AC3E}">
        <p14:creationId xmlns:p14="http://schemas.microsoft.com/office/powerpoint/2010/main" val="163351302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txt-0">
            <a:extLst xmlns:a="http://schemas.openxmlformats.org/drawingml/2006/main">
              <a:ext uri="{FF2B5EF4-FFF2-40B4-BE49-F238E27FC236}">
                <a16:creationId xmlns:a16="http://schemas.microsoft.com/office/drawing/2014/main" id="{7ACCBAAD-83C7-40DE-B125-CBE791E8E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28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008B87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008B8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1">
                <a:solidFill>
                  <a:srgbClr val="008B87"/>
                </a:solidFill>
                <a:latin typeface="Arial Unicode MS"/>
                <a:ea typeface="Arial Unicode MS"/>
                <a:cs typeface="Arial Unicode MS"/>
              </a:rPr>
              <a:t>01  VPC 网络规范</a:t>
            </a:r>
          </a:p>
        </p:txBody>
      </p:sp>
      <p:sp>
        <p:nvSpPr>
          <p:cNvPr id="2" name="txt-1">
            <a:extLst xmlns:a="http://schemas.openxmlformats.org/drawingml/2006/main">
              <a:ext uri="{FF2B5EF4-FFF2-40B4-BE49-F238E27FC236}">
                <a16:creationId xmlns:a16="http://schemas.microsoft.com/office/drawing/2014/main" id="{7D2BBBB9-7B32-4E61-B52B-FFEB65DA7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75" b="1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3075" b="1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75" b="1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rPr>
              <a:t>VPC、子网与路由表</a:t>
            </a:r>
          </a:p>
        </p:txBody>
      </p:sp>
      <p:sp>
        <p:nvSpPr>
          <p:cNvPr id="3" name="txt-2">
            <a:extLst xmlns:a="http://schemas.openxmlformats.org/drawingml/2006/main">
              <a:ext uri="{FF2B5EF4-FFF2-40B4-BE49-F238E27FC236}">
                <a16:creationId xmlns:a16="http://schemas.microsoft.com/office/drawing/2014/main" id="{9605A60E-199D-4F2C-8EDF-112D30491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62075"/>
            <a:ext cx="1097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627383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62738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627383"/>
                </a:solidFill>
                <a:latin typeface="Arial Unicode MS"/>
                <a:ea typeface="Arial Unicode MS"/>
                <a:cs typeface="Arial Unicode MS"/>
              </a:rPr>
              <a:t>地址范围、部署单元和转发路径分别管理</a:t>
            </a:r>
          </a:p>
        </p:txBody>
      </p:sp>
      <p:sp>
        <p:nvSpPr>
          <p:cNvPr id="4" name="txt-3">
            <a:extLst xmlns:a="http://schemas.openxmlformats.org/drawingml/2006/main">
              <a:ext uri="{FF2B5EF4-FFF2-40B4-BE49-F238E27FC236}">
                <a16:creationId xmlns:a16="http://schemas.microsoft.com/office/drawing/2014/main" id="{8D1B9E76-E82A-4C02-BA9A-4BD1AB27B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00775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627383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62738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27383"/>
                </a:solidFill>
                <a:latin typeface="Arial Unicode MS"/>
                <a:ea typeface="Arial Unicode MS"/>
                <a:cs typeface="Arial Unicode MS"/>
              </a:rPr>
              <a:t>逻辑教学示意，具体配置以实际区域、版本与网络路径为准</a:t>
            </a:r>
          </a:p>
        </p:txBody>
      </p:sp>
      <p:sp>
        <p:nvSpPr>
          <p:cNvPr id="5" name="txt-4">
            <a:extLst xmlns:a="http://schemas.openxmlformats.org/drawingml/2006/main">
              <a:ext uri="{FF2B5EF4-FFF2-40B4-BE49-F238E27FC236}">
                <a16:creationId xmlns:a16="http://schemas.microsoft.com/office/drawing/2014/main" id="{17618C97-A272-43A6-9F6D-5F675A21D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00800"/>
            <a:ext cx="628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627383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62738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27383"/>
                </a:solidFill>
                <a:latin typeface="Arial Unicode MS"/>
                <a:ea typeface="Arial Unicode MS"/>
                <a:cs typeface="Arial Unicode MS"/>
              </a:rPr>
              <a:t>04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55DC6B5-E045-4A4B-83F3-8A2352B1211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1f325a91caf4178"/>
          <a:stretch xmlns:a="http://schemas.openxmlformats.org/drawingml/2006/main"/>
        </p:blipFill>
        <p:spPr>
          <a:xfrm xmlns:a="http://schemas.openxmlformats.org/drawingml/2006/main">
            <a:off x="1174081" y="1895475"/>
            <a:ext cx="6624388" cy="4143375"/>
          </a:xfrm>
          <a:prstGeom xmlns:a="http://schemas.openxmlformats.org/drawingml/2006/main" prst="rect">
            <a:avLst/>
          </a:prstGeom>
        </p:spPr>
      </p:pic>
      <p:sp>
        <p:nvSpPr>
          <p:cNvPr id="7" name="txt-5">
            <a:extLst xmlns:a="http://schemas.openxmlformats.org/drawingml/2006/main">
              <a:ext uri="{FF2B5EF4-FFF2-40B4-BE49-F238E27FC236}">
                <a16:creationId xmlns:a16="http://schemas.microsoft.com/office/drawing/2014/main" id="{456324BA-A43D-48F5-AE3B-DDBD922BE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2047875"/>
            <a:ext cx="25431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008B87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008B8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1">
                <a:solidFill>
                  <a:srgbClr val="008B87"/>
                </a:solidFill>
                <a:latin typeface="Arial Unicode MS"/>
                <a:ea typeface="Arial Unicode MS"/>
                <a:cs typeface="Arial Unicode MS"/>
              </a:rPr>
              <a:t>VPC</a:t>
            </a:r>
          </a:p>
        </p:txBody>
      </p:sp>
      <p:sp>
        <p:nvSpPr>
          <p:cNvPr id="8" name="txt-6">
            <a:extLst xmlns:a="http://schemas.openxmlformats.org/drawingml/2006/main">
              <a:ext uri="{FF2B5EF4-FFF2-40B4-BE49-F238E27FC236}">
                <a16:creationId xmlns:a16="http://schemas.microsoft.com/office/drawing/2014/main" id="{1516F9CB-7375-464C-8212-B92B5A1D5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2466975"/>
            <a:ext cx="25431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rPr>
              <a:t>承载地址空间与逻辑网络边界</a:t>
            </a:r>
          </a:p>
        </p:txBody>
      </p:sp>
      <p:sp>
        <p:nvSpPr>
          <p:cNvPr id="9" name="txt-7">
            <a:extLst xmlns:a="http://schemas.openxmlformats.org/drawingml/2006/main">
              <a:ext uri="{FF2B5EF4-FFF2-40B4-BE49-F238E27FC236}">
                <a16:creationId xmlns:a16="http://schemas.microsoft.com/office/drawing/2014/main" id="{1473E423-6444-4981-A7BA-EFD7EB00C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3352800"/>
            <a:ext cx="25431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008B87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008B8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1">
                <a:solidFill>
                  <a:srgbClr val="008B87"/>
                </a:solidFill>
                <a:latin typeface="Arial Unicode MS"/>
                <a:ea typeface="Arial Unicode MS"/>
                <a:cs typeface="Arial Unicode MS"/>
              </a:rPr>
              <a:t>子网</a:t>
            </a:r>
          </a:p>
        </p:txBody>
      </p:sp>
      <p:sp>
        <p:nvSpPr>
          <p:cNvPr id="10" name="txt-8">
            <a:extLst xmlns:a="http://schemas.openxmlformats.org/drawingml/2006/main">
              <a:ext uri="{FF2B5EF4-FFF2-40B4-BE49-F238E27FC236}">
                <a16:creationId xmlns:a16="http://schemas.microsoft.com/office/drawing/2014/main" id="{D34A5788-1B15-43C1-BABC-71E41A37A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3771900"/>
            <a:ext cx="25431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rPr>
              <a:t>组织业务层与容量</a:t>
            </a:r>
          </a:p>
          <a:p xmlns:a="http://schemas.openxmlformats.org/drawingml/2006/main">
            <a:pPr algn="l">
              <a:defRPr sz="1800" b="0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rPr>
              <a:t>划分后仍需访问控制</a:t>
            </a:r>
          </a:p>
        </p:txBody>
      </p:sp>
      <p:sp>
        <p:nvSpPr>
          <p:cNvPr id="11" name="txt-9">
            <a:extLst xmlns:a="http://schemas.openxmlformats.org/drawingml/2006/main">
              <a:ext uri="{FF2B5EF4-FFF2-40B4-BE49-F238E27FC236}">
                <a16:creationId xmlns:a16="http://schemas.microsoft.com/office/drawing/2014/main" id="{953C529D-FA49-429B-B683-94B397F6D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4657725"/>
            <a:ext cx="25431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008B87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008B8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1">
                <a:solidFill>
                  <a:srgbClr val="008B87"/>
                </a:solidFill>
                <a:latin typeface="Arial Unicode MS"/>
                <a:ea typeface="Arial Unicode MS"/>
                <a:cs typeface="Arial Unicode MS"/>
              </a:rPr>
              <a:t>路由表</a:t>
            </a:r>
          </a:p>
        </p:txBody>
      </p:sp>
      <p:sp>
        <p:nvSpPr>
          <p:cNvPr id="12" name="txt-10">
            <a:extLst xmlns:a="http://schemas.openxmlformats.org/drawingml/2006/main">
              <a:ext uri="{FF2B5EF4-FFF2-40B4-BE49-F238E27FC236}">
                <a16:creationId xmlns:a16="http://schemas.microsoft.com/office/drawing/2014/main" id="{150A4AC6-483F-43D3-A975-CE19C772A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5076825"/>
            <a:ext cx="25431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rPr>
              <a:t>核对子网实际关联</a:t>
            </a:r>
          </a:p>
          <a:p xmlns:a="http://schemas.openxmlformats.org/drawingml/2006/main">
            <a:pPr algn="l">
              <a:defRPr sz="1800" b="0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rPr>
              <a:t>避免修改到未生效的表</a:t>
            </a:r>
          </a:p>
        </p:txBody>
      </p:sp>
    </p:spTree>
    <p:extLst>
      <p:ext uri="{BB962C8B-B14F-4D97-AF65-F5344CB8AC3E}">
        <p14:creationId xmlns:p14="http://schemas.microsoft.com/office/powerpoint/2010/main" val="618178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xt-0">
            <a:extLst xmlns:a="http://schemas.openxmlformats.org/drawingml/2006/main">
              <a:ext uri="{FF2B5EF4-FFF2-40B4-BE49-F238E27FC236}">
                <a16:creationId xmlns:a16="http://schemas.microsoft.com/office/drawing/2014/main" id="{2ADEF9CC-C5D1-41BE-ABC1-AB2F9F17D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28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008B87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008B8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1">
                <a:solidFill>
                  <a:srgbClr val="008B87"/>
                </a:solidFill>
                <a:latin typeface="Arial Unicode MS"/>
                <a:ea typeface="Arial Unicode MS"/>
                <a:cs typeface="Arial Unicode MS"/>
              </a:rPr>
              <a:t>01  VPC 网络规范</a:t>
            </a:r>
          </a:p>
        </p:txBody>
      </p:sp>
      <p:sp>
        <p:nvSpPr>
          <p:cNvPr id="2" name="txt-1">
            <a:extLst xmlns:a="http://schemas.openxmlformats.org/drawingml/2006/main">
              <a:ext uri="{FF2B5EF4-FFF2-40B4-BE49-F238E27FC236}">
                <a16:creationId xmlns:a16="http://schemas.microsoft.com/office/drawing/2014/main" id="{CE0BDDB6-22C4-405F-A8FE-07FCB4263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75" b="1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3075" b="1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75" b="1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rPr>
              <a:t>IP 规划从可用容量与未来互联开始</a:t>
            </a:r>
          </a:p>
        </p:txBody>
      </p:sp>
      <p:sp>
        <p:nvSpPr>
          <p:cNvPr id="3" name="txt-2">
            <a:extLst xmlns:a="http://schemas.openxmlformats.org/drawingml/2006/main">
              <a:ext uri="{FF2B5EF4-FFF2-40B4-BE49-F238E27FC236}">
                <a16:creationId xmlns:a16="http://schemas.microsoft.com/office/drawing/2014/main" id="{0454888C-AC74-44C7-AC82-4496F4665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62075"/>
            <a:ext cx="1097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627383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62738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627383"/>
                </a:solidFill>
                <a:latin typeface="Arial Unicode MS"/>
                <a:ea typeface="Arial Unicode MS"/>
                <a:cs typeface="Arial Unicode MS"/>
              </a:rPr>
              <a:t>地址台账应覆盖生产、测试、IDC、VPN 和后续互联网络</a:t>
            </a:r>
          </a:p>
        </p:txBody>
      </p:sp>
      <p:sp>
        <p:nvSpPr>
          <p:cNvPr id="4" name="txt-3">
            <a:extLst xmlns:a="http://schemas.openxmlformats.org/drawingml/2006/main">
              <a:ext uri="{FF2B5EF4-FFF2-40B4-BE49-F238E27FC236}">
                <a16:creationId xmlns:a16="http://schemas.microsoft.com/office/drawing/2014/main" id="{99D578EE-88AD-41E7-A9F3-404DA273F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00775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627383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62738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27383"/>
                </a:solidFill>
                <a:latin typeface="Arial Unicode MS"/>
                <a:ea typeface="Arial Unicode MS"/>
                <a:cs typeface="Arial Unicode MS"/>
              </a:rPr>
              <a:t>示例地址不代表可直接套用的企业地址池。可分配 IP 数需扣除平台保留地址</a:t>
            </a:r>
          </a:p>
        </p:txBody>
      </p:sp>
      <p:sp>
        <p:nvSpPr>
          <p:cNvPr id="5" name="txt-4">
            <a:extLst xmlns:a="http://schemas.openxmlformats.org/drawingml/2006/main">
              <a:ext uri="{FF2B5EF4-FFF2-40B4-BE49-F238E27FC236}">
                <a16:creationId xmlns:a16="http://schemas.microsoft.com/office/drawing/2014/main" id="{9729FADA-9B01-4FB4-8523-0CB57D5E0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00800"/>
            <a:ext cx="628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627383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62738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27383"/>
                </a:solidFill>
                <a:latin typeface="Arial Unicode MS"/>
                <a:ea typeface="Arial Unicode MS"/>
                <a:cs typeface="Arial Unicode MS"/>
              </a:rPr>
              <a:t>05</a:t>
            </a:r>
          </a:p>
        </p:txBody>
      </p:sp>
      <p:sp>
        <p:nvSpPr>
          <p:cNvPr id="6" name="txt-5">
            <a:extLst xmlns:a="http://schemas.openxmlformats.org/drawingml/2006/main">
              <a:ext uri="{FF2B5EF4-FFF2-40B4-BE49-F238E27FC236}">
                <a16:creationId xmlns:a16="http://schemas.microsoft.com/office/drawing/2014/main" id="{56692E84-60C4-4C91-A44E-D6FDA6214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76450"/>
            <a:ext cx="4953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008B87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008B8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00" b="1">
                <a:solidFill>
                  <a:srgbClr val="008B87"/>
                </a:solidFill>
                <a:latin typeface="Arial Unicode MS"/>
                <a:ea typeface="Arial Unicode MS"/>
                <a:cs typeface="Arial Unicode MS"/>
              </a:rPr>
              <a:t>10.20.0.0/16</a:t>
            </a:r>
          </a:p>
        </p:txBody>
      </p:sp>
      <p:sp>
        <p:nvSpPr>
          <p:cNvPr id="7" name="txt-6">
            <a:extLst xmlns:a="http://schemas.openxmlformats.org/drawingml/2006/main">
              <a:ext uri="{FF2B5EF4-FFF2-40B4-BE49-F238E27FC236}">
                <a16:creationId xmlns:a16="http://schemas.microsoft.com/office/drawing/2014/main" id="{60011987-1CEB-454D-8F79-220F945F7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81300"/>
            <a:ext cx="457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1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rPr>
              <a:t>生产应用地址池</a:t>
            </a:r>
          </a:p>
        </p:txBody>
      </p:sp>
      <p:sp>
        <p:nvSpPr>
          <p:cNvPr id="8" name="txt-7">
            <a:extLst xmlns:a="http://schemas.openxmlformats.org/drawingml/2006/main">
              <a:ext uri="{FF2B5EF4-FFF2-40B4-BE49-F238E27FC236}">
                <a16:creationId xmlns:a16="http://schemas.microsoft.com/office/drawing/2014/main" id="{D9A70CDB-058C-4DF5-8F84-C0FA86FA3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48050"/>
            <a:ext cx="4381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rPr>
              <a:t>台账关联区域、环境、业务、</a:t>
            </a:r>
          </a:p>
          <a:p xmlns:a="http://schemas.openxmlformats.org/drawingml/2006/main">
            <a:pPr algn="l">
              <a:defRPr sz="2025" b="0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rPr>
              <a:t>负责人和工单。</a:t>
            </a:r>
          </a:p>
        </p:txBody>
      </p:sp>
      <p:sp>
        <p:nvSpPr>
          <p:cNvPr id="9" name="txt-8">
            <a:extLst xmlns:a="http://schemas.openxmlformats.org/drawingml/2006/main">
              <a:ext uri="{FF2B5EF4-FFF2-40B4-BE49-F238E27FC236}">
                <a16:creationId xmlns:a16="http://schemas.microsoft.com/office/drawing/2014/main" id="{058B2D43-932E-427F-90E8-0D6C3828C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67275"/>
            <a:ext cx="4572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627383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62738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627383"/>
                </a:solidFill>
                <a:latin typeface="Arial Unicode MS"/>
                <a:ea typeface="Arial Unicode MS"/>
                <a:cs typeface="Arial Unicode MS"/>
              </a:rPr>
              <a:t>规划时先检查未来互联范围，</a:t>
            </a:r>
          </a:p>
          <a:p xmlns:a="http://schemas.openxmlformats.org/drawingml/2006/main">
            <a:pPr algn="l">
              <a:defRPr sz="1875" b="0">
                <a:solidFill>
                  <a:srgbClr val="62738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627383"/>
                </a:solidFill>
                <a:latin typeface="Arial Unicode MS"/>
                <a:ea typeface="Arial Unicode MS"/>
                <a:cs typeface="Arial Unicode MS"/>
              </a:rPr>
              <a:t>再确定子网容量与预留。</a:t>
            </a:r>
          </a:p>
        </p:txBody>
      </p:sp>
      <p:graphicFrame>
        <p:nvGraphicFrame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7B8FB31-B72F-4D0C-88BA-83DD61760D42}"/>
              </a:ext>
            </a:extLst>
          </p:cNvPr>
          <p:cNvGraphicFramePr/>
          <p:nvPr/>
        </p:nvGraphicFramePr>
        <p:xfrm>
          <a:off xmlns:a="http://schemas.openxmlformats.org/drawingml/2006/main" x="5676900" y="2181225"/>
          <a:ext xmlns:a="http://schemas.openxmlformats.org/drawingml/2006/main" cx="5905500" cy="3333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381250"/>
                <a:gridCol w="3524250"/>
              </a:tblGrid>
              <a:tr h="833438"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子网用途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12283F"/>
                      </a:solidFill>
                      <a:prstDash val="solid"/>
                    </a:lnL>
                    <a:lnR w="6350">
                      <a:solidFill>
                        <a:srgbClr val="12283F"/>
                      </a:solidFill>
                      <a:prstDash val="solid"/>
                    </a:lnR>
                    <a:lnT w="6350">
                      <a:solidFill>
                        <a:srgbClr val="12283F"/>
                      </a:solidFill>
                      <a:prstDash val="solid"/>
                    </a:lnT>
                    <a:lnB w="6350">
                      <a:solidFill>
                        <a:srgbClr val="12283F"/>
                      </a:solidFill>
                      <a:prstDash val="solid"/>
                    </a:lnB>
                    <a:solidFill>
                      <a:srgbClr val="12283F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示例网段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12283F"/>
                      </a:solidFill>
                      <a:prstDash val="solid"/>
                    </a:lnL>
                    <a:lnR w="6350">
                      <a:solidFill>
                        <a:srgbClr val="12283F"/>
                      </a:solidFill>
                      <a:prstDash val="solid"/>
                    </a:lnR>
                    <a:lnT w="6350">
                      <a:solidFill>
                        <a:srgbClr val="12283F"/>
                      </a:solidFill>
                      <a:prstDash val="solid"/>
                    </a:lnT>
                    <a:lnB w="6350">
                      <a:solidFill>
                        <a:srgbClr val="12283F"/>
                      </a:solidFill>
                      <a:prstDash val="solid"/>
                    </a:lnB>
                    <a:solidFill>
                      <a:srgbClr val="12283F"/>
                    </a:solidFill>
                  </a:tcPr>
                </a:tc>
              </a:tr>
              <a:tr h="833438"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2283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应用服务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EE6EC"/>
                      </a:solidFill>
                      <a:prstDash val="solid"/>
                    </a:lnL>
                    <a:lnR w="6350">
                      <a:solidFill>
                        <a:srgbClr val="DEE6EC"/>
                      </a:solidFill>
                      <a:prstDash val="solid"/>
                    </a:lnR>
                    <a:lnT w="6350">
                      <a:solidFill>
                        <a:srgbClr val="DEE6EC"/>
                      </a:solidFill>
                      <a:prstDash val="solid"/>
                    </a:lnT>
                    <a:lnB w="6350">
                      <a:solidFill>
                        <a:srgbClr val="DEE6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2283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10.20.10.0/24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EE6EC"/>
                      </a:solidFill>
                      <a:prstDash val="solid"/>
                    </a:lnL>
                    <a:lnR w="6350">
                      <a:solidFill>
                        <a:srgbClr val="DEE6EC"/>
                      </a:solidFill>
                      <a:prstDash val="solid"/>
                    </a:lnR>
                    <a:lnT w="6350">
                      <a:solidFill>
                        <a:srgbClr val="DEE6EC"/>
                      </a:solidFill>
                      <a:prstDash val="solid"/>
                    </a:lnT>
                    <a:lnB w="6350">
                      <a:solidFill>
                        <a:srgbClr val="DEE6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33438"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2283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Web 入口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EE6EC"/>
                      </a:solidFill>
                      <a:prstDash val="solid"/>
                    </a:lnL>
                    <a:lnR w="6350">
                      <a:solidFill>
                        <a:srgbClr val="DEE6EC"/>
                      </a:solidFill>
                      <a:prstDash val="solid"/>
                    </a:lnR>
                    <a:lnT w="6350">
                      <a:solidFill>
                        <a:srgbClr val="DEE6EC"/>
                      </a:solidFill>
                      <a:prstDash val="solid"/>
                    </a:lnT>
                    <a:lnB w="6350">
                      <a:solidFill>
                        <a:srgbClr val="DEE6EC"/>
                      </a:solidFill>
                      <a:prstDash val="solid"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2283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10.20.20.0/24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EE6EC"/>
                      </a:solidFill>
                      <a:prstDash val="solid"/>
                    </a:lnL>
                    <a:lnR w="6350">
                      <a:solidFill>
                        <a:srgbClr val="DEE6EC"/>
                      </a:solidFill>
                      <a:prstDash val="solid"/>
                    </a:lnR>
                    <a:lnT w="6350">
                      <a:solidFill>
                        <a:srgbClr val="DEE6EC"/>
                      </a:solidFill>
                      <a:prstDash val="solid"/>
                    </a:lnT>
                    <a:lnB w="6350">
                      <a:solidFill>
                        <a:srgbClr val="DEE6EC"/>
                      </a:solidFill>
                      <a:prstDash val="solid"/>
                    </a:lnB>
                    <a:solidFill>
                      <a:srgbClr val="EEF3F6"/>
                    </a:solidFill>
                  </a:tcPr>
                </a:tc>
              </a:tr>
              <a:tr h="833438"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2283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后续扩展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EE6EC"/>
                      </a:solidFill>
                      <a:prstDash val="solid"/>
                    </a:lnL>
                    <a:lnR w="6350">
                      <a:solidFill>
                        <a:srgbClr val="DEE6EC"/>
                      </a:solidFill>
                      <a:prstDash val="solid"/>
                    </a:lnR>
                    <a:lnT w="6350">
                      <a:solidFill>
                        <a:srgbClr val="DEE6EC"/>
                      </a:solidFill>
                      <a:prstDash val="solid"/>
                    </a:lnT>
                    <a:lnB w="6350">
                      <a:solidFill>
                        <a:srgbClr val="DEE6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2283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预留未分配范围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EE6EC"/>
                      </a:solidFill>
                      <a:prstDash val="solid"/>
                    </a:lnL>
                    <a:lnR w="6350">
                      <a:solidFill>
                        <a:srgbClr val="DEE6EC"/>
                      </a:solidFill>
                      <a:prstDash val="solid"/>
                    </a:lnR>
                    <a:lnT w="6350">
                      <a:solidFill>
                        <a:srgbClr val="DEE6EC"/>
                      </a:solidFill>
                      <a:prstDash val="solid"/>
                    </a:lnT>
                    <a:lnB w="6350">
                      <a:solidFill>
                        <a:srgbClr val="DEE6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8409973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txt-0">
            <a:extLst xmlns:a="http://schemas.openxmlformats.org/drawingml/2006/main">
              <a:ext uri="{FF2B5EF4-FFF2-40B4-BE49-F238E27FC236}">
                <a16:creationId xmlns:a16="http://schemas.microsoft.com/office/drawing/2014/main" id="{CEBF6306-A623-4424-94C0-55DCA39AE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28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008B87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008B8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1">
                <a:solidFill>
                  <a:srgbClr val="008B87"/>
                </a:solidFill>
                <a:latin typeface="Arial Unicode MS"/>
                <a:ea typeface="Arial Unicode MS"/>
                <a:cs typeface="Arial Unicode MS"/>
              </a:rPr>
              <a:t>01  VPC 网络规范</a:t>
            </a:r>
          </a:p>
        </p:txBody>
      </p:sp>
      <p:sp>
        <p:nvSpPr>
          <p:cNvPr id="2" name="txt-1">
            <a:extLst xmlns:a="http://schemas.openxmlformats.org/drawingml/2006/main">
              <a:ext uri="{FF2B5EF4-FFF2-40B4-BE49-F238E27FC236}">
                <a16:creationId xmlns:a16="http://schemas.microsoft.com/office/drawing/2014/main" id="{02AEA102-E1B3-4062-AA08-9421295F5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75" b="1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3075" b="1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75" b="1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rPr>
              <a:t>一次连接经过多层检查</a:t>
            </a:r>
          </a:p>
        </p:txBody>
      </p:sp>
      <p:sp>
        <p:nvSpPr>
          <p:cNvPr id="3" name="txt-2">
            <a:extLst xmlns:a="http://schemas.openxmlformats.org/drawingml/2006/main">
              <a:ext uri="{FF2B5EF4-FFF2-40B4-BE49-F238E27FC236}">
                <a16:creationId xmlns:a16="http://schemas.microsoft.com/office/drawing/2014/main" id="{AB08A6B6-1098-4780-93B5-C001CA9F9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62075"/>
            <a:ext cx="1097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627383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62738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627383"/>
                </a:solidFill>
                <a:latin typeface="Arial Unicode MS"/>
                <a:ea typeface="Arial Unicode MS"/>
                <a:cs typeface="Arial Unicode MS"/>
              </a:rPr>
              <a:t>CFW 放行只是链路中的一个检查结果</a:t>
            </a:r>
          </a:p>
        </p:txBody>
      </p:sp>
      <p:sp>
        <p:nvSpPr>
          <p:cNvPr id="4" name="txt-3">
            <a:extLst xmlns:a="http://schemas.openxmlformats.org/drawingml/2006/main">
              <a:ext uri="{FF2B5EF4-FFF2-40B4-BE49-F238E27FC236}">
                <a16:creationId xmlns:a16="http://schemas.microsoft.com/office/drawing/2014/main" id="{0DF2B5CC-AE18-4FF8-878B-A927B9189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00775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627383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62738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27383"/>
                </a:solidFill>
                <a:latin typeface="Arial Unicode MS"/>
                <a:ea typeface="Arial Unicode MS"/>
                <a:cs typeface="Arial Unicode MS"/>
              </a:rPr>
              <a:t>简化路径图未逐一展开源端安全组、子网 ACL 与主机防火墙</a:t>
            </a:r>
          </a:p>
        </p:txBody>
      </p:sp>
      <p:sp>
        <p:nvSpPr>
          <p:cNvPr id="5" name="txt-4">
            <a:extLst xmlns:a="http://schemas.openxmlformats.org/drawingml/2006/main">
              <a:ext uri="{FF2B5EF4-FFF2-40B4-BE49-F238E27FC236}">
                <a16:creationId xmlns:a16="http://schemas.microsoft.com/office/drawing/2014/main" id="{4A18FDC5-FF8B-409B-9330-872F53DAD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00800"/>
            <a:ext cx="628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627383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62738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27383"/>
                </a:solidFill>
                <a:latin typeface="Arial Unicode MS"/>
                <a:ea typeface="Arial Unicode MS"/>
                <a:cs typeface="Arial Unicode MS"/>
              </a:rPr>
              <a:t>06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D843E65-93ED-4E4F-97B7-F58DB9EBE2D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c41d36721454c7b"/>
          <a:srcRect xmlns:a="http://schemas.openxmlformats.org/drawingml/2006/main" l="0" t="14000" r="0" b="16000"/>
          <a:stretch xmlns:a="http://schemas.openxmlformats.org/drawingml/2006/main"/>
        </p:blipFill>
        <p:spPr>
          <a:xfrm xmlns:a="http://schemas.openxmlformats.org/drawingml/2006/main">
            <a:off x="381000" y="1895475"/>
            <a:ext cx="8210550" cy="4143375"/>
          </a:xfrm>
          <a:prstGeom xmlns:a="http://schemas.openxmlformats.org/drawingml/2006/main" prst="rect">
            <a:avLst/>
          </a:prstGeom>
        </p:spPr>
      </p:pic>
      <p:sp>
        <p:nvSpPr>
          <p:cNvPr id="7" name="txt-5">
            <a:extLst xmlns:a="http://schemas.openxmlformats.org/drawingml/2006/main">
              <a:ext uri="{FF2B5EF4-FFF2-40B4-BE49-F238E27FC236}">
                <a16:creationId xmlns:a16="http://schemas.microsoft.com/office/drawing/2014/main" id="{3E06E9C8-6F52-4165-BE69-DA93B5281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2047875"/>
            <a:ext cx="25431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008B87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008B8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1">
                <a:solidFill>
                  <a:srgbClr val="008B87"/>
                </a:solidFill>
                <a:latin typeface="Arial Unicode MS"/>
                <a:ea typeface="Arial Unicode MS"/>
                <a:cs typeface="Arial Unicode MS"/>
              </a:rPr>
              <a:t>路径</a:t>
            </a:r>
          </a:p>
        </p:txBody>
      </p:sp>
      <p:sp>
        <p:nvSpPr>
          <p:cNvPr id="8" name="txt-6">
            <a:extLst xmlns:a="http://schemas.openxmlformats.org/drawingml/2006/main">
              <a:ext uri="{FF2B5EF4-FFF2-40B4-BE49-F238E27FC236}">
                <a16:creationId xmlns:a16="http://schemas.microsoft.com/office/drawing/2014/main" id="{93C9F24A-2F30-457C-90CC-907CC6383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2466975"/>
            <a:ext cx="25431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rPr>
              <a:t>去程与回程都需正确</a:t>
            </a:r>
          </a:p>
        </p:txBody>
      </p:sp>
      <p:sp>
        <p:nvSpPr>
          <p:cNvPr id="9" name="txt-7">
            <a:extLst xmlns:a="http://schemas.openxmlformats.org/drawingml/2006/main">
              <a:ext uri="{FF2B5EF4-FFF2-40B4-BE49-F238E27FC236}">
                <a16:creationId xmlns:a16="http://schemas.microsoft.com/office/drawing/2014/main" id="{3ABAD1D7-C176-4FD2-A6FC-4FEA31792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3352800"/>
            <a:ext cx="25431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008B87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008B8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1">
                <a:solidFill>
                  <a:srgbClr val="008B87"/>
                </a:solidFill>
                <a:latin typeface="Arial Unicode MS"/>
                <a:ea typeface="Arial Unicode MS"/>
                <a:cs typeface="Arial Unicode MS"/>
              </a:rPr>
              <a:t>策略</a:t>
            </a:r>
          </a:p>
        </p:txBody>
      </p:sp>
      <p:sp>
        <p:nvSpPr>
          <p:cNvPr id="10" name="txt-8">
            <a:extLst xmlns:a="http://schemas.openxmlformats.org/drawingml/2006/main">
              <a:ext uri="{FF2B5EF4-FFF2-40B4-BE49-F238E27FC236}">
                <a16:creationId xmlns:a16="http://schemas.microsoft.com/office/drawing/2014/main" id="{5E965828-769B-431F-971F-26F116FDA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3771900"/>
            <a:ext cx="25431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rPr>
              <a:t>CFW、安全组与其他控制层共同约束访问</a:t>
            </a:r>
          </a:p>
        </p:txBody>
      </p:sp>
      <p:sp>
        <p:nvSpPr>
          <p:cNvPr id="11" name="txt-9">
            <a:extLst xmlns:a="http://schemas.openxmlformats.org/drawingml/2006/main">
              <a:ext uri="{FF2B5EF4-FFF2-40B4-BE49-F238E27FC236}">
                <a16:creationId xmlns:a16="http://schemas.microsoft.com/office/drawing/2014/main" id="{AD213B9A-88A8-4FB2-B39E-6B38D794C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4657725"/>
            <a:ext cx="25431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008B87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008B8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1">
                <a:solidFill>
                  <a:srgbClr val="008B87"/>
                </a:solidFill>
                <a:latin typeface="Arial Unicode MS"/>
                <a:ea typeface="Arial Unicode MS"/>
                <a:cs typeface="Arial Unicode MS"/>
              </a:rPr>
              <a:t>服务</a:t>
            </a:r>
          </a:p>
        </p:txBody>
      </p:sp>
      <p:sp>
        <p:nvSpPr>
          <p:cNvPr id="12" name="txt-10">
            <a:extLst xmlns:a="http://schemas.openxmlformats.org/drawingml/2006/main">
              <a:ext uri="{FF2B5EF4-FFF2-40B4-BE49-F238E27FC236}">
                <a16:creationId xmlns:a16="http://schemas.microsoft.com/office/drawing/2014/main" id="{E2321B7C-70BF-4676-8339-FF3851FE6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5076825"/>
            <a:ext cx="25431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rPr>
              <a:t>目标端口监听与应用响应仍需单独验证</a:t>
            </a:r>
          </a:p>
        </p:txBody>
      </p:sp>
    </p:spTree>
    <p:extLst>
      <p:ext uri="{BB962C8B-B14F-4D97-AF65-F5344CB8AC3E}">
        <p14:creationId xmlns:p14="http://schemas.microsoft.com/office/powerpoint/2010/main" val="23780692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txt-0">
            <a:extLst xmlns:a="http://schemas.openxmlformats.org/drawingml/2006/main">
              <a:ext uri="{FF2B5EF4-FFF2-40B4-BE49-F238E27FC236}">
                <a16:creationId xmlns:a16="http://schemas.microsoft.com/office/drawing/2014/main" id="{4F172D77-BA55-488D-8331-A68BC0EC2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28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008B87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008B8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1">
                <a:solidFill>
                  <a:srgbClr val="008B87"/>
                </a:solidFill>
                <a:latin typeface="Arial Unicode MS"/>
                <a:ea typeface="Arial Unicode MS"/>
                <a:cs typeface="Arial Unicode MS"/>
              </a:rPr>
              <a:t>01  VPC 网络规范</a:t>
            </a:r>
          </a:p>
        </p:txBody>
      </p:sp>
      <p:sp>
        <p:nvSpPr>
          <p:cNvPr id="2" name="txt-1">
            <a:extLst xmlns:a="http://schemas.openxmlformats.org/drawingml/2006/main">
              <a:ext uri="{FF2B5EF4-FFF2-40B4-BE49-F238E27FC236}">
                <a16:creationId xmlns:a16="http://schemas.microsoft.com/office/drawing/2014/main" id="{9236C645-1782-4982-A13C-3C0044DE8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75" b="1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3075" b="1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75" b="1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rPr>
              <a:t>路由审核需要看实际命中的路径</a:t>
            </a:r>
          </a:p>
        </p:txBody>
      </p:sp>
      <p:sp>
        <p:nvSpPr>
          <p:cNvPr id="3" name="txt-2">
            <a:extLst xmlns:a="http://schemas.openxmlformats.org/drawingml/2006/main">
              <a:ext uri="{FF2B5EF4-FFF2-40B4-BE49-F238E27FC236}">
                <a16:creationId xmlns:a16="http://schemas.microsoft.com/office/drawing/2014/main" id="{F854D3DC-B943-42ED-8DA9-40A734C6C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62075"/>
            <a:ext cx="1097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627383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62738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627383"/>
                </a:solidFill>
                <a:latin typeface="Arial Unicode MS"/>
                <a:ea typeface="Arial Unicode MS"/>
                <a:cs typeface="Arial Unicode MS"/>
              </a:rPr>
              <a:t>同一目标可能存在多条可选路由，资源存在不等于业务使用</a:t>
            </a:r>
          </a:p>
        </p:txBody>
      </p:sp>
      <p:sp>
        <p:nvSpPr>
          <p:cNvPr id="4" name="txt-3">
            <a:extLst xmlns:a="http://schemas.openxmlformats.org/drawingml/2006/main">
              <a:ext uri="{FF2B5EF4-FFF2-40B4-BE49-F238E27FC236}">
                <a16:creationId xmlns:a16="http://schemas.microsoft.com/office/drawing/2014/main" id="{87B7CD47-369F-44AE-9FFF-A554EAA8A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00775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627383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62738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27383"/>
                </a:solidFill>
                <a:latin typeface="Arial Unicode MS"/>
                <a:ea typeface="Arial Unicode MS"/>
                <a:cs typeface="Arial Unicode MS"/>
              </a:rPr>
              <a:t>下表为教学配置。每次变更都需确认子网关联、去回程与更具体路由的影响</a:t>
            </a:r>
          </a:p>
        </p:txBody>
      </p:sp>
      <p:sp>
        <p:nvSpPr>
          <p:cNvPr id="5" name="txt-4">
            <a:extLst xmlns:a="http://schemas.openxmlformats.org/drawingml/2006/main">
              <a:ext uri="{FF2B5EF4-FFF2-40B4-BE49-F238E27FC236}">
                <a16:creationId xmlns:a16="http://schemas.microsoft.com/office/drawing/2014/main" id="{4B469964-0AEF-4753-AEC7-0C47D897C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00800"/>
            <a:ext cx="628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627383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62738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27383"/>
                </a:solidFill>
                <a:latin typeface="Arial Unicode MS"/>
                <a:ea typeface="Arial Unicode MS"/>
                <a:cs typeface="Arial Unicode MS"/>
              </a:rPr>
              <a:t>07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FBFD81E-E7C1-4406-992E-2BCE84C5E280}"/>
              </a:ext>
            </a:extLst>
          </p:cNvPr>
          <p:cNvGraphicFramePr/>
          <p:nvPr/>
        </p:nvGraphicFramePr>
        <p:xfrm>
          <a:off xmlns:a="http://schemas.openxmlformats.org/drawingml/2006/main" x="609600" y="2200275"/>
          <a:ext xmlns:a="http://schemas.openxmlformats.org/drawingml/2006/main" cx="10972800" cy="2333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952750"/>
                <a:gridCol w="2857500"/>
                <a:gridCol w="5162550"/>
              </a:tblGrid>
              <a:tr h="777875"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目的网段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12283F"/>
                      </a:solidFill>
                      <a:prstDash val="solid"/>
                    </a:lnL>
                    <a:lnR w="6350">
                      <a:solidFill>
                        <a:srgbClr val="12283F"/>
                      </a:solidFill>
                      <a:prstDash val="solid"/>
                    </a:lnR>
                    <a:lnT w="6350">
                      <a:solidFill>
                        <a:srgbClr val="12283F"/>
                      </a:solidFill>
                      <a:prstDash val="solid"/>
                    </a:lnT>
                    <a:lnB w="6350">
                      <a:solidFill>
                        <a:srgbClr val="12283F"/>
                      </a:solidFill>
                      <a:prstDash val="solid"/>
                    </a:lnB>
                    <a:solidFill>
                      <a:srgbClr val="12283F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下一跳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12283F"/>
                      </a:solidFill>
                      <a:prstDash val="solid"/>
                    </a:lnL>
                    <a:lnR w="6350">
                      <a:solidFill>
                        <a:srgbClr val="12283F"/>
                      </a:solidFill>
                      <a:prstDash val="solid"/>
                    </a:lnR>
                    <a:lnT w="6350">
                      <a:solidFill>
                        <a:srgbClr val="12283F"/>
                      </a:solidFill>
                      <a:prstDash val="solid"/>
                    </a:lnT>
                    <a:lnB w="6350">
                      <a:solidFill>
                        <a:srgbClr val="12283F"/>
                      </a:solidFill>
                      <a:prstDash val="solid"/>
                    </a:lnB>
                    <a:solidFill>
                      <a:srgbClr val="12283F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审核判断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12283F"/>
                      </a:solidFill>
                      <a:prstDash val="solid"/>
                    </a:lnL>
                    <a:lnR w="6350">
                      <a:solidFill>
                        <a:srgbClr val="12283F"/>
                      </a:solidFill>
                      <a:prstDash val="solid"/>
                    </a:lnR>
                    <a:lnT w="6350">
                      <a:solidFill>
                        <a:srgbClr val="12283F"/>
                      </a:solidFill>
                      <a:prstDash val="solid"/>
                    </a:lnT>
                    <a:lnB w="6350">
                      <a:solidFill>
                        <a:srgbClr val="12283F"/>
                      </a:solidFill>
                      <a:prstDash val="solid"/>
                    </a:lnB>
                    <a:solidFill>
                      <a:srgbClr val="12283F"/>
                    </a:solidFill>
                  </a:tcPr>
                </a:tc>
              </a:tr>
              <a:tr h="777875"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2283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10.30.0.0/16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EE6EC"/>
                      </a:solidFill>
                      <a:prstDash val="solid"/>
                    </a:lnL>
                    <a:lnR w="6350">
                      <a:solidFill>
                        <a:srgbClr val="DEE6EC"/>
                      </a:solidFill>
                      <a:prstDash val="solid"/>
                    </a:lnR>
                    <a:lnT w="6350">
                      <a:solidFill>
                        <a:srgbClr val="DEE6EC"/>
                      </a:solidFill>
                      <a:prstDash val="solid"/>
                    </a:lnT>
                    <a:lnB w="6350">
                      <a:solidFill>
                        <a:srgbClr val="DEE6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2283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ER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EE6EC"/>
                      </a:solidFill>
                      <a:prstDash val="solid"/>
                    </a:lnL>
                    <a:lnR w="6350">
                      <a:solidFill>
                        <a:srgbClr val="DEE6EC"/>
                      </a:solidFill>
                      <a:prstDash val="solid"/>
                    </a:lnR>
                    <a:lnT w="6350">
                      <a:solidFill>
                        <a:srgbClr val="DEE6EC"/>
                      </a:solidFill>
                      <a:prstDash val="solid"/>
                    </a:lnT>
                    <a:lnB w="6350">
                      <a:solidFill>
                        <a:srgbClr val="DEE6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2283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预期跨 VPC 检查路径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EE6EC"/>
                      </a:solidFill>
                      <a:prstDash val="solid"/>
                    </a:lnL>
                    <a:lnR w="6350">
                      <a:solidFill>
                        <a:srgbClr val="DEE6EC"/>
                      </a:solidFill>
                      <a:prstDash val="solid"/>
                    </a:lnR>
                    <a:lnT w="6350">
                      <a:solidFill>
                        <a:srgbClr val="DEE6EC"/>
                      </a:solidFill>
                      <a:prstDash val="solid"/>
                    </a:lnT>
                    <a:lnB w="6350">
                      <a:solidFill>
                        <a:srgbClr val="DEE6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77875"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2283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10.30.20.0/24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EE6EC"/>
                      </a:solidFill>
                      <a:prstDash val="solid"/>
                    </a:lnL>
                    <a:lnR w="6350">
                      <a:solidFill>
                        <a:srgbClr val="DEE6EC"/>
                      </a:solidFill>
                      <a:prstDash val="solid"/>
                    </a:lnR>
                    <a:lnT w="6350">
                      <a:solidFill>
                        <a:srgbClr val="DEE6EC"/>
                      </a:solidFill>
                      <a:prstDash val="solid"/>
                    </a:lnT>
                    <a:lnB w="6350">
                      <a:solidFill>
                        <a:srgbClr val="DEE6EC"/>
                      </a:solidFill>
                      <a:prstDash val="solid"/>
                    </a:lnB>
                    <a:solidFill>
                      <a:srgbClr val="DEF1ED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2283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旧对等连接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EE6EC"/>
                      </a:solidFill>
                      <a:prstDash val="solid"/>
                    </a:lnL>
                    <a:lnR w="6350">
                      <a:solidFill>
                        <a:srgbClr val="DEE6EC"/>
                      </a:solidFill>
                      <a:prstDash val="solid"/>
                    </a:lnR>
                    <a:lnT w="6350">
                      <a:solidFill>
                        <a:srgbClr val="DEE6EC"/>
                      </a:solidFill>
                      <a:prstDash val="solid"/>
                    </a:lnT>
                    <a:lnB w="6350">
                      <a:solidFill>
                        <a:srgbClr val="DEE6EC"/>
                      </a:solidFill>
                      <a:prstDash val="solid"/>
                    </a:lnB>
                    <a:solidFill>
                      <a:srgbClr val="DEF1ED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2283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更具体目标范围可能走旧路径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EE6EC"/>
                      </a:solidFill>
                      <a:prstDash val="solid"/>
                    </a:lnL>
                    <a:lnR w="6350">
                      <a:solidFill>
                        <a:srgbClr val="DEE6EC"/>
                      </a:solidFill>
                      <a:prstDash val="solid"/>
                    </a:lnR>
                    <a:lnT w="6350">
                      <a:solidFill>
                        <a:srgbClr val="DEE6EC"/>
                      </a:solidFill>
                      <a:prstDash val="solid"/>
                    </a:lnT>
                    <a:lnB w="6350">
                      <a:solidFill>
                        <a:srgbClr val="DEE6EC"/>
                      </a:solidFill>
                      <a:prstDash val="solid"/>
                    </a:lnB>
                    <a:solidFill>
                      <a:srgbClr val="DEF1ED"/>
                    </a:solidFill>
                  </a:tcPr>
                </a:tc>
              </a:tr>
            </a:tbl>
          </a:graphicData>
        </a:graphic>
      </p:graphicFrame>
      <p:sp>
        <p:nvSpPr>
          <p:cNvPr id="7" name="txt-5">
            <a:extLst xmlns:a="http://schemas.openxmlformats.org/drawingml/2006/main">
              <a:ext uri="{FF2B5EF4-FFF2-40B4-BE49-F238E27FC236}">
                <a16:creationId xmlns:a16="http://schemas.microsoft.com/office/drawing/2014/main" id="{3B74821B-1F27-4380-B032-35CE7078D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86325"/>
            <a:ext cx="31908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008B87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008B8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1">
                <a:solidFill>
                  <a:srgbClr val="008B87"/>
                </a:solidFill>
                <a:latin typeface="Arial Unicode MS"/>
                <a:ea typeface="Arial Unicode MS"/>
                <a:cs typeface="Arial Unicode MS"/>
              </a:rPr>
              <a:t>01 子网关联</a:t>
            </a:r>
          </a:p>
        </p:txBody>
      </p:sp>
      <p:sp>
        <p:nvSpPr>
          <p:cNvPr id="8" name="txt-6">
            <a:extLst xmlns:a="http://schemas.openxmlformats.org/drawingml/2006/main">
              <a:ext uri="{FF2B5EF4-FFF2-40B4-BE49-F238E27FC236}">
                <a16:creationId xmlns:a16="http://schemas.microsoft.com/office/drawing/2014/main" id="{A2BB18B7-3A67-4A3B-A8B4-9148867C4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05425"/>
            <a:ext cx="31908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rPr>
              <a:t>先确认实际生效的路由表。</a:t>
            </a:r>
          </a:p>
        </p:txBody>
      </p:sp>
      <p:sp>
        <p:nvSpPr>
          <p:cNvPr id="9" name="txt-7">
            <a:extLst xmlns:a="http://schemas.openxmlformats.org/drawingml/2006/main">
              <a:ext uri="{FF2B5EF4-FFF2-40B4-BE49-F238E27FC236}">
                <a16:creationId xmlns:a16="http://schemas.microsoft.com/office/drawing/2014/main" id="{DC855EC6-4953-47B5-AAA5-9F6BC8311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886325"/>
            <a:ext cx="31908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008B87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008B8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1">
                <a:solidFill>
                  <a:srgbClr val="008B87"/>
                </a:solidFill>
                <a:latin typeface="Arial Unicode MS"/>
                <a:ea typeface="Arial Unicode MS"/>
                <a:cs typeface="Arial Unicode MS"/>
              </a:rPr>
              <a:t>02 实际命中</a:t>
            </a:r>
          </a:p>
        </p:txBody>
      </p:sp>
      <p:sp>
        <p:nvSpPr>
          <p:cNvPr id="10" name="txt-8">
            <a:extLst xmlns:a="http://schemas.openxmlformats.org/drawingml/2006/main">
              <a:ext uri="{FF2B5EF4-FFF2-40B4-BE49-F238E27FC236}">
                <a16:creationId xmlns:a16="http://schemas.microsoft.com/office/drawing/2014/main" id="{DB6C3F6F-EE32-4C58-9838-E6673EE4E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5305425"/>
            <a:ext cx="31908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rPr>
              <a:t>按具体目标检查最终下一跳。</a:t>
            </a:r>
          </a:p>
        </p:txBody>
      </p:sp>
      <p:sp>
        <p:nvSpPr>
          <p:cNvPr id="11" name="txt-9">
            <a:extLst xmlns:a="http://schemas.openxmlformats.org/drawingml/2006/main">
              <a:ext uri="{FF2B5EF4-FFF2-40B4-BE49-F238E27FC236}">
                <a16:creationId xmlns:a16="http://schemas.microsoft.com/office/drawing/2014/main" id="{D59870F2-B5B3-46E0-AA53-1A09FDFDB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886325"/>
            <a:ext cx="30861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008B87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008B8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1">
                <a:solidFill>
                  <a:srgbClr val="008B87"/>
                </a:solidFill>
                <a:latin typeface="Arial Unicode MS"/>
                <a:ea typeface="Arial Unicode MS"/>
                <a:cs typeface="Arial Unicode MS"/>
              </a:rPr>
              <a:t>03 双向验证</a:t>
            </a:r>
          </a:p>
        </p:txBody>
      </p:sp>
      <p:sp>
        <p:nvSpPr>
          <p:cNvPr id="12" name="txt-10">
            <a:extLst xmlns:a="http://schemas.openxmlformats.org/drawingml/2006/main">
              <a:ext uri="{FF2B5EF4-FFF2-40B4-BE49-F238E27FC236}">
                <a16:creationId xmlns:a16="http://schemas.microsoft.com/office/drawing/2014/main" id="{7CDA1AE2-0B5F-46EB-9A40-533A954F7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5305425"/>
            <a:ext cx="30861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rPr>
              <a:t>去程、回程与引流同时验收。</a:t>
            </a:r>
          </a:p>
        </p:txBody>
      </p:sp>
    </p:spTree>
    <p:extLst>
      <p:ext uri="{BB962C8B-B14F-4D97-AF65-F5344CB8AC3E}">
        <p14:creationId xmlns:p14="http://schemas.microsoft.com/office/powerpoint/2010/main" val="133711867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txt-0">
            <a:extLst xmlns:a="http://schemas.openxmlformats.org/drawingml/2006/main">
              <a:ext uri="{FF2B5EF4-FFF2-40B4-BE49-F238E27FC236}">
                <a16:creationId xmlns:a16="http://schemas.microsoft.com/office/drawing/2014/main" id="{57BA2479-4268-4E55-A3B8-D93AFD052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28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008B87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008B8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1">
                <a:solidFill>
                  <a:srgbClr val="008B87"/>
                </a:solidFill>
                <a:latin typeface="Arial Unicode MS"/>
                <a:ea typeface="Arial Unicode MS"/>
                <a:cs typeface="Arial Unicode MS"/>
              </a:rPr>
              <a:t>01  VPC 网络规范</a:t>
            </a:r>
          </a:p>
        </p:txBody>
      </p:sp>
      <p:sp>
        <p:nvSpPr>
          <p:cNvPr id="2" name="txt-1">
            <a:extLst xmlns:a="http://schemas.openxmlformats.org/drawingml/2006/main">
              <a:ext uri="{FF2B5EF4-FFF2-40B4-BE49-F238E27FC236}">
                <a16:creationId xmlns:a16="http://schemas.microsoft.com/office/drawing/2014/main" id="{2FCC1FED-8E3E-45A8-B0E4-E6ED37290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75" b="1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3075" b="1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75" b="1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rPr>
              <a:t>运维接入与公网暴露</a:t>
            </a:r>
          </a:p>
        </p:txBody>
      </p:sp>
      <p:sp>
        <p:nvSpPr>
          <p:cNvPr id="3" name="txt-2">
            <a:extLst xmlns:a="http://schemas.openxmlformats.org/drawingml/2006/main">
              <a:ext uri="{FF2B5EF4-FFF2-40B4-BE49-F238E27FC236}">
                <a16:creationId xmlns:a16="http://schemas.microsoft.com/office/drawing/2014/main" id="{DE316DD9-80AC-45DF-B96E-C3FE98C80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62075"/>
            <a:ext cx="1097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627383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62738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627383"/>
                </a:solidFill>
                <a:latin typeface="Arial Unicode MS"/>
                <a:ea typeface="Arial Unicode MS"/>
                <a:cs typeface="Arial Unicode MS"/>
              </a:rPr>
              <a:t>生产管理通道集中接入并保留操作审计</a:t>
            </a:r>
          </a:p>
        </p:txBody>
      </p:sp>
      <p:sp>
        <p:nvSpPr>
          <p:cNvPr id="4" name="txt-3">
            <a:extLst xmlns:a="http://schemas.openxmlformats.org/drawingml/2006/main">
              <a:ext uri="{FF2B5EF4-FFF2-40B4-BE49-F238E27FC236}">
                <a16:creationId xmlns:a16="http://schemas.microsoft.com/office/drawing/2014/main" id="{4C81949E-2260-459A-9FA7-7F16693FC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00775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627383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62738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27383"/>
                </a:solidFill>
                <a:latin typeface="Arial Unicode MS"/>
                <a:ea typeface="Arial Unicode MS"/>
                <a:cs typeface="Arial Unicode MS"/>
              </a:rPr>
              <a:t>图示为建议的组织基线，具体接入方式需结合企业现有架构</a:t>
            </a:r>
          </a:p>
        </p:txBody>
      </p:sp>
      <p:sp>
        <p:nvSpPr>
          <p:cNvPr id="5" name="txt-4">
            <a:extLst xmlns:a="http://schemas.openxmlformats.org/drawingml/2006/main">
              <a:ext uri="{FF2B5EF4-FFF2-40B4-BE49-F238E27FC236}">
                <a16:creationId xmlns:a16="http://schemas.microsoft.com/office/drawing/2014/main" id="{4F304012-D894-4A85-8408-13C4E06EF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00800"/>
            <a:ext cx="628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627383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62738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27383"/>
                </a:solidFill>
                <a:latin typeface="Arial Unicode MS"/>
                <a:ea typeface="Arial Unicode MS"/>
                <a:cs typeface="Arial Unicode MS"/>
              </a:rPr>
              <a:t>08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6DCD1D0-8807-44E3-8678-E77D3151167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0740b0695c44f58"/>
          <a:srcRect xmlns:a="http://schemas.openxmlformats.org/drawingml/2006/main" l="0" t="8000" r="0" b="4000"/>
          <a:stretch xmlns:a="http://schemas.openxmlformats.org/drawingml/2006/main"/>
        </p:blipFill>
        <p:spPr>
          <a:xfrm xmlns:a="http://schemas.openxmlformats.org/drawingml/2006/main">
            <a:off x="381000" y="1895475"/>
            <a:ext cx="8210550" cy="4143375"/>
          </a:xfrm>
          <a:prstGeom xmlns:a="http://schemas.openxmlformats.org/drawingml/2006/main" prst="rect">
            <a:avLst/>
          </a:prstGeom>
        </p:spPr>
      </p:pic>
      <p:sp>
        <p:nvSpPr>
          <p:cNvPr id="7" name="txt-5">
            <a:extLst xmlns:a="http://schemas.openxmlformats.org/drawingml/2006/main">
              <a:ext uri="{FF2B5EF4-FFF2-40B4-BE49-F238E27FC236}">
                <a16:creationId xmlns:a16="http://schemas.microsoft.com/office/drawing/2014/main" id="{BD8C6E98-1BDF-4C4D-94A9-CF065F44F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2047875"/>
            <a:ext cx="25431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008B87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008B8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1">
                <a:solidFill>
                  <a:srgbClr val="008B87"/>
                </a:solidFill>
                <a:latin typeface="Arial Unicode MS"/>
                <a:ea typeface="Arial Unicode MS"/>
                <a:cs typeface="Arial Unicode MS"/>
              </a:rPr>
              <a:t>入口</a:t>
            </a:r>
          </a:p>
        </p:txBody>
      </p:sp>
      <p:sp>
        <p:nvSpPr>
          <p:cNvPr id="8" name="txt-6">
            <a:extLst xmlns:a="http://schemas.openxmlformats.org/drawingml/2006/main">
              <a:ext uri="{FF2B5EF4-FFF2-40B4-BE49-F238E27FC236}">
                <a16:creationId xmlns:a16="http://schemas.microsoft.com/office/drawing/2014/main" id="{8C919B7C-E8E0-41C1-A6CA-BB9116066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2466975"/>
            <a:ext cx="25431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rPr>
              <a:t>通过 VPN 或企业批准</a:t>
            </a:r>
          </a:p>
          <a:p xmlns:a="http://schemas.openxmlformats.org/drawingml/2006/main">
            <a:pPr algn="l">
              <a:defRPr sz="1800" b="0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rPr>
              <a:t>的方式接入</a:t>
            </a:r>
          </a:p>
        </p:txBody>
      </p:sp>
      <p:sp>
        <p:nvSpPr>
          <p:cNvPr id="9" name="txt-7">
            <a:extLst xmlns:a="http://schemas.openxmlformats.org/drawingml/2006/main">
              <a:ext uri="{FF2B5EF4-FFF2-40B4-BE49-F238E27FC236}">
                <a16:creationId xmlns:a16="http://schemas.microsoft.com/office/drawing/2014/main" id="{11F5D702-7589-4F69-86BA-992811D6D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3352800"/>
            <a:ext cx="25431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008B87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008B8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1">
                <a:solidFill>
                  <a:srgbClr val="008B87"/>
                </a:solidFill>
                <a:latin typeface="Arial Unicode MS"/>
                <a:ea typeface="Arial Unicode MS"/>
                <a:cs typeface="Arial Unicode MS"/>
              </a:rPr>
              <a:t>运维</a:t>
            </a:r>
          </a:p>
        </p:txBody>
      </p:sp>
      <p:sp>
        <p:nvSpPr>
          <p:cNvPr id="10" name="txt-8">
            <a:extLst xmlns:a="http://schemas.openxmlformats.org/drawingml/2006/main">
              <a:ext uri="{FF2B5EF4-FFF2-40B4-BE49-F238E27FC236}">
                <a16:creationId xmlns:a16="http://schemas.microsoft.com/office/drawing/2014/main" id="{3FCFCD59-EF15-4750-8AA3-B6CD7F75F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3771900"/>
            <a:ext cx="25431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rPr>
              <a:t>堡垒机控制身份、目标与操作权限</a:t>
            </a:r>
          </a:p>
        </p:txBody>
      </p:sp>
      <p:sp>
        <p:nvSpPr>
          <p:cNvPr id="11" name="txt-9">
            <a:extLst xmlns:a="http://schemas.openxmlformats.org/drawingml/2006/main">
              <a:ext uri="{FF2B5EF4-FFF2-40B4-BE49-F238E27FC236}">
                <a16:creationId xmlns:a16="http://schemas.microsoft.com/office/drawing/2014/main" id="{57C35A9F-5FB6-4388-8A8A-763D22303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4657725"/>
            <a:ext cx="25431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008B87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008B8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1">
                <a:solidFill>
                  <a:srgbClr val="008B87"/>
                </a:solidFill>
                <a:latin typeface="Arial Unicode MS"/>
                <a:ea typeface="Arial Unicode MS"/>
                <a:cs typeface="Arial Unicode MS"/>
              </a:rPr>
              <a:t>暴露面</a:t>
            </a:r>
          </a:p>
        </p:txBody>
      </p:sp>
      <p:sp>
        <p:nvSpPr>
          <p:cNvPr id="12" name="txt-10">
            <a:extLst xmlns:a="http://schemas.openxmlformats.org/drawingml/2006/main">
              <a:ext uri="{FF2B5EF4-FFF2-40B4-BE49-F238E27FC236}">
                <a16:creationId xmlns:a16="http://schemas.microsoft.com/office/drawing/2014/main" id="{456C005C-F541-49ED-83B9-5E7EE0EAF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5076825"/>
            <a:ext cx="25431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rPr>
              <a:t>核对 EIP、NAT、IPv6</a:t>
            </a:r>
          </a:p>
          <a:p xmlns:a="http://schemas.openxmlformats.org/drawingml/2006/main">
            <a:pPr algn="l">
              <a:defRPr sz="1800" b="0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rPr>
              <a:t>逐项验证管理端口</a:t>
            </a:r>
          </a:p>
        </p:txBody>
      </p:sp>
    </p:spTree>
    <p:extLst>
      <p:ext uri="{BB962C8B-B14F-4D97-AF65-F5344CB8AC3E}">
        <p14:creationId xmlns:p14="http://schemas.microsoft.com/office/powerpoint/2010/main" val="116342580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B1C3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xt-0">
            <a:extLst xmlns:a="http://schemas.openxmlformats.org/drawingml/2006/main">
              <a:ext uri="{FF2B5EF4-FFF2-40B4-BE49-F238E27FC236}">
                <a16:creationId xmlns:a16="http://schemas.microsoft.com/office/drawing/2014/main" id="{B9E10441-AD5B-4FFD-8FCC-21494AEAD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28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69D8D0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69D8D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1">
                <a:solidFill>
                  <a:srgbClr val="69D8D0"/>
                </a:solidFill>
                <a:latin typeface="Arial Unicode MS"/>
                <a:ea typeface="Arial Unicode MS"/>
                <a:cs typeface="Arial Unicode MS"/>
              </a:rPr>
              <a:t>01  VPC 网络规范</a:t>
            </a:r>
          </a:p>
        </p:txBody>
      </p:sp>
      <p:sp>
        <p:nvSpPr>
          <p:cNvPr id="2" name="txt-1">
            <a:extLst xmlns:a="http://schemas.openxmlformats.org/drawingml/2006/main">
              <a:ext uri="{FF2B5EF4-FFF2-40B4-BE49-F238E27FC236}">
                <a16:creationId xmlns:a16="http://schemas.microsoft.com/office/drawing/2014/main" id="{2EB829E4-D641-4293-B024-A7884AEFC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7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307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7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VPC 规范的三个检查维度</a:t>
            </a:r>
          </a:p>
        </p:txBody>
      </p:sp>
      <p:sp>
        <p:nvSpPr>
          <p:cNvPr id="3" name="txt-2">
            <a:extLst xmlns:a="http://schemas.openxmlformats.org/drawingml/2006/main">
              <a:ext uri="{FF2B5EF4-FFF2-40B4-BE49-F238E27FC236}">
                <a16:creationId xmlns:a16="http://schemas.microsoft.com/office/drawing/2014/main" id="{3E51AAED-9D1A-4DF8-B98C-BDB824A3A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00775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A6C1C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A6C1C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A6C1CF"/>
                </a:solidFill>
                <a:latin typeface="Arial Unicode MS"/>
                <a:ea typeface="Arial Unicode MS"/>
                <a:cs typeface="Arial Unicode MS"/>
              </a:rPr>
              <a:t>子网名称体现用途，安全策略落实访问边界</a:t>
            </a:r>
          </a:p>
        </p:txBody>
      </p:sp>
      <p:sp>
        <p:nvSpPr>
          <p:cNvPr id="4" name="txt-3">
            <a:extLst xmlns:a="http://schemas.openxmlformats.org/drawingml/2006/main">
              <a:ext uri="{FF2B5EF4-FFF2-40B4-BE49-F238E27FC236}">
                <a16:creationId xmlns:a16="http://schemas.microsoft.com/office/drawing/2014/main" id="{E88671B2-0A84-4305-8F33-86EBEC877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00800"/>
            <a:ext cx="628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93B1C5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93B1C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93B1C5"/>
                </a:solidFill>
                <a:latin typeface="Arial Unicode MS"/>
                <a:ea typeface="Arial Unicode MS"/>
                <a:cs typeface="Arial Unicode MS"/>
              </a:rPr>
              <a:t>09</a:t>
            </a:r>
          </a:p>
        </p:txBody>
      </p:sp>
      <p:sp>
        <p:nvSpPr>
          <p:cNvPr id="5" name="txt-4">
            <a:extLst xmlns:a="http://schemas.openxmlformats.org/drawingml/2006/main">
              <a:ext uri="{FF2B5EF4-FFF2-40B4-BE49-F238E27FC236}">
                <a16:creationId xmlns:a16="http://schemas.microsoft.com/office/drawing/2014/main" id="{B7378377-5541-44F3-9E08-F975076C0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23812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500" b="1">
                <a:solidFill>
                  <a:srgbClr val="69D8D0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4500" b="1">
                <a:solidFill>
                  <a:srgbClr val="69D8D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4500" b="1">
                <a:solidFill>
                  <a:srgbClr val="69D8D0"/>
                </a:solidFill>
                <a:latin typeface="Arial Unicode MS"/>
                <a:ea typeface="Arial Unicode MS"/>
                <a:cs typeface="Arial Unicode MS"/>
              </a:rPr>
              <a:t>地址</a:t>
            </a:r>
          </a:p>
        </p:txBody>
      </p:sp>
      <p:sp>
        <p:nvSpPr>
          <p:cNvPr id="6" name="txt-5">
            <a:extLst xmlns:a="http://schemas.openxmlformats.org/drawingml/2006/main">
              <a:ext uri="{FF2B5EF4-FFF2-40B4-BE49-F238E27FC236}">
                <a16:creationId xmlns:a16="http://schemas.microsoft.com/office/drawing/2014/main" id="{7677EE8C-F77F-421E-BF93-A0E407FB6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228850"/>
            <a:ext cx="7715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2400" b="0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00" b="0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无冲突、有容量、能定位 Owner</a:t>
            </a:r>
          </a:p>
        </p:txBody>
      </p:sp>
      <p:sp>
        <p:nvSpPr>
          <p:cNvPr id="7" name="txt-6">
            <a:extLst xmlns:a="http://schemas.openxmlformats.org/drawingml/2006/main">
              <a:ext uri="{FF2B5EF4-FFF2-40B4-BE49-F238E27FC236}">
                <a16:creationId xmlns:a16="http://schemas.microsoft.com/office/drawing/2014/main" id="{BA62E61E-527F-4862-9E7C-285084EDF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0"/>
            <a:ext cx="23812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500" b="1">
                <a:solidFill>
                  <a:srgbClr val="69D8D0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4500" b="1">
                <a:solidFill>
                  <a:srgbClr val="69D8D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4500" b="1">
                <a:solidFill>
                  <a:srgbClr val="69D8D0"/>
                </a:solidFill>
                <a:latin typeface="Arial Unicode MS"/>
                <a:ea typeface="Arial Unicode MS"/>
                <a:cs typeface="Arial Unicode MS"/>
              </a:rPr>
              <a:t>路径</a:t>
            </a:r>
          </a:p>
        </p:txBody>
      </p:sp>
      <p:sp>
        <p:nvSpPr>
          <p:cNvPr id="8" name="txt-7">
            <a:extLst xmlns:a="http://schemas.openxmlformats.org/drawingml/2006/main">
              <a:ext uri="{FF2B5EF4-FFF2-40B4-BE49-F238E27FC236}">
                <a16:creationId xmlns:a16="http://schemas.microsoft.com/office/drawing/2014/main" id="{9446F87B-10B6-4229-8865-C80C879D4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371850"/>
            <a:ext cx="7715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2400" b="0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00" b="0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去回程明确，能证明实际下一跳</a:t>
            </a:r>
          </a:p>
        </p:txBody>
      </p:sp>
      <p:sp>
        <p:nvSpPr>
          <p:cNvPr id="9" name="txt-8">
            <a:extLst xmlns:a="http://schemas.openxmlformats.org/drawingml/2006/main">
              <a:ext uri="{FF2B5EF4-FFF2-40B4-BE49-F238E27FC236}">
                <a16:creationId xmlns:a16="http://schemas.microsoft.com/office/drawing/2014/main" id="{41A8FF72-B3A4-4F22-9054-F95919049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0"/>
            <a:ext cx="23812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500" b="1">
                <a:solidFill>
                  <a:srgbClr val="69D8D0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4500" b="1">
                <a:solidFill>
                  <a:srgbClr val="69D8D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4500" b="1">
                <a:solidFill>
                  <a:srgbClr val="69D8D0"/>
                </a:solidFill>
                <a:latin typeface="Arial Unicode MS"/>
                <a:ea typeface="Arial Unicode MS"/>
                <a:cs typeface="Arial Unicode MS"/>
              </a:rPr>
              <a:t>边界</a:t>
            </a:r>
          </a:p>
        </p:txBody>
      </p:sp>
      <p:sp>
        <p:nvSpPr>
          <p:cNvPr id="10" name="txt-9">
            <a:extLst xmlns:a="http://schemas.openxmlformats.org/drawingml/2006/main">
              <a:ext uri="{FF2B5EF4-FFF2-40B4-BE49-F238E27FC236}">
                <a16:creationId xmlns:a16="http://schemas.microsoft.com/office/drawing/2014/main" id="{5E7C2834-6532-4460-B115-887EB4397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514850"/>
            <a:ext cx="7715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2400" b="0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00" b="0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只授权业务所需来源与端口</a:t>
            </a:r>
          </a:p>
        </p:txBody>
      </p:sp>
    </p:spTree>
    <p:extLst>
      <p:ext uri="{BB962C8B-B14F-4D97-AF65-F5344CB8AC3E}">
        <p14:creationId xmlns:p14="http://schemas.microsoft.com/office/powerpoint/2010/main" val="73182035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txt-0">
            <a:extLst xmlns:a="http://schemas.openxmlformats.org/drawingml/2006/main">
              <a:ext uri="{FF2B5EF4-FFF2-40B4-BE49-F238E27FC236}">
                <a16:creationId xmlns:a16="http://schemas.microsoft.com/office/drawing/2014/main" id="{CD469377-7291-4745-8966-5661077E2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28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008B87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008B8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1">
                <a:solidFill>
                  <a:srgbClr val="008B87"/>
                </a:solidFill>
                <a:latin typeface="Arial Unicode MS"/>
                <a:ea typeface="Arial Unicode MS"/>
                <a:cs typeface="Arial Unicode MS"/>
              </a:rPr>
              <a:t>02  CFW 使用规范</a:t>
            </a:r>
          </a:p>
        </p:txBody>
      </p:sp>
      <p:sp>
        <p:nvSpPr>
          <p:cNvPr id="2" name="txt-1">
            <a:extLst xmlns:a="http://schemas.openxmlformats.org/drawingml/2006/main">
              <a:ext uri="{FF2B5EF4-FFF2-40B4-BE49-F238E27FC236}">
                <a16:creationId xmlns:a16="http://schemas.microsoft.com/office/drawing/2014/main" id="{0E09FB18-9A06-47AC-989B-3DF9F5C2A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75" b="1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3075" b="1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75" b="1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rPr>
              <a:t>CFW 的检查范围取决于接入边界</a:t>
            </a:r>
          </a:p>
        </p:txBody>
      </p:sp>
      <p:sp>
        <p:nvSpPr>
          <p:cNvPr id="3" name="txt-2">
            <a:extLst xmlns:a="http://schemas.openxmlformats.org/drawingml/2006/main">
              <a:ext uri="{FF2B5EF4-FFF2-40B4-BE49-F238E27FC236}">
                <a16:creationId xmlns:a16="http://schemas.microsoft.com/office/drawing/2014/main" id="{66912B2B-AA54-4C1A-BC38-379C4C345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62075"/>
            <a:ext cx="1097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627383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62738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627383"/>
                </a:solidFill>
                <a:latin typeface="Arial Unicode MS"/>
                <a:ea typeface="Arial Unicode MS"/>
                <a:cs typeface="Arial Unicode MS"/>
              </a:rPr>
              <a:t>南北向与东西向需要分别核验防护覆盖</a:t>
            </a:r>
          </a:p>
        </p:txBody>
      </p:sp>
      <p:sp>
        <p:nvSpPr>
          <p:cNvPr id="4" name="txt-3">
            <a:extLst xmlns:a="http://schemas.openxmlformats.org/drawingml/2006/main">
              <a:ext uri="{FF2B5EF4-FFF2-40B4-BE49-F238E27FC236}">
                <a16:creationId xmlns:a16="http://schemas.microsoft.com/office/drawing/2014/main" id="{AF439ED2-3B7F-48B8-9124-9020DD9A9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00775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627383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62738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27383"/>
                </a:solidFill>
                <a:latin typeface="Arial Unicode MS"/>
                <a:ea typeface="Arial Unicode MS"/>
                <a:cs typeface="Arial Unicode MS"/>
              </a:rPr>
              <a:t>同 VPC 子网间流量不能仅凭购买 CFW 就认定已受检查</a:t>
            </a:r>
          </a:p>
        </p:txBody>
      </p:sp>
      <p:sp>
        <p:nvSpPr>
          <p:cNvPr id="5" name="txt-4">
            <a:extLst xmlns:a="http://schemas.openxmlformats.org/drawingml/2006/main">
              <a:ext uri="{FF2B5EF4-FFF2-40B4-BE49-F238E27FC236}">
                <a16:creationId xmlns:a16="http://schemas.microsoft.com/office/drawing/2014/main" id="{F3F94A00-C97F-4211-AD2E-88DEB690D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00800"/>
            <a:ext cx="628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627383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62738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27383"/>
                </a:solidFill>
                <a:latin typeface="Arial Unicode MS"/>
                <a:ea typeface="Arial Unicode MS"/>
                <a:cs typeface="Arial Unicode MS"/>
              </a:rPr>
              <a:t>10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DACF861-2752-4F0A-B068-BCC1E30956E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0e3c6d94694416f"/>
          <a:stretch xmlns:a="http://schemas.openxmlformats.org/drawingml/2006/main"/>
        </p:blipFill>
        <p:spPr>
          <a:xfrm xmlns:a="http://schemas.openxmlformats.org/drawingml/2006/main">
            <a:off x="1174081" y="1895475"/>
            <a:ext cx="6624388" cy="4143375"/>
          </a:xfrm>
          <a:prstGeom xmlns:a="http://schemas.openxmlformats.org/drawingml/2006/main" prst="rect">
            <a:avLst/>
          </a:prstGeom>
        </p:spPr>
      </p:pic>
      <p:sp>
        <p:nvSpPr>
          <p:cNvPr id="7" name="txt-5">
            <a:extLst xmlns:a="http://schemas.openxmlformats.org/drawingml/2006/main">
              <a:ext uri="{FF2B5EF4-FFF2-40B4-BE49-F238E27FC236}">
                <a16:creationId xmlns:a16="http://schemas.microsoft.com/office/drawing/2014/main" id="{E4903898-6838-479D-A8BF-745825B93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2047875"/>
            <a:ext cx="25431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008B87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008B8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1">
                <a:solidFill>
                  <a:srgbClr val="008B87"/>
                </a:solidFill>
                <a:latin typeface="Arial Unicode MS"/>
                <a:ea typeface="Arial Unicode MS"/>
                <a:cs typeface="Arial Unicode MS"/>
              </a:rPr>
              <a:t>互联网</a:t>
            </a:r>
          </a:p>
        </p:txBody>
      </p:sp>
      <p:sp>
        <p:nvSpPr>
          <p:cNvPr id="8" name="txt-6">
            <a:extLst xmlns:a="http://schemas.openxmlformats.org/drawingml/2006/main">
              <a:ext uri="{FF2B5EF4-FFF2-40B4-BE49-F238E27FC236}">
                <a16:creationId xmlns:a16="http://schemas.microsoft.com/office/drawing/2014/main" id="{13C9C9B7-BCB7-40D8-9A71-4C5C8177C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2466975"/>
            <a:ext cx="25431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rPr>
              <a:t>检查已纳管 EIP 等互联网边界对象</a:t>
            </a:r>
          </a:p>
        </p:txBody>
      </p:sp>
      <p:sp>
        <p:nvSpPr>
          <p:cNvPr id="9" name="txt-7">
            <a:extLst xmlns:a="http://schemas.openxmlformats.org/drawingml/2006/main">
              <a:ext uri="{FF2B5EF4-FFF2-40B4-BE49-F238E27FC236}">
                <a16:creationId xmlns:a16="http://schemas.microsoft.com/office/drawing/2014/main" id="{83A72096-C744-4E7F-937E-A7B6C7F13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3352800"/>
            <a:ext cx="25431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008B87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008B8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1">
                <a:solidFill>
                  <a:srgbClr val="008B87"/>
                </a:solidFill>
                <a:latin typeface="Arial Unicode MS"/>
                <a:ea typeface="Arial Unicode MS"/>
                <a:cs typeface="Arial Unicode MS"/>
              </a:rPr>
              <a:t>VPC / IDC</a:t>
            </a:r>
          </a:p>
        </p:txBody>
      </p:sp>
      <p:sp>
        <p:nvSpPr>
          <p:cNvPr id="10" name="txt-8">
            <a:extLst xmlns:a="http://schemas.openxmlformats.org/drawingml/2006/main">
              <a:ext uri="{FF2B5EF4-FFF2-40B4-BE49-F238E27FC236}">
                <a16:creationId xmlns:a16="http://schemas.microsoft.com/office/drawing/2014/main" id="{83666F68-8326-4765-96C4-8F04DB195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3771900"/>
            <a:ext cx="25431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rPr>
              <a:t>需专业版能力</a:t>
            </a:r>
          </a:p>
          <a:p xmlns:a="http://schemas.openxmlformats.org/drawingml/2006/main">
            <a:pPr algn="l">
              <a:defRPr sz="1800" b="0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rPr>
              <a:t>通过 ER 引流接入</a:t>
            </a:r>
          </a:p>
        </p:txBody>
      </p:sp>
      <p:sp>
        <p:nvSpPr>
          <p:cNvPr id="11" name="txt-9">
            <a:extLst xmlns:a="http://schemas.openxmlformats.org/drawingml/2006/main">
              <a:ext uri="{FF2B5EF4-FFF2-40B4-BE49-F238E27FC236}">
                <a16:creationId xmlns:a16="http://schemas.microsoft.com/office/drawing/2014/main" id="{89C6C09C-D8A9-4B15-B4CD-9E2090E24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4657725"/>
            <a:ext cx="25431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008B87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008B8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1">
                <a:solidFill>
                  <a:srgbClr val="008B87"/>
                </a:solidFill>
                <a:latin typeface="Arial Unicode MS"/>
                <a:ea typeface="Arial Unicode MS"/>
                <a:cs typeface="Arial Unicode MS"/>
              </a:rPr>
              <a:t>NAT</a:t>
            </a:r>
          </a:p>
        </p:txBody>
      </p:sp>
      <p:sp>
        <p:nvSpPr>
          <p:cNvPr id="12" name="txt-10">
            <a:extLst xmlns:a="http://schemas.openxmlformats.org/drawingml/2006/main">
              <a:ext uri="{FF2B5EF4-FFF2-40B4-BE49-F238E27FC236}">
                <a16:creationId xmlns:a16="http://schemas.microsoft.com/office/drawing/2014/main" id="{78447AED-3F28-4C50-B393-50A747204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5076825"/>
            <a:ext cx="25431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rPr>
              <a:t>按出口方式启用防护</a:t>
            </a:r>
          </a:p>
          <a:p xmlns:a="http://schemas.openxmlformats.org/drawingml/2006/main">
            <a:pPr algn="l">
              <a:defRPr sz="1800" b="0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rPr>
              <a:t>核对检查点地址</a:t>
            </a:r>
          </a:p>
        </p:txBody>
      </p:sp>
    </p:spTree>
    <p:extLst>
      <p:ext uri="{BB962C8B-B14F-4D97-AF65-F5344CB8AC3E}">
        <p14:creationId xmlns:p14="http://schemas.microsoft.com/office/powerpoint/2010/main" val="187372774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txt-0">
            <a:extLst xmlns:a="http://schemas.openxmlformats.org/drawingml/2006/main">
              <a:ext uri="{FF2B5EF4-FFF2-40B4-BE49-F238E27FC236}">
                <a16:creationId xmlns:a16="http://schemas.microsoft.com/office/drawing/2014/main" id="{E7801C23-3C8F-483B-9269-FFFD76FFB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28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008B87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008B8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1">
                <a:solidFill>
                  <a:srgbClr val="008B87"/>
                </a:solidFill>
                <a:latin typeface="Arial Unicode MS"/>
                <a:ea typeface="Arial Unicode MS"/>
                <a:cs typeface="Arial Unicode MS"/>
              </a:rPr>
              <a:t>02  CFW 使用规范</a:t>
            </a:r>
          </a:p>
        </p:txBody>
      </p:sp>
      <p:sp>
        <p:nvSpPr>
          <p:cNvPr id="2" name="txt-1">
            <a:extLst xmlns:a="http://schemas.openxmlformats.org/drawingml/2006/main">
              <a:ext uri="{FF2B5EF4-FFF2-40B4-BE49-F238E27FC236}">
                <a16:creationId xmlns:a16="http://schemas.microsoft.com/office/drawing/2014/main" id="{3540DA52-E499-4E6C-9539-5F9B483F3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75" b="1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3075" b="1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75" b="1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rPr>
              <a:t>ER 两张路由表分别承担送检与转发</a:t>
            </a:r>
          </a:p>
        </p:txBody>
      </p:sp>
      <p:sp>
        <p:nvSpPr>
          <p:cNvPr id="3" name="txt-2">
            <a:extLst xmlns:a="http://schemas.openxmlformats.org/drawingml/2006/main">
              <a:ext uri="{FF2B5EF4-FFF2-40B4-BE49-F238E27FC236}">
                <a16:creationId xmlns:a16="http://schemas.microsoft.com/office/drawing/2014/main" id="{0CE0124C-D14A-4CA8-BDFC-95CEBCFF8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62075"/>
            <a:ext cx="1097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627383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62738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627383"/>
                </a:solidFill>
                <a:latin typeface="Arial Unicode MS"/>
                <a:ea typeface="Arial Unicode MS"/>
                <a:cs typeface="Arial Unicode MS"/>
              </a:rPr>
              <a:t>图示来自华为云新版 ER 引流官方文档</a:t>
            </a:r>
          </a:p>
        </p:txBody>
      </p:sp>
      <p:sp>
        <p:nvSpPr>
          <p:cNvPr id="4" name="txt-3">
            <a:extLst xmlns:a="http://schemas.openxmlformats.org/drawingml/2006/main">
              <a:ext uri="{FF2B5EF4-FFF2-40B4-BE49-F238E27FC236}">
                <a16:creationId xmlns:a16="http://schemas.microsoft.com/office/drawing/2014/main" id="{0AB52310-D40C-40A6-B5D5-A1C66A77A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00775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627383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62738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27383"/>
                </a:solidFill>
                <a:latin typeface="Arial Unicode MS"/>
                <a:ea typeface="Arial Unicode MS"/>
                <a:cs typeface="Arial Unicode MS"/>
              </a:rPr>
              <a:t>官方图中的“去程/回程”表示进入和离开检查路径，业务响应也需按设计检查</a:t>
            </a:r>
          </a:p>
        </p:txBody>
      </p:sp>
      <p:sp>
        <p:nvSpPr>
          <p:cNvPr id="5" name="txt-4">
            <a:extLst xmlns:a="http://schemas.openxmlformats.org/drawingml/2006/main">
              <a:ext uri="{FF2B5EF4-FFF2-40B4-BE49-F238E27FC236}">
                <a16:creationId xmlns:a16="http://schemas.microsoft.com/office/drawing/2014/main" id="{9F057539-8B8A-4C35-BFB4-BED48E218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00800"/>
            <a:ext cx="628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627383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62738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27383"/>
                </a:solidFill>
                <a:latin typeface="Arial Unicode MS"/>
                <a:ea typeface="Arial Unicode MS"/>
                <a:cs typeface="Arial Unicode MS"/>
              </a:rPr>
              <a:t>11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D36A0CB-BD7D-4C4F-8103-468F0A55FAD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80e3f8889174204"/>
          <a:stretch xmlns:a="http://schemas.openxmlformats.org/drawingml/2006/main"/>
        </p:blipFill>
        <p:spPr>
          <a:xfrm xmlns:a="http://schemas.openxmlformats.org/drawingml/2006/main">
            <a:off x="648088" y="1895475"/>
            <a:ext cx="7676374" cy="4143375"/>
          </a:xfrm>
          <a:prstGeom xmlns:a="http://schemas.openxmlformats.org/drawingml/2006/main" prst="rect">
            <a:avLst/>
          </a:prstGeom>
        </p:spPr>
      </p:pic>
      <p:sp>
        <p:nvSpPr>
          <p:cNvPr id="7" name="txt-5">
            <a:extLst xmlns:a="http://schemas.openxmlformats.org/drawingml/2006/main">
              <a:ext uri="{FF2B5EF4-FFF2-40B4-BE49-F238E27FC236}">
                <a16:creationId xmlns:a16="http://schemas.microsoft.com/office/drawing/2014/main" id="{02E2057F-CECB-45A1-818B-B076E2573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2047875"/>
            <a:ext cx="25431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008B87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008B8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1">
                <a:solidFill>
                  <a:srgbClr val="008B87"/>
                </a:solidFill>
                <a:latin typeface="Arial Unicode MS"/>
                <a:ea typeface="Arial Unicode MS"/>
                <a:cs typeface="Arial Unicode MS"/>
              </a:rPr>
              <a:t>er-RT1</a:t>
            </a:r>
          </a:p>
        </p:txBody>
      </p:sp>
      <p:sp>
        <p:nvSpPr>
          <p:cNvPr id="8" name="txt-6">
            <a:extLst xmlns:a="http://schemas.openxmlformats.org/drawingml/2006/main">
              <a:ext uri="{FF2B5EF4-FFF2-40B4-BE49-F238E27FC236}">
                <a16:creationId xmlns:a16="http://schemas.microsoft.com/office/drawing/2014/main" id="{80080262-7209-4620-912B-DB106907F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2466975"/>
            <a:ext cx="25431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rPr>
              <a:t>关联业务 VPC 连接</a:t>
            </a:r>
          </a:p>
          <a:p xmlns:a="http://schemas.openxmlformats.org/drawingml/2006/main">
            <a:pPr algn="l">
              <a:defRPr sz="1800" b="0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rPr>
              <a:t>把待检流量送入 CFW</a:t>
            </a:r>
          </a:p>
        </p:txBody>
      </p:sp>
      <p:sp>
        <p:nvSpPr>
          <p:cNvPr id="9" name="txt-7">
            <a:extLst xmlns:a="http://schemas.openxmlformats.org/drawingml/2006/main">
              <a:ext uri="{FF2B5EF4-FFF2-40B4-BE49-F238E27FC236}">
                <a16:creationId xmlns:a16="http://schemas.microsoft.com/office/drawing/2014/main" id="{FCA0BCC2-8786-45F9-B31E-2EFE67581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3352800"/>
            <a:ext cx="25431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008B87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008B8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1">
                <a:solidFill>
                  <a:srgbClr val="008B87"/>
                </a:solidFill>
                <a:latin typeface="Arial Unicode MS"/>
                <a:ea typeface="Arial Unicode MS"/>
                <a:cs typeface="Arial Unicode MS"/>
              </a:rPr>
              <a:t>er-RT2</a:t>
            </a:r>
          </a:p>
        </p:txBody>
      </p:sp>
      <p:sp>
        <p:nvSpPr>
          <p:cNvPr id="10" name="txt-8">
            <a:extLst xmlns:a="http://schemas.openxmlformats.org/drawingml/2006/main">
              <a:ext uri="{FF2B5EF4-FFF2-40B4-BE49-F238E27FC236}">
                <a16:creationId xmlns:a16="http://schemas.microsoft.com/office/drawing/2014/main" id="{8BF4A925-4D1C-44CD-96AB-9ED84247B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3771900"/>
            <a:ext cx="25431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rPr>
              <a:t>关联 CFW 连接</a:t>
            </a:r>
          </a:p>
          <a:p xmlns:a="http://schemas.openxmlformats.org/drawingml/2006/main">
            <a:pPr algn="l">
              <a:defRPr sz="1800" b="0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rPr>
              <a:t>学习并转发至业务 VPC</a:t>
            </a:r>
          </a:p>
        </p:txBody>
      </p:sp>
      <p:sp>
        <p:nvSpPr>
          <p:cNvPr id="11" name="txt-9">
            <a:extLst xmlns:a="http://schemas.openxmlformats.org/drawingml/2006/main">
              <a:ext uri="{FF2B5EF4-FFF2-40B4-BE49-F238E27FC236}">
                <a16:creationId xmlns:a16="http://schemas.microsoft.com/office/drawing/2014/main" id="{4125F840-58DB-4281-8966-6442EF70C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4657725"/>
            <a:ext cx="25431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008B87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008B8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1">
                <a:solidFill>
                  <a:srgbClr val="008B87"/>
                </a:solidFill>
                <a:latin typeface="Arial Unicode MS"/>
                <a:ea typeface="Arial Unicode MS"/>
                <a:cs typeface="Arial Unicode MS"/>
              </a:rPr>
              <a:t>验收</a:t>
            </a:r>
          </a:p>
        </p:txBody>
      </p:sp>
      <p:sp>
        <p:nvSpPr>
          <p:cNvPr id="12" name="txt-10">
            <a:extLst xmlns:a="http://schemas.openxmlformats.org/drawingml/2006/main">
              <a:ext uri="{FF2B5EF4-FFF2-40B4-BE49-F238E27FC236}">
                <a16:creationId xmlns:a16="http://schemas.microsoft.com/office/drawing/2014/main" id="{2311CF83-3D46-4A36-ACF5-F49D3FBED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5076825"/>
            <a:ext cx="25431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rPr>
              <a:t>业务可达、流量送检</a:t>
            </a:r>
          </a:p>
          <a:p xmlns:a="http://schemas.openxmlformats.org/drawingml/2006/main">
            <a:pPr algn="l">
              <a:defRPr sz="1800" b="0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rPr>
              <a:t>两项分别验证</a:t>
            </a:r>
          </a:p>
        </p:txBody>
      </p:sp>
    </p:spTree>
    <p:extLst>
      <p:ext uri="{BB962C8B-B14F-4D97-AF65-F5344CB8AC3E}">
        <p14:creationId xmlns:p14="http://schemas.microsoft.com/office/powerpoint/2010/main" val="169912019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xt-0">
            <a:extLst xmlns:a="http://schemas.openxmlformats.org/drawingml/2006/main">
              <a:ext uri="{FF2B5EF4-FFF2-40B4-BE49-F238E27FC236}">
                <a16:creationId xmlns:a16="http://schemas.microsoft.com/office/drawing/2014/main" id="{D4A0C6B5-3883-452C-ADCB-C4363FED4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28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008B87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008B8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1">
                <a:solidFill>
                  <a:srgbClr val="008B87"/>
                </a:solidFill>
                <a:latin typeface="Arial Unicode MS"/>
                <a:ea typeface="Arial Unicode MS"/>
                <a:cs typeface="Arial Unicode MS"/>
              </a:rPr>
              <a:t>02  CFW 使用规范</a:t>
            </a:r>
          </a:p>
        </p:txBody>
      </p:sp>
      <p:sp>
        <p:nvSpPr>
          <p:cNvPr id="2" name="txt-1">
            <a:extLst xmlns:a="http://schemas.openxmlformats.org/drawingml/2006/main">
              <a:ext uri="{FF2B5EF4-FFF2-40B4-BE49-F238E27FC236}">
                <a16:creationId xmlns:a16="http://schemas.microsoft.com/office/drawing/2014/main" id="{007B58B4-7884-4242-8FCF-77877B975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75" b="1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3075" b="1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75" b="1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rPr>
              <a:t>接入验收需要覆盖四组配置</a:t>
            </a:r>
          </a:p>
        </p:txBody>
      </p:sp>
      <p:sp>
        <p:nvSpPr>
          <p:cNvPr id="3" name="txt-2">
            <a:extLst xmlns:a="http://schemas.openxmlformats.org/drawingml/2006/main">
              <a:ext uri="{FF2B5EF4-FFF2-40B4-BE49-F238E27FC236}">
                <a16:creationId xmlns:a16="http://schemas.microsoft.com/office/drawing/2014/main" id="{926FC2EB-FA18-47E0-9372-BDBEB0BFC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62075"/>
            <a:ext cx="1097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627383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62738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627383"/>
                </a:solidFill>
                <a:latin typeface="Arial Unicode MS"/>
                <a:ea typeface="Arial Unicode MS"/>
                <a:cs typeface="Arial Unicode MS"/>
              </a:rPr>
              <a:t>新增 VPC 后，连接、关联、传播与 VPC 路由需要一并检查</a:t>
            </a:r>
          </a:p>
        </p:txBody>
      </p:sp>
      <p:sp>
        <p:nvSpPr>
          <p:cNvPr id="4" name="txt-3">
            <a:extLst xmlns:a="http://schemas.openxmlformats.org/drawingml/2006/main">
              <a:ext uri="{FF2B5EF4-FFF2-40B4-BE49-F238E27FC236}">
                <a16:creationId xmlns:a16="http://schemas.microsoft.com/office/drawing/2014/main" id="{6FC99242-7891-45B3-A408-4A7C4FD94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00775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627383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62738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27383"/>
                </a:solidFill>
                <a:latin typeface="Arial Unicode MS"/>
                <a:ea typeface="Arial Unicode MS"/>
                <a:cs typeface="Arial Unicode MS"/>
              </a:rPr>
              <a:t>先确认旧业务基线与回滚前态。VPC 边界新接入流量默认放行，需另行落实访问策略</a:t>
            </a:r>
          </a:p>
        </p:txBody>
      </p:sp>
      <p:sp>
        <p:nvSpPr>
          <p:cNvPr id="5" name="txt-4">
            <a:extLst xmlns:a="http://schemas.openxmlformats.org/drawingml/2006/main">
              <a:ext uri="{FF2B5EF4-FFF2-40B4-BE49-F238E27FC236}">
                <a16:creationId xmlns:a16="http://schemas.microsoft.com/office/drawing/2014/main" id="{3DD8C0A5-6BC0-44BD-86D6-A3D53A5B6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00800"/>
            <a:ext cx="628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627383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62738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27383"/>
                </a:solidFill>
                <a:latin typeface="Arial Unicode MS"/>
                <a:ea typeface="Arial Unicode MS"/>
                <a:cs typeface="Arial Unicode MS"/>
              </a:rPr>
              <a:t>12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C0C5C23-56EF-463F-B0EF-43A251A20E01}"/>
              </a:ext>
            </a:extLst>
          </p:cNvPr>
          <p:cNvGraphicFramePr/>
          <p:nvPr/>
        </p:nvGraphicFramePr>
        <p:xfrm>
          <a:off xmlns:a="http://schemas.openxmlformats.org/drawingml/2006/main" x="609600" y="2247900"/>
          <a:ext xmlns:a="http://schemas.openxmlformats.org/drawingml/2006/main" cx="10972800" cy="36576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381250"/>
                <a:gridCol w="4476750"/>
                <a:gridCol w="3962400"/>
              </a:tblGrid>
              <a:tr h="731520"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配置对象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12283F"/>
                      </a:solidFill>
                      <a:prstDash val="solid"/>
                    </a:lnL>
                    <a:lnR w="6350">
                      <a:solidFill>
                        <a:srgbClr val="12283F"/>
                      </a:solidFill>
                      <a:prstDash val="solid"/>
                    </a:lnR>
                    <a:lnT w="6350">
                      <a:solidFill>
                        <a:srgbClr val="12283F"/>
                      </a:solidFill>
                      <a:prstDash val="solid"/>
                    </a:lnT>
                    <a:lnB w="6350">
                      <a:solidFill>
                        <a:srgbClr val="12283F"/>
                      </a:solidFill>
                      <a:prstDash val="solid"/>
                    </a:lnB>
                    <a:solidFill>
                      <a:srgbClr val="12283F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核验项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12283F"/>
                      </a:solidFill>
                      <a:prstDash val="solid"/>
                    </a:lnL>
                    <a:lnR w="6350">
                      <a:solidFill>
                        <a:srgbClr val="12283F"/>
                      </a:solidFill>
                      <a:prstDash val="solid"/>
                    </a:lnR>
                    <a:lnT w="6350">
                      <a:solidFill>
                        <a:srgbClr val="12283F"/>
                      </a:solidFill>
                      <a:prstDash val="solid"/>
                    </a:lnT>
                    <a:lnB w="6350">
                      <a:solidFill>
                        <a:srgbClr val="12283F"/>
                      </a:solidFill>
                      <a:prstDash val="solid"/>
                    </a:lnB>
                    <a:solidFill>
                      <a:srgbClr val="12283F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失败时的典型表现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12283F"/>
                      </a:solidFill>
                      <a:prstDash val="solid"/>
                    </a:lnL>
                    <a:lnR w="6350">
                      <a:solidFill>
                        <a:srgbClr val="12283F"/>
                      </a:solidFill>
                      <a:prstDash val="solid"/>
                    </a:lnR>
                    <a:lnT w="6350">
                      <a:solidFill>
                        <a:srgbClr val="12283F"/>
                      </a:solidFill>
                      <a:prstDash val="solid"/>
                    </a:lnT>
                    <a:lnB w="6350">
                      <a:solidFill>
                        <a:srgbClr val="12283F"/>
                      </a:solidFill>
                      <a:prstDash val="solid"/>
                    </a:lnB>
                    <a:solidFill>
                      <a:srgbClr val="12283F"/>
                    </a:solidFill>
                  </a:tcPr>
                </a:tc>
              </a:tr>
              <a:tr h="731520"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2283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VPC 与 ER 连接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EE6EC"/>
                      </a:solidFill>
                      <a:prstDash val="solid"/>
                    </a:lnL>
                    <a:lnR w="6350">
                      <a:solidFill>
                        <a:srgbClr val="DEE6EC"/>
                      </a:solidFill>
                      <a:prstDash val="solid"/>
                    </a:lnR>
                    <a:lnT w="6350">
                      <a:solidFill>
                        <a:srgbClr val="DEE6EC"/>
                      </a:solidFill>
                      <a:prstDash val="solid"/>
                    </a:lnT>
                    <a:lnB w="6350">
                      <a:solidFill>
                        <a:srgbClr val="DEE6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2283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两侧 VPC 均有正确连接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EE6EC"/>
                      </a:solidFill>
                      <a:prstDash val="solid"/>
                    </a:lnL>
                    <a:lnR w="6350">
                      <a:solidFill>
                        <a:srgbClr val="DEE6EC"/>
                      </a:solidFill>
                      <a:prstDash val="solid"/>
                    </a:lnR>
                    <a:lnT w="6350">
                      <a:solidFill>
                        <a:srgbClr val="DEE6EC"/>
                      </a:solidFill>
                      <a:prstDash val="solid"/>
                    </a:lnT>
                    <a:lnB w="6350">
                      <a:solidFill>
                        <a:srgbClr val="DEE6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2283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只有一侧接入或目标不可达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EE6EC"/>
                      </a:solidFill>
                      <a:prstDash val="solid"/>
                    </a:lnL>
                    <a:lnR w="6350">
                      <a:solidFill>
                        <a:srgbClr val="DEE6EC"/>
                      </a:solidFill>
                      <a:prstDash val="solid"/>
                    </a:lnR>
                    <a:lnT w="6350">
                      <a:solidFill>
                        <a:srgbClr val="DEE6EC"/>
                      </a:solidFill>
                      <a:prstDash val="solid"/>
                    </a:lnT>
                    <a:lnB w="6350">
                      <a:solidFill>
                        <a:srgbClr val="DEE6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2283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ER 关联路由表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EE6EC"/>
                      </a:solidFill>
                      <a:prstDash val="solid"/>
                    </a:lnL>
                    <a:lnR w="6350">
                      <a:solidFill>
                        <a:srgbClr val="DEE6EC"/>
                      </a:solidFill>
                      <a:prstDash val="solid"/>
                    </a:lnR>
                    <a:lnT w="6350">
                      <a:solidFill>
                        <a:srgbClr val="DEE6EC"/>
                      </a:solidFill>
                      <a:prstDash val="solid"/>
                    </a:lnT>
                    <a:lnB w="6350">
                      <a:solidFill>
                        <a:srgbClr val="DEE6EC"/>
                      </a:solidFill>
                      <a:prstDash val="solid"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2283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业务连接送检，CFW 连接返回转发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EE6EC"/>
                      </a:solidFill>
                      <a:prstDash val="solid"/>
                    </a:lnL>
                    <a:lnR w="6350">
                      <a:solidFill>
                        <a:srgbClr val="DEE6EC"/>
                      </a:solidFill>
                      <a:prstDash val="solid"/>
                    </a:lnR>
                    <a:lnT w="6350">
                      <a:solidFill>
                        <a:srgbClr val="DEE6EC"/>
                      </a:solidFill>
                      <a:prstDash val="solid"/>
                    </a:lnT>
                    <a:lnB w="6350">
                      <a:solidFill>
                        <a:srgbClr val="DEE6EC"/>
                      </a:solidFill>
                      <a:prstDash val="solid"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2283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绕过检查或形成错误路径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EE6EC"/>
                      </a:solidFill>
                      <a:prstDash val="solid"/>
                    </a:lnL>
                    <a:lnR w="6350">
                      <a:solidFill>
                        <a:srgbClr val="DEE6EC"/>
                      </a:solidFill>
                      <a:prstDash val="solid"/>
                    </a:lnR>
                    <a:lnT w="6350">
                      <a:solidFill>
                        <a:srgbClr val="DEE6EC"/>
                      </a:solidFill>
                      <a:prstDash val="solid"/>
                    </a:lnT>
                    <a:lnB w="6350">
                      <a:solidFill>
                        <a:srgbClr val="DEE6EC"/>
                      </a:solidFill>
                      <a:prstDash val="solid"/>
                    </a:lnB>
                    <a:solidFill>
                      <a:srgbClr val="EEF3F6"/>
                    </a:solidFill>
                  </a:tcPr>
                </a:tc>
              </a:tr>
              <a:tr h="731520"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2283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VPC 侧路由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EE6EC"/>
                      </a:solidFill>
                      <a:prstDash val="solid"/>
                    </a:lnL>
                    <a:lnR w="6350">
                      <a:solidFill>
                        <a:srgbClr val="DEE6EC"/>
                      </a:solidFill>
                      <a:prstDash val="solid"/>
                    </a:lnR>
                    <a:lnT w="6350">
                      <a:solidFill>
                        <a:srgbClr val="DEE6EC"/>
                      </a:solidFill>
                      <a:prstDash val="solid"/>
                    </a:lnT>
                    <a:lnB w="6350">
                      <a:solidFill>
                        <a:srgbClr val="DEE6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2283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对端网段下一跳与子网关联正确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EE6EC"/>
                      </a:solidFill>
                      <a:prstDash val="solid"/>
                    </a:lnL>
                    <a:lnR w="6350">
                      <a:solidFill>
                        <a:srgbClr val="DEE6EC"/>
                      </a:solidFill>
                      <a:prstDash val="solid"/>
                    </a:lnR>
                    <a:lnT w="6350">
                      <a:solidFill>
                        <a:srgbClr val="DEE6EC"/>
                      </a:solidFill>
                      <a:prstDash val="solid"/>
                    </a:lnT>
                    <a:lnB w="6350">
                      <a:solidFill>
                        <a:srgbClr val="DEE6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2283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只部分主机经过 CFW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EE6EC"/>
                      </a:solidFill>
                      <a:prstDash val="solid"/>
                    </a:lnL>
                    <a:lnR w="6350">
                      <a:solidFill>
                        <a:srgbClr val="DEE6EC"/>
                      </a:solidFill>
                      <a:prstDash val="solid"/>
                    </a:lnR>
                    <a:lnT w="6350">
                      <a:solidFill>
                        <a:srgbClr val="DEE6EC"/>
                      </a:solidFill>
                      <a:prstDash val="solid"/>
                    </a:lnT>
                    <a:lnB w="6350">
                      <a:solidFill>
                        <a:srgbClr val="DEE6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2283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策略与覆盖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EE6EC"/>
                      </a:solidFill>
                      <a:prstDash val="solid"/>
                    </a:lnL>
                    <a:lnR w="6350">
                      <a:solidFill>
                        <a:srgbClr val="DEE6EC"/>
                      </a:solidFill>
                      <a:prstDash val="solid"/>
                    </a:lnR>
                    <a:lnT w="6350">
                      <a:solidFill>
                        <a:srgbClr val="DEE6EC"/>
                      </a:solidFill>
                      <a:prstDash val="solid"/>
                    </a:lnT>
                    <a:lnB w="6350">
                      <a:solidFill>
                        <a:srgbClr val="DEE6EC"/>
                      </a:solidFill>
                      <a:prstDash val="solid"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2283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已有阻断规则、日志、正反用例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EE6EC"/>
                      </a:solidFill>
                      <a:prstDash val="solid"/>
                    </a:lnL>
                    <a:lnR w="6350">
                      <a:solidFill>
                        <a:srgbClr val="DEE6EC"/>
                      </a:solidFill>
                      <a:prstDash val="solid"/>
                    </a:lnR>
                    <a:lnT w="6350">
                      <a:solidFill>
                        <a:srgbClr val="DEE6EC"/>
                      </a:solidFill>
                      <a:prstDash val="solid"/>
                    </a:lnT>
                    <a:lnB w="6350">
                      <a:solidFill>
                        <a:srgbClr val="DEE6EC"/>
                      </a:solidFill>
                      <a:prstDash val="solid"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2283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接入即中断，或接入后仍过宽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EE6EC"/>
                      </a:solidFill>
                      <a:prstDash val="solid"/>
                    </a:lnL>
                    <a:lnR w="6350">
                      <a:solidFill>
                        <a:srgbClr val="DEE6EC"/>
                      </a:solidFill>
                      <a:prstDash val="solid"/>
                    </a:lnR>
                    <a:lnT w="6350">
                      <a:solidFill>
                        <a:srgbClr val="DEE6EC"/>
                      </a:solidFill>
                      <a:prstDash val="solid"/>
                    </a:lnT>
                    <a:lnB w="6350">
                      <a:solidFill>
                        <a:srgbClr val="DEE6EC"/>
                      </a:solidFill>
                      <a:prstDash val="solid"/>
                    </a:lnB>
                    <a:solidFill>
                      <a:srgbClr val="EEF3F6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18076372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xt-0">
            <a:extLst xmlns:a="http://schemas.openxmlformats.org/drawingml/2006/main">
              <a:ext uri="{FF2B5EF4-FFF2-40B4-BE49-F238E27FC236}">
                <a16:creationId xmlns:a16="http://schemas.microsoft.com/office/drawing/2014/main" id="{44A0467A-2AD4-4459-A3B9-A2F9A94F1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28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008B87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008B8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1">
                <a:solidFill>
                  <a:srgbClr val="008B87"/>
                </a:solidFill>
                <a:latin typeface="Arial Unicode MS"/>
                <a:ea typeface="Arial Unicode MS"/>
                <a:cs typeface="Arial Unicode MS"/>
              </a:rPr>
              <a:t>02  CFW 使用规范</a:t>
            </a:r>
          </a:p>
        </p:txBody>
      </p:sp>
      <p:sp>
        <p:nvSpPr>
          <p:cNvPr id="2" name="txt-1">
            <a:extLst xmlns:a="http://schemas.openxmlformats.org/drawingml/2006/main">
              <a:ext uri="{FF2B5EF4-FFF2-40B4-BE49-F238E27FC236}">
                <a16:creationId xmlns:a16="http://schemas.microsoft.com/office/drawing/2014/main" id="{CEB10CFC-C4FB-4D10-9C0D-09AD21CE5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75" b="1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3075" b="1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75" b="1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rPr>
              <a:t>访问申请应能直接转换为策略</a:t>
            </a:r>
          </a:p>
        </p:txBody>
      </p:sp>
      <p:sp>
        <p:nvSpPr>
          <p:cNvPr id="3" name="txt-2">
            <a:extLst xmlns:a="http://schemas.openxmlformats.org/drawingml/2006/main">
              <a:ext uri="{FF2B5EF4-FFF2-40B4-BE49-F238E27FC236}">
                <a16:creationId xmlns:a16="http://schemas.microsoft.com/office/drawing/2014/main" id="{A993EA9A-CCD9-48F6-AEDC-31E328E3C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62075"/>
            <a:ext cx="1097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627383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62738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627383"/>
                </a:solidFill>
                <a:latin typeface="Arial Unicode MS"/>
                <a:ea typeface="Arial Unicode MS"/>
                <a:cs typeface="Arial Unicode MS"/>
              </a:rPr>
              <a:t>一条规则同时具备业务依据、技术字段与管理记录</a:t>
            </a:r>
          </a:p>
        </p:txBody>
      </p:sp>
      <p:sp>
        <p:nvSpPr>
          <p:cNvPr id="4" name="txt-3">
            <a:extLst xmlns:a="http://schemas.openxmlformats.org/drawingml/2006/main">
              <a:ext uri="{FF2B5EF4-FFF2-40B4-BE49-F238E27FC236}">
                <a16:creationId xmlns:a16="http://schemas.microsoft.com/office/drawing/2014/main" id="{EBD4F529-C1B7-426B-8E20-D8AA8F0AE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00775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627383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62738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27383"/>
                </a:solidFill>
                <a:latin typeface="Arial Unicode MS"/>
                <a:ea typeface="Arial Unicode MS"/>
                <a:cs typeface="Arial Unicode MS"/>
              </a:rPr>
              <a:t>示例请求单 CHG-DEMO-001 为虚构，不代表真实审批记录</a:t>
            </a:r>
          </a:p>
        </p:txBody>
      </p:sp>
      <p:sp>
        <p:nvSpPr>
          <p:cNvPr id="5" name="txt-4">
            <a:extLst xmlns:a="http://schemas.openxmlformats.org/drawingml/2006/main">
              <a:ext uri="{FF2B5EF4-FFF2-40B4-BE49-F238E27FC236}">
                <a16:creationId xmlns:a16="http://schemas.microsoft.com/office/drawing/2014/main" id="{D3B6140A-F57B-4EA1-8721-D4DC8BBDC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00800"/>
            <a:ext cx="628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627383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62738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27383"/>
                </a:solidFill>
                <a:latin typeface="Arial Unicode MS"/>
                <a:ea typeface="Arial Unicode MS"/>
                <a:cs typeface="Arial Unicode MS"/>
              </a:rPr>
              <a:t>13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4D18F23-5244-47B2-9BD2-2DBD2FBAF127}"/>
              </a:ext>
            </a:extLst>
          </p:cNvPr>
          <p:cNvGraphicFramePr/>
          <p:nvPr/>
        </p:nvGraphicFramePr>
        <p:xfrm>
          <a:off xmlns:a="http://schemas.openxmlformats.org/drawingml/2006/main" x="609600" y="2124075"/>
          <a:ext xmlns:a="http://schemas.openxmlformats.org/drawingml/2006/main" cx="10972800" cy="37623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571750"/>
                <a:gridCol w="8401050"/>
              </a:tblGrid>
              <a:tr h="537482"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申请项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12283F"/>
                      </a:solidFill>
                      <a:prstDash val="solid"/>
                    </a:lnL>
                    <a:lnR w="6350">
                      <a:solidFill>
                        <a:srgbClr val="12283F"/>
                      </a:solidFill>
                      <a:prstDash val="solid"/>
                    </a:lnR>
                    <a:lnT w="6350">
                      <a:solidFill>
                        <a:srgbClr val="12283F"/>
                      </a:solidFill>
                      <a:prstDash val="solid"/>
                    </a:lnT>
                    <a:lnB w="6350">
                      <a:solidFill>
                        <a:srgbClr val="12283F"/>
                      </a:solidFill>
                      <a:prstDash val="solid"/>
                    </a:lnB>
                    <a:solidFill>
                      <a:srgbClr val="12283F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教学填写值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12283F"/>
                      </a:solidFill>
                      <a:prstDash val="solid"/>
                    </a:lnL>
                    <a:lnR w="6350">
                      <a:solidFill>
                        <a:srgbClr val="12283F"/>
                      </a:solidFill>
                      <a:prstDash val="solid"/>
                    </a:lnR>
                    <a:lnT w="6350">
                      <a:solidFill>
                        <a:srgbClr val="12283F"/>
                      </a:solidFill>
                      <a:prstDash val="solid"/>
                    </a:lnT>
                    <a:lnB w="6350">
                      <a:solidFill>
                        <a:srgbClr val="12283F"/>
                      </a:solidFill>
                      <a:prstDash val="solid"/>
                    </a:lnB>
                    <a:solidFill>
                      <a:srgbClr val="12283F"/>
                    </a:solidFill>
                  </a:tcPr>
                </a:tc>
              </a:tr>
              <a:tr h="537482"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2283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业务与记录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EE6EC"/>
                      </a:solidFill>
                      <a:prstDash val="solid"/>
                    </a:lnL>
                    <a:lnR w="6350">
                      <a:solidFill>
                        <a:srgbClr val="DEE6EC"/>
                      </a:solidFill>
                      <a:prstDash val="solid"/>
                    </a:lnR>
                    <a:lnT w="6350">
                      <a:solidFill>
                        <a:srgbClr val="DEE6EC"/>
                      </a:solidFill>
                      <a:prstDash val="solid"/>
                    </a:lnT>
                    <a:lnB w="6350">
                      <a:solidFill>
                        <a:srgbClr val="DEE6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2283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订单服务访问自建数据库，CHG-DEMO-001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EE6EC"/>
                      </a:solidFill>
                      <a:prstDash val="solid"/>
                    </a:lnL>
                    <a:lnR w="6350">
                      <a:solidFill>
                        <a:srgbClr val="DEE6EC"/>
                      </a:solidFill>
                      <a:prstDash val="solid"/>
                    </a:lnR>
                    <a:lnT w="6350">
                      <a:solidFill>
                        <a:srgbClr val="DEE6EC"/>
                      </a:solidFill>
                      <a:prstDash val="solid"/>
                    </a:lnT>
                    <a:lnB w="6350">
                      <a:solidFill>
                        <a:srgbClr val="DEE6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7482"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2283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连接发起方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EE6EC"/>
                      </a:solidFill>
                      <a:prstDash val="solid"/>
                    </a:lnL>
                    <a:lnR w="6350">
                      <a:solidFill>
                        <a:srgbClr val="DEE6EC"/>
                      </a:solidFill>
                      <a:prstDash val="solid"/>
                    </a:lnR>
                    <a:lnT w="6350">
                      <a:solidFill>
                        <a:srgbClr val="DEE6EC"/>
                      </a:solidFill>
                      <a:prstDash val="solid"/>
                    </a:lnT>
                    <a:lnB w="6350">
                      <a:solidFill>
                        <a:srgbClr val="DEE6EC"/>
                      </a:solidFill>
                      <a:prstDash val="solid"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2283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10.20.10.15/32，应用 VPC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EE6EC"/>
                      </a:solidFill>
                      <a:prstDash val="solid"/>
                    </a:lnL>
                    <a:lnR w="6350">
                      <a:solidFill>
                        <a:srgbClr val="DEE6EC"/>
                      </a:solidFill>
                      <a:prstDash val="solid"/>
                    </a:lnR>
                    <a:lnT w="6350">
                      <a:solidFill>
                        <a:srgbClr val="DEE6EC"/>
                      </a:solidFill>
                      <a:prstDash val="solid"/>
                    </a:lnT>
                    <a:lnB w="6350">
                      <a:solidFill>
                        <a:srgbClr val="DEE6EC"/>
                      </a:solidFill>
                      <a:prstDash val="solid"/>
                    </a:lnB>
                    <a:solidFill>
                      <a:srgbClr val="EEF3F6"/>
                    </a:solidFill>
                  </a:tcPr>
                </a:tc>
              </a:tr>
              <a:tr h="537482"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2283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连接接收方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EE6EC"/>
                      </a:solidFill>
                      <a:prstDash val="solid"/>
                    </a:lnL>
                    <a:lnR w="6350">
                      <a:solidFill>
                        <a:srgbClr val="DEE6EC"/>
                      </a:solidFill>
                      <a:prstDash val="solid"/>
                    </a:lnR>
                    <a:lnT w="6350">
                      <a:solidFill>
                        <a:srgbClr val="DEE6EC"/>
                      </a:solidFill>
                      <a:prstDash val="solid"/>
                    </a:lnT>
                    <a:lnB w="6350">
                      <a:solidFill>
                        <a:srgbClr val="DEE6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2283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10.30.20.10/32，数据 VPC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EE6EC"/>
                      </a:solidFill>
                      <a:prstDash val="solid"/>
                    </a:lnL>
                    <a:lnR w="6350">
                      <a:solidFill>
                        <a:srgbClr val="DEE6EC"/>
                      </a:solidFill>
                      <a:prstDash val="solid"/>
                    </a:lnR>
                    <a:lnT w="6350">
                      <a:solidFill>
                        <a:srgbClr val="DEE6EC"/>
                      </a:solidFill>
                      <a:prstDash val="solid"/>
                    </a:lnT>
                    <a:lnB w="6350">
                      <a:solidFill>
                        <a:srgbClr val="DEE6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7482"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2283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端口与协议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EE6EC"/>
                      </a:solidFill>
                      <a:prstDash val="solid"/>
                    </a:lnL>
                    <a:lnR w="6350">
                      <a:solidFill>
                        <a:srgbClr val="DEE6EC"/>
                      </a:solidFill>
                      <a:prstDash val="solid"/>
                    </a:lnR>
                    <a:lnT w="6350">
                      <a:solidFill>
                        <a:srgbClr val="DEE6EC"/>
                      </a:solidFill>
                      <a:prstDash val="solid"/>
                    </a:lnT>
                    <a:lnB w="6350">
                      <a:solidFill>
                        <a:srgbClr val="DEE6EC"/>
                      </a:solidFill>
                      <a:prstDash val="solid"/>
                    </a:lnB>
                    <a:solidFill>
                      <a:srgbClr val="DEF1ED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2283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TCP，源端口 Any，目的端口 3306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EE6EC"/>
                      </a:solidFill>
                      <a:prstDash val="solid"/>
                    </a:lnL>
                    <a:lnR w="6350">
                      <a:solidFill>
                        <a:srgbClr val="DEE6EC"/>
                      </a:solidFill>
                      <a:prstDash val="solid"/>
                    </a:lnR>
                    <a:lnT w="6350">
                      <a:solidFill>
                        <a:srgbClr val="DEE6EC"/>
                      </a:solidFill>
                      <a:prstDash val="solid"/>
                    </a:lnT>
                    <a:lnB w="6350">
                      <a:solidFill>
                        <a:srgbClr val="DEE6EC"/>
                      </a:solidFill>
                      <a:prstDash val="solid"/>
                    </a:lnB>
                    <a:solidFill>
                      <a:srgbClr val="DEF1ED"/>
                    </a:solidFill>
                  </a:tcPr>
                </a:tc>
              </a:tr>
              <a:tr h="537482"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2283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生效范围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EE6EC"/>
                      </a:solidFill>
                      <a:prstDash val="solid"/>
                    </a:lnL>
                    <a:lnR w="6350">
                      <a:solidFill>
                        <a:srgbClr val="DEE6EC"/>
                      </a:solidFill>
                      <a:prstDash val="solid"/>
                    </a:lnR>
                    <a:lnT w="6350">
                      <a:solidFill>
                        <a:srgbClr val="DEE6EC"/>
                      </a:solidFill>
                      <a:prstDash val="solid"/>
                    </a:lnT>
                    <a:lnB w="6350">
                      <a:solidFill>
                        <a:srgbClr val="DEE6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2283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VPC 边界，按审批窗口发布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EE6EC"/>
                      </a:solidFill>
                      <a:prstDash val="solid"/>
                    </a:lnL>
                    <a:lnR w="6350">
                      <a:solidFill>
                        <a:srgbClr val="DEE6EC"/>
                      </a:solidFill>
                      <a:prstDash val="solid"/>
                    </a:lnR>
                    <a:lnT w="6350">
                      <a:solidFill>
                        <a:srgbClr val="DEE6EC"/>
                      </a:solidFill>
                      <a:prstDash val="solid"/>
                    </a:lnT>
                    <a:lnB w="6350">
                      <a:solidFill>
                        <a:srgbClr val="DEE6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7482"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2283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管理与验收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EE6EC"/>
                      </a:solidFill>
                      <a:prstDash val="solid"/>
                    </a:lnL>
                    <a:lnR w="6350">
                      <a:solidFill>
                        <a:srgbClr val="DEE6EC"/>
                      </a:solidFill>
                      <a:prstDash val="solid"/>
                    </a:lnR>
                    <a:lnT w="6350">
                      <a:solidFill>
                        <a:srgbClr val="DEE6EC"/>
                      </a:solidFill>
                      <a:prstDash val="solid"/>
                    </a:lnT>
                    <a:lnB w="6350">
                      <a:solidFill>
                        <a:srgbClr val="DEE6EC"/>
                      </a:solidFill>
                      <a:prstDash val="solid"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2283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负责人、复核时间、正反用例和回滚门槛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EE6EC"/>
                      </a:solidFill>
                      <a:prstDash val="solid"/>
                    </a:lnL>
                    <a:lnR w="6350">
                      <a:solidFill>
                        <a:srgbClr val="DEE6EC"/>
                      </a:solidFill>
                      <a:prstDash val="solid"/>
                    </a:lnR>
                    <a:lnT w="6350">
                      <a:solidFill>
                        <a:srgbClr val="DEE6EC"/>
                      </a:solidFill>
                      <a:prstDash val="solid"/>
                    </a:lnT>
                    <a:lnB w="6350">
                      <a:solidFill>
                        <a:srgbClr val="DEE6EC"/>
                      </a:solidFill>
                      <a:prstDash val="solid"/>
                    </a:lnB>
                    <a:solidFill>
                      <a:srgbClr val="EEF3F6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58645674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xt-0">
            <a:extLst xmlns:a="http://schemas.openxmlformats.org/drawingml/2006/main">
              <a:ext uri="{FF2B5EF4-FFF2-40B4-BE49-F238E27FC236}">
                <a16:creationId xmlns:a16="http://schemas.microsoft.com/office/drawing/2014/main" id="{0FF83D73-93AC-46A0-ACD9-E221B0A8B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28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008B87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008B8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1">
                <a:solidFill>
                  <a:srgbClr val="008B87"/>
                </a:solidFill>
                <a:latin typeface="Arial Unicode MS"/>
                <a:ea typeface="Arial Unicode MS"/>
                <a:cs typeface="Arial Unicode MS"/>
              </a:rPr>
              <a:t>02  CFW 使用规范</a:t>
            </a:r>
          </a:p>
        </p:txBody>
      </p:sp>
      <p:sp>
        <p:nvSpPr>
          <p:cNvPr id="2" name="txt-1">
            <a:extLst xmlns:a="http://schemas.openxmlformats.org/drawingml/2006/main">
              <a:ext uri="{FF2B5EF4-FFF2-40B4-BE49-F238E27FC236}">
                <a16:creationId xmlns:a16="http://schemas.microsoft.com/office/drawing/2014/main" id="{69892FB1-87AF-4ACF-B67C-757F82971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75" b="1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3075" b="1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75" b="1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rPr>
              <a:t>业务访问矩阵示例</a:t>
            </a:r>
          </a:p>
        </p:txBody>
      </p:sp>
      <p:sp>
        <p:nvSpPr>
          <p:cNvPr id="3" name="txt-2">
            <a:extLst xmlns:a="http://schemas.openxmlformats.org/drawingml/2006/main">
              <a:ext uri="{FF2B5EF4-FFF2-40B4-BE49-F238E27FC236}">
                <a16:creationId xmlns:a16="http://schemas.microsoft.com/office/drawing/2014/main" id="{41C0AB51-4AAC-4EAF-B54E-9CFF30BB2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62075"/>
            <a:ext cx="1097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627383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62738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627383"/>
                </a:solidFill>
                <a:latin typeface="Arial Unicode MS"/>
                <a:ea typeface="Arial Unicode MS"/>
                <a:cs typeface="Arial Unicode MS"/>
              </a:rPr>
              <a:t>教学基线：仅批准明确业务流。表内规则需同步核对安全组与其他控制层</a:t>
            </a:r>
          </a:p>
        </p:txBody>
      </p:sp>
      <p:sp>
        <p:nvSpPr>
          <p:cNvPr id="4" name="txt-3">
            <a:extLst xmlns:a="http://schemas.openxmlformats.org/drawingml/2006/main">
              <a:ext uri="{FF2B5EF4-FFF2-40B4-BE49-F238E27FC236}">
                <a16:creationId xmlns:a16="http://schemas.microsoft.com/office/drawing/2014/main" id="{2C956F32-020B-46B3-9887-94E65A0E3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00800"/>
            <a:ext cx="628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627383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62738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27383"/>
                </a:solidFill>
                <a:latin typeface="Arial Unicode MS"/>
                <a:ea typeface="Arial Unicode MS"/>
                <a:cs typeface="Arial Unicode MS"/>
              </a:rPr>
              <a:t>14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670BC47-09B5-4940-87EF-E7AF50C27B04}"/>
              </a:ext>
            </a:extLst>
          </p:cNvPr>
          <p:cNvGraphicFramePr/>
          <p:nvPr/>
        </p:nvGraphicFramePr>
        <p:xfrm>
          <a:off xmlns:a="http://schemas.openxmlformats.org/drawingml/2006/main" x="609600" y="2247900"/>
          <a:ext xmlns:a="http://schemas.openxmlformats.org/drawingml/2006/main" cx="10972800" cy="4000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2857500"/>
                <a:gridCol w="1619250"/>
                <a:gridCol w="3486150"/>
              </a:tblGrid>
              <a:tr h="666750"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发起方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12283F"/>
                      </a:solidFill>
                      <a:prstDash val="solid"/>
                    </a:lnL>
                    <a:lnR w="6350">
                      <a:solidFill>
                        <a:srgbClr val="12283F"/>
                      </a:solidFill>
                      <a:prstDash val="solid"/>
                    </a:lnR>
                    <a:lnT w="6350">
                      <a:solidFill>
                        <a:srgbClr val="12283F"/>
                      </a:solidFill>
                      <a:prstDash val="solid"/>
                    </a:lnT>
                    <a:lnB w="6350">
                      <a:solidFill>
                        <a:srgbClr val="12283F"/>
                      </a:solidFill>
                      <a:prstDash val="solid"/>
                    </a:lnB>
                    <a:solidFill>
                      <a:srgbClr val="12283F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接收方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12283F"/>
                      </a:solidFill>
                      <a:prstDash val="solid"/>
                    </a:lnL>
                    <a:lnR w="6350">
                      <a:solidFill>
                        <a:srgbClr val="12283F"/>
                      </a:solidFill>
                      <a:prstDash val="solid"/>
                    </a:lnR>
                    <a:lnT w="6350">
                      <a:solidFill>
                        <a:srgbClr val="12283F"/>
                      </a:solidFill>
                      <a:prstDash val="solid"/>
                    </a:lnT>
                    <a:lnB w="6350">
                      <a:solidFill>
                        <a:srgbClr val="12283F"/>
                      </a:solidFill>
                      <a:prstDash val="solid"/>
                    </a:lnB>
                    <a:solidFill>
                      <a:srgbClr val="12283F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服务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12283F"/>
                      </a:solidFill>
                      <a:prstDash val="solid"/>
                    </a:lnL>
                    <a:lnR w="6350">
                      <a:solidFill>
                        <a:srgbClr val="12283F"/>
                      </a:solidFill>
                      <a:prstDash val="solid"/>
                    </a:lnR>
                    <a:lnT w="6350">
                      <a:solidFill>
                        <a:srgbClr val="12283F"/>
                      </a:solidFill>
                      <a:prstDash val="solid"/>
                    </a:lnT>
                    <a:lnB w="6350">
                      <a:solidFill>
                        <a:srgbClr val="12283F"/>
                      </a:solidFill>
                      <a:prstDash val="solid"/>
                    </a:lnB>
                    <a:solidFill>
                      <a:srgbClr val="12283F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动作与依据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12283F"/>
                      </a:solidFill>
                      <a:prstDash val="solid"/>
                    </a:lnL>
                    <a:lnR w="6350">
                      <a:solidFill>
                        <a:srgbClr val="12283F"/>
                      </a:solidFill>
                      <a:prstDash val="solid"/>
                    </a:lnR>
                    <a:lnT w="6350">
                      <a:solidFill>
                        <a:srgbClr val="12283F"/>
                      </a:solidFill>
                      <a:prstDash val="solid"/>
                    </a:lnT>
                    <a:lnB w="6350">
                      <a:solidFill>
                        <a:srgbClr val="12283F"/>
                      </a:solidFill>
                      <a:prstDash val="solid"/>
                    </a:lnB>
                    <a:solidFill>
                      <a:srgbClr val="12283F"/>
                    </a:solidFill>
                  </a:tcPr>
                </a:tc>
              </a:tr>
              <a:tr h="666750"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2283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10.20.10.15/32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EE6EC"/>
                      </a:solidFill>
                      <a:prstDash val="solid"/>
                    </a:lnL>
                    <a:lnR w="6350">
                      <a:solidFill>
                        <a:srgbClr val="DEE6EC"/>
                      </a:solidFill>
                      <a:prstDash val="solid"/>
                    </a:lnR>
                    <a:lnT w="6350">
                      <a:solidFill>
                        <a:srgbClr val="DEE6EC"/>
                      </a:solidFill>
                      <a:prstDash val="solid"/>
                    </a:lnT>
                    <a:lnB w="6350">
                      <a:solidFill>
                        <a:srgbClr val="DEE6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2283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10.30.20.10/32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EE6EC"/>
                      </a:solidFill>
                      <a:prstDash val="solid"/>
                    </a:lnL>
                    <a:lnR w="6350">
                      <a:solidFill>
                        <a:srgbClr val="DEE6EC"/>
                      </a:solidFill>
                      <a:prstDash val="solid"/>
                    </a:lnR>
                    <a:lnT w="6350">
                      <a:solidFill>
                        <a:srgbClr val="DEE6EC"/>
                      </a:solidFill>
                      <a:prstDash val="solid"/>
                    </a:lnT>
                    <a:lnB w="6350">
                      <a:solidFill>
                        <a:srgbClr val="DEE6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2283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TCP 3306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EE6EC"/>
                      </a:solidFill>
                      <a:prstDash val="solid"/>
                    </a:lnL>
                    <a:lnR w="6350">
                      <a:solidFill>
                        <a:srgbClr val="DEE6EC"/>
                      </a:solidFill>
                      <a:prstDash val="solid"/>
                    </a:lnR>
                    <a:lnT w="6350">
                      <a:solidFill>
                        <a:srgbClr val="DEE6EC"/>
                      </a:solidFill>
                      <a:prstDash val="solid"/>
                    </a:lnT>
                    <a:lnB w="6350">
                      <a:solidFill>
                        <a:srgbClr val="DEE6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2283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放行，订单服务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EE6EC"/>
                      </a:solidFill>
                      <a:prstDash val="solid"/>
                    </a:lnL>
                    <a:lnR w="6350">
                      <a:solidFill>
                        <a:srgbClr val="DEE6EC"/>
                      </a:solidFill>
                      <a:prstDash val="solid"/>
                    </a:lnR>
                    <a:lnT w="6350">
                      <a:solidFill>
                        <a:srgbClr val="DEE6EC"/>
                      </a:solidFill>
                      <a:prstDash val="solid"/>
                    </a:lnT>
                    <a:lnB w="6350">
                      <a:solidFill>
                        <a:srgbClr val="DEE6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2283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10.40.10.5/32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EE6EC"/>
                      </a:solidFill>
                      <a:prstDash val="solid"/>
                    </a:lnL>
                    <a:lnR w="6350">
                      <a:solidFill>
                        <a:srgbClr val="DEE6EC"/>
                      </a:solidFill>
                      <a:prstDash val="solid"/>
                    </a:lnR>
                    <a:lnT w="6350">
                      <a:solidFill>
                        <a:srgbClr val="DEE6EC"/>
                      </a:solidFill>
                      <a:prstDash val="solid"/>
                    </a:lnT>
                    <a:lnB w="6350">
                      <a:solidFill>
                        <a:srgbClr val="DEE6EC"/>
                      </a:solidFill>
                      <a:prstDash val="solid"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2283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10.20.10.15/32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EE6EC"/>
                      </a:solidFill>
                      <a:prstDash val="solid"/>
                    </a:lnL>
                    <a:lnR w="6350">
                      <a:solidFill>
                        <a:srgbClr val="DEE6EC"/>
                      </a:solidFill>
                      <a:prstDash val="solid"/>
                    </a:lnR>
                    <a:lnT w="6350">
                      <a:solidFill>
                        <a:srgbClr val="DEE6EC"/>
                      </a:solidFill>
                      <a:prstDash val="solid"/>
                    </a:lnT>
                    <a:lnB w="6350">
                      <a:solidFill>
                        <a:srgbClr val="DEE6EC"/>
                      </a:solidFill>
                      <a:prstDash val="solid"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2283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TCP 22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EE6EC"/>
                      </a:solidFill>
                      <a:prstDash val="solid"/>
                    </a:lnL>
                    <a:lnR w="6350">
                      <a:solidFill>
                        <a:srgbClr val="DEE6EC"/>
                      </a:solidFill>
                      <a:prstDash val="solid"/>
                    </a:lnR>
                    <a:lnT w="6350">
                      <a:solidFill>
                        <a:srgbClr val="DEE6EC"/>
                      </a:solidFill>
                      <a:prstDash val="solid"/>
                    </a:lnT>
                    <a:lnB w="6350">
                      <a:solidFill>
                        <a:srgbClr val="DEE6EC"/>
                      </a:solidFill>
                      <a:prstDash val="solid"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2283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放行，受控运维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EE6EC"/>
                      </a:solidFill>
                      <a:prstDash val="solid"/>
                    </a:lnL>
                    <a:lnR w="6350">
                      <a:solidFill>
                        <a:srgbClr val="DEE6EC"/>
                      </a:solidFill>
                      <a:prstDash val="solid"/>
                    </a:lnR>
                    <a:lnT w="6350">
                      <a:solidFill>
                        <a:srgbClr val="DEE6EC"/>
                      </a:solidFill>
                      <a:prstDash val="solid"/>
                    </a:lnT>
                    <a:lnB w="6350">
                      <a:solidFill>
                        <a:srgbClr val="DEE6EC"/>
                      </a:solidFill>
                      <a:prstDash val="solid"/>
                    </a:lnB>
                    <a:solidFill>
                      <a:srgbClr val="EEF3F6"/>
                    </a:solidFill>
                  </a:tcPr>
                </a:tc>
              </a:tr>
              <a:tr h="666750"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2283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10.20.10.15/32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EE6EC"/>
                      </a:solidFill>
                      <a:prstDash val="solid"/>
                    </a:lnL>
                    <a:lnR w="6350">
                      <a:solidFill>
                        <a:srgbClr val="DEE6EC"/>
                      </a:solidFill>
                      <a:prstDash val="solid"/>
                    </a:lnR>
                    <a:lnT w="6350">
                      <a:solidFill>
                        <a:srgbClr val="DEE6EC"/>
                      </a:solidFill>
                      <a:prstDash val="solid"/>
                    </a:lnT>
                    <a:lnB w="6350">
                      <a:solidFill>
                        <a:srgbClr val="DEE6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2283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10.30.20.10/32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EE6EC"/>
                      </a:solidFill>
                      <a:prstDash val="solid"/>
                    </a:lnL>
                    <a:lnR w="6350">
                      <a:solidFill>
                        <a:srgbClr val="DEE6EC"/>
                      </a:solidFill>
                      <a:prstDash val="solid"/>
                    </a:lnR>
                    <a:lnT w="6350">
                      <a:solidFill>
                        <a:srgbClr val="DEE6EC"/>
                      </a:solidFill>
                      <a:prstDash val="solid"/>
                    </a:lnT>
                    <a:lnB w="6350">
                      <a:solidFill>
                        <a:srgbClr val="DEE6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2283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TCP 22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EE6EC"/>
                      </a:solidFill>
                      <a:prstDash val="solid"/>
                    </a:lnL>
                    <a:lnR w="6350">
                      <a:solidFill>
                        <a:srgbClr val="DEE6EC"/>
                      </a:solidFill>
                      <a:prstDash val="solid"/>
                    </a:lnR>
                    <a:lnT w="6350">
                      <a:solidFill>
                        <a:srgbClr val="DEE6EC"/>
                      </a:solidFill>
                      <a:prstDash val="solid"/>
                    </a:lnT>
                    <a:lnB w="6350">
                      <a:solidFill>
                        <a:srgbClr val="DEE6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2283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阻断，无运维需求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EE6EC"/>
                      </a:solidFill>
                      <a:prstDash val="solid"/>
                    </a:lnL>
                    <a:lnR w="6350">
                      <a:solidFill>
                        <a:srgbClr val="DEE6EC"/>
                      </a:solidFill>
                      <a:prstDash val="solid"/>
                    </a:lnR>
                    <a:lnT w="6350">
                      <a:solidFill>
                        <a:srgbClr val="DEE6EC"/>
                      </a:solidFill>
                      <a:prstDash val="solid"/>
                    </a:lnT>
                    <a:lnB w="6350">
                      <a:solidFill>
                        <a:srgbClr val="DEE6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2283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测试环境地址组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EE6EC"/>
                      </a:solidFill>
                      <a:prstDash val="solid"/>
                    </a:lnL>
                    <a:lnR w="6350">
                      <a:solidFill>
                        <a:srgbClr val="DEE6EC"/>
                      </a:solidFill>
                      <a:prstDash val="solid"/>
                    </a:lnR>
                    <a:lnT w="6350">
                      <a:solidFill>
                        <a:srgbClr val="DEE6EC"/>
                      </a:solidFill>
                      <a:prstDash val="solid"/>
                    </a:lnT>
                    <a:lnB w="6350">
                      <a:solidFill>
                        <a:srgbClr val="DEE6EC"/>
                      </a:solidFill>
                      <a:prstDash val="solid"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2283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生产数据地址组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EE6EC"/>
                      </a:solidFill>
                      <a:prstDash val="solid"/>
                    </a:lnL>
                    <a:lnR w="6350">
                      <a:solidFill>
                        <a:srgbClr val="DEE6EC"/>
                      </a:solidFill>
                      <a:prstDash val="solid"/>
                    </a:lnR>
                    <a:lnT w="6350">
                      <a:solidFill>
                        <a:srgbClr val="DEE6EC"/>
                      </a:solidFill>
                      <a:prstDash val="solid"/>
                    </a:lnT>
                    <a:lnB w="6350">
                      <a:solidFill>
                        <a:srgbClr val="DEE6EC"/>
                      </a:solidFill>
                      <a:prstDash val="solid"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2283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Any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EE6EC"/>
                      </a:solidFill>
                      <a:prstDash val="solid"/>
                    </a:lnL>
                    <a:lnR w="6350">
                      <a:solidFill>
                        <a:srgbClr val="DEE6EC"/>
                      </a:solidFill>
                      <a:prstDash val="solid"/>
                    </a:lnR>
                    <a:lnT w="6350">
                      <a:solidFill>
                        <a:srgbClr val="DEE6EC"/>
                      </a:solidFill>
                      <a:prstDash val="solid"/>
                    </a:lnT>
                    <a:lnB w="6350">
                      <a:solidFill>
                        <a:srgbClr val="DEE6EC"/>
                      </a:solidFill>
                      <a:prstDash val="solid"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2283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阻断，环境隔离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EE6EC"/>
                      </a:solidFill>
                      <a:prstDash val="solid"/>
                    </a:lnL>
                    <a:lnR w="6350">
                      <a:solidFill>
                        <a:srgbClr val="DEE6EC"/>
                      </a:solidFill>
                      <a:prstDash val="solid"/>
                    </a:lnR>
                    <a:lnT w="6350">
                      <a:solidFill>
                        <a:srgbClr val="DEE6EC"/>
                      </a:solidFill>
                      <a:prstDash val="solid"/>
                    </a:lnT>
                    <a:lnB w="6350">
                      <a:solidFill>
                        <a:srgbClr val="DEE6EC"/>
                      </a:solidFill>
                      <a:prstDash val="solid"/>
                    </a:lnB>
                    <a:solidFill>
                      <a:srgbClr val="EEF3F6"/>
                    </a:solidFill>
                  </a:tcPr>
                </a:tc>
              </a:tr>
              <a:tr h="666750"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2283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已纳管业务源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EE6EC"/>
                      </a:solidFill>
                      <a:prstDash val="solid"/>
                    </a:lnL>
                    <a:lnR w="6350">
                      <a:solidFill>
                        <a:srgbClr val="DEE6EC"/>
                      </a:solidFill>
                      <a:prstDash val="solid"/>
                    </a:lnR>
                    <a:lnT w="6350">
                      <a:solidFill>
                        <a:srgbClr val="DEE6EC"/>
                      </a:solidFill>
                      <a:prstDash val="solid"/>
                    </a:lnT>
                    <a:lnB w="6350">
                      <a:solidFill>
                        <a:srgbClr val="DEE6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2283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已核验业务范围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EE6EC"/>
                      </a:solidFill>
                      <a:prstDash val="solid"/>
                    </a:lnL>
                    <a:lnR w="6350">
                      <a:solidFill>
                        <a:srgbClr val="DEE6EC"/>
                      </a:solidFill>
                      <a:prstDash val="solid"/>
                    </a:lnR>
                    <a:lnT w="6350">
                      <a:solidFill>
                        <a:srgbClr val="DEE6EC"/>
                      </a:solidFill>
                      <a:prstDash val="solid"/>
                    </a:lnT>
                    <a:lnB w="6350">
                      <a:solidFill>
                        <a:srgbClr val="DEE6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2283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其他流量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EE6EC"/>
                      </a:solidFill>
                      <a:prstDash val="solid"/>
                    </a:lnL>
                    <a:lnR w="6350">
                      <a:solidFill>
                        <a:srgbClr val="DEE6EC"/>
                      </a:solidFill>
                      <a:prstDash val="solid"/>
                    </a:lnR>
                    <a:lnT w="6350">
                      <a:solidFill>
                        <a:srgbClr val="DEE6EC"/>
                      </a:solidFill>
                      <a:prstDash val="solid"/>
                    </a:lnT>
                    <a:lnB w="6350">
                      <a:solidFill>
                        <a:srgbClr val="DEE6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2283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兜底阻断，依赖梳理完成后启用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EE6EC"/>
                      </a:solidFill>
                      <a:prstDash val="solid"/>
                    </a:lnL>
                    <a:lnR w="6350">
                      <a:solidFill>
                        <a:srgbClr val="DEE6EC"/>
                      </a:solidFill>
                      <a:prstDash val="solid"/>
                    </a:lnR>
                    <a:lnT w="6350">
                      <a:solidFill>
                        <a:srgbClr val="DEE6EC"/>
                      </a:solidFill>
                      <a:prstDash val="solid"/>
                    </a:lnT>
                    <a:lnB w="6350">
                      <a:solidFill>
                        <a:srgbClr val="DEE6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37854637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txt-0">
            <a:extLst xmlns:a="http://schemas.openxmlformats.org/drawingml/2006/main">
              <a:ext uri="{FF2B5EF4-FFF2-40B4-BE49-F238E27FC236}">
                <a16:creationId xmlns:a16="http://schemas.microsoft.com/office/drawing/2014/main" id="{6A90DBCA-9BDB-4195-865F-B4F80A6DE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28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008B87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008B8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1">
                <a:solidFill>
                  <a:srgbClr val="008B87"/>
                </a:solidFill>
                <a:latin typeface="Arial Unicode MS"/>
                <a:ea typeface="Arial Unicode MS"/>
                <a:cs typeface="Arial Unicode MS"/>
              </a:rPr>
              <a:t>02  CFW 使用规范</a:t>
            </a:r>
          </a:p>
        </p:txBody>
      </p:sp>
      <p:sp>
        <p:nvSpPr>
          <p:cNvPr id="2" name="txt-1">
            <a:extLst xmlns:a="http://schemas.openxmlformats.org/drawingml/2006/main">
              <a:ext uri="{FF2B5EF4-FFF2-40B4-BE49-F238E27FC236}">
                <a16:creationId xmlns:a16="http://schemas.microsoft.com/office/drawing/2014/main" id="{FD3217B3-1D72-4C11-80D8-068128C0F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75" b="1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3075" b="1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75" b="1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rPr>
              <a:t>功能优先级与 ACL 规则顺序</a:t>
            </a:r>
          </a:p>
        </p:txBody>
      </p:sp>
      <p:sp>
        <p:nvSpPr>
          <p:cNvPr id="3" name="txt-2">
            <a:extLst xmlns:a="http://schemas.openxmlformats.org/drawingml/2006/main">
              <a:ext uri="{FF2B5EF4-FFF2-40B4-BE49-F238E27FC236}">
                <a16:creationId xmlns:a16="http://schemas.microsoft.com/office/drawing/2014/main" id="{01C82F69-B7A1-4C9B-9338-57B49F7ED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62075"/>
            <a:ext cx="1097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627383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62738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627383"/>
                </a:solidFill>
                <a:latin typeface="Arial Unicode MS"/>
                <a:ea typeface="Arial Unicode MS"/>
                <a:cs typeface="Arial Unicode MS"/>
              </a:rPr>
              <a:t>外层防护顺序与 ACL 内首条命中是两个层次</a:t>
            </a:r>
          </a:p>
        </p:txBody>
      </p:sp>
      <p:sp>
        <p:nvSpPr>
          <p:cNvPr id="4" name="txt-3">
            <a:extLst xmlns:a="http://schemas.openxmlformats.org/drawingml/2006/main">
              <a:ext uri="{FF2B5EF4-FFF2-40B4-BE49-F238E27FC236}">
                <a16:creationId xmlns:a16="http://schemas.microsoft.com/office/drawing/2014/main" id="{0F9F2D0A-6761-4D28-8189-A34C7EF78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00775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627383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62738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27383"/>
                </a:solidFill>
                <a:latin typeface="Arial Unicode MS"/>
                <a:ea typeface="Arial Unicode MS"/>
                <a:cs typeface="Arial Unicode MS"/>
              </a:rPr>
              <a:t>图中的兜底阻断需由管理员显式配置。VPC 边界接入本身默认放行</a:t>
            </a:r>
          </a:p>
        </p:txBody>
      </p:sp>
      <p:sp>
        <p:nvSpPr>
          <p:cNvPr id="5" name="txt-4">
            <a:extLst xmlns:a="http://schemas.openxmlformats.org/drawingml/2006/main">
              <a:ext uri="{FF2B5EF4-FFF2-40B4-BE49-F238E27FC236}">
                <a16:creationId xmlns:a16="http://schemas.microsoft.com/office/drawing/2014/main" id="{80C26F5D-C182-45F8-B977-465359D8D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00800"/>
            <a:ext cx="628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627383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62738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27383"/>
                </a:solidFill>
                <a:latin typeface="Arial Unicode MS"/>
                <a:ea typeface="Arial Unicode MS"/>
                <a:cs typeface="Arial Unicode MS"/>
              </a:rPr>
              <a:t>15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9B3F08-CD2F-4DA1-9C65-2A94B330F5E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64e774bfbcc446a"/>
          <a:stretch xmlns:a="http://schemas.openxmlformats.org/drawingml/2006/main"/>
        </p:blipFill>
        <p:spPr>
          <a:xfrm xmlns:a="http://schemas.openxmlformats.org/drawingml/2006/main">
            <a:off x="1778000" y="1952625"/>
            <a:ext cx="8636000" cy="3238500"/>
          </a:xfrm>
          <a:prstGeom xmlns:a="http://schemas.openxmlformats.org/drawingml/2006/main" prst="rect">
            <a:avLst/>
          </a:prstGeom>
        </p:spPr>
      </p:pic>
      <p:sp>
        <p:nvSpPr>
          <p:cNvPr id="7" name="txt-5">
            <a:extLst xmlns:a="http://schemas.openxmlformats.org/drawingml/2006/main">
              <a:ext uri="{FF2B5EF4-FFF2-40B4-BE49-F238E27FC236}">
                <a16:creationId xmlns:a16="http://schemas.microsoft.com/office/drawing/2014/main" id="{CA3BC34B-F704-4DB8-AF38-B687A9C65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53025"/>
            <a:ext cx="3429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08B87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008B8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1">
                <a:solidFill>
                  <a:srgbClr val="008B87"/>
                </a:solidFill>
                <a:latin typeface="Arial Unicode MS"/>
                <a:ea typeface="Arial Unicode MS"/>
                <a:cs typeface="Arial Unicode MS"/>
              </a:rPr>
              <a:t>功能顺序</a:t>
            </a:r>
          </a:p>
        </p:txBody>
      </p:sp>
      <p:sp>
        <p:nvSpPr>
          <p:cNvPr id="8" name="txt-6">
            <a:extLst xmlns:a="http://schemas.openxmlformats.org/drawingml/2006/main">
              <a:ext uri="{FF2B5EF4-FFF2-40B4-BE49-F238E27FC236}">
                <a16:creationId xmlns:a16="http://schemas.microsoft.com/office/drawing/2014/main" id="{655CC401-0A05-4AA3-B105-B8903CE3D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43550"/>
            <a:ext cx="342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rPr>
              <a:t>依次检查封堵、白名单、</a:t>
            </a:r>
          </a:p>
          <a:p xmlns:a="http://schemas.openxmlformats.org/drawingml/2006/main">
            <a:pPr algn="l">
              <a:defRPr sz="1725" b="0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rPr>
              <a:t>黑名单与 ACL</a:t>
            </a:r>
          </a:p>
        </p:txBody>
      </p:sp>
      <p:sp>
        <p:nvSpPr>
          <p:cNvPr id="9" name="txt-7">
            <a:extLst xmlns:a="http://schemas.openxmlformats.org/drawingml/2006/main">
              <a:ext uri="{FF2B5EF4-FFF2-40B4-BE49-F238E27FC236}">
                <a16:creationId xmlns:a16="http://schemas.microsoft.com/office/drawing/2014/main" id="{0FD46C40-C502-4CF9-A3BB-24828EA5B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5153025"/>
            <a:ext cx="3429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08B87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008B8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1">
                <a:solidFill>
                  <a:srgbClr val="008B87"/>
                </a:solidFill>
                <a:latin typeface="Arial Unicode MS"/>
                <a:ea typeface="Arial Unicode MS"/>
                <a:cs typeface="Arial Unicode MS"/>
              </a:rPr>
              <a:t>首条命中</a:t>
            </a:r>
          </a:p>
        </p:txBody>
      </p:sp>
      <p:sp>
        <p:nvSpPr>
          <p:cNvPr id="10" name="txt-8">
            <a:extLst xmlns:a="http://schemas.openxmlformats.org/drawingml/2006/main">
              <a:ext uri="{FF2B5EF4-FFF2-40B4-BE49-F238E27FC236}">
                <a16:creationId xmlns:a16="http://schemas.microsoft.com/office/drawing/2014/main" id="{E5E51F15-8E72-4EE5-A9D0-90EA34497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5543550"/>
            <a:ext cx="342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rPr>
              <a:t>具体规则靠前</a:t>
            </a:r>
          </a:p>
          <a:p xmlns:a="http://schemas.openxmlformats.org/drawingml/2006/main">
            <a:pPr algn="l">
              <a:defRPr sz="1725" b="0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rPr>
              <a:t>ACL 首条命中后停止匹配</a:t>
            </a:r>
          </a:p>
        </p:txBody>
      </p:sp>
      <p:sp>
        <p:nvSpPr>
          <p:cNvPr id="11" name="txt-9">
            <a:extLst xmlns:a="http://schemas.openxmlformats.org/drawingml/2006/main">
              <a:ext uri="{FF2B5EF4-FFF2-40B4-BE49-F238E27FC236}">
                <a16:creationId xmlns:a16="http://schemas.microsoft.com/office/drawing/2014/main" id="{5765737C-74D9-43B5-B0A3-DE891F9C5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5153025"/>
            <a:ext cx="3429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08B87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008B8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1">
                <a:solidFill>
                  <a:srgbClr val="008B87"/>
                </a:solidFill>
                <a:latin typeface="Arial Unicode MS"/>
                <a:ea typeface="Arial Unicode MS"/>
                <a:cs typeface="Arial Unicode MS"/>
              </a:rPr>
              <a:t>白名单例外</a:t>
            </a:r>
          </a:p>
        </p:txBody>
      </p:sp>
      <p:sp>
        <p:nvSpPr>
          <p:cNvPr id="12" name="txt-10">
            <a:extLst xmlns:a="http://schemas.openxmlformats.org/drawingml/2006/main">
              <a:ext uri="{FF2B5EF4-FFF2-40B4-BE49-F238E27FC236}">
                <a16:creationId xmlns:a16="http://schemas.microsoft.com/office/drawing/2014/main" id="{3AF99417-9182-407E-B9BB-CCD4A1B81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5543550"/>
            <a:ext cx="342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rPr>
              <a:t>直接放行并跳过后续检测</a:t>
            </a:r>
          </a:p>
          <a:p xmlns:a="http://schemas.openxmlformats.org/drawingml/2006/main">
            <a:pPr algn="l">
              <a:defRPr sz="1725" b="0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rPr>
              <a:t>单独进行审批与复核</a:t>
            </a:r>
          </a:p>
        </p:txBody>
      </p:sp>
    </p:spTree>
    <p:extLst>
      <p:ext uri="{BB962C8B-B14F-4D97-AF65-F5344CB8AC3E}">
        <p14:creationId xmlns:p14="http://schemas.microsoft.com/office/powerpoint/2010/main" val="1924405130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xt-0">
            <a:extLst xmlns:a="http://schemas.openxmlformats.org/drawingml/2006/main">
              <a:ext uri="{FF2B5EF4-FFF2-40B4-BE49-F238E27FC236}">
                <a16:creationId xmlns:a16="http://schemas.microsoft.com/office/drawing/2014/main" id="{5D9BDD6F-8307-4D1B-AD3C-DDAAF35E5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28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008B87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008B8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1">
                <a:solidFill>
                  <a:srgbClr val="008B87"/>
                </a:solidFill>
                <a:latin typeface="Arial Unicode MS"/>
                <a:ea typeface="Arial Unicode MS"/>
                <a:cs typeface="Arial Unicode MS"/>
              </a:rPr>
              <a:t>02  CFW 使用规范</a:t>
            </a:r>
          </a:p>
        </p:txBody>
      </p:sp>
      <p:sp>
        <p:nvSpPr>
          <p:cNvPr id="2" name="txt-1">
            <a:extLst xmlns:a="http://schemas.openxmlformats.org/drawingml/2006/main">
              <a:ext uri="{FF2B5EF4-FFF2-40B4-BE49-F238E27FC236}">
                <a16:creationId xmlns:a16="http://schemas.microsoft.com/office/drawing/2014/main" id="{10D3B996-BAAE-4BD7-9D3F-EDB72F14D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75" b="1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3075" b="1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75" b="1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rPr>
              <a:t>一条宽泛放行可以使阻断规则失效</a:t>
            </a:r>
          </a:p>
        </p:txBody>
      </p:sp>
      <p:sp>
        <p:nvSpPr>
          <p:cNvPr id="3" name="txt-2">
            <a:extLst xmlns:a="http://schemas.openxmlformats.org/drawingml/2006/main">
              <a:ext uri="{FF2B5EF4-FFF2-40B4-BE49-F238E27FC236}">
                <a16:creationId xmlns:a16="http://schemas.microsoft.com/office/drawing/2014/main" id="{F6B59330-F681-451D-88DA-17FB7EF26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62075"/>
            <a:ext cx="1097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627383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62738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627383"/>
                </a:solidFill>
                <a:latin typeface="Arial Unicode MS"/>
                <a:ea typeface="Arial Unicode MS"/>
                <a:cs typeface="Arial Unicode MS"/>
              </a:rPr>
              <a:t>先判断实际首条命中，再审查授权是否超出业务需要</a:t>
            </a:r>
          </a:p>
        </p:txBody>
      </p:sp>
      <p:sp>
        <p:nvSpPr>
          <p:cNvPr id="4" name="txt-3">
            <a:extLst xmlns:a="http://schemas.openxmlformats.org/drawingml/2006/main">
              <a:ext uri="{FF2B5EF4-FFF2-40B4-BE49-F238E27FC236}">
                <a16:creationId xmlns:a16="http://schemas.microsoft.com/office/drawing/2014/main" id="{BB69DE1D-22B9-4014-8D5B-91929895E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00775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627383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62738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27383"/>
                </a:solidFill>
                <a:latin typeface="Arial Unicode MS"/>
                <a:ea typeface="Arial Unicode MS"/>
                <a:cs typeface="Arial Unicode MS"/>
              </a:rPr>
              <a:t>仅把 SSH 阻断移到最前面仍会保留其他过宽访问，需要收敛原始授权</a:t>
            </a:r>
          </a:p>
        </p:txBody>
      </p:sp>
      <p:sp>
        <p:nvSpPr>
          <p:cNvPr id="5" name="txt-4">
            <a:extLst xmlns:a="http://schemas.openxmlformats.org/drawingml/2006/main">
              <a:ext uri="{FF2B5EF4-FFF2-40B4-BE49-F238E27FC236}">
                <a16:creationId xmlns:a16="http://schemas.microsoft.com/office/drawing/2014/main" id="{64F3B541-5691-4064-90D6-B20000A22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00800"/>
            <a:ext cx="628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627383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62738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27383"/>
                </a:solidFill>
                <a:latin typeface="Arial Unicode MS"/>
                <a:ea typeface="Arial Unicode MS"/>
                <a:cs typeface="Arial Unicode MS"/>
              </a:rPr>
              <a:t>16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6A1E715-F7CE-4C04-88AA-7DDA8D927367}"/>
              </a:ext>
            </a:extLst>
          </p:cNvPr>
          <p:cNvGraphicFramePr/>
          <p:nvPr/>
        </p:nvGraphicFramePr>
        <p:xfrm>
          <a:off xmlns:a="http://schemas.openxmlformats.org/drawingml/2006/main" x="609600" y="2162175"/>
          <a:ext xmlns:a="http://schemas.openxmlformats.org/drawingml/2006/main" cx="10972800" cy="2667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952500"/>
                <a:gridCol w="6191250"/>
                <a:gridCol w="1905000"/>
                <a:gridCol w="1924050"/>
              </a:tblGrid>
              <a:tr h="666750"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顺序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12283F"/>
                      </a:solidFill>
                      <a:prstDash val="solid"/>
                    </a:lnL>
                    <a:lnR w="6350">
                      <a:solidFill>
                        <a:srgbClr val="12283F"/>
                      </a:solidFill>
                      <a:prstDash val="solid"/>
                    </a:lnR>
                    <a:lnT w="6350">
                      <a:solidFill>
                        <a:srgbClr val="12283F"/>
                      </a:solidFill>
                      <a:prstDash val="solid"/>
                    </a:lnT>
                    <a:lnB w="6350">
                      <a:solidFill>
                        <a:srgbClr val="12283F"/>
                      </a:solidFill>
                      <a:prstDash val="solid"/>
                    </a:lnB>
                    <a:solidFill>
                      <a:srgbClr val="12283F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源与目的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12283F"/>
                      </a:solidFill>
                      <a:prstDash val="solid"/>
                    </a:lnL>
                    <a:lnR w="6350">
                      <a:solidFill>
                        <a:srgbClr val="12283F"/>
                      </a:solidFill>
                      <a:prstDash val="solid"/>
                    </a:lnR>
                    <a:lnT w="6350">
                      <a:solidFill>
                        <a:srgbClr val="12283F"/>
                      </a:solidFill>
                      <a:prstDash val="solid"/>
                    </a:lnT>
                    <a:lnB w="6350">
                      <a:solidFill>
                        <a:srgbClr val="12283F"/>
                      </a:solidFill>
                      <a:prstDash val="solid"/>
                    </a:lnB>
                    <a:solidFill>
                      <a:srgbClr val="12283F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服务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12283F"/>
                      </a:solidFill>
                      <a:prstDash val="solid"/>
                    </a:lnL>
                    <a:lnR w="6350">
                      <a:solidFill>
                        <a:srgbClr val="12283F"/>
                      </a:solidFill>
                      <a:prstDash val="solid"/>
                    </a:lnR>
                    <a:lnT w="6350">
                      <a:solidFill>
                        <a:srgbClr val="12283F"/>
                      </a:solidFill>
                      <a:prstDash val="solid"/>
                    </a:lnT>
                    <a:lnB w="6350">
                      <a:solidFill>
                        <a:srgbClr val="12283F"/>
                      </a:solidFill>
                      <a:prstDash val="solid"/>
                    </a:lnB>
                    <a:solidFill>
                      <a:srgbClr val="12283F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动作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12283F"/>
                      </a:solidFill>
                      <a:prstDash val="solid"/>
                    </a:lnL>
                    <a:lnR w="6350">
                      <a:solidFill>
                        <a:srgbClr val="12283F"/>
                      </a:solidFill>
                      <a:prstDash val="solid"/>
                    </a:lnR>
                    <a:lnT w="6350">
                      <a:solidFill>
                        <a:srgbClr val="12283F"/>
                      </a:solidFill>
                      <a:prstDash val="solid"/>
                    </a:lnT>
                    <a:lnB w="6350">
                      <a:solidFill>
                        <a:srgbClr val="12283F"/>
                      </a:solidFill>
                      <a:prstDash val="solid"/>
                    </a:lnB>
                    <a:solidFill>
                      <a:srgbClr val="12283F"/>
                    </a:solidFill>
                  </a:tcPr>
                </a:tc>
              </a:tr>
              <a:tr h="666750"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2283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1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EE6EC"/>
                      </a:solidFill>
                      <a:prstDash val="solid"/>
                    </a:lnL>
                    <a:lnR w="6350">
                      <a:solidFill>
                        <a:srgbClr val="DEE6EC"/>
                      </a:solidFill>
                      <a:prstDash val="solid"/>
                    </a:lnR>
                    <a:lnT w="6350">
                      <a:solidFill>
                        <a:srgbClr val="DEE6EC"/>
                      </a:solidFill>
                      <a:prstDash val="solid"/>
                    </a:lnT>
                    <a:lnB w="6350">
                      <a:solidFill>
                        <a:srgbClr val="DEE6EC"/>
                      </a:solidFill>
                      <a:prstDash val="solid"/>
                    </a:lnB>
                    <a:solidFill>
                      <a:srgbClr val="DEF1ED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2283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10.20.0.0/16 到 10.30.0.0/16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EE6EC"/>
                      </a:solidFill>
                      <a:prstDash val="solid"/>
                    </a:lnL>
                    <a:lnR w="6350">
                      <a:solidFill>
                        <a:srgbClr val="DEE6EC"/>
                      </a:solidFill>
                      <a:prstDash val="solid"/>
                    </a:lnR>
                    <a:lnT w="6350">
                      <a:solidFill>
                        <a:srgbClr val="DEE6EC"/>
                      </a:solidFill>
                      <a:prstDash val="solid"/>
                    </a:lnT>
                    <a:lnB w="6350">
                      <a:solidFill>
                        <a:srgbClr val="DEE6EC"/>
                      </a:solidFill>
                      <a:prstDash val="solid"/>
                    </a:lnB>
                    <a:solidFill>
                      <a:srgbClr val="DEF1ED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2283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Any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EE6EC"/>
                      </a:solidFill>
                      <a:prstDash val="solid"/>
                    </a:lnL>
                    <a:lnR w="6350">
                      <a:solidFill>
                        <a:srgbClr val="DEE6EC"/>
                      </a:solidFill>
                      <a:prstDash val="solid"/>
                    </a:lnR>
                    <a:lnT w="6350">
                      <a:solidFill>
                        <a:srgbClr val="DEE6EC"/>
                      </a:solidFill>
                      <a:prstDash val="solid"/>
                    </a:lnT>
                    <a:lnB w="6350">
                      <a:solidFill>
                        <a:srgbClr val="DEE6EC"/>
                      </a:solidFill>
                      <a:prstDash val="solid"/>
                    </a:lnB>
                    <a:solidFill>
                      <a:srgbClr val="DEF1ED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2283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放行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EE6EC"/>
                      </a:solidFill>
                      <a:prstDash val="solid"/>
                    </a:lnL>
                    <a:lnR w="6350">
                      <a:solidFill>
                        <a:srgbClr val="DEE6EC"/>
                      </a:solidFill>
                      <a:prstDash val="solid"/>
                    </a:lnR>
                    <a:lnT w="6350">
                      <a:solidFill>
                        <a:srgbClr val="DEE6EC"/>
                      </a:solidFill>
                      <a:prstDash val="solid"/>
                    </a:lnT>
                    <a:lnB w="6350">
                      <a:solidFill>
                        <a:srgbClr val="DEE6EC"/>
                      </a:solidFill>
                      <a:prstDash val="solid"/>
                    </a:lnB>
                    <a:solidFill>
                      <a:srgbClr val="DEF1ED"/>
                    </a:solidFill>
                  </a:tcPr>
                </a:tc>
              </a:tr>
              <a:tr h="666750"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2283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2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EE6EC"/>
                      </a:solidFill>
                      <a:prstDash val="solid"/>
                    </a:lnL>
                    <a:lnR w="6350">
                      <a:solidFill>
                        <a:srgbClr val="DEE6EC"/>
                      </a:solidFill>
                      <a:prstDash val="solid"/>
                    </a:lnR>
                    <a:lnT w="6350">
                      <a:solidFill>
                        <a:srgbClr val="DEE6EC"/>
                      </a:solidFill>
                      <a:prstDash val="solid"/>
                    </a:lnT>
                    <a:lnB w="6350">
                      <a:solidFill>
                        <a:srgbClr val="DEE6EC"/>
                      </a:solidFill>
                      <a:prstDash val="solid"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2283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10.20.10.15 到 10.30.20.10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EE6EC"/>
                      </a:solidFill>
                      <a:prstDash val="solid"/>
                    </a:lnL>
                    <a:lnR w="6350">
                      <a:solidFill>
                        <a:srgbClr val="DEE6EC"/>
                      </a:solidFill>
                      <a:prstDash val="solid"/>
                    </a:lnR>
                    <a:lnT w="6350">
                      <a:solidFill>
                        <a:srgbClr val="DEE6EC"/>
                      </a:solidFill>
                      <a:prstDash val="solid"/>
                    </a:lnT>
                    <a:lnB w="6350">
                      <a:solidFill>
                        <a:srgbClr val="DEE6EC"/>
                      </a:solidFill>
                      <a:prstDash val="solid"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2283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TCP 22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EE6EC"/>
                      </a:solidFill>
                      <a:prstDash val="solid"/>
                    </a:lnL>
                    <a:lnR w="6350">
                      <a:solidFill>
                        <a:srgbClr val="DEE6EC"/>
                      </a:solidFill>
                      <a:prstDash val="solid"/>
                    </a:lnR>
                    <a:lnT w="6350">
                      <a:solidFill>
                        <a:srgbClr val="DEE6EC"/>
                      </a:solidFill>
                      <a:prstDash val="solid"/>
                    </a:lnT>
                    <a:lnB w="6350">
                      <a:solidFill>
                        <a:srgbClr val="DEE6EC"/>
                      </a:solidFill>
                      <a:prstDash val="solid"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2283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阻断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EE6EC"/>
                      </a:solidFill>
                      <a:prstDash val="solid"/>
                    </a:lnL>
                    <a:lnR w="6350">
                      <a:solidFill>
                        <a:srgbClr val="DEE6EC"/>
                      </a:solidFill>
                      <a:prstDash val="solid"/>
                    </a:lnR>
                    <a:lnT w="6350">
                      <a:solidFill>
                        <a:srgbClr val="DEE6EC"/>
                      </a:solidFill>
                      <a:prstDash val="solid"/>
                    </a:lnT>
                    <a:lnB w="6350">
                      <a:solidFill>
                        <a:srgbClr val="DEE6EC"/>
                      </a:solidFill>
                      <a:prstDash val="solid"/>
                    </a:lnB>
                    <a:solidFill>
                      <a:srgbClr val="EEF3F6"/>
                    </a:solidFill>
                  </a:tcPr>
                </a:tc>
              </a:tr>
              <a:tr h="666750"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2283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3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EE6EC"/>
                      </a:solidFill>
                      <a:prstDash val="solid"/>
                    </a:lnL>
                    <a:lnR w="6350">
                      <a:solidFill>
                        <a:srgbClr val="DEE6EC"/>
                      </a:solidFill>
                      <a:prstDash val="solid"/>
                    </a:lnR>
                    <a:lnT w="6350">
                      <a:solidFill>
                        <a:srgbClr val="DEE6EC"/>
                      </a:solidFill>
                      <a:prstDash val="solid"/>
                    </a:lnT>
                    <a:lnB w="6350">
                      <a:solidFill>
                        <a:srgbClr val="DEE6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2283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已审核业务范围内的其他流量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EE6EC"/>
                      </a:solidFill>
                      <a:prstDash val="solid"/>
                    </a:lnL>
                    <a:lnR w="6350">
                      <a:solidFill>
                        <a:srgbClr val="DEE6EC"/>
                      </a:solidFill>
                      <a:prstDash val="solid"/>
                    </a:lnR>
                    <a:lnT w="6350">
                      <a:solidFill>
                        <a:srgbClr val="DEE6EC"/>
                      </a:solidFill>
                      <a:prstDash val="solid"/>
                    </a:lnT>
                    <a:lnB w="6350">
                      <a:solidFill>
                        <a:srgbClr val="DEE6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2283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Any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EE6EC"/>
                      </a:solidFill>
                      <a:prstDash val="solid"/>
                    </a:lnL>
                    <a:lnR w="6350">
                      <a:solidFill>
                        <a:srgbClr val="DEE6EC"/>
                      </a:solidFill>
                      <a:prstDash val="solid"/>
                    </a:lnR>
                    <a:lnT w="6350">
                      <a:solidFill>
                        <a:srgbClr val="DEE6EC"/>
                      </a:solidFill>
                      <a:prstDash val="solid"/>
                    </a:lnT>
                    <a:lnB w="6350">
                      <a:solidFill>
                        <a:srgbClr val="DEE6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2283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阻断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EE6EC"/>
                      </a:solidFill>
                      <a:prstDash val="solid"/>
                    </a:lnL>
                    <a:lnR w="6350">
                      <a:solidFill>
                        <a:srgbClr val="DEE6EC"/>
                      </a:solidFill>
                      <a:prstDash val="solid"/>
                    </a:lnR>
                    <a:lnT w="6350">
                      <a:solidFill>
                        <a:srgbClr val="DEE6EC"/>
                      </a:solidFill>
                      <a:prstDash val="solid"/>
                    </a:lnT>
                    <a:lnB w="6350">
                      <a:solidFill>
                        <a:srgbClr val="DEE6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xt-5">
            <a:extLst xmlns:a="http://schemas.openxmlformats.org/drawingml/2006/main">
              <a:ext uri="{FF2B5EF4-FFF2-40B4-BE49-F238E27FC236}">
                <a16:creationId xmlns:a16="http://schemas.microsoft.com/office/drawing/2014/main" id="{5A3F09F0-85B9-4B55-A92D-59C01047B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48275"/>
            <a:ext cx="6667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D6685A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2325" b="1">
                <a:solidFill>
                  <a:srgbClr val="D6685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325" b="1">
                <a:solidFill>
                  <a:srgbClr val="D6685A"/>
                </a:solidFill>
                <a:latin typeface="Arial Unicode MS"/>
                <a:ea typeface="Arial Unicode MS"/>
                <a:cs typeface="Arial Unicode MS"/>
              </a:rPr>
              <a:t>SSH 新连接首先命中第 1 条</a:t>
            </a:r>
          </a:p>
        </p:txBody>
      </p:sp>
      <p:sp>
        <p:nvSpPr>
          <p:cNvPr id="8" name="txt-6">
            <a:extLst xmlns:a="http://schemas.openxmlformats.org/drawingml/2006/main">
              <a:ext uri="{FF2B5EF4-FFF2-40B4-BE49-F238E27FC236}">
                <a16:creationId xmlns:a16="http://schemas.microsoft.com/office/drawing/2014/main" id="{F225EA34-7942-4E89-9E49-89DCC2CED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0"/>
            <a:ext cx="952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627383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62738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627383"/>
                </a:solidFill>
                <a:latin typeface="Arial Unicode MS"/>
                <a:ea typeface="Arial Unicode MS"/>
                <a:cs typeface="Arial Unicode MS"/>
              </a:rPr>
              <a:t>后续拒绝不会覆盖已匹配的放行。</a:t>
            </a:r>
          </a:p>
        </p:txBody>
      </p:sp>
    </p:spTree>
    <p:extLst>
      <p:ext uri="{BB962C8B-B14F-4D97-AF65-F5344CB8AC3E}">
        <p14:creationId xmlns:p14="http://schemas.microsoft.com/office/powerpoint/2010/main" val="2004332331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xt-0">
            <a:extLst xmlns:a="http://schemas.openxmlformats.org/drawingml/2006/main">
              <a:ext uri="{FF2B5EF4-FFF2-40B4-BE49-F238E27FC236}">
                <a16:creationId xmlns:a16="http://schemas.microsoft.com/office/drawing/2014/main" id="{F030B1E8-23A1-4268-BFCF-E1E4ED39D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28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008B87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008B8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1">
                <a:solidFill>
                  <a:srgbClr val="008B87"/>
                </a:solidFill>
                <a:latin typeface="Arial Unicode MS"/>
                <a:ea typeface="Arial Unicode MS"/>
                <a:cs typeface="Arial Unicode MS"/>
              </a:rPr>
              <a:t>02  CFW 使用规范</a:t>
            </a:r>
          </a:p>
        </p:txBody>
      </p:sp>
      <p:sp>
        <p:nvSpPr>
          <p:cNvPr id="2" name="txt-1">
            <a:extLst xmlns:a="http://schemas.openxmlformats.org/drawingml/2006/main">
              <a:ext uri="{FF2B5EF4-FFF2-40B4-BE49-F238E27FC236}">
                <a16:creationId xmlns:a16="http://schemas.microsoft.com/office/drawing/2014/main" id="{12BFBA89-EDB7-4FAA-9036-A412E9947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75" b="1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3075" b="1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75" b="1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rPr>
              <a:t>出方向控制需要覆盖低频业务依赖</a:t>
            </a:r>
          </a:p>
        </p:txBody>
      </p:sp>
      <p:sp>
        <p:nvSpPr>
          <p:cNvPr id="3" name="txt-2">
            <a:extLst xmlns:a="http://schemas.openxmlformats.org/drawingml/2006/main">
              <a:ext uri="{FF2B5EF4-FFF2-40B4-BE49-F238E27FC236}">
                <a16:creationId xmlns:a16="http://schemas.microsoft.com/office/drawing/2014/main" id="{C8122D77-573B-4B54-80B8-BF3F8F96A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62075"/>
            <a:ext cx="1097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627383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62738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627383"/>
                </a:solidFill>
                <a:latin typeface="Arial Unicode MS"/>
                <a:ea typeface="Arial Unicode MS"/>
                <a:cs typeface="Arial Unicode MS"/>
              </a:rPr>
              <a:t>从业务外联清单建立策略，避免一次性放开全部 TCP 443</a:t>
            </a:r>
          </a:p>
        </p:txBody>
      </p:sp>
      <p:sp>
        <p:nvSpPr>
          <p:cNvPr id="4" name="txt-3">
            <a:extLst xmlns:a="http://schemas.openxmlformats.org/drawingml/2006/main">
              <a:ext uri="{FF2B5EF4-FFF2-40B4-BE49-F238E27FC236}">
                <a16:creationId xmlns:a16="http://schemas.microsoft.com/office/drawing/2014/main" id="{86A575BF-10DB-4EA5-9FA1-0A05A66A7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00775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627383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62738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27383"/>
                </a:solidFill>
                <a:latin typeface="Arial Unicode MS"/>
                <a:ea typeface="Arial Unicode MS"/>
                <a:cs typeface="Arial Unicode MS"/>
              </a:rPr>
              <a:t>域名规则依赖边界、协议与匹配方式。变更后需要以实际日志验证</a:t>
            </a:r>
          </a:p>
        </p:txBody>
      </p:sp>
      <p:sp>
        <p:nvSpPr>
          <p:cNvPr id="5" name="txt-4">
            <a:extLst xmlns:a="http://schemas.openxmlformats.org/drawingml/2006/main">
              <a:ext uri="{FF2B5EF4-FFF2-40B4-BE49-F238E27FC236}">
                <a16:creationId xmlns:a16="http://schemas.microsoft.com/office/drawing/2014/main" id="{00B4312D-BF47-4736-B7A1-2FF1FC9CB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00800"/>
            <a:ext cx="628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627383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62738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27383"/>
                </a:solidFill>
                <a:latin typeface="Arial Unicode MS"/>
                <a:ea typeface="Arial Unicode MS"/>
                <a:cs typeface="Arial Unicode MS"/>
              </a:rPr>
              <a:t>17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F1A89AE-BB0E-4FAB-A7AE-6C95FB5195EF}"/>
              </a:ext>
            </a:extLst>
          </p:cNvPr>
          <p:cNvGraphicFramePr/>
          <p:nvPr/>
        </p:nvGraphicFramePr>
        <p:xfrm>
          <a:off xmlns:a="http://schemas.openxmlformats.org/drawingml/2006/main" x="609600" y="2181225"/>
          <a:ext xmlns:a="http://schemas.openxmlformats.org/drawingml/2006/main" cx="10972800" cy="35718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286000"/>
                <a:gridCol w="4572000"/>
                <a:gridCol w="4114800"/>
              </a:tblGrid>
              <a:tr h="714375"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依赖类别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12283F"/>
                      </a:solidFill>
                      <a:prstDash val="solid"/>
                    </a:lnL>
                    <a:lnR w="6350">
                      <a:solidFill>
                        <a:srgbClr val="12283F"/>
                      </a:solidFill>
                      <a:prstDash val="solid"/>
                    </a:lnR>
                    <a:lnT w="6350">
                      <a:solidFill>
                        <a:srgbClr val="12283F"/>
                      </a:solidFill>
                      <a:prstDash val="solid"/>
                    </a:lnT>
                    <a:lnB w="6350">
                      <a:solidFill>
                        <a:srgbClr val="12283F"/>
                      </a:solidFill>
                      <a:prstDash val="solid"/>
                    </a:lnB>
                    <a:solidFill>
                      <a:srgbClr val="12283F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申请要说明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12283F"/>
                      </a:solidFill>
                      <a:prstDash val="solid"/>
                    </a:lnL>
                    <a:lnR w="6350">
                      <a:solidFill>
                        <a:srgbClr val="12283F"/>
                      </a:solidFill>
                      <a:prstDash val="solid"/>
                    </a:lnR>
                    <a:lnT w="6350">
                      <a:solidFill>
                        <a:srgbClr val="12283F"/>
                      </a:solidFill>
                      <a:prstDash val="solid"/>
                    </a:lnT>
                    <a:lnB w="6350">
                      <a:solidFill>
                        <a:srgbClr val="12283F"/>
                      </a:solidFill>
                      <a:prstDash val="solid"/>
                    </a:lnB>
                    <a:solidFill>
                      <a:srgbClr val="12283F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验证样例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12283F"/>
                      </a:solidFill>
                      <a:prstDash val="solid"/>
                    </a:lnL>
                    <a:lnR w="6350">
                      <a:solidFill>
                        <a:srgbClr val="12283F"/>
                      </a:solidFill>
                      <a:prstDash val="solid"/>
                    </a:lnR>
                    <a:lnT w="6350">
                      <a:solidFill>
                        <a:srgbClr val="12283F"/>
                      </a:solidFill>
                      <a:prstDash val="solid"/>
                    </a:lnT>
                    <a:lnB w="6350">
                      <a:solidFill>
                        <a:srgbClr val="12283F"/>
                      </a:solidFill>
                      <a:prstDash val="solid"/>
                    </a:lnB>
                    <a:solidFill>
                      <a:srgbClr val="12283F"/>
                    </a:solidFill>
                  </a:tcPr>
                </a:tc>
              </a:tr>
              <a:tr h="714375"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2283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业务 API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EE6EC"/>
                      </a:solidFill>
                      <a:prstDash val="solid"/>
                    </a:lnL>
                    <a:lnR w="6350">
                      <a:solidFill>
                        <a:srgbClr val="DEE6EC"/>
                      </a:solidFill>
                      <a:prstDash val="solid"/>
                    </a:lnR>
                    <a:lnT w="6350">
                      <a:solidFill>
                        <a:srgbClr val="DEE6EC"/>
                      </a:solidFill>
                      <a:prstDash val="solid"/>
                    </a:lnT>
                    <a:lnB w="6350">
                      <a:solidFill>
                        <a:srgbClr val="DEE6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2283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目的域名、协议、业务负责人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EE6EC"/>
                      </a:solidFill>
                      <a:prstDash val="solid"/>
                    </a:lnL>
                    <a:lnR w="6350">
                      <a:solidFill>
                        <a:srgbClr val="DEE6EC"/>
                      </a:solidFill>
                      <a:prstDash val="solid"/>
                    </a:lnR>
                    <a:lnT w="6350">
                      <a:solidFill>
                        <a:srgbClr val="DEE6EC"/>
                      </a:solidFill>
                      <a:prstDash val="solid"/>
                    </a:lnT>
                    <a:lnB w="6350">
                      <a:solidFill>
                        <a:srgbClr val="DEE6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2283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请求完成且命中预期规则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EE6EC"/>
                      </a:solidFill>
                      <a:prstDash val="solid"/>
                    </a:lnL>
                    <a:lnR w="6350">
                      <a:solidFill>
                        <a:srgbClr val="DEE6EC"/>
                      </a:solidFill>
                      <a:prstDash val="solid"/>
                    </a:lnR>
                    <a:lnT w="6350">
                      <a:solidFill>
                        <a:srgbClr val="DEE6EC"/>
                      </a:solidFill>
                      <a:prstDash val="solid"/>
                    </a:lnT>
                    <a:lnB w="6350">
                      <a:solidFill>
                        <a:srgbClr val="DEE6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14375"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2283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软件与补丁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EE6EC"/>
                      </a:solidFill>
                      <a:prstDash val="solid"/>
                    </a:lnL>
                    <a:lnR w="6350">
                      <a:solidFill>
                        <a:srgbClr val="DEE6EC"/>
                      </a:solidFill>
                      <a:prstDash val="solid"/>
                    </a:lnR>
                    <a:lnT w="6350">
                      <a:solidFill>
                        <a:srgbClr val="DEE6EC"/>
                      </a:solidFill>
                      <a:prstDash val="solid"/>
                    </a:lnT>
                    <a:lnB w="6350">
                      <a:solidFill>
                        <a:srgbClr val="DEE6EC"/>
                      </a:solidFill>
                      <a:prstDash val="solid"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2283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批准仓库、更新窗口、维护人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EE6EC"/>
                      </a:solidFill>
                      <a:prstDash val="solid"/>
                    </a:lnL>
                    <a:lnR w="6350">
                      <a:solidFill>
                        <a:srgbClr val="DEE6EC"/>
                      </a:solidFill>
                      <a:prstDash val="solid"/>
                    </a:lnR>
                    <a:lnT w="6350">
                      <a:solidFill>
                        <a:srgbClr val="DEE6EC"/>
                      </a:solidFill>
                      <a:prstDash val="solid"/>
                    </a:lnT>
                    <a:lnB w="6350">
                      <a:solidFill>
                        <a:srgbClr val="DEE6EC"/>
                      </a:solidFill>
                      <a:prstDash val="solid"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2283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下载与更新流程正常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EE6EC"/>
                      </a:solidFill>
                      <a:prstDash val="solid"/>
                    </a:lnL>
                    <a:lnR w="6350">
                      <a:solidFill>
                        <a:srgbClr val="DEE6EC"/>
                      </a:solidFill>
                      <a:prstDash val="solid"/>
                    </a:lnR>
                    <a:lnT w="6350">
                      <a:solidFill>
                        <a:srgbClr val="DEE6EC"/>
                      </a:solidFill>
                      <a:prstDash val="solid"/>
                    </a:lnT>
                    <a:lnB w="6350">
                      <a:solidFill>
                        <a:srgbClr val="DEE6EC"/>
                      </a:solidFill>
                      <a:prstDash val="solid"/>
                    </a:lnB>
                    <a:solidFill>
                      <a:srgbClr val="EEF3F6"/>
                    </a:solidFill>
                  </a:tcPr>
                </a:tc>
              </a:tr>
              <a:tr h="714375"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2283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基础服务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EE6EC"/>
                      </a:solidFill>
                      <a:prstDash val="solid"/>
                    </a:lnL>
                    <a:lnR w="6350">
                      <a:solidFill>
                        <a:srgbClr val="DEE6EC"/>
                      </a:solidFill>
                      <a:prstDash val="solid"/>
                    </a:lnR>
                    <a:lnT w="6350">
                      <a:solidFill>
                        <a:srgbClr val="DEE6EC"/>
                      </a:solidFill>
                      <a:prstDash val="solid"/>
                    </a:lnT>
                    <a:lnB w="6350">
                      <a:solidFill>
                        <a:srgbClr val="DEE6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2283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DNS、时间同步、证书和监控依赖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EE6EC"/>
                      </a:solidFill>
                      <a:prstDash val="solid"/>
                    </a:lnL>
                    <a:lnR w="6350">
                      <a:solidFill>
                        <a:srgbClr val="DEE6EC"/>
                      </a:solidFill>
                      <a:prstDash val="solid"/>
                    </a:lnR>
                    <a:lnT w="6350">
                      <a:solidFill>
                        <a:srgbClr val="DEE6EC"/>
                      </a:solidFill>
                      <a:prstDash val="solid"/>
                    </a:lnT>
                    <a:lnB w="6350">
                      <a:solidFill>
                        <a:srgbClr val="DEE6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2283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解析、校时与告警正常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EE6EC"/>
                      </a:solidFill>
                      <a:prstDash val="solid"/>
                    </a:lnL>
                    <a:lnR w="6350">
                      <a:solidFill>
                        <a:srgbClr val="DEE6EC"/>
                      </a:solidFill>
                      <a:prstDash val="solid"/>
                    </a:lnR>
                    <a:lnT w="6350">
                      <a:solidFill>
                        <a:srgbClr val="DEE6EC"/>
                      </a:solidFill>
                      <a:prstDash val="solid"/>
                    </a:lnT>
                    <a:lnB w="6350">
                      <a:solidFill>
                        <a:srgbClr val="DEE6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14375"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2283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低频任务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EE6EC"/>
                      </a:solidFill>
                      <a:prstDash val="solid"/>
                    </a:lnL>
                    <a:lnR w="6350">
                      <a:solidFill>
                        <a:srgbClr val="DEE6EC"/>
                      </a:solidFill>
                      <a:prstDash val="solid"/>
                    </a:lnR>
                    <a:lnT w="6350">
                      <a:solidFill>
                        <a:srgbClr val="DEE6EC"/>
                      </a:solidFill>
                      <a:prstDash val="solid"/>
                    </a:lnT>
                    <a:lnB w="6350">
                      <a:solidFill>
                        <a:srgbClr val="DEE6EC"/>
                      </a:solidFill>
                      <a:prstDash val="solid"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2283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备份、月结、批处理与故障切换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EE6EC"/>
                      </a:solidFill>
                      <a:prstDash val="solid"/>
                    </a:lnL>
                    <a:lnR w="6350">
                      <a:solidFill>
                        <a:srgbClr val="DEE6EC"/>
                      </a:solidFill>
                      <a:prstDash val="solid"/>
                    </a:lnR>
                    <a:lnT w="6350">
                      <a:solidFill>
                        <a:srgbClr val="DEE6EC"/>
                      </a:solidFill>
                      <a:prstDash val="solid"/>
                    </a:lnT>
                    <a:lnB w="6350">
                      <a:solidFill>
                        <a:srgbClr val="DEE6EC"/>
                      </a:solidFill>
                      <a:prstDash val="solid"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2283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覆盖任务周期后再收敛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EE6EC"/>
                      </a:solidFill>
                      <a:prstDash val="solid"/>
                    </a:lnL>
                    <a:lnR w="6350">
                      <a:solidFill>
                        <a:srgbClr val="DEE6EC"/>
                      </a:solidFill>
                      <a:prstDash val="solid"/>
                    </a:lnR>
                    <a:lnT w="6350">
                      <a:solidFill>
                        <a:srgbClr val="DEE6EC"/>
                      </a:solidFill>
                      <a:prstDash val="solid"/>
                    </a:lnT>
                    <a:lnB w="6350">
                      <a:solidFill>
                        <a:srgbClr val="DEE6EC"/>
                      </a:solidFill>
                      <a:prstDash val="solid"/>
                    </a:lnB>
                    <a:solidFill>
                      <a:srgbClr val="EEF3F6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1912975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txt-0">
            <a:extLst xmlns:a="http://schemas.openxmlformats.org/drawingml/2006/main">
              <a:ext uri="{FF2B5EF4-FFF2-40B4-BE49-F238E27FC236}">
                <a16:creationId xmlns:a16="http://schemas.microsoft.com/office/drawing/2014/main" id="{6C79CC0D-4210-401E-819E-C718DB427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28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008B87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008B8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1">
                <a:solidFill>
                  <a:srgbClr val="008B87"/>
                </a:solidFill>
                <a:latin typeface="Arial Unicode MS"/>
                <a:ea typeface="Arial Unicode MS"/>
                <a:cs typeface="Arial Unicode MS"/>
              </a:rPr>
              <a:t>02  CFW 使用规范</a:t>
            </a:r>
          </a:p>
        </p:txBody>
      </p:sp>
      <p:sp>
        <p:nvSpPr>
          <p:cNvPr id="2" name="txt-1">
            <a:extLst xmlns:a="http://schemas.openxmlformats.org/drawingml/2006/main">
              <a:ext uri="{FF2B5EF4-FFF2-40B4-BE49-F238E27FC236}">
                <a16:creationId xmlns:a16="http://schemas.microsoft.com/office/drawing/2014/main" id="{92AFB025-67CC-42D5-B7C0-EAB35E051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75" b="1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3075" b="1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75" b="1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rPr>
              <a:t>地址转换改变检查点看到的源地址</a:t>
            </a:r>
          </a:p>
        </p:txBody>
      </p:sp>
      <p:sp>
        <p:nvSpPr>
          <p:cNvPr id="3" name="txt-2">
            <a:extLst xmlns:a="http://schemas.openxmlformats.org/drawingml/2006/main">
              <a:ext uri="{FF2B5EF4-FFF2-40B4-BE49-F238E27FC236}">
                <a16:creationId xmlns:a16="http://schemas.microsoft.com/office/drawing/2014/main" id="{130CB934-8CEB-47B4-84B7-F57EFFC80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62075"/>
            <a:ext cx="1097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627383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62738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627383"/>
                </a:solidFill>
                <a:latin typeface="Arial Unicode MS"/>
                <a:ea typeface="Arial Unicode MS"/>
                <a:cs typeface="Arial Unicode MS"/>
              </a:rPr>
              <a:t>规则中的地址应来自实际路径与日志证据</a:t>
            </a:r>
          </a:p>
        </p:txBody>
      </p:sp>
      <p:sp>
        <p:nvSpPr>
          <p:cNvPr id="4" name="txt-3">
            <a:extLst xmlns:a="http://schemas.openxmlformats.org/drawingml/2006/main">
              <a:ext uri="{FF2B5EF4-FFF2-40B4-BE49-F238E27FC236}">
                <a16:creationId xmlns:a16="http://schemas.microsoft.com/office/drawing/2014/main" id="{1F9D5E01-ACAD-4B46-AF80-CE3B2D341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00775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627383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62738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27383"/>
                </a:solidFill>
                <a:latin typeface="Arial Unicode MS"/>
                <a:ea typeface="Arial Unicode MS"/>
                <a:cs typeface="Arial Unicode MS"/>
              </a:rPr>
              <a:t>该图解释 SNAT 的地址变化，不表示所有 CFW 部署模式都只在转换后检查</a:t>
            </a:r>
          </a:p>
        </p:txBody>
      </p:sp>
      <p:sp>
        <p:nvSpPr>
          <p:cNvPr id="5" name="txt-4">
            <a:extLst xmlns:a="http://schemas.openxmlformats.org/drawingml/2006/main">
              <a:ext uri="{FF2B5EF4-FFF2-40B4-BE49-F238E27FC236}">
                <a16:creationId xmlns:a16="http://schemas.microsoft.com/office/drawing/2014/main" id="{14E1311F-15EB-4173-AB38-9335D08A4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00800"/>
            <a:ext cx="628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627383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62738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27383"/>
                </a:solidFill>
                <a:latin typeface="Arial Unicode MS"/>
                <a:ea typeface="Arial Unicode MS"/>
                <a:cs typeface="Arial Unicode MS"/>
              </a:rPr>
              <a:t>18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A2ED6A0-972B-4284-909B-A0086591F33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89aedb156d147c6"/>
          <a:stretch xmlns:a="http://schemas.openxmlformats.org/drawingml/2006/main"/>
        </p:blipFill>
        <p:spPr>
          <a:xfrm xmlns:a="http://schemas.openxmlformats.org/drawingml/2006/main">
            <a:off x="1174081" y="1895475"/>
            <a:ext cx="6624388" cy="4143375"/>
          </a:xfrm>
          <a:prstGeom xmlns:a="http://schemas.openxmlformats.org/drawingml/2006/main" prst="rect">
            <a:avLst/>
          </a:prstGeom>
        </p:spPr>
      </p:pic>
      <p:sp>
        <p:nvSpPr>
          <p:cNvPr id="7" name="txt-5">
            <a:extLst xmlns:a="http://schemas.openxmlformats.org/drawingml/2006/main">
              <a:ext uri="{FF2B5EF4-FFF2-40B4-BE49-F238E27FC236}">
                <a16:creationId xmlns:a16="http://schemas.microsoft.com/office/drawing/2014/main" id="{1B5C19F0-AFCB-4A1C-BE08-F38A85629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2047875"/>
            <a:ext cx="25431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008B87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008B8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1">
                <a:solidFill>
                  <a:srgbClr val="008B87"/>
                </a:solidFill>
                <a:latin typeface="Arial Unicode MS"/>
                <a:ea typeface="Arial Unicode MS"/>
                <a:cs typeface="Arial Unicode MS"/>
              </a:rPr>
              <a:t>转换前</a:t>
            </a:r>
          </a:p>
        </p:txBody>
      </p:sp>
      <p:sp>
        <p:nvSpPr>
          <p:cNvPr id="8" name="txt-6">
            <a:extLst xmlns:a="http://schemas.openxmlformats.org/drawingml/2006/main">
              <a:ext uri="{FF2B5EF4-FFF2-40B4-BE49-F238E27FC236}">
                <a16:creationId xmlns:a16="http://schemas.microsoft.com/office/drawing/2014/main" id="{19FBE45D-DAAC-479D-82DE-7B3DE655F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2466975"/>
            <a:ext cx="25431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rPr>
              <a:t>可看到业务私网源地址</a:t>
            </a:r>
          </a:p>
        </p:txBody>
      </p:sp>
      <p:sp>
        <p:nvSpPr>
          <p:cNvPr id="9" name="txt-7">
            <a:extLst xmlns:a="http://schemas.openxmlformats.org/drawingml/2006/main">
              <a:ext uri="{FF2B5EF4-FFF2-40B4-BE49-F238E27FC236}">
                <a16:creationId xmlns:a16="http://schemas.microsoft.com/office/drawing/2014/main" id="{E8E15DC3-5BA4-4688-927F-4C20AB210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3352800"/>
            <a:ext cx="25431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008B87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008B8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1">
                <a:solidFill>
                  <a:srgbClr val="008B87"/>
                </a:solidFill>
                <a:latin typeface="Arial Unicode MS"/>
                <a:ea typeface="Arial Unicode MS"/>
                <a:cs typeface="Arial Unicode MS"/>
              </a:rPr>
              <a:t>转换后</a:t>
            </a:r>
          </a:p>
        </p:txBody>
      </p:sp>
      <p:sp>
        <p:nvSpPr>
          <p:cNvPr id="10" name="txt-8">
            <a:extLst xmlns:a="http://schemas.openxmlformats.org/drawingml/2006/main">
              <a:ext uri="{FF2B5EF4-FFF2-40B4-BE49-F238E27FC236}">
                <a16:creationId xmlns:a16="http://schemas.microsoft.com/office/drawing/2014/main" id="{8C956D80-8BFC-4F17-9CA3-54A18F2FB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3771900"/>
            <a:ext cx="25431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rPr>
              <a:t>可能看到出口 EIP</a:t>
            </a:r>
          </a:p>
          <a:p xmlns:a="http://schemas.openxmlformats.org/drawingml/2006/main">
            <a:pPr algn="l">
              <a:defRPr sz="1800" b="0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rPr>
              <a:t>代理也可能聚合来源</a:t>
            </a:r>
          </a:p>
        </p:txBody>
      </p:sp>
      <p:sp>
        <p:nvSpPr>
          <p:cNvPr id="11" name="txt-9">
            <a:extLst xmlns:a="http://schemas.openxmlformats.org/drawingml/2006/main">
              <a:ext uri="{FF2B5EF4-FFF2-40B4-BE49-F238E27FC236}">
                <a16:creationId xmlns:a16="http://schemas.microsoft.com/office/drawing/2014/main" id="{548AECE2-DF97-46EC-9921-60B459E65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4657725"/>
            <a:ext cx="25431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008B87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008B8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1">
                <a:solidFill>
                  <a:srgbClr val="008B87"/>
                </a:solidFill>
                <a:latin typeface="Arial Unicode MS"/>
                <a:ea typeface="Arial Unicode MS"/>
                <a:cs typeface="Arial Unicode MS"/>
              </a:rPr>
              <a:t>核验</a:t>
            </a:r>
          </a:p>
        </p:txBody>
      </p:sp>
      <p:sp>
        <p:nvSpPr>
          <p:cNvPr id="12" name="txt-10">
            <a:extLst xmlns:a="http://schemas.openxmlformats.org/drawingml/2006/main">
              <a:ext uri="{FF2B5EF4-FFF2-40B4-BE49-F238E27FC236}">
                <a16:creationId xmlns:a16="http://schemas.microsoft.com/office/drawing/2014/main" id="{7622FC91-3804-4915-A440-534709D61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5076825"/>
            <a:ext cx="25431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rPr>
              <a:t>先明确 CFW 检查点</a:t>
            </a:r>
          </a:p>
          <a:p xmlns:a="http://schemas.openxmlformats.org/drawingml/2006/main">
            <a:pPr algn="l">
              <a:defRPr sz="1800" b="0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rPr>
              <a:t>再决定规则匹配地址</a:t>
            </a:r>
          </a:p>
        </p:txBody>
      </p:sp>
    </p:spTree>
    <p:extLst>
      <p:ext uri="{BB962C8B-B14F-4D97-AF65-F5344CB8AC3E}">
        <p14:creationId xmlns:p14="http://schemas.microsoft.com/office/powerpoint/2010/main" val="2062948664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txt-0">
            <a:extLst xmlns:a="http://schemas.openxmlformats.org/drawingml/2006/main">
              <a:ext uri="{FF2B5EF4-FFF2-40B4-BE49-F238E27FC236}">
                <a16:creationId xmlns:a16="http://schemas.microsoft.com/office/drawing/2014/main" id="{0587DB4E-D1F5-4F27-9446-4C4F3ADBD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28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008B87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008B8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1">
                <a:solidFill>
                  <a:srgbClr val="008B87"/>
                </a:solidFill>
                <a:latin typeface="Arial Unicode MS"/>
                <a:ea typeface="Arial Unicode MS"/>
                <a:cs typeface="Arial Unicode MS"/>
              </a:rPr>
              <a:t>02  CFW 使用规范</a:t>
            </a:r>
          </a:p>
        </p:txBody>
      </p:sp>
      <p:sp>
        <p:nvSpPr>
          <p:cNvPr id="2" name="txt-1">
            <a:extLst xmlns:a="http://schemas.openxmlformats.org/drawingml/2006/main">
              <a:ext uri="{FF2B5EF4-FFF2-40B4-BE49-F238E27FC236}">
                <a16:creationId xmlns:a16="http://schemas.microsoft.com/office/drawing/2014/main" id="{47244777-7343-45BD-9CD0-EA0775F8B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75" b="1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3075" b="1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75" b="1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rPr>
              <a:t>ACL 放行与白名单例外的检测差别</a:t>
            </a:r>
          </a:p>
        </p:txBody>
      </p:sp>
      <p:sp>
        <p:nvSpPr>
          <p:cNvPr id="3" name="txt-2">
            <a:extLst xmlns:a="http://schemas.openxmlformats.org/drawingml/2006/main">
              <a:ext uri="{FF2B5EF4-FFF2-40B4-BE49-F238E27FC236}">
                <a16:creationId xmlns:a16="http://schemas.microsoft.com/office/drawing/2014/main" id="{00ED3E45-DDB6-4C0B-BCD9-A4F29E6E0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62075"/>
            <a:ext cx="1097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627383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62738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627383"/>
                </a:solidFill>
                <a:latin typeface="Arial Unicode MS"/>
                <a:ea typeface="Arial Unicode MS"/>
                <a:cs typeface="Arial Unicode MS"/>
              </a:rPr>
              <a:t>普通业务授权优先使用精确 ACL</a:t>
            </a:r>
          </a:p>
        </p:txBody>
      </p:sp>
      <p:sp>
        <p:nvSpPr>
          <p:cNvPr id="4" name="txt-3">
            <a:extLst xmlns:a="http://schemas.openxmlformats.org/drawingml/2006/main">
              <a:ext uri="{FF2B5EF4-FFF2-40B4-BE49-F238E27FC236}">
                <a16:creationId xmlns:a16="http://schemas.microsoft.com/office/drawing/2014/main" id="{20673850-BE2F-4739-9664-960D1D327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00775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627383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62738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27383"/>
                </a:solidFill>
                <a:latin typeface="Arial Unicode MS"/>
                <a:ea typeface="Arial Unicode MS"/>
                <a:cs typeface="Arial Unicode MS"/>
              </a:rPr>
              <a:t>逻辑教学示意，具体配置以实际区域、版本与网络路径为准</a:t>
            </a:r>
          </a:p>
        </p:txBody>
      </p:sp>
      <p:sp>
        <p:nvSpPr>
          <p:cNvPr id="5" name="txt-4">
            <a:extLst xmlns:a="http://schemas.openxmlformats.org/drawingml/2006/main">
              <a:ext uri="{FF2B5EF4-FFF2-40B4-BE49-F238E27FC236}">
                <a16:creationId xmlns:a16="http://schemas.microsoft.com/office/drawing/2014/main" id="{0497F47F-57A3-470F-9967-657C51D70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00800"/>
            <a:ext cx="628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627383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62738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27383"/>
                </a:solidFill>
                <a:latin typeface="Arial Unicode MS"/>
                <a:ea typeface="Arial Unicode MS"/>
                <a:cs typeface="Arial Unicode MS"/>
              </a:rPr>
              <a:t>19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18089DF-8EDB-4B76-BFB9-DB1B7203E5C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45551de8caf42a8"/>
          <a:stretch xmlns:a="http://schemas.openxmlformats.org/drawingml/2006/main"/>
        </p:blipFill>
        <p:spPr>
          <a:xfrm xmlns:a="http://schemas.openxmlformats.org/drawingml/2006/main">
            <a:off x="1174081" y="1895475"/>
            <a:ext cx="6624388" cy="4143375"/>
          </a:xfrm>
          <a:prstGeom xmlns:a="http://schemas.openxmlformats.org/drawingml/2006/main" prst="rect">
            <a:avLst/>
          </a:prstGeom>
        </p:spPr>
      </p:pic>
      <p:sp>
        <p:nvSpPr>
          <p:cNvPr id="7" name="txt-5">
            <a:extLst xmlns:a="http://schemas.openxmlformats.org/drawingml/2006/main">
              <a:ext uri="{FF2B5EF4-FFF2-40B4-BE49-F238E27FC236}">
                <a16:creationId xmlns:a16="http://schemas.microsoft.com/office/drawing/2014/main" id="{BDF1A049-9F0B-46DD-8696-B925BD73B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2047875"/>
            <a:ext cx="25431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008B87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008B8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1">
                <a:solidFill>
                  <a:srgbClr val="008B87"/>
                </a:solidFill>
                <a:latin typeface="Arial Unicode MS"/>
                <a:ea typeface="Arial Unicode MS"/>
                <a:cs typeface="Arial Unicode MS"/>
              </a:rPr>
              <a:t>正常授权</a:t>
            </a:r>
          </a:p>
        </p:txBody>
      </p:sp>
      <p:sp>
        <p:nvSpPr>
          <p:cNvPr id="8" name="txt-6">
            <a:extLst xmlns:a="http://schemas.openxmlformats.org/drawingml/2006/main">
              <a:ext uri="{FF2B5EF4-FFF2-40B4-BE49-F238E27FC236}">
                <a16:creationId xmlns:a16="http://schemas.microsoft.com/office/drawing/2014/main" id="{F70ECE14-0C5A-4949-875D-E8073AD96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2466975"/>
            <a:ext cx="25431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rPr>
              <a:t>允许必要业务，同时保留后续威胁检测</a:t>
            </a:r>
          </a:p>
        </p:txBody>
      </p:sp>
      <p:sp>
        <p:nvSpPr>
          <p:cNvPr id="9" name="txt-7">
            <a:extLst xmlns:a="http://schemas.openxmlformats.org/drawingml/2006/main">
              <a:ext uri="{FF2B5EF4-FFF2-40B4-BE49-F238E27FC236}">
                <a16:creationId xmlns:a16="http://schemas.microsoft.com/office/drawing/2014/main" id="{5E8B3E34-AB1D-4C81-99B7-C33646447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3352800"/>
            <a:ext cx="25431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008B87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008B8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1">
                <a:solidFill>
                  <a:srgbClr val="008B87"/>
                </a:solidFill>
                <a:latin typeface="Arial Unicode MS"/>
                <a:ea typeface="Arial Unicode MS"/>
                <a:cs typeface="Arial Unicode MS"/>
              </a:rPr>
              <a:t>误报处理</a:t>
            </a:r>
          </a:p>
        </p:txBody>
      </p:sp>
      <p:sp>
        <p:nvSpPr>
          <p:cNvPr id="10" name="txt-8">
            <a:extLst xmlns:a="http://schemas.openxmlformats.org/drawingml/2006/main">
              <a:ext uri="{FF2B5EF4-FFF2-40B4-BE49-F238E27FC236}">
                <a16:creationId xmlns:a16="http://schemas.microsoft.com/office/drawing/2014/main" id="{253FE320-D323-4088-BEFD-ABF3518DE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3771900"/>
            <a:ext cx="25431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rPr>
              <a:t>定位 IPS 规则 ID</a:t>
            </a:r>
          </a:p>
          <a:p xmlns:a="http://schemas.openxmlformats.org/drawingml/2006/main">
            <a:pPr algn="l">
              <a:defRPr sz="1800" b="0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rPr>
              <a:t>评估影响与最小范围例外</a:t>
            </a:r>
          </a:p>
        </p:txBody>
      </p:sp>
      <p:sp>
        <p:nvSpPr>
          <p:cNvPr id="11" name="txt-9">
            <a:extLst xmlns:a="http://schemas.openxmlformats.org/drawingml/2006/main">
              <a:ext uri="{FF2B5EF4-FFF2-40B4-BE49-F238E27FC236}">
                <a16:creationId xmlns:a16="http://schemas.microsoft.com/office/drawing/2014/main" id="{4ED115DD-4EF8-4FA8-8E84-D0269E533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4657725"/>
            <a:ext cx="25431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008B87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008B8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1">
                <a:solidFill>
                  <a:srgbClr val="008B87"/>
                </a:solidFill>
                <a:latin typeface="Arial Unicode MS"/>
                <a:ea typeface="Arial Unicode MS"/>
                <a:cs typeface="Arial Unicode MS"/>
              </a:rPr>
              <a:t>例外管理</a:t>
            </a:r>
          </a:p>
        </p:txBody>
      </p:sp>
      <p:sp>
        <p:nvSpPr>
          <p:cNvPr id="12" name="txt-10">
            <a:extLst xmlns:a="http://schemas.openxmlformats.org/drawingml/2006/main">
              <a:ext uri="{FF2B5EF4-FFF2-40B4-BE49-F238E27FC236}">
                <a16:creationId xmlns:a16="http://schemas.microsoft.com/office/drawing/2014/main" id="{838D2B62-90D2-4B69-8DF7-E1476B06A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5076825"/>
            <a:ext cx="25431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rPr>
              <a:t>记录审批与有效时间</a:t>
            </a:r>
          </a:p>
          <a:p xmlns:a="http://schemas.openxmlformats.org/drawingml/2006/main">
            <a:pPr algn="l">
              <a:defRPr sz="1800" b="0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rPr>
              <a:t>明确恢复条件</a:t>
            </a:r>
          </a:p>
          <a:p xmlns:a="http://schemas.openxmlformats.org/drawingml/2006/main">
            <a:pPr algn="l">
              <a:defRPr sz="1800" b="0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rPr>
              <a:t>撤销例外后复测</a:t>
            </a:r>
          </a:p>
        </p:txBody>
      </p:sp>
    </p:spTree>
    <p:extLst>
      <p:ext uri="{BB962C8B-B14F-4D97-AF65-F5344CB8AC3E}">
        <p14:creationId xmlns:p14="http://schemas.microsoft.com/office/powerpoint/2010/main" val="1088617559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xt-0">
            <a:extLst xmlns:a="http://schemas.openxmlformats.org/drawingml/2006/main">
              <a:ext uri="{FF2B5EF4-FFF2-40B4-BE49-F238E27FC236}">
                <a16:creationId xmlns:a16="http://schemas.microsoft.com/office/drawing/2014/main" id="{68DA3FB8-9EA0-4B67-8F49-45B8E998F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28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008B87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008B8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1">
                <a:solidFill>
                  <a:srgbClr val="008B87"/>
                </a:solidFill>
                <a:latin typeface="Arial Unicode MS"/>
                <a:ea typeface="Arial Unicode MS"/>
                <a:cs typeface="Arial Unicode MS"/>
              </a:rPr>
              <a:t>02  CFW 使用规范</a:t>
            </a:r>
          </a:p>
        </p:txBody>
      </p:sp>
      <p:sp>
        <p:nvSpPr>
          <p:cNvPr id="2" name="txt-1">
            <a:extLst xmlns:a="http://schemas.openxmlformats.org/drawingml/2006/main">
              <a:ext uri="{FF2B5EF4-FFF2-40B4-BE49-F238E27FC236}">
                <a16:creationId xmlns:a16="http://schemas.microsoft.com/office/drawing/2014/main" id="{0982CF7B-390D-45B4-8EB2-DBC4320BC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75" b="1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3075" b="1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75" b="1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rPr>
              <a:t>规则填写示例与发布前复核</a:t>
            </a:r>
          </a:p>
        </p:txBody>
      </p:sp>
      <p:sp>
        <p:nvSpPr>
          <p:cNvPr id="3" name="txt-2">
            <a:extLst xmlns:a="http://schemas.openxmlformats.org/drawingml/2006/main">
              <a:ext uri="{FF2B5EF4-FFF2-40B4-BE49-F238E27FC236}">
                <a16:creationId xmlns:a16="http://schemas.microsoft.com/office/drawing/2014/main" id="{919C8B01-3129-466E-A41A-B54C2AAC7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62075"/>
            <a:ext cx="1097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627383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62738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627383"/>
                </a:solidFill>
                <a:latin typeface="Arial Unicode MS"/>
                <a:ea typeface="Arial Unicode MS"/>
                <a:cs typeface="Arial Unicode MS"/>
              </a:rPr>
              <a:t>按真实控制台字段核对源、目的、服务、动作与规则顺序</a:t>
            </a:r>
          </a:p>
        </p:txBody>
      </p:sp>
      <p:sp>
        <p:nvSpPr>
          <p:cNvPr id="4" name="txt-3">
            <a:extLst xmlns:a="http://schemas.openxmlformats.org/drawingml/2006/main">
              <a:ext uri="{FF2B5EF4-FFF2-40B4-BE49-F238E27FC236}">
                <a16:creationId xmlns:a16="http://schemas.microsoft.com/office/drawing/2014/main" id="{69D75611-BD4B-4438-85D9-CD9037890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00775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627383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62738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27383"/>
                </a:solidFill>
                <a:latin typeface="Arial Unicode MS"/>
                <a:ea typeface="Arial Unicode MS"/>
                <a:cs typeface="Arial Unicode MS"/>
              </a:rPr>
              <a:t>启用规则可能立即生效。先复核范围与顺序，再在批准窗口发布</a:t>
            </a:r>
          </a:p>
        </p:txBody>
      </p:sp>
      <p:sp>
        <p:nvSpPr>
          <p:cNvPr id="5" name="txt-4">
            <a:extLst xmlns:a="http://schemas.openxmlformats.org/drawingml/2006/main">
              <a:ext uri="{FF2B5EF4-FFF2-40B4-BE49-F238E27FC236}">
                <a16:creationId xmlns:a16="http://schemas.microsoft.com/office/drawing/2014/main" id="{E34DAF46-CD46-4857-B29A-C33574E25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00800"/>
            <a:ext cx="628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627383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62738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27383"/>
                </a:solidFill>
                <a:latin typeface="Arial Unicode MS"/>
                <a:ea typeface="Arial Unicode MS"/>
                <a:cs typeface="Arial Unicode MS"/>
              </a:rPr>
              <a:t>20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5ACA348-B2DA-4CF5-801C-7F1B7F5ABC06}"/>
              </a:ext>
            </a:extLst>
          </p:cNvPr>
          <p:cNvGraphicFramePr/>
          <p:nvPr/>
        </p:nvGraphicFramePr>
        <p:xfrm>
          <a:off xmlns:a="http://schemas.openxmlformats.org/drawingml/2006/main" x="609600" y="2162175"/>
          <a:ext xmlns:a="http://schemas.openxmlformats.org/drawingml/2006/main" cx="10972800" cy="3714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905000"/>
                <a:gridCol w="4762500"/>
                <a:gridCol w="4305300"/>
              </a:tblGrid>
              <a:tr h="619125"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字段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12283F"/>
                      </a:solidFill>
                      <a:prstDash val="solid"/>
                    </a:lnL>
                    <a:lnR w="6350">
                      <a:solidFill>
                        <a:srgbClr val="12283F"/>
                      </a:solidFill>
                      <a:prstDash val="solid"/>
                    </a:lnR>
                    <a:lnT w="6350">
                      <a:solidFill>
                        <a:srgbClr val="12283F"/>
                      </a:solidFill>
                      <a:prstDash val="solid"/>
                    </a:lnT>
                    <a:lnB w="6350">
                      <a:solidFill>
                        <a:srgbClr val="12283F"/>
                      </a:solidFill>
                      <a:prstDash val="solid"/>
                    </a:lnB>
                    <a:solidFill>
                      <a:srgbClr val="12283F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填写示例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12283F"/>
                      </a:solidFill>
                      <a:prstDash val="solid"/>
                    </a:lnL>
                    <a:lnR w="6350">
                      <a:solidFill>
                        <a:srgbClr val="12283F"/>
                      </a:solidFill>
                      <a:prstDash val="solid"/>
                    </a:lnR>
                    <a:lnT w="6350">
                      <a:solidFill>
                        <a:srgbClr val="12283F"/>
                      </a:solidFill>
                      <a:prstDash val="solid"/>
                    </a:lnT>
                    <a:lnB w="6350">
                      <a:solidFill>
                        <a:srgbClr val="12283F"/>
                      </a:solidFill>
                      <a:prstDash val="solid"/>
                    </a:lnB>
                    <a:solidFill>
                      <a:srgbClr val="12283F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复核要点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12283F"/>
                      </a:solidFill>
                      <a:prstDash val="solid"/>
                    </a:lnL>
                    <a:lnR w="6350">
                      <a:solidFill>
                        <a:srgbClr val="12283F"/>
                      </a:solidFill>
                      <a:prstDash val="solid"/>
                    </a:lnR>
                    <a:lnT w="6350">
                      <a:solidFill>
                        <a:srgbClr val="12283F"/>
                      </a:solidFill>
                      <a:prstDash val="solid"/>
                    </a:lnT>
                    <a:lnB w="6350">
                      <a:solidFill>
                        <a:srgbClr val="12283F"/>
                      </a:solidFill>
                      <a:prstDash val="solid"/>
                    </a:lnB>
                    <a:solidFill>
                      <a:srgbClr val="12283F"/>
                    </a:solidFill>
                  </a:tcPr>
                </a:tc>
              </a:tr>
              <a:tr h="619125"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2283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防护对象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EE6EC"/>
                      </a:solidFill>
                      <a:prstDash val="solid"/>
                    </a:lnL>
                    <a:lnR w="6350">
                      <a:solidFill>
                        <a:srgbClr val="DEE6EC"/>
                      </a:solidFill>
                      <a:prstDash val="solid"/>
                    </a:lnR>
                    <a:lnT w="6350">
                      <a:solidFill>
                        <a:srgbClr val="DEE6EC"/>
                      </a:solidFill>
                      <a:prstDash val="solid"/>
                    </a:lnT>
                    <a:lnB w="6350">
                      <a:solidFill>
                        <a:srgbClr val="DEE6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2283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应用与数据 VPC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EE6EC"/>
                      </a:solidFill>
                      <a:prstDash val="solid"/>
                    </a:lnL>
                    <a:lnR w="6350">
                      <a:solidFill>
                        <a:srgbClr val="DEE6EC"/>
                      </a:solidFill>
                      <a:prstDash val="solid"/>
                    </a:lnR>
                    <a:lnT w="6350">
                      <a:solidFill>
                        <a:srgbClr val="DEE6EC"/>
                      </a:solidFill>
                      <a:prstDash val="solid"/>
                    </a:lnT>
                    <a:lnB w="6350">
                      <a:solidFill>
                        <a:srgbClr val="DEE6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2283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检查资产与路径已接入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EE6EC"/>
                      </a:solidFill>
                      <a:prstDash val="solid"/>
                    </a:lnL>
                    <a:lnR w="6350">
                      <a:solidFill>
                        <a:srgbClr val="DEE6EC"/>
                      </a:solidFill>
                      <a:prstDash val="solid"/>
                    </a:lnR>
                    <a:lnT w="6350">
                      <a:solidFill>
                        <a:srgbClr val="DEE6EC"/>
                      </a:solidFill>
                      <a:prstDash val="solid"/>
                    </a:lnT>
                    <a:lnB w="6350">
                      <a:solidFill>
                        <a:srgbClr val="DEE6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2283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源 / 目的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EE6EC"/>
                      </a:solidFill>
                      <a:prstDash val="solid"/>
                    </a:lnL>
                    <a:lnR w="6350">
                      <a:solidFill>
                        <a:srgbClr val="DEE6EC"/>
                      </a:solidFill>
                      <a:prstDash val="solid"/>
                    </a:lnR>
                    <a:lnT w="6350">
                      <a:solidFill>
                        <a:srgbClr val="DEE6EC"/>
                      </a:solidFill>
                      <a:prstDash val="solid"/>
                    </a:lnT>
                    <a:lnB w="6350">
                      <a:solidFill>
                        <a:srgbClr val="DEE6EC"/>
                      </a:solidFill>
                      <a:prstDash val="solid"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2283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10.20.10.15 / 10.30.20.10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EE6EC"/>
                      </a:solidFill>
                      <a:prstDash val="solid"/>
                    </a:lnL>
                    <a:lnR w="6350">
                      <a:solidFill>
                        <a:srgbClr val="DEE6EC"/>
                      </a:solidFill>
                      <a:prstDash val="solid"/>
                    </a:lnR>
                    <a:lnT w="6350">
                      <a:solidFill>
                        <a:srgbClr val="DEE6EC"/>
                      </a:solidFill>
                      <a:prstDash val="solid"/>
                    </a:lnT>
                    <a:lnB w="6350">
                      <a:solidFill>
                        <a:srgbClr val="DEE6EC"/>
                      </a:solidFill>
                      <a:prstDash val="solid"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2283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地址范围与实际观测一致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EE6EC"/>
                      </a:solidFill>
                      <a:prstDash val="solid"/>
                    </a:lnL>
                    <a:lnR w="6350">
                      <a:solidFill>
                        <a:srgbClr val="DEE6EC"/>
                      </a:solidFill>
                      <a:prstDash val="solid"/>
                    </a:lnR>
                    <a:lnT w="6350">
                      <a:solidFill>
                        <a:srgbClr val="DEE6EC"/>
                      </a:solidFill>
                      <a:prstDash val="solid"/>
                    </a:lnT>
                    <a:lnB w="6350">
                      <a:solidFill>
                        <a:srgbClr val="DEE6EC"/>
                      </a:solidFill>
                      <a:prstDash val="solid"/>
                    </a:lnB>
                    <a:solidFill>
                      <a:srgbClr val="EEF3F6"/>
                    </a:solidFill>
                  </a:tcPr>
                </a:tc>
              </a:tr>
              <a:tr h="619125"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2283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服务 / 动作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EE6EC"/>
                      </a:solidFill>
                      <a:prstDash val="solid"/>
                    </a:lnL>
                    <a:lnR w="6350">
                      <a:solidFill>
                        <a:srgbClr val="DEE6EC"/>
                      </a:solidFill>
                      <a:prstDash val="solid"/>
                    </a:lnR>
                    <a:lnT w="6350">
                      <a:solidFill>
                        <a:srgbClr val="DEE6EC"/>
                      </a:solidFill>
                      <a:prstDash val="solid"/>
                    </a:lnT>
                    <a:lnB w="6350">
                      <a:solidFill>
                        <a:srgbClr val="DEE6EC"/>
                      </a:solidFill>
                      <a:prstDash val="solid"/>
                    </a:lnB>
                    <a:solidFill>
                      <a:srgbClr val="DEF1ED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2283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TCP，源 Any，目的 3306，放行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EE6EC"/>
                      </a:solidFill>
                      <a:prstDash val="solid"/>
                    </a:lnL>
                    <a:lnR w="6350">
                      <a:solidFill>
                        <a:srgbClr val="DEE6EC"/>
                      </a:solidFill>
                      <a:prstDash val="solid"/>
                    </a:lnR>
                    <a:lnT w="6350">
                      <a:solidFill>
                        <a:srgbClr val="DEE6EC"/>
                      </a:solidFill>
                      <a:prstDash val="solid"/>
                    </a:lnT>
                    <a:lnB w="6350">
                      <a:solidFill>
                        <a:srgbClr val="DEE6EC"/>
                      </a:solidFill>
                      <a:prstDash val="solid"/>
                    </a:lnB>
                    <a:solidFill>
                      <a:srgbClr val="DEF1ED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2283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客户端源端口通常动态分配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EE6EC"/>
                      </a:solidFill>
                      <a:prstDash val="solid"/>
                    </a:lnL>
                    <a:lnR w="6350">
                      <a:solidFill>
                        <a:srgbClr val="DEE6EC"/>
                      </a:solidFill>
                      <a:prstDash val="solid"/>
                    </a:lnR>
                    <a:lnT w="6350">
                      <a:solidFill>
                        <a:srgbClr val="DEE6EC"/>
                      </a:solidFill>
                      <a:prstDash val="solid"/>
                    </a:lnT>
                    <a:lnB w="6350">
                      <a:solidFill>
                        <a:srgbClr val="DEE6EC"/>
                      </a:solidFill>
                      <a:prstDash val="solid"/>
                    </a:lnB>
                    <a:solidFill>
                      <a:srgbClr val="DEF1ED"/>
                    </a:solidFill>
                  </a:tcPr>
                </a:tc>
              </a:tr>
              <a:tr h="619125"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2283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顺序 / 启用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EE6EC"/>
                      </a:solidFill>
                      <a:prstDash val="solid"/>
                    </a:lnL>
                    <a:lnR w="6350">
                      <a:solidFill>
                        <a:srgbClr val="DEE6EC"/>
                      </a:solidFill>
                      <a:prstDash val="solid"/>
                    </a:lnR>
                    <a:lnT w="6350">
                      <a:solidFill>
                        <a:srgbClr val="DEE6EC"/>
                      </a:solidFill>
                      <a:prstDash val="solid"/>
                    </a:lnT>
                    <a:lnB w="6350">
                      <a:solidFill>
                        <a:srgbClr val="DEE6EC"/>
                      </a:solidFill>
                      <a:prstDash val="solid"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2283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具体规则靠前，按窗口启用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EE6EC"/>
                      </a:solidFill>
                      <a:prstDash val="solid"/>
                    </a:lnL>
                    <a:lnR w="6350">
                      <a:solidFill>
                        <a:srgbClr val="DEE6EC"/>
                      </a:solidFill>
                      <a:prstDash val="solid"/>
                    </a:lnR>
                    <a:lnT w="6350">
                      <a:solidFill>
                        <a:srgbClr val="DEE6EC"/>
                      </a:solidFill>
                      <a:prstDash val="solid"/>
                    </a:lnT>
                    <a:lnB w="6350">
                      <a:solidFill>
                        <a:srgbClr val="DEE6EC"/>
                      </a:solidFill>
                      <a:prstDash val="solid"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2283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排查宽泛规则与优先模块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EE6EC"/>
                      </a:solidFill>
                      <a:prstDash val="solid"/>
                    </a:lnL>
                    <a:lnR w="6350">
                      <a:solidFill>
                        <a:srgbClr val="DEE6EC"/>
                      </a:solidFill>
                      <a:prstDash val="solid"/>
                    </a:lnR>
                    <a:lnT w="6350">
                      <a:solidFill>
                        <a:srgbClr val="DEE6EC"/>
                      </a:solidFill>
                      <a:prstDash val="solid"/>
                    </a:lnT>
                    <a:lnB w="6350">
                      <a:solidFill>
                        <a:srgbClr val="DEE6EC"/>
                      </a:solidFill>
                      <a:prstDash val="solid"/>
                    </a:lnB>
                    <a:solidFill>
                      <a:srgbClr val="EEF3F6"/>
                    </a:solidFill>
                  </a:tcPr>
                </a:tc>
              </a:tr>
              <a:tr h="619125"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2283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描述 / 管理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EE6EC"/>
                      </a:solidFill>
                      <a:prstDash val="solid"/>
                    </a:lnL>
                    <a:lnR w="6350">
                      <a:solidFill>
                        <a:srgbClr val="DEE6EC"/>
                      </a:solidFill>
                      <a:prstDash val="solid"/>
                    </a:lnR>
                    <a:lnT w="6350">
                      <a:solidFill>
                        <a:srgbClr val="DEE6EC"/>
                      </a:solidFill>
                      <a:prstDash val="solid"/>
                    </a:lnT>
                    <a:lnB w="6350">
                      <a:solidFill>
                        <a:srgbClr val="DEE6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2283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订单数据库访问，关联工单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EE6EC"/>
                      </a:solidFill>
                      <a:prstDash val="solid"/>
                    </a:lnL>
                    <a:lnR w="6350">
                      <a:solidFill>
                        <a:srgbClr val="DEE6EC"/>
                      </a:solidFill>
                      <a:prstDash val="solid"/>
                    </a:lnR>
                    <a:lnT w="6350">
                      <a:solidFill>
                        <a:srgbClr val="DEE6EC"/>
                      </a:solidFill>
                      <a:prstDash val="solid"/>
                    </a:lnT>
                    <a:lnB w="6350">
                      <a:solidFill>
                        <a:srgbClr val="DEE6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2283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Owner、复核与回滚可追溯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EE6EC"/>
                      </a:solidFill>
                      <a:prstDash val="solid"/>
                    </a:lnL>
                    <a:lnR w="6350">
                      <a:solidFill>
                        <a:srgbClr val="DEE6EC"/>
                      </a:solidFill>
                      <a:prstDash val="solid"/>
                    </a:lnR>
                    <a:lnT w="6350">
                      <a:solidFill>
                        <a:srgbClr val="DEE6EC"/>
                      </a:solidFill>
                      <a:prstDash val="solid"/>
                    </a:lnT>
                    <a:lnB w="6350">
                      <a:solidFill>
                        <a:srgbClr val="DEE6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50054660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0B1C3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xt-0">
            <a:extLst xmlns:a="http://schemas.openxmlformats.org/drawingml/2006/main">
              <a:ext uri="{FF2B5EF4-FFF2-40B4-BE49-F238E27FC236}">
                <a16:creationId xmlns:a16="http://schemas.microsoft.com/office/drawing/2014/main" id="{1C399726-7DA2-4C33-8891-00A185049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28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69D8D0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69D8D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1">
                <a:solidFill>
                  <a:srgbClr val="69D8D0"/>
                </a:solidFill>
                <a:latin typeface="Arial Unicode MS"/>
                <a:ea typeface="Arial Unicode MS"/>
                <a:cs typeface="Arial Unicode MS"/>
              </a:rPr>
              <a:t>02  CFW 使用规范</a:t>
            </a:r>
          </a:p>
        </p:txBody>
      </p:sp>
      <p:sp>
        <p:nvSpPr>
          <p:cNvPr id="2" name="txt-1">
            <a:extLst xmlns:a="http://schemas.openxmlformats.org/drawingml/2006/main">
              <a:ext uri="{FF2B5EF4-FFF2-40B4-BE49-F238E27FC236}">
                <a16:creationId xmlns:a16="http://schemas.microsoft.com/office/drawing/2014/main" id="{07F01D49-4E09-4FB3-BC21-A6694C361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7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307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7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CFW 规范落实到每条业务流</a:t>
            </a:r>
          </a:p>
        </p:txBody>
      </p:sp>
      <p:sp>
        <p:nvSpPr>
          <p:cNvPr id="3" name="txt-2">
            <a:extLst xmlns:a="http://schemas.openxmlformats.org/drawingml/2006/main">
              <a:ext uri="{FF2B5EF4-FFF2-40B4-BE49-F238E27FC236}">
                <a16:creationId xmlns:a16="http://schemas.microsoft.com/office/drawing/2014/main" id="{B719DB82-D021-47D7-A7B7-C29BA42A6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00775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A6C1C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A6C1C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A6C1CF"/>
                </a:solidFill>
                <a:latin typeface="Arial Unicode MS"/>
                <a:ea typeface="Arial Unicode MS"/>
                <a:cs typeface="Arial Unicode MS"/>
              </a:rPr>
              <a:t>低频任务、月结、备份和故障切换需纳入复核，不能仅按短期无命中删规则</a:t>
            </a:r>
          </a:p>
        </p:txBody>
      </p:sp>
      <p:sp>
        <p:nvSpPr>
          <p:cNvPr id="4" name="txt-3">
            <a:extLst xmlns:a="http://schemas.openxmlformats.org/drawingml/2006/main">
              <a:ext uri="{FF2B5EF4-FFF2-40B4-BE49-F238E27FC236}">
                <a16:creationId xmlns:a16="http://schemas.microsoft.com/office/drawing/2014/main" id="{6D208E66-8035-416E-93AE-11544E2EC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00800"/>
            <a:ext cx="628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93B1C5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93B1C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93B1C5"/>
                </a:solidFill>
                <a:latin typeface="Arial Unicode MS"/>
                <a:ea typeface="Arial Unicode MS"/>
                <a:cs typeface="Arial Unicode MS"/>
              </a:rPr>
              <a:t>21</a:t>
            </a:r>
          </a:p>
        </p:txBody>
      </p:sp>
      <p:sp>
        <p:nvSpPr>
          <p:cNvPr id="5" name="txt-4">
            <a:extLst xmlns:a="http://schemas.openxmlformats.org/drawingml/2006/main">
              <a:ext uri="{FF2B5EF4-FFF2-40B4-BE49-F238E27FC236}">
                <a16:creationId xmlns:a16="http://schemas.microsoft.com/office/drawing/2014/main" id="{2E9A0E04-F77C-41FB-A47B-58FAC23C1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23812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500" b="1">
                <a:solidFill>
                  <a:srgbClr val="69D8D0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4500" b="1">
                <a:solidFill>
                  <a:srgbClr val="69D8D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4500" b="1">
                <a:solidFill>
                  <a:srgbClr val="69D8D0"/>
                </a:solidFill>
                <a:latin typeface="Arial Unicode MS"/>
                <a:ea typeface="Arial Unicode MS"/>
                <a:cs typeface="Arial Unicode MS"/>
              </a:rPr>
              <a:t>覆盖</a:t>
            </a:r>
          </a:p>
        </p:txBody>
      </p:sp>
      <p:sp>
        <p:nvSpPr>
          <p:cNvPr id="6" name="txt-5">
            <a:extLst xmlns:a="http://schemas.openxmlformats.org/drawingml/2006/main">
              <a:ext uri="{FF2B5EF4-FFF2-40B4-BE49-F238E27FC236}">
                <a16:creationId xmlns:a16="http://schemas.microsoft.com/office/drawing/2014/main" id="{DA52DCC8-24AF-42A3-9480-86517341F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228850"/>
            <a:ext cx="7715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2400" b="0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00" b="0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防护对象与实际流量路径一致</a:t>
            </a:r>
          </a:p>
        </p:txBody>
      </p:sp>
      <p:sp>
        <p:nvSpPr>
          <p:cNvPr id="7" name="txt-6">
            <a:extLst xmlns:a="http://schemas.openxmlformats.org/drawingml/2006/main">
              <a:ext uri="{FF2B5EF4-FFF2-40B4-BE49-F238E27FC236}">
                <a16:creationId xmlns:a16="http://schemas.microsoft.com/office/drawing/2014/main" id="{B9154AB8-78B1-4215-94DC-5CCBB12EA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0"/>
            <a:ext cx="23812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500" b="1">
                <a:solidFill>
                  <a:srgbClr val="69D8D0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4500" b="1">
                <a:solidFill>
                  <a:srgbClr val="69D8D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4500" b="1">
                <a:solidFill>
                  <a:srgbClr val="69D8D0"/>
                </a:solidFill>
                <a:latin typeface="Arial Unicode MS"/>
                <a:ea typeface="Arial Unicode MS"/>
                <a:cs typeface="Arial Unicode MS"/>
              </a:rPr>
              <a:t>授权</a:t>
            </a:r>
          </a:p>
        </p:txBody>
      </p:sp>
      <p:sp>
        <p:nvSpPr>
          <p:cNvPr id="8" name="txt-7">
            <a:extLst xmlns:a="http://schemas.openxmlformats.org/drawingml/2006/main">
              <a:ext uri="{FF2B5EF4-FFF2-40B4-BE49-F238E27FC236}">
                <a16:creationId xmlns:a16="http://schemas.microsoft.com/office/drawing/2014/main" id="{F076E5FD-859A-4ED3-92AB-E5B28A146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371850"/>
            <a:ext cx="7715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2400" b="0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00" b="0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来源、目的和端口有业务依据</a:t>
            </a:r>
          </a:p>
        </p:txBody>
      </p:sp>
      <p:sp>
        <p:nvSpPr>
          <p:cNvPr id="9" name="txt-8">
            <a:extLst xmlns:a="http://schemas.openxmlformats.org/drawingml/2006/main">
              <a:ext uri="{FF2B5EF4-FFF2-40B4-BE49-F238E27FC236}">
                <a16:creationId xmlns:a16="http://schemas.microsoft.com/office/drawing/2014/main" id="{308CB500-5823-420D-A9F8-F78666B95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0"/>
            <a:ext cx="23812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500" b="1">
                <a:solidFill>
                  <a:srgbClr val="69D8D0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4500" b="1">
                <a:solidFill>
                  <a:srgbClr val="69D8D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4500" b="1">
                <a:solidFill>
                  <a:srgbClr val="69D8D0"/>
                </a:solidFill>
                <a:latin typeface="Arial Unicode MS"/>
                <a:ea typeface="Arial Unicode MS"/>
                <a:cs typeface="Arial Unicode MS"/>
              </a:rPr>
              <a:t>证据</a:t>
            </a:r>
          </a:p>
        </p:txBody>
      </p:sp>
      <p:sp>
        <p:nvSpPr>
          <p:cNvPr id="10" name="txt-9">
            <a:extLst xmlns:a="http://schemas.openxmlformats.org/drawingml/2006/main">
              <a:ext uri="{FF2B5EF4-FFF2-40B4-BE49-F238E27FC236}">
                <a16:creationId xmlns:a16="http://schemas.microsoft.com/office/drawing/2014/main" id="{CDE14BCC-77E1-4738-985E-2EDF9DE44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514850"/>
            <a:ext cx="7715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2400" b="0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00" b="0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正反用例和日志共同证明效果</a:t>
            </a:r>
          </a:p>
        </p:txBody>
      </p:sp>
    </p:spTree>
    <p:extLst>
      <p:ext uri="{BB962C8B-B14F-4D97-AF65-F5344CB8AC3E}">
        <p14:creationId xmlns:p14="http://schemas.microsoft.com/office/powerpoint/2010/main" val="126816767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xt-0">
            <a:extLst xmlns:a="http://schemas.openxmlformats.org/drawingml/2006/main">
              <a:ext uri="{FF2B5EF4-FFF2-40B4-BE49-F238E27FC236}">
                <a16:creationId xmlns:a16="http://schemas.microsoft.com/office/drawing/2014/main" id="{044EE32E-51A5-4E0F-845E-FFBDBBE07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28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008B87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008B8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1">
                <a:solidFill>
                  <a:srgbClr val="008B87"/>
                </a:solidFill>
                <a:latin typeface="Arial Unicode MS"/>
                <a:ea typeface="Arial Unicode MS"/>
                <a:cs typeface="Arial Unicode MS"/>
              </a:rPr>
              <a:t>03  变更与排障</a:t>
            </a:r>
          </a:p>
        </p:txBody>
      </p:sp>
      <p:sp>
        <p:nvSpPr>
          <p:cNvPr id="2" name="txt-1">
            <a:extLst xmlns:a="http://schemas.openxmlformats.org/drawingml/2006/main">
              <a:ext uri="{FF2B5EF4-FFF2-40B4-BE49-F238E27FC236}">
                <a16:creationId xmlns:a16="http://schemas.microsoft.com/office/drawing/2014/main" id="{7E50C12D-1B8D-41D9-8D13-56A938DCA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75" b="1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3075" b="1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75" b="1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rPr>
              <a:t>访问控制的岗位责任</a:t>
            </a:r>
          </a:p>
        </p:txBody>
      </p:sp>
      <p:sp>
        <p:nvSpPr>
          <p:cNvPr id="3" name="txt-2">
            <a:extLst xmlns:a="http://schemas.openxmlformats.org/drawingml/2006/main">
              <a:ext uri="{FF2B5EF4-FFF2-40B4-BE49-F238E27FC236}">
                <a16:creationId xmlns:a16="http://schemas.microsoft.com/office/drawing/2014/main" id="{38F7E46C-CDDC-4E3A-A5F9-F91DF9FF0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62075"/>
            <a:ext cx="1097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627383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62738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627383"/>
                </a:solidFill>
                <a:latin typeface="Arial Unicode MS"/>
                <a:ea typeface="Arial Unicode MS"/>
                <a:cs typeface="Arial Unicode MS"/>
              </a:rPr>
              <a:t>建议分工，可结合团队规模合并角色，但关键变更保留独立复核</a:t>
            </a:r>
          </a:p>
        </p:txBody>
      </p:sp>
      <p:sp>
        <p:nvSpPr>
          <p:cNvPr id="4" name="txt-3">
            <a:extLst xmlns:a="http://schemas.openxmlformats.org/drawingml/2006/main">
              <a:ext uri="{FF2B5EF4-FFF2-40B4-BE49-F238E27FC236}">
                <a16:creationId xmlns:a16="http://schemas.microsoft.com/office/drawing/2014/main" id="{7A938440-2214-4DB0-B4DE-CA796F5AD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00800"/>
            <a:ext cx="628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627383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62738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27383"/>
                </a:solidFill>
                <a:latin typeface="Arial Unicode MS"/>
                <a:ea typeface="Arial Unicode MS"/>
                <a:cs typeface="Arial Unicode MS"/>
              </a:rPr>
              <a:t>22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73B66B9-4846-45BF-937A-B04775D9FC54}"/>
              </a:ext>
            </a:extLst>
          </p:cNvPr>
          <p:cNvGraphicFramePr/>
          <p:nvPr/>
        </p:nvGraphicFramePr>
        <p:xfrm>
          <a:off xmlns:a="http://schemas.openxmlformats.org/drawingml/2006/main" x="609600" y="2247900"/>
          <a:ext xmlns:a="http://schemas.openxmlformats.org/drawingml/2006/main" cx="10972800" cy="4000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571750"/>
                <a:gridCol w="4857750"/>
                <a:gridCol w="3390900"/>
              </a:tblGrid>
              <a:tr h="800100"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角色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12283F"/>
                      </a:solidFill>
                      <a:prstDash val="solid"/>
                    </a:lnL>
                    <a:lnR w="6350">
                      <a:solidFill>
                        <a:srgbClr val="12283F"/>
                      </a:solidFill>
                      <a:prstDash val="solid"/>
                    </a:lnR>
                    <a:lnT w="6350">
                      <a:solidFill>
                        <a:srgbClr val="12283F"/>
                      </a:solidFill>
                      <a:prstDash val="solid"/>
                    </a:lnT>
                    <a:lnB w="6350">
                      <a:solidFill>
                        <a:srgbClr val="12283F"/>
                      </a:solidFill>
                      <a:prstDash val="solid"/>
                    </a:lnB>
                    <a:solidFill>
                      <a:srgbClr val="12283F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负责事项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12283F"/>
                      </a:solidFill>
                      <a:prstDash val="solid"/>
                    </a:lnL>
                    <a:lnR w="6350">
                      <a:solidFill>
                        <a:srgbClr val="12283F"/>
                      </a:solidFill>
                      <a:prstDash val="solid"/>
                    </a:lnR>
                    <a:lnT w="6350">
                      <a:solidFill>
                        <a:srgbClr val="12283F"/>
                      </a:solidFill>
                      <a:prstDash val="solid"/>
                    </a:lnT>
                    <a:lnB w="6350">
                      <a:solidFill>
                        <a:srgbClr val="12283F"/>
                      </a:solidFill>
                      <a:prstDash val="solid"/>
                    </a:lnB>
                    <a:solidFill>
                      <a:srgbClr val="12283F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交付证据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12283F"/>
                      </a:solidFill>
                      <a:prstDash val="solid"/>
                    </a:lnL>
                    <a:lnR w="6350">
                      <a:solidFill>
                        <a:srgbClr val="12283F"/>
                      </a:solidFill>
                      <a:prstDash val="solid"/>
                    </a:lnR>
                    <a:lnT w="6350">
                      <a:solidFill>
                        <a:srgbClr val="12283F"/>
                      </a:solidFill>
                      <a:prstDash val="solid"/>
                    </a:lnT>
                    <a:lnB w="6350">
                      <a:solidFill>
                        <a:srgbClr val="12283F"/>
                      </a:solidFill>
                      <a:prstDash val="solid"/>
                    </a:lnB>
                    <a:solidFill>
                      <a:srgbClr val="12283F"/>
                    </a:solidFill>
                  </a:tcPr>
                </a:tc>
              </a:tr>
              <a:tr h="800100"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2283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业务 Owner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EE6EC"/>
                      </a:solidFill>
                      <a:prstDash val="solid"/>
                    </a:lnL>
                    <a:lnR w="6350">
                      <a:solidFill>
                        <a:srgbClr val="DEE6EC"/>
                      </a:solidFill>
                      <a:prstDash val="solid"/>
                    </a:lnR>
                    <a:lnT w="6350">
                      <a:solidFill>
                        <a:srgbClr val="DEE6EC"/>
                      </a:solidFill>
                      <a:prstDash val="solid"/>
                    </a:lnT>
                    <a:lnB w="6350">
                      <a:solidFill>
                        <a:srgbClr val="DEE6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2283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说明依赖、确认必要性与业务验收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EE6EC"/>
                      </a:solidFill>
                      <a:prstDash val="solid"/>
                    </a:lnL>
                    <a:lnR w="6350">
                      <a:solidFill>
                        <a:srgbClr val="DEE6EC"/>
                      </a:solidFill>
                      <a:prstDash val="solid"/>
                    </a:lnR>
                    <a:lnT w="6350">
                      <a:solidFill>
                        <a:srgbClr val="DEE6EC"/>
                      </a:solidFill>
                      <a:prstDash val="solid"/>
                    </a:lnT>
                    <a:lnB w="6350">
                      <a:solidFill>
                        <a:srgbClr val="DEE6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2283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端口依据、业务回归结果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EE6EC"/>
                      </a:solidFill>
                      <a:prstDash val="solid"/>
                    </a:lnL>
                    <a:lnR w="6350">
                      <a:solidFill>
                        <a:srgbClr val="DEE6EC"/>
                      </a:solidFill>
                      <a:prstDash val="solid"/>
                    </a:lnR>
                    <a:lnT w="6350">
                      <a:solidFill>
                        <a:srgbClr val="DEE6EC"/>
                      </a:solidFill>
                      <a:prstDash val="solid"/>
                    </a:lnT>
                    <a:lnB w="6350">
                      <a:solidFill>
                        <a:srgbClr val="DEE6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00100"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2283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网络/平台工程师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EE6EC"/>
                      </a:solidFill>
                      <a:prstDash val="solid"/>
                    </a:lnL>
                    <a:lnR w="6350">
                      <a:solidFill>
                        <a:srgbClr val="DEE6EC"/>
                      </a:solidFill>
                      <a:prstDash val="solid"/>
                    </a:lnR>
                    <a:lnT w="6350">
                      <a:solidFill>
                        <a:srgbClr val="DEE6EC"/>
                      </a:solidFill>
                      <a:prstDash val="solid"/>
                    </a:lnT>
                    <a:lnB w="6350">
                      <a:solidFill>
                        <a:srgbClr val="DEE6EC"/>
                      </a:solidFill>
                      <a:prstDash val="solid"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2283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确认地址、路由、接入与回程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EE6EC"/>
                      </a:solidFill>
                      <a:prstDash val="solid"/>
                    </a:lnL>
                    <a:lnR w="6350">
                      <a:solidFill>
                        <a:srgbClr val="DEE6EC"/>
                      </a:solidFill>
                      <a:prstDash val="solid"/>
                    </a:lnR>
                    <a:lnT w="6350">
                      <a:solidFill>
                        <a:srgbClr val="DEE6EC"/>
                      </a:solidFill>
                      <a:prstDash val="solid"/>
                    </a:lnT>
                    <a:lnB w="6350">
                      <a:solidFill>
                        <a:srgbClr val="DEE6EC"/>
                      </a:solidFill>
                      <a:prstDash val="solid"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2283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拓扑、路由快照、覆盖记录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EE6EC"/>
                      </a:solidFill>
                      <a:prstDash val="solid"/>
                    </a:lnL>
                    <a:lnR w="6350">
                      <a:solidFill>
                        <a:srgbClr val="DEE6EC"/>
                      </a:solidFill>
                      <a:prstDash val="solid"/>
                    </a:lnR>
                    <a:lnT w="6350">
                      <a:solidFill>
                        <a:srgbClr val="DEE6EC"/>
                      </a:solidFill>
                      <a:prstDash val="solid"/>
                    </a:lnT>
                    <a:lnB w="6350">
                      <a:solidFill>
                        <a:srgbClr val="DEE6EC"/>
                      </a:solidFill>
                      <a:prstDash val="solid"/>
                    </a:lnB>
                    <a:solidFill>
                      <a:srgbClr val="EEF3F6"/>
                    </a:solidFill>
                  </a:tcPr>
                </a:tc>
              </a:tr>
              <a:tr h="800100"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2283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安全管理员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EE6EC"/>
                      </a:solidFill>
                      <a:prstDash val="solid"/>
                    </a:lnL>
                    <a:lnR w="6350">
                      <a:solidFill>
                        <a:srgbClr val="DEE6EC"/>
                      </a:solidFill>
                      <a:prstDash val="solid"/>
                    </a:lnR>
                    <a:lnT w="6350">
                      <a:solidFill>
                        <a:srgbClr val="DEE6EC"/>
                      </a:solidFill>
                      <a:prstDash val="solid"/>
                    </a:lnT>
                    <a:lnB w="6350">
                      <a:solidFill>
                        <a:srgbClr val="DEE6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2283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审查最小权限、策略顺序与例外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EE6EC"/>
                      </a:solidFill>
                      <a:prstDash val="solid"/>
                    </a:lnL>
                    <a:lnR w="6350">
                      <a:solidFill>
                        <a:srgbClr val="DEE6EC"/>
                      </a:solidFill>
                      <a:prstDash val="solid"/>
                    </a:lnR>
                    <a:lnT w="6350">
                      <a:solidFill>
                        <a:srgbClr val="DEE6EC"/>
                      </a:solidFill>
                      <a:prstDash val="solid"/>
                    </a:lnT>
                    <a:lnB w="6350">
                      <a:solidFill>
                        <a:srgbClr val="DEE6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2283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规则评审、风险与例外记录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EE6EC"/>
                      </a:solidFill>
                      <a:prstDash val="solid"/>
                    </a:lnL>
                    <a:lnR w="6350">
                      <a:solidFill>
                        <a:srgbClr val="DEE6EC"/>
                      </a:solidFill>
                      <a:prstDash val="solid"/>
                    </a:lnR>
                    <a:lnT w="6350">
                      <a:solidFill>
                        <a:srgbClr val="DEE6EC"/>
                      </a:solidFill>
                      <a:prstDash val="solid"/>
                    </a:lnT>
                    <a:lnB w="6350">
                      <a:solidFill>
                        <a:srgbClr val="DEE6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00100"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2283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变更负责人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EE6EC"/>
                      </a:solidFill>
                      <a:prstDash val="solid"/>
                    </a:lnL>
                    <a:lnR w="6350">
                      <a:solidFill>
                        <a:srgbClr val="DEE6EC"/>
                      </a:solidFill>
                      <a:prstDash val="solid"/>
                    </a:lnR>
                    <a:lnT w="6350">
                      <a:solidFill>
                        <a:srgbClr val="DEE6EC"/>
                      </a:solidFill>
                      <a:prstDash val="solid"/>
                    </a:lnT>
                    <a:lnB w="6350">
                      <a:solidFill>
                        <a:srgbClr val="DEE6EC"/>
                      </a:solidFill>
                      <a:prstDash val="solid"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2283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安排窗口、协调验证与决定回滚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EE6EC"/>
                      </a:solidFill>
                      <a:prstDash val="solid"/>
                    </a:lnL>
                    <a:lnR w="6350">
                      <a:solidFill>
                        <a:srgbClr val="DEE6EC"/>
                      </a:solidFill>
                      <a:prstDash val="solid"/>
                    </a:lnR>
                    <a:lnT w="6350">
                      <a:solidFill>
                        <a:srgbClr val="DEE6EC"/>
                      </a:solidFill>
                      <a:prstDash val="solid"/>
                    </a:lnT>
                    <a:lnB w="6350">
                      <a:solidFill>
                        <a:srgbClr val="DEE6EC"/>
                      </a:solidFill>
                      <a:prstDash val="solid"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2283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工单、验收与回滚结论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EE6EC"/>
                      </a:solidFill>
                      <a:prstDash val="solid"/>
                    </a:lnL>
                    <a:lnR w="6350">
                      <a:solidFill>
                        <a:srgbClr val="DEE6EC"/>
                      </a:solidFill>
                      <a:prstDash val="solid"/>
                    </a:lnR>
                    <a:lnT w="6350">
                      <a:solidFill>
                        <a:srgbClr val="DEE6EC"/>
                      </a:solidFill>
                      <a:prstDash val="solid"/>
                    </a:lnT>
                    <a:lnB w="6350">
                      <a:solidFill>
                        <a:srgbClr val="DEE6EC"/>
                      </a:solidFill>
                      <a:prstDash val="solid"/>
                    </a:lnB>
                    <a:solidFill>
                      <a:srgbClr val="EEF3F6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05733776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txt-0">
            <a:extLst xmlns:a="http://schemas.openxmlformats.org/drawingml/2006/main">
              <a:ext uri="{FF2B5EF4-FFF2-40B4-BE49-F238E27FC236}">
                <a16:creationId xmlns:a16="http://schemas.microsoft.com/office/drawing/2014/main" id="{10AE51D8-39F8-4E15-AE30-7BBC163CB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28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008B87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008B8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1">
                <a:solidFill>
                  <a:srgbClr val="008B87"/>
                </a:solidFill>
                <a:latin typeface="Arial Unicode MS"/>
                <a:ea typeface="Arial Unicode MS"/>
                <a:cs typeface="Arial Unicode MS"/>
              </a:rPr>
              <a:t>03  变更与排障</a:t>
            </a:r>
          </a:p>
        </p:txBody>
      </p:sp>
      <p:sp>
        <p:nvSpPr>
          <p:cNvPr id="2" name="txt-1">
            <a:extLst xmlns:a="http://schemas.openxmlformats.org/drawingml/2006/main">
              <a:ext uri="{FF2B5EF4-FFF2-40B4-BE49-F238E27FC236}">
                <a16:creationId xmlns:a16="http://schemas.microsoft.com/office/drawing/2014/main" id="{2E77A3DC-E40E-4630-B6E3-BFEB17CED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75" b="1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3075" b="1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75" b="1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rPr>
              <a:t>规则变更从申请到复核形成闭环</a:t>
            </a:r>
          </a:p>
        </p:txBody>
      </p:sp>
      <p:sp>
        <p:nvSpPr>
          <p:cNvPr id="3" name="txt-2">
            <a:extLst xmlns:a="http://schemas.openxmlformats.org/drawingml/2006/main">
              <a:ext uri="{FF2B5EF4-FFF2-40B4-BE49-F238E27FC236}">
                <a16:creationId xmlns:a16="http://schemas.microsoft.com/office/drawing/2014/main" id="{901CCB34-DF07-44F1-8300-1EA9B8075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62075"/>
            <a:ext cx="1097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627383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62738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627383"/>
                </a:solidFill>
                <a:latin typeface="Arial Unicode MS"/>
                <a:ea typeface="Arial Unicode MS"/>
                <a:cs typeface="Arial Unicode MS"/>
              </a:rPr>
              <a:t>回滚门槛与恢复前态应在发布前准备</a:t>
            </a:r>
          </a:p>
        </p:txBody>
      </p:sp>
      <p:sp>
        <p:nvSpPr>
          <p:cNvPr id="4" name="txt-3">
            <a:extLst xmlns:a="http://schemas.openxmlformats.org/drawingml/2006/main">
              <a:ext uri="{FF2B5EF4-FFF2-40B4-BE49-F238E27FC236}">
                <a16:creationId xmlns:a16="http://schemas.microsoft.com/office/drawing/2014/main" id="{26FDA200-B540-4C8C-BBE1-35EDD734D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00775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627383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62738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27383"/>
                </a:solidFill>
                <a:latin typeface="Arial Unicode MS"/>
                <a:ea typeface="Arial Unicode MS"/>
                <a:cs typeface="Arial Unicode MS"/>
              </a:rPr>
              <a:t>流程与职责为培训建议，需由企业正式确认后采用</a:t>
            </a:r>
          </a:p>
        </p:txBody>
      </p:sp>
      <p:sp>
        <p:nvSpPr>
          <p:cNvPr id="5" name="txt-4">
            <a:extLst xmlns:a="http://schemas.openxmlformats.org/drawingml/2006/main">
              <a:ext uri="{FF2B5EF4-FFF2-40B4-BE49-F238E27FC236}">
                <a16:creationId xmlns:a16="http://schemas.microsoft.com/office/drawing/2014/main" id="{D13ACC77-3CD8-4A88-AC9C-ED76A824C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00800"/>
            <a:ext cx="628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627383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62738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27383"/>
                </a:solidFill>
                <a:latin typeface="Arial Unicode MS"/>
                <a:ea typeface="Arial Unicode MS"/>
                <a:cs typeface="Arial Unicode MS"/>
              </a:rPr>
              <a:t>23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B69D5C1-A387-4784-A447-435680EACA4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1c46732a2f14a5e"/>
          <a:stretch xmlns:a="http://schemas.openxmlformats.org/drawingml/2006/main"/>
        </p:blipFill>
        <p:spPr>
          <a:xfrm xmlns:a="http://schemas.openxmlformats.org/drawingml/2006/main">
            <a:off x="1174081" y="1895475"/>
            <a:ext cx="6624388" cy="4143375"/>
          </a:xfrm>
          <a:prstGeom xmlns:a="http://schemas.openxmlformats.org/drawingml/2006/main" prst="rect">
            <a:avLst/>
          </a:prstGeom>
        </p:spPr>
      </p:pic>
      <p:sp>
        <p:nvSpPr>
          <p:cNvPr id="7" name="txt-5">
            <a:extLst xmlns:a="http://schemas.openxmlformats.org/drawingml/2006/main">
              <a:ext uri="{FF2B5EF4-FFF2-40B4-BE49-F238E27FC236}">
                <a16:creationId xmlns:a16="http://schemas.microsoft.com/office/drawing/2014/main" id="{21DFD3C4-8EEC-43EE-B2EB-2A393AA23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2047875"/>
            <a:ext cx="25431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008B87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008B8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1">
                <a:solidFill>
                  <a:srgbClr val="008B87"/>
                </a:solidFill>
                <a:latin typeface="Arial Unicode MS"/>
                <a:ea typeface="Arial Unicode MS"/>
                <a:cs typeface="Arial Unicode MS"/>
              </a:rPr>
              <a:t>快照</a:t>
            </a:r>
          </a:p>
        </p:txBody>
      </p:sp>
      <p:sp>
        <p:nvSpPr>
          <p:cNvPr id="8" name="txt-6">
            <a:extLst xmlns:a="http://schemas.openxmlformats.org/drawingml/2006/main">
              <a:ext uri="{FF2B5EF4-FFF2-40B4-BE49-F238E27FC236}">
                <a16:creationId xmlns:a16="http://schemas.microsoft.com/office/drawing/2014/main" id="{E838CF08-9BB4-4D73-8B8F-8AAED809C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2466975"/>
            <a:ext cx="25431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rPr>
              <a:t>规则、对象组、路由</a:t>
            </a:r>
          </a:p>
          <a:p xmlns:a="http://schemas.openxmlformats.org/drawingml/2006/main">
            <a:pPr algn="l">
              <a:defRPr sz="1800" b="0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rPr>
              <a:t>都保留变更前态</a:t>
            </a:r>
          </a:p>
        </p:txBody>
      </p:sp>
      <p:sp>
        <p:nvSpPr>
          <p:cNvPr id="9" name="txt-7">
            <a:extLst xmlns:a="http://schemas.openxmlformats.org/drawingml/2006/main">
              <a:ext uri="{FF2B5EF4-FFF2-40B4-BE49-F238E27FC236}">
                <a16:creationId xmlns:a16="http://schemas.microsoft.com/office/drawing/2014/main" id="{B0CC3084-A51C-42D6-9F7B-D3771D8E6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3352800"/>
            <a:ext cx="25431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008B87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008B8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1">
                <a:solidFill>
                  <a:srgbClr val="008B87"/>
                </a:solidFill>
                <a:latin typeface="Arial Unicode MS"/>
                <a:ea typeface="Arial Unicode MS"/>
                <a:cs typeface="Arial Unicode MS"/>
              </a:rPr>
              <a:t>验收</a:t>
            </a:r>
          </a:p>
        </p:txBody>
      </p:sp>
      <p:sp>
        <p:nvSpPr>
          <p:cNvPr id="10" name="txt-8">
            <a:extLst xmlns:a="http://schemas.openxmlformats.org/drawingml/2006/main">
              <a:ext uri="{FF2B5EF4-FFF2-40B4-BE49-F238E27FC236}">
                <a16:creationId xmlns:a16="http://schemas.microsoft.com/office/drawing/2014/main" id="{4C68C055-69E8-4FFF-B741-732083A7C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3771900"/>
            <a:ext cx="25431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rPr>
              <a:t>关键交易结果、错误率</a:t>
            </a:r>
          </a:p>
          <a:p xmlns:a="http://schemas.openxmlformats.org/drawingml/2006/main">
            <a:pPr algn="l">
              <a:defRPr sz="1800" b="0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rPr>
              <a:t>时延与策略命中</a:t>
            </a:r>
          </a:p>
        </p:txBody>
      </p:sp>
      <p:sp>
        <p:nvSpPr>
          <p:cNvPr id="11" name="txt-9">
            <a:extLst xmlns:a="http://schemas.openxmlformats.org/drawingml/2006/main">
              <a:ext uri="{FF2B5EF4-FFF2-40B4-BE49-F238E27FC236}">
                <a16:creationId xmlns:a16="http://schemas.microsoft.com/office/drawing/2014/main" id="{45913708-8CE0-4222-8DE4-C36F8FC1C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4657725"/>
            <a:ext cx="25431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008B87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008B8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1">
                <a:solidFill>
                  <a:srgbClr val="008B87"/>
                </a:solidFill>
                <a:latin typeface="Arial Unicode MS"/>
                <a:ea typeface="Arial Unicode MS"/>
                <a:cs typeface="Arial Unicode MS"/>
              </a:rPr>
              <a:t>回滚</a:t>
            </a:r>
          </a:p>
        </p:txBody>
      </p:sp>
      <p:sp>
        <p:nvSpPr>
          <p:cNvPr id="12" name="txt-10">
            <a:extLst xmlns:a="http://schemas.openxmlformats.org/drawingml/2006/main">
              <a:ext uri="{FF2B5EF4-FFF2-40B4-BE49-F238E27FC236}">
                <a16:creationId xmlns:a16="http://schemas.microsoft.com/office/drawing/2014/main" id="{259DD58B-16D5-47FF-B400-8049F5870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5076825"/>
            <a:ext cx="25431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rPr>
              <a:t>达到约定门槛即执行</a:t>
            </a:r>
          </a:p>
          <a:p xmlns:a="http://schemas.openxmlformats.org/drawingml/2006/main">
            <a:pPr algn="l">
              <a:defRPr sz="1800" b="0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rPr>
              <a:t>记录结果并恢复检查</a:t>
            </a:r>
          </a:p>
        </p:txBody>
      </p:sp>
    </p:spTree>
    <p:extLst>
      <p:ext uri="{BB962C8B-B14F-4D97-AF65-F5344CB8AC3E}">
        <p14:creationId xmlns:p14="http://schemas.microsoft.com/office/powerpoint/2010/main" val="734324919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xt-0">
            <a:extLst xmlns:a="http://schemas.openxmlformats.org/drawingml/2006/main">
              <a:ext uri="{FF2B5EF4-FFF2-40B4-BE49-F238E27FC236}">
                <a16:creationId xmlns:a16="http://schemas.microsoft.com/office/drawing/2014/main" id="{15CA5E6E-F9E3-472C-8A8A-9F7938101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28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008B87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008B8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1">
                <a:solidFill>
                  <a:srgbClr val="008B87"/>
                </a:solidFill>
                <a:latin typeface="Arial Unicode MS"/>
                <a:ea typeface="Arial Unicode MS"/>
                <a:cs typeface="Arial Unicode MS"/>
              </a:rPr>
              <a:t>03  变更与排障</a:t>
            </a:r>
          </a:p>
        </p:txBody>
      </p:sp>
      <p:sp>
        <p:nvSpPr>
          <p:cNvPr id="2" name="txt-1">
            <a:extLst xmlns:a="http://schemas.openxmlformats.org/drawingml/2006/main">
              <a:ext uri="{FF2B5EF4-FFF2-40B4-BE49-F238E27FC236}">
                <a16:creationId xmlns:a16="http://schemas.microsoft.com/office/drawing/2014/main" id="{B4DB19E5-24E7-4346-955B-80AB10FC4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75" b="1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3075" b="1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75" b="1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rPr>
              <a:t>验收记录同时覆盖成功、拒绝与路径</a:t>
            </a:r>
          </a:p>
        </p:txBody>
      </p:sp>
      <p:sp>
        <p:nvSpPr>
          <p:cNvPr id="3" name="txt-2">
            <a:extLst xmlns:a="http://schemas.openxmlformats.org/drawingml/2006/main">
              <a:ext uri="{FF2B5EF4-FFF2-40B4-BE49-F238E27FC236}">
                <a16:creationId xmlns:a16="http://schemas.microsoft.com/office/drawing/2014/main" id="{86EF8B72-2AC1-4C2B-928F-F4C30C1E6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62075"/>
            <a:ext cx="1097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627383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62738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627383"/>
                </a:solidFill>
                <a:latin typeface="Arial Unicode MS"/>
                <a:ea typeface="Arial Unicode MS"/>
                <a:cs typeface="Arial Unicode MS"/>
              </a:rPr>
              <a:t>测试时间、源、目的、协议和端口应能与日志对应</a:t>
            </a:r>
          </a:p>
        </p:txBody>
      </p:sp>
      <p:sp>
        <p:nvSpPr>
          <p:cNvPr id="4" name="txt-3">
            <a:extLst xmlns:a="http://schemas.openxmlformats.org/drawingml/2006/main">
              <a:ext uri="{FF2B5EF4-FFF2-40B4-BE49-F238E27FC236}">
                <a16:creationId xmlns:a16="http://schemas.microsoft.com/office/drawing/2014/main" id="{24A30D95-1332-4D70-8D15-71808861C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00775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627383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62738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27383"/>
                </a:solidFill>
                <a:latin typeface="Arial Unicode MS"/>
                <a:ea typeface="Arial Unicode MS"/>
                <a:cs typeface="Arial Unicode MS"/>
              </a:rPr>
              <a:t>“连接失败”需结合预期阻断日志解释，避免把服务未监听当作策略生效</a:t>
            </a:r>
          </a:p>
        </p:txBody>
      </p:sp>
      <p:sp>
        <p:nvSpPr>
          <p:cNvPr id="5" name="txt-4">
            <a:extLst xmlns:a="http://schemas.openxmlformats.org/drawingml/2006/main">
              <a:ext uri="{FF2B5EF4-FFF2-40B4-BE49-F238E27FC236}">
                <a16:creationId xmlns:a16="http://schemas.microsoft.com/office/drawing/2014/main" id="{D165AD03-4C10-44CE-AA43-E21C3662D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00800"/>
            <a:ext cx="628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627383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62738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27383"/>
                </a:solidFill>
                <a:latin typeface="Arial Unicode MS"/>
                <a:ea typeface="Arial Unicode MS"/>
                <a:cs typeface="Arial Unicode MS"/>
              </a:rPr>
              <a:t>24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30D3BC8-4F1A-4CC5-ACF4-143856E2B717}"/>
              </a:ext>
            </a:extLst>
          </p:cNvPr>
          <p:cNvGraphicFramePr/>
          <p:nvPr/>
        </p:nvGraphicFramePr>
        <p:xfrm>
          <a:off xmlns:a="http://schemas.openxmlformats.org/drawingml/2006/main" x="609600" y="2238375"/>
          <a:ext xmlns:a="http://schemas.openxmlformats.org/drawingml/2006/main" cx="10972800" cy="35718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809750"/>
                <a:gridCol w="4476750"/>
                <a:gridCol w="4686300"/>
              </a:tblGrid>
              <a:tr h="714375"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用例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12283F"/>
                      </a:solidFill>
                      <a:prstDash val="solid"/>
                    </a:lnL>
                    <a:lnR w="6350">
                      <a:solidFill>
                        <a:srgbClr val="12283F"/>
                      </a:solidFill>
                      <a:prstDash val="solid"/>
                    </a:lnR>
                    <a:lnT w="6350">
                      <a:solidFill>
                        <a:srgbClr val="12283F"/>
                      </a:solidFill>
                      <a:prstDash val="solid"/>
                    </a:lnT>
                    <a:lnB w="6350">
                      <a:solidFill>
                        <a:srgbClr val="12283F"/>
                      </a:solidFill>
                      <a:prstDash val="solid"/>
                    </a:lnB>
                    <a:solidFill>
                      <a:srgbClr val="12283F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教学测试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12283F"/>
                      </a:solidFill>
                      <a:prstDash val="solid"/>
                    </a:lnL>
                    <a:lnR w="6350">
                      <a:solidFill>
                        <a:srgbClr val="12283F"/>
                      </a:solidFill>
                      <a:prstDash val="solid"/>
                    </a:lnR>
                    <a:lnT w="6350">
                      <a:solidFill>
                        <a:srgbClr val="12283F"/>
                      </a:solidFill>
                      <a:prstDash val="solid"/>
                    </a:lnT>
                    <a:lnB w="6350">
                      <a:solidFill>
                        <a:srgbClr val="12283F"/>
                      </a:solidFill>
                      <a:prstDash val="solid"/>
                    </a:lnB>
                    <a:solidFill>
                      <a:srgbClr val="12283F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验收记录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12283F"/>
                      </a:solidFill>
                      <a:prstDash val="solid"/>
                    </a:lnL>
                    <a:lnR w="6350">
                      <a:solidFill>
                        <a:srgbClr val="12283F"/>
                      </a:solidFill>
                      <a:prstDash val="solid"/>
                    </a:lnR>
                    <a:lnT w="6350">
                      <a:solidFill>
                        <a:srgbClr val="12283F"/>
                      </a:solidFill>
                      <a:prstDash val="solid"/>
                    </a:lnT>
                    <a:lnB w="6350">
                      <a:solidFill>
                        <a:srgbClr val="12283F"/>
                      </a:solidFill>
                      <a:prstDash val="solid"/>
                    </a:lnB>
                    <a:solidFill>
                      <a:srgbClr val="12283F"/>
                    </a:solidFill>
                  </a:tcPr>
                </a:tc>
              </a:tr>
              <a:tr h="714375"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2283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应通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EE6EC"/>
                      </a:solidFill>
                      <a:prstDash val="solid"/>
                    </a:lnL>
                    <a:lnR w="6350">
                      <a:solidFill>
                        <a:srgbClr val="DEE6EC"/>
                      </a:solidFill>
                      <a:prstDash val="solid"/>
                    </a:lnR>
                    <a:lnT w="6350">
                      <a:solidFill>
                        <a:srgbClr val="DEE6EC"/>
                      </a:solidFill>
                      <a:prstDash val="solid"/>
                    </a:lnT>
                    <a:lnB w="6350">
                      <a:solidFill>
                        <a:srgbClr val="DEE6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2283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10.20.10.15 访问目标 TCP 3306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EE6EC"/>
                      </a:solidFill>
                      <a:prstDash val="solid"/>
                    </a:lnL>
                    <a:lnR w="6350">
                      <a:solidFill>
                        <a:srgbClr val="DEE6EC"/>
                      </a:solidFill>
                      <a:prstDash val="solid"/>
                    </a:lnR>
                    <a:lnT w="6350">
                      <a:solidFill>
                        <a:srgbClr val="DEE6EC"/>
                      </a:solidFill>
                      <a:prstDash val="solid"/>
                    </a:lnT>
                    <a:lnB w="6350">
                      <a:solidFill>
                        <a:srgbClr val="DEE6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2283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连接结果、交易结果、规则命中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EE6EC"/>
                      </a:solidFill>
                      <a:prstDash val="solid"/>
                    </a:lnL>
                    <a:lnR w="6350">
                      <a:solidFill>
                        <a:srgbClr val="DEE6EC"/>
                      </a:solidFill>
                      <a:prstDash val="solid"/>
                    </a:lnR>
                    <a:lnT w="6350">
                      <a:solidFill>
                        <a:srgbClr val="DEE6EC"/>
                      </a:solidFill>
                      <a:prstDash val="solid"/>
                    </a:lnT>
                    <a:lnB w="6350">
                      <a:solidFill>
                        <a:srgbClr val="DEE6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14375"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2283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应拒绝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EE6EC"/>
                      </a:solidFill>
                      <a:prstDash val="solid"/>
                    </a:lnL>
                    <a:lnR w="6350">
                      <a:solidFill>
                        <a:srgbClr val="DEE6EC"/>
                      </a:solidFill>
                      <a:prstDash val="solid"/>
                    </a:lnR>
                    <a:lnT w="6350">
                      <a:solidFill>
                        <a:srgbClr val="DEE6EC"/>
                      </a:solidFill>
                      <a:prstDash val="solid"/>
                    </a:lnT>
                    <a:lnB w="6350">
                      <a:solidFill>
                        <a:srgbClr val="DEE6EC"/>
                      </a:solidFill>
                      <a:prstDash val="solid"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2283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同一来源访问目标 TCP 22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EE6EC"/>
                      </a:solidFill>
                      <a:prstDash val="solid"/>
                    </a:lnL>
                    <a:lnR w="6350">
                      <a:solidFill>
                        <a:srgbClr val="DEE6EC"/>
                      </a:solidFill>
                      <a:prstDash val="solid"/>
                    </a:lnR>
                    <a:lnT w="6350">
                      <a:solidFill>
                        <a:srgbClr val="DEE6EC"/>
                      </a:solidFill>
                      <a:prstDash val="solid"/>
                    </a:lnT>
                    <a:lnB w="6350">
                      <a:solidFill>
                        <a:srgbClr val="DEE6EC"/>
                      </a:solidFill>
                      <a:prstDash val="solid"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2283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失败结果与预期阻断日志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EE6EC"/>
                      </a:solidFill>
                      <a:prstDash val="solid"/>
                    </a:lnL>
                    <a:lnR w="6350">
                      <a:solidFill>
                        <a:srgbClr val="DEE6EC"/>
                      </a:solidFill>
                      <a:prstDash val="solid"/>
                    </a:lnR>
                    <a:lnT w="6350">
                      <a:solidFill>
                        <a:srgbClr val="DEE6EC"/>
                      </a:solidFill>
                      <a:prstDash val="solid"/>
                    </a:lnT>
                    <a:lnB w="6350">
                      <a:solidFill>
                        <a:srgbClr val="DEE6EC"/>
                      </a:solidFill>
                      <a:prstDash val="solid"/>
                    </a:lnB>
                    <a:solidFill>
                      <a:srgbClr val="EEF3F6"/>
                    </a:solidFill>
                  </a:tcPr>
                </a:tc>
              </a:tr>
              <a:tr h="714375"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2283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路径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EE6EC"/>
                      </a:solidFill>
                      <a:prstDash val="solid"/>
                    </a:lnL>
                    <a:lnR w="6350">
                      <a:solidFill>
                        <a:srgbClr val="DEE6EC"/>
                      </a:solidFill>
                      <a:prstDash val="solid"/>
                    </a:lnR>
                    <a:lnT w="6350">
                      <a:solidFill>
                        <a:srgbClr val="DEE6EC"/>
                      </a:solidFill>
                      <a:prstDash val="solid"/>
                    </a:lnT>
                    <a:lnB w="6350">
                      <a:solidFill>
                        <a:srgbClr val="DEE6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2283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新建会话并核对对应防护边界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EE6EC"/>
                      </a:solidFill>
                      <a:prstDash val="solid"/>
                    </a:lnL>
                    <a:lnR w="6350">
                      <a:solidFill>
                        <a:srgbClr val="DEE6EC"/>
                      </a:solidFill>
                      <a:prstDash val="solid"/>
                    </a:lnR>
                    <a:lnT w="6350">
                      <a:solidFill>
                        <a:srgbClr val="DEE6EC"/>
                      </a:solidFill>
                      <a:prstDash val="solid"/>
                    </a:lnT>
                    <a:lnB w="6350">
                      <a:solidFill>
                        <a:srgbClr val="DEE6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2283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实例、边界、源目的与时间一致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EE6EC"/>
                      </a:solidFill>
                      <a:prstDash val="solid"/>
                    </a:lnL>
                    <a:lnR w="6350">
                      <a:solidFill>
                        <a:srgbClr val="DEE6EC"/>
                      </a:solidFill>
                      <a:prstDash val="solid"/>
                    </a:lnR>
                    <a:lnT w="6350">
                      <a:solidFill>
                        <a:srgbClr val="DEE6EC"/>
                      </a:solidFill>
                      <a:prstDash val="solid"/>
                    </a:lnT>
                    <a:lnB w="6350">
                      <a:solidFill>
                        <a:srgbClr val="DEE6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14375"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2283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回归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EE6EC"/>
                      </a:solidFill>
                      <a:prstDash val="solid"/>
                    </a:lnL>
                    <a:lnR w="6350">
                      <a:solidFill>
                        <a:srgbClr val="DEE6EC"/>
                      </a:solidFill>
                      <a:prstDash val="solid"/>
                    </a:lnR>
                    <a:lnT w="6350">
                      <a:solidFill>
                        <a:srgbClr val="DEE6EC"/>
                      </a:solidFill>
                      <a:prstDash val="solid"/>
                    </a:lnT>
                    <a:lnB w="6350">
                      <a:solidFill>
                        <a:srgbClr val="DEE6EC"/>
                      </a:solidFill>
                      <a:prstDash val="solid"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2283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DNS、监控、备份与关键交易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EE6EC"/>
                      </a:solidFill>
                      <a:prstDash val="solid"/>
                    </a:lnL>
                    <a:lnR w="6350">
                      <a:solidFill>
                        <a:srgbClr val="DEE6EC"/>
                      </a:solidFill>
                      <a:prstDash val="solid"/>
                    </a:lnR>
                    <a:lnT w="6350">
                      <a:solidFill>
                        <a:srgbClr val="DEE6EC"/>
                      </a:solidFill>
                      <a:prstDash val="solid"/>
                    </a:lnT>
                    <a:lnB w="6350">
                      <a:solidFill>
                        <a:srgbClr val="DEE6EC"/>
                      </a:solidFill>
                      <a:prstDash val="solid"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2283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关键依赖正常，回滚步骤已验证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EE6EC"/>
                      </a:solidFill>
                      <a:prstDash val="solid"/>
                    </a:lnL>
                    <a:lnR w="6350">
                      <a:solidFill>
                        <a:srgbClr val="DEE6EC"/>
                      </a:solidFill>
                      <a:prstDash val="solid"/>
                    </a:lnR>
                    <a:lnT w="6350">
                      <a:solidFill>
                        <a:srgbClr val="DEE6EC"/>
                      </a:solidFill>
                      <a:prstDash val="solid"/>
                    </a:lnT>
                    <a:lnB w="6350">
                      <a:solidFill>
                        <a:srgbClr val="DEE6EC"/>
                      </a:solidFill>
                      <a:prstDash val="solid"/>
                    </a:lnB>
                    <a:solidFill>
                      <a:srgbClr val="EEF3F6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26286609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txt-0">
            <a:extLst xmlns:a="http://schemas.openxmlformats.org/drawingml/2006/main">
              <a:ext uri="{FF2B5EF4-FFF2-40B4-BE49-F238E27FC236}">
                <a16:creationId xmlns:a16="http://schemas.microsoft.com/office/drawing/2014/main" id="{BC3CBF3E-71D8-4A8D-BC8F-00DF86AC1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28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008B87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008B8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1">
                <a:solidFill>
                  <a:srgbClr val="008B87"/>
                </a:solidFill>
                <a:latin typeface="Arial Unicode MS"/>
                <a:ea typeface="Arial Unicode MS"/>
                <a:cs typeface="Arial Unicode MS"/>
              </a:rPr>
              <a:t>03  变更与排障</a:t>
            </a:r>
          </a:p>
        </p:txBody>
      </p:sp>
      <p:sp>
        <p:nvSpPr>
          <p:cNvPr id="2" name="txt-1">
            <a:extLst xmlns:a="http://schemas.openxmlformats.org/drawingml/2006/main">
              <a:ext uri="{FF2B5EF4-FFF2-40B4-BE49-F238E27FC236}">
                <a16:creationId xmlns:a16="http://schemas.microsoft.com/office/drawing/2014/main" id="{9F2C97C1-799F-4C88-8DF9-462D4BA45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75" b="1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3075" b="1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75" b="1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rPr>
              <a:t>从日志筛选条件定位具体业务流</a:t>
            </a:r>
          </a:p>
        </p:txBody>
      </p:sp>
      <p:sp>
        <p:nvSpPr>
          <p:cNvPr id="3" name="txt-2">
            <a:extLst xmlns:a="http://schemas.openxmlformats.org/drawingml/2006/main">
              <a:ext uri="{FF2B5EF4-FFF2-40B4-BE49-F238E27FC236}">
                <a16:creationId xmlns:a16="http://schemas.microsoft.com/office/drawing/2014/main" id="{DBFC8D89-2DB1-451C-A52B-B83CA73B7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62075"/>
            <a:ext cx="1097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627383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62738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627383"/>
                </a:solidFill>
                <a:latin typeface="Arial Unicode MS"/>
                <a:ea typeface="Arial Unicode MS"/>
                <a:cs typeface="Arial Unicode MS"/>
              </a:rPr>
              <a:t>华为云官方日志查询示例，界面可能随版本变化</a:t>
            </a:r>
          </a:p>
        </p:txBody>
      </p:sp>
      <p:sp>
        <p:nvSpPr>
          <p:cNvPr id="4" name="txt-3">
            <a:extLst xmlns:a="http://schemas.openxmlformats.org/drawingml/2006/main">
              <a:ext uri="{FF2B5EF4-FFF2-40B4-BE49-F238E27FC236}">
                <a16:creationId xmlns:a16="http://schemas.microsoft.com/office/drawing/2014/main" id="{FA6FB98E-861E-437D-9CE6-DDE5B912F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00775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627383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62738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27383"/>
                </a:solidFill>
                <a:latin typeface="Arial Unicode MS"/>
                <a:ea typeface="Arial Unicode MS"/>
                <a:cs typeface="Arial Unicode MS"/>
              </a:rPr>
              <a:t>流量日志存在会话结束上报等机制。暂未查到日志时先核对上报与筛选条件</a:t>
            </a:r>
          </a:p>
        </p:txBody>
      </p:sp>
      <p:sp>
        <p:nvSpPr>
          <p:cNvPr id="5" name="txt-4">
            <a:extLst xmlns:a="http://schemas.openxmlformats.org/drawingml/2006/main">
              <a:ext uri="{FF2B5EF4-FFF2-40B4-BE49-F238E27FC236}">
                <a16:creationId xmlns:a16="http://schemas.microsoft.com/office/drawing/2014/main" id="{D3A76EEA-7236-45C5-842E-E4394EA8A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00800"/>
            <a:ext cx="628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627383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62738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27383"/>
                </a:solidFill>
                <a:latin typeface="Arial Unicode MS"/>
                <a:ea typeface="Arial Unicode MS"/>
                <a:cs typeface="Arial Unicode MS"/>
              </a:rPr>
              <a:t>25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CDF3E48-C37B-4CE2-BC29-FB1F7C20058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35b0807a13b45b1"/>
          <a:stretch xmlns:a="http://schemas.openxmlformats.org/drawingml/2006/main"/>
        </p:blipFill>
        <p:spPr>
          <a:xfrm xmlns:a="http://schemas.openxmlformats.org/drawingml/2006/main">
            <a:off x="659433" y="2028825"/>
            <a:ext cx="10873134" cy="2714625"/>
          </a:xfrm>
          <a:prstGeom xmlns:a="http://schemas.openxmlformats.org/drawingml/2006/main" prst="rect">
            <a:avLst/>
          </a:prstGeom>
        </p:spPr>
      </p:pic>
      <p:sp>
        <p:nvSpPr>
          <p:cNvPr id="7" name="txt-5">
            <a:extLst xmlns:a="http://schemas.openxmlformats.org/drawingml/2006/main">
              <a:ext uri="{FF2B5EF4-FFF2-40B4-BE49-F238E27FC236}">
                <a16:creationId xmlns:a16="http://schemas.microsoft.com/office/drawing/2014/main" id="{E9BAE835-6A69-4FF2-90A4-1B16FB82B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0"/>
            <a:ext cx="3238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008B87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008B8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1">
                <a:solidFill>
                  <a:srgbClr val="008B87"/>
                </a:solidFill>
                <a:latin typeface="Arial Unicode MS"/>
                <a:ea typeface="Arial Unicode MS"/>
                <a:cs typeface="Arial Unicode MS"/>
              </a:rPr>
              <a:t>01 确认范围</a:t>
            </a:r>
          </a:p>
        </p:txBody>
      </p:sp>
      <p:sp>
        <p:nvSpPr>
          <p:cNvPr id="8" name="txt-6">
            <a:extLst xmlns:a="http://schemas.openxmlformats.org/drawingml/2006/main">
              <a:ext uri="{FF2B5EF4-FFF2-40B4-BE49-F238E27FC236}">
                <a16:creationId xmlns:a16="http://schemas.microsoft.com/office/drawing/2014/main" id="{3EFA6E5D-FFE2-428A-8B76-DC8311926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72100"/>
            <a:ext cx="3238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rPr>
              <a:t>实例、日志类型与防护边界</a:t>
            </a:r>
          </a:p>
        </p:txBody>
      </p:sp>
      <p:sp>
        <p:nvSpPr>
          <p:cNvPr id="9" name="txt-7">
            <a:extLst xmlns:a="http://schemas.openxmlformats.org/drawingml/2006/main">
              <a:ext uri="{FF2B5EF4-FFF2-40B4-BE49-F238E27FC236}">
                <a16:creationId xmlns:a16="http://schemas.microsoft.com/office/drawing/2014/main" id="{2CEA5E5E-C00A-4088-BF3A-76FE68BB3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4953000"/>
            <a:ext cx="3238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008B87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008B8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1">
                <a:solidFill>
                  <a:srgbClr val="008B87"/>
                </a:solidFill>
                <a:latin typeface="Arial Unicode MS"/>
                <a:ea typeface="Arial Unicode MS"/>
                <a:cs typeface="Arial Unicode MS"/>
              </a:rPr>
              <a:t>02 筛选业务流</a:t>
            </a:r>
          </a:p>
        </p:txBody>
      </p:sp>
      <p:sp>
        <p:nvSpPr>
          <p:cNvPr id="10" name="txt-8">
            <a:extLst xmlns:a="http://schemas.openxmlformats.org/drawingml/2006/main">
              <a:ext uri="{FF2B5EF4-FFF2-40B4-BE49-F238E27FC236}">
                <a16:creationId xmlns:a16="http://schemas.microsoft.com/office/drawing/2014/main" id="{55D46DD5-59C8-493F-BF1B-22D5D4379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5372100"/>
            <a:ext cx="3238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rPr>
              <a:t>时间、源目的、协议与端口</a:t>
            </a:r>
          </a:p>
        </p:txBody>
      </p:sp>
      <p:sp>
        <p:nvSpPr>
          <p:cNvPr id="11" name="txt-9">
            <a:extLst xmlns:a="http://schemas.openxmlformats.org/drawingml/2006/main">
              <a:ext uri="{FF2B5EF4-FFF2-40B4-BE49-F238E27FC236}">
                <a16:creationId xmlns:a16="http://schemas.microsoft.com/office/drawing/2014/main" id="{45EEC4F8-F1DC-4698-B4D4-AF6CFD956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4953000"/>
            <a:ext cx="3143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008B87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008B8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1">
                <a:solidFill>
                  <a:srgbClr val="008B87"/>
                </a:solidFill>
                <a:latin typeface="Arial Unicode MS"/>
                <a:ea typeface="Arial Unicode MS"/>
                <a:cs typeface="Arial Unicode MS"/>
              </a:rPr>
              <a:t>03 关联结果</a:t>
            </a:r>
          </a:p>
        </p:txBody>
      </p:sp>
      <p:sp>
        <p:nvSpPr>
          <p:cNvPr id="12" name="txt-10">
            <a:extLst xmlns:a="http://schemas.openxmlformats.org/drawingml/2006/main">
              <a:ext uri="{FF2B5EF4-FFF2-40B4-BE49-F238E27FC236}">
                <a16:creationId xmlns:a16="http://schemas.microsoft.com/office/drawing/2014/main" id="{611F7CB3-061D-4E27-B661-997ADEED7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5372100"/>
            <a:ext cx="314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rPr>
              <a:t>规则动作与业务测试对应</a:t>
            </a:r>
          </a:p>
        </p:txBody>
      </p:sp>
    </p:spTree>
    <p:extLst>
      <p:ext uri="{BB962C8B-B14F-4D97-AF65-F5344CB8AC3E}">
        <p14:creationId xmlns:p14="http://schemas.microsoft.com/office/powerpoint/2010/main" val="153463279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txt-0">
            <a:extLst xmlns:a="http://schemas.openxmlformats.org/drawingml/2006/main">
              <a:ext uri="{FF2B5EF4-FFF2-40B4-BE49-F238E27FC236}">
                <a16:creationId xmlns:a16="http://schemas.microsoft.com/office/drawing/2014/main" id="{944C0929-2070-407C-A2C5-DF5BE55E0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28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008B87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008B8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1">
                <a:solidFill>
                  <a:srgbClr val="008B87"/>
                </a:solidFill>
                <a:latin typeface="Arial Unicode MS"/>
                <a:ea typeface="Arial Unicode MS"/>
                <a:cs typeface="Arial Unicode MS"/>
              </a:rPr>
              <a:t>03  变更与排障</a:t>
            </a:r>
          </a:p>
        </p:txBody>
      </p:sp>
      <p:sp>
        <p:nvSpPr>
          <p:cNvPr id="2" name="txt-1">
            <a:extLst xmlns:a="http://schemas.openxmlformats.org/drawingml/2006/main">
              <a:ext uri="{FF2B5EF4-FFF2-40B4-BE49-F238E27FC236}">
                <a16:creationId xmlns:a16="http://schemas.microsoft.com/office/drawing/2014/main" id="{65F102BB-3EA4-4445-B1E9-1F9DDB222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75" b="1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3075" b="1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75" b="1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rPr>
              <a:t>排障按证据分支推进</a:t>
            </a:r>
          </a:p>
        </p:txBody>
      </p:sp>
      <p:sp>
        <p:nvSpPr>
          <p:cNvPr id="3" name="txt-2">
            <a:extLst xmlns:a="http://schemas.openxmlformats.org/drawingml/2006/main">
              <a:ext uri="{FF2B5EF4-FFF2-40B4-BE49-F238E27FC236}">
                <a16:creationId xmlns:a16="http://schemas.microsoft.com/office/drawing/2014/main" id="{724BD59C-D606-4E64-ACC1-6AED0D5D1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62075"/>
            <a:ext cx="1097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627383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62738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627383"/>
                </a:solidFill>
                <a:latin typeface="Arial Unicode MS"/>
                <a:ea typeface="Arial Unicode MS"/>
                <a:cs typeface="Arial Unicode MS"/>
              </a:rPr>
              <a:t>先确定检查点的观测结果，再定位具体控制层</a:t>
            </a:r>
          </a:p>
        </p:txBody>
      </p:sp>
      <p:sp>
        <p:nvSpPr>
          <p:cNvPr id="4" name="txt-3">
            <a:extLst xmlns:a="http://schemas.openxmlformats.org/drawingml/2006/main">
              <a:ext uri="{FF2B5EF4-FFF2-40B4-BE49-F238E27FC236}">
                <a16:creationId xmlns:a16="http://schemas.microsoft.com/office/drawing/2014/main" id="{E03B88EC-1997-48DC-BA2F-A3B73DCD7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00775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627383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62738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27383"/>
                </a:solidFill>
                <a:latin typeface="Arial Unicode MS"/>
                <a:ea typeface="Arial Unicode MS"/>
                <a:cs typeface="Arial Unicode MS"/>
              </a:rPr>
              <a:t>逻辑教学示意，具体配置以实际区域、版本与网络路径为准</a:t>
            </a:r>
          </a:p>
        </p:txBody>
      </p:sp>
      <p:sp>
        <p:nvSpPr>
          <p:cNvPr id="5" name="txt-4">
            <a:extLst xmlns:a="http://schemas.openxmlformats.org/drawingml/2006/main">
              <a:ext uri="{FF2B5EF4-FFF2-40B4-BE49-F238E27FC236}">
                <a16:creationId xmlns:a16="http://schemas.microsoft.com/office/drawing/2014/main" id="{85A493CC-E1FD-495A-A264-C989B4FF3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00800"/>
            <a:ext cx="628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627383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62738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27383"/>
                </a:solidFill>
                <a:latin typeface="Arial Unicode MS"/>
                <a:ea typeface="Arial Unicode MS"/>
                <a:cs typeface="Arial Unicode MS"/>
              </a:rPr>
              <a:t>26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54CB35B-91CB-4560-B54F-24AEA9EEFE8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dc7ea83e0dd4202"/>
          <a:stretch xmlns:a="http://schemas.openxmlformats.org/drawingml/2006/main"/>
        </p:blipFill>
        <p:spPr>
          <a:xfrm xmlns:a="http://schemas.openxmlformats.org/drawingml/2006/main">
            <a:off x="1174081" y="1895475"/>
            <a:ext cx="6624388" cy="4143375"/>
          </a:xfrm>
          <a:prstGeom xmlns:a="http://schemas.openxmlformats.org/drawingml/2006/main" prst="rect">
            <a:avLst/>
          </a:prstGeom>
        </p:spPr>
      </p:pic>
      <p:sp>
        <p:nvSpPr>
          <p:cNvPr id="7" name="txt-5">
            <a:extLst xmlns:a="http://schemas.openxmlformats.org/drawingml/2006/main">
              <a:ext uri="{FF2B5EF4-FFF2-40B4-BE49-F238E27FC236}">
                <a16:creationId xmlns:a16="http://schemas.microsoft.com/office/drawing/2014/main" id="{4CD03B84-3509-4D13-AF7E-99E95E2BB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2047875"/>
            <a:ext cx="25431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008B87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008B8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1">
                <a:solidFill>
                  <a:srgbClr val="008B87"/>
                </a:solidFill>
                <a:latin typeface="Arial Unicode MS"/>
                <a:ea typeface="Arial Unicode MS"/>
                <a:cs typeface="Arial Unicode MS"/>
              </a:rPr>
              <a:t>有日志</a:t>
            </a:r>
          </a:p>
        </p:txBody>
      </p:sp>
      <p:sp>
        <p:nvSpPr>
          <p:cNvPr id="8" name="txt-6">
            <a:extLst xmlns:a="http://schemas.openxmlformats.org/drawingml/2006/main">
              <a:ext uri="{FF2B5EF4-FFF2-40B4-BE49-F238E27FC236}">
                <a16:creationId xmlns:a16="http://schemas.microsoft.com/office/drawing/2014/main" id="{5449978B-1306-40F8-BE40-2119401F5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2466975"/>
            <a:ext cx="25431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rPr>
              <a:t>看访问控制动作</a:t>
            </a:r>
          </a:p>
          <a:p xmlns:a="http://schemas.openxmlformats.org/drawingml/2006/main">
            <a:pPr algn="l">
              <a:defRPr sz="1800" b="0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rPr>
              <a:t>再看攻击事件与 IPS</a:t>
            </a:r>
          </a:p>
        </p:txBody>
      </p:sp>
      <p:sp>
        <p:nvSpPr>
          <p:cNvPr id="9" name="txt-7">
            <a:extLst xmlns:a="http://schemas.openxmlformats.org/drawingml/2006/main">
              <a:ext uri="{FF2B5EF4-FFF2-40B4-BE49-F238E27FC236}">
                <a16:creationId xmlns:a16="http://schemas.microsoft.com/office/drawing/2014/main" id="{7E832C2B-5D7E-4B4C-A52B-CB4B9E2FB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3352800"/>
            <a:ext cx="25431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008B87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008B8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1">
                <a:solidFill>
                  <a:srgbClr val="008B87"/>
                </a:solidFill>
                <a:latin typeface="Arial Unicode MS"/>
                <a:ea typeface="Arial Unicode MS"/>
                <a:cs typeface="Arial Unicode MS"/>
              </a:rPr>
              <a:t>无即时日志</a:t>
            </a:r>
          </a:p>
        </p:txBody>
      </p:sp>
      <p:sp>
        <p:nvSpPr>
          <p:cNvPr id="10" name="txt-8">
            <a:extLst xmlns:a="http://schemas.openxmlformats.org/drawingml/2006/main">
              <a:ext uri="{FF2B5EF4-FFF2-40B4-BE49-F238E27FC236}">
                <a16:creationId xmlns:a16="http://schemas.microsoft.com/office/drawing/2014/main" id="{7B6A5575-0102-4624-A355-C829EF5F7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3771900"/>
            <a:ext cx="25431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rPr>
              <a:t>核对筛选、上报和路径</a:t>
            </a:r>
          </a:p>
          <a:p xmlns:a="http://schemas.openxmlformats.org/drawingml/2006/main">
            <a:pPr algn="l">
              <a:defRPr sz="1800" b="0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rPr>
              <a:t>避免直接增加 Any 放行</a:t>
            </a:r>
          </a:p>
        </p:txBody>
      </p:sp>
      <p:sp>
        <p:nvSpPr>
          <p:cNvPr id="11" name="txt-9">
            <a:extLst xmlns:a="http://schemas.openxmlformats.org/drawingml/2006/main">
              <a:ext uri="{FF2B5EF4-FFF2-40B4-BE49-F238E27FC236}">
                <a16:creationId xmlns:a16="http://schemas.microsoft.com/office/drawing/2014/main" id="{B16746C0-CFCB-42D3-ADCA-B3CCC24E8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4657725"/>
            <a:ext cx="25431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008B87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008B8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1">
                <a:solidFill>
                  <a:srgbClr val="008B87"/>
                </a:solidFill>
                <a:latin typeface="Arial Unicode MS"/>
                <a:ea typeface="Arial Unicode MS"/>
                <a:cs typeface="Arial Unicode MS"/>
              </a:rPr>
              <a:t>端到端</a:t>
            </a:r>
          </a:p>
        </p:txBody>
      </p:sp>
      <p:sp>
        <p:nvSpPr>
          <p:cNvPr id="12" name="txt-10">
            <a:extLst xmlns:a="http://schemas.openxmlformats.org/drawingml/2006/main">
              <a:ext uri="{FF2B5EF4-FFF2-40B4-BE49-F238E27FC236}">
                <a16:creationId xmlns:a16="http://schemas.microsoft.com/office/drawing/2014/main" id="{D9237CFF-75EF-4193-85A7-13DCC059B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5076825"/>
            <a:ext cx="25431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rPr>
              <a:t>其他控制层与服务状态</a:t>
            </a:r>
          </a:p>
          <a:p xmlns:a="http://schemas.openxmlformats.org/drawingml/2006/main">
            <a:pPr algn="l">
              <a:defRPr sz="1800" b="0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rPr>
              <a:t>都需验证</a:t>
            </a:r>
          </a:p>
        </p:txBody>
      </p:sp>
    </p:spTree>
    <p:extLst>
      <p:ext uri="{BB962C8B-B14F-4D97-AF65-F5344CB8AC3E}">
        <p14:creationId xmlns:p14="http://schemas.microsoft.com/office/powerpoint/2010/main" val="706144492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txt-0">
            <a:extLst xmlns:a="http://schemas.openxmlformats.org/drawingml/2006/main">
              <a:ext uri="{FF2B5EF4-FFF2-40B4-BE49-F238E27FC236}">
                <a16:creationId xmlns:a16="http://schemas.microsoft.com/office/drawing/2014/main" id="{D46128DB-2876-48C8-BEC6-594F4D9F5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28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008B87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008B8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1">
                <a:solidFill>
                  <a:srgbClr val="008B87"/>
                </a:solidFill>
                <a:latin typeface="Arial Unicode MS"/>
                <a:ea typeface="Arial Unicode MS"/>
                <a:cs typeface="Arial Unicode MS"/>
              </a:rPr>
              <a:t>04  案例演练</a:t>
            </a:r>
          </a:p>
        </p:txBody>
      </p:sp>
      <p:sp>
        <p:nvSpPr>
          <p:cNvPr id="2" name="txt-1">
            <a:extLst xmlns:a="http://schemas.openxmlformats.org/drawingml/2006/main">
              <a:ext uri="{FF2B5EF4-FFF2-40B4-BE49-F238E27FC236}">
                <a16:creationId xmlns:a16="http://schemas.microsoft.com/office/drawing/2014/main" id="{CE88D597-E887-4352-B854-F01D7AC07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75" b="1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3075" b="1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75" b="1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rPr>
              <a:t>案例一：CFW 放行后仍然连接超时</a:t>
            </a:r>
          </a:p>
        </p:txBody>
      </p:sp>
      <p:sp>
        <p:nvSpPr>
          <p:cNvPr id="3" name="txt-2">
            <a:extLst xmlns:a="http://schemas.openxmlformats.org/drawingml/2006/main">
              <a:ext uri="{FF2B5EF4-FFF2-40B4-BE49-F238E27FC236}">
                <a16:creationId xmlns:a16="http://schemas.microsoft.com/office/drawing/2014/main" id="{B159C182-621B-455C-9511-877C080C6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62075"/>
            <a:ext cx="1097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627383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62738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627383"/>
                </a:solidFill>
                <a:latin typeface="Arial Unicode MS"/>
                <a:ea typeface="Arial Unicode MS"/>
                <a:cs typeface="Arial Unicode MS"/>
              </a:rPr>
              <a:t>3 分钟讨论 + 3 分钟讲评</a:t>
            </a:r>
          </a:p>
        </p:txBody>
      </p:sp>
      <p:sp>
        <p:nvSpPr>
          <p:cNvPr id="4" name="txt-3">
            <a:extLst xmlns:a="http://schemas.openxmlformats.org/drawingml/2006/main">
              <a:ext uri="{FF2B5EF4-FFF2-40B4-BE49-F238E27FC236}">
                <a16:creationId xmlns:a16="http://schemas.microsoft.com/office/drawing/2014/main" id="{C944BA04-DA59-4D56-A844-4BDC46EC3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00775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627383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62738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27383"/>
                </a:solidFill>
                <a:latin typeface="Arial Unicode MS"/>
                <a:ea typeface="Arial Unicode MS"/>
                <a:cs typeface="Arial Unicode MS"/>
              </a:rPr>
              <a:t>教学假设：无 NAT，源端出方向及其他控制层正常。下一页为参考答案</a:t>
            </a:r>
          </a:p>
        </p:txBody>
      </p:sp>
      <p:sp>
        <p:nvSpPr>
          <p:cNvPr id="5" name="txt-4">
            <a:extLst xmlns:a="http://schemas.openxmlformats.org/drawingml/2006/main">
              <a:ext uri="{FF2B5EF4-FFF2-40B4-BE49-F238E27FC236}">
                <a16:creationId xmlns:a16="http://schemas.microsoft.com/office/drawing/2014/main" id="{8E86EBE0-D61E-47B6-8CB7-AC608890A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00800"/>
            <a:ext cx="628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627383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62738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27383"/>
                </a:solidFill>
                <a:latin typeface="Arial Unicode MS"/>
                <a:ea typeface="Arial Unicode MS"/>
                <a:cs typeface="Arial Unicode MS"/>
              </a:rPr>
              <a:t>27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32F14C8-1CAD-4704-A5C9-14D3EE0A343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97515e1cb254d78"/>
          <a:stretch xmlns:a="http://schemas.openxmlformats.org/drawingml/2006/main"/>
        </p:blipFill>
        <p:spPr>
          <a:xfrm xmlns:a="http://schemas.openxmlformats.org/drawingml/2006/main">
            <a:off x="381000" y="2325467"/>
            <a:ext cx="8210550" cy="3283392"/>
          </a:xfrm>
          <a:prstGeom xmlns:a="http://schemas.openxmlformats.org/drawingml/2006/main" prst="rect">
            <a:avLst/>
          </a:prstGeom>
        </p:spPr>
      </p:pic>
      <p:sp>
        <p:nvSpPr>
          <p:cNvPr id="7" name="txt-5">
            <a:extLst xmlns:a="http://schemas.openxmlformats.org/drawingml/2006/main">
              <a:ext uri="{FF2B5EF4-FFF2-40B4-BE49-F238E27FC236}">
                <a16:creationId xmlns:a16="http://schemas.microsoft.com/office/drawing/2014/main" id="{4155955D-107F-4131-A724-1738B30AD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2047875"/>
            <a:ext cx="25431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008B87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008B8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1">
                <a:solidFill>
                  <a:srgbClr val="008B87"/>
                </a:solidFill>
                <a:latin typeface="Arial Unicode MS"/>
                <a:ea typeface="Arial Unicode MS"/>
                <a:cs typeface="Arial Unicode MS"/>
              </a:rPr>
              <a:t>已知</a:t>
            </a:r>
          </a:p>
        </p:txBody>
      </p:sp>
      <p:sp>
        <p:nvSpPr>
          <p:cNvPr id="8" name="txt-6">
            <a:extLst xmlns:a="http://schemas.openxmlformats.org/drawingml/2006/main">
              <a:ext uri="{FF2B5EF4-FFF2-40B4-BE49-F238E27FC236}">
                <a16:creationId xmlns:a16="http://schemas.microsoft.com/office/drawing/2014/main" id="{FC0CE5B1-C717-4161-9825-F468518B0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2466975"/>
            <a:ext cx="25431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rPr>
              <a:t>双向引流正常</a:t>
            </a:r>
          </a:p>
          <a:p xmlns:a="http://schemas.openxmlformats.org/drawingml/2006/main">
            <a:pPr algn="l">
              <a:defRPr sz="1800" b="0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rPr>
              <a:t>数据库已监听 3306</a:t>
            </a:r>
          </a:p>
        </p:txBody>
      </p:sp>
      <p:sp>
        <p:nvSpPr>
          <p:cNvPr id="9" name="txt-7">
            <a:extLst xmlns:a="http://schemas.openxmlformats.org/drawingml/2006/main">
              <a:ext uri="{FF2B5EF4-FFF2-40B4-BE49-F238E27FC236}">
                <a16:creationId xmlns:a16="http://schemas.microsoft.com/office/drawing/2014/main" id="{8DF003F6-7790-4BB9-AA20-315D5F907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3352800"/>
            <a:ext cx="25431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008B87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008B8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1">
                <a:solidFill>
                  <a:srgbClr val="008B87"/>
                </a:solidFill>
                <a:latin typeface="Arial Unicode MS"/>
                <a:ea typeface="Arial Unicode MS"/>
                <a:cs typeface="Arial Unicode MS"/>
              </a:rPr>
              <a:t>任务</a:t>
            </a:r>
          </a:p>
        </p:txBody>
      </p:sp>
      <p:sp>
        <p:nvSpPr>
          <p:cNvPr id="10" name="txt-8">
            <a:extLst xmlns:a="http://schemas.openxmlformats.org/drawingml/2006/main">
              <a:ext uri="{FF2B5EF4-FFF2-40B4-BE49-F238E27FC236}">
                <a16:creationId xmlns:a16="http://schemas.microsoft.com/office/drawing/2014/main" id="{D36705B9-8128-4A38-8963-F70065EE6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3771900"/>
            <a:ext cx="25431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rPr>
              <a:t>根据图中地址与来源规则定位问题</a:t>
            </a:r>
          </a:p>
        </p:txBody>
      </p:sp>
      <p:sp>
        <p:nvSpPr>
          <p:cNvPr id="11" name="txt-9">
            <a:extLst xmlns:a="http://schemas.openxmlformats.org/drawingml/2006/main">
              <a:ext uri="{FF2B5EF4-FFF2-40B4-BE49-F238E27FC236}">
                <a16:creationId xmlns:a16="http://schemas.microsoft.com/office/drawing/2014/main" id="{087732A8-9B0B-4D19-9DE2-AE470FAC4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4657725"/>
            <a:ext cx="25431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008B87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008B8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1">
                <a:solidFill>
                  <a:srgbClr val="008B87"/>
                </a:solidFill>
                <a:latin typeface="Arial Unicode MS"/>
                <a:ea typeface="Arial Unicode MS"/>
                <a:cs typeface="Arial Unicode MS"/>
              </a:rPr>
              <a:t>交付</a:t>
            </a:r>
          </a:p>
        </p:txBody>
      </p:sp>
      <p:sp>
        <p:nvSpPr>
          <p:cNvPr id="12" name="txt-10">
            <a:extLst xmlns:a="http://schemas.openxmlformats.org/drawingml/2006/main">
              <a:ext uri="{FF2B5EF4-FFF2-40B4-BE49-F238E27FC236}">
                <a16:creationId xmlns:a16="http://schemas.microsoft.com/office/drawing/2014/main" id="{12122A83-62DB-46C3-93FF-FDA4BB7AA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5076825"/>
            <a:ext cx="25431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rPr>
              <a:t>最小修改、正反用例</a:t>
            </a:r>
          </a:p>
          <a:p xmlns:a="http://schemas.openxmlformats.org/drawingml/2006/main">
            <a:pPr algn="l">
              <a:defRPr sz="1800" b="0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rPr>
              <a:t>以及对应的证据</a:t>
            </a:r>
          </a:p>
        </p:txBody>
      </p:sp>
    </p:spTree>
    <p:extLst>
      <p:ext uri="{BB962C8B-B14F-4D97-AF65-F5344CB8AC3E}">
        <p14:creationId xmlns:p14="http://schemas.microsoft.com/office/powerpoint/2010/main" val="1789769874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xt-0">
            <a:extLst xmlns:a="http://schemas.openxmlformats.org/drawingml/2006/main">
              <a:ext uri="{FF2B5EF4-FFF2-40B4-BE49-F238E27FC236}">
                <a16:creationId xmlns:a16="http://schemas.microsoft.com/office/drawing/2014/main" id="{007C7C45-7974-4756-9CA9-B314795DE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28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008B87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008B8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1">
                <a:solidFill>
                  <a:srgbClr val="008B87"/>
                </a:solidFill>
                <a:latin typeface="Arial Unicode MS"/>
                <a:ea typeface="Arial Unicode MS"/>
                <a:cs typeface="Arial Unicode MS"/>
              </a:rPr>
              <a:t>04  案例讲评</a:t>
            </a:r>
          </a:p>
        </p:txBody>
      </p:sp>
      <p:sp>
        <p:nvSpPr>
          <p:cNvPr id="2" name="txt-1">
            <a:extLst xmlns:a="http://schemas.openxmlformats.org/drawingml/2006/main">
              <a:ext uri="{FF2B5EF4-FFF2-40B4-BE49-F238E27FC236}">
                <a16:creationId xmlns:a16="http://schemas.microsoft.com/office/drawing/2014/main" id="{92F7B01B-4517-4891-B10F-52C8E14D1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75" b="1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3075" b="1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75" b="1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rPr>
              <a:t>案例一答案：数据安全组来源不匹配</a:t>
            </a:r>
          </a:p>
        </p:txBody>
      </p:sp>
      <p:sp>
        <p:nvSpPr>
          <p:cNvPr id="3" name="txt-2">
            <a:extLst xmlns:a="http://schemas.openxmlformats.org/drawingml/2006/main">
              <a:ext uri="{FF2B5EF4-FFF2-40B4-BE49-F238E27FC236}">
                <a16:creationId xmlns:a16="http://schemas.microsoft.com/office/drawing/2014/main" id="{2AC56A20-B7E9-47C5-B944-1A10992D5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00775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627383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62738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27383"/>
                </a:solidFill>
                <a:latin typeface="Arial Unicode MS"/>
                <a:ea typeface="Arial Unicode MS"/>
                <a:cs typeface="Arial Unicode MS"/>
              </a:rPr>
              <a:t>评分 10 分：根因 3 分、最小变更 3 分、正反用例各 2 分</a:t>
            </a:r>
          </a:p>
        </p:txBody>
      </p:sp>
      <p:sp>
        <p:nvSpPr>
          <p:cNvPr id="4" name="txt-3">
            <a:extLst xmlns:a="http://schemas.openxmlformats.org/drawingml/2006/main">
              <a:ext uri="{FF2B5EF4-FFF2-40B4-BE49-F238E27FC236}">
                <a16:creationId xmlns:a16="http://schemas.microsoft.com/office/drawing/2014/main" id="{25024949-D80C-4EBB-AFC1-5EAD23420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00800"/>
            <a:ext cx="628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627383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62738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27383"/>
                </a:solidFill>
                <a:latin typeface="Arial Unicode MS"/>
                <a:ea typeface="Arial Unicode MS"/>
                <a:cs typeface="Arial Unicode MS"/>
              </a:rPr>
              <a:t>28</a:t>
            </a:r>
          </a:p>
        </p:txBody>
      </p:sp>
      <p:sp>
        <p:nvSpPr>
          <p:cNvPr id="5" name="txt-4">
            <a:extLst xmlns:a="http://schemas.openxmlformats.org/drawingml/2006/main">
              <a:ext uri="{FF2B5EF4-FFF2-40B4-BE49-F238E27FC236}">
                <a16:creationId xmlns:a16="http://schemas.microsoft.com/office/drawing/2014/main" id="{09FCC567-B69A-4A37-9CF3-902E73EF2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43075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008B87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008B8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00" b="1">
                <a:solidFill>
                  <a:srgbClr val="008B87"/>
                </a:solidFill>
                <a:latin typeface="Arial Unicode MS"/>
                <a:ea typeface="Arial Unicode MS"/>
                <a:cs typeface="Arial Unicode MS"/>
              </a:rPr>
              <a:t>10.20.10.15 不属于允许的 10.20.20.0/24</a:t>
            </a:r>
          </a:p>
        </p:txBody>
      </p:sp>
      <p:sp>
        <p:nvSpPr>
          <p:cNvPr id="6" name="txt-5">
            <a:extLst xmlns:a="http://schemas.openxmlformats.org/drawingml/2006/main">
              <a:ext uri="{FF2B5EF4-FFF2-40B4-BE49-F238E27FC236}">
                <a16:creationId xmlns:a16="http://schemas.microsoft.com/office/drawing/2014/main" id="{FB0C3DD2-4A2D-472F-B461-D33A3252A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52700"/>
            <a:ext cx="10972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0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rPr>
              <a:t>经审批为实际应用来源增加 TCP 3306 的精确授权。</a:t>
            </a:r>
          </a:p>
        </p:txBody>
      </p:sp>
      <p:graphicFrame>
        <p:nvGraphicFrame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FF7F474-23C4-4E0B-B8F9-E1B8717B6C4E}"/>
              </a:ext>
            </a:extLst>
          </p:cNvPr>
          <p:cNvGraphicFramePr/>
          <p:nvPr/>
        </p:nvGraphicFramePr>
        <p:xfrm>
          <a:off xmlns:a="http://schemas.openxmlformats.org/drawingml/2006/main" x="609600" y="3571875"/>
          <a:ext xmlns:a="http://schemas.openxmlformats.org/drawingml/2006/main" cx="10972800" cy="22764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524000"/>
                <a:gridCol w="5715000"/>
                <a:gridCol w="3733800"/>
              </a:tblGrid>
              <a:tr h="569119"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项目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12283F"/>
                      </a:solidFill>
                      <a:prstDash val="solid"/>
                    </a:lnL>
                    <a:lnR w="6350">
                      <a:solidFill>
                        <a:srgbClr val="12283F"/>
                      </a:solidFill>
                      <a:prstDash val="solid"/>
                    </a:lnR>
                    <a:lnT w="6350">
                      <a:solidFill>
                        <a:srgbClr val="12283F"/>
                      </a:solidFill>
                      <a:prstDash val="solid"/>
                    </a:lnT>
                    <a:lnB w="6350">
                      <a:solidFill>
                        <a:srgbClr val="12283F"/>
                      </a:solidFill>
                      <a:prstDash val="solid"/>
                    </a:lnB>
                    <a:solidFill>
                      <a:srgbClr val="12283F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执行内容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12283F"/>
                      </a:solidFill>
                      <a:prstDash val="solid"/>
                    </a:lnL>
                    <a:lnR w="6350">
                      <a:solidFill>
                        <a:srgbClr val="12283F"/>
                      </a:solidFill>
                      <a:prstDash val="solid"/>
                    </a:lnR>
                    <a:lnT w="6350">
                      <a:solidFill>
                        <a:srgbClr val="12283F"/>
                      </a:solidFill>
                      <a:prstDash val="solid"/>
                    </a:lnT>
                    <a:lnB w="6350">
                      <a:solidFill>
                        <a:srgbClr val="12283F"/>
                      </a:solidFill>
                      <a:prstDash val="solid"/>
                    </a:lnB>
                    <a:solidFill>
                      <a:srgbClr val="12283F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通过标准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12283F"/>
                      </a:solidFill>
                      <a:prstDash val="solid"/>
                    </a:lnL>
                    <a:lnR w="6350">
                      <a:solidFill>
                        <a:srgbClr val="12283F"/>
                      </a:solidFill>
                      <a:prstDash val="solid"/>
                    </a:lnR>
                    <a:lnT w="6350">
                      <a:solidFill>
                        <a:srgbClr val="12283F"/>
                      </a:solidFill>
                      <a:prstDash val="solid"/>
                    </a:lnT>
                    <a:lnB w="6350">
                      <a:solidFill>
                        <a:srgbClr val="12283F"/>
                      </a:solidFill>
                      <a:prstDash val="solid"/>
                    </a:lnB>
                    <a:solidFill>
                      <a:srgbClr val="12283F"/>
                    </a:solidFill>
                  </a:tcPr>
                </a:tc>
              </a:tr>
              <a:tr h="569119"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2283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应通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EE6EC"/>
                      </a:solidFill>
                      <a:prstDash val="solid"/>
                    </a:lnL>
                    <a:lnR w="6350">
                      <a:solidFill>
                        <a:srgbClr val="DEE6EC"/>
                      </a:solidFill>
                      <a:prstDash val="solid"/>
                    </a:lnR>
                    <a:lnT w="6350">
                      <a:solidFill>
                        <a:srgbClr val="DEE6EC"/>
                      </a:solidFill>
                      <a:prstDash val="solid"/>
                    </a:lnT>
                    <a:lnB w="6350">
                      <a:solidFill>
                        <a:srgbClr val="DEE6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2283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10.20.10.15 访问 10.30.20.10:3306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EE6EC"/>
                      </a:solidFill>
                      <a:prstDash val="solid"/>
                    </a:lnL>
                    <a:lnR w="6350">
                      <a:solidFill>
                        <a:srgbClr val="DEE6EC"/>
                      </a:solidFill>
                      <a:prstDash val="solid"/>
                    </a:lnR>
                    <a:lnT w="6350">
                      <a:solidFill>
                        <a:srgbClr val="DEE6EC"/>
                      </a:solidFill>
                      <a:prstDash val="solid"/>
                    </a:lnT>
                    <a:lnB w="6350">
                      <a:solidFill>
                        <a:srgbClr val="DEE6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2283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连接成功且业务回归通过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EE6EC"/>
                      </a:solidFill>
                      <a:prstDash val="solid"/>
                    </a:lnL>
                    <a:lnR w="6350">
                      <a:solidFill>
                        <a:srgbClr val="DEE6EC"/>
                      </a:solidFill>
                      <a:prstDash val="solid"/>
                    </a:lnR>
                    <a:lnT w="6350">
                      <a:solidFill>
                        <a:srgbClr val="DEE6EC"/>
                      </a:solidFill>
                      <a:prstDash val="solid"/>
                    </a:lnT>
                    <a:lnB w="6350">
                      <a:solidFill>
                        <a:srgbClr val="DEE6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69119"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2283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应拒绝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EE6EC"/>
                      </a:solidFill>
                      <a:prstDash val="solid"/>
                    </a:lnL>
                    <a:lnR w="6350">
                      <a:solidFill>
                        <a:srgbClr val="DEE6EC"/>
                      </a:solidFill>
                      <a:prstDash val="solid"/>
                    </a:lnR>
                    <a:lnT w="6350">
                      <a:solidFill>
                        <a:srgbClr val="DEE6EC"/>
                      </a:solidFill>
                      <a:prstDash val="solid"/>
                    </a:lnT>
                    <a:lnB w="6350">
                      <a:solidFill>
                        <a:srgbClr val="DEE6EC"/>
                      </a:solidFill>
                      <a:prstDash val="solid"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2283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同源访问目标 TCP 22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EE6EC"/>
                      </a:solidFill>
                      <a:prstDash val="solid"/>
                    </a:lnL>
                    <a:lnR w="6350">
                      <a:solidFill>
                        <a:srgbClr val="DEE6EC"/>
                      </a:solidFill>
                      <a:prstDash val="solid"/>
                    </a:lnR>
                    <a:lnT w="6350">
                      <a:solidFill>
                        <a:srgbClr val="DEE6EC"/>
                      </a:solidFill>
                      <a:prstDash val="solid"/>
                    </a:lnT>
                    <a:lnB w="6350">
                      <a:solidFill>
                        <a:srgbClr val="DEE6EC"/>
                      </a:solidFill>
                      <a:prstDash val="solid"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2283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按基线拒绝，关联阻断证据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EE6EC"/>
                      </a:solidFill>
                      <a:prstDash val="solid"/>
                    </a:lnL>
                    <a:lnR w="6350">
                      <a:solidFill>
                        <a:srgbClr val="DEE6EC"/>
                      </a:solidFill>
                      <a:prstDash val="solid"/>
                    </a:lnR>
                    <a:lnT w="6350">
                      <a:solidFill>
                        <a:srgbClr val="DEE6EC"/>
                      </a:solidFill>
                      <a:prstDash val="solid"/>
                    </a:lnT>
                    <a:lnB w="6350">
                      <a:solidFill>
                        <a:srgbClr val="DEE6EC"/>
                      </a:solidFill>
                      <a:prstDash val="solid"/>
                    </a:lnB>
                    <a:solidFill>
                      <a:srgbClr val="EEF3F6"/>
                    </a:solidFill>
                  </a:tcPr>
                </a:tc>
              </a:tr>
              <a:tr h="569119"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2283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留证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EE6EC"/>
                      </a:solidFill>
                      <a:prstDash val="solid"/>
                    </a:lnL>
                    <a:lnR w="6350">
                      <a:solidFill>
                        <a:srgbClr val="DEE6EC"/>
                      </a:solidFill>
                      <a:prstDash val="solid"/>
                    </a:lnR>
                    <a:lnT w="6350">
                      <a:solidFill>
                        <a:srgbClr val="DEE6EC"/>
                      </a:solidFill>
                      <a:prstDash val="solid"/>
                    </a:lnT>
                    <a:lnB w="6350">
                      <a:solidFill>
                        <a:srgbClr val="DEE6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2283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规则差异、测试时间与 CFW 命中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EE6EC"/>
                      </a:solidFill>
                      <a:prstDash val="solid"/>
                    </a:lnL>
                    <a:lnR w="6350">
                      <a:solidFill>
                        <a:srgbClr val="DEE6EC"/>
                      </a:solidFill>
                      <a:prstDash val="solid"/>
                    </a:lnR>
                    <a:lnT w="6350">
                      <a:solidFill>
                        <a:srgbClr val="DEE6EC"/>
                      </a:solidFill>
                      <a:prstDash val="solid"/>
                    </a:lnT>
                    <a:lnB w="6350">
                      <a:solidFill>
                        <a:srgbClr val="DEE6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2283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能够关联 CHG-DEMO-001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EE6EC"/>
                      </a:solidFill>
                      <a:prstDash val="solid"/>
                    </a:lnL>
                    <a:lnR w="6350">
                      <a:solidFill>
                        <a:srgbClr val="DEE6EC"/>
                      </a:solidFill>
                      <a:prstDash val="solid"/>
                    </a:lnR>
                    <a:lnT w="6350">
                      <a:solidFill>
                        <a:srgbClr val="DEE6EC"/>
                      </a:solidFill>
                      <a:prstDash val="solid"/>
                    </a:lnT>
                    <a:lnB w="6350">
                      <a:solidFill>
                        <a:srgbClr val="DEE6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71259961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txt-0">
            <a:extLst xmlns:a="http://schemas.openxmlformats.org/drawingml/2006/main">
              <a:ext uri="{FF2B5EF4-FFF2-40B4-BE49-F238E27FC236}">
                <a16:creationId xmlns:a16="http://schemas.microsoft.com/office/drawing/2014/main" id="{745F360D-E3B0-4D55-8286-52C334120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28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008B87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008B8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1">
                <a:solidFill>
                  <a:srgbClr val="008B87"/>
                </a:solidFill>
                <a:latin typeface="Arial Unicode MS"/>
                <a:ea typeface="Arial Unicode MS"/>
                <a:cs typeface="Arial Unicode MS"/>
              </a:rPr>
              <a:t>04  案例演练</a:t>
            </a:r>
          </a:p>
        </p:txBody>
      </p:sp>
      <p:sp>
        <p:nvSpPr>
          <p:cNvPr id="2" name="txt-1">
            <a:extLst xmlns:a="http://schemas.openxmlformats.org/drawingml/2006/main">
              <a:ext uri="{FF2B5EF4-FFF2-40B4-BE49-F238E27FC236}">
                <a16:creationId xmlns:a16="http://schemas.microsoft.com/office/drawing/2014/main" id="{5FB651CD-687B-4E8B-95E1-0317BB552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75" b="1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3075" b="1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75" b="1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rPr>
              <a:t>案例二：SSH 阻断规则为何没有生效</a:t>
            </a:r>
          </a:p>
        </p:txBody>
      </p:sp>
      <p:sp>
        <p:nvSpPr>
          <p:cNvPr id="3" name="txt-2">
            <a:extLst xmlns:a="http://schemas.openxmlformats.org/drawingml/2006/main">
              <a:ext uri="{FF2B5EF4-FFF2-40B4-BE49-F238E27FC236}">
                <a16:creationId xmlns:a16="http://schemas.microsoft.com/office/drawing/2014/main" id="{A9E41C72-B072-4B43-831F-12B2F137C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62075"/>
            <a:ext cx="1097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627383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62738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627383"/>
                </a:solidFill>
                <a:latin typeface="Arial Unicode MS"/>
                <a:ea typeface="Arial Unicode MS"/>
                <a:cs typeface="Arial Unicode MS"/>
              </a:rPr>
              <a:t>3 分钟讨论 + 3 分钟讲评</a:t>
            </a:r>
          </a:p>
        </p:txBody>
      </p:sp>
      <p:sp>
        <p:nvSpPr>
          <p:cNvPr id="4" name="txt-3">
            <a:extLst xmlns:a="http://schemas.openxmlformats.org/drawingml/2006/main">
              <a:ext uri="{FF2B5EF4-FFF2-40B4-BE49-F238E27FC236}">
                <a16:creationId xmlns:a16="http://schemas.microsoft.com/office/drawing/2014/main" id="{23FF2179-78ED-458B-8CF4-2FC54D2A0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00775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627383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62738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27383"/>
                </a:solidFill>
                <a:latin typeface="Arial Unicode MS"/>
                <a:ea typeface="Arial Unicode MS"/>
                <a:cs typeface="Arial Unicode MS"/>
              </a:rPr>
              <a:t>假设无白名单、黑名单或其他高优先级功能影响</a:t>
            </a:r>
          </a:p>
        </p:txBody>
      </p:sp>
      <p:sp>
        <p:nvSpPr>
          <p:cNvPr id="5" name="txt-4">
            <a:extLst xmlns:a="http://schemas.openxmlformats.org/drawingml/2006/main">
              <a:ext uri="{FF2B5EF4-FFF2-40B4-BE49-F238E27FC236}">
                <a16:creationId xmlns:a16="http://schemas.microsoft.com/office/drawing/2014/main" id="{2EFA49C3-AA04-41A8-B467-16379715E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00800"/>
            <a:ext cx="628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627383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62738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27383"/>
                </a:solidFill>
                <a:latin typeface="Arial Unicode MS"/>
                <a:ea typeface="Arial Unicode MS"/>
                <a:cs typeface="Arial Unicode MS"/>
              </a:rPr>
              <a:t>29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67181F1-F1F7-4390-9EB2-D9BC662F324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5182b61bd004f6f"/>
          <a:stretch xmlns:a="http://schemas.openxmlformats.org/drawingml/2006/main"/>
        </p:blipFill>
        <p:spPr>
          <a:xfrm xmlns:a="http://schemas.openxmlformats.org/drawingml/2006/main">
            <a:off x="381000" y="2325467"/>
            <a:ext cx="8210550" cy="3283392"/>
          </a:xfrm>
          <a:prstGeom xmlns:a="http://schemas.openxmlformats.org/drawingml/2006/main" prst="rect">
            <a:avLst/>
          </a:prstGeom>
        </p:spPr>
      </p:pic>
      <p:sp>
        <p:nvSpPr>
          <p:cNvPr id="7" name="txt-5">
            <a:extLst xmlns:a="http://schemas.openxmlformats.org/drawingml/2006/main">
              <a:ext uri="{FF2B5EF4-FFF2-40B4-BE49-F238E27FC236}">
                <a16:creationId xmlns:a16="http://schemas.microsoft.com/office/drawing/2014/main" id="{17930102-3E5B-4383-8268-80D00BAC3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2047875"/>
            <a:ext cx="25431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008B87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008B8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1">
                <a:solidFill>
                  <a:srgbClr val="008B87"/>
                </a:solidFill>
                <a:latin typeface="Arial Unicode MS"/>
                <a:ea typeface="Arial Unicode MS"/>
                <a:cs typeface="Arial Unicode MS"/>
              </a:rPr>
              <a:t>已知</a:t>
            </a:r>
          </a:p>
        </p:txBody>
      </p:sp>
      <p:sp>
        <p:nvSpPr>
          <p:cNvPr id="8" name="txt-6">
            <a:extLst xmlns:a="http://schemas.openxmlformats.org/drawingml/2006/main">
              <a:ext uri="{FF2B5EF4-FFF2-40B4-BE49-F238E27FC236}">
                <a16:creationId xmlns:a16="http://schemas.microsoft.com/office/drawing/2014/main" id="{D5B79BD9-43C3-4FB9-B694-8204A82BB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2466975"/>
            <a:ext cx="25431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rPr>
              <a:t>新建连接命中首条规则</a:t>
            </a:r>
          </a:p>
        </p:txBody>
      </p:sp>
      <p:sp>
        <p:nvSpPr>
          <p:cNvPr id="9" name="txt-7">
            <a:extLst xmlns:a="http://schemas.openxmlformats.org/drawingml/2006/main">
              <a:ext uri="{FF2B5EF4-FFF2-40B4-BE49-F238E27FC236}">
                <a16:creationId xmlns:a16="http://schemas.microsoft.com/office/drawing/2014/main" id="{230B291A-AFDA-46D8-92CD-725498CC4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3352800"/>
            <a:ext cx="25431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008B87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008B8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1">
                <a:solidFill>
                  <a:srgbClr val="008B87"/>
                </a:solidFill>
                <a:latin typeface="Arial Unicode MS"/>
                <a:ea typeface="Arial Unicode MS"/>
                <a:cs typeface="Arial Unicode MS"/>
              </a:rPr>
              <a:t>任务</a:t>
            </a:r>
          </a:p>
        </p:txBody>
      </p:sp>
      <p:sp>
        <p:nvSpPr>
          <p:cNvPr id="10" name="txt-8">
            <a:extLst xmlns:a="http://schemas.openxmlformats.org/drawingml/2006/main">
              <a:ext uri="{FF2B5EF4-FFF2-40B4-BE49-F238E27FC236}">
                <a16:creationId xmlns:a16="http://schemas.microsoft.com/office/drawing/2014/main" id="{731404A5-A65D-4D21-BF47-5B0514FDC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3771900"/>
            <a:ext cx="25431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rPr>
              <a:t>解释阻断为何无效</a:t>
            </a:r>
          </a:p>
          <a:p xmlns:a="http://schemas.openxmlformats.org/drawingml/2006/main">
            <a:pPr algn="l">
              <a:defRPr sz="1800" b="0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rPr>
              <a:t>审查整体授权范围</a:t>
            </a:r>
          </a:p>
        </p:txBody>
      </p:sp>
      <p:sp>
        <p:nvSpPr>
          <p:cNvPr id="11" name="txt-9">
            <a:extLst xmlns:a="http://schemas.openxmlformats.org/drawingml/2006/main">
              <a:ext uri="{FF2B5EF4-FFF2-40B4-BE49-F238E27FC236}">
                <a16:creationId xmlns:a16="http://schemas.microsoft.com/office/drawing/2014/main" id="{60DB6C74-10F5-468A-841F-15569F685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4657725"/>
            <a:ext cx="25431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008B87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008B8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1">
                <a:solidFill>
                  <a:srgbClr val="008B87"/>
                </a:solidFill>
                <a:latin typeface="Arial Unicode MS"/>
                <a:ea typeface="Arial Unicode MS"/>
                <a:cs typeface="Arial Unicode MS"/>
              </a:rPr>
              <a:t>交付</a:t>
            </a:r>
          </a:p>
        </p:txBody>
      </p:sp>
      <p:sp>
        <p:nvSpPr>
          <p:cNvPr id="12" name="txt-10">
            <a:extLst xmlns:a="http://schemas.openxmlformats.org/drawingml/2006/main">
              <a:ext uri="{FF2B5EF4-FFF2-40B4-BE49-F238E27FC236}">
                <a16:creationId xmlns:a16="http://schemas.microsoft.com/office/drawing/2014/main" id="{F143CE8B-9B52-4862-A83E-D8FAF5C08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5076825"/>
            <a:ext cx="25431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rPr>
              <a:t>给出收敛后的规则集</a:t>
            </a:r>
          </a:p>
          <a:p xmlns:a="http://schemas.openxmlformats.org/drawingml/2006/main">
            <a:pPr algn="l">
              <a:defRPr sz="1800" b="0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rPr>
              <a:t>同时保留数据库业务</a:t>
            </a:r>
          </a:p>
        </p:txBody>
      </p:sp>
    </p:spTree>
    <p:extLst>
      <p:ext uri="{BB962C8B-B14F-4D97-AF65-F5344CB8AC3E}">
        <p14:creationId xmlns:p14="http://schemas.microsoft.com/office/powerpoint/2010/main" val="639608097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xt-0">
            <a:extLst xmlns:a="http://schemas.openxmlformats.org/drawingml/2006/main">
              <a:ext uri="{FF2B5EF4-FFF2-40B4-BE49-F238E27FC236}">
                <a16:creationId xmlns:a16="http://schemas.microsoft.com/office/drawing/2014/main" id="{0C5B8075-2858-446C-905E-EB5727C18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28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008B87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008B8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1">
                <a:solidFill>
                  <a:srgbClr val="008B87"/>
                </a:solidFill>
                <a:latin typeface="Arial Unicode MS"/>
                <a:ea typeface="Arial Unicode MS"/>
                <a:cs typeface="Arial Unicode MS"/>
              </a:rPr>
              <a:t>04  案例讲评</a:t>
            </a:r>
          </a:p>
        </p:txBody>
      </p:sp>
      <p:sp>
        <p:nvSpPr>
          <p:cNvPr id="2" name="txt-1">
            <a:extLst xmlns:a="http://schemas.openxmlformats.org/drawingml/2006/main">
              <a:ext uri="{FF2B5EF4-FFF2-40B4-BE49-F238E27FC236}">
                <a16:creationId xmlns:a16="http://schemas.microsoft.com/office/drawing/2014/main" id="{CEA91771-6E0A-4FFD-822C-9A8AE7808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75" b="1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3075" b="1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75" b="1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rPr>
              <a:t>案例二答案：首条 Any 放行遮蔽后续规则</a:t>
            </a:r>
          </a:p>
        </p:txBody>
      </p:sp>
      <p:sp>
        <p:nvSpPr>
          <p:cNvPr id="3" name="txt-2">
            <a:extLst xmlns:a="http://schemas.openxmlformats.org/drawingml/2006/main">
              <a:ext uri="{FF2B5EF4-FFF2-40B4-BE49-F238E27FC236}">
                <a16:creationId xmlns:a16="http://schemas.microsoft.com/office/drawing/2014/main" id="{BACF9348-29D1-4EC3-AA6E-25176FE7A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00775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627383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62738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27383"/>
                </a:solidFill>
                <a:latin typeface="Arial Unicode MS"/>
                <a:ea typeface="Arial Unicode MS"/>
                <a:cs typeface="Arial Unicode MS"/>
              </a:rPr>
              <a:t>评分 10 分：顺序解释 3 分、授权收敛 4 分、验收 3 分</a:t>
            </a:r>
          </a:p>
        </p:txBody>
      </p:sp>
      <p:sp>
        <p:nvSpPr>
          <p:cNvPr id="4" name="txt-3">
            <a:extLst xmlns:a="http://schemas.openxmlformats.org/drawingml/2006/main">
              <a:ext uri="{FF2B5EF4-FFF2-40B4-BE49-F238E27FC236}">
                <a16:creationId xmlns:a16="http://schemas.microsoft.com/office/drawing/2014/main" id="{09307A4A-59FA-4889-A579-FD932C22C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00800"/>
            <a:ext cx="628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627383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62738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27383"/>
                </a:solidFill>
                <a:latin typeface="Arial Unicode MS"/>
                <a:ea typeface="Arial Unicode MS"/>
                <a:cs typeface="Arial Unicode MS"/>
              </a:rPr>
              <a:t>30</a:t>
            </a:r>
          </a:p>
        </p:txBody>
      </p:sp>
      <p:sp>
        <p:nvSpPr>
          <p:cNvPr id="5" name="txt-4">
            <a:extLst xmlns:a="http://schemas.openxmlformats.org/drawingml/2006/main">
              <a:ext uri="{FF2B5EF4-FFF2-40B4-BE49-F238E27FC236}">
                <a16:creationId xmlns:a16="http://schemas.microsoft.com/office/drawing/2014/main" id="{F5095E44-21B7-4134-B5D5-DE3B2F7D3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43075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008B87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008B8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00" b="1">
                <a:solidFill>
                  <a:srgbClr val="008B87"/>
                </a:solidFill>
                <a:latin typeface="Arial Unicode MS"/>
                <a:ea typeface="Arial Unicode MS"/>
                <a:cs typeface="Arial Unicode MS"/>
              </a:rPr>
              <a:t>ACL 在首条规则命中后停止继续匹配</a:t>
            </a:r>
          </a:p>
        </p:txBody>
      </p:sp>
      <p:sp>
        <p:nvSpPr>
          <p:cNvPr id="6" name="txt-5">
            <a:extLst xmlns:a="http://schemas.openxmlformats.org/drawingml/2006/main">
              <a:ext uri="{FF2B5EF4-FFF2-40B4-BE49-F238E27FC236}">
                <a16:creationId xmlns:a16="http://schemas.microsoft.com/office/drawing/2014/main" id="{4002F33A-45BE-4E15-90FC-DCD2AF49D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52700"/>
            <a:ext cx="10972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0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rPr>
              <a:t>以已批准的源、目的与 TCP 3306 放行替换宽泛 Any 规则。</a:t>
            </a:r>
          </a:p>
        </p:txBody>
      </p:sp>
      <p:graphicFrame>
        <p:nvGraphicFrame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44D8A2B-C12F-4976-B511-D1A2603A5D1F}"/>
              </a:ext>
            </a:extLst>
          </p:cNvPr>
          <p:cNvGraphicFramePr/>
          <p:nvPr/>
        </p:nvGraphicFramePr>
        <p:xfrm>
          <a:off xmlns:a="http://schemas.openxmlformats.org/drawingml/2006/main" x="609600" y="3571875"/>
          <a:ext xmlns:a="http://schemas.openxmlformats.org/drawingml/2006/main" cx="10972800" cy="22764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524000"/>
                <a:gridCol w="5715000"/>
                <a:gridCol w="3733800"/>
              </a:tblGrid>
              <a:tr h="569119"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项目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12283F"/>
                      </a:solidFill>
                      <a:prstDash val="solid"/>
                    </a:lnL>
                    <a:lnR w="6350">
                      <a:solidFill>
                        <a:srgbClr val="12283F"/>
                      </a:solidFill>
                      <a:prstDash val="solid"/>
                    </a:lnR>
                    <a:lnT w="6350">
                      <a:solidFill>
                        <a:srgbClr val="12283F"/>
                      </a:solidFill>
                      <a:prstDash val="solid"/>
                    </a:lnT>
                    <a:lnB w="6350">
                      <a:solidFill>
                        <a:srgbClr val="12283F"/>
                      </a:solidFill>
                      <a:prstDash val="solid"/>
                    </a:lnB>
                    <a:solidFill>
                      <a:srgbClr val="12283F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执行内容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12283F"/>
                      </a:solidFill>
                      <a:prstDash val="solid"/>
                    </a:lnL>
                    <a:lnR w="6350">
                      <a:solidFill>
                        <a:srgbClr val="12283F"/>
                      </a:solidFill>
                      <a:prstDash val="solid"/>
                    </a:lnR>
                    <a:lnT w="6350">
                      <a:solidFill>
                        <a:srgbClr val="12283F"/>
                      </a:solidFill>
                      <a:prstDash val="solid"/>
                    </a:lnT>
                    <a:lnB w="6350">
                      <a:solidFill>
                        <a:srgbClr val="12283F"/>
                      </a:solidFill>
                      <a:prstDash val="solid"/>
                    </a:lnB>
                    <a:solidFill>
                      <a:srgbClr val="12283F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通过标准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12283F"/>
                      </a:solidFill>
                      <a:prstDash val="solid"/>
                    </a:lnL>
                    <a:lnR w="6350">
                      <a:solidFill>
                        <a:srgbClr val="12283F"/>
                      </a:solidFill>
                      <a:prstDash val="solid"/>
                    </a:lnR>
                    <a:lnT w="6350">
                      <a:solidFill>
                        <a:srgbClr val="12283F"/>
                      </a:solidFill>
                      <a:prstDash val="solid"/>
                    </a:lnT>
                    <a:lnB w="6350">
                      <a:solidFill>
                        <a:srgbClr val="12283F"/>
                      </a:solidFill>
                      <a:prstDash val="solid"/>
                    </a:lnB>
                    <a:solidFill>
                      <a:srgbClr val="12283F"/>
                    </a:solidFill>
                  </a:tcPr>
                </a:tc>
              </a:tr>
              <a:tr h="569119"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2283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规则集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EE6EC"/>
                      </a:solidFill>
                      <a:prstDash val="solid"/>
                    </a:lnL>
                    <a:lnR w="6350">
                      <a:solidFill>
                        <a:srgbClr val="DEE6EC"/>
                      </a:solidFill>
                      <a:prstDash val="solid"/>
                    </a:lnR>
                    <a:lnT w="6350">
                      <a:solidFill>
                        <a:srgbClr val="DEE6EC"/>
                      </a:solidFill>
                      <a:prstDash val="solid"/>
                    </a:lnT>
                    <a:lnB w="6350">
                      <a:solidFill>
                        <a:srgbClr val="DEE6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2283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精确业务放行、获批运维、范围内兜底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EE6EC"/>
                      </a:solidFill>
                      <a:prstDash val="solid"/>
                    </a:lnL>
                    <a:lnR w="6350">
                      <a:solidFill>
                        <a:srgbClr val="DEE6EC"/>
                      </a:solidFill>
                      <a:prstDash val="solid"/>
                    </a:lnR>
                    <a:lnT w="6350">
                      <a:solidFill>
                        <a:srgbClr val="DEE6EC"/>
                      </a:solidFill>
                      <a:prstDash val="solid"/>
                    </a:lnT>
                    <a:lnB w="6350">
                      <a:solidFill>
                        <a:srgbClr val="DEE6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2283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依赖梳理完成后启用阻断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EE6EC"/>
                      </a:solidFill>
                      <a:prstDash val="solid"/>
                    </a:lnL>
                    <a:lnR w="6350">
                      <a:solidFill>
                        <a:srgbClr val="DEE6EC"/>
                      </a:solidFill>
                      <a:prstDash val="solid"/>
                    </a:lnR>
                    <a:lnT w="6350">
                      <a:solidFill>
                        <a:srgbClr val="DEE6EC"/>
                      </a:solidFill>
                      <a:prstDash val="solid"/>
                    </a:lnT>
                    <a:lnB w="6350">
                      <a:solidFill>
                        <a:srgbClr val="DEE6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69119"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2283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应通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EE6EC"/>
                      </a:solidFill>
                      <a:prstDash val="solid"/>
                    </a:lnL>
                    <a:lnR w="6350">
                      <a:solidFill>
                        <a:srgbClr val="DEE6EC"/>
                      </a:solidFill>
                      <a:prstDash val="solid"/>
                    </a:lnR>
                    <a:lnT w="6350">
                      <a:solidFill>
                        <a:srgbClr val="DEE6EC"/>
                      </a:solidFill>
                      <a:prstDash val="solid"/>
                    </a:lnT>
                    <a:lnB w="6350">
                      <a:solidFill>
                        <a:srgbClr val="DEE6EC"/>
                      </a:solidFill>
                      <a:prstDash val="solid"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2283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新建数据库连接与业务交易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EE6EC"/>
                      </a:solidFill>
                      <a:prstDash val="solid"/>
                    </a:lnL>
                    <a:lnR w="6350">
                      <a:solidFill>
                        <a:srgbClr val="DEE6EC"/>
                      </a:solidFill>
                      <a:prstDash val="solid"/>
                    </a:lnR>
                    <a:lnT w="6350">
                      <a:solidFill>
                        <a:srgbClr val="DEE6EC"/>
                      </a:solidFill>
                      <a:prstDash val="solid"/>
                    </a:lnT>
                    <a:lnB w="6350">
                      <a:solidFill>
                        <a:srgbClr val="DEE6EC"/>
                      </a:solidFill>
                      <a:prstDash val="solid"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2283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命中精确放行，业务正常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EE6EC"/>
                      </a:solidFill>
                      <a:prstDash val="solid"/>
                    </a:lnL>
                    <a:lnR w="6350">
                      <a:solidFill>
                        <a:srgbClr val="DEE6EC"/>
                      </a:solidFill>
                      <a:prstDash val="solid"/>
                    </a:lnR>
                    <a:lnT w="6350">
                      <a:solidFill>
                        <a:srgbClr val="DEE6EC"/>
                      </a:solidFill>
                      <a:prstDash val="solid"/>
                    </a:lnT>
                    <a:lnB w="6350">
                      <a:solidFill>
                        <a:srgbClr val="DEE6EC"/>
                      </a:solidFill>
                      <a:prstDash val="solid"/>
                    </a:lnB>
                    <a:solidFill>
                      <a:srgbClr val="EEF3F6"/>
                    </a:solidFill>
                  </a:tcPr>
                </a:tc>
              </a:tr>
              <a:tr h="569119"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2283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应拒绝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EE6EC"/>
                      </a:solidFill>
                      <a:prstDash val="solid"/>
                    </a:lnL>
                    <a:lnR w="6350">
                      <a:solidFill>
                        <a:srgbClr val="DEE6EC"/>
                      </a:solidFill>
                      <a:prstDash val="solid"/>
                    </a:lnR>
                    <a:lnT w="6350">
                      <a:solidFill>
                        <a:srgbClr val="DEE6EC"/>
                      </a:solidFill>
                      <a:prstDash val="solid"/>
                    </a:lnT>
                    <a:lnB w="6350">
                      <a:solidFill>
                        <a:srgbClr val="DEE6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2283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新建 SSH 连接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EE6EC"/>
                      </a:solidFill>
                      <a:prstDash val="solid"/>
                    </a:lnL>
                    <a:lnR w="6350">
                      <a:solidFill>
                        <a:srgbClr val="DEE6EC"/>
                      </a:solidFill>
                      <a:prstDash val="solid"/>
                    </a:lnR>
                    <a:lnT w="6350">
                      <a:solidFill>
                        <a:srgbClr val="DEE6EC"/>
                      </a:solidFill>
                      <a:prstDash val="solid"/>
                    </a:lnT>
                    <a:lnB w="6350">
                      <a:solidFill>
                        <a:srgbClr val="DEE6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2283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命中预期阻断，拒绝成功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EE6EC"/>
                      </a:solidFill>
                      <a:prstDash val="solid"/>
                    </a:lnL>
                    <a:lnR w="6350">
                      <a:solidFill>
                        <a:srgbClr val="DEE6EC"/>
                      </a:solidFill>
                      <a:prstDash val="solid"/>
                    </a:lnR>
                    <a:lnT w="6350">
                      <a:solidFill>
                        <a:srgbClr val="DEE6EC"/>
                      </a:solidFill>
                      <a:prstDash val="solid"/>
                    </a:lnT>
                    <a:lnB w="6350">
                      <a:solidFill>
                        <a:srgbClr val="DEE6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04897811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txt-0">
            <a:extLst xmlns:a="http://schemas.openxmlformats.org/drawingml/2006/main">
              <a:ext uri="{FF2B5EF4-FFF2-40B4-BE49-F238E27FC236}">
                <a16:creationId xmlns:a16="http://schemas.microsoft.com/office/drawing/2014/main" id="{5E0ECBA9-08C1-44AA-88D7-F0AFBB7BE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28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008B87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008B8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1">
                <a:solidFill>
                  <a:srgbClr val="008B87"/>
                </a:solidFill>
                <a:latin typeface="Arial Unicode MS"/>
                <a:ea typeface="Arial Unicode MS"/>
                <a:cs typeface="Arial Unicode MS"/>
              </a:rPr>
              <a:t>04  案例演练</a:t>
            </a:r>
          </a:p>
        </p:txBody>
      </p:sp>
      <p:sp>
        <p:nvSpPr>
          <p:cNvPr id="2" name="txt-1">
            <a:extLst xmlns:a="http://schemas.openxmlformats.org/drawingml/2006/main">
              <a:ext uri="{FF2B5EF4-FFF2-40B4-BE49-F238E27FC236}">
                <a16:creationId xmlns:a16="http://schemas.microsoft.com/office/drawing/2014/main" id="{5D455EA4-CBEF-4EB6-8D7E-534F8482A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75" b="1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3075" b="1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75" b="1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rPr>
              <a:t>案例三：业务正常却看不到 CFW 流量</a:t>
            </a:r>
          </a:p>
        </p:txBody>
      </p:sp>
      <p:sp>
        <p:nvSpPr>
          <p:cNvPr id="3" name="txt-2">
            <a:extLst xmlns:a="http://schemas.openxmlformats.org/drawingml/2006/main">
              <a:ext uri="{FF2B5EF4-FFF2-40B4-BE49-F238E27FC236}">
                <a16:creationId xmlns:a16="http://schemas.microsoft.com/office/drawing/2014/main" id="{04B0A187-E0C1-4602-A858-A8FEEC1ED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62075"/>
            <a:ext cx="1097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627383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62738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627383"/>
                </a:solidFill>
                <a:latin typeface="Arial Unicode MS"/>
                <a:ea typeface="Arial Unicode MS"/>
                <a:cs typeface="Arial Unicode MS"/>
              </a:rPr>
              <a:t>4 分钟讨论 + 4 分钟讲评</a:t>
            </a:r>
          </a:p>
        </p:txBody>
      </p:sp>
      <p:sp>
        <p:nvSpPr>
          <p:cNvPr id="4" name="txt-3">
            <a:extLst xmlns:a="http://schemas.openxmlformats.org/drawingml/2006/main">
              <a:ext uri="{FF2B5EF4-FFF2-40B4-BE49-F238E27FC236}">
                <a16:creationId xmlns:a16="http://schemas.microsoft.com/office/drawing/2014/main" id="{9D0FC484-A174-4806-8B1A-4ABB306EE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00775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627383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62738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27383"/>
                </a:solidFill>
                <a:latin typeface="Arial Unicode MS"/>
                <a:ea typeface="Arial Unicode MS"/>
                <a:cs typeface="Arial Unicode MS"/>
              </a:rPr>
              <a:t>仅调整批准的业务范围，先评估旧互联是否还承载其他业务</a:t>
            </a:r>
          </a:p>
        </p:txBody>
      </p:sp>
      <p:sp>
        <p:nvSpPr>
          <p:cNvPr id="5" name="txt-4">
            <a:extLst xmlns:a="http://schemas.openxmlformats.org/drawingml/2006/main">
              <a:ext uri="{FF2B5EF4-FFF2-40B4-BE49-F238E27FC236}">
                <a16:creationId xmlns:a16="http://schemas.microsoft.com/office/drawing/2014/main" id="{E246F0E1-8DBF-4C06-AFFC-717A6CE70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00800"/>
            <a:ext cx="628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627383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62738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27383"/>
                </a:solidFill>
                <a:latin typeface="Arial Unicode MS"/>
                <a:ea typeface="Arial Unicode MS"/>
                <a:cs typeface="Arial Unicode MS"/>
              </a:rPr>
              <a:t>31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742EF2B-D21B-4C54-86BA-B5DE279894F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9a360e7df9644d9"/>
          <a:stretch xmlns:a="http://schemas.openxmlformats.org/drawingml/2006/main"/>
        </p:blipFill>
        <p:spPr>
          <a:xfrm xmlns:a="http://schemas.openxmlformats.org/drawingml/2006/main">
            <a:off x="1174081" y="1895475"/>
            <a:ext cx="6624388" cy="4143375"/>
          </a:xfrm>
          <a:prstGeom xmlns:a="http://schemas.openxmlformats.org/drawingml/2006/main" prst="rect">
            <a:avLst/>
          </a:prstGeom>
        </p:spPr>
      </p:pic>
      <p:sp>
        <p:nvSpPr>
          <p:cNvPr id="7" name="txt-5">
            <a:extLst xmlns:a="http://schemas.openxmlformats.org/drawingml/2006/main">
              <a:ext uri="{FF2B5EF4-FFF2-40B4-BE49-F238E27FC236}">
                <a16:creationId xmlns:a16="http://schemas.microsoft.com/office/drawing/2014/main" id="{06C3D101-B717-4AAC-A2E6-3C52B511C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2047875"/>
            <a:ext cx="25431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008B87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008B8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1">
                <a:solidFill>
                  <a:srgbClr val="008B87"/>
                </a:solidFill>
                <a:latin typeface="Arial Unicode MS"/>
                <a:ea typeface="Arial Unicode MS"/>
                <a:cs typeface="Arial Unicode MS"/>
              </a:rPr>
              <a:t>已排除</a:t>
            </a:r>
          </a:p>
        </p:txBody>
      </p:sp>
      <p:sp>
        <p:nvSpPr>
          <p:cNvPr id="8" name="txt-6">
            <a:extLst xmlns:a="http://schemas.openxmlformats.org/drawingml/2006/main">
              <a:ext uri="{FF2B5EF4-FFF2-40B4-BE49-F238E27FC236}">
                <a16:creationId xmlns:a16="http://schemas.microsoft.com/office/drawing/2014/main" id="{B77B6776-946A-4D18-96BC-0281DAACB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2466975"/>
            <a:ext cx="25431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rPr>
              <a:t>边界、实例、筛选时间</a:t>
            </a:r>
          </a:p>
          <a:p xmlns:a="http://schemas.openxmlformats.org/drawingml/2006/main">
            <a:pPr algn="l">
              <a:defRPr sz="1800" b="0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rPr>
              <a:t>与上报条件问题</a:t>
            </a:r>
          </a:p>
        </p:txBody>
      </p:sp>
      <p:sp>
        <p:nvSpPr>
          <p:cNvPr id="9" name="txt-7">
            <a:extLst xmlns:a="http://schemas.openxmlformats.org/drawingml/2006/main">
              <a:ext uri="{FF2B5EF4-FFF2-40B4-BE49-F238E27FC236}">
                <a16:creationId xmlns:a16="http://schemas.microsoft.com/office/drawing/2014/main" id="{1EB89360-7276-46EA-AE57-4AD44D872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3352800"/>
            <a:ext cx="25431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008B87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008B8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1">
                <a:solidFill>
                  <a:srgbClr val="008B87"/>
                </a:solidFill>
                <a:latin typeface="Arial Unicode MS"/>
                <a:ea typeface="Arial Unicode MS"/>
                <a:cs typeface="Arial Unicode MS"/>
              </a:rPr>
              <a:t>已观测</a:t>
            </a:r>
          </a:p>
        </p:txBody>
      </p:sp>
      <p:sp>
        <p:nvSpPr>
          <p:cNvPr id="10" name="txt-8">
            <a:extLst xmlns:a="http://schemas.openxmlformats.org/drawingml/2006/main">
              <a:ext uri="{FF2B5EF4-FFF2-40B4-BE49-F238E27FC236}">
                <a16:creationId xmlns:a16="http://schemas.microsoft.com/office/drawing/2014/main" id="{4ED5F206-EACC-4D42-9E17-3434A87FD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3771900"/>
            <a:ext cx="25431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rPr>
              <a:t>目标网段实际命中</a:t>
            </a:r>
          </a:p>
          <a:p xmlns:a="http://schemas.openxmlformats.org/drawingml/2006/main">
            <a:pPr algn="l">
              <a:defRPr sz="1800" b="0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rPr>
              <a:t>旧对等连接路径</a:t>
            </a:r>
          </a:p>
        </p:txBody>
      </p:sp>
      <p:sp>
        <p:nvSpPr>
          <p:cNvPr id="11" name="txt-9">
            <a:extLst xmlns:a="http://schemas.openxmlformats.org/drawingml/2006/main">
              <a:ext uri="{FF2B5EF4-FFF2-40B4-BE49-F238E27FC236}">
                <a16:creationId xmlns:a16="http://schemas.microsoft.com/office/drawing/2014/main" id="{D69CC860-3EEA-4503-AC19-582051A95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4657725"/>
            <a:ext cx="25431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008B87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008B8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1">
                <a:solidFill>
                  <a:srgbClr val="008B87"/>
                </a:solidFill>
                <a:latin typeface="Arial Unicode MS"/>
                <a:ea typeface="Arial Unicode MS"/>
                <a:cs typeface="Arial Unicode MS"/>
              </a:rPr>
              <a:t>任务</a:t>
            </a:r>
          </a:p>
        </p:txBody>
      </p:sp>
      <p:sp>
        <p:nvSpPr>
          <p:cNvPr id="12" name="txt-10">
            <a:extLst xmlns:a="http://schemas.openxmlformats.org/drawingml/2006/main">
              <a:ext uri="{FF2B5EF4-FFF2-40B4-BE49-F238E27FC236}">
                <a16:creationId xmlns:a16="http://schemas.microsoft.com/office/drawing/2014/main" id="{9F858B89-6E02-4E3B-8992-24CC9B861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5076825"/>
            <a:ext cx="25431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rPr>
              <a:t>给出路径调整、覆盖验收</a:t>
            </a:r>
          </a:p>
          <a:p xmlns:a="http://schemas.openxmlformats.org/drawingml/2006/main">
            <a:pPr algn="l">
              <a:defRPr sz="1800" b="0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rPr>
              <a:t>与回滚方案</a:t>
            </a:r>
          </a:p>
        </p:txBody>
      </p:sp>
    </p:spTree>
    <p:extLst>
      <p:ext uri="{BB962C8B-B14F-4D97-AF65-F5344CB8AC3E}">
        <p14:creationId xmlns:p14="http://schemas.microsoft.com/office/powerpoint/2010/main" val="760808949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xt-0">
            <a:extLst xmlns:a="http://schemas.openxmlformats.org/drawingml/2006/main">
              <a:ext uri="{FF2B5EF4-FFF2-40B4-BE49-F238E27FC236}">
                <a16:creationId xmlns:a16="http://schemas.microsoft.com/office/drawing/2014/main" id="{0A80191A-BB4A-47D4-A692-41EE93CDF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28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008B87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008B8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1">
                <a:solidFill>
                  <a:srgbClr val="008B87"/>
                </a:solidFill>
                <a:latin typeface="Arial Unicode MS"/>
                <a:ea typeface="Arial Unicode MS"/>
                <a:cs typeface="Arial Unicode MS"/>
              </a:rPr>
              <a:t>04  案例讲评</a:t>
            </a:r>
          </a:p>
        </p:txBody>
      </p:sp>
      <p:sp>
        <p:nvSpPr>
          <p:cNvPr id="2" name="txt-1">
            <a:extLst xmlns:a="http://schemas.openxmlformats.org/drawingml/2006/main">
              <a:ext uri="{FF2B5EF4-FFF2-40B4-BE49-F238E27FC236}">
                <a16:creationId xmlns:a16="http://schemas.microsoft.com/office/drawing/2014/main" id="{15D1A8CB-ABD5-4758-9853-14B73DD64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75" b="1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3075" b="1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75" b="1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rPr>
              <a:t>案例三答案：实际流量绕过预期检查路径</a:t>
            </a:r>
          </a:p>
        </p:txBody>
      </p:sp>
      <p:sp>
        <p:nvSpPr>
          <p:cNvPr id="3" name="txt-2">
            <a:extLst xmlns:a="http://schemas.openxmlformats.org/drawingml/2006/main">
              <a:ext uri="{FF2B5EF4-FFF2-40B4-BE49-F238E27FC236}">
                <a16:creationId xmlns:a16="http://schemas.microsoft.com/office/drawing/2014/main" id="{8288557A-81C5-4B2C-8E09-A190B36B8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00775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627383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62738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27383"/>
                </a:solidFill>
                <a:latin typeface="Arial Unicode MS"/>
                <a:ea typeface="Arial Unicode MS"/>
                <a:cs typeface="Arial Unicode MS"/>
              </a:rPr>
              <a:t>评分 10 分：根因 2 分、路径与回滚 4 分、覆盖验证 4 分</a:t>
            </a:r>
          </a:p>
        </p:txBody>
      </p:sp>
      <p:sp>
        <p:nvSpPr>
          <p:cNvPr id="4" name="txt-3">
            <a:extLst xmlns:a="http://schemas.openxmlformats.org/drawingml/2006/main">
              <a:ext uri="{FF2B5EF4-FFF2-40B4-BE49-F238E27FC236}">
                <a16:creationId xmlns:a16="http://schemas.microsoft.com/office/drawing/2014/main" id="{8B910AEC-EE5D-473F-AC1E-EBDBD1CE4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00800"/>
            <a:ext cx="628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627383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62738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27383"/>
                </a:solidFill>
                <a:latin typeface="Arial Unicode MS"/>
                <a:ea typeface="Arial Unicode MS"/>
                <a:cs typeface="Arial Unicode MS"/>
              </a:rPr>
              <a:t>32</a:t>
            </a:r>
          </a:p>
        </p:txBody>
      </p:sp>
      <p:sp>
        <p:nvSpPr>
          <p:cNvPr id="5" name="txt-4">
            <a:extLst xmlns:a="http://schemas.openxmlformats.org/drawingml/2006/main">
              <a:ext uri="{FF2B5EF4-FFF2-40B4-BE49-F238E27FC236}">
                <a16:creationId xmlns:a16="http://schemas.microsoft.com/office/drawing/2014/main" id="{14AAEC46-6B3D-4DA7-8186-68C6607FA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43075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008B87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008B8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00" b="1">
                <a:solidFill>
                  <a:srgbClr val="008B87"/>
                </a:solidFill>
                <a:latin typeface="Arial Unicode MS"/>
                <a:ea typeface="Arial Unicode MS"/>
                <a:cs typeface="Arial Unicode MS"/>
              </a:rPr>
              <a:t>业务访问成功，但 CFW 未覆盖实际命中的路径</a:t>
            </a:r>
          </a:p>
        </p:txBody>
      </p:sp>
      <p:sp>
        <p:nvSpPr>
          <p:cNvPr id="6" name="txt-5">
            <a:extLst xmlns:a="http://schemas.openxmlformats.org/drawingml/2006/main">
              <a:ext uri="{FF2B5EF4-FFF2-40B4-BE49-F238E27FC236}">
                <a16:creationId xmlns:a16="http://schemas.microsoft.com/office/drawing/2014/main" id="{155551FC-39B7-4038-9B6E-68DF8DB2A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52700"/>
            <a:ext cx="10972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0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rPr>
              <a:t>核验 ER 引流设计后，在批准窗口分范围调整去程与回程。</a:t>
            </a:r>
          </a:p>
        </p:txBody>
      </p:sp>
      <p:graphicFrame>
        <p:nvGraphicFrame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1AAEFCC-D48B-4F09-96B2-7C8EE1FA54A4}"/>
              </a:ext>
            </a:extLst>
          </p:cNvPr>
          <p:cNvGraphicFramePr/>
          <p:nvPr/>
        </p:nvGraphicFramePr>
        <p:xfrm>
          <a:off xmlns:a="http://schemas.openxmlformats.org/drawingml/2006/main" x="609600" y="3571875"/>
          <a:ext xmlns:a="http://schemas.openxmlformats.org/drawingml/2006/main" cx="10972800" cy="22764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524000"/>
                <a:gridCol w="5715000"/>
                <a:gridCol w="3733800"/>
              </a:tblGrid>
              <a:tr h="569119"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项目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12283F"/>
                      </a:solidFill>
                      <a:prstDash val="solid"/>
                    </a:lnL>
                    <a:lnR w="6350">
                      <a:solidFill>
                        <a:srgbClr val="12283F"/>
                      </a:solidFill>
                      <a:prstDash val="solid"/>
                    </a:lnR>
                    <a:lnT w="6350">
                      <a:solidFill>
                        <a:srgbClr val="12283F"/>
                      </a:solidFill>
                      <a:prstDash val="solid"/>
                    </a:lnT>
                    <a:lnB w="6350">
                      <a:solidFill>
                        <a:srgbClr val="12283F"/>
                      </a:solidFill>
                      <a:prstDash val="solid"/>
                    </a:lnB>
                    <a:solidFill>
                      <a:srgbClr val="12283F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执行内容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12283F"/>
                      </a:solidFill>
                      <a:prstDash val="solid"/>
                    </a:lnL>
                    <a:lnR w="6350">
                      <a:solidFill>
                        <a:srgbClr val="12283F"/>
                      </a:solidFill>
                      <a:prstDash val="solid"/>
                    </a:lnR>
                    <a:lnT w="6350">
                      <a:solidFill>
                        <a:srgbClr val="12283F"/>
                      </a:solidFill>
                      <a:prstDash val="solid"/>
                    </a:lnT>
                    <a:lnB w="6350">
                      <a:solidFill>
                        <a:srgbClr val="12283F"/>
                      </a:solidFill>
                      <a:prstDash val="solid"/>
                    </a:lnB>
                    <a:solidFill>
                      <a:srgbClr val="12283F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通过标准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12283F"/>
                      </a:solidFill>
                      <a:prstDash val="solid"/>
                    </a:lnL>
                    <a:lnR w="6350">
                      <a:solidFill>
                        <a:srgbClr val="12283F"/>
                      </a:solidFill>
                      <a:prstDash val="solid"/>
                    </a:lnR>
                    <a:lnT w="6350">
                      <a:solidFill>
                        <a:srgbClr val="12283F"/>
                      </a:solidFill>
                      <a:prstDash val="solid"/>
                    </a:lnT>
                    <a:lnB w="6350">
                      <a:solidFill>
                        <a:srgbClr val="12283F"/>
                      </a:solidFill>
                      <a:prstDash val="solid"/>
                    </a:lnB>
                    <a:solidFill>
                      <a:srgbClr val="12283F"/>
                    </a:solidFill>
                  </a:tcPr>
                </a:tc>
              </a:tr>
              <a:tr h="569119"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2283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变更前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EE6EC"/>
                      </a:solidFill>
                      <a:prstDash val="solid"/>
                    </a:lnL>
                    <a:lnR w="6350">
                      <a:solidFill>
                        <a:srgbClr val="DEE6EC"/>
                      </a:solidFill>
                      <a:prstDash val="solid"/>
                    </a:lnR>
                    <a:lnT w="6350">
                      <a:solidFill>
                        <a:srgbClr val="DEE6EC"/>
                      </a:solidFill>
                      <a:prstDash val="solid"/>
                    </a:lnT>
                    <a:lnB w="6350">
                      <a:solidFill>
                        <a:srgbClr val="DEE6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2283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旧路由、对象、业务基线快照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EE6EC"/>
                      </a:solidFill>
                      <a:prstDash val="solid"/>
                    </a:lnL>
                    <a:lnR w="6350">
                      <a:solidFill>
                        <a:srgbClr val="DEE6EC"/>
                      </a:solidFill>
                      <a:prstDash val="solid"/>
                    </a:lnR>
                    <a:lnT w="6350">
                      <a:solidFill>
                        <a:srgbClr val="DEE6EC"/>
                      </a:solidFill>
                      <a:prstDash val="solid"/>
                    </a:lnT>
                    <a:lnB w="6350">
                      <a:solidFill>
                        <a:srgbClr val="DEE6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2283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具备可执行的恢复步骤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EE6EC"/>
                      </a:solidFill>
                      <a:prstDash val="solid"/>
                    </a:lnL>
                    <a:lnR w="6350">
                      <a:solidFill>
                        <a:srgbClr val="DEE6EC"/>
                      </a:solidFill>
                      <a:prstDash val="solid"/>
                    </a:lnR>
                    <a:lnT w="6350">
                      <a:solidFill>
                        <a:srgbClr val="DEE6EC"/>
                      </a:solidFill>
                      <a:prstDash val="solid"/>
                    </a:lnT>
                    <a:lnB w="6350">
                      <a:solidFill>
                        <a:srgbClr val="DEE6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69119"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2283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应通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EE6EC"/>
                      </a:solidFill>
                      <a:prstDash val="solid"/>
                    </a:lnL>
                    <a:lnR w="6350">
                      <a:solidFill>
                        <a:srgbClr val="DEE6EC"/>
                      </a:solidFill>
                      <a:prstDash val="solid"/>
                    </a:lnR>
                    <a:lnT w="6350">
                      <a:solidFill>
                        <a:srgbClr val="DEE6EC"/>
                      </a:solidFill>
                      <a:prstDash val="solid"/>
                    </a:lnT>
                    <a:lnB w="6350">
                      <a:solidFill>
                        <a:srgbClr val="DEE6EC"/>
                      </a:solidFill>
                      <a:prstDash val="solid"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2283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受控新连接完成，日志记录该业务流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EE6EC"/>
                      </a:solidFill>
                      <a:prstDash val="solid"/>
                    </a:lnL>
                    <a:lnR w="6350">
                      <a:solidFill>
                        <a:srgbClr val="DEE6EC"/>
                      </a:solidFill>
                      <a:prstDash val="solid"/>
                    </a:lnR>
                    <a:lnT w="6350">
                      <a:solidFill>
                        <a:srgbClr val="DEE6EC"/>
                      </a:solidFill>
                      <a:prstDash val="solid"/>
                    </a:lnT>
                    <a:lnB w="6350">
                      <a:solidFill>
                        <a:srgbClr val="DEE6EC"/>
                      </a:solidFill>
                      <a:prstDash val="solid"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2283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业务回归通过且规则命中正确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EE6EC"/>
                      </a:solidFill>
                      <a:prstDash val="solid"/>
                    </a:lnL>
                    <a:lnR w="6350">
                      <a:solidFill>
                        <a:srgbClr val="DEE6EC"/>
                      </a:solidFill>
                      <a:prstDash val="solid"/>
                    </a:lnR>
                    <a:lnT w="6350">
                      <a:solidFill>
                        <a:srgbClr val="DEE6EC"/>
                      </a:solidFill>
                      <a:prstDash val="solid"/>
                    </a:lnT>
                    <a:lnB w="6350">
                      <a:solidFill>
                        <a:srgbClr val="DEE6EC"/>
                      </a:solidFill>
                      <a:prstDash val="solid"/>
                    </a:lnB>
                    <a:solidFill>
                      <a:srgbClr val="EEF3F6"/>
                    </a:solidFill>
                  </a:tcPr>
                </a:tc>
              </a:tr>
              <a:tr h="569119"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2283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应拒绝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EE6EC"/>
                      </a:solidFill>
                      <a:prstDash val="solid"/>
                    </a:lnL>
                    <a:lnR w="6350">
                      <a:solidFill>
                        <a:srgbClr val="DEE6EC"/>
                      </a:solidFill>
                      <a:prstDash val="solid"/>
                    </a:lnR>
                    <a:lnT w="6350">
                      <a:solidFill>
                        <a:srgbClr val="DEE6EC"/>
                      </a:solidFill>
                      <a:prstDash val="solid"/>
                    </a:lnT>
                    <a:lnB w="6350">
                      <a:solidFill>
                        <a:srgbClr val="DEE6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2283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发起范围内禁止连接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EE6EC"/>
                      </a:solidFill>
                      <a:prstDash val="solid"/>
                    </a:lnL>
                    <a:lnR w="6350">
                      <a:solidFill>
                        <a:srgbClr val="DEE6EC"/>
                      </a:solidFill>
                      <a:prstDash val="solid"/>
                    </a:lnR>
                    <a:lnT w="6350">
                      <a:solidFill>
                        <a:srgbClr val="DEE6EC"/>
                      </a:solidFill>
                      <a:prstDash val="solid"/>
                    </a:lnT>
                    <a:lnB w="6350">
                      <a:solidFill>
                        <a:srgbClr val="DEE6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2283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看到预期阻断并排除旁路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EE6EC"/>
                      </a:solidFill>
                      <a:prstDash val="solid"/>
                    </a:lnL>
                    <a:lnR w="6350">
                      <a:solidFill>
                        <a:srgbClr val="DEE6EC"/>
                      </a:solidFill>
                      <a:prstDash val="solid"/>
                    </a:lnR>
                    <a:lnT w="6350">
                      <a:solidFill>
                        <a:srgbClr val="DEE6EC"/>
                      </a:solidFill>
                      <a:prstDash val="solid"/>
                    </a:lnT>
                    <a:lnB w="6350">
                      <a:solidFill>
                        <a:srgbClr val="DEE6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65381938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txt-0">
            <a:extLst xmlns:a="http://schemas.openxmlformats.org/drawingml/2006/main">
              <a:ext uri="{FF2B5EF4-FFF2-40B4-BE49-F238E27FC236}">
                <a16:creationId xmlns:a16="http://schemas.microsoft.com/office/drawing/2014/main" id="{FBAF3564-B57D-4FEB-9686-A99EAE240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28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008B87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008B8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1">
                <a:solidFill>
                  <a:srgbClr val="008B87"/>
                </a:solidFill>
                <a:latin typeface="Arial Unicode MS"/>
                <a:ea typeface="Arial Unicode MS"/>
                <a:cs typeface="Arial Unicode MS"/>
              </a:rPr>
              <a:t>05  课堂测验</a:t>
            </a:r>
          </a:p>
        </p:txBody>
      </p:sp>
      <p:sp>
        <p:nvSpPr>
          <p:cNvPr id="2" name="txt-1">
            <a:extLst xmlns:a="http://schemas.openxmlformats.org/drawingml/2006/main">
              <a:ext uri="{FF2B5EF4-FFF2-40B4-BE49-F238E27FC236}">
                <a16:creationId xmlns:a16="http://schemas.microsoft.com/office/drawing/2014/main" id="{0FB0AADD-6AFF-4F19-8172-F6184A6A4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75" b="1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3075" b="1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75" b="1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rPr>
              <a:t>五个快速判断</a:t>
            </a:r>
          </a:p>
        </p:txBody>
      </p:sp>
      <p:sp>
        <p:nvSpPr>
          <p:cNvPr id="3" name="txt-2">
            <a:extLst xmlns:a="http://schemas.openxmlformats.org/drawingml/2006/main">
              <a:ext uri="{FF2B5EF4-FFF2-40B4-BE49-F238E27FC236}">
                <a16:creationId xmlns:a16="http://schemas.microsoft.com/office/drawing/2014/main" id="{F2F2D8F8-6FA0-4ECF-836D-063C38067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00800"/>
            <a:ext cx="628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627383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62738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27383"/>
                </a:solidFill>
                <a:latin typeface="Arial Unicode MS"/>
                <a:ea typeface="Arial Unicode MS"/>
                <a:cs typeface="Arial Unicode MS"/>
              </a:rPr>
              <a:t>33</a:t>
            </a:r>
          </a:p>
        </p:txBody>
      </p:sp>
      <p:sp>
        <p:nvSpPr>
          <p:cNvPr id="4" name="txt-3">
            <a:extLst xmlns:a="http://schemas.openxmlformats.org/drawingml/2006/main">
              <a:ext uri="{FF2B5EF4-FFF2-40B4-BE49-F238E27FC236}">
                <a16:creationId xmlns:a16="http://schemas.microsoft.com/office/drawing/2014/main" id="{5A742A0C-C0CD-4364-A019-A0B0F5A97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9775"/>
            <a:ext cx="211455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08B87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008B8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1">
                <a:solidFill>
                  <a:srgbClr val="008B87"/>
                </a:solidFill>
                <a:latin typeface="Arial Unicode MS"/>
                <a:ea typeface="Arial Unicode MS"/>
                <a:cs typeface="Arial Unicode MS"/>
              </a:rPr>
              <a:t>01</a:t>
            </a:r>
          </a:p>
        </p:txBody>
      </p:sp>
      <p:sp>
        <p:nvSpPr>
          <p:cNvPr id="5" name="txt-4">
            <a:extLst xmlns:a="http://schemas.openxmlformats.org/drawingml/2006/main">
              <a:ext uri="{FF2B5EF4-FFF2-40B4-BE49-F238E27FC236}">
                <a16:creationId xmlns:a16="http://schemas.microsoft.com/office/drawing/2014/main" id="{7A695B95-7AED-455F-9380-CD109C945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009775"/>
            <a:ext cx="86296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rPr>
              <a:t>同一 VPC 划出应用和数据子网，是否已经完成访问隔离？</a:t>
            </a:r>
          </a:p>
        </p:txBody>
      </p:sp>
      <p:sp>
        <p:nvSpPr>
          <p:cNvPr id="6" name="txt-5">
            <a:extLst xmlns:a="http://schemas.openxmlformats.org/drawingml/2006/main">
              <a:ext uri="{FF2B5EF4-FFF2-40B4-BE49-F238E27FC236}">
                <a16:creationId xmlns:a16="http://schemas.microsoft.com/office/drawing/2014/main" id="{D1FC471E-A8CB-4343-85BA-65C33B96D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81300"/>
            <a:ext cx="211455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08B87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008B8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1">
                <a:solidFill>
                  <a:srgbClr val="008B87"/>
                </a:solidFill>
                <a:latin typeface="Arial Unicode MS"/>
                <a:ea typeface="Arial Unicode MS"/>
                <a:cs typeface="Arial Unicode MS"/>
              </a:rPr>
              <a:t>02</a:t>
            </a:r>
          </a:p>
        </p:txBody>
      </p:sp>
      <p:sp>
        <p:nvSpPr>
          <p:cNvPr id="7" name="txt-6">
            <a:extLst xmlns:a="http://schemas.openxmlformats.org/drawingml/2006/main">
              <a:ext uri="{FF2B5EF4-FFF2-40B4-BE49-F238E27FC236}">
                <a16:creationId xmlns:a16="http://schemas.microsoft.com/office/drawing/2014/main" id="{E6A507CB-279A-48C9-B670-A93A3D5BA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781300"/>
            <a:ext cx="86296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rPr>
              <a:t>VPC 边界 CFW 接入后，是否自动拒绝未配置的业务流量？</a:t>
            </a:r>
          </a:p>
        </p:txBody>
      </p:sp>
      <p:sp>
        <p:nvSpPr>
          <p:cNvPr id="8" name="txt-7">
            <a:extLst xmlns:a="http://schemas.openxmlformats.org/drawingml/2006/main">
              <a:ext uri="{FF2B5EF4-FFF2-40B4-BE49-F238E27FC236}">
                <a16:creationId xmlns:a16="http://schemas.microsoft.com/office/drawing/2014/main" id="{E6EC0701-09FC-4509-A344-B777B7C54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52825"/>
            <a:ext cx="211455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08B87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008B8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1">
                <a:solidFill>
                  <a:srgbClr val="008B87"/>
                </a:solidFill>
                <a:latin typeface="Arial Unicode MS"/>
                <a:ea typeface="Arial Unicode MS"/>
                <a:cs typeface="Arial Unicode MS"/>
              </a:rPr>
              <a:t>03</a:t>
            </a:r>
          </a:p>
        </p:txBody>
      </p:sp>
      <p:sp>
        <p:nvSpPr>
          <p:cNvPr id="9" name="txt-8">
            <a:extLst xmlns:a="http://schemas.openxmlformats.org/drawingml/2006/main">
              <a:ext uri="{FF2B5EF4-FFF2-40B4-BE49-F238E27FC236}">
                <a16:creationId xmlns:a16="http://schemas.microsoft.com/office/drawing/2014/main" id="{2BB9ADD6-AD1F-480F-9A75-5661A1740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552825"/>
            <a:ext cx="86296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rPr>
              <a:t>CFW 的 ACL 放行，是否代表端到端业务必定可用？</a:t>
            </a:r>
          </a:p>
        </p:txBody>
      </p:sp>
      <p:sp>
        <p:nvSpPr>
          <p:cNvPr id="10" name="txt-9">
            <a:extLst xmlns:a="http://schemas.openxmlformats.org/drawingml/2006/main">
              <a:ext uri="{FF2B5EF4-FFF2-40B4-BE49-F238E27FC236}">
                <a16:creationId xmlns:a16="http://schemas.microsoft.com/office/drawing/2014/main" id="{31172D20-BD27-4255-B0F8-4B871183C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24350"/>
            <a:ext cx="211455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08B87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008B8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1">
                <a:solidFill>
                  <a:srgbClr val="008B87"/>
                </a:solidFill>
                <a:latin typeface="Arial Unicode MS"/>
                <a:ea typeface="Arial Unicode MS"/>
                <a:cs typeface="Arial Unicode MS"/>
              </a:rPr>
              <a:t>04</a:t>
            </a:r>
          </a:p>
        </p:txBody>
      </p:sp>
      <p:sp>
        <p:nvSpPr>
          <p:cNvPr id="11" name="txt-10">
            <a:extLst xmlns:a="http://schemas.openxmlformats.org/drawingml/2006/main">
              <a:ext uri="{FF2B5EF4-FFF2-40B4-BE49-F238E27FC236}">
                <a16:creationId xmlns:a16="http://schemas.microsoft.com/office/drawing/2014/main" id="{1B226D75-AB5A-4AEC-A446-147C2ADBC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324350"/>
            <a:ext cx="86296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rPr>
              <a:t>普通业务长期使用白名单，是否等同于 ACL 精确放行？</a:t>
            </a:r>
          </a:p>
        </p:txBody>
      </p:sp>
      <p:sp>
        <p:nvSpPr>
          <p:cNvPr id="12" name="txt-11">
            <a:extLst xmlns:a="http://schemas.openxmlformats.org/drawingml/2006/main">
              <a:ext uri="{FF2B5EF4-FFF2-40B4-BE49-F238E27FC236}">
                <a16:creationId xmlns:a16="http://schemas.microsoft.com/office/drawing/2014/main" id="{40AE04A7-2C55-4404-9A48-8C134894A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95875"/>
            <a:ext cx="211455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08B87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008B8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1">
                <a:solidFill>
                  <a:srgbClr val="008B87"/>
                </a:solidFill>
                <a:latin typeface="Arial Unicode MS"/>
                <a:ea typeface="Arial Unicode MS"/>
                <a:cs typeface="Arial Unicode MS"/>
              </a:rPr>
              <a:t>05</a:t>
            </a:r>
          </a:p>
        </p:txBody>
      </p:sp>
      <p:sp>
        <p:nvSpPr>
          <p:cNvPr id="13" name="txt-12">
            <a:extLst xmlns:a="http://schemas.openxmlformats.org/drawingml/2006/main">
              <a:ext uri="{FF2B5EF4-FFF2-40B4-BE49-F238E27FC236}">
                <a16:creationId xmlns:a16="http://schemas.microsoft.com/office/drawing/2014/main" id="{49189F42-B568-4C6B-A62C-E12F16780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5095875"/>
            <a:ext cx="86296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rPr>
              <a:t>验收是否需要同时保留应通、应拒绝与命中证据？</a:t>
            </a:r>
          </a:p>
        </p:txBody>
      </p:sp>
    </p:spTree>
    <p:extLst>
      <p:ext uri="{BB962C8B-B14F-4D97-AF65-F5344CB8AC3E}">
        <p14:creationId xmlns:p14="http://schemas.microsoft.com/office/powerpoint/2010/main" val="1313180492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xt-0">
            <a:extLst xmlns:a="http://schemas.openxmlformats.org/drawingml/2006/main">
              <a:ext uri="{FF2B5EF4-FFF2-40B4-BE49-F238E27FC236}">
                <a16:creationId xmlns:a16="http://schemas.microsoft.com/office/drawing/2014/main" id="{2A0A289A-D0FB-4ABD-95DC-70868A37B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28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008B87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008B8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1">
                <a:solidFill>
                  <a:srgbClr val="008B87"/>
                </a:solidFill>
                <a:latin typeface="Arial Unicode MS"/>
                <a:ea typeface="Arial Unicode MS"/>
                <a:cs typeface="Arial Unicode MS"/>
              </a:rPr>
              <a:t>05  课堂测验</a:t>
            </a:r>
          </a:p>
        </p:txBody>
      </p:sp>
      <p:sp>
        <p:nvSpPr>
          <p:cNvPr id="2" name="txt-1">
            <a:extLst xmlns:a="http://schemas.openxmlformats.org/drawingml/2006/main">
              <a:ext uri="{FF2B5EF4-FFF2-40B4-BE49-F238E27FC236}">
                <a16:creationId xmlns:a16="http://schemas.microsoft.com/office/drawing/2014/main" id="{B7B138BB-3683-4504-85F4-16A1B909D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75" b="1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3075" b="1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75" b="1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rPr>
              <a:t>测验答案与理由</a:t>
            </a:r>
          </a:p>
        </p:txBody>
      </p:sp>
      <p:sp>
        <p:nvSpPr>
          <p:cNvPr id="3" name="txt-2">
            <a:extLst xmlns:a="http://schemas.openxmlformats.org/drawingml/2006/main">
              <a:ext uri="{FF2B5EF4-FFF2-40B4-BE49-F238E27FC236}">
                <a16:creationId xmlns:a16="http://schemas.microsoft.com/office/drawing/2014/main" id="{56EE99D1-5078-4C8C-8AA9-4A5D9D262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00800"/>
            <a:ext cx="628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627383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62738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27383"/>
                </a:solidFill>
                <a:latin typeface="Arial Unicode MS"/>
                <a:ea typeface="Arial Unicode MS"/>
                <a:cs typeface="Arial Unicode MS"/>
              </a:rPr>
              <a:t>34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FD11ED-4820-4FC6-925E-C18AADD6E04A}"/>
              </a:ext>
            </a:extLst>
          </p:cNvPr>
          <p:cNvGraphicFramePr/>
          <p:nvPr/>
        </p:nvGraphicFramePr>
        <p:xfrm>
          <a:off xmlns:a="http://schemas.openxmlformats.org/drawingml/2006/main" x="609600" y="1809750"/>
          <a:ext xmlns:a="http://schemas.openxmlformats.org/drawingml/2006/main" cx="10972800" cy="4000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238250"/>
                <a:gridCol w="1238250"/>
                <a:gridCol w="8343900"/>
              </a:tblGrid>
              <a:tr h="666750"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题号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12283F"/>
                      </a:solidFill>
                      <a:prstDash val="solid"/>
                    </a:lnL>
                    <a:lnR w="6350">
                      <a:solidFill>
                        <a:srgbClr val="12283F"/>
                      </a:solidFill>
                      <a:prstDash val="solid"/>
                    </a:lnR>
                    <a:lnT w="6350">
                      <a:solidFill>
                        <a:srgbClr val="12283F"/>
                      </a:solidFill>
                      <a:prstDash val="solid"/>
                    </a:lnT>
                    <a:lnB w="6350">
                      <a:solidFill>
                        <a:srgbClr val="12283F"/>
                      </a:solidFill>
                      <a:prstDash val="solid"/>
                    </a:lnB>
                    <a:solidFill>
                      <a:srgbClr val="12283F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答案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12283F"/>
                      </a:solidFill>
                      <a:prstDash val="solid"/>
                    </a:lnL>
                    <a:lnR w="6350">
                      <a:solidFill>
                        <a:srgbClr val="12283F"/>
                      </a:solidFill>
                      <a:prstDash val="solid"/>
                    </a:lnR>
                    <a:lnT w="6350">
                      <a:solidFill>
                        <a:srgbClr val="12283F"/>
                      </a:solidFill>
                      <a:prstDash val="solid"/>
                    </a:lnT>
                    <a:lnB w="6350">
                      <a:solidFill>
                        <a:srgbClr val="12283F"/>
                      </a:solidFill>
                      <a:prstDash val="solid"/>
                    </a:lnB>
                    <a:solidFill>
                      <a:srgbClr val="12283F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理由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12283F"/>
                      </a:solidFill>
                      <a:prstDash val="solid"/>
                    </a:lnL>
                    <a:lnR w="6350">
                      <a:solidFill>
                        <a:srgbClr val="12283F"/>
                      </a:solidFill>
                      <a:prstDash val="solid"/>
                    </a:lnR>
                    <a:lnT w="6350">
                      <a:solidFill>
                        <a:srgbClr val="12283F"/>
                      </a:solidFill>
                      <a:prstDash val="solid"/>
                    </a:lnT>
                    <a:lnB w="6350">
                      <a:solidFill>
                        <a:srgbClr val="12283F"/>
                      </a:solidFill>
                      <a:prstDash val="solid"/>
                    </a:lnB>
                    <a:solidFill>
                      <a:srgbClr val="12283F"/>
                    </a:solidFill>
                  </a:tcPr>
                </a:tc>
              </a:tr>
              <a:tr h="666750"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2283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01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EE6EC"/>
                      </a:solidFill>
                      <a:prstDash val="solid"/>
                    </a:lnL>
                    <a:lnR w="6350">
                      <a:solidFill>
                        <a:srgbClr val="DEE6EC"/>
                      </a:solidFill>
                      <a:prstDash val="solid"/>
                    </a:lnR>
                    <a:lnT w="6350">
                      <a:solidFill>
                        <a:srgbClr val="DEE6EC"/>
                      </a:solidFill>
                      <a:prstDash val="solid"/>
                    </a:lnT>
                    <a:lnB w="6350">
                      <a:solidFill>
                        <a:srgbClr val="DEE6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2283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否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EE6EC"/>
                      </a:solidFill>
                      <a:prstDash val="solid"/>
                    </a:lnL>
                    <a:lnR w="6350">
                      <a:solidFill>
                        <a:srgbClr val="DEE6EC"/>
                      </a:solidFill>
                      <a:prstDash val="solid"/>
                    </a:lnR>
                    <a:lnT w="6350">
                      <a:solidFill>
                        <a:srgbClr val="DEE6EC"/>
                      </a:solidFill>
                      <a:prstDash val="solid"/>
                    </a:lnT>
                    <a:lnB w="6350">
                      <a:solidFill>
                        <a:srgbClr val="DEE6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2283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子网划分需要配合安全策略实现隔离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EE6EC"/>
                      </a:solidFill>
                      <a:prstDash val="solid"/>
                    </a:lnL>
                    <a:lnR w="6350">
                      <a:solidFill>
                        <a:srgbClr val="DEE6EC"/>
                      </a:solidFill>
                      <a:prstDash val="solid"/>
                    </a:lnR>
                    <a:lnT w="6350">
                      <a:solidFill>
                        <a:srgbClr val="DEE6EC"/>
                      </a:solidFill>
                      <a:prstDash val="solid"/>
                    </a:lnT>
                    <a:lnB w="6350">
                      <a:solidFill>
                        <a:srgbClr val="DEE6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2283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02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EE6EC"/>
                      </a:solidFill>
                      <a:prstDash val="solid"/>
                    </a:lnL>
                    <a:lnR w="6350">
                      <a:solidFill>
                        <a:srgbClr val="DEE6EC"/>
                      </a:solidFill>
                      <a:prstDash val="solid"/>
                    </a:lnR>
                    <a:lnT w="6350">
                      <a:solidFill>
                        <a:srgbClr val="DEE6EC"/>
                      </a:solidFill>
                      <a:prstDash val="solid"/>
                    </a:lnT>
                    <a:lnB w="6350">
                      <a:solidFill>
                        <a:srgbClr val="DEE6EC"/>
                      </a:solidFill>
                      <a:prstDash val="solid"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2283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否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EE6EC"/>
                      </a:solidFill>
                      <a:prstDash val="solid"/>
                    </a:lnL>
                    <a:lnR w="6350">
                      <a:solidFill>
                        <a:srgbClr val="DEE6EC"/>
                      </a:solidFill>
                      <a:prstDash val="solid"/>
                    </a:lnR>
                    <a:lnT w="6350">
                      <a:solidFill>
                        <a:srgbClr val="DEE6EC"/>
                      </a:solidFill>
                      <a:prstDash val="solid"/>
                    </a:lnT>
                    <a:lnB w="6350">
                      <a:solidFill>
                        <a:srgbClr val="DEE6EC"/>
                      </a:solidFill>
                      <a:prstDash val="solid"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2283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文档说明 VPC 边界接入后默认放行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EE6EC"/>
                      </a:solidFill>
                      <a:prstDash val="solid"/>
                    </a:lnL>
                    <a:lnR w="6350">
                      <a:solidFill>
                        <a:srgbClr val="DEE6EC"/>
                      </a:solidFill>
                      <a:prstDash val="solid"/>
                    </a:lnR>
                    <a:lnT w="6350">
                      <a:solidFill>
                        <a:srgbClr val="DEE6EC"/>
                      </a:solidFill>
                      <a:prstDash val="solid"/>
                    </a:lnT>
                    <a:lnB w="6350">
                      <a:solidFill>
                        <a:srgbClr val="DEE6EC"/>
                      </a:solidFill>
                      <a:prstDash val="solid"/>
                    </a:lnB>
                    <a:solidFill>
                      <a:srgbClr val="EEF3F6"/>
                    </a:solidFill>
                  </a:tcPr>
                </a:tc>
              </a:tr>
              <a:tr h="666750"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2283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03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EE6EC"/>
                      </a:solidFill>
                      <a:prstDash val="solid"/>
                    </a:lnL>
                    <a:lnR w="6350">
                      <a:solidFill>
                        <a:srgbClr val="DEE6EC"/>
                      </a:solidFill>
                      <a:prstDash val="solid"/>
                    </a:lnR>
                    <a:lnT w="6350">
                      <a:solidFill>
                        <a:srgbClr val="DEE6EC"/>
                      </a:solidFill>
                      <a:prstDash val="solid"/>
                    </a:lnT>
                    <a:lnB w="6350">
                      <a:solidFill>
                        <a:srgbClr val="DEE6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2283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否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EE6EC"/>
                      </a:solidFill>
                      <a:prstDash val="solid"/>
                    </a:lnL>
                    <a:lnR w="6350">
                      <a:solidFill>
                        <a:srgbClr val="DEE6EC"/>
                      </a:solidFill>
                      <a:prstDash val="solid"/>
                    </a:lnR>
                    <a:lnT w="6350">
                      <a:solidFill>
                        <a:srgbClr val="DEE6EC"/>
                      </a:solidFill>
                      <a:prstDash val="solid"/>
                    </a:lnT>
                    <a:lnB w="6350">
                      <a:solidFill>
                        <a:srgbClr val="DEE6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2283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其他安全层、路由或服务仍可影响业务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EE6EC"/>
                      </a:solidFill>
                      <a:prstDash val="solid"/>
                    </a:lnL>
                    <a:lnR w="6350">
                      <a:solidFill>
                        <a:srgbClr val="DEE6EC"/>
                      </a:solidFill>
                      <a:prstDash val="solid"/>
                    </a:lnR>
                    <a:lnT w="6350">
                      <a:solidFill>
                        <a:srgbClr val="DEE6EC"/>
                      </a:solidFill>
                      <a:prstDash val="solid"/>
                    </a:lnT>
                    <a:lnB w="6350">
                      <a:solidFill>
                        <a:srgbClr val="DEE6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2283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04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EE6EC"/>
                      </a:solidFill>
                      <a:prstDash val="solid"/>
                    </a:lnL>
                    <a:lnR w="6350">
                      <a:solidFill>
                        <a:srgbClr val="DEE6EC"/>
                      </a:solidFill>
                      <a:prstDash val="solid"/>
                    </a:lnR>
                    <a:lnT w="6350">
                      <a:solidFill>
                        <a:srgbClr val="DEE6EC"/>
                      </a:solidFill>
                      <a:prstDash val="solid"/>
                    </a:lnT>
                    <a:lnB w="6350">
                      <a:solidFill>
                        <a:srgbClr val="DEE6EC"/>
                      </a:solidFill>
                      <a:prstDash val="solid"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2283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否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EE6EC"/>
                      </a:solidFill>
                      <a:prstDash val="solid"/>
                    </a:lnL>
                    <a:lnR w="6350">
                      <a:solidFill>
                        <a:srgbClr val="DEE6EC"/>
                      </a:solidFill>
                      <a:prstDash val="solid"/>
                    </a:lnR>
                    <a:lnT w="6350">
                      <a:solidFill>
                        <a:srgbClr val="DEE6EC"/>
                      </a:solidFill>
                      <a:prstDash val="solid"/>
                    </a:lnT>
                    <a:lnB w="6350">
                      <a:solidFill>
                        <a:srgbClr val="DEE6EC"/>
                      </a:solidFill>
                      <a:prstDash val="solid"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2283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白名单可跳过后续检测，需按例外管理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EE6EC"/>
                      </a:solidFill>
                      <a:prstDash val="solid"/>
                    </a:lnL>
                    <a:lnR w="6350">
                      <a:solidFill>
                        <a:srgbClr val="DEE6EC"/>
                      </a:solidFill>
                      <a:prstDash val="solid"/>
                    </a:lnR>
                    <a:lnT w="6350">
                      <a:solidFill>
                        <a:srgbClr val="DEE6EC"/>
                      </a:solidFill>
                      <a:prstDash val="solid"/>
                    </a:lnT>
                    <a:lnB w="6350">
                      <a:solidFill>
                        <a:srgbClr val="DEE6EC"/>
                      </a:solidFill>
                      <a:prstDash val="solid"/>
                    </a:lnB>
                    <a:solidFill>
                      <a:srgbClr val="EEF3F6"/>
                    </a:solidFill>
                  </a:tcPr>
                </a:tc>
              </a:tr>
              <a:tr h="666750"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2283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05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EE6EC"/>
                      </a:solidFill>
                      <a:prstDash val="solid"/>
                    </a:lnL>
                    <a:lnR w="6350">
                      <a:solidFill>
                        <a:srgbClr val="DEE6EC"/>
                      </a:solidFill>
                      <a:prstDash val="solid"/>
                    </a:lnR>
                    <a:lnT w="6350">
                      <a:solidFill>
                        <a:srgbClr val="DEE6EC"/>
                      </a:solidFill>
                      <a:prstDash val="solid"/>
                    </a:lnT>
                    <a:lnB w="6350">
                      <a:solidFill>
                        <a:srgbClr val="DEE6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2283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是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EE6EC"/>
                      </a:solidFill>
                      <a:prstDash val="solid"/>
                    </a:lnL>
                    <a:lnR w="6350">
                      <a:solidFill>
                        <a:srgbClr val="DEE6EC"/>
                      </a:solidFill>
                      <a:prstDash val="solid"/>
                    </a:lnR>
                    <a:lnT w="6350">
                      <a:solidFill>
                        <a:srgbClr val="DEE6EC"/>
                      </a:solidFill>
                      <a:prstDash val="solid"/>
                    </a:lnT>
                    <a:lnB w="6350">
                      <a:solidFill>
                        <a:srgbClr val="DEE6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2283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正反用例与日志共同验证策略和覆盖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EE6EC"/>
                      </a:solidFill>
                      <a:prstDash val="solid"/>
                    </a:lnL>
                    <a:lnR w="6350">
                      <a:solidFill>
                        <a:srgbClr val="DEE6EC"/>
                      </a:solidFill>
                      <a:prstDash val="solid"/>
                    </a:lnR>
                    <a:lnT w="6350">
                      <a:solidFill>
                        <a:srgbClr val="DEE6EC"/>
                      </a:solidFill>
                      <a:prstDash val="solid"/>
                    </a:lnT>
                    <a:lnB w="6350">
                      <a:solidFill>
                        <a:srgbClr val="DEE6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35839191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txt-0">
            <a:extLst xmlns:a="http://schemas.openxmlformats.org/drawingml/2006/main">
              <a:ext uri="{FF2B5EF4-FFF2-40B4-BE49-F238E27FC236}">
                <a16:creationId xmlns:a16="http://schemas.microsoft.com/office/drawing/2014/main" id="{DE3AE95E-5D9E-423F-BEB0-1B694FCB4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28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008B87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008B8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1">
                <a:solidFill>
                  <a:srgbClr val="008B87"/>
                </a:solidFill>
                <a:latin typeface="Arial Unicode MS"/>
                <a:ea typeface="Arial Unicode MS"/>
                <a:cs typeface="Arial Unicode MS"/>
              </a:rPr>
              <a:t>05  岗位检查表</a:t>
            </a:r>
          </a:p>
        </p:txBody>
      </p:sp>
      <p:sp>
        <p:nvSpPr>
          <p:cNvPr id="2" name="txt-1">
            <a:extLst xmlns:a="http://schemas.openxmlformats.org/drawingml/2006/main">
              <a:ext uri="{FF2B5EF4-FFF2-40B4-BE49-F238E27FC236}">
                <a16:creationId xmlns:a16="http://schemas.microsoft.com/office/drawing/2014/main" id="{A2D08439-7ABF-4A35-8752-C08B7070A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75" b="1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3075" b="1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75" b="1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rPr>
              <a:t>上线前与日常复核</a:t>
            </a:r>
          </a:p>
        </p:txBody>
      </p:sp>
      <p:sp>
        <p:nvSpPr>
          <p:cNvPr id="3" name="txt-2">
            <a:extLst xmlns:a="http://schemas.openxmlformats.org/drawingml/2006/main">
              <a:ext uri="{FF2B5EF4-FFF2-40B4-BE49-F238E27FC236}">
                <a16:creationId xmlns:a16="http://schemas.microsoft.com/office/drawing/2014/main" id="{84366CF6-4B98-4880-A4C5-E1648D314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00775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627383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62738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27383"/>
                </a:solidFill>
                <a:latin typeface="Arial Unicode MS"/>
                <a:ea typeface="Arial Unicode MS"/>
                <a:cs typeface="Arial Unicode MS"/>
              </a:rPr>
              <a:t>建议落地：统一申请模板、明确复核责任人、选择一个测试业务完成闭环演练</a:t>
            </a:r>
          </a:p>
        </p:txBody>
      </p:sp>
      <p:sp>
        <p:nvSpPr>
          <p:cNvPr id="4" name="txt-3">
            <a:extLst xmlns:a="http://schemas.openxmlformats.org/drawingml/2006/main">
              <a:ext uri="{FF2B5EF4-FFF2-40B4-BE49-F238E27FC236}">
                <a16:creationId xmlns:a16="http://schemas.microsoft.com/office/drawing/2014/main" id="{3D822577-75F9-4615-9419-7B9694408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00800"/>
            <a:ext cx="628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627383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62738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27383"/>
                </a:solidFill>
                <a:latin typeface="Arial Unicode MS"/>
                <a:ea typeface="Arial Unicode MS"/>
                <a:cs typeface="Arial Unicode MS"/>
              </a:rPr>
              <a:t>35</a:t>
            </a:r>
          </a:p>
        </p:txBody>
      </p:sp>
      <p:sp>
        <p:nvSpPr>
          <p:cNvPr id="5" name="txt-4">
            <a:extLst xmlns:a="http://schemas.openxmlformats.org/drawingml/2006/main">
              <a:ext uri="{FF2B5EF4-FFF2-40B4-BE49-F238E27FC236}">
                <a16:creationId xmlns:a16="http://schemas.microsoft.com/office/drawing/2014/main" id="{07369A4C-1F72-4AAB-B7B5-70A94D61D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24075"/>
            <a:ext cx="49911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008B87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008B8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1">
                <a:solidFill>
                  <a:srgbClr val="008B87"/>
                </a:solidFill>
                <a:latin typeface="Arial Unicode MS"/>
                <a:ea typeface="Arial Unicode MS"/>
                <a:cs typeface="Arial Unicode MS"/>
              </a:rPr>
              <a:t>每次上线前</a:t>
            </a:r>
          </a:p>
        </p:txBody>
      </p:sp>
      <p:sp>
        <p:nvSpPr>
          <p:cNvPr id="6" name="txt-5">
            <a:extLst xmlns:a="http://schemas.openxmlformats.org/drawingml/2006/main">
              <a:ext uri="{FF2B5EF4-FFF2-40B4-BE49-F238E27FC236}">
                <a16:creationId xmlns:a16="http://schemas.microsoft.com/office/drawing/2014/main" id="{18A6E249-690F-4EDC-9466-52430B0A9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124075"/>
            <a:ext cx="5048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008B87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008B8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1">
                <a:solidFill>
                  <a:srgbClr val="008B87"/>
                </a:solidFill>
                <a:latin typeface="Arial Unicode MS"/>
                <a:ea typeface="Arial Unicode MS"/>
                <a:cs typeface="Arial Unicode MS"/>
              </a:rPr>
              <a:t>日常持续维护</a:t>
            </a:r>
          </a:p>
        </p:txBody>
      </p:sp>
      <p:sp>
        <p:nvSpPr>
          <p:cNvPr id="7" name="txt-6">
            <a:extLst xmlns:a="http://schemas.openxmlformats.org/drawingml/2006/main">
              <a:ext uri="{FF2B5EF4-FFF2-40B4-BE49-F238E27FC236}">
                <a16:creationId xmlns:a16="http://schemas.microsoft.com/office/drawing/2014/main" id="{C301AA9B-E4F4-4AB4-8252-118B4CAA0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09875"/>
            <a:ext cx="49911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rPr>
              <a:t>地址、环境与业务 Owner 明确</a:t>
            </a:r>
          </a:p>
        </p:txBody>
      </p:sp>
      <p:sp>
        <p:nvSpPr>
          <p:cNvPr id="8" name="txt-7">
            <a:extLst xmlns:a="http://schemas.openxmlformats.org/drawingml/2006/main">
              <a:ext uri="{FF2B5EF4-FFF2-40B4-BE49-F238E27FC236}">
                <a16:creationId xmlns:a16="http://schemas.microsoft.com/office/drawing/2014/main" id="{26A8D7C2-76D6-485E-B721-CF83617C8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33775"/>
            <a:ext cx="49911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rPr>
              <a:t>去回程和 CFW 覆盖已核验</a:t>
            </a:r>
          </a:p>
        </p:txBody>
      </p:sp>
      <p:sp>
        <p:nvSpPr>
          <p:cNvPr id="9" name="txt-8">
            <a:extLst xmlns:a="http://schemas.openxmlformats.org/drawingml/2006/main">
              <a:ext uri="{FF2B5EF4-FFF2-40B4-BE49-F238E27FC236}">
                <a16:creationId xmlns:a16="http://schemas.microsoft.com/office/drawing/2014/main" id="{5ECE0274-CDAD-4099-8455-463C0C8B7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57675"/>
            <a:ext cx="49911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rPr>
              <a:t>端口、顺序与例外经复核</a:t>
            </a:r>
          </a:p>
        </p:txBody>
      </p:sp>
      <p:sp>
        <p:nvSpPr>
          <p:cNvPr id="10" name="txt-9">
            <a:extLst xmlns:a="http://schemas.openxmlformats.org/drawingml/2006/main">
              <a:ext uri="{FF2B5EF4-FFF2-40B4-BE49-F238E27FC236}">
                <a16:creationId xmlns:a16="http://schemas.microsoft.com/office/drawing/2014/main" id="{1FDB619D-4A5A-4DD1-A853-B52E8630C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81575"/>
            <a:ext cx="49911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rPr>
              <a:t>正反用例与回滚门槛已准备</a:t>
            </a:r>
          </a:p>
        </p:txBody>
      </p:sp>
      <p:sp>
        <p:nvSpPr>
          <p:cNvPr id="11" name="txt-10">
            <a:extLst xmlns:a="http://schemas.openxmlformats.org/drawingml/2006/main">
              <a:ext uri="{FF2B5EF4-FFF2-40B4-BE49-F238E27FC236}">
                <a16:creationId xmlns:a16="http://schemas.microsoft.com/office/drawing/2014/main" id="{5B5D6231-CC9A-4BA8-8C76-0BF5743E1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809875"/>
            <a:ext cx="504825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rPr>
              <a:t>新增资产同步检查纳管状态</a:t>
            </a:r>
          </a:p>
        </p:txBody>
      </p:sp>
      <p:sp>
        <p:nvSpPr>
          <p:cNvPr id="12" name="txt-11">
            <a:extLst xmlns:a="http://schemas.openxmlformats.org/drawingml/2006/main">
              <a:ext uri="{FF2B5EF4-FFF2-40B4-BE49-F238E27FC236}">
                <a16:creationId xmlns:a16="http://schemas.microsoft.com/office/drawing/2014/main" id="{EB2604DA-22DB-4998-B597-5B8560DE5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533775"/>
            <a:ext cx="504825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rPr>
              <a:t>到期临时规则与白名单及时清理</a:t>
            </a:r>
          </a:p>
        </p:txBody>
      </p:sp>
      <p:sp>
        <p:nvSpPr>
          <p:cNvPr id="13" name="txt-12">
            <a:extLst xmlns:a="http://schemas.openxmlformats.org/drawingml/2006/main">
              <a:ext uri="{FF2B5EF4-FFF2-40B4-BE49-F238E27FC236}">
                <a16:creationId xmlns:a16="http://schemas.microsoft.com/office/drawing/2014/main" id="{E36743C2-7F17-4CF9-A428-D0D95DEED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257675"/>
            <a:ext cx="504825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rPr>
              <a:t>周期复核对象组与低频依赖</a:t>
            </a:r>
          </a:p>
        </p:txBody>
      </p:sp>
      <p:sp>
        <p:nvSpPr>
          <p:cNvPr id="14" name="txt-13">
            <a:extLst xmlns:a="http://schemas.openxmlformats.org/drawingml/2006/main">
              <a:ext uri="{FF2B5EF4-FFF2-40B4-BE49-F238E27FC236}">
                <a16:creationId xmlns:a16="http://schemas.microsoft.com/office/drawing/2014/main" id="{72BB9A38-A542-4824-BC42-C4A456DA3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981575"/>
            <a:ext cx="504825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rPr>
              <a:t>按内部要求留存日志与变更证据</a:t>
            </a:r>
          </a:p>
        </p:txBody>
      </p:sp>
    </p:spTree>
    <p:extLst>
      <p:ext uri="{BB962C8B-B14F-4D97-AF65-F5344CB8AC3E}">
        <p14:creationId xmlns:p14="http://schemas.microsoft.com/office/powerpoint/2010/main" val="721901316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txt-0">
            <a:extLst xmlns:a="http://schemas.openxmlformats.org/drawingml/2006/main">
              <a:ext uri="{FF2B5EF4-FFF2-40B4-BE49-F238E27FC236}">
                <a16:creationId xmlns:a16="http://schemas.microsoft.com/office/drawing/2014/main" id="{16084548-77B1-42EA-A6B9-0162BB17C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28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008B87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008B8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1">
                <a:solidFill>
                  <a:srgbClr val="008B87"/>
                </a:solidFill>
                <a:latin typeface="Arial Unicode MS"/>
                <a:ea typeface="Arial Unicode MS"/>
                <a:cs typeface="Arial Unicode MS"/>
              </a:rPr>
              <a:t>参考资料</a:t>
            </a:r>
          </a:p>
        </p:txBody>
      </p:sp>
      <p:sp>
        <p:nvSpPr>
          <p:cNvPr id="2" name="txt-1">
            <a:extLst xmlns:a="http://schemas.openxmlformats.org/drawingml/2006/main">
              <a:ext uri="{FF2B5EF4-FFF2-40B4-BE49-F238E27FC236}">
                <a16:creationId xmlns:a16="http://schemas.microsoft.com/office/drawing/2014/main" id="{5464F5DF-95C8-4107-8516-EC08B9ABB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75" b="1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3075" b="1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75" b="1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rPr>
              <a:t>华为云官方参考资料</a:t>
            </a:r>
          </a:p>
        </p:txBody>
      </p:sp>
      <p:sp>
        <p:nvSpPr>
          <p:cNvPr id="3" name="txt-2">
            <a:extLst xmlns:a="http://schemas.openxmlformats.org/drawingml/2006/main">
              <a:ext uri="{FF2B5EF4-FFF2-40B4-BE49-F238E27FC236}">
                <a16:creationId xmlns:a16="http://schemas.microsoft.com/office/drawing/2014/main" id="{1C73C57D-C250-40FC-A239-FD7A17090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62075"/>
            <a:ext cx="1097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627383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62738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627383"/>
                </a:solidFill>
                <a:latin typeface="Arial Unicode MS"/>
                <a:ea typeface="Arial Unicode MS"/>
                <a:cs typeface="Arial Unicode MS"/>
              </a:rPr>
              <a:t>检索日期：2026 年 10 月 16 日。各区域版本与实际控制台可能不同</a:t>
            </a:r>
          </a:p>
        </p:txBody>
      </p:sp>
      <p:sp>
        <p:nvSpPr>
          <p:cNvPr id="4" name="txt-3">
            <a:extLst xmlns:a="http://schemas.openxmlformats.org/drawingml/2006/main">
              <a:ext uri="{FF2B5EF4-FFF2-40B4-BE49-F238E27FC236}">
                <a16:creationId xmlns:a16="http://schemas.microsoft.com/office/drawing/2014/main" id="{385FBBC0-59B8-47F1-A1E7-C7349DE91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00775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627383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62738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27383"/>
                </a:solidFill>
                <a:latin typeface="Arial Unicode MS"/>
                <a:ea typeface="Arial Unicode MS"/>
                <a:cs typeface="Arial Unicode MS"/>
              </a:rPr>
              <a:t>本课的命名、审批、到期复核、演练评分与验收要求为培训建议基线</a:t>
            </a:r>
          </a:p>
        </p:txBody>
      </p:sp>
      <p:sp>
        <p:nvSpPr>
          <p:cNvPr id="5" name="txt-4">
            <a:extLst xmlns:a="http://schemas.openxmlformats.org/drawingml/2006/main">
              <a:ext uri="{FF2B5EF4-FFF2-40B4-BE49-F238E27FC236}">
                <a16:creationId xmlns:a16="http://schemas.microsoft.com/office/drawing/2014/main" id="{56C2BD5E-E3A7-43C2-AAF8-05408F687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00800"/>
            <a:ext cx="628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627383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62738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27383"/>
                </a:solidFill>
                <a:latin typeface="Arial Unicode MS"/>
                <a:ea typeface="Arial Unicode MS"/>
                <a:cs typeface="Arial Unicode MS"/>
              </a:rPr>
              <a:t>36</a:t>
            </a:r>
          </a:p>
        </p:txBody>
      </p:sp>
      <p:sp>
        <p:nvSpPr>
          <p:cNvPr id="6" name="txt-5">
            <a:extLst xmlns:a="http://schemas.openxmlformats.org/drawingml/2006/main">
              <a:ext uri="{FF2B5EF4-FFF2-40B4-BE49-F238E27FC236}">
                <a16:creationId xmlns:a16="http://schemas.microsoft.com/office/drawing/2014/main" id="{572D664F-A7DA-46B3-927D-A3C83DF12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62200"/>
            <a:ext cx="3429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008B87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008B8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1">
                <a:solidFill>
                  <a:srgbClr val="008B87"/>
                </a:solidFill>
                <a:latin typeface="Arial Unicode MS"/>
                <a:ea typeface="Arial Unicode MS"/>
                <a:cs typeface="Arial Unicode MS"/>
              </a:rPr>
              <a:t>网络规划与控制层</a:t>
            </a:r>
          </a:p>
        </p:txBody>
      </p:sp>
      <p:sp>
        <p:nvSpPr>
          <p:cNvPr id="7" name="txt-6">
            <a:extLst xmlns:a="http://schemas.openxmlformats.org/drawingml/2006/main">
              <a:ext uri="{FF2B5EF4-FFF2-40B4-BE49-F238E27FC236}">
                <a16:creationId xmlns:a16="http://schemas.microsoft.com/office/drawing/2014/main" id="{3E5AF51C-52F1-425D-AF01-FE1D2C3EF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28950"/>
            <a:ext cx="3429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  <a:hlinkClick xmlns:r="http://schemas.openxmlformats.org/officeDocument/2006/relationships" r:id="Rb2e86f1d47024125"/>
              </a:rPr>
              <a:t>VPC 网络规划建议</a:t>
            </a:r>
          </a:p>
        </p:txBody>
      </p:sp>
      <p:sp>
        <p:nvSpPr>
          <p:cNvPr id="8" name="txt-7">
            <a:extLst xmlns:a="http://schemas.openxmlformats.org/drawingml/2006/main">
              <a:ext uri="{FF2B5EF4-FFF2-40B4-BE49-F238E27FC236}">
                <a16:creationId xmlns:a16="http://schemas.microsoft.com/office/drawing/2014/main" id="{77C9C365-B13B-4CFE-8EF6-9728C169B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14725"/>
            <a:ext cx="3429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  <a:hlinkClick xmlns:r="http://schemas.openxmlformats.org/officeDocument/2006/relationships" r:id="R7add0b54dc464311"/>
              </a:rPr>
              <a:t>VPC 网络规划与隔离</a:t>
            </a:r>
          </a:p>
        </p:txBody>
      </p:sp>
      <p:sp>
        <p:nvSpPr>
          <p:cNvPr id="9" name="txt-8">
            <a:extLst xmlns:a="http://schemas.openxmlformats.org/drawingml/2006/main">
              <a:ext uri="{FF2B5EF4-FFF2-40B4-BE49-F238E27FC236}">
                <a16:creationId xmlns:a16="http://schemas.microsoft.com/office/drawing/2014/main" id="{AECF36F6-DB97-4304-A898-6806B104D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0"/>
            <a:ext cx="3429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  <a:hlinkClick xmlns:r="http://schemas.openxmlformats.org/officeDocument/2006/relationships" r:id="Rd1a2c03cd1004753"/>
              </a:rPr>
              <a:t>VPC 访问控制概述</a:t>
            </a:r>
          </a:p>
        </p:txBody>
      </p:sp>
      <p:sp>
        <p:nvSpPr>
          <p:cNvPr id="10" name="txt-9">
            <a:extLst xmlns:a="http://schemas.openxmlformats.org/drawingml/2006/main">
              <a:ext uri="{FF2B5EF4-FFF2-40B4-BE49-F238E27FC236}">
                <a16:creationId xmlns:a16="http://schemas.microsoft.com/office/drawing/2014/main" id="{53CE0211-D0D6-4AB1-A4C1-E947CB19E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2362200"/>
            <a:ext cx="3429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008B87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008B8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1">
                <a:solidFill>
                  <a:srgbClr val="008B87"/>
                </a:solidFill>
                <a:latin typeface="Arial Unicode MS"/>
                <a:ea typeface="Arial Unicode MS"/>
                <a:cs typeface="Arial Unicode MS"/>
              </a:rPr>
              <a:t>CFW 覆盖与引流</a:t>
            </a:r>
          </a:p>
        </p:txBody>
      </p:sp>
      <p:sp>
        <p:nvSpPr>
          <p:cNvPr id="11" name="txt-10">
            <a:extLst xmlns:a="http://schemas.openxmlformats.org/drawingml/2006/main">
              <a:ext uri="{FF2B5EF4-FFF2-40B4-BE49-F238E27FC236}">
                <a16:creationId xmlns:a16="http://schemas.microsoft.com/office/drawing/2014/main" id="{9F66735B-9647-4646-87A5-8EE1E84CC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3028950"/>
            <a:ext cx="3429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  <a:hlinkClick xmlns:r="http://schemas.openxmlformats.org/officeDocument/2006/relationships" r:id="R6bcd2127c9674ca1"/>
              </a:rPr>
              <a:t>VPC 边界防火墙概述</a:t>
            </a:r>
          </a:p>
        </p:txBody>
      </p:sp>
      <p:sp>
        <p:nvSpPr>
          <p:cNvPr id="12" name="txt-11">
            <a:extLst xmlns:a="http://schemas.openxmlformats.org/drawingml/2006/main">
              <a:ext uri="{FF2B5EF4-FFF2-40B4-BE49-F238E27FC236}">
                <a16:creationId xmlns:a16="http://schemas.microsoft.com/office/drawing/2014/main" id="{075490D7-B51B-477D-983C-F64EDA782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3514725"/>
            <a:ext cx="3429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  <a:hlinkClick xmlns:r="http://schemas.openxmlformats.org/officeDocument/2006/relationships" r:id="Rfdccdc683a5d459c"/>
              </a:rPr>
              <a:t>ER 引流配置（新版）</a:t>
            </a:r>
          </a:p>
        </p:txBody>
      </p:sp>
      <p:sp>
        <p:nvSpPr>
          <p:cNvPr id="13" name="txt-12">
            <a:extLst xmlns:a="http://schemas.openxmlformats.org/drawingml/2006/main">
              <a:ext uri="{FF2B5EF4-FFF2-40B4-BE49-F238E27FC236}">
                <a16:creationId xmlns:a16="http://schemas.microsoft.com/office/drawing/2014/main" id="{09F3300F-35BF-45BA-9EA7-1ECDA23A6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4000500"/>
            <a:ext cx="3429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  <a:hlinkClick xmlns:r="http://schemas.openxmlformats.org/officeDocument/2006/relationships" r:id="R32f98ef892004580"/>
              </a:rPr>
              <a:t>开启防护与流量验证</a:t>
            </a:r>
          </a:p>
        </p:txBody>
      </p:sp>
      <p:sp>
        <p:nvSpPr>
          <p:cNvPr id="14" name="txt-13">
            <a:extLst xmlns:a="http://schemas.openxmlformats.org/drawingml/2006/main">
              <a:ext uri="{FF2B5EF4-FFF2-40B4-BE49-F238E27FC236}">
                <a16:creationId xmlns:a16="http://schemas.microsoft.com/office/drawing/2014/main" id="{78C3FB0C-3A62-4825-BEB2-7DB24E0C4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362200"/>
            <a:ext cx="3429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008B87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008B8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1">
                <a:solidFill>
                  <a:srgbClr val="008B87"/>
                </a:solidFill>
                <a:latin typeface="Arial Unicode MS"/>
                <a:ea typeface="Arial Unicode MS"/>
                <a:cs typeface="Arial Unicode MS"/>
              </a:rPr>
              <a:t>策略与日志排障</a:t>
            </a:r>
          </a:p>
        </p:txBody>
      </p:sp>
      <p:sp>
        <p:nvSpPr>
          <p:cNvPr id="15" name="txt-14">
            <a:extLst xmlns:a="http://schemas.openxmlformats.org/drawingml/2006/main">
              <a:ext uri="{FF2B5EF4-FFF2-40B4-BE49-F238E27FC236}">
                <a16:creationId xmlns:a16="http://schemas.microsoft.com/office/drawing/2014/main" id="{7C5AD9E6-B5AD-4E48-87B9-079AE38A2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028950"/>
            <a:ext cx="3429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  <a:hlinkClick xmlns:r="http://schemas.openxmlformats.org/officeDocument/2006/relationships" r:id="R102b8b23097a4399"/>
              </a:rPr>
              <a:t>VPC 边界防护规则</a:t>
            </a:r>
          </a:p>
        </p:txBody>
      </p:sp>
      <p:sp>
        <p:nvSpPr>
          <p:cNvPr id="16" name="txt-15">
            <a:extLst xmlns:a="http://schemas.openxmlformats.org/drawingml/2006/main">
              <a:ext uri="{FF2B5EF4-FFF2-40B4-BE49-F238E27FC236}">
                <a16:creationId xmlns:a16="http://schemas.microsoft.com/office/drawing/2014/main" id="{4563BD3F-AB31-4A39-805B-F1F3028CE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514725"/>
            <a:ext cx="3429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  <a:hlinkClick xmlns:r="http://schemas.openxmlformats.org/officeDocument/2006/relationships" r:id="R00c77837aca6453b"/>
              </a:rPr>
              <a:t>访问控制策略概述</a:t>
            </a:r>
          </a:p>
        </p:txBody>
      </p:sp>
      <p:sp>
        <p:nvSpPr>
          <p:cNvPr id="17" name="txt-16">
            <a:extLst xmlns:a="http://schemas.openxmlformats.org/drawingml/2006/main">
              <a:ext uri="{FF2B5EF4-FFF2-40B4-BE49-F238E27FC236}">
                <a16:creationId xmlns:a16="http://schemas.microsoft.com/office/drawing/2014/main" id="{3B07A7DF-9E2B-42B1-9D4F-67FB1E19E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000500"/>
            <a:ext cx="3429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  <a:hlinkClick xmlns:r="http://schemas.openxmlformats.org/officeDocument/2006/relationships" r:id="Reb3cae5034ff4ffe"/>
              </a:rPr>
              <a:t>日志查询</a:t>
            </a:r>
          </a:p>
        </p:txBody>
      </p:sp>
      <p:sp>
        <p:nvSpPr>
          <p:cNvPr id="18" name="txt-17">
            <a:extLst xmlns:a="http://schemas.openxmlformats.org/drawingml/2006/main">
              <a:ext uri="{FF2B5EF4-FFF2-40B4-BE49-F238E27FC236}">
                <a16:creationId xmlns:a16="http://schemas.microsoft.com/office/drawing/2014/main" id="{BA783ABA-61AE-4C6F-AE4E-D1BD09D8F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486275"/>
            <a:ext cx="3429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  <a:hlinkClick xmlns:r="http://schemas.openxmlformats.org/officeDocument/2006/relationships" r:id="Re0c6c57f184445cf"/>
              </a:rPr>
              <a:t>流量统计与会话上报</a:t>
            </a:r>
          </a:p>
        </p:txBody>
      </p:sp>
      <p:sp>
        <p:nvSpPr>
          <p:cNvPr id="19" name="txt-18">
            <a:extLst xmlns:a="http://schemas.openxmlformats.org/drawingml/2006/main">
              <a:ext uri="{FF2B5EF4-FFF2-40B4-BE49-F238E27FC236}">
                <a16:creationId xmlns:a16="http://schemas.microsoft.com/office/drawing/2014/main" id="{E767C1C7-4E38-4877-91B4-46C08B4D4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972050"/>
            <a:ext cx="3429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  <a:hlinkClick xmlns:r="http://schemas.openxmlformats.org/officeDocument/2006/relationships" r:id="Rcab7fc6c28a84b34"/>
              </a:rPr>
              <a:t>配置防护策略后业务无法访问</a:t>
            </a:r>
          </a:p>
        </p:txBody>
      </p:sp>
    </p:spTree>
    <p:extLst>
      <p:ext uri="{BB962C8B-B14F-4D97-AF65-F5344CB8AC3E}">
        <p14:creationId xmlns:p14="http://schemas.microsoft.com/office/powerpoint/2010/main" val="17488142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2026-10-15T23:28:36.4190000Z</dcterms:created>
  <dcterms:modified xsi:type="dcterms:W3CDTF">2026-10-15T23:28:36.4190000Z</dcterms:modified>
</coreProperties>
</file>