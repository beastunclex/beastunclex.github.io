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26684392a444cc" /><Relationship Type="http://schemas.openxmlformats.org/officeDocument/2006/relationships/extended-properties" Target="/docProps/app.xml" Id="R1d47da771e3a49d5" /><Relationship Type="http://schemas.openxmlformats.org/officeDocument/2006/relationships/officeDocument" Target="/ppt/presentation.xml" Id="R2312b168c3d540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858f930184da8"/>
  </p:sldMasterIdLst>
  <p:notesMasterIdLst>
    <p:notesMasterId xmlns:r="http://schemas.openxmlformats.org/officeDocument/2006/relationships" r:id="R0fe1a5b514424db3"/>
  </p:notesMasterIdLst>
  <p:sldIdLst>
    <p:sldId xmlns:r="http://schemas.openxmlformats.org/officeDocument/2006/relationships" id="256" r:id="Rde8237f1960342bd"/>
    <p:sldId xmlns:r="http://schemas.openxmlformats.org/officeDocument/2006/relationships" id="257" r:id="Rd4b456cbcaa042ac"/>
    <p:sldId xmlns:r="http://schemas.openxmlformats.org/officeDocument/2006/relationships" id="258" r:id="R8103ca32c5774e68"/>
    <p:sldId xmlns:r="http://schemas.openxmlformats.org/officeDocument/2006/relationships" id="259" r:id="R2b8ea8950af84609"/>
    <p:sldId xmlns:r="http://schemas.openxmlformats.org/officeDocument/2006/relationships" id="260" r:id="R9b4b5560000944d4"/>
    <p:sldId xmlns:r="http://schemas.openxmlformats.org/officeDocument/2006/relationships" id="261" r:id="Rd55c5fe14379463f"/>
    <p:sldId xmlns:r="http://schemas.openxmlformats.org/officeDocument/2006/relationships" id="262" r:id="Rd9e3acc9198847b4"/>
    <p:sldId xmlns:r="http://schemas.openxmlformats.org/officeDocument/2006/relationships" id="263" r:id="Rbdf5563b484f4c04"/>
    <p:sldId xmlns:r="http://schemas.openxmlformats.org/officeDocument/2006/relationships" id="264" r:id="Rb732d15814bf4757"/>
    <p:sldId xmlns:r="http://schemas.openxmlformats.org/officeDocument/2006/relationships" id="265" r:id="Rec22823896ce424f"/>
    <p:sldId xmlns:r="http://schemas.openxmlformats.org/officeDocument/2006/relationships" id="266" r:id="R175f58ccfc80454c"/>
    <p:sldId xmlns:r="http://schemas.openxmlformats.org/officeDocument/2006/relationships" id="267" r:id="R76966f3beaf94c1d"/>
    <p:sldId xmlns:r="http://schemas.openxmlformats.org/officeDocument/2006/relationships" id="268" r:id="R51f82b52f3a24c84"/>
    <p:sldId xmlns:r="http://schemas.openxmlformats.org/officeDocument/2006/relationships" id="269" r:id="Rd2c88a4d461c425b"/>
    <p:sldId xmlns:r="http://schemas.openxmlformats.org/officeDocument/2006/relationships" id="270" r:id="R090bfc4588a44cd6"/>
    <p:sldId xmlns:r="http://schemas.openxmlformats.org/officeDocument/2006/relationships" id="271" r:id="Rd2f6170fa3e04a88"/>
    <p:sldId xmlns:r="http://schemas.openxmlformats.org/officeDocument/2006/relationships" id="272" r:id="R773708dd3fc24624"/>
    <p:sldId xmlns:r="http://schemas.openxmlformats.org/officeDocument/2006/relationships" id="273" r:id="R2582d7c3aedd4c29"/>
    <p:sldId xmlns:r="http://schemas.openxmlformats.org/officeDocument/2006/relationships" id="274" r:id="R0b0a2c6ae8464673"/>
    <p:sldId xmlns:r="http://schemas.openxmlformats.org/officeDocument/2006/relationships" id="275" r:id="R2b5bdf6de5e14dc5"/>
    <p:sldId xmlns:r="http://schemas.openxmlformats.org/officeDocument/2006/relationships" id="276" r:id="R9fdc72aaae0e44f7"/>
    <p:sldId xmlns:r="http://schemas.openxmlformats.org/officeDocument/2006/relationships" id="277" r:id="R4d31dde23a6e437d"/>
    <p:sldId xmlns:r="http://schemas.openxmlformats.org/officeDocument/2006/relationships" id="278" r:id="R92674191a26349c1"/>
    <p:sldId xmlns:r="http://schemas.openxmlformats.org/officeDocument/2006/relationships" id="279" r:id="R5356c862ee274d08"/>
    <p:sldId xmlns:r="http://schemas.openxmlformats.org/officeDocument/2006/relationships" id="280" r:id="R7cebc06f40624c31"/>
    <p:sldId xmlns:r="http://schemas.openxmlformats.org/officeDocument/2006/relationships" id="281" r:id="Rb965d74b9ed44e23"/>
    <p:sldId xmlns:r="http://schemas.openxmlformats.org/officeDocument/2006/relationships" id="282" r:id="Rebdbaf7268764afa"/>
    <p:sldId xmlns:r="http://schemas.openxmlformats.org/officeDocument/2006/relationships" id="283" r:id="R14f9546863c940ac"/>
    <p:sldId xmlns:r="http://schemas.openxmlformats.org/officeDocument/2006/relationships" id="284" r:id="R056c4806a6554e6e"/>
    <p:sldId xmlns:r="http://schemas.openxmlformats.org/officeDocument/2006/relationships" id="285" r:id="Reb082712df854112"/>
    <p:sldId xmlns:r="http://schemas.openxmlformats.org/officeDocument/2006/relationships" id="286" r:id="R20bf44074ed04572"/>
    <p:sldId xmlns:r="http://schemas.openxmlformats.org/officeDocument/2006/relationships" id="287" r:id="R335a313628314cf1"/>
    <p:sldId xmlns:r="http://schemas.openxmlformats.org/officeDocument/2006/relationships" id="288" r:id="R478c74e6b6cb4fc6"/>
    <p:sldId xmlns:r="http://schemas.openxmlformats.org/officeDocument/2006/relationships" id="289" r:id="R7d10334bb8b6473c"/>
    <p:sldId xmlns:r="http://schemas.openxmlformats.org/officeDocument/2006/relationships" id="290" r:id="R3cb90c56836b4b2b"/>
    <p:sldId xmlns:r="http://schemas.openxmlformats.org/officeDocument/2006/relationships" id="291" r:id="R0c6de3225e324c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af9a65e2a42e8" /><Relationship Type="http://schemas.openxmlformats.org/officeDocument/2006/relationships/slideMaster" Target="/ppt/slideMasters/slideMaster1.xml" Id="Ra24858f930184da8" /><Relationship Type="http://schemas.openxmlformats.org/officeDocument/2006/relationships/notesMaster" Target="/ppt/notesMasters/notesMaster1.xml" Id="R0fe1a5b514424db3" /><Relationship Type="http://schemas.openxmlformats.org/officeDocument/2006/relationships/presProps" Target="/ppt/presProps.xml" Id="R20e6360ce6364ae4" /><Relationship Type="http://schemas.openxmlformats.org/officeDocument/2006/relationships/tableStyles" Target="/ppt/tableStyles.xml" Id="R81e61ee44abe4442" /><Relationship Type="http://schemas.openxmlformats.org/officeDocument/2006/relationships/slide" Target="/ppt/slides/slide1.xml" Id="Rde8237f1960342bd" /><Relationship Type="http://schemas.openxmlformats.org/officeDocument/2006/relationships/slide" Target="/ppt/slides/slide2.xml" Id="Rd4b456cbcaa042ac" /><Relationship Type="http://schemas.openxmlformats.org/officeDocument/2006/relationships/slide" Target="/ppt/slides/slide3.xml" Id="R8103ca32c5774e68" /><Relationship Type="http://schemas.openxmlformats.org/officeDocument/2006/relationships/slide" Target="/ppt/slides/slide4.xml" Id="R2b8ea8950af84609" /><Relationship Type="http://schemas.openxmlformats.org/officeDocument/2006/relationships/slide" Target="/ppt/slides/slide5.xml" Id="R9b4b5560000944d4" /><Relationship Type="http://schemas.openxmlformats.org/officeDocument/2006/relationships/slide" Target="/ppt/slides/slide6.xml" Id="Rd55c5fe14379463f" /><Relationship Type="http://schemas.openxmlformats.org/officeDocument/2006/relationships/slide" Target="/ppt/slides/slide7.xml" Id="Rd9e3acc9198847b4" /><Relationship Type="http://schemas.openxmlformats.org/officeDocument/2006/relationships/slide" Target="/ppt/slides/slide8.xml" Id="Rbdf5563b484f4c04" /><Relationship Type="http://schemas.openxmlformats.org/officeDocument/2006/relationships/slide" Target="/ppt/slides/slide9.xml" Id="Rb732d15814bf4757" /><Relationship Type="http://schemas.openxmlformats.org/officeDocument/2006/relationships/slide" Target="/ppt/slides/slide10.xml" Id="Rec22823896ce424f" /><Relationship Type="http://schemas.openxmlformats.org/officeDocument/2006/relationships/slide" Target="/ppt/slides/slide11.xml" Id="R175f58ccfc80454c" /><Relationship Type="http://schemas.openxmlformats.org/officeDocument/2006/relationships/slide" Target="/ppt/slides/slide12.xml" Id="R76966f3beaf94c1d" /><Relationship Type="http://schemas.openxmlformats.org/officeDocument/2006/relationships/slide" Target="/ppt/slides/slide13.xml" Id="R51f82b52f3a24c84" /><Relationship Type="http://schemas.openxmlformats.org/officeDocument/2006/relationships/slide" Target="/ppt/slides/slide14.xml" Id="Rd2c88a4d461c425b" /><Relationship Type="http://schemas.openxmlformats.org/officeDocument/2006/relationships/slide" Target="/ppt/slides/slide15.xml" Id="R090bfc4588a44cd6" /><Relationship Type="http://schemas.openxmlformats.org/officeDocument/2006/relationships/slide" Target="/ppt/slides/slide16.xml" Id="Rd2f6170fa3e04a88" /><Relationship Type="http://schemas.openxmlformats.org/officeDocument/2006/relationships/slide" Target="/ppt/slides/slide17.xml" Id="R773708dd3fc24624" /><Relationship Type="http://schemas.openxmlformats.org/officeDocument/2006/relationships/slide" Target="/ppt/slides/slide18.xml" Id="R2582d7c3aedd4c29" /><Relationship Type="http://schemas.openxmlformats.org/officeDocument/2006/relationships/slide" Target="/ppt/slides/slide19.xml" Id="R0b0a2c6ae8464673" /><Relationship Type="http://schemas.openxmlformats.org/officeDocument/2006/relationships/slide" Target="/ppt/slides/slide20.xml" Id="R2b5bdf6de5e14dc5" /><Relationship Type="http://schemas.openxmlformats.org/officeDocument/2006/relationships/slide" Target="/ppt/slides/slide21.xml" Id="R9fdc72aaae0e44f7" /><Relationship Type="http://schemas.openxmlformats.org/officeDocument/2006/relationships/slide" Target="/ppt/slides/slide22.xml" Id="R4d31dde23a6e437d" /><Relationship Type="http://schemas.openxmlformats.org/officeDocument/2006/relationships/slide" Target="/ppt/slides/slide23.xml" Id="R92674191a26349c1" /><Relationship Type="http://schemas.openxmlformats.org/officeDocument/2006/relationships/slide" Target="/ppt/slides/slide24.xml" Id="R5356c862ee274d08" /><Relationship Type="http://schemas.openxmlformats.org/officeDocument/2006/relationships/slide" Target="/ppt/slides/slide25.xml" Id="R7cebc06f40624c31" /><Relationship Type="http://schemas.openxmlformats.org/officeDocument/2006/relationships/slide" Target="/ppt/slides/slide26.xml" Id="Rb965d74b9ed44e23" /><Relationship Type="http://schemas.openxmlformats.org/officeDocument/2006/relationships/slide" Target="/ppt/slides/slide27.xml" Id="Rebdbaf7268764afa" /><Relationship Type="http://schemas.openxmlformats.org/officeDocument/2006/relationships/slide" Target="/ppt/slides/slide28.xml" Id="R14f9546863c940ac" /><Relationship Type="http://schemas.openxmlformats.org/officeDocument/2006/relationships/slide" Target="/ppt/slides/slide29.xml" Id="R056c4806a6554e6e" /><Relationship Type="http://schemas.openxmlformats.org/officeDocument/2006/relationships/slide" Target="/ppt/slides/slide30.xml" Id="Reb082712df854112" /><Relationship Type="http://schemas.openxmlformats.org/officeDocument/2006/relationships/slide" Target="/ppt/slides/slide31.xml" Id="R20bf44074ed04572" /><Relationship Type="http://schemas.openxmlformats.org/officeDocument/2006/relationships/slide" Target="/ppt/slides/slide32.xml" Id="R335a313628314cf1" /><Relationship Type="http://schemas.openxmlformats.org/officeDocument/2006/relationships/slide" Target="/ppt/slides/slide33.xml" Id="R478c74e6b6cb4fc6" /><Relationship Type="http://schemas.openxmlformats.org/officeDocument/2006/relationships/slide" Target="/ppt/slides/slide34.xml" Id="R7d10334bb8b6473c" /><Relationship Type="http://schemas.openxmlformats.org/officeDocument/2006/relationships/slide" Target="/ppt/slides/slide35.xml" Id="R3cb90c56836b4b2b" /><Relationship Type="http://schemas.openxmlformats.org/officeDocument/2006/relationships/slide" Target="/ppt/slides/slide36.xml" Id="R0c6de3225e324c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e2d0003d7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ac720408b846de" /><Relationship Type="http://schemas.openxmlformats.org/officeDocument/2006/relationships/notesMaster" Target="/ppt/notesMasters/notesMaster1.xml" Id="Ra9a050d1972046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70c420eb3e4949" /><Relationship Type="http://schemas.openxmlformats.org/officeDocument/2006/relationships/notesMaster" Target="/ppt/notesMasters/notesMaster1.xml" Id="R3ba38b38f4024a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c723f120004a4a" /><Relationship Type="http://schemas.openxmlformats.org/officeDocument/2006/relationships/notesMaster" Target="/ppt/notesMasters/notesMaster1.xml" Id="Rac6a8bb47d9a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fef0f2e6cc4b57" /><Relationship Type="http://schemas.openxmlformats.org/officeDocument/2006/relationships/notesMaster" Target="/ppt/notesMasters/notesMaster1.xml" Id="R8d3e637c5aa449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5df6ffae6b46ba" /><Relationship Type="http://schemas.openxmlformats.org/officeDocument/2006/relationships/notesMaster" Target="/ppt/notesMasters/notesMaster1.xml" Id="Ra4f8cf293e704f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a6e625cdfd4cd6" /><Relationship Type="http://schemas.openxmlformats.org/officeDocument/2006/relationships/notesMaster" Target="/ppt/notesMasters/notesMaster1.xml" Id="R31286c75873646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7a330318884748" /><Relationship Type="http://schemas.openxmlformats.org/officeDocument/2006/relationships/notesMaster" Target="/ppt/notesMasters/notesMaster1.xml" Id="Ra5685e9d99b542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db879937cf449d" /><Relationship Type="http://schemas.openxmlformats.org/officeDocument/2006/relationships/notesMaster" Target="/ppt/notesMasters/notesMaster1.xml" Id="R06fd767d683242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c802f42bfc4109" /><Relationship Type="http://schemas.openxmlformats.org/officeDocument/2006/relationships/notesMaster" Target="/ppt/notesMasters/notesMaster1.xml" Id="R9de52ccb03d242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65764a64014897" /><Relationship Type="http://schemas.openxmlformats.org/officeDocument/2006/relationships/notesMaster" Target="/ppt/notesMasters/notesMaster1.xml" Id="R16d22c70e67949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409b4abbae473a" /><Relationship Type="http://schemas.openxmlformats.org/officeDocument/2006/relationships/notesMaster" Target="/ppt/notesMasters/notesMaster1.xml" Id="Rf84b472337b441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3f83e78c7f4878" /><Relationship Type="http://schemas.openxmlformats.org/officeDocument/2006/relationships/notesMaster" Target="/ppt/notesMasters/notesMaster1.xml" Id="R1a39ca69c09e4d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9266038e494ba2" /><Relationship Type="http://schemas.openxmlformats.org/officeDocument/2006/relationships/notesMaster" Target="/ppt/notesMasters/notesMaster1.xml" Id="R0f3d979740344d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d9a65bbc6441f0" /><Relationship Type="http://schemas.openxmlformats.org/officeDocument/2006/relationships/notesMaster" Target="/ppt/notesMasters/notesMaster1.xml" Id="Rf6ac649fcb4d44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42d9f2ad0448b8" /><Relationship Type="http://schemas.openxmlformats.org/officeDocument/2006/relationships/notesMaster" Target="/ppt/notesMasters/notesMaster1.xml" Id="R60b421a0b60d40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d03d14670b4638" /><Relationship Type="http://schemas.openxmlformats.org/officeDocument/2006/relationships/notesMaster" Target="/ppt/notesMasters/notesMaster1.xml" Id="R9e95eac6a31b45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c111d120cb1407d" /><Relationship Type="http://schemas.openxmlformats.org/officeDocument/2006/relationships/notesMaster" Target="/ppt/notesMasters/notesMaster1.xml" Id="R11cad864b5db41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95b9fa9ec6446f" /><Relationship Type="http://schemas.openxmlformats.org/officeDocument/2006/relationships/notesMaster" Target="/ppt/notesMasters/notesMaster1.xml" Id="R86353fc0503c49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c237950da2429d" /><Relationship Type="http://schemas.openxmlformats.org/officeDocument/2006/relationships/notesMaster" Target="/ppt/notesMasters/notesMaster1.xml" Id="R3adc545eede74cd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3e08766774549cf" /><Relationship Type="http://schemas.openxmlformats.org/officeDocument/2006/relationships/notesMaster" Target="/ppt/notesMasters/notesMaster1.xml" Id="R109fbf4aa6f945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4dc48c8bbdb4f8e" /><Relationship Type="http://schemas.openxmlformats.org/officeDocument/2006/relationships/notesMaster" Target="/ppt/notesMasters/notesMaster1.xml" Id="R50a70dbf293e42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3d202e1933c4009" /><Relationship Type="http://schemas.openxmlformats.org/officeDocument/2006/relationships/notesMaster" Target="/ppt/notesMasters/notesMaster1.xml" Id="R2b2dc5f5c46f49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06eef81b684bff" /><Relationship Type="http://schemas.openxmlformats.org/officeDocument/2006/relationships/notesMaster" Target="/ppt/notesMasters/notesMaster1.xml" Id="R1d414a10400349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8a8bd6cb414a9f" /><Relationship Type="http://schemas.openxmlformats.org/officeDocument/2006/relationships/notesMaster" Target="/ppt/notesMasters/notesMaster1.xml" Id="R3eff15fae03842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56bbbe2db344e8" /><Relationship Type="http://schemas.openxmlformats.org/officeDocument/2006/relationships/notesMaster" Target="/ppt/notesMasters/notesMaster1.xml" Id="R313633e75eab43b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7db607790048ff" /><Relationship Type="http://schemas.openxmlformats.org/officeDocument/2006/relationships/notesMaster" Target="/ppt/notesMasters/notesMaster1.xml" Id="R776e8d5636d445e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0a54ca4d8a4e26" /><Relationship Type="http://schemas.openxmlformats.org/officeDocument/2006/relationships/notesMaster" Target="/ppt/notesMasters/notesMaster1.xml" Id="R5e1d66257db04c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301307a5824f32" /><Relationship Type="http://schemas.openxmlformats.org/officeDocument/2006/relationships/notesMaster" Target="/ppt/notesMasters/notesMaster1.xml" Id="R15afebfe8550495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5c9c573a1347cf" /><Relationship Type="http://schemas.openxmlformats.org/officeDocument/2006/relationships/notesMaster" Target="/ppt/notesMasters/notesMaster1.xml" Id="R58d4d5f83d8340a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949f730f8ff42cd" /><Relationship Type="http://schemas.openxmlformats.org/officeDocument/2006/relationships/notesMaster" Target="/ppt/notesMasters/notesMaster1.xml" Id="R85cc36b5ed944aa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895dabf91e74c63" /><Relationship Type="http://schemas.openxmlformats.org/officeDocument/2006/relationships/notesMaster" Target="/ppt/notesMasters/notesMaster1.xml" Id="R5423bd4e1228497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54d8845c5884809" /><Relationship Type="http://schemas.openxmlformats.org/officeDocument/2006/relationships/notesMaster" Target="/ppt/notesMasters/notesMaster1.xml" Id="R441d4832c1724d5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b9797b382e44359" /><Relationship Type="http://schemas.openxmlformats.org/officeDocument/2006/relationships/notesMaster" Target="/ppt/notesMasters/notesMaster1.xml" Id="R4dfa6434bc9d423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d2b23dcd63947cb" /><Relationship Type="http://schemas.openxmlformats.org/officeDocument/2006/relationships/notesMaster" Target="/ppt/notesMasters/notesMaster1.xml" Id="Rcb2abd20670b4f2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9c1edaa1c7a4671" /><Relationship Type="http://schemas.openxmlformats.org/officeDocument/2006/relationships/notesMaster" Target="/ppt/notesMasters/notesMaster1.xml" Id="R233caf3016e9438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c2f2682e31e4296" /><Relationship Type="http://schemas.openxmlformats.org/officeDocument/2006/relationships/notesMaster" Target="/ppt/notesMasters/notesMaster1.xml" Id="Re3af46ba5c8542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 分钟。适用对象为云平台、网络、安全和应用运维人员。前置知识为 IPv4、CIDR、TCP/UDP 和常用端口。课程按 90 分钟编排。教学地址和业务均为虚构，命名、审批、复核、回滚门槛为培训建议，企业采用前需纳入内部制度。本版使用统一的海军蓝、钴蓝、冰蓝与白色视觉体系。封面与图解均为扁平二维示意，图标、路径、边框和字重按同一基准重绘。本次视觉更新采用克莱因蓝渐变与轻量毛玻璃材质。图解保留二维蓝色图标，文字和表格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分钟。说明课堂以审核与桌面演练为主，不要求现场修改生产环境。分组时建议每组至少包括一名网络或平台成员与一名应用运维成员。讲师可以使用测试租户演示第 20 页流程，但不占用案例讨论时间。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分钟。让学员用一分钟画出自己理解的流量路径，并口头说明“访问成功”是否足以证明 CFW 生效。预期答案是否定的。强调数据库为自建 ECS 服务，不套用到所有托管数据库的网络路径。后续练习均基于此假设，不包含容器网络、代理或 NAT，除非题目特别说明。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分钟。先让学员说出每个对象回答的问题。产品层面的 VPC、子网、路由和安全组职责来自华为云文档。右列为建议的内部规范。不同 VPC 默认隔离，同一 VPC 不同子网默认具备互通的网络基础，访问仍受安全策略影响。不要把子网划分等同于完成安全隔离。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分钟。以上网段仅为演示，不应直接复制到企业地址池。检查所有将互联的 VPC、IDC、VPN 客户端网段和容器地址池。华为云建议使用 RFC 1918 私有地址并避免互通网络之间的冲突。/24 理论地址数与可分配 IP 数不同，要扣除平台保留地址，不应按 256 个业务 IP 规划。主网段与子网变更有约束，扩展网段能力需结合实际产品条件判断。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分钟。用应用子网访问数据子网举例，询问安全边界在哪里。职责说明来自华为云 VPC 访问控制概述。实际是否经过 CFW 取决于支持的部署方式与路径。课堂不把网络 ACL 的状态机制或规则顺序套用其他厂商，应按当前华为云对象的实际文档核对。安全组内互信、多安全组叠加和既有宽泛规则都应一并审核。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分钟。让学员区分“路由对象存在”和“业务流量命中该路由”。先检查关联，再看目的网段与下一跳。华为云对部分包含 EIP、ELB、NAT 网关等场景明确提醒，VPC 表中使用指向 ER 的 0.0.0.0/0 可能无法覆盖预期流量，因此演示使用明确对端网段。不要将 ER 内部关联表的默认引流路由与 VPC 侧默认路由限制混为一谈。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分钟。左列均为培训建议，不代表用户当前架构。重点讲实际源地址：经 WAF、CDN 或代理时，CFW 看到的地址可能与终端用户不同。公网禁开管理端口可以写入建议基线，但紧急访问需要受控例外，不能把直接公网管理当常态。按实际场景核对 IPv4 与 IPv6，不能只检查一个地址族。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企业上云安全建设指南</a:t>
            </a:r>
          </a:p>
          <a:p xmlns:a="http://schemas.openxmlformats.org/drawingml/2006/main">
            <a:r>
              <a:t>https://www.huaweicloud.com/securecenter/compliance/compliance-center/on-cloud/guidance.html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分钟。用三个问题结束 VPC 章节：谁管理这个网段？这条流量为什么走这个下一跳？业务需要哪条访问？提醒 VPC 和子网分区并不会自动落实端口隔离，需对应安全组、ACL 或已接入的 CFW 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分钟。互联网与 NAT 边界不能简单套用相同源地址。VPC 边界文档当前明确仅专业版支持，并依赖 ER 引流。不要暗示同 VPC 所有流量自动受边界防火墙保护。需要跨账号或混合云时，应额外核对连接类型、共享与路由支持条件。本课程主要以 VPC 边界为例。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互联网边界防护规则</a:t>
            </a:r>
          </a:p>
          <a:p xmlns:a="http://schemas.openxmlformats.org/drawingml/2006/main">
            <a:r>
              <a:t>https://support.huaweicloud.com/intl/zh-cn/usermanual-cfw/cfw_01_0271.html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分钟。依据华为云新版 ER 引流官方文档重绘逻辑关系，图示样式与全课统一，非原始控制台截图。er-RT1 接收来自业务 VPC 的流量并将其送入 CFW。er-RT2 关联 CFW 连接并学习业务 VPC 路由，将检查后的流量转发到目标 VPC。业务请求与响应均需按设计经过检查。图中原有占位 IP 不代表生产配置。来源：https://support.huaweicloud.com/usermanual-cfw/cfw_01_0269.html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分钟。接入完成不代表默认拒绝已落地。收敛前先梳理 DNS、时间同步、监控、备份、证书与软件仓库等依赖。不要在未知依赖时直接启用全量阻断。接入前已有阻断规则也可能立即影响新接入 VPC。保留变更窗口并准备原路由与配置恢复方案。</a:t>
            </a:r>
          </a:p>
          <a:p xmlns:a="http://schemas.openxmlformats.org/drawingml/2006/main">
            <a:r>
              <a:t>讲师追加提问：如果新加第三个 VPC，只添加连接是否足够？应检查它在实际部署模式中的关联、传播、VPC 路由及规则覆盖。不可机械复用别的区域的默认配置。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分钟。示例源端口为 Any 是因为客户端通常使用动态源端口，不能把数据库的 3306 同时填入源端口。源、目的、服务、动作和优先级为产品配置相关字段。Owner、工单、有效期和回滚为建议的管理字段，可写入描述、标签或外部台账。时间计划不等同于完整的规则生命周期管理。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分钟。地址及端口只是教学样例。放行数据库时，核对应用安全组出方向与数据安全组入方向，也要看历史规则、网络 ACL、主机防火墙和服务监听。兜底阻断的作用域应与审批边界一致，避免跨业务复用过宽地址组。上课时让学员指出谁可以发起新会话，谁只响应连接。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分钟。外层功能顺序与 ACL 内的优先级是两个层次。华为云文档给出的功能优先顺序是流量封堵、白名单、黑名单、防护策略 ACL。ACL 中条件具体的规则通常应在宽泛规则之前。白名单直接放行并跳过后续检测，所以不能用它替代所有正常业务的 ACL 放行。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分钟。先给学员 20 秒判断 SSH 会命中哪条。答案是第 1 条。将第 2 条挪到前面只能解决 SSH 这一项，仍保留了过宽授权，较好的修复是用批准的最小权限业务规则替换第 1 条。不能仅凭规则有命中就认定整个规则集合理。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分钟。防火墙出方向策略需要结合实际出口类型配置。CFW 看到的源地址受 NAT 和代理影响，应以观测结果为准。固定域名也可能使用 CDN 或动态解析，地址组维护需要业务负责人参与。不得用整片云厂商地址范围长期替代精确业务依赖。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分钟。华为云支持不同域名匹配方式，应用型可依据 Host 或 SNI 等字段，网络型依赖域名解析到的地址。不能把一个匹配方式的适用条件套到全部协议。加密与协议变化也需要结合当前产品能力确认。本页强调验证，不承诺所有加密流量都能按域名精确识别。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NAT 网关边界防护规则</a:t>
            </a:r>
          </a:p>
          <a:p xmlns:a="http://schemas.openxmlformats.org/drawingml/2006/main">
            <a:r>
              <a:t>https://support.huaweicloud.com/usermanual-cfw/cfw_01_0298.html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观察模式记录事件而不执行同等拦截，不能长期当作生产防护完成的证据。误报处理优先定位具体命中规则，评估最小范围例外并跟踪恢复，不建议为单一业务问题长期关闭整体防护。白名单审批与到期复核是培训建议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分钟。此处为讲师演示脚本。先展示防护对象，再展示规则，不直接从“添加规则”开始。VPC 规则处于启用状态时确认后可立即生效，因此大范围变更可先建立停用规则并双人复核。最后演示用源目的和时间检索日志。控制台菜单会随版本更新，旧版可能省略“防护策略”层。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分钟。总结 CFW 章节并转入操作治理。清理规则前确认批任务、月结、故障切换和备份等低频业务，不能只按短时间无命中自动删除。命中次数也不是业务必要性的唯一证据。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分钟。本页为建议岗位分工，并非用户既有制度。小团队可以一人承担多个角色，但高影响范围与宽泛放行应由另一个人复核。业务 Owner 对需求负责，不能将“安全组由别人管理”当作免除业务回归责任的理由。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分钟。回滚门槛应由业务与变更负责人在发布前填写具体数字或明确结果，课程不替企业设定统一阈值。规则回滚可恢复上一版本或停用本次新增规则，路由回滚应恢复已记录的前态。大范围关闭 CFW 会改变检查覆盖，必须记录风险、持续时间与恢复责任人。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3 分钟。强调拒绝证据不能只看连接超时，还要排除服务未监听等原因。新连接更便于判断新策略命中，既有会话行为不能一概而论。记录测试源、目的、协议、目的端口、时间和时区。仅在测试环境验证回滚，不为教学故意破坏生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分钟。图示为依据华为云访问控制日志字段绘制的教学界面，已统一蓝色 UI 样式，非真实控制台截图或生产日志。示例展示相同应用来源访问数据库 TCP 3306 放行，以及访问 TCP 22 阻断。讲师依次解释实例与边界、源与目的、协议与端口、动作和命中规则。访问控制日志与攻击事件日志回答不同问题。流量日志存在会话结束上报等机制，暂时查不到记录时先核对筛选、上报和路径。来源：https://support.huaweicloud.com/usermanual-cfw/cfw_01_0139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5 分钟。给学员一个 TCP 连接超时，要求按证据推进，不允许先新增 Any 放行。源端抓包或连接日志能证明请求是否发出，目标端能证明是否收到。路由、策略和应用排查可能交替进行，本页是最小调查顺序。无法定位时保留时间窗口、配置与日志交厂商支持。应急修改需进入上一页的变更和回滚流程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分钟。要求每组写出故障层、具体错误、修改范围、应通与应拒绝用例。不要在讨论时直接展示下一页答案。教学日志和配置均为虚构。预期学员不应因 CFW 放行而断言端到端可达。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分钟。根因是数据主机安全组允许来源与应用实际来源不一致。不要将数据主机安全组扩大为 10.0.0.0/8 或所有来源。源端出方向和其他层在题目假设中正常，实际场景仍需核验。评分建议共 10 分，根因 3 分、最小变更 3 分、正反测试各 2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3 分钟。让学员比较“把 SSH 阻断置顶”与“替换过宽放行”的差别。题目已提供新连接命中证据，不需要猜测存量会话。要求答案同时描述业务端口是否仍可用。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3 分钟。解释 ACL 命中后停止继续匹配，所以不能认为靠后的拒绝天然覆盖前面的允许。先获得必要业务依赖，再替换宽泛规则。评分建议共 10 分，顺序解释 3 分、收敛规则 4 分、验证 3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本题讨论 4 分钟。题目已排除单纯日志延迟。不要仅删除对等连接，也不要直接替换整个 VPC 默认路由。要求说明受影响业务清单、去回程、ER 表关联和回滚方案。真实环境应先分析匹配到哪条路由，不能只根据资源列表判断。</a:t>
            </a:r>
          </a:p>
          <a:p xmlns:a="http://schemas.openxmlformats.org/drawingml/2006/main">
            <a:r>
              <a:t>本页图为 AI 生成的现代扁平逻辑教学示意，非真实控制台或生产环境。图中关系配合右侧配置要点解释，产品限制以对应来源为准。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本页讲评 4 分钟。这是覆盖问题，不是简单放行问题。规则正确但路径绕过检查时，策略无法发挥作用。避免盲目删除承载其他业务的对等连接，只处理本次批准范围并评估路由优先级。评分建议共 10 分，根因 2 分、路径与回滚 4 分、验证覆盖 4 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2 分钟。让学员逐条举手或在聊天区回答。每题 2 分，建议 8 分达标。答案为否、否、否、否、是。不要单靠分数，关注学员能否说明第 2 与第 4 题的原因。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分钟。快速纠正常见误解。建议课后把答错的问题与团队当前规则对应复盘，不要求学员记忆控制台菜单位置。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 1 分钟。这是可以转成内部检查表的建议内容。不要把课件里的周期安排、日志期限或例外权限当成已经生效的公司制度。团队需明确责任人后正式采用。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课后参考资料。所有链接指向华为云官方公开文档，产品规格、限制与菜单以实际区域和版本为准。ER 图依据官方关系重绘，日志图依据官方字段绘制并使用虚构教学数据，均不代表真实控制台或用户环境。其余图解保留教学内容，以统一蓝色 UI 基准重绘。全课以克莱因蓝 #002FA7、深蓝 #001B69、亮蓝 #174DD6、冰蓝与白色组成视觉体系。封面和母版使用克莱因蓝渐变及磨砂玻璃面板，表格使用半透明填色。二维图标和网络路径保持清晰，实线、虚线、× 和文字共同表达含义。图示及背景使用内置 imagegen，提示与资产保存在 /Users/R/W/codex-images/assets/vpc-cfw-blue。文字与规则表可编辑，插图和玻璃背景以图片嵌入。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VPC 网络规划建议</a:t>
            </a:r>
          </a:p>
          <a:p xmlns:a="http://schemas.openxmlformats.org/drawingml/2006/main">
            <a:r>
              <a:t>https://support.huaweicloud.com/usermanual-vpc/vpc_0001.html</a:t>
            </a:r>
          </a:p>
          <a:p xmlns:a="http://schemas.openxmlformats.org/drawingml/2006/main">
            <a:r>
              <a:t>VPC 网络规划与隔离</a:t>
            </a:r>
          </a:p>
          <a:p xmlns:a="http://schemas.openxmlformats.org/drawingml/2006/main">
            <a:r>
              <a:t>https://support.huaweicloud.com/intl/zh-cn/helppanel-vpc/vpc_help_0002.html</a:t>
            </a:r>
          </a:p>
          <a:p xmlns:a="http://schemas.openxmlformats.org/drawingml/2006/main">
            <a:r>
              <a:t>VPC 访问控制概述</a:t>
            </a:r>
          </a:p>
          <a:p xmlns:a="http://schemas.openxmlformats.org/drawingml/2006/main">
            <a:r>
              <a:t>https://support.huaweicloud.com/intl/zh-cn/usermanual-vpc/zh-cn_topic_0052003963.html</a:t>
            </a:r>
          </a:p>
          <a:p xmlns:a="http://schemas.openxmlformats.org/drawingml/2006/main">
            <a:r>
              <a:t>VPC 边界防火墙概述</a:t>
            </a:r>
          </a:p>
          <a:p xmlns:a="http://schemas.openxmlformats.org/drawingml/2006/main">
            <a:r>
              <a:t>https://support.huaweicloud.com/usermanual-cfw/cfw_01_0185.html</a:t>
            </a:r>
          </a:p>
          <a:p xmlns:a="http://schemas.openxmlformats.org/drawingml/2006/main">
            <a:r>
              <a:t>ER 引流配置（新版）</a:t>
            </a:r>
          </a:p>
          <a:p xmlns:a="http://schemas.openxmlformats.org/drawingml/2006/main">
            <a:r>
              <a:t>https://support.huaweicloud.com/usermanual-cfw/cfw_01_0269.html</a:t>
            </a:r>
          </a:p>
          <a:p xmlns:a="http://schemas.openxmlformats.org/drawingml/2006/main">
            <a:r>
              <a:t>开启防护与流量验证</a:t>
            </a:r>
          </a:p>
          <a:p xmlns:a="http://schemas.openxmlformats.org/drawingml/2006/main">
            <a:r>
              <a:t>https://support.huaweicloud.com/usermanual-cfw/cfw_01_0133.html</a:t>
            </a:r>
          </a:p>
          <a:p xmlns:a="http://schemas.openxmlformats.org/drawingml/2006/main">
            <a:r>
              <a:t>VPC 边界防护规则</a:t>
            </a:r>
          </a:p>
          <a:p xmlns:a="http://schemas.openxmlformats.org/drawingml/2006/main">
            <a:r>
              <a:t>https://support.huaweicloud.com/intl/zh-cn/usermanual-cfw/cfw_01_0297.html</a:t>
            </a:r>
          </a:p>
          <a:p xmlns:a="http://schemas.openxmlformats.org/drawingml/2006/main">
            <a:r>
              <a:t>访问控制策略概述</a:t>
            </a:r>
          </a:p>
          <a:p xmlns:a="http://schemas.openxmlformats.org/drawingml/2006/main">
            <a:r>
              <a:t>https://support.huaweicloud.com/intl/zh-cn/usermanual-cfw/cfw_01_0262.html</a:t>
            </a:r>
          </a:p>
          <a:p xmlns:a="http://schemas.openxmlformats.org/drawingml/2006/main">
            <a:r>
              <a:t>日志查询</a:t>
            </a:r>
          </a:p>
          <a:p xmlns:a="http://schemas.openxmlformats.org/drawingml/2006/main">
            <a:r>
              <a:t>https://support.huaweicloud.com/usermanual-cfw/cfw_01_0139.html</a:t>
            </a:r>
          </a:p>
          <a:p xmlns:a="http://schemas.openxmlformats.org/drawingml/2006/main">
            <a:r>
              <a:t>流量统计与会话上报</a:t>
            </a:r>
          </a:p>
          <a:p xmlns:a="http://schemas.openxmlformats.org/drawingml/2006/main">
            <a:r>
              <a:t>https://support.huaweicloud.com/cfw_faq/cfw_01_0027.html</a:t>
            </a:r>
          </a:p>
          <a:p xmlns:a="http://schemas.openxmlformats.org/drawingml/2006/main">
            <a:r>
              <a:t>配置防护策略后业务无法访问</a:t>
            </a:r>
          </a:p>
          <a:p xmlns:a="http://schemas.openxmlformats.org/drawingml/2006/main">
            <a:r>
              <a:t>https://support.huaweicloud.com/intl/zh-cn/ally-visitor-1-usermanual-cfw/cfw_01_0248.html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7e1160f2d4f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ad44574e148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471796c4c4e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4f362b99446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2b63ac9524f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2e9f5621e49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F7C5CD-9D92-42A3-86CB-7ED11DD524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3DE2A0-B9C5-433E-ABFC-2A77103BCB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2D7096-67B0-4CFC-BEE0-11DB598E9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BDE75E-147A-44DC-8F58-BC8F87D9AB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307525-02E7-4B7A-8C42-C0B18B91CD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ECB6BC-41F3-4C27-8FD8-4F7CE9604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F9C1FE-2CF2-4E9E-AA6F-906D60ABE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5732F2-0B22-4758-B76F-D95CEAD0CF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DD5A9D-DF89-4844-BFEA-7BB948BC1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073CB0-97AA-49A3-A028-E4D4743CD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93d45281d4470" /><Relationship Type="http://schemas.openxmlformats.org/officeDocument/2006/relationships/slideLayout" Target="/ppt/slideLayouts/slideLayout1.xml" Id="Ra8288d2b76264a61" /><Relationship Type="http://schemas.openxmlformats.org/officeDocument/2006/relationships/slideLayout" Target="/ppt/slideLayouts/slideLayout2.xml" Id="R70054cb8164a4feb" /><Relationship Type="http://schemas.openxmlformats.org/officeDocument/2006/relationships/slideLayout" Target="/ppt/slideLayouts/slideLayout3.xml" Id="R0489366bcf374fa0" /><Relationship Type="http://schemas.openxmlformats.org/officeDocument/2006/relationships/slideLayout" Target="/ppt/slideLayouts/slideLayout4.xml" Id="R5042fc755c6c4906" /><Relationship Type="http://schemas.openxmlformats.org/officeDocument/2006/relationships/slideLayout" Target="/ppt/slideLayouts/slideLayout5.xml" Id="R15a4144d7abc4115" /><Relationship Type="http://schemas.openxmlformats.org/officeDocument/2006/relationships/slideLayout" Target="/ppt/slideLayouts/slideLayout6.xml" Id="R4a6f16a3c0ae49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288d2b76264a61"/>
    <p:sldLayoutId xmlns:r="http://schemas.openxmlformats.org/officeDocument/2006/relationships" id="2147483650" r:id="R70054cb8164a4feb"/>
    <p:sldLayoutId xmlns:r="http://schemas.openxmlformats.org/officeDocument/2006/relationships" id="2147483651" r:id="R0489366bcf374fa0"/>
    <p:sldLayoutId xmlns:r="http://schemas.openxmlformats.org/officeDocument/2006/relationships" id="2147483652" r:id="R5042fc755c6c4906"/>
    <p:sldLayoutId xmlns:r="http://schemas.openxmlformats.org/officeDocument/2006/relationships" id="2147483653" r:id="R15a4144d7abc4115"/>
    <p:sldLayoutId xmlns:r="http://schemas.openxmlformats.org/officeDocument/2006/relationships" id="2147483654" r:id="R4a6f16a3c0ae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0b7549e3424e85" /><Relationship Type="http://schemas.openxmlformats.org/officeDocument/2006/relationships/image" Target="/ppt/media/image.png" Id="Rf839e7b5ec85408c" /><Relationship Type="http://schemas.openxmlformats.org/officeDocument/2006/relationships/notesSlide" Target="/ppt/notesSlides/notesSlide1.xml" Id="R9aecc6ae990c4b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de60895724a08" /><Relationship Type="http://schemas.openxmlformats.org/officeDocument/2006/relationships/image" Target="/ppt/media/image2.png" Id="Rc169574629b34b1f" /><Relationship Type="http://schemas.openxmlformats.org/officeDocument/2006/relationships/notesSlide" Target="/ppt/notesSlides/notesSlide2.xml" Id="R63399261876a44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5498870fb43fd" /><Relationship Type="http://schemas.openxmlformats.org/officeDocument/2006/relationships/image" Target="/ppt/media/image3.png" Id="Rea935b37cae343de" /><Relationship Type="http://schemas.openxmlformats.org/officeDocument/2006/relationships/image" Target="/ppt/media/image4.png" Id="R22e042c05eeb4e54" /><Relationship Type="http://schemas.openxmlformats.org/officeDocument/2006/relationships/notesSlide" Target="/ppt/notesSlides/notesSlide3.xml" Id="R5c6df1a2ca59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212b06fd14467" /><Relationship Type="http://schemas.openxmlformats.org/officeDocument/2006/relationships/image" Target="/ppt/media/image5.png" Id="R96c813c0417848ef" /><Relationship Type="http://schemas.openxmlformats.org/officeDocument/2006/relationships/image" Target="/ppt/media/image6.png" Id="Rf60c12cd32ca4275" /><Relationship Type="http://schemas.openxmlformats.org/officeDocument/2006/relationships/notesSlide" Target="/ppt/notesSlides/notesSlide4.xml" Id="Re598c6df0edf4f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c1b82b9a94e66" /><Relationship Type="http://schemas.openxmlformats.org/officeDocument/2006/relationships/image" Target="/ppt/media/image7.png" Id="R2becf0ede89546d6" /><Relationship Type="http://schemas.openxmlformats.org/officeDocument/2006/relationships/notesSlide" Target="/ppt/notesSlides/notesSlide5.xml" Id="R31832e80f4bd47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8f70c263834dd4" /><Relationship Type="http://schemas.openxmlformats.org/officeDocument/2006/relationships/image" Target="/ppt/media/image8.png" Id="R29404d901c4a49ea" /><Relationship Type="http://schemas.openxmlformats.org/officeDocument/2006/relationships/image" Target="/ppt/media/image9.png" Id="Rdc297c2ede374fcd" /><Relationship Type="http://schemas.openxmlformats.org/officeDocument/2006/relationships/notesSlide" Target="/ppt/notesSlides/notesSlide6.xml" Id="R3e8984b98028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99fca5aa04d1a" /><Relationship Type="http://schemas.openxmlformats.org/officeDocument/2006/relationships/image" Target="/ppt/media/image10.png" Id="R2c3e6bb818b44fd9" /><Relationship Type="http://schemas.openxmlformats.org/officeDocument/2006/relationships/notesSlide" Target="/ppt/notesSlides/notesSlide7.xml" Id="R4229d9ca57c842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317b6a8814d47" /><Relationship Type="http://schemas.openxmlformats.org/officeDocument/2006/relationships/image" Target="/ppt/media/image11.png" Id="R8657d90e40eb416b" /><Relationship Type="http://schemas.openxmlformats.org/officeDocument/2006/relationships/image" Target="/ppt/media/image12.png" Id="Rf15e4bb8b6c34d39" /><Relationship Type="http://schemas.openxmlformats.org/officeDocument/2006/relationships/notesSlide" Target="/ppt/notesSlides/notesSlide8.xml" Id="R489909193dd349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5942dd4e342c7" /><Relationship Type="http://schemas.openxmlformats.org/officeDocument/2006/relationships/image" Target="/ppt/media/image13.png" Id="Reebe439015ba4cd9" /><Relationship Type="http://schemas.openxmlformats.org/officeDocument/2006/relationships/notesSlide" Target="/ppt/notesSlides/notesSlide9.xml" Id="Rac60420cfcdb4d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2d72f078f4249" /><Relationship Type="http://schemas.openxmlformats.org/officeDocument/2006/relationships/image" Target="/ppt/media/image14.png" Id="Rec113f45bda14175" /><Relationship Type="http://schemas.openxmlformats.org/officeDocument/2006/relationships/image" Target="/ppt/media/image15.png" Id="R97f7831be0524dcd" /><Relationship Type="http://schemas.openxmlformats.org/officeDocument/2006/relationships/notesSlide" Target="/ppt/notesSlides/notesSlide10.xml" Id="R1f91789a77af4f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a2b3664ad4ba5" /><Relationship Type="http://schemas.openxmlformats.org/officeDocument/2006/relationships/image" Target="/ppt/media/image16.png" Id="R5ab41efe2acc4f9f" /><Relationship Type="http://schemas.openxmlformats.org/officeDocument/2006/relationships/image" Target="/ppt/media/image17.png" Id="R8fc69033987d43fe" /><Relationship Type="http://schemas.openxmlformats.org/officeDocument/2006/relationships/notesSlide" Target="/ppt/notesSlides/notesSlide11.xml" Id="R50ac75afb3f04a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d09273b861436f" /><Relationship Type="http://schemas.openxmlformats.org/officeDocument/2006/relationships/image" Target="/ppt/media/image18.png" Id="R3addd61fd3104903" /><Relationship Type="http://schemas.openxmlformats.org/officeDocument/2006/relationships/notesSlide" Target="/ppt/notesSlides/notesSlide12.xml" Id="R00097620859d4a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017f2a38447f4" /><Relationship Type="http://schemas.openxmlformats.org/officeDocument/2006/relationships/image" Target="/ppt/media/image19.png" Id="Rf3063755ce164205" /><Relationship Type="http://schemas.openxmlformats.org/officeDocument/2006/relationships/notesSlide" Target="/ppt/notesSlides/notesSlide13.xml" Id="R64e2b53b952d45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2dc8ddf5345d1" /><Relationship Type="http://schemas.openxmlformats.org/officeDocument/2006/relationships/image" Target="/ppt/media/image20.png" Id="Rc35be8cd51cd4f20" /><Relationship Type="http://schemas.openxmlformats.org/officeDocument/2006/relationships/notesSlide" Target="/ppt/notesSlides/notesSlide14.xml" Id="R78b94baf94c349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361a9ca864770" /><Relationship Type="http://schemas.openxmlformats.org/officeDocument/2006/relationships/image" Target="/ppt/media/image21.png" Id="R3fb3487f45174e2a" /><Relationship Type="http://schemas.openxmlformats.org/officeDocument/2006/relationships/image" Target="/ppt/media/image22.png" Id="R220e76d42f1f4948" /><Relationship Type="http://schemas.openxmlformats.org/officeDocument/2006/relationships/notesSlide" Target="/ppt/notesSlides/notesSlide15.xml" Id="R3c1abf0ebc2444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740704deb4afd" /><Relationship Type="http://schemas.openxmlformats.org/officeDocument/2006/relationships/image" Target="/ppt/media/image23.png" Id="Rc7cdd1237cf04eff" /><Relationship Type="http://schemas.openxmlformats.org/officeDocument/2006/relationships/notesSlide" Target="/ppt/notesSlides/notesSlide16.xml" Id="R7ab8ff2c65be43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417cfedaf408f" /><Relationship Type="http://schemas.openxmlformats.org/officeDocument/2006/relationships/image" Target="/ppt/media/image24.png" Id="Raffd6d67d8414807" /><Relationship Type="http://schemas.openxmlformats.org/officeDocument/2006/relationships/notesSlide" Target="/ppt/notesSlides/notesSlide17.xml" Id="R104adcb0f18e4b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db76c5f9c4e96" /><Relationship Type="http://schemas.openxmlformats.org/officeDocument/2006/relationships/image" Target="/ppt/media/image25.png" Id="R4c0c979a5f3b491f" /><Relationship Type="http://schemas.openxmlformats.org/officeDocument/2006/relationships/image" Target="/ppt/media/image26.png" Id="R8d568435f31c4d10" /><Relationship Type="http://schemas.openxmlformats.org/officeDocument/2006/relationships/notesSlide" Target="/ppt/notesSlides/notesSlide18.xml" Id="R703e8aef473a46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343ad1b4241ea" /><Relationship Type="http://schemas.openxmlformats.org/officeDocument/2006/relationships/image" Target="/ppt/media/image27.png" Id="R01ab28c3803242c0" /><Relationship Type="http://schemas.openxmlformats.org/officeDocument/2006/relationships/image" Target="/ppt/media/image28.png" Id="R7f9c434f8544442b" /><Relationship Type="http://schemas.openxmlformats.org/officeDocument/2006/relationships/notesSlide" Target="/ppt/notesSlides/notesSlide19.xml" Id="R6c41c9d3ee0d4e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44af84c9148b9" /><Relationship Type="http://schemas.openxmlformats.org/officeDocument/2006/relationships/image" Target="/ppt/media/image29.png" Id="R68bd3b0b5f81434c" /><Relationship Type="http://schemas.openxmlformats.org/officeDocument/2006/relationships/notesSlide" Target="/ppt/notesSlides/notesSlide20.xml" Id="R3fd12ff1c0b645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2035856f24df2" /><Relationship Type="http://schemas.openxmlformats.org/officeDocument/2006/relationships/image" Target="/ppt/media/image30.png" Id="R1e179a96b3814865" /><Relationship Type="http://schemas.openxmlformats.org/officeDocument/2006/relationships/notesSlide" Target="/ppt/notesSlides/notesSlide21.xml" Id="R79697f11c441446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ece570dc24616" /><Relationship Type="http://schemas.openxmlformats.org/officeDocument/2006/relationships/image" Target="/ppt/media/image31.png" Id="R0868aea03cf24ede" /><Relationship Type="http://schemas.openxmlformats.org/officeDocument/2006/relationships/notesSlide" Target="/ppt/notesSlides/notesSlide22.xml" Id="Ra2551ce42df443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3631b14104d25" /><Relationship Type="http://schemas.openxmlformats.org/officeDocument/2006/relationships/image" Target="/ppt/media/image32.png" Id="Rf15136e3207d4b2c" /><Relationship Type="http://schemas.openxmlformats.org/officeDocument/2006/relationships/image" Target="/ppt/media/image33.png" Id="Rfb7a7688822b4d0f" /><Relationship Type="http://schemas.openxmlformats.org/officeDocument/2006/relationships/notesSlide" Target="/ppt/notesSlides/notesSlide23.xml" Id="R36c8840485b14cb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e031bdb864291" /><Relationship Type="http://schemas.openxmlformats.org/officeDocument/2006/relationships/image" Target="/ppt/media/image34.png" Id="R9512fc303aa64c0a" /><Relationship Type="http://schemas.openxmlformats.org/officeDocument/2006/relationships/notesSlide" Target="/ppt/notesSlides/notesSlide24.xml" Id="R6bf4818b32e0476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fdc35d0e84cc9" /><Relationship Type="http://schemas.openxmlformats.org/officeDocument/2006/relationships/image" Target="/ppt/media/image35.png" Id="Rcdc2c9d682034422" /><Relationship Type="http://schemas.openxmlformats.org/officeDocument/2006/relationships/image" Target="/ppt/media/image36.png" Id="Rfeba5d9d59fd4684" /><Relationship Type="http://schemas.openxmlformats.org/officeDocument/2006/relationships/notesSlide" Target="/ppt/notesSlides/notesSlide25.xml" Id="R884a852fcd314e7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9b5b68f2c420a" /><Relationship Type="http://schemas.openxmlformats.org/officeDocument/2006/relationships/image" Target="/ppt/media/image37.png" Id="R710cc80fcb254eb2" /><Relationship Type="http://schemas.openxmlformats.org/officeDocument/2006/relationships/image" Target="/ppt/media/image38.png" Id="R6f354873b8f941d2" /><Relationship Type="http://schemas.openxmlformats.org/officeDocument/2006/relationships/notesSlide" Target="/ppt/notesSlides/notesSlide26.xml" Id="Rbb7c848cd3ae47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25c6ec5404acf" /><Relationship Type="http://schemas.openxmlformats.org/officeDocument/2006/relationships/image" Target="/ppt/media/image39.png" Id="R90fdfd81f5bc4f4d" /><Relationship Type="http://schemas.openxmlformats.org/officeDocument/2006/relationships/image" Target="/ppt/media/image40.png" Id="Rfc6797c72bce484f" /><Relationship Type="http://schemas.openxmlformats.org/officeDocument/2006/relationships/notesSlide" Target="/ppt/notesSlides/notesSlide27.xml" Id="R91af1c7173c54de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77f12901e4d4d" /><Relationship Type="http://schemas.openxmlformats.org/officeDocument/2006/relationships/image" Target="/ppt/media/image41.png" Id="Rbd233c6e621344be" /><Relationship Type="http://schemas.openxmlformats.org/officeDocument/2006/relationships/notesSlide" Target="/ppt/notesSlides/notesSlide28.xml" Id="Rcb65ea42dda0476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af61842354ab1" /><Relationship Type="http://schemas.openxmlformats.org/officeDocument/2006/relationships/image" Target="/ppt/media/image42.png" Id="R6b23432e83ca40f8" /><Relationship Type="http://schemas.openxmlformats.org/officeDocument/2006/relationships/image" Target="/ppt/media/image43.png" Id="R706d38106f3e413a" /><Relationship Type="http://schemas.openxmlformats.org/officeDocument/2006/relationships/notesSlide" Target="/ppt/notesSlides/notesSlide29.xml" Id="Rf0d932fe6fba4c7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29a55350d4000" /><Relationship Type="http://schemas.openxmlformats.org/officeDocument/2006/relationships/image" Target="/ppt/media/image44.png" Id="R3f4947c24d7b4e35" /><Relationship Type="http://schemas.openxmlformats.org/officeDocument/2006/relationships/notesSlide" Target="/ppt/notesSlides/notesSlide30.xml" Id="R44a01a698b3a4c6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09b501a33457f" /><Relationship Type="http://schemas.openxmlformats.org/officeDocument/2006/relationships/image" Target="/ppt/media/image45.png" Id="R656fd3d2bdc148ce" /><Relationship Type="http://schemas.openxmlformats.org/officeDocument/2006/relationships/image" Target="/ppt/media/image46.png" Id="Ra40caf06e0804fe4" /><Relationship Type="http://schemas.openxmlformats.org/officeDocument/2006/relationships/notesSlide" Target="/ppt/notesSlides/notesSlide31.xml" Id="Rd52c5656bfef4ca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fbf5874e74893" /><Relationship Type="http://schemas.openxmlformats.org/officeDocument/2006/relationships/image" Target="/ppt/media/image47.png" Id="R5687275e5da84e44" /><Relationship Type="http://schemas.openxmlformats.org/officeDocument/2006/relationships/notesSlide" Target="/ppt/notesSlides/notesSlide32.xml" Id="Re8077c3a3168476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61469918e40ab" /><Relationship Type="http://schemas.openxmlformats.org/officeDocument/2006/relationships/image" Target="/ppt/media/image48.png" Id="R43daf823606740f6" /><Relationship Type="http://schemas.openxmlformats.org/officeDocument/2006/relationships/notesSlide" Target="/ppt/notesSlides/notesSlide33.xml" Id="Rca3d0cd0a03943a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388aa57804fd2" /><Relationship Type="http://schemas.openxmlformats.org/officeDocument/2006/relationships/image" Target="/ppt/media/image49.png" Id="R2a491427ec3d4e54" /><Relationship Type="http://schemas.openxmlformats.org/officeDocument/2006/relationships/notesSlide" Target="/ppt/notesSlides/notesSlide34.xml" Id="R93690aa60f7b40c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cb183180424404" /><Relationship Type="http://schemas.openxmlformats.org/officeDocument/2006/relationships/image" Target="/ppt/media/image50.png" Id="R898915c8061d4a7e" /><Relationship Type="http://schemas.openxmlformats.org/officeDocument/2006/relationships/notesSlide" Target="/ppt/notesSlides/notesSlide35.xml" Id="Ra9fdd977247840d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8b13ebc9cb4423" /><Relationship Type="http://schemas.openxmlformats.org/officeDocument/2006/relationships/image" Target="/ppt/media/image51.png" Id="R67f66c15dbfb404a" /><Relationship Type="http://schemas.openxmlformats.org/officeDocument/2006/relationships/hyperlink" Target="https://support.huaweicloud.com/usermanual-vpc/vpc_0001.html" TargetMode="External" Id="R343c61d765074e48" /><Relationship Type="http://schemas.openxmlformats.org/officeDocument/2006/relationships/hyperlink" Target="https://support.huaweicloud.com/intl/zh-cn/helppanel-vpc/vpc_help_0002.html" TargetMode="External" Id="Rc86c557282cb4db1" /><Relationship Type="http://schemas.openxmlformats.org/officeDocument/2006/relationships/hyperlink" Target="https://support.huaweicloud.com/intl/zh-cn/usermanual-vpc/zh-cn_topic_0052003963.html" TargetMode="External" Id="R4ac3aef916874c5b" /><Relationship Type="http://schemas.openxmlformats.org/officeDocument/2006/relationships/hyperlink" Target="https://support.huaweicloud.com/usermanual-cfw/cfw_01_0185.html" TargetMode="External" Id="R6ffca107a8f34204" /><Relationship Type="http://schemas.openxmlformats.org/officeDocument/2006/relationships/hyperlink" Target="https://support.huaweicloud.com/usermanual-cfw/cfw_01_0269.html" TargetMode="External" Id="R44899c34b5494cfe" /><Relationship Type="http://schemas.openxmlformats.org/officeDocument/2006/relationships/hyperlink" Target="https://support.huaweicloud.com/usermanual-cfw/cfw_01_0133.html" TargetMode="External" Id="Re257639b4a00459a" /><Relationship Type="http://schemas.openxmlformats.org/officeDocument/2006/relationships/hyperlink" Target="https://support.huaweicloud.com/intl/zh-cn/usermanual-cfw/cfw_01_0297.html" TargetMode="External" Id="Rf8b85ea8b9aa455d" /><Relationship Type="http://schemas.openxmlformats.org/officeDocument/2006/relationships/hyperlink" Target="https://support.huaweicloud.com/intl/zh-cn/usermanual-cfw/cfw_01_0262.html" TargetMode="External" Id="R36a8473d733b4136" /><Relationship Type="http://schemas.openxmlformats.org/officeDocument/2006/relationships/hyperlink" Target="https://support.huaweicloud.com/usermanual-cfw/cfw_01_0139.html" TargetMode="External" Id="R43f9823979414137" /><Relationship Type="http://schemas.openxmlformats.org/officeDocument/2006/relationships/hyperlink" Target="https://support.huaweicloud.com/cfw_faq/cfw_01_0027.html" TargetMode="External" Id="R2cf9cafcfffd4c43" /><Relationship Type="http://schemas.openxmlformats.org/officeDocument/2006/relationships/hyperlink" Target="https://support.huaweicloud.com/intl/zh-cn/ally-visitor-1-usermanual-cfw/cfw_01_0248.html" TargetMode="External" Id="R6dd7b5cdcf144b7d" /><Relationship Type="http://schemas.openxmlformats.org/officeDocument/2006/relationships/notesSlide" Target="/ppt/notesSlides/notesSlide36.xml" Id="Rafd12d64566449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C1AD9-1528-4DCF-8EF4-B1066452E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9e7b5ec85408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A5B93AC2-F5ED-4A38-8FE7-2DFF2392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华为云 IT 团队使用规范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68BCE6B3-EF13-4569-AC0C-C44A1CA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914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网络与</a:t>
            </a:r>
          </a:p>
          <a:p xmlns:a="http://schemas.openxmlformats.org/drawingml/2006/main">
            <a:pPr algn="l">
              <a:def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云防火墙 CFW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5CE24CBB-CD17-4292-B2EE-0D9CB728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使用规范与案例演练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6FE9D2F0-9456-4576-B038-ECD90CE3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CD0F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CD0F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D0F5"/>
                </a:solidFill>
                <a:latin typeface="Arial Unicode MS"/>
                <a:ea typeface="Arial Unicode MS"/>
                <a:cs typeface="Arial Unicode MS"/>
              </a:rPr>
              <a:t>90 分钟培训  /  架构图解  /  策略配置  /  故障演练</a:t>
            </a:r>
          </a:p>
        </p:txBody>
      </p:sp>
    </p:spTree>
    <p:extLst>
      <p:ext uri="{BB962C8B-B14F-4D97-AF65-F5344CB8AC3E}">
        <p14:creationId xmlns:p14="http://schemas.microsoft.com/office/powerpoint/2010/main" val="1968972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337C8-9C13-4ACD-BAF5-2E32F9DF8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9574629b34b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7BB5BC8-0D8C-4B2F-BA29-9DC1D1D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3458244-4576-4A44-9078-3103A4D6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90 分钟课程安排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FFA777F-80F3-4E85-8F97-316FC9C6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围绕一条业务流，完成规划、放行、验证和排障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9B6983D2-7DD6-4338-8918-44234F70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43F1A929-71B2-4447-B82E-446FFFFC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476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90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763352D7-EA1D-4FA6-B3BC-C46E4D0F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909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分钟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8C1ADFE3-C0A2-4161-8C65-9472BAF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EC569ED5-7FD7-4D6D-B451-FBE3554D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场景与目标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C2398E68-DD1D-4F0B-BD9E-A5407670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33CE02E2-97C9-465D-805F-84F83F3C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VPC 网络规范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3469C010-E1D8-445E-A728-458A24A9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7B582448-E2AC-44F6-B6A5-62FE20B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CFW 配置规范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36F6F7D0-5B14-4829-9C50-1D9DC94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050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15" name="txt-13">
            <a:extLst xmlns:a="http://schemas.openxmlformats.org/drawingml/2006/main">
              <a:ext uri="{FF2B5EF4-FFF2-40B4-BE49-F238E27FC236}">
                <a16:creationId xmlns:a16="http://schemas.microsoft.com/office/drawing/2014/main" id="{57C3CC16-9E0C-4C53-AB80-29418E63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变更与排障</a:t>
            </a:r>
          </a:p>
        </p:txBody>
      </p:sp>
      <p:sp>
        <p:nvSpPr>
          <p:cNvPr id="16" name="txt-14">
            <a:extLst xmlns:a="http://schemas.openxmlformats.org/drawingml/2006/main">
              <a:ext uri="{FF2B5EF4-FFF2-40B4-BE49-F238E27FC236}">
                <a16:creationId xmlns:a16="http://schemas.microsoft.com/office/drawing/2014/main" id="{B60E4790-D846-438E-99DF-B7B6AC76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956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17" name="txt-15">
            <a:extLst xmlns:a="http://schemas.openxmlformats.org/drawingml/2006/main">
              <a:ext uri="{FF2B5EF4-FFF2-40B4-BE49-F238E27FC236}">
                <a16:creationId xmlns:a16="http://schemas.microsoft.com/office/drawing/2014/main" id="{C43E57C6-8B59-407C-8C76-944F35E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案例演练</a:t>
            </a:r>
          </a:p>
        </p:txBody>
      </p:sp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FFD5D901-1E74-48C8-8EAC-C665DE1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86225"/>
            <a:ext cx="781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B863C1A8-0A75-4292-9922-0B5C4DC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测验与检查表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D38D5C13-02FC-4954-B324-B0E871A1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课堂交付</a:t>
            </a:r>
          </a:p>
        </p:txBody>
      </p:sp>
      <p:sp>
        <p:nvSpPr>
          <p:cNvPr id="21" name="txt-19">
            <a:extLst xmlns:a="http://schemas.openxmlformats.org/drawingml/2006/main">
              <a:ext uri="{FF2B5EF4-FFF2-40B4-BE49-F238E27FC236}">
                <a16:creationId xmlns:a16="http://schemas.microsoft.com/office/drawing/2014/main" id="{ADEBBC7E-CFB5-4651-A571-25313D3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00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能解释业务经过哪些边界</a:t>
            </a:r>
          </a:p>
        </p:txBody>
      </p:sp>
      <p:sp>
        <p:nvSpPr>
          <p:cNvPr id="22" name="txt-20">
            <a:extLst xmlns:a="http://schemas.openxmlformats.org/drawingml/2006/main">
              <a:ext uri="{FF2B5EF4-FFF2-40B4-BE49-F238E27FC236}">
                <a16:creationId xmlns:a16="http://schemas.microsoft.com/office/drawing/2014/main" id="{CA0A2D5D-4EC2-4CC4-B934-A3A05A0C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721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能提交可审核的精确规则</a:t>
            </a:r>
          </a:p>
        </p:txBody>
      </p:sp>
      <p:sp>
        <p:nvSpPr>
          <p:cNvPr id="23" name="txt-21">
            <a:extLst xmlns:a="http://schemas.openxmlformats.org/drawingml/2006/main">
              <a:ext uri="{FF2B5EF4-FFF2-40B4-BE49-F238E27FC236}">
                <a16:creationId xmlns:a16="http://schemas.microsoft.com/office/drawing/2014/main" id="{AC7420D5-C940-456A-8B32-404FC6D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435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能用日志与测试证明效果</a:t>
            </a:r>
          </a:p>
        </p:txBody>
      </p:sp>
    </p:spTree>
    <p:extLst>
      <p:ext uri="{BB962C8B-B14F-4D97-AF65-F5344CB8AC3E}">
        <p14:creationId xmlns:p14="http://schemas.microsoft.com/office/powerpoint/2010/main" val="1023263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A9D4A-DE9A-4B09-8280-E963E623C4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35b37cae343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278B542E-5004-4333-A227-5068175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课程导入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F42C36C1-C842-456A-AF38-BE1CACEC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培训案例的网络与信任域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77372BB-6AE9-483E-9EE5-064B6A19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订单服务跨 VPC 访问自建数据库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F096E70A-B338-4390-8398-525E9831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教学地址均为虚构。图中连接表示批准的业务关系，详细 ER 引流见第 11 页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FBF5C994-5FFF-4435-96F1-4B45F585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FC57-EB6A-4BAC-BE39-26E8330EB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042c05eeb4e54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6C78CE69-3B70-4CBA-B778-494D582B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应用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2D21E77B-BCE2-4DA4-A0E9-7794075E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10.20.10.15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所在 VPC 10.20.0.0/16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607C0141-EC56-4126-ABB2-9AEE2DAB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CE9DF126-2E1B-4E9B-ABDD-9CA02847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10.30.20.10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仅需 TCP 3306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A72AFC52-92FE-45F0-92BA-E249FB67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B31A0C5D-C1BF-4F5E-95D5-D697EFF8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堡垒机发起管理连接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测试环境另行隔离</a:t>
            </a:r>
          </a:p>
        </p:txBody>
      </p:sp>
    </p:spTree>
    <p:extLst>
      <p:ext uri="{BB962C8B-B14F-4D97-AF65-F5344CB8AC3E}">
        <p14:creationId xmlns:p14="http://schemas.microsoft.com/office/powerpoint/2010/main" val="536385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98301-31CD-4CD6-B06E-B1D932AF96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813c0417848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4312DCC4-859C-4469-A2CF-199090E8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94F339DD-0FFF-49D8-B72B-BF0E4800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VPC、子网与路由表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BEAE3213-CBA0-4B39-B9B8-4E48B3B1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地址范围、部署单元和转发路径分别管理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D670C06-DE99-4257-B655-F7C1B87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ED377094-4C4D-47C4-92F8-D409FCBF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F9BD7-7523-4347-BDCD-509163D3F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c12cd32ca4275"/>
          <a:stretch xmlns:a="http://schemas.openxmlformats.org/drawingml/2006/main"/>
        </p:blipFill>
        <p:spPr>
          <a:xfrm xmlns:a="http://schemas.openxmlformats.org/drawingml/2006/main">
            <a:off x="1181589" y="1895475"/>
            <a:ext cx="6609372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B4D02A7D-EE4F-4D57-AEAB-C7FB989E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VPC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1D03CEB4-1196-4A4B-BF3F-C500583A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承载地址空间与逻辑网络边界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ABAC8EBE-BAC5-4FA4-AAD7-FF17CD8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子网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C558ECF9-68D0-4BAF-866B-8395C043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组织业务层与容量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划分后仍需访问控制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46B942B3-1E9E-4058-81F5-C5A1B66C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路由表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B1885FB1-CBDD-44B1-BD0B-6756C203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核对子网实际关联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避免修改到未生效的表</a:t>
            </a:r>
          </a:p>
        </p:txBody>
      </p:sp>
    </p:spTree>
    <p:extLst>
      <p:ext uri="{BB962C8B-B14F-4D97-AF65-F5344CB8AC3E}">
        <p14:creationId xmlns:p14="http://schemas.microsoft.com/office/powerpoint/2010/main" val="2094574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E23C4-B12F-4917-A8FA-B483E55EC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cf0ede89546d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9A831897-B2FB-4FEC-B6BE-4132F0A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34EBF18A-A637-4C79-8F18-984B52E1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IP 规划从可用容量与未来互联开始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47BE94AD-5E9D-446B-879D-8D542C7B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地址台账应覆盖生产、测试、IDC、VPN 和后续互联网络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8244CAD-4284-48A0-8CBB-80594F09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示例地址不代表可直接套用的企业地址池。可分配 IP 数需扣除平台保留地址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2687258-3713-40AA-976A-A11E64E1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DACE575B-CC62-4C16-B6F2-A62B9030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10.20.0.0/16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8F333F59-2521-4058-891C-4DF9FA4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生产应用地址池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3302CE8E-3B53-4E86-8B3D-7352CC32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台账关联区域、环境、业务、</a:t>
            </a:r>
          </a:p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负责人和工单。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A95B223F-0606-4454-8172-85788FB7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规划时先检查未来互联范围，</a:t>
            </a:r>
          </a:p>
          <a:p xmlns:a="http://schemas.openxmlformats.org/drawingml/2006/main">
            <a:pPr algn="l">
              <a:def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再确定子网容量与预留。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B54B3-10E9-4D04-B799-F3E9A15F6816}"/>
              </a:ext>
            </a:extLst>
          </p:cNvPr>
          <p:cNvGraphicFramePr/>
          <p:nvPr/>
        </p:nvGraphicFramePr>
        <p:xfrm>
          <a:off xmlns:a="http://schemas.openxmlformats.org/drawingml/2006/main" x="5676900" y="2181225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524250"/>
              </a:tblGrid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子网用途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示例网段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Web 入口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833438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预留未分配范围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941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10528-A53E-4ECF-A2CF-2AB0A2CF9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04d901c4a49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E1AFAB1C-BD01-46B3-B003-1A76F23B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62DDDFB4-E094-4FE2-B09F-2A5FF9B0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一次连接经过多层检查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246F3BB-7FB6-4CC0-91E0-F7920A0D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CFW 放行只是链路中的一个检查结果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817058C8-1199-48CB-BAC9-0F8D75C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简化路径图未逐一展开源端安全组、子网 ACL 与主机防火墙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17023D72-DEF1-4B6D-8225-D4B12E42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48434-E394-4AD3-B9E1-557E872E8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97c2ede374fcd"/>
          <a:srcRect xmlns:a="http://schemas.openxmlformats.org/drawingml/2006/main" l="0" t="14000" r="0" b="16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859F73D-CA51-4008-8CF6-C09434CE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FDD0BFAB-258B-45B4-AEBA-B9F4B2E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去程与回程都需正确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2ACFA8C1-F3E4-4DF8-A8F0-07DAE50B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策略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A31C974F-AE3E-4439-8E51-666549BA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CFW、安全组与其他控制层共同约束访问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8F1757E8-F548-4CB5-B6C2-3F9A1D1B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服务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F7D98BB5-5942-4F7C-8806-D57729B7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目标端口监听与应用响应仍需单独验证</a:t>
            </a:r>
          </a:p>
        </p:txBody>
      </p:sp>
    </p:spTree>
    <p:extLst>
      <p:ext uri="{BB962C8B-B14F-4D97-AF65-F5344CB8AC3E}">
        <p14:creationId xmlns:p14="http://schemas.microsoft.com/office/powerpoint/2010/main" val="63196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0ECBE-E6A1-459D-BE43-5F227F368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e6bb818b44f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4B50A32-0039-4B21-A2FE-3802D7F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85E8693-55A0-4AA6-B0E2-5465C4CC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路由审核需要看实际命中的路径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88BB886E-DECC-46E2-9268-B494C76E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同一目标可能存在多条可选路由，资源存在不等于业务使用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25AFEC51-D2D5-4354-BCAE-3925659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下表为教学配置。每次变更都需确认子网关联、去回程与更具体路由的影响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DF4933B-64AD-465B-A99C-9648D628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B4A16-56BB-45D2-AF14-839D636F75E5}"/>
              </a:ext>
            </a:extLst>
          </p:cNvPr>
          <p:cNvGraphicFramePr/>
          <p:nvPr/>
        </p:nvGraphicFramePr>
        <p:xfrm>
          <a:off xmlns:a="http://schemas.openxmlformats.org/drawingml/2006/main" x="609600" y="2200275"/>
          <a:ext xmlns:a="http://schemas.openxmlformats.org/drawingml/2006/main" cx="109728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857500"/>
                <a:gridCol w="5162550"/>
              </a:tblGrid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目的网段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下一跳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审核判断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预期跨 VPC 检查路径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778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10.30.20.0/24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旧对等连接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更具体目标范围可能走旧路径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848B8F69-D48C-46D2-A564-0526EF51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01 子网关联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86A8504B-BE97-464E-8D32-EA61B3D7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先确认实际生效的路由表。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7A81E3A3-C997-41AA-B310-2F96BE3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02 实际命中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16B84DD1-4AEC-432E-BF63-66F0599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0542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按具体目标检查最终下一跳。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D1CB1D34-69EC-43CA-9EB0-FAF499C0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86325"/>
            <a:ext cx="3086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03 双向验证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35316D93-F8EF-4934-B71C-B6FA01F9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05425"/>
            <a:ext cx="3086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去程、回程与引流同时验收。</a:t>
            </a:r>
          </a:p>
        </p:txBody>
      </p:sp>
    </p:spTree>
    <p:extLst>
      <p:ext uri="{BB962C8B-B14F-4D97-AF65-F5344CB8AC3E}">
        <p14:creationId xmlns:p14="http://schemas.microsoft.com/office/powerpoint/2010/main" val="1943308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BB487-E301-4BA4-8319-24038F06F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7d90e40eb41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67A39EAA-A52B-497A-9BA0-E8337A8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FB40097C-E062-4746-91FB-4F2CE56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运维接入与公网暴露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5DB3DD1-B5E0-4E4F-9A37-E630A34F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生产管理通道集中接入并保留操作审计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A76B3FBF-4A26-4089-84C6-2E8F60FB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图示为建议的组织基线，具体接入方式需结合企业现有架构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14AB0439-8412-4F7D-88F4-A550A7EB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26857-6FCB-4115-92EC-8E58E3A420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e4bb8b6c34d39"/>
          <a:srcRect xmlns:a="http://schemas.openxmlformats.org/drawingml/2006/main" l="0" t="8000" r="0" b="4000"/>
          <a:stretch xmlns:a="http://schemas.openxmlformats.org/drawingml/2006/main"/>
        </p:blipFill>
        <p:spPr>
          <a:xfrm xmlns:a="http://schemas.openxmlformats.org/drawingml/2006/main">
            <a:off x="381000" y="1895475"/>
            <a:ext cx="8210550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1A00EC7-779F-4D6B-B7C9-F2D5C13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入口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0B94F1D4-749F-41C1-A9D5-7F38D395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通过 VPN 或企业批准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的方式接入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3174C334-0614-46F6-9AB7-56AAC721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运维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FDDEB617-7EBF-4E8F-85CB-0AB7A0A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堡垒机控制身份、目标与操作权限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71EB4884-ED69-4A80-87BB-6DEC3276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暴露面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F9F09FB8-BDF8-4750-A82A-6808C4AC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 EIP、NAT、IPv6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逐项验证管理端口</a:t>
            </a:r>
          </a:p>
        </p:txBody>
      </p:sp>
    </p:spTree>
    <p:extLst>
      <p:ext uri="{BB962C8B-B14F-4D97-AF65-F5344CB8AC3E}">
        <p14:creationId xmlns:p14="http://schemas.microsoft.com/office/powerpoint/2010/main" val="159364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EBC90-398C-45CA-915B-31D7B49B54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e439015ba4c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51127DF8-17FF-4533-B934-54DA51E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01  VPC 网络规范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1012F6AD-FD5C-47B5-B405-542D315A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VPC 规范的三个检查维度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89A74B0D-96EA-4061-86EA-76230DD8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子网名称体现用途，安全策略落实访问边界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8D5EE6E-010F-4BFD-BD8A-9579C48F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FD628229-D560-419E-B71B-FD49B8C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地址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81005C67-2DCB-4682-BC01-031ED0E8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无冲突、有容量、能定位 Owner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01FD0FC2-24A6-4402-939C-5477944F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路径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FB03C063-9639-4B28-89F4-BF6533E6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去回程明确，能证明实际下一跳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FA1F184B-4B89-4E26-BCD1-F0E5A0C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边界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0AA64D1D-7E92-42FF-B677-163766B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只授权业务所需来源与端口</a:t>
            </a:r>
          </a:p>
        </p:txBody>
      </p:sp>
    </p:spTree>
    <p:extLst>
      <p:ext uri="{BB962C8B-B14F-4D97-AF65-F5344CB8AC3E}">
        <p14:creationId xmlns:p14="http://schemas.microsoft.com/office/powerpoint/2010/main" val="13848003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EFF28-AA90-4C64-92D1-070D4FC90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13f45bda1417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467B16FD-4758-46DB-A74D-6CE09BC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D036ED4F-3CE3-4829-91CD-27E9405E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CFW 的检查范围取决于接入边界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1F612F1-1545-4128-A245-0162BCF9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南北向与东西向需要分别核验防护覆盖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4CBD530-9D5C-4F66-B432-AF2CFC07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同 VPC 子网间流量不能仅凭购买 CFW 就认定已受检查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B648E865-1CB6-4AD8-BF0C-8D0670D6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42B79-083B-45A7-88C6-FA0BECF98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7831be0524dcd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E27769E5-B0A5-4612-A936-E7FBE1C0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互联网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1B0DD653-691C-44E5-98AB-8AF0E949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检查已纳管 EIP 等互联网边界对象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B2A5706C-8050-4F46-A8C4-ECD5512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VPC / IDC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7EDAE730-E987-4A4F-9998-AA9530C4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需专业版能力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通过 ER 引流接入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128A9A72-7F2E-44C1-9065-E58998C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NAT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4FACE4E2-6D0E-4CB0-8A7B-A98B4311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按出口方式启用防护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核对检查点地址</a:t>
            </a:r>
          </a:p>
        </p:txBody>
      </p:sp>
    </p:spTree>
    <p:extLst>
      <p:ext uri="{BB962C8B-B14F-4D97-AF65-F5344CB8AC3E}">
        <p14:creationId xmlns:p14="http://schemas.microsoft.com/office/powerpoint/2010/main" val="7789729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68BD3-795B-42AE-AE9B-3A3ACEC417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41efe2acc4f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328833F-7581-4885-B469-EC8F7168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0E53BB1-9DF8-4A51-969D-9A6AD10C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ER 两张路由表分别承担送检与转发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BA3B7CAA-A732-45B1-9FAC-97F3D9D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依据华为云新版 ER 引流关系绘制的统一图解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2D7F3DA-BA01-414F-B9E4-213FB497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图中两种流向表示进入和离开检查路径，业务响应同样需要按设计检查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7704D50-C62E-499B-8E9A-5B64AA8E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22DBD-80BC-4C66-A88D-2C20E220D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69033987d43fe"/>
          <a:stretch xmlns:a="http://schemas.openxmlformats.org/drawingml/2006/main"/>
        </p:blipFill>
        <p:spPr>
          <a:xfrm xmlns:a="http://schemas.openxmlformats.org/drawingml/2006/main">
            <a:off x="646568" y="1895475"/>
            <a:ext cx="7679415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74A8D6E-3193-4CC4-90D9-C5AEF4E8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er-RT1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24309A17-3459-41A7-9A92-BC857B1C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关联业务 VPC 连接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把待检流量送入 CFW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C718AACD-D226-436B-98BF-C18CE20D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er-RT2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A4444B63-F60F-4729-B545-33AC86C2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关联 CFW 连接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学习并转发至业务 VPC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DC5B1462-99F8-437F-AA06-C34110FB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DA817E80-9946-436E-896D-537A450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业务可达、流量送检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两项分别验证</a:t>
            </a:r>
          </a:p>
        </p:txBody>
      </p:sp>
    </p:spTree>
    <p:extLst>
      <p:ext uri="{BB962C8B-B14F-4D97-AF65-F5344CB8AC3E}">
        <p14:creationId xmlns:p14="http://schemas.microsoft.com/office/powerpoint/2010/main" val="1216609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F9C8D-F019-4C49-8193-8AE305F2E2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dd61fd31049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8397456C-10DB-465F-93AA-7C484745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BBD5345-5D88-4777-9459-E79261E5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接入验收需要覆盖四组配置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47BA363-341B-4CDE-83CC-CDBF51AA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新增 VPC 后，连接、关联、传播与 VPC 路由需要一并检查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4BF9ECDA-FB86-4E5F-9CAC-AC0198C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先确认旧业务基线与回滚前态。VPC 边界新接入流量默认放行，需另行落实访问策略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83E4C613-2624-4AC1-9D29-EE0555F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8982A-74BB-4D90-A2B5-B500C3323133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476750"/>
                <a:gridCol w="3962400"/>
              </a:tblGrid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失败时的典型表现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与 ER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两侧 VPC 均有正确连接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只有一侧接入或目标不可达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 关联路由表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业务连接送检，CFW 连接返回转发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绕过检查或形成错误路径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侧路由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对端网段下一跳与子网关联正确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只部分主机经过 CFW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策略与覆盖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已有阻断规则、日志、正反用例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接入即中断，或接入后仍过宽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6326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71428-6B2F-4395-99EA-C2180ED80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63755ce1642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0160572-04E5-464B-8D01-81F2DF4D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E4B7860F-E6C1-4BC3-8D49-B6EBA8C9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访问申请应能直接转换为策略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0ADBBFA-4702-4322-A93E-9DA4FADA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一条规则同时具备业务依据、技术字段与管理记录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080AD2A-56A1-4B97-84C3-68A4675E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示例请求单 CHG-DEMO-001 为虚构，不代表真实审批记录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61CF8F51-336F-4379-8E9D-B7F3A95D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5C76D-A2AF-4FBC-8BF5-8AD862A15B6F}"/>
              </a:ext>
            </a:extLst>
          </p:cNvPr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教学填写值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订单服务访问自建数据库，CHG-DEMO-001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10.20.10.15/32，应用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10.30.20.10/32，数据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端口与协议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TCP，源端口 Any，目的端口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生效范围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VPC 边界，按审批窗口发布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37482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管理与验收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负责人、复核时间、正反用例和回滚门槛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7715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ED595-6C35-4067-85D6-B649BC6E1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be8cd51cd4f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74D48EF-5016-4602-A9BE-AF6D576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251CD35A-E2EA-42E5-B644-92AE9AC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业务访问矩阵示例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098FDEA-69A3-4D0A-A06B-51031E8E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教学基线：仅批准明确业务流。表内规则需同步核对安全组与其他控制层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257CCB59-A53D-4053-B373-8A1FD3A1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A4A0-AFB4-4FA2-B6B8-194028D56F45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1619250"/>
                <a:gridCol w="34861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接收方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动作与依据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放行，订单服务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10.40.10.5/32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放行，受控运维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10.30.20.10/32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阻断，无运维需求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测试环境地址组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生产数据地址组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阻断，环境隔离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已纳管业务源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已核验业务范围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兜底阻断，依赖梳理完成后启用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204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BBEA8-7E35-421C-902D-DEC97B30B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3487f45174e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5D82B759-40D2-4C90-8B00-3B35AB0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E9E19D1B-EF1D-4765-B6DD-78DAE658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功能优先级与 ACL 规则顺序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1EE3F403-837E-43B2-849F-199A1F40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外层防护顺序与 ACL 内首条命中是两个层次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09C82299-BE5A-4577-A137-CA3BD855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图中的兜底阻断需由管理员显式配置。VPC 边界接入本身默认放行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E9C3E321-CA71-4743-968E-6F570904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6F6EF-CD77-45E1-BA22-8B2AA1064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e76d42f1f4948"/>
          <a:stretch xmlns:a="http://schemas.openxmlformats.org/drawingml/2006/main"/>
        </p:blipFill>
        <p:spPr>
          <a:xfrm xmlns:a="http://schemas.openxmlformats.org/drawingml/2006/main">
            <a:off x="1778000" y="1952625"/>
            <a:ext cx="86360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D347A207-9343-4481-A886-37EA259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功能顺序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917160B2-629A-484F-B194-FDDF70D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依次检查封堵、白名单、</a:t>
            </a:r>
          </a:p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黑名单与 ACL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77EE2A08-9C19-46CC-8C7D-21E56BB9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首条命中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55C05878-AC8A-4D26-BB45-EA1434EB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具体规则靠前</a:t>
            </a:r>
          </a:p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ACL 首条命中后停止匹配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CB462811-D908-4507-9290-C7D90D4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530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白名单例外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9FFEE759-4E04-41F7-92D1-EC6064B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直接放行并跳过后续检测</a:t>
            </a:r>
          </a:p>
          <a:p xmlns:a="http://schemas.openxmlformats.org/drawingml/2006/main">
            <a:pPr algn="l">
              <a:def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单独进行审批与复核</a:t>
            </a:r>
          </a:p>
        </p:txBody>
      </p:sp>
    </p:spTree>
    <p:extLst>
      <p:ext uri="{BB962C8B-B14F-4D97-AF65-F5344CB8AC3E}">
        <p14:creationId xmlns:p14="http://schemas.microsoft.com/office/powerpoint/2010/main" val="13781112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B825A-3BF9-410C-8A54-235FE02378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dd1237cf04e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3F55CE18-6B88-41F5-873C-3342376A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BA5C8606-F3CF-4F3E-B94C-C3277C2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一条宽泛放行可以使阻断规则失效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F06830CD-D334-46E1-BE8C-38D5B267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先判断实际首条命中，再审查授权是否超出业务需要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4A8535AB-613B-4B25-BF48-604FA61C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仅把 SSH 阻断移到最前面仍会保留其他过宽访问，需要收敛原始授权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AAAB70FF-359A-4D40-A14F-A966F46D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70B55-19E8-4A10-A615-7A12E90761AB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6191250"/>
                <a:gridCol w="1905000"/>
                <a:gridCol w="192405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源与目的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10.20.0.0/16 到 10.30.0.0/16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到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已审核业务范围内的其他流量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Any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338BFD86-32BE-4BFA-9AC0-7D8BCE5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SSH 新连接首先命中第 1 条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CD3CF7D6-EDE9-43E0-BA6E-E8EB72C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426087"/>
                </a:solidFill>
                <a:latin typeface="Arial Unicode MS"/>
                <a:ea typeface="Arial Unicode MS"/>
                <a:cs typeface="Arial Unicode MS"/>
              </a:rPr>
              <a:t>后续拒绝不会覆盖已匹配的放行。</a:t>
            </a:r>
          </a:p>
        </p:txBody>
      </p:sp>
    </p:spTree>
    <p:extLst>
      <p:ext uri="{BB962C8B-B14F-4D97-AF65-F5344CB8AC3E}">
        <p14:creationId xmlns:p14="http://schemas.microsoft.com/office/powerpoint/2010/main" val="2259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A0FF6-9BF4-4D59-852E-7379400970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d6d67d841480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6011E188-40C9-4B84-9A9F-6714EA42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60565C99-8836-4617-9C56-DDC4837F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出方向控制需要覆盖低频业务依赖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756FB687-9E43-4BA5-A0AE-F80A9EDC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从业务外联清单建立策略，避免一次性放开全部 TCP 443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E79690C-E8BC-4BF8-9878-1E2E902D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域名规则依赖边界、协议与匹配方式。变更后需要以实际日志验证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4C909310-8040-43A6-AB59-3BD701C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B6905-955C-4A8E-B051-747F8B1D652B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572000"/>
                <a:gridCol w="41148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依赖类别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申请要说明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验证样例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API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目的域名、协议、业务负责人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请求完成且命中预期规则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软件与补丁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批准仓库、更新窗口、维护人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下载与更新流程正常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基础服务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DNS、时间同步、证书和监控依赖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解析、校时与告警正常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低频任务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备份、月结、批处理与故障切换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覆盖任务周期后再收敛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041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60A22-165A-4E72-A32F-0214417D5E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c979a5f3b491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D735FE6C-892D-4E80-9681-ACF4B478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80D7DCC-06F2-472D-86B4-447D5CC9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地址转换改变检查点看到的源地址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6198096-1653-4C13-88F8-B7EFAE61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规则中的地址应来自实际路径与日志证据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BA5B494-18B6-429A-A6DD-419C842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该图解释 SNAT 的地址变化，不表示所有 CFW 部署模式都只在转换后检查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CAF1E160-CCB2-4B22-B125-B67FA22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393EC-B9AE-464A-AED0-9668AD9CF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68435f31c4d10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17B97A44-D4CF-4992-82A9-6783DCDF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转换前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D2C46DEE-8C61-4F89-BFCE-EC47574E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可看到业务私网源地址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AC471B73-1BFF-42E7-A05A-1D81347A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转换后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1141500D-56D6-46A5-A926-EF09B9B5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可能看到出口 EIP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代理也可能聚合来源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A6066358-3653-45A3-835A-154530C7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核验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40E7B3E7-B7FD-4E75-A0B6-FAA12E5B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先明确 CFW 检查点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再决定规则匹配地址</a:t>
            </a:r>
          </a:p>
        </p:txBody>
      </p:sp>
    </p:spTree>
    <p:extLst>
      <p:ext uri="{BB962C8B-B14F-4D97-AF65-F5344CB8AC3E}">
        <p14:creationId xmlns:p14="http://schemas.microsoft.com/office/powerpoint/2010/main" val="1172199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98311-B13A-4B3F-BE85-476C5E38CA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b28c3803242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BBFCCDC-62FA-430F-B4DE-74DBFA8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4A44924-D687-4B97-BB8C-0F5B7F5D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ACL 放行与白名单例外的检测差别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2FB53313-9B09-46CA-90E6-AA623E5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普通业务授权优先使用精确 ACL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7E718095-C4E2-4FE0-ABB4-56FB65C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0ADCA23-9470-4AC4-9373-A7CA24E1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7F2C2-0E4C-4305-AE72-C840C1DA0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c434f8544442b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E8BB1D7E-6883-4278-ACCF-A71A67E3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正常授权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C29BC6F3-B345-46B9-B65F-07813F2F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允许必要业务，同时保留后续威胁检测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7E93977B-8E53-4521-88EB-F7C61F3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误报处理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8EBBE8BE-06C6-4A3D-8D8B-6323D329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定位 IPS 规则 ID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评估影响与最小范围例外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A22A125E-0516-478A-81BF-BB430EC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例外管理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770F1D94-52B2-4774-AF69-6DBDB199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记录审批与有效时间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明确恢复条件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撤销例外后复测</a:t>
            </a:r>
          </a:p>
        </p:txBody>
      </p:sp>
    </p:spTree>
    <p:extLst>
      <p:ext uri="{BB962C8B-B14F-4D97-AF65-F5344CB8AC3E}">
        <p14:creationId xmlns:p14="http://schemas.microsoft.com/office/powerpoint/2010/main" val="11988326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2D3A2-CF9A-45B9-A1CB-691285818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d3b0b5f8143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81FA7F6D-CCD8-4974-B109-0FE7D97B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509E35B-5946-4B55-B307-FEA93A1B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规则填写示例与发布前复核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4529215-E97A-4771-A3D2-090C85CE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按真实控制台字段核对源、目的、服务、动作与规则顺序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9E6F62C2-8EFE-4BE5-B496-49E85507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启用规则可能立即生效。先复核范围与顺序，再在批准窗口发布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A9E2B02D-007F-4333-8609-5F40C2B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403F-9C61-4B7D-9712-10121A3AD039}"/>
              </a:ext>
            </a:extLst>
          </p:cNvPr>
          <p:cNvGraphicFramePr/>
          <p:nvPr/>
        </p:nvGraphicFramePr>
        <p:xfrm>
          <a:off xmlns:a="http://schemas.openxmlformats.org/drawingml/2006/main" x="609600" y="21621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762500"/>
                <a:gridCol w="4305300"/>
              </a:tblGrid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填写示例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复核要点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防护对象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应用与数据 VPC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检查资产与路径已接入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源 / 目的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/ 10.30.20.10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地址范围与实际观测一致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服务 / 动作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TCP，源 Any，目的 3306，放行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客户端源端口通常动态分配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CCDFFF">
                        <a:alpha val="85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顺序 / 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具体规则靠前，按窗口启用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排查宽泛规则与优先模块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191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描述 / 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订单数据库访问，关联工单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Owner、复核与回滚可追溯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7424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0BB8A-F42D-42F5-B186-E2FA92692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79a96b381486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746D1BA2-460E-4386-BFFA-36FC70DB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02  CFW 使用规范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72A41A65-2A9E-4606-8D02-3E5A175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CFW 规范落实到每条业务流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8FB953D-7728-47B4-9C22-356E291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低频任务、月结、备份和故障切换需纳入复核，不能仅按短期无命中删规则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ED403A76-8EEC-48C4-A1CC-AD4A99A4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27A50D99-F41E-42D9-991A-04D73CFD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覆盖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942A3D20-490A-4980-9003-1ADC775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28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防护对象与实际流量路径一致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605B1D5B-18B8-4313-9227-16EC9536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授权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245E76E-C907-45DE-91AE-FBE31B82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来源、目的和端口有业务依据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BA7AD647-5855-4F00-BDF0-165148A0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14B59ED7-00E0-4587-AEE8-14A41AC0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正反用例和日志共同证明效果</a:t>
            </a:r>
          </a:p>
        </p:txBody>
      </p:sp>
    </p:spTree>
    <p:extLst>
      <p:ext uri="{BB962C8B-B14F-4D97-AF65-F5344CB8AC3E}">
        <p14:creationId xmlns:p14="http://schemas.microsoft.com/office/powerpoint/2010/main" val="3156292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4CB50-B220-4A95-85A9-76BA6C94B0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8aea03cf24e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D17442C2-DCE3-4CE5-AC2D-F2BBB78E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3AB056A5-3763-4845-A15A-E37F61EE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访问控制的岗位责任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FF0AB753-CE20-43B4-A640-EE9DB63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建议分工，可结合团队规模合并角色，但关键变更保留独立复核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C6E5D957-F800-4812-B5A9-1441F6D5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4A5DA-BC17-473A-BD86-E32DF2C11852}"/>
              </a:ext>
            </a:extLst>
          </p:cNvPr>
          <p:cNvGraphicFramePr/>
          <p:nvPr/>
        </p:nvGraphicFramePr>
        <p:xfrm>
          <a:off xmlns:a="http://schemas.openxmlformats.org/drawingml/2006/main" x="609600" y="22479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857750"/>
                <a:gridCol w="3390900"/>
              </a:tblGrid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负责事项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 Owner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说明依赖、确认必要性与业务验收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端口依据、业务回归结果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网络/平台工程师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确认地址、路由、接入与回程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拓扑、路由快照、覆盖记录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安全管理员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审查最小权限、策略顺序与例外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规则评审、风险与例外记录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80010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变更负责人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安排窗口、协调验证与决定回滚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工单、验收与回滚结论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2887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FB0F5-49B4-46FC-9481-C90249E09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136e3207d4b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3DF0065B-E1E1-4B1D-AC86-5C2CB6B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4406E5F9-9229-4132-99AB-7AD29EE8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规则变更从申请到复核形成闭环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0B8D4378-E0BB-49AB-A3D6-B0DB1DA9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回滚门槛与恢复前态应在发布前准备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7CE24F58-A194-4CBE-81E0-12F44908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流程与职责为培训建议，需由企业正式确认后采用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B53AB495-8724-44B2-9E1E-EADC8E71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78D20-AF0F-4937-8B18-1E0B8ED1A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a7688822b4d0f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3C6EAE35-7392-45F4-B483-2E973275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快照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BE63E26C-D121-4EFD-A6D4-194A8A3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规则、对象组、路由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都保留变更前态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6D186196-64EF-4BCF-8124-08FC9C42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验收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A9FBC753-EB37-440B-8856-82A972A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关键交易结果、错误率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时延与策略命中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4980FDCF-FF3D-47EA-84E8-B259571A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回滚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FE3A90F4-0D7D-49DF-BD93-951EEA3D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达到约定门槛即执行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记录结果并恢复检查</a:t>
            </a:r>
          </a:p>
        </p:txBody>
      </p:sp>
    </p:spTree>
    <p:extLst>
      <p:ext uri="{BB962C8B-B14F-4D97-AF65-F5344CB8AC3E}">
        <p14:creationId xmlns:p14="http://schemas.microsoft.com/office/powerpoint/2010/main" val="10357903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6F0B2-3341-485F-8CE7-DE8D0459D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2fc303aa64c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861E4D8-9C5F-44C2-BD08-01614F2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9FF25839-A301-4979-A46F-1F122836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验收记录同时覆盖成功、拒绝与路径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630B7217-C8E4-40DF-AC9F-A8E9C28F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测试时间、源、目的、协议和端口应能与日志对应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8C43AACB-FDDE-4224-86D4-0A712889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“连接失败”需结合预期阻断日志解释，避免把服务未监听当作策略生效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69F6284-6ACA-41A2-A1F2-48594417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81F5-E736-4BA0-A54C-D0FB25FB8480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476750"/>
                <a:gridCol w="4686300"/>
              </a:tblGrid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用例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教学测试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验收记录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访问目标 TCP 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连接结果、交易结果、规则命中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同一来源访问目标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失败结果与预期阻断日志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路径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新建会话并核对对应防护边界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实例、边界、源目的与时间一致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回归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DNS、监控、备份与关键交易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关键依赖正常，回滚步骤已验证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840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A76D9-3BEA-43C1-B7CE-6967C46BB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2c9d6820344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787C7EC0-563D-4F2E-92B6-CF871664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4BC1993-7041-4200-B69B-49EE265B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日志筛选与命中结果示意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435B6D1D-5D0C-4357-8440-0D0E8D2E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依据华为云日志字段绘制，图中数据为虚构教学示例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E5EB8E2C-C917-4E87-941D-54DA86B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流量日志存在会话结束上报等机制。暂未查到日志时先核对上报与筛选条件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91E702DD-732F-45AE-B21C-52E0938A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BC55-EB31-49F2-9EAF-8F61E282B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a5d9d59fd4684"/>
          <a:stretch xmlns:a="http://schemas.openxmlformats.org/drawingml/2006/main"/>
        </p:blipFill>
        <p:spPr>
          <a:xfrm xmlns:a="http://schemas.openxmlformats.org/drawingml/2006/main">
            <a:off x="2024063" y="2028825"/>
            <a:ext cx="8143875" cy="271462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26FA2070-F784-4FC6-BCC1-B1D4376F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01 确认范围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997F17C8-6E88-4A4C-BB76-B2E627DF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实例、日志类型与防护边界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214B229B-FF1A-490E-87A9-91B2487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02 筛选业务流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4105B4B9-9D86-4A63-989C-02745F4A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721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时间、源目的、协议与端口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426100E4-87BE-4550-BA79-AB297437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03 关联结果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DFD6BEF2-BBF2-42E0-8C00-B58421B2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721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规则动作与业务测试对应</a:t>
            </a:r>
          </a:p>
        </p:txBody>
      </p:sp>
    </p:spTree>
    <p:extLst>
      <p:ext uri="{BB962C8B-B14F-4D97-AF65-F5344CB8AC3E}">
        <p14:creationId xmlns:p14="http://schemas.microsoft.com/office/powerpoint/2010/main" val="64804789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BF064-0497-4CB6-9304-26581D3B09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cc80fcb254eb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896BAB4-37FF-4E73-88D1-D74519A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03  变更与排障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CB5B4C28-D476-4FE4-BCE0-8E78D7B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排障按证据分支推进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AE9BA43F-9D6F-4AEF-B840-CF51E59D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先确定检查点的观测结果，再定位具体控制层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151AEA8E-0C0C-43D1-9E6A-8C1E339A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逻辑教学示意，具体配置以实际区域、版本与网络路径为准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D649EF87-428B-435F-A731-37998232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B9C2C-9974-43EA-9D1D-7E0E928AC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54873b8f941d2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08D55E4F-D404-4A2A-B65B-782CCB33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有日志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1B9ADBE1-B619-49B3-9404-D0682938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看访问控制动作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再看攻击事件与 IPS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8930C2BA-D517-4E72-A9EA-2292BFD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无即时日志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F6BCAF08-A130-46E2-A776-B9D8CA15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核对筛选、上报和路径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避免直接增加 Any 放行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D777EDB9-C396-4E75-B821-6C97CA1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端到端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A7A2C54B-7D94-4751-A6DF-40880BE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其他控制层与服务状态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都需验证</a:t>
            </a:r>
          </a:p>
        </p:txBody>
      </p:sp>
    </p:spTree>
    <p:extLst>
      <p:ext uri="{BB962C8B-B14F-4D97-AF65-F5344CB8AC3E}">
        <p14:creationId xmlns:p14="http://schemas.microsoft.com/office/powerpoint/2010/main" val="53937438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80A10-185C-4158-A3E7-42DA94C7A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dfd81f5bc4f4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0326BFC3-1107-4CC9-9E2E-4FBF59D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B652DCD9-2F31-4DDE-A0F6-6F18C285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案例一：CFW 放行后仍然连接超时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4F7EF6E-D941-4222-A9FD-9F00CCD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B0D64C60-21EB-4ACF-B783-1E5E4F47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教学假设：无 NAT，源端出方向及其他控制层正常。下一页为参考答案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A6E23E1-4511-4981-8A88-FEA55FC1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CE29B-C0AA-43B3-A591-F4869D2FF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97c72bce484f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DB60B0CF-FEA9-4807-AFEA-7D0AA50A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B259D02B-1F1F-4421-B7B9-ED5BD616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双向引流正常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数据库已监听 3306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0B60DC4D-5DA6-4DCB-AC2C-32F11D6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9C3E24FE-D929-406B-8CE4-7EFF80B3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根据图中地址与来源规则定位问题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01922060-B853-4EF5-A495-DE3A1E17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23542B4B-07A0-46B2-9660-53BE0CFF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最小修改、正反用例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以及对应的证据</a:t>
            </a:r>
          </a:p>
        </p:txBody>
      </p:sp>
    </p:spTree>
    <p:extLst>
      <p:ext uri="{BB962C8B-B14F-4D97-AF65-F5344CB8AC3E}">
        <p14:creationId xmlns:p14="http://schemas.microsoft.com/office/powerpoint/2010/main" val="5444726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C5CEA-474F-47EC-8F2B-BB29519C9F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33c6e621344b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B7474711-1C09-49A0-9648-10ECFAE8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26752BA-80D8-4B8B-A0FF-DF475CD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案例一答案：数据安全组来源不匹配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6ADCB70-E30E-4CCC-9274-86E0517B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评分 10 分：根因 3 分、最小变更 3 分、正反用例各 2 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F98F4BE2-89E5-48BA-8660-4B80D64C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829987A8-2369-4F8B-9E9B-5010640C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10.20.10.15 不属于允许的 10.20.20.0/24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FE80DFDB-9642-4CAE-8DEC-D95A9FE9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经审批为实际应用来源增加 TCP 3306 的精确授权。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A5705-9015-4162-AB2E-2F3B2E229BC6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10.20.10.15 访问 10.30.20.10:3306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连接成功且业务回归通过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同源访问目标 TCP 22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按基线拒绝，关联阻断证据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规则差异、测试时间与 CFW 命中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能够关联 CHG-DEMO-001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9821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EF515-EFD8-4FDD-B42A-3BE2A845CB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3432e83ca40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6D943434-EBEC-4D9B-BF27-D42BDBB1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A96A095E-7CBF-47E2-9A8A-64B563CB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案例二：SSH 阻断规则为何没有生效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382E37F-3BCD-46C8-ADBA-5125C892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 分钟讨论 + 3 分钟讲评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EA5DC988-7DCD-4CAC-B519-716AEDC4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假设无白名单、黑名单或其他高优先级功能影响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B8130381-CD29-4699-9B65-1A3E99B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B68D3-E1E8-448F-8149-2B4157CCF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d38106f3e413a"/>
          <a:stretch xmlns:a="http://schemas.openxmlformats.org/drawingml/2006/main"/>
        </p:blipFill>
        <p:spPr>
          <a:xfrm xmlns:a="http://schemas.openxmlformats.org/drawingml/2006/main">
            <a:off x="381000" y="2325467"/>
            <a:ext cx="8210550" cy="3283392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C8395785-8F09-4A5B-B3ED-CEA69B1B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已知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57573EC9-8051-45E8-B4DE-C5377E1D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新建连接命中首条规则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0E1B6F53-A0EB-4A1A-A985-BDF8F72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F8569A25-E95D-486D-8944-5DFD394E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解释阻断为何无效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审查整体授权范围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FC0AE072-162A-472A-85A5-7999E226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交付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9915FAF2-878C-4253-9766-DA45D486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给出收敛后的规则集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同时保留数据库业务</a:t>
            </a:r>
          </a:p>
        </p:txBody>
      </p:sp>
    </p:spTree>
    <p:extLst>
      <p:ext uri="{BB962C8B-B14F-4D97-AF65-F5344CB8AC3E}">
        <p14:creationId xmlns:p14="http://schemas.microsoft.com/office/powerpoint/2010/main" val="9371951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24435-256C-4448-9977-333D76BBB5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47c24d7b4e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E96CDEF6-B10C-41BB-BEA4-5E25B9F8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13920E09-76EC-49E1-A88D-879FD503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案例二答案：首条 Any 放行遮蔽后续规则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04BCC1FB-1150-4228-A684-2569EF67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评分 10 分：顺序解释 3 分、授权收敛 4 分、验收 3 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7833206C-F6A4-4E9D-8183-2409EAD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C5748C63-DB58-4130-A70D-3889A577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ACL 在首条规则命中后停止继续匹配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F344CB2B-09EF-4EDB-919E-F5E4A47F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以已批准的源、目的与 TCP 3306 放行替换宽泛 Any 规则。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88475-E405-405B-AC7C-8E53CFA334FA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精确业务放行、获批运维、范围内兜底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依赖梳理完成后启用阻断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新建数据库连接与业务交易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命中精确放行，业务正常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新建 SSH 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命中预期阻断，拒绝成功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3572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D68A3-4E89-42F9-93B8-C2DECF7EE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fd3d2bdc148c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0008901-5FE7-4E45-B3D2-89D1FF41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案例演练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0F0DE667-5FB3-4AA7-A717-D43E23BC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案例三：业务正常却看不到 CFW 流量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8A99E130-0B33-4B48-9F95-823B8D83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4 分钟讨论 + 4 分钟讲评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A9A38738-5E7D-4D6C-A6E1-86897821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仅调整批准的业务范围，先评估旧互联是否还承载其他业务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2E38D413-C1C8-432B-95CF-6FF2398B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F4D6F-B1A2-4678-8484-87D587E84D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caf06e0804fe4"/>
          <a:stretch xmlns:a="http://schemas.openxmlformats.org/drawingml/2006/main"/>
        </p:blipFill>
        <p:spPr>
          <a:xfrm xmlns:a="http://schemas.openxmlformats.org/drawingml/2006/main">
            <a:off x="1174081" y="1895475"/>
            <a:ext cx="6624388" cy="4143375"/>
          </a:xfrm>
          <a:prstGeom xmlns:a="http://schemas.openxmlformats.org/drawingml/2006/main" prst="rect">
            <a:avLst/>
          </a:prstGeom>
        </p:spPr>
      </p:pic>
      <p:sp>
        <p:nvSpPr>
          <p:cNvPr id="8" name="txt-5">
            <a:extLst xmlns:a="http://schemas.openxmlformats.org/drawingml/2006/main">
              <a:ext uri="{FF2B5EF4-FFF2-40B4-BE49-F238E27FC236}">
                <a16:creationId xmlns:a16="http://schemas.microsoft.com/office/drawing/2014/main" id="{F333905A-9A40-4F80-9364-791F7F2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4787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已排除</a:t>
            </a:r>
          </a:p>
        </p:txBody>
      </p:sp>
      <p:sp>
        <p:nvSpPr>
          <p:cNvPr id="9" name="txt-6">
            <a:extLst xmlns:a="http://schemas.openxmlformats.org/drawingml/2006/main">
              <a:ext uri="{FF2B5EF4-FFF2-40B4-BE49-F238E27FC236}">
                <a16:creationId xmlns:a16="http://schemas.microsoft.com/office/drawing/2014/main" id="{BF34390E-9AAA-40D1-A46F-E008AB1C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6697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边界、实例、筛选时间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与上报条件问题</a:t>
            </a:r>
          </a:p>
        </p:txBody>
      </p:sp>
      <p:sp>
        <p:nvSpPr>
          <p:cNvPr id="10" name="txt-7">
            <a:extLst xmlns:a="http://schemas.openxmlformats.org/drawingml/2006/main">
              <a:ext uri="{FF2B5EF4-FFF2-40B4-BE49-F238E27FC236}">
                <a16:creationId xmlns:a16="http://schemas.microsoft.com/office/drawing/2014/main" id="{A8E2B055-C6BC-4305-976D-FA8B5117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352800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已观测</a:t>
            </a:r>
          </a:p>
        </p:txBody>
      </p:sp>
      <p:sp>
        <p:nvSpPr>
          <p:cNvPr id="11" name="txt-8">
            <a:extLst xmlns:a="http://schemas.openxmlformats.org/drawingml/2006/main">
              <a:ext uri="{FF2B5EF4-FFF2-40B4-BE49-F238E27FC236}">
                <a16:creationId xmlns:a16="http://schemas.microsoft.com/office/drawing/2014/main" id="{DDFC4D36-C0A9-4B55-85CD-6DA619B3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71900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目标网段实际命中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旧对等连接路径</a:t>
            </a:r>
          </a:p>
        </p:txBody>
      </p:sp>
      <p:sp>
        <p:nvSpPr>
          <p:cNvPr id="12" name="txt-9">
            <a:extLst xmlns:a="http://schemas.openxmlformats.org/drawingml/2006/main">
              <a:ext uri="{FF2B5EF4-FFF2-40B4-BE49-F238E27FC236}">
                <a16:creationId xmlns:a16="http://schemas.microsoft.com/office/drawing/2014/main" id="{B86A59AC-AABF-47B0-9D55-A1C34A61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57725"/>
            <a:ext cx="2543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任务</a:t>
            </a:r>
          </a:p>
        </p:txBody>
      </p:sp>
      <p:sp>
        <p:nvSpPr>
          <p:cNvPr id="13" name="txt-10">
            <a:extLst xmlns:a="http://schemas.openxmlformats.org/drawingml/2006/main">
              <a:ext uri="{FF2B5EF4-FFF2-40B4-BE49-F238E27FC236}">
                <a16:creationId xmlns:a16="http://schemas.microsoft.com/office/drawing/2014/main" id="{CC182BDC-37CB-4361-90D5-EE51921A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076825"/>
            <a:ext cx="2543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给出路径调整、覆盖验收</a:t>
            </a:r>
          </a:p>
          <a:p xmlns:a="http://schemas.openxmlformats.org/drawingml/2006/main">
            <a:pPr algn="l">
              <a:def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与回滚方案</a:t>
            </a:r>
          </a:p>
        </p:txBody>
      </p:sp>
    </p:spTree>
    <p:extLst>
      <p:ext uri="{BB962C8B-B14F-4D97-AF65-F5344CB8AC3E}">
        <p14:creationId xmlns:p14="http://schemas.microsoft.com/office/powerpoint/2010/main" val="2363743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DF03C-1C7E-4141-9C46-C97E118E0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7275e5da84e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67C6525-60AE-4D3F-ABA0-64819A30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04  案例讲评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83F9614F-51B1-49FB-A243-1F560AEA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案例三答案：实际流量绕过预期检查路径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3CD4E29E-5887-48E7-BB4D-82A2CD75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评分 10 分：根因 2 分、路径与回滚 4 分、覆盖验证 4 分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066BFB0-F798-4484-91B3-8CE92DC1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D9B14626-47E2-4FEF-8A4F-9988494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业务访问成功，但 CFW 未覆盖实际命中的路径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C596A6D6-F2D4-483A-A4ED-BDD24AB9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核验 ER 引流设计后，在批准窗口分范围调整去程与回程。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0A1E3-8D82-409B-A3F5-834A83DC86FB}"/>
              </a:ext>
            </a:extLst>
          </p:cNvPr>
          <p:cNvGraphicFramePr/>
          <p:nvPr/>
        </p:nvGraphicFramePr>
        <p:xfrm>
          <a:off xmlns:a="http://schemas.openxmlformats.org/drawingml/2006/main" x="609600" y="3571875"/>
          <a:ext xmlns:a="http://schemas.openxmlformats.org/drawingml/2006/main" cx="109728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715000"/>
                <a:gridCol w="3733800"/>
              </a:tblGrid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通过标准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变更前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旧路由、对象、业务基线快照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具备可执行的恢复步骤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应通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受控新连接完成，日志记录该业务流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业务回归通过且规则命中正确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569119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应拒绝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发起范围内禁止连接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看到预期阻断并排除旁路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40307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36E82-530D-4E41-B253-DE5C5F86D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af823606740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CB75D400-44D9-4C0B-AA2C-BA989AB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36B50E6B-3424-48AD-A80A-F4900319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五个快速判断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E6255C45-EE3A-42E6-B623-959F879F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0038FBC0-D847-4209-A3BE-3E37C2FF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D4C20558-897A-4D40-9C69-F326A7D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同一 VPC 划出应用和数据子网，是否已经完成访问隔离？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0AD35A0B-F577-44F2-98E8-1FC4487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1EA517DD-131B-4F41-BD9D-7F2D0A1B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VPC 边界 CFW 接入后，是否自动拒绝未配置的业务流量？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9BAA17CB-315E-4FE4-AE73-E6BEDA7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FB85D75D-931B-4D65-9461-5F3F1154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5282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CFW 的 ACL 放行，是否代表端到端业务必定可用？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82227F6A-35D8-4266-84DA-5B0B8EA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8015F727-A1EA-4C43-8FA3-18F67FB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普通业务长期使用白名单，是否等同于 ACL 精确放行？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5E5CF236-72E7-4866-86F8-B849162C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114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A55DC3A4-16B0-41FD-91B4-5757FCB6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8629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验收是否需要同时保留应通、应拒绝与命中证据？</a:t>
            </a:r>
          </a:p>
        </p:txBody>
      </p:sp>
    </p:spTree>
    <p:extLst>
      <p:ext uri="{BB962C8B-B14F-4D97-AF65-F5344CB8AC3E}">
        <p14:creationId xmlns:p14="http://schemas.microsoft.com/office/powerpoint/2010/main" val="8518027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D531F-6C92-4FDD-8E71-45306DA16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91427ec3d4e5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BD1E4F3F-D8D6-4170-BC30-216E0BA9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  课堂测验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DF144F4B-D506-4FAB-934B-679D9C1D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测验答案与理由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45C7DE63-2D3E-46E8-9C53-9AAE8257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A4963-8C5B-427B-8C2B-3498F55FF11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238250"/>
                <a:gridCol w="8343900"/>
              </a:tblGrid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题号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答案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102A56"/>
                      </a:solidFill>
                      <a:prstDash val="solid"/>
                    </a:lnL>
                    <a:lnR w="6350">
                      <a:solidFill>
                        <a:srgbClr val="102A56"/>
                      </a:solidFill>
                      <a:prstDash val="solid"/>
                    </a:lnR>
                    <a:lnT w="6350">
                      <a:solidFill>
                        <a:srgbClr val="102A56"/>
                      </a:solidFill>
                      <a:prstDash val="solid"/>
                    </a:lnT>
                    <a:lnB w="6350">
                      <a:solidFill>
                        <a:srgbClr val="102A56"/>
                      </a:solidFill>
                      <a:prstDash val="solid"/>
                    </a:lnB>
                    <a:solidFill>
                      <a:srgbClr val="002FA7">
                        <a:alpha val="94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子网划分需要配合安全策略实现隔离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文档说明 VPC 边界接入后默认放行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其他安全层、路由或服务仍可影响业务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白名单可跳过后续检测，需按例外管理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EAF1FF">
                        <a:alpha val="72000"/>
                      </a:srgbClr>
                    </a:solidFill>
                  </a:tcPr>
                </a:tc>
              </a:tr>
              <a:tr h="666750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A56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正反用例与日志共同验证策略和覆盖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FA"/>
                      </a:solidFill>
                      <a:prstDash val="solid"/>
                    </a:lnL>
                    <a:lnR w="6350">
                      <a:solidFill>
                        <a:srgbClr val="D9E5FA"/>
                      </a:solidFill>
                      <a:prstDash val="solid"/>
                    </a:lnR>
                    <a:lnT w="6350">
                      <a:solidFill>
                        <a:srgbClr val="D9E5FA"/>
                      </a:solidFill>
                      <a:prstDash val="solid"/>
                    </a:lnT>
                    <a:lnB w="6350">
                      <a:solidFill>
                        <a:srgbClr val="D9E5FA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65878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BF7EB-4871-4C6B-82BB-1ED32547B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15c8061d4a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85996337-E726-4D94-B458-72E73475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05  岗位检查表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CFF8DDE5-39A4-4BB6-B8A0-5C693B08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上线前与日常复核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215D0774-6326-4A2A-96E1-60142AFF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建议落地：统一申请模板、明确复核责任人、选择一个测试业务完成闭环演练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38FDE2D8-1F01-4E19-A86D-B42114F8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30A61844-8AA6-49EC-851B-656A878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4991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每次上线前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030BB01C-8B13-4C56-AB45-4A9F9F98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日常持续维护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00AA3854-87EF-425C-A26D-8B12FA39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地址、环境与业务 Owner 明确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9C22F39-0DEA-42A1-B134-ECC289B4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去回程和 CFW 覆盖已核验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24599D5E-24BF-4A3B-9147-D285FDB1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端口、顺序与例外经复核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9A48BED4-8117-4288-B482-328B4750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991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正反用例与回滚门槛已准备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B70A5523-802E-4652-9CBA-E69C3EBB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98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新增资产同步检查纳管状态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8945FF24-9164-404F-A20E-06E91C0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37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到期临时规则与白名单及时清理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405CCDC1-C3D6-4EBB-94FF-5D4A5B2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周期复核对象组与低频依赖</a:t>
            </a:r>
          </a:p>
        </p:txBody>
      </p:sp>
      <p:sp>
        <p:nvSpPr>
          <p:cNvPr id="15" name="txt-13">
            <a:extLst xmlns:a="http://schemas.openxmlformats.org/drawingml/2006/main">
              <a:ext uri="{FF2B5EF4-FFF2-40B4-BE49-F238E27FC236}">
                <a16:creationId xmlns:a16="http://schemas.microsoft.com/office/drawing/2014/main" id="{E2A81D1B-15F5-4BD2-9A8B-392B1F4C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81575"/>
            <a:ext cx="504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rPr>
              <a:t>按内部要求留存日志与变更证据</a:t>
            </a:r>
          </a:p>
        </p:txBody>
      </p:sp>
    </p:spTree>
    <p:extLst>
      <p:ext uri="{BB962C8B-B14F-4D97-AF65-F5344CB8AC3E}">
        <p14:creationId xmlns:p14="http://schemas.microsoft.com/office/powerpoint/2010/main" val="19867725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1B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376D7B-F354-4DF0-A42D-093EE06E49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66c15dbfb404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xt-0">
            <a:extLst xmlns:a="http://schemas.openxmlformats.org/drawingml/2006/main">
              <a:ext uri="{FF2B5EF4-FFF2-40B4-BE49-F238E27FC236}">
                <a16:creationId xmlns:a16="http://schemas.microsoft.com/office/drawing/2014/main" id="{FD7EC209-F59E-46FB-80EB-4473725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参考资料</a:t>
            </a:r>
          </a:p>
        </p:txBody>
      </p:sp>
      <p:sp>
        <p:nvSpPr>
          <p:cNvPr id="3" name="txt-1">
            <a:extLst xmlns:a="http://schemas.openxmlformats.org/drawingml/2006/main">
              <a:ext uri="{FF2B5EF4-FFF2-40B4-BE49-F238E27FC236}">
                <a16:creationId xmlns:a16="http://schemas.microsoft.com/office/drawing/2014/main" id="{A4001FDE-2FAA-433D-B67E-860CC84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华为云官方参考资料</a:t>
            </a:r>
          </a:p>
        </p:txBody>
      </p:sp>
      <p:sp>
        <p:nvSpPr>
          <p:cNvPr id="4" name="txt-2">
            <a:extLst xmlns:a="http://schemas.openxmlformats.org/drawingml/2006/main">
              <a:ext uri="{FF2B5EF4-FFF2-40B4-BE49-F238E27FC236}">
                <a16:creationId xmlns:a16="http://schemas.microsoft.com/office/drawing/2014/main" id="{92608FC8-E275-4464-983E-11330194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检索日期：2026 年 10 月 16 日。各区域版本与实际控制台可能不同</a:t>
            </a:r>
          </a:p>
        </p:txBody>
      </p:sp>
      <p:sp>
        <p:nvSpPr>
          <p:cNvPr id="5" name="txt-3">
            <a:extLst xmlns:a="http://schemas.openxmlformats.org/drawingml/2006/main">
              <a:ext uri="{FF2B5EF4-FFF2-40B4-BE49-F238E27FC236}">
                <a16:creationId xmlns:a16="http://schemas.microsoft.com/office/drawing/2014/main" id="{55EAD79E-7A04-4C99-97F5-31F7FCE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本课的命名、审批、到期复核、演练评分与验收要求为培训建议基线</a:t>
            </a:r>
          </a:p>
        </p:txBody>
      </p:sp>
      <p:sp>
        <p:nvSpPr>
          <p:cNvPr id="6" name="txt-4">
            <a:extLst xmlns:a="http://schemas.openxmlformats.org/drawingml/2006/main">
              <a:ext uri="{FF2B5EF4-FFF2-40B4-BE49-F238E27FC236}">
                <a16:creationId xmlns:a16="http://schemas.microsoft.com/office/drawing/2014/main" id="{6F90809E-80F7-49A7-9E94-605B696D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D8E6FF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7" name="txt-5">
            <a:extLst xmlns:a="http://schemas.openxmlformats.org/drawingml/2006/main">
              <a:ext uri="{FF2B5EF4-FFF2-40B4-BE49-F238E27FC236}">
                <a16:creationId xmlns:a16="http://schemas.microsoft.com/office/drawing/2014/main" id="{B62C8297-9932-49E8-B9D8-89240F1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网络规划与控制层</a:t>
            </a:r>
          </a:p>
        </p:txBody>
      </p:sp>
      <p:sp>
        <p:nvSpPr>
          <p:cNvPr id="8" name="txt-6">
            <a:extLst xmlns:a="http://schemas.openxmlformats.org/drawingml/2006/main">
              <a:ext uri="{FF2B5EF4-FFF2-40B4-BE49-F238E27FC236}">
                <a16:creationId xmlns:a16="http://schemas.microsoft.com/office/drawing/2014/main" id="{BD24531F-FAD9-4679-B31F-90D9450C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43c61d765074e48"/>
              </a:rPr>
              <a:t>VPC 网络规划建议</a:t>
            </a:r>
          </a:p>
        </p:txBody>
      </p:sp>
      <p:sp>
        <p:nvSpPr>
          <p:cNvPr id="9" name="txt-7">
            <a:extLst xmlns:a="http://schemas.openxmlformats.org/drawingml/2006/main">
              <a:ext uri="{FF2B5EF4-FFF2-40B4-BE49-F238E27FC236}">
                <a16:creationId xmlns:a16="http://schemas.microsoft.com/office/drawing/2014/main" id="{B26137FE-A101-45B7-B820-2B28E7D7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86c557282cb4db1"/>
              </a:rPr>
              <a:t>VPC 网络规划与隔离</a:t>
            </a:r>
          </a:p>
        </p:txBody>
      </p:sp>
      <p:sp>
        <p:nvSpPr>
          <p:cNvPr id="10" name="txt-8">
            <a:extLst xmlns:a="http://schemas.openxmlformats.org/drawingml/2006/main">
              <a:ext uri="{FF2B5EF4-FFF2-40B4-BE49-F238E27FC236}">
                <a16:creationId xmlns:a16="http://schemas.microsoft.com/office/drawing/2014/main" id="{7450FBC1-5ABB-466E-8815-D20F8E4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ac3aef916874c5b"/>
              </a:rPr>
              <a:t>VPC 访问控制概述</a:t>
            </a:r>
          </a:p>
        </p:txBody>
      </p:sp>
      <p:sp>
        <p:nvSpPr>
          <p:cNvPr id="11" name="txt-9">
            <a:extLst xmlns:a="http://schemas.openxmlformats.org/drawingml/2006/main">
              <a:ext uri="{FF2B5EF4-FFF2-40B4-BE49-F238E27FC236}">
                <a16:creationId xmlns:a16="http://schemas.microsoft.com/office/drawing/2014/main" id="{7D50E849-9F0D-46C5-9C92-659FB4E4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CFW 覆盖与引流</a:t>
            </a:r>
          </a:p>
        </p:txBody>
      </p:sp>
      <p:sp>
        <p:nvSpPr>
          <p:cNvPr id="12" name="txt-10">
            <a:extLst xmlns:a="http://schemas.openxmlformats.org/drawingml/2006/main">
              <a:ext uri="{FF2B5EF4-FFF2-40B4-BE49-F238E27FC236}">
                <a16:creationId xmlns:a16="http://schemas.microsoft.com/office/drawing/2014/main" id="{869154CC-7635-4448-B620-5CAE136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ffca107a8f34204"/>
              </a:rPr>
              <a:t>VPC 边界防火墙概述</a:t>
            </a:r>
          </a:p>
        </p:txBody>
      </p:sp>
      <p:sp>
        <p:nvSpPr>
          <p:cNvPr id="13" name="txt-11">
            <a:extLst xmlns:a="http://schemas.openxmlformats.org/drawingml/2006/main">
              <a:ext uri="{FF2B5EF4-FFF2-40B4-BE49-F238E27FC236}">
                <a16:creationId xmlns:a16="http://schemas.microsoft.com/office/drawing/2014/main" id="{473E0B68-743C-470E-A2BB-ED7FFC32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4899c34b5494cfe"/>
              </a:rPr>
              <a:t>ER 引流配置（新版）</a:t>
            </a:r>
          </a:p>
        </p:txBody>
      </p:sp>
      <p:sp>
        <p:nvSpPr>
          <p:cNvPr id="14" name="txt-12">
            <a:extLst xmlns:a="http://schemas.openxmlformats.org/drawingml/2006/main">
              <a:ext uri="{FF2B5EF4-FFF2-40B4-BE49-F238E27FC236}">
                <a16:creationId xmlns:a16="http://schemas.microsoft.com/office/drawing/2014/main" id="{75FB5062-C0C5-4AB8-8195-B4FC062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257639b4a00459a"/>
              </a:rPr>
              <a:t>开启防护与流量验证</a:t>
            </a:r>
          </a:p>
        </p:txBody>
      </p:sp>
      <p:sp>
        <p:nvSpPr>
          <p:cNvPr id="15" name="txt-13">
            <a:extLst xmlns:a="http://schemas.openxmlformats.org/drawingml/2006/main">
              <a:ext uri="{FF2B5EF4-FFF2-40B4-BE49-F238E27FC236}">
                <a16:creationId xmlns:a16="http://schemas.microsoft.com/office/drawing/2014/main" id="{BE207915-D0B8-4841-8861-E3EF107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2FA7"/>
                </a:solidFill>
                <a:latin typeface="Arial Unicode MS"/>
                <a:ea typeface="Arial Unicode MS"/>
                <a:cs typeface="Arial Unicode MS"/>
              </a:rPr>
              <a:t>策略与日志排障</a:t>
            </a:r>
          </a:p>
        </p:txBody>
      </p:sp>
      <p:sp>
        <p:nvSpPr>
          <p:cNvPr id="16" name="txt-14">
            <a:extLst xmlns:a="http://schemas.openxmlformats.org/drawingml/2006/main">
              <a:ext uri="{FF2B5EF4-FFF2-40B4-BE49-F238E27FC236}">
                <a16:creationId xmlns:a16="http://schemas.microsoft.com/office/drawing/2014/main" id="{C7FA59F7-E345-4053-9EBC-9808E978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28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f8b85ea8b9aa455d"/>
              </a:rPr>
              <a:t>VPC 边界防护规则</a:t>
            </a:r>
          </a:p>
        </p:txBody>
      </p:sp>
      <p:sp>
        <p:nvSpPr>
          <p:cNvPr id="17" name="txt-15">
            <a:extLst xmlns:a="http://schemas.openxmlformats.org/drawingml/2006/main">
              <a:ext uri="{FF2B5EF4-FFF2-40B4-BE49-F238E27FC236}">
                <a16:creationId xmlns:a16="http://schemas.microsoft.com/office/drawing/2014/main" id="{32321E19-1A82-4523-AE07-0E627703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147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36a8473d733b4136"/>
              </a:rPr>
              <a:t>访问控制策略概述</a:t>
            </a:r>
          </a:p>
        </p:txBody>
      </p:sp>
      <p:sp>
        <p:nvSpPr>
          <p:cNvPr id="18" name="txt-16">
            <a:extLst xmlns:a="http://schemas.openxmlformats.org/drawingml/2006/main">
              <a:ext uri="{FF2B5EF4-FFF2-40B4-BE49-F238E27FC236}">
                <a16:creationId xmlns:a16="http://schemas.microsoft.com/office/drawing/2014/main" id="{09266B0E-7667-4845-B0FE-DF583AE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3f9823979414137"/>
              </a:rPr>
              <a:t>日志查询</a:t>
            </a:r>
          </a:p>
        </p:txBody>
      </p:sp>
      <p:sp>
        <p:nvSpPr>
          <p:cNvPr id="19" name="txt-17">
            <a:extLst xmlns:a="http://schemas.openxmlformats.org/drawingml/2006/main">
              <a:ext uri="{FF2B5EF4-FFF2-40B4-BE49-F238E27FC236}">
                <a16:creationId xmlns:a16="http://schemas.microsoft.com/office/drawing/2014/main" id="{A99C264C-71D3-46B7-946B-5AAAF18E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86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2cf9cafcfffd4c43"/>
              </a:rPr>
              <a:t>流量统计与会话上报</a:t>
            </a:r>
          </a:p>
        </p:txBody>
      </p:sp>
      <p:sp>
        <p:nvSpPr>
          <p:cNvPr id="20" name="txt-18">
            <a:extLst xmlns:a="http://schemas.openxmlformats.org/drawingml/2006/main">
              <a:ext uri="{FF2B5EF4-FFF2-40B4-BE49-F238E27FC236}">
                <a16:creationId xmlns:a16="http://schemas.microsoft.com/office/drawing/2014/main" id="{8E604E95-1052-4867-AD53-78B1B14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72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02A56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dd7b5cdcf144b7d"/>
              </a:rPr>
              <a:t>配置防护策略后业务无法访问</a:t>
            </a:r>
          </a:p>
        </p:txBody>
      </p:sp>
    </p:spTree>
    <p:extLst>
      <p:ext uri="{BB962C8B-B14F-4D97-AF65-F5344CB8AC3E}">
        <p14:creationId xmlns:p14="http://schemas.microsoft.com/office/powerpoint/2010/main" val="273828989"/>
      </p:ext>
    </p:extLst>
  </p:cSld>
</p:sld>
</file>

<file path=ppt/theme/theme1.xml><?xml version="1.0" encoding="utf-8"?>
<a:theme xmlns:a="http://schemas.openxmlformats.org/drawingml/2006/main" name="ChatGPT">
  <a:themeElements>
    <a:clrScheme name="Klein Blue Glass">
      <a:dk1>
        <a:srgbClr val="001B69"/>
      </a:dk1>
      <a:lt1>
        <a:srgbClr val="FFFFFF"/>
      </a:lt1>
      <a:dk2>
        <a:srgbClr val="102A56"/>
      </a:dk2>
      <a:lt2>
        <a:srgbClr val="EAF1FF"/>
      </a:lt2>
      <a:accent1>
        <a:srgbClr val="002FA7"/>
      </a:accent1>
      <a:accent2>
        <a:srgbClr val="174DD6"/>
      </a:accent2>
      <a:accent3>
        <a:srgbClr val="23447C"/>
      </a:accent3>
      <a:accent4>
        <a:srgbClr val="8AAAF7"/>
      </a:accent4>
      <a:accent5>
        <a:srgbClr val="B9CCFA"/>
      </a:accent5>
      <a:accent6>
        <a:srgbClr val="EAF1FF"/>
      </a:accent6>
      <a:hlink>
        <a:srgbClr val="002FA7"/>
      </a:hlink>
      <a:folHlink>
        <a:srgbClr val="23447C"/>
      </a:folHlink>
    </a:clrScheme>
    <a:fontScheme name="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Klein Blue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2026-10-16T05:10:26.2550000Z</dcterms:created>
  <dcterms:modified xsi:type="dcterms:W3CDTF">2026-10-16T05:10:26.2550000Z</dcterms:modified>
</coreProperties>
</file>