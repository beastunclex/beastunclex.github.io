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68e35d76534b9e" /><Relationship Type="http://schemas.openxmlformats.org/officeDocument/2006/relationships/extended-properties" Target="/docProps/app.xml" Id="R70dd8638541f4be8" /><Relationship Type="http://schemas.openxmlformats.org/officeDocument/2006/relationships/officeDocument" Target="/ppt/presentation.xml" Id="Rfade2022eb3f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c1235f18a40d9"/>
  </p:sldMasterIdLst>
  <p:notesMasterIdLst>
    <p:notesMasterId xmlns:r="http://schemas.openxmlformats.org/officeDocument/2006/relationships" r:id="Rcf058a26198d4ced"/>
  </p:notesMasterIdLst>
  <p:sldIdLst>
    <p:sldId xmlns:r="http://schemas.openxmlformats.org/officeDocument/2006/relationships" id="256" r:id="R5e39424031464735"/>
    <p:sldId xmlns:r="http://schemas.openxmlformats.org/officeDocument/2006/relationships" id="257" r:id="Rba00e442b27d457b"/>
    <p:sldId xmlns:ns1="http://schemas.openxmlformats.org/officeDocument/2006/relationships" id="296" ns1:id="RAddedVPC41"/>
    <p:sldId xmlns:ns1="http://schemas.openxmlformats.org/officeDocument/2006/relationships" id="297" ns1:id="RAddedVPC42"/>
    <p:sldId xmlns:r="http://schemas.openxmlformats.org/officeDocument/2006/relationships" id="259" r:id="R37058088e76a4d99"/>
    <p:sldId xmlns:ns1="http://schemas.openxmlformats.org/officeDocument/2006/relationships" id="298" ns1:id="RAddedVPC43"/>
    <p:sldId xmlns:ns1="http://schemas.openxmlformats.org/officeDocument/2006/relationships" id="299" ns1:id="RAddedVPC44"/>
    <p:sldId xmlns:ns1="http://schemas.openxmlformats.org/officeDocument/2006/relationships" id="312" ns1:id="RBodyKnowledge57"/>
    <p:sldId xmlns:r="http://schemas.openxmlformats.org/officeDocument/2006/relationships" id="265" r:id="R0a30859e4d1142b3"/>
    <p:sldId xmlns:ns1="http://schemas.openxmlformats.org/officeDocument/2006/relationships" id="300" ns1:id="RAddedVPC45"/>
    <p:sldId xmlns:ns1="http://schemas.openxmlformats.org/officeDocument/2006/relationships" id="301" ns1:id="RAddedVPC46"/>
    <p:sldId xmlns:r="http://schemas.openxmlformats.org/officeDocument/2006/relationships" id="260" r:id="Rb1dad80c3cb442c9"/>
    <p:sldId xmlns:r="http://schemas.openxmlformats.org/officeDocument/2006/relationships" id="258" r:id="R8abba07ed1dc4b7a"/>
    <p:sldId xmlns:r="http://schemas.openxmlformats.org/officeDocument/2006/relationships" id="262" r:id="R8fa41cf328784194"/>
    <p:sldId xmlns:r="http://schemas.openxmlformats.org/officeDocument/2006/relationships" id="263" r:id="Ra9e324953b4647d0"/>
    <p:sldId xmlns:r="http://schemas.openxmlformats.org/officeDocument/2006/relationships" id="264" r:id="Rf0d74bbe5c7b4c89"/>
    <p:sldId xmlns:ns1="http://schemas.openxmlformats.org/officeDocument/2006/relationships" id="302" ns1:id="RAddedVPC47"/>
    <p:sldId xmlns:ns1="http://schemas.openxmlformats.org/officeDocument/2006/relationships" id="311" ns1:id="RAddedVPC56"/>
    <p:sldId xmlns:ns1="http://schemas.openxmlformats.org/officeDocument/2006/relationships" id="303" ns1:id="RAddedVPC48"/>
    <p:sldId xmlns:ns1="http://schemas.openxmlformats.org/officeDocument/2006/relationships" id="310" ns1:id="RAddedVPC55"/>
    <p:sldId xmlns:ns1="http://schemas.openxmlformats.org/officeDocument/2006/relationships" id="304" ns1:id="RAddedVPC49"/>
    <p:sldId xmlns:ns1="http://schemas.openxmlformats.org/officeDocument/2006/relationships" id="305" ns1:id="RAddedVPC50"/>
    <p:sldId xmlns:ns1="http://schemas.openxmlformats.org/officeDocument/2006/relationships" id="313" ns1:id="RBodyKnowledge58"/>
    <p:sldId xmlns:ns1="http://schemas.openxmlformats.org/officeDocument/2006/relationships" id="324" ns1:id="RPrivateNAT5"/>
    <p:sldId xmlns:ns1="http://schemas.openxmlformats.org/officeDocument/2006/relationships" id="325" ns1:id="RPrivateNAT6"/>
    <p:sldId xmlns:ns1="http://schemas.openxmlformats.org/officeDocument/2006/relationships" id="320" ns1:id="RPrivateNAT1"/>
    <p:sldId xmlns:ns1="http://schemas.openxmlformats.org/officeDocument/2006/relationships" id="321" ns1:id="RPrivateNAT2"/>
    <p:sldId xmlns:ns1="http://schemas.openxmlformats.org/officeDocument/2006/relationships" id="322" ns1:id="RPrivateNAT3"/>
    <p:sldId xmlns:ns1="http://schemas.openxmlformats.org/officeDocument/2006/relationships" id="323" ns1:id="RPrivateNAT4"/>
    <p:sldId xmlns:ns1="http://schemas.openxmlformats.org/officeDocument/2006/relationships" id="326" ns1:id="RPrivateNAT7"/>
    <p:sldId xmlns:ns1="http://schemas.openxmlformats.org/officeDocument/2006/relationships" id="306" ns1:id="RAddedVPC51"/>
    <p:sldId xmlns:ns1="http://schemas.openxmlformats.org/officeDocument/2006/relationships" id="314" ns1:id="RBodyKnowledge59"/>
    <p:sldId xmlns:ns1="http://schemas.openxmlformats.org/officeDocument/2006/relationships" id="307" ns1:id="RAddedVPC52"/>
    <p:sldId xmlns:ns1="http://schemas.openxmlformats.org/officeDocument/2006/relationships" id="327" ns1:id="RPrivateNAT8"/>
    <p:sldId xmlns:ns1="http://schemas.openxmlformats.org/officeDocument/2006/relationships" id="329" ns1:id="RHardening1"/>
    <p:sldId xmlns:ns1="http://schemas.openxmlformats.org/officeDocument/2006/relationships" id="330" ns1:id="RHardening2"/>
    <p:sldId xmlns:ns1="http://schemas.openxmlformats.org/officeDocument/2006/relationships" id="331" ns1:id="RHardening3"/>
    <p:sldId xmlns:ns1="http://schemas.openxmlformats.org/officeDocument/2006/relationships" id="332" ns1:id="RHardening4"/>
    <p:sldId xmlns:ns1="http://schemas.openxmlformats.org/officeDocument/2006/relationships" id="333" ns1:id="RHardening5"/>
    <p:sldId xmlns:ns1="http://schemas.openxmlformats.org/officeDocument/2006/relationships" id="334" ns1:id="RHardening6"/>
    <p:sldId xmlns:ns1="http://schemas.openxmlformats.org/officeDocument/2006/relationships" id="335" ns1:id="RHardening7"/>
    <p:sldId xmlns:ns1="http://schemas.openxmlformats.org/officeDocument/2006/relationships" id="336" ns1:id="RHardening8"/>
    <p:sldId xmlns:ns1="http://schemas.openxmlformats.org/officeDocument/2006/relationships" id="337" ns1:id="RHardening9"/>
    <p:sldId xmlns:ns1="http://schemas.openxmlformats.org/officeDocument/2006/relationships" id="308" ns1:id="RAddedVPC53"/>
    <p:sldId xmlns:ns1="http://schemas.openxmlformats.org/officeDocument/2006/relationships" id="315" ns1:id="RBodyKnowledge60"/>
    <p:sldId xmlns:ns1="http://schemas.openxmlformats.org/officeDocument/2006/relationships" id="309" ns1:id="RAddedVPC54"/>
    <p:sldId xmlns:ns1="http://schemas.openxmlformats.org/officeDocument/2006/relationships" id="328" ns1:id="RPrivateNAT9"/>
    <p:sldId xmlns:ns1="http://schemas.openxmlformats.org/officeDocument/2006/relationships" id="338" ns1:id="RProOpTopology"/>
    <p:sldId xmlns:ns1="http://schemas.openxmlformats.org/officeDocument/2006/relationships" id="316" ns1:id="RBodyKnowledge61"/>
    <p:sldId xmlns:r="http://schemas.openxmlformats.org/officeDocument/2006/relationships" id="266" r:id="Rd92a4e292cb44e86"/>
    <p:sldId xmlns:r="http://schemas.openxmlformats.org/officeDocument/2006/relationships" id="279" r:id="Ra2a848f9d1d047d4"/>
    <p:sldId xmlns:r="http://schemas.openxmlformats.org/officeDocument/2006/relationships" id="275" r:id="R7ce690874f6f4364"/>
    <p:sldId xmlns:r="http://schemas.openxmlformats.org/officeDocument/2006/relationships" id="272" r:id="R7f8dfe1a2f78484d"/>
    <p:sldId xmlns:r="http://schemas.openxmlformats.org/officeDocument/2006/relationships" id="276" r:id="Rc5e26e7d22ed437e"/>
    <p:sldId xmlns:ns1="http://schemas.openxmlformats.org/officeDocument/2006/relationships" id="317" ns1:id="RBodyKnowledge62"/>
    <p:sldId xmlns:ns1="http://schemas.openxmlformats.org/officeDocument/2006/relationships" id="318" ns1:id="RBodyKnowledge63"/>
    <p:sldId xmlns:r="http://schemas.openxmlformats.org/officeDocument/2006/relationships" id="267" r:id="R2ee36f6cbd08436d"/>
    <p:sldId xmlns:r="http://schemas.openxmlformats.org/officeDocument/2006/relationships" id="261" r:id="R7eed2d57556b4f45"/>
    <p:sldId xmlns:r="http://schemas.openxmlformats.org/officeDocument/2006/relationships" id="268" r:id="R27f2da6ffe6c4473"/>
    <p:sldId xmlns:r="http://schemas.openxmlformats.org/officeDocument/2006/relationships" id="269" r:id="R9f7e3b3a1ec04e66"/>
    <p:sldId xmlns:r="http://schemas.openxmlformats.org/officeDocument/2006/relationships" id="270" r:id="R07c7524004da416f"/>
    <p:sldId xmlns:r="http://schemas.openxmlformats.org/officeDocument/2006/relationships" id="271" r:id="Rc9599617bb584379"/>
    <p:sldId xmlns:r="http://schemas.openxmlformats.org/officeDocument/2006/relationships" id="277" r:id="R8a6da99444084e95"/>
    <p:sldId xmlns:r="http://schemas.openxmlformats.org/officeDocument/2006/relationships" id="273" r:id="R4d7c40e9190043a3"/>
    <p:sldId xmlns:r="http://schemas.openxmlformats.org/officeDocument/2006/relationships" id="274" r:id="Rb1a6b9db372a4be9"/>
    <p:sldId xmlns:r="http://schemas.openxmlformats.org/officeDocument/2006/relationships" id="278" r:id="R7ab4f5874f6b4b70"/>
    <p:sldId xmlns:r="http://schemas.openxmlformats.org/officeDocument/2006/relationships" id="280" r:id="R99895ab595d442a9"/>
    <p:sldId xmlns:r="http://schemas.openxmlformats.org/officeDocument/2006/relationships" id="281" r:id="R92773c0a9f4d4fe9"/>
    <p:sldId xmlns:ns1="http://schemas.openxmlformats.org/officeDocument/2006/relationships" id="319" ns1:id="RBodyKnowledge64"/>
    <p:sldId xmlns:r="http://schemas.openxmlformats.org/officeDocument/2006/relationships" id="282" r:id="R2df879d8999d4692"/>
    <p:sldId xmlns:r="http://schemas.openxmlformats.org/officeDocument/2006/relationships" id="283" r:id="R1d56eb50973543e6"/>
    <p:sldId xmlns:r="http://schemas.openxmlformats.org/officeDocument/2006/relationships" id="284" r:id="R9322e2e606ec495e"/>
    <p:sldId xmlns:r="http://schemas.openxmlformats.org/officeDocument/2006/relationships" id="285" r:id="Ra818941fea5d4d46"/>
    <p:sldId xmlns:r="http://schemas.openxmlformats.org/officeDocument/2006/relationships" id="286" r:id="R47f9e3a28cf14cc0"/>
    <p:sldId xmlns:r="http://schemas.openxmlformats.org/officeDocument/2006/relationships" id="287" r:id="Rfa89c648c6154265"/>
    <p:sldId xmlns:r="http://schemas.openxmlformats.org/officeDocument/2006/relationships" id="288" r:id="R7ef43bc7663f4e15"/>
    <p:sldId xmlns:r="http://schemas.openxmlformats.org/officeDocument/2006/relationships" id="289" r:id="Rea5d73b2090a4b94"/>
    <p:sldId xmlns:r="http://schemas.openxmlformats.org/officeDocument/2006/relationships" id="290" r:id="Rc017926d8e314d51"/>
    <p:sldId xmlns:r="http://schemas.openxmlformats.org/officeDocument/2006/relationships" id="291" r:id="Recc1c37d7af643fb"/>
    <p:sldId xmlns:r="http://schemas.openxmlformats.org/officeDocument/2006/relationships" id="292" r:id="R82b7c4bc5cc94bd6"/>
    <p:sldId xmlns:r="http://schemas.openxmlformats.org/officeDocument/2006/relationships" id="293" r:id="R0dc909710a8f4cd4"/>
    <p:sldId xmlns:r="http://schemas.openxmlformats.org/officeDocument/2006/relationships" id="294" r:id="Redf2a087d65b4149"/>
    <p:sldId xmlns:r="http://schemas.openxmlformats.org/officeDocument/2006/relationships" id="295" r:id="Rb381c1031f6e4b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69d8fda614545e3"/><Relationship Type="http://schemas.openxmlformats.org/officeDocument/2006/relationships/slideMaster" Target="/ppt/slideMasters/slideMaster1.xml" Id="Rcdac1235f18a40d9"/><Relationship Type="http://schemas.openxmlformats.org/officeDocument/2006/relationships/notesMaster" Target="/ppt/notesMasters/notesMaster1.xml" Id="Rcf058a26198d4ced"/><Relationship Type="http://schemas.openxmlformats.org/officeDocument/2006/relationships/presProps" Target="/ppt/presProps.xml" Id="R6f9ad751877240e2"/><Relationship Type="http://schemas.openxmlformats.org/officeDocument/2006/relationships/tableStyles" Target="/ppt/tableStyles.xml" Id="R18192eabf0014a93"/><Relationship Type="http://schemas.openxmlformats.org/officeDocument/2006/relationships/slide" Target="/ppt/slides/slide1.xml" Id="R5e39424031464735"/><Relationship Type="http://schemas.openxmlformats.org/officeDocument/2006/relationships/slide" Target="/ppt/slides/slide2.xml" Id="Rba00e442b27d457b"/><Relationship Type="http://schemas.openxmlformats.org/officeDocument/2006/relationships/slide" Target="/ppt/slides/slide3.xml" Id="R8abba07ed1dc4b7a"/><Relationship Type="http://schemas.openxmlformats.org/officeDocument/2006/relationships/slide" Target="/ppt/slides/slide4.xml" Id="R37058088e76a4d99"/><Relationship Type="http://schemas.openxmlformats.org/officeDocument/2006/relationships/slide" Target="/ppt/slides/slide5.xml" Id="Rb1dad80c3cb442c9"/><Relationship Type="http://schemas.openxmlformats.org/officeDocument/2006/relationships/slide" Target="/ppt/slides/slide6.xml" Id="R7eed2d57556b4f45"/><Relationship Type="http://schemas.openxmlformats.org/officeDocument/2006/relationships/slide" Target="/ppt/slides/slide7.xml" Id="R8fa41cf328784194"/><Relationship Type="http://schemas.openxmlformats.org/officeDocument/2006/relationships/slide" Target="/ppt/slides/slide8.xml" Id="Ra9e324953b4647d0"/><Relationship Type="http://schemas.openxmlformats.org/officeDocument/2006/relationships/slide" Target="/ppt/slides/slide9.xml" Id="Rf0d74bbe5c7b4c89"/><Relationship Type="http://schemas.openxmlformats.org/officeDocument/2006/relationships/slide" Target="/ppt/slides/slide10.xml" Id="R0a30859e4d1142b3"/><Relationship Type="http://schemas.openxmlformats.org/officeDocument/2006/relationships/slide" Target="/ppt/slides/slide11.xml" Id="Rd92a4e292cb44e86"/><Relationship Type="http://schemas.openxmlformats.org/officeDocument/2006/relationships/slide" Target="/ppt/slides/slide12.xml" Id="R2ee36f6cbd08436d"/><Relationship Type="http://schemas.openxmlformats.org/officeDocument/2006/relationships/slide" Target="/ppt/slides/slide13.xml" Id="R27f2da6ffe6c4473"/><Relationship Type="http://schemas.openxmlformats.org/officeDocument/2006/relationships/slide" Target="/ppt/slides/slide14.xml" Id="R9f7e3b3a1ec04e66"/><Relationship Type="http://schemas.openxmlformats.org/officeDocument/2006/relationships/slide" Target="/ppt/slides/slide15.xml" Id="R07c7524004da416f"/><Relationship Type="http://schemas.openxmlformats.org/officeDocument/2006/relationships/slide" Target="/ppt/slides/slide16.xml" Id="Rc9599617bb584379"/><Relationship Type="http://schemas.openxmlformats.org/officeDocument/2006/relationships/slide" Target="/ppt/slides/slide17.xml" Id="R7f8dfe1a2f78484d"/><Relationship Type="http://schemas.openxmlformats.org/officeDocument/2006/relationships/slide" Target="/ppt/slides/slide18.xml" Id="R4d7c40e9190043a3"/><Relationship Type="http://schemas.openxmlformats.org/officeDocument/2006/relationships/slide" Target="/ppt/slides/slide19.xml" Id="Rb1a6b9db372a4be9"/><Relationship Type="http://schemas.openxmlformats.org/officeDocument/2006/relationships/slide" Target="/ppt/slides/slide20.xml" Id="R7ce690874f6f4364"/><Relationship Type="http://schemas.openxmlformats.org/officeDocument/2006/relationships/slide" Target="/ppt/slides/slide21.xml" Id="Rc5e26e7d22ed437e"/><Relationship Type="http://schemas.openxmlformats.org/officeDocument/2006/relationships/slide" Target="/ppt/slides/slide22.xml" Id="R8a6da99444084e95"/><Relationship Type="http://schemas.openxmlformats.org/officeDocument/2006/relationships/slide" Target="/ppt/slides/slide23.xml" Id="R7ab4f5874f6b4b70"/><Relationship Type="http://schemas.openxmlformats.org/officeDocument/2006/relationships/slide" Target="/ppt/slides/slide24.xml" Id="Ra2a848f9d1d047d4"/><Relationship Type="http://schemas.openxmlformats.org/officeDocument/2006/relationships/slide" Target="/ppt/slides/slide25.xml" Id="R99895ab595d442a9"/><Relationship Type="http://schemas.openxmlformats.org/officeDocument/2006/relationships/slide" Target="/ppt/slides/slide26.xml" Id="R92773c0a9f4d4fe9"/><Relationship Type="http://schemas.openxmlformats.org/officeDocument/2006/relationships/slide" Target="/ppt/slides/slide27.xml" Id="R2df879d8999d4692"/><Relationship Type="http://schemas.openxmlformats.org/officeDocument/2006/relationships/slide" Target="/ppt/slides/slide28.xml" Id="R1d56eb50973543e6"/><Relationship Type="http://schemas.openxmlformats.org/officeDocument/2006/relationships/slide" Target="/ppt/slides/slide29.xml" Id="R9322e2e606ec495e"/><Relationship Type="http://schemas.openxmlformats.org/officeDocument/2006/relationships/slide" Target="/ppt/slides/slide30.xml" Id="Ra818941fea5d4d46"/><Relationship Type="http://schemas.openxmlformats.org/officeDocument/2006/relationships/slide" Target="/ppt/slides/slide31.xml" Id="R47f9e3a28cf14cc0"/><Relationship Type="http://schemas.openxmlformats.org/officeDocument/2006/relationships/slide" Target="/ppt/slides/slide32.xml" Id="Rfa89c648c6154265"/><Relationship Type="http://schemas.openxmlformats.org/officeDocument/2006/relationships/slide" Target="/ppt/slides/slide33.xml" Id="R7ef43bc7663f4e15"/><Relationship Type="http://schemas.openxmlformats.org/officeDocument/2006/relationships/slide" Target="/ppt/slides/slide34.xml" Id="Rea5d73b2090a4b94"/><Relationship Type="http://schemas.openxmlformats.org/officeDocument/2006/relationships/slide" Target="/ppt/slides/slide35.xml" Id="Rc017926d8e314d51"/><Relationship Type="http://schemas.openxmlformats.org/officeDocument/2006/relationships/slide" Target="/ppt/slides/slide36.xml" Id="Recc1c37d7af643fb"/><Relationship Type="http://schemas.openxmlformats.org/officeDocument/2006/relationships/slide" Target="/ppt/slides/slide37.xml" Id="R82b7c4bc5cc94bd6"/><Relationship Type="http://schemas.openxmlformats.org/officeDocument/2006/relationships/slide" Target="/ppt/slides/slide38.xml" Id="R0dc909710a8f4cd4"/><Relationship Type="http://schemas.openxmlformats.org/officeDocument/2006/relationships/slide" Target="/ppt/slides/slide39.xml" Id="Redf2a087d65b4149"/><Relationship Type="http://schemas.openxmlformats.org/officeDocument/2006/relationships/slide" Target="/ppt/slides/slide40.xml" Id="Rb381c1031f6e4ba9"/><Relationship Type="http://schemas.openxmlformats.org/officeDocument/2006/relationships/slide" Target="/ppt/slides/slide41.xml" Id="RAddedVPC41"/><Relationship Type="http://schemas.openxmlformats.org/officeDocument/2006/relationships/slide" Target="/ppt/slides/slide42.xml" Id="RAddedVPC42"/><Relationship Type="http://schemas.openxmlformats.org/officeDocument/2006/relationships/slide" Target="/ppt/slides/slide43.xml" Id="RAddedVPC43"/><Relationship Type="http://schemas.openxmlformats.org/officeDocument/2006/relationships/slide" Target="/ppt/slides/slide44.xml" Id="RAddedVPC44"/><Relationship Type="http://schemas.openxmlformats.org/officeDocument/2006/relationships/slide" Target="/ppt/slides/slide45.xml" Id="RAddedVPC45"/><Relationship Type="http://schemas.openxmlformats.org/officeDocument/2006/relationships/slide" Target="/ppt/slides/slide46.xml" Id="RAddedVPC46"/><Relationship Type="http://schemas.openxmlformats.org/officeDocument/2006/relationships/slide" Target="/ppt/slides/slide47.xml" Id="RAddedVPC47"/><Relationship Type="http://schemas.openxmlformats.org/officeDocument/2006/relationships/slide" Target="/ppt/slides/slide48.xml" Id="RAddedVPC48"/><Relationship Type="http://schemas.openxmlformats.org/officeDocument/2006/relationships/slide" Target="/ppt/slides/slide49.xml" Id="RAddedVPC49"/><Relationship Type="http://schemas.openxmlformats.org/officeDocument/2006/relationships/slide" Target="/ppt/slides/slide50.xml" Id="RAddedVPC50"/><Relationship Type="http://schemas.openxmlformats.org/officeDocument/2006/relationships/slide" Target="/ppt/slides/slide51.xml" Id="RAddedVPC51"/><Relationship Type="http://schemas.openxmlformats.org/officeDocument/2006/relationships/slide" Target="/ppt/slides/slide52.xml" Id="RAddedVPC52"/><Relationship Type="http://schemas.openxmlformats.org/officeDocument/2006/relationships/slide" Target="/ppt/slides/slide53.xml" Id="RAddedVPC53"/><Relationship Type="http://schemas.openxmlformats.org/officeDocument/2006/relationships/slide" Target="/ppt/slides/slide54.xml" Id="RAddedVPC54"/><Relationship Type="http://schemas.openxmlformats.org/officeDocument/2006/relationships/slide" Target="/ppt/slides/slide55.xml" Id="RAddedVPC55"/><Relationship Type="http://schemas.openxmlformats.org/officeDocument/2006/relationships/slide" Target="/ppt/slides/slide56.xml" Id="RAddedVPC56"/><Relationship Type="http://schemas.openxmlformats.org/officeDocument/2006/relationships/slide" Target="/ppt/slides/slide57.xml" Id="RBodyKnowledge57"/><Relationship Type="http://schemas.openxmlformats.org/officeDocument/2006/relationships/slide" Target="/ppt/slides/slide58.xml" Id="RBodyKnowledge58"/><Relationship Type="http://schemas.openxmlformats.org/officeDocument/2006/relationships/slide" Target="/ppt/slides/slide59.xml" Id="RBodyKnowledge59"/><Relationship Type="http://schemas.openxmlformats.org/officeDocument/2006/relationships/slide" Target="/ppt/slides/slide60.xml" Id="RBodyKnowledge60"/><Relationship Type="http://schemas.openxmlformats.org/officeDocument/2006/relationships/slide" Target="/ppt/slides/slide61.xml" Id="RBodyKnowledge61"/><Relationship Type="http://schemas.openxmlformats.org/officeDocument/2006/relationships/slide" Target="/ppt/slides/slide62.xml" Id="RBodyKnowledge62"/><Relationship Type="http://schemas.openxmlformats.org/officeDocument/2006/relationships/slide" Target="/ppt/slides/slide63.xml" Id="RBodyKnowledge63"/><Relationship Type="http://schemas.openxmlformats.org/officeDocument/2006/relationships/slide" Target="/ppt/slides/slide64.xml" Id="RBodyKnowledge64"/><Relationship Type="http://schemas.openxmlformats.org/officeDocument/2006/relationships/slide" Target="/ppt/slides/slide65.xml" Id="RPrivateNAT1"/><Relationship Type="http://schemas.openxmlformats.org/officeDocument/2006/relationships/slide" Target="/ppt/slides/slide66.xml" Id="RPrivateNAT2"/><Relationship Type="http://schemas.openxmlformats.org/officeDocument/2006/relationships/slide" Target="/ppt/slides/slide67.xml" Id="RPrivateNAT3"/><Relationship Type="http://schemas.openxmlformats.org/officeDocument/2006/relationships/slide" Target="/ppt/slides/slide68.xml" Id="RPrivateNAT4"/><Relationship Type="http://schemas.openxmlformats.org/officeDocument/2006/relationships/slide" Target="/ppt/slides/slide69.xml" Id="RPrivateNAT5"/><Relationship Type="http://schemas.openxmlformats.org/officeDocument/2006/relationships/slide" Target="/ppt/slides/slide70.xml" Id="RPrivateNAT6"/><Relationship Type="http://schemas.openxmlformats.org/officeDocument/2006/relationships/slide" Target="/ppt/slides/slide71.xml" Id="RPrivateNAT7"/><Relationship Type="http://schemas.openxmlformats.org/officeDocument/2006/relationships/slide" Target="/ppt/slides/slide72.xml" Id="RPrivateNAT8"/><Relationship Type="http://schemas.openxmlformats.org/officeDocument/2006/relationships/slide" Target="/ppt/slides/slide73.xml" Id="RPrivateNAT9"/><Relationship Type="http://schemas.openxmlformats.org/officeDocument/2006/relationships/slide" Target="/ppt/slides/slide74.xml" Id="RHardening1"/><Relationship Type="http://schemas.openxmlformats.org/officeDocument/2006/relationships/slide" Target="/ppt/slides/slide75.xml" Id="RHardening2"/><Relationship Type="http://schemas.openxmlformats.org/officeDocument/2006/relationships/slide" Target="/ppt/slides/slide76.xml" Id="RHardening3"/><Relationship Type="http://schemas.openxmlformats.org/officeDocument/2006/relationships/slide" Target="/ppt/slides/slide77.xml" Id="RHardening4"/><Relationship Type="http://schemas.openxmlformats.org/officeDocument/2006/relationships/slide" Target="/ppt/slides/slide78.xml" Id="RHardening5"/><Relationship Type="http://schemas.openxmlformats.org/officeDocument/2006/relationships/slide" Target="/ppt/slides/slide79.xml" Id="RHardening6"/><Relationship Type="http://schemas.openxmlformats.org/officeDocument/2006/relationships/slide" Target="/ppt/slides/slide80.xml" Id="RHardening7"/><Relationship Type="http://schemas.openxmlformats.org/officeDocument/2006/relationships/slide" Target="/ppt/slides/slide81.xml" Id="RHardening8"/><Relationship Type="http://schemas.openxmlformats.org/officeDocument/2006/relationships/slide" Target="/ppt/slides/slide82.xml" Id="RHardening9"/><Relationship Type="http://schemas.openxmlformats.org/officeDocument/2006/relationships/slide" Target="/ppt/slides/slide83.xml" Id="RProOpTopology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216c0e06a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latin typeface="Microsoft YaHei"/>
        <a:ea typeface="Microsoft YaHei"/>
        <a:cs typeface="Microsoft YaHei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7d9a427db468c" /><Relationship Type="http://schemas.openxmlformats.org/officeDocument/2006/relationships/notesMaster" Target="/ppt/notesMasters/notesMaster1.xml" Id="Rbfbc6aa9b18944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1b89b44524fdc" /><Relationship Type="http://schemas.openxmlformats.org/officeDocument/2006/relationships/notesMaster" Target="/ppt/notesMasters/notesMaster1.xml" Id="R9c49ff440cc4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45bfbc727c40ac" /><Relationship Type="http://schemas.openxmlformats.org/officeDocument/2006/relationships/notesMaster" Target="/ppt/notesMasters/notesMaster1.xml" Id="R03082ab1eb324b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c32cfd9b946e0" /><Relationship Type="http://schemas.openxmlformats.org/officeDocument/2006/relationships/notesMaster" Target="/ppt/notesMasters/notesMaster1.xml" Id="Rff65fd39489a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67f25abef456a" /><Relationship Type="http://schemas.openxmlformats.org/officeDocument/2006/relationships/notesMaster" Target="/ppt/notesMasters/notesMaster1.xml" Id="R94b953a424fc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4591a51744e53" /><Relationship Type="http://schemas.openxmlformats.org/officeDocument/2006/relationships/notesMaster" Target="/ppt/notesMasters/notesMaster1.xml" Id="R5c9febfc6a0c40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1bb4b831814267" /><Relationship Type="http://schemas.openxmlformats.org/officeDocument/2006/relationships/notesMaster" Target="/ppt/notesMasters/notesMaster1.xml" Id="Rc376498090f1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c78524e0f4033" /><Relationship Type="http://schemas.openxmlformats.org/officeDocument/2006/relationships/notesMaster" Target="/ppt/notesMasters/notesMaster1.xml" Id="Ra6f90eed969540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de147ab1e2465c" /><Relationship Type="http://schemas.openxmlformats.org/officeDocument/2006/relationships/notesMaster" Target="/ppt/notesMasters/notesMaster1.xml" Id="Rad495bd51d944e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bbdc24105f4ff3" /><Relationship Type="http://schemas.openxmlformats.org/officeDocument/2006/relationships/notesMaster" Target="/ppt/notesMasters/notesMaster1.xml" Id="Rd686215d893f46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8c31ca95c94aed" /><Relationship Type="http://schemas.openxmlformats.org/officeDocument/2006/relationships/notesMaster" Target="/ppt/notesMasters/notesMaster1.xml" Id="R6602710f13324b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8a1c121abb4586" /><Relationship Type="http://schemas.openxmlformats.org/officeDocument/2006/relationships/notesMaster" Target="/ppt/notesMasters/notesMaster1.xml" Id="R8a87fbed8a6540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24ee0a544c4d83" /><Relationship Type="http://schemas.openxmlformats.org/officeDocument/2006/relationships/notesMaster" Target="/ppt/notesMasters/notesMaster1.xml" Id="R170d3b9eaf4143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3338051e784c0d" /><Relationship Type="http://schemas.openxmlformats.org/officeDocument/2006/relationships/notesMaster" Target="/ppt/notesMasters/notesMaster1.xml" Id="R0a05f48d3ba242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accacf65154b91" /><Relationship Type="http://schemas.openxmlformats.org/officeDocument/2006/relationships/notesMaster" Target="/ppt/notesMasters/notesMaster1.xml" Id="Ra9039c0e003446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00da2fd9ab4709" /><Relationship Type="http://schemas.openxmlformats.org/officeDocument/2006/relationships/notesMaster" Target="/ppt/notesMasters/notesMaster1.xml" Id="R457396eab8c840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fce362f7cc4e60" /><Relationship Type="http://schemas.openxmlformats.org/officeDocument/2006/relationships/notesMaster" Target="/ppt/notesMasters/notesMaster1.xml" Id="R0d4cc68c7f204c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9457a4d91744dd" /><Relationship Type="http://schemas.openxmlformats.org/officeDocument/2006/relationships/notesMaster" Target="/ppt/notesMasters/notesMaster1.xml" Id="Ra62fb04fb99947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e82a43ea1a4380" /><Relationship Type="http://schemas.openxmlformats.org/officeDocument/2006/relationships/notesMaster" Target="/ppt/notesMasters/notesMaster1.xml" Id="R967adf2a4de84a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ba0e6384fb41df" /><Relationship Type="http://schemas.openxmlformats.org/officeDocument/2006/relationships/notesMaster" Target="/ppt/notesMasters/notesMaster1.xml" Id="Redf1f16b947c43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8f9bf291c8429a" /><Relationship Type="http://schemas.openxmlformats.org/officeDocument/2006/relationships/notesMaster" Target="/ppt/notesMasters/notesMaster1.xml" Id="Rb914a812111645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32ca5f05df4268" /><Relationship Type="http://schemas.openxmlformats.org/officeDocument/2006/relationships/notesMaster" Target="/ppt/notesMasters/notesMaster1.xml" Id="R913902873c5143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78ada0b2ab414b" /><Relationship Type="http://schemas.openxmlformats.org/officeDocument/2006/relationships/notesMaster" Target="/ppt/notesMasters/notesMaster1.xml" Id="R547ef12f104f48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296e896d6c4664" /><Relationship Type="http://schemas.openxmlformats.org/officeDocument/2006/relationships/notesMaster" Target="/ppt/notesMasters/notesMaster1.xml" Id="Reabd69ce226c4a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569162a8114e66" /><Relationship Type="http://schemas.openxmlformats.org/officeDocument/2006/relationships/notesMaster" Target="/ppt/notesMasters/notesMaster1.xml" Id="Rb433eab922b345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b248f493c44045" /><Relationship Type="http://schemas.openxmlformats.org/officeDocument/2006/relationships/notesMaster" Target="/ppt/notesMasters/notesMaster1.xml" Id="R5758129f4c364f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ea01e09fa948c2" /><Relationship Type="http://schemas.openxmlformats.org/officeDocument/2006/relationships/notesMaster" Target="/ppt/notesMasters/notesMaster1.xml" Id="R22f32af0f6b947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531c8d7e6f41fe" /><Relationship Type="http://schemas.openxmlformats.org/officeDocument/2006/relationships/notesMaster" Target="/ppt/notesMasters/notesMaster1.xml" Id="Rc4969590023743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306387cd6b477d" /><Relationship Type="http://schemas.openxmlformats.org/officeDocument/2006/relationships/notesMaster" Target="/ppt/notesMasters/notesMaster1.xml" Id="R86c94a6fbae94a8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e058fa63064f2b" /><Relationship Type="http://schemas.openxmlformats.org/officeDocument/2006/relationships/notesMaster" Target="/ppt/notesMasters/notesMaster1.xml" Id="R050f7f2331fc4ff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7f5eaf6344b4d86" /><Relationship Type="http://schemas.openxmlformats.org/officeDocument/2006/relationships/notesMaster" Target="/ppt/notesMasters/notesMaster1.xml" Id="R3545593286d945a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709ec72aac406b" /><Relationship Type="http://schemas.openxmlformats.org/officeDocument/2006/relationships/notesMaster" Target="/ppt/notesMasters/notesMaster1.xml" Id="R922afa9de5d54d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2d6a38e57664ad1" /><Relationship Type="http://schemas.openxmlformats.org/officeDocument/2006/relationships/notesMaster" Target="/ppt/notesMasters/notesMaster1.xml" Id="R76d1f4fe83c5496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8deabb5a9084587" /><Relationship Type="http://schemas.openxmlformats.org/officeDocument/2006/relationships/notesMaster" Target="/ppt/notesMasters/notesMaster1.xml" Id="R356a497034424a6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565320fd09a4e08" /><Relationship Type="http://schemas.openxmlformats.org/officeDocument/2006/relationships/notesMaster" Target="/ppt/notesMasters/notesMaster1.xml" Id="Rc8a4ec91096c4a1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0495cc173c47ea" /><Relationship Type="http://schemas.openxmlformats.org/officeDocument/2006/relationships/notesMaster" Target="/ppt/notesMasters/notesMaster1.xml" Id="R70e2ba9f1d19495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fa52beba96e4f32" /><Relationship Type="http://schemas.openxmlformats.org/officeDocument/2006/relationships/notesMaster" Target="/ppt/notesMasters/notesMaster1.xml" Id="R999c497f322b4b4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015f3a605e0470e" /><Relationship Type="http://schemas.openxmlformats.org/officeDocument/2006/relationships/notesMaster" Target="/ppt/notesMasters/notesMaster1.xml" Id="Raf096100fb0545c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93b6e390bec4da9" /><Relationship Type="http://schemas.openxmlformats.org/officeDocument/2006/relationships/notesMaster" Target="/ppt/notesMasters/notesMaster1.xml" Id="R67b218ab5765486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200204cce9244eb" /><Relationship Type="http://schemas.openxmlformats.org/officeDocument/2006/relationships/notesMaster" Target="/ppt/notesMasters/notesMaster1.xml" Id="R9f6b2452cf31433d" /></Relationships>
</file>

<file path=ppt/notesSlides/_rels/notesSlide41.xml.rels><?xml version='1.0' encoding='UTF-8' standalone='yes'?>
<Relationships xmlns="http://schemas.openxmlformats.org/package/2006/relationships"><Relationship Type="http://schemas.openxmlformats.org/officeDocument/2006/relationships/slide" Target="/ppt/slides/slide41.xml" Id="Ree57d9a427db468c"/><Relationship Type="http://schemas.openxmlformats.org/officeDocument/2006/relationships/notesMaster" Target="/ppt/notesMasters/notesMaster1.xml" Id="Rbfbc6aa9b189440f"/></Relationships>
</file>

<file path=ppt/notesSlides/_rels/notesSlide42.xml.rels><?xml version='1.0' encoding='UTF-8' standalone='yes'?>
<Relationships xmlns="http://schemas.openxmlformats.org/package/2006/relationships"><Relationship Type="http://schemas.openxmlformats.org/officeDocument/2006/relationships/slide" Target="/ppt/slides/slide42.xml" Id="Ree57d9a427db468c"/><Relationship Type="http://schemas.openxmlformats.org/officeDocument/2006/relationships/notesMaster" Target="/ppt/notesMasters/notesMaster1.xml" Id="Rbfbc6aa9b189440f"/></Relationships>
</file>

<file path=ppt/notesSlides/_rels/notesSlide43.xml.rels><?xml version='1.0' encoding='UTF-8' standalone='yes'?>
<Relationships xmlns="http://schemas.openxmlformats.org/package/2006/relationships"><Relationship Type="http://schemas.openxmlformats.org/officeDocument/2006/relationships/slide" Target="/ppt/slides/slide43.xml" Id="Ree57d9a427db468c"/><Relationship Type="http://schemas.openxmlformats.org/officeDocument/2006/relationships/notesMaster" Target="/ppt/notesMasters/notesMaster1.xml" Id="Rbfbc6aa9b189440f"/></Relationships>
</file>

<file path=ppt/notesSlides/_rels/notesSlide44.xml.rels><?xml version='1.0' encoding='UTF-8' standalone='yes'?>
<Relationships xmlns="http://schemas.openxmlformats.org/package/2006/relationships"><Relationship Type="http://schemas.openxmlformats.org/officeDocument/2006/relationships/slide" Target="/ppt/slides/slide44.xml" Id="Ree57d9a427db468c"/><Relationship Type="http://schemas.openxmlformats.org/officeDocument/2006/relationships/notesMaster" Target="/ppt/notesMasters/notesMaster1.xml" Id="Rbfbc6aa9b189440f"/></Relationships>
</file>

<file path=ppt/notesSlides/_rels/notesSlide45.xml.rels><?xml version='1.0' encoding='UTF-8' standalone='yes'?>
<Relationships xmlns="http://schemas.openxmlformats.org/package/2006/relationships"><Relationship Type="http://schemas.openxmlformats.org/officeDocument/2006/relationships/slide" Target="/ppt/slides/slide45.xml" Id="Ree57d9a427db468c"/><Relationship Type="http://schemas.openxmlformats.org/officeDocument/2006/relationships/notesMaster" Target="/ppt/notesMasters/notesMaster1.xml" Id="Rbfbc6aa9b189440f"/></Relationships>
</file>

<file path=ppt/notesSlides/_rels/notesSlide46.xml.rels><?xml version='1.0' encoding='UTF-8' standalone='yes'?>
<Relationships xmlns="http://schemas.openxmlformats.org/package/2006/relationships"><Relationship Type="http://schemas.openxmlformats.org/officeDocument/2006/relationships/slide" Target="/ppt/slides/slide46.xml" Id="Ree57d9a427db468c"/><Relationship Type="http://schemas.openxmlformats.org/officeDocument/2006/relationships/notesMaster" Target="/ppt/notesMasters/notesMaster1.xml" Id="Rbfbc6aa9b189440f"/></Relationships>
</file>

<file path=ppt/notesSlides/_rels/notesSlide47.xml.rels><?xml version='1.0' encoding='UTF-8' standalone='yes'?>
<Relationships xmlns="http://schemas.openxmlformats.org/package/2006/relationships"><Relationship Type="http://schemas.openxmlformats.org/officeDocument/2006/relationships/slide" Target="/ppt/slides/slide47.xml" Id="Ree57d9a427db468c"/><Relationship Type="http://schemas.openxmlformats.org/officeDocument/2006/relationships/notesMaster" Target="/ppt/notesMasters/notesMaster1.xml" Id="Rbfbc6aa9b189440f"/></Relationships>
</file>

<file path=ppt/notesSlides/_rels/notesSlide48.xml.rels><?xml version='1.0' encoding='UTF-8' standalone='yes'?>
<Relationships xmlns="http://schemas.openxmlformats.org/package/2006/relationships"><Relationship Type="http://schemas.openxmlformats.org/officeDocument/2006/relationships/slide" Target="/ppt/slides/slide48.xml" Id="Ree57d9a427db468c"/><Relationship Type="http://schemas.openxmlformats.org/officeDocument/2006/relationships/notesMaster" Target="/ppt/notesMasters/notesMaster1.xml" Id="Rbfbc6aa9b189440f"/></Relationships>
</file>

<file path=ppt/notesSlides/_rels/notesSlide49.xml.rels><?xml version='1.0' encoding='UTF-8' standalone='yes'?>
<Relationships xmlns="http://schemas.openxmlformats.org/package/2006/relationships"><Relationship Type="http://schemas.openxmlformats.org/officeDocument/2006/relationships/slide" Target="/ppt/slides/slide49.xml" Id="Ree57d9a427db468c"/><Relationship Type="http://schemas.openxmlformats.org/officeDocument/2006/relationships/notesMaster" Target="/ppt/notesMasters/notesMaster1.xml" Id="Rbfbc6aa9b189440f"/></Relationships>
</file>

<file path=ppt/notesSlides/_rels/notesSlide50.xml.rels><?xml version='1.0' encoding='UTF-8' standalone='yes'?>
<Relationships xmlns="http://schemas.openxmlformats.org/package/2006/relationships"><Relationship Type="http://schemas.openxmlformats.org/officeDocument/2006/relationships/slide" Target="/ppt/slides/slide50.xml" Id="Ree57d9a427db468c"/><Relationship Type="http://schemas.openxmlformats.org/officeDocument/2006/relationships/notesMaster" Target="/ppt/notesMasters/notesMaster1.xml" Id="Rbfbc6aa9b189440f"/></Relationships>
</file>

<file path=ppt/notesSlides/_rels/notesSlide51.xml.rels><?xml version='1.0' encoding='UTF-8' standalone='yes'?>
<Relationships xmlns="http://schemas.openxmlformats.org/package/2006/relationships"><Relationship Type="http://schemas.openxmlformats.org/officeDocument/2006/relationships/slide" Target="/ppt/slides/slide51.xml" Id="Ree57d9a427db468c"/><Relationship Type="http://schemas.openxmlformats.org/officeDocument/2006/relationships/notesMaster" Target="/ppt/notesMasters/notesMaster1.xml" Id="Rbfbc6aa9b189440f"/></Relationships>
</file>

<file path=ppt/notesSlides/_rels/notesSlide52.xml.rels><?xml version='1.0' encoding='UTF-8' standalone='yes'?>
<Relationships xmlns="http://schemas.openxmlformats.org/package/2006/relationships"><Relationship Type="http://schemas.openxmlformats.org/officeDocument/2006/relationships/slide" Target="/ppt/slides/slide52.xml" Id="Ree57d9a427db468c"/><Relationship Type="http://schemas.openxmlformats.org/officeDocument/2006/relationships/notesMaster" Target="/ppt/notesMasters/notesMaster1.xml" Id="Rbfbc6aa9b189440f"/></Relationships>
</file>

<file path=ppt/notesSlides/_rels/notesSlide53.xml.rels><?xml version='1.0' encoding='UTF-8' standalone='yes'?>
<Relationships xmlns="http://schemas.openxmlformats.org/package/2006/relationships"><Relationship Type="http://schemas.openxmlformats.org/officeDocument/2006/relationships/slide" Target="/ppt/slides/slide53.xml" Id="Ree57d9a427db468c"/><Relationship Type="http://schemas.openxmlformats.org/officeDocument/2006/relationships/notesMaster" Target="/ppt/notesMasters/notesMaster1.xml" Id="Rbfbc6aa9b189440f"/></Relationships>
</file>

<file path=ppt/notesSlides/_rels/notesSlide54.xml.rels><?xml version='1.0' encoding='UTF-8' standalone='yes'?>
<Relationships xmlns="http://schemas.openxmlformats.org/package/2006/relationships"><Relationship Type="http://schemas.openxmlformats.org/officeDocument/2006/relationships/slide" Target="/ppt/slides/slide54.xml" Id="Ree57d9a427db468c"/><Relationship Type="http://schemas.openxmlformats.org/officeDocument/2006/relationships/notesMaster" Target="/ppt/notesMasters/notesMaster1.xml" Id="Rbfbc6aa9b189440f"/></Relationships>
</file>

<file path=ppt/notesSlides/_rels/notesSlide55.xml.rels><?xml version='1.0' encoding='UTF-8' standalone='yes'?>
<Relationships xmlns="http://schemas.openxmlformats.org/package/2006/relationships"><Relationship Type="http://schemas.openxmlformats.org/officeDocument/2006/relationships/slide" Target="/ppt/slides/slide55.xml" Id="Ree57d9a427db468c"/><Relationship Type="http://schemas.openxmlformats.org/officeDocument/2006/relationships/notesMaster" Target="/ppt/notesMasters/notesMaster1.xml" Id="Rbfbc6aa9b189440f"/></Relationships>
</file>

<file path=ppt/notesSlides/_rels/notesSlide56.xml.rels><?xml version='1.0' encoding='UTF-8' standalone='yes'?>
<Relationships xmlns="http://schemas.openxmlformats.org/package/2006/relationships"><Relationship Type="http://schemas.openxmlformats.org/officeDocument/2006/relationships/slide" Target="/ppt/slides/slide56.xml" Id="Ree57d9a427db468c"/><Relationship Type="http://schemas.openxmlformats.org/officeDocument/2006/relationships/notesMaster" Target="/ppt/notesMasters/notesMaster1.xml" Id="Rbfbc6aa9b189440f"/></Relationships>
</file>

<file path=ppt/notesSlides/_rels/notesSlide57.xml.rels><?xml version='1.0' encoding='UTF-8' standalone='yes'?>
<Relationships xmlns="http://schemas.openxmlformats.org/package/2006/relationships"><Relationship Type="http://schemas.openxmlformats.org/officeDocument/2006/relationships/slide" Target="/ppt/slides/slide57.xml" Id="Ree57d9a427db468c"/><Relationship Type="http://schemas.openxmlformats.org/officeDocument/2006/relationships/notesMaster" Target="/ppt/notesMasters/notesMaster1.xml" Id="Rbfbc6aa9b189440f"/></Relationships>
</file>

<file path=ppt/notesSlides/_rels/notesSlide58.xml.rels><?xml version='1.0' encoding='UTF-8' standalone='yes'?>
<Relationships xmlns="http://schemas.openxmlformats.org/package/2006/relationships"><Relationship Type="http://schemas.openxmlformats.org/officeDocument/2006/relationships/slide" Target="/ppt/slides/slide58.xml" Id="Ree57d9a427db468c"/><Relationship Type="http://schemas.openxmlformats.org/officeDocument/2006/relationships/notesMaster" Target="/ppt/notesMasters/notesMaster1.xml" Id="Rbfbc6aa9b189440f"/></Relationships>
</file>

<file path=ppt/notesSlides/_rels/notesSlide59.xml.rels><?xml version='1.0' encoding='UTF-8' standalone='yes'?>
<Relationships xmlns="http://schemas.openxmlformats.org/package/2006/relationships"><Relationship Type="http://schemas.openxmlformats.org/officeDocument/2006/relationships/slide" Target="/ppt/slides/slide59.xml" Id="Ree57d9a427db468c"/><Relationship Type="http://schemas.openxmlformats.org/officeDocument/2006/relationships/notesMaster" Target="/ppt/notesMasters/notesMaster1.xml" Id="Rbfbc6aa9b189440f"/></Relationships>
</file>

<file path=ppt/notesSlides/_rels/notesSlide60.xml.rels><?xml version='1.0' encoding='UTF-8' standalone='yes'?>
<Relationships xmlns="http://schemas.openxmlformats.org/package/2006/relationships"><Relationship Type="http://schemas.openxmlformats.org/officeDocument/2006/relationships/slide" Target="/ppt/slides/slide60.xml" Id="Ree57d9a427db468c"/><Relationship Type="http://schemas.openxmlformats.org/officeDocument/2006/relationships/notesMaster" Target="/ppt/notesMasters/notesMaster1.xml" Id="Rbfbc6aa9b189440f"/></Relationships>
</file>

<file path=ppt/notesSlides/_rels/notesSlide61.xml.rels><?xml version='1.0' encoding='UTF-8' standalone='yes'?>
<Relationships xmlns="http://schemas.openxmlformats.org/package/2006/relationships"><Relationship Type="http://schemas.openxmlformats.org/officeDocument/2006/relationships/slide" Target="/ppt/slides/slide61.xml" Id="Ree57d9a427db468c"/><Relationship Type="http://schemas.openxmlformats.org/officeDocument/2006/relationships/notesMaster" Target="/ppt/notesMasters/notesMaster1.xml" Id="Rbfbc6aa9b189440f"/></Relationships>
</file>

<file path=ppt/notesSlides/_rels/notesSlide62.xml.rels><?xml version='1.0' encoding='UTF-8' standalone='yes'?>
<Relationships xmlns="http://schemas.openxmlformats.org/package/2006/relationships"><Relationship Type="http://schemas.openxmlformats.org/officeDocument/2006/relationships/slide" Target="/ppt/slides/slide62.xml" Id="Ree57d9a427db468c"/><Relationship Type="http://schemas.openxmlformats.org/officeDocument/2006/relationships/notesMaster" Target="/ppt/notesMasters/notesMaster1.xml" Id="Rbfbc6aa9b189440f"/></Relationships>
</file>

<file path=ppt/notesSlides/_rels/notesSlide63.xml.rels><?xml version='1.0' encoding='UTF-8' standalone='yes'?>
<Relationships xmlns="http://schemas.openxmlformats.org/package/2006/relationships"><Relationship Type="http://schemas.openxmlformats.org/officeDocument/2006/relationships/slide" Target="/ppt/slides/slide63.xml" Id="Ree57d9a427db468c"/><Relationship Type="http://schemas.openxmlformats.org/officeDocument/2006/relationships/notesMaster" Target="/ppt/notesMasters/notesMaster1.xml" Id="Rbfbc6aa9b189440f"/></Relationships>
</file>

<file path=ppt/notesSlides/_rels/notesSlide64.xml.rels><?xml version='1.0' encoding='UTF-8' standalone='yes'?>
<Relationships xmlns="http://schemas.openxmlformats.org/package/2006/relationships"><Relationship Type="http://schemas.openxmlformats.org/officeDocument/2006/relationships/slide" Target="/ppt/slides/slide64.xml" Id="Ree57d9a427db468c"/><Relationship Type="http://schemas.openxmlformats.org/officeDocument/2006/relationships/notesMaster" Target="/ppt/notesMasters/notesMaster1.xml" Id="Rbfbc6aa9b189440f"/></Relationships>
</file>

<file path=ppt/notesSlides/_rels/notesSlide65.xml.rels><?xml version='1.0' encoding='UTF-8' standalone='yes'?>
<Relationships xmlns="http://schemas.openxmlformats.org/package/2006/relationships"><Relationship Type="http://schemas.openxmlformats.org/officeDocument/2006/relationships/slide" Target="/ppt/slides/slide65.xml" Id="Ree57d9a427db468c"/><Relationship Type="http://schemas.openxmlformats.org/officeDocument/2006/relationships/notesMaster" Target="/ppt/notesMasters/notesMaster1.xml" Id="Rbfbc6aa9b189440f"/></Relationships>
</file>

<file path=ppt/notesSlides/_rels/notesSlide66.xml.rels><?xml version='1.0' encoding='UTF-8' standalone='yes'?>
<Relationships xmlns="http://schemas.openxmlformats.org/package/2006/relationships"><Relationship Type="http://schemas.openxmlformats.org/officeDocument/2006/relationships/slide" Target="/ppt/slides/slide66.xml" Id="Ree57d9a427db468c"/><Relationship Type="http://schemas.openxmlformats.org/officeDocument/2006/relationships/notesMaster" Target="/ppt/notesMasters/notesMaster1.xml" Id="Rbfbc6aa9b189440f"/></Relationships>
</file>

<file path=ppt/notesSlides/_rels/notesSlide67.xml.rels><?xml version='1.0' encoding='UTF-8' standalone='yes'?>
<Relationships xmlns="http://schemas.openxmlformats.org/package/2006/relationships"><Relationship Type="http://schemas.openxmlformats.org/officeDocument/2006/relationships/slide" Target="/ppt/slides/slide67.xml" Id="Ree57d9a427db468c"/><Relationship Type="http://schemas.openxmlformats.org/officeDocument/2006/relationships/notesMaster" Target="/ppt/notesMasters/notesMaster1.xml" Id="Rbfbc6aa9b189440f"/></Relationships>
</file>

<file path=ppt/notesSlides/_rels/notesSlide68.xml.rels><?xml version='1.0' encoding='UTF-8' standalone='yes'?>
<Relationships xmlns="http://schemas.openxmlformats.org/package/2006/relationships"><Relationship Type="http://schemas.openxmlformats.org/officeDocument/2006/relationships/slide" Target="/ppt/slides/slide68.xml" Id="Ree57d9a427db468c"/><Relationship Type="http://schemas.openxmlformats.org/officeDocument/2006/relationships/notesMaster" Target="/ppt/notesMasters/notesMaster1.xml" Id="Rbfbc6aa9b189440f"/></Relationships>
</file>

<file path=ppt/notesSlides/_rels/notesSlide69.xml.rels><?xml version='1.0' encoding='UTF-8' standalone='yes'?>
<Relationships xmlns="http://schemas.openxmlformats.org/package/2006/relationships"><Relationship Type="http://schemas.openxmlformats.org/officeDocument/2006/relationships/slide" Target="/ppt/slides/slide69.xml" Id="Ree57d9a427db468c"/><Relationship Type="http://schemas.openxmlformats.org/officeDocument/2006/relationships/notesMaster" Target="/ppt/notesMasters/notesMaster1.xml" Id="Rbfbc6aa9b189440f"/></Relationships>
</file>

<file path=ppt/notesSlides/_rels/notesSlide70.xml.rels><?xml version='1.0' encoding='UTF-8' standalone='yes'?>
<Relationships xmlns="http://schemas.openxmlformats.org/package/2006/relationships"><Relationship Type="http://schemas.openxmlformats.org/officeDocument/2006/relationships/slide" Target="/ppt/slides/slide70.xml" Id="Ree57d9a427db468c"/><Relationship Type="http://schemas.openxmlformats.org/officeDocument/2006/relationships/notesMaster" Target="/ppt/notesMasters/notesMaster1.xml" Id="Rbfbc6aa9b189440f"/></Relationships>
</file>

<file path=ppt/notesSlides/_rels/notesSlide71.xml.rels><?xml version='1.0' encoding='UTF-8' standalone='yes'?>
<Relationships xmlns="http://schemas.openxmlformats.org/package/2006/relationships"><Relationship Type="http://schemas.openxmlformats.org/officeDocument/2006/relationships/slide" Target="/ppt/slides/slide71.xml" Id="Ree57d9a427db468c"/><Relationship Type="http://schemas.openxmlformats.org/officeDocument/2006/relationships/notesMaster" Target="/ppt/notesMasters/notesMaster1.xml" Id="Rbfbc6aa9b189440f"/></Relationships>
</file>

<file path=ppt/notesSlides/_rels/notesSlide72.xml.rels><?xml version='1.0' encoding='UTF-8' standalone='yes'?>
<Relationships xmlns="http://schemas.openxmlformats.org/package/2006/relationships"><Relationship Type="http://schemas.openxmlformats.org/officeDocument/2006/relationships/slide" Target="/ppt/slides/slide72.xml" Id="Ree57d9a427db468c"/><Relationship Type="http://schemas.openxmlformats.org/officeDocument/2006/relationships/notesMaster" Target="/ppt/notesMasters/notesMaster1.xml" Id="Rbfbc6aa9b189440f"/></Relationships>
</file>

<file path=ppt/notesSlides/_rels/notesSlide73.xml.rels><?xml version='1.0' encoding='UTF-8' standalone='yes'?>
<Relationships xmlns="http://schemas.openxmlformats.org/package/2006/relationships"><Relationship Type="http://schemas.openxmlformats.org/officeDocument/2006/relationships/slide" Target="/ppt/slides/slide73.xml" Id="Ree57d9a427db468c"/><Relationship Type="http://schemas.openxmlformats.org/officeDocument/2006/relationships/notesMaster" Target="/ppt/notesMasters/notesMaster1.xml" Id="Rbfbc6aa9b189440f"/></Relationships>
</file>

<file path=ppt/notesSlides/_rels/notesSlide74.xml.rels><?xml version='1.0' encoding='UTF-8' standalone='yes'?>
<Relationships xmlns="http://schemas.openxmlformats.org/package/2006/relationships"><Relationship Type="http://schemas.openxmlformats.org/officeDocument/2006/relationships/slide" Target="/ppt/slides/slide74.xml" Id="Ree57d9a427db468c"/><Relationship Type="http://schemas.openxmlformats.org/officeDocument/2006/relationships/notesMaster" Target="/ppt/notesMasters/notesMaster1.xml" Id="Rbfbc6aa9b189440f"/></Relationships>
</file>

<file path=ppt/notesSlides/_rels/notesSlide75.xml.rels><?xml version='1.0' encoding='UTF-8' standalone='yes'?>
<Relationships xmlns="http://schemas.openxmlformats.org/package/2006/relationships"><Relationship Type="http://schemas.openxmlformats.org/officeDocument/2006/relationships/slide" Target="/ppt/slides/slide75.xml" Id="Ree57d9a427db468c"/><Relationship Type="http://schemas.openxmlformats.org/officeDocument/2006/relationships/notesMaster" Target="/ppt/notesMasters/notesMaster1.xml" Id="Rbfbc6aa9b189440f"/></Relationships>
</file>

<file path=ppt/notesSlides/_rels/notesSlide76.xml.rels><?xml version='1.0' encoding='UTF-8' standalone='yes'?>
<Relationships xmlns="http://schemas.openxmlformats.org/package/2006/relationships"><Relationship Type="http://schemas.openxmlformats.org/officeDocument/2006/relationships/slide" Target="/ppt/slides/slide76.xml" Id="Ree57d9a427db468c"/><Relationship Type="http://schemas.openxmlformats.org/officeDocument/2006/relationships/notesMaster" Target="/ppt/notesMasters/notesMaster1.xml" Id="Rbfbc6aa9b189440f"/></Relationships>
</file>

<file path=ppt/notesSlides/_rels/notesSlide77.xml.rels><?xml version='1.0' encoding='UTF-8' standalone='yes'?>
<Relationships xmlns="http://schemas.openxmlformats.org/package/2006/relationships"><Relationship Type="http://schemas.openxmlformats.org/officeDocument/2006/relationships/slide" Target="/ppt/slides/slide77.xml" Id="Ree57d9a427db468c"/><Relationship Type="http://schemas.openxmlformats.org/officeDocument/2006/relationships/notesMaster" Target="/ppt/notesMasters/notesMaster1.xml" Id="Rbfbc6aa9b189440f"/></Relationships>
</file>

<file path=ppt/notesSlides/_rels/notesSlide78.xml.rels><?xml version='1.0' encoding='UTF-8' standalone='yes'?>
<Relationships xmlns="http://schemas.openxmlformats.org/package/2006/relationships"><Relationship Type="http://schemas.openxmlformats.org/officeDocument/2006/relationships/slide" Target="/ppt/slides/slide78.xml" Id="Ree57d9a427db468c"/><Relationship Type="http://schemas.openxmlformats.org/officeDocument/2006/relationships/notesMaster" Target="/ppt/notesMasters/notesMaster1.xml" Id="Rbfbc6aa9b189440f"/></Relationships>
</file>

<file path=ppt/notesSlides/_rels/notesSlide79.xml.rels><?xml version='1.0' encoding='UTF-8' standalone='yes'?>
<Relationships xmlns="http://schemas.openxmlformats.org/package/2006/relationships"><Relationship Type="http://schemas.openxmlformats.org/officeDocument/2006/relationships/slide" Target="/ppt/slides/slide79.xml" Id="Ree57d9a427db468c"/><Relationship Type="http://schemas.openxmlformats.org/officeDocument/2006/relationships/notesMaster" Target="/ppt/notesMasters/notesMaster1.xml" Id="Rbfbc6aa9b189440f"/></Relationships>
</file>

<file path=ppt/notesSlides/_rels/notesSlide80.xml.rels><?xml version='1.0' encoding='UTF-8' standalone='yes'?>
<Relationships xmlns="http://schemas.openxmlformats.org/package/2006/relationships"><Relationship Type="http://schemas.openxmlformats.org/officeDocument/2006/relationships/slide" Target="/ppt/slides/slide80.xml" Id="Ree57d9a427db468c"/><Relationship Type="http://schemas.openxmlformats.org/officeDocument/2006/relationships/notesMaster" Target="/ppt/notesMasters/notesMaster1.xml" Id="Rbfbc6aa9b189440f"/></Relationships>
</file>

<file path=ppt/notesSlides/_rels/notesSlide81.xml.rels><?xml version='1.0' encoding='UTF-8' standalone='yes'?>
<Relationships xmlns="http://schemas.openxmlformats.org/package/2006/relationships"><Relationship Type="http://schemas.openxmlformats.org/officeDocument/2006/relationships/slide" Target="/ppt/slides/slide81.xml" Id="Ree57d9a427db468c"/><Relationship Type="http://schemas.openxmlformats.org/officeDocument/2006/relationships/notesMaster" Target="/ppt/notesMasters/notesMaster1.xml" Id="Rbfbc6aa9b189440f"/></Relationships>
</file>

<file path=ppt/notesSlides/_rels/notesSlide82.xml.rels><?xml version='1.0' encoding='UTF-8' standalone='yes'?>
<Relationships xmlns="http://schemas.openxmlformats.org/package/2006/relationships"><Relationship Type="http://schemas.openxmlformats.org/officeDocument/2006/relationships/slide" Target="/ppt/slides/slide82.xml" Id="Ree57d9a427db468c"/><Relationship Type="http://schemas.openxmlformats.org/officeDocument/2006/relationships/notesMaster" Target="/ppt/notesMasters/notesMaster1.xml" Id="Rbfbc6aa9b189440f"/></Relationships>
</file>

<file path=ppt/notesSlides/_rels/notesSlide83.xml.rels><?xml version='1.0' encoding='UTF-8' standalone='yes'?>
<Relationships xmlns="http://schemas.openxmlformats.org/package/2006/relationships"><Relationship Type="http://schemas.openxmlformats.org/officeDocument/2006/relationships/slide" Target="/ppt/slides/slide83.xml" Id="Ree57d9a427db468c"/><Relationship Type="http://schemas.openxmlformats.org/officeDocument/2006/relationships/notesMaster" Target="/ppt/notesMasters/notesMaster1.xml" Id="Rbfbc6aa9b189440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适用架构：华为云云防火墙 CFW 的 VPC 边界防护，企业路由器模式（新版）。图中只有一个 ER 实例，三个 VPC 各自通过独立 VPC 连接接入该 ER。图示为逻辑架构，不代表物理硬件或默认全互通。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VPC 连接关联 er-RT1。er-RT1 配置待防护目的网段的引流路由，下一跳指向 CFW 自动生成的连接 cfw-er-auto-attach，确保待检流量进入云防火墙。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CFW 连接关联 er-RT2。er-RT2 为各 VPC 连接启用路由传播，学习各 VPC 的目的网段。CFW 根据防护策略检查，允许的流量回到同一个 ER，再依据 er-RT2 转发到目标 VPC。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图中的送检和放行回注为同一条 CFW 自动连接承载的两个流量方向，不代表两条独立防火墙连接。三个 VPC 的线条表示 ER 连接关系，VPC 间的受防护流量按引流路由经过 CFW。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讲解重点：VPC 路由的下一跳为 ER。不能仅凭连通示意认定已开启防护，仍需完成 CFW 引流、开启 VPC 边界防护并验证流量经过 CFW。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依据：华为云《配置企业路由器并将流量引至云防火墙》，企业路由器模式（新版），页面更新日期 2026-09-07，核验日期 2026-10-17。https://support.huaweicloud.com/usermanual-cfw/cfw_01_0269.html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议题顺序为VPC基础与规范、网络互联方案、CFW使用规范、变更与排障、典型故障分析、配置核验与巡检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议题顺序为VPC基础与规范、网络互联方案、CFW使用规范、变更与排障、典型故障分析、配置核验与巡检。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预期分析结论是否定的。强调数据库为自建 ECS 服务，不套用到所有托管数据库的网络路径。后续练习均基于此假设，不包含容器网络、代理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预期分析结论是否定的。强调数据库为自建 ECS 服务，不套用到所有托管数据库的网络路径。后续练习均基于此假设，不包含容器网络、代理或 NAT，除非题目特别说明。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产品层面的 VPC、子网、路由和安全组职责来自华为云文档。右列为建议的内部规范。不同 VPC 默认隔离，同一 VPC 不同子网默认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VPC 网络规划与隔离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https://support.huaweicloud.com/intl/zh-cn/helppanel-vpc/vpc_help_0002.html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VPC 访问控制概述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https://support.huaweicloud.com/intl/zh-cn/usermanual-vpc/zh-cn_topic_0052003963.html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以上网段仅为演示，不应直接复制到企业地址池。检查所有将互联的 VPC、IDC、VPN 客户端网段和容器地址池。华为云建议使用 RF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网络规划建议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https://support.huaweicloud.com/usermanual-vpc/vpc_0001.html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本节为同区域自建 ECS、无 NAT 的跨 VPC 逻辑示例场景，蓝色实线表示从应用主机发起的新请求方向。源主机先核验安全组出方向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本节为同区域自建 ECS、无 NAT 的跨 VPC 逻辑示例场景，蓝色实线表示从应用主机发起的新请求方向。源主机先核验安全组出方向，再核验源子网实际关联的 VPC 路由表，到数据网段的下一跳为 ER。业务 VPC 连接关联同一个 ER 的 er-RT1，将待检流量送至 CFW 自动连接。CFW 允许后回到同一个 ER，CFW 连接关联 er-RT2，由其按目的 VPC 路由转发。再核验目的安全组入方向和目标服务监听。图中的控制层位置用于解释职责，不代表独立物理设备。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目的 VPC 路由表单独标记为回程查表：到应用网段的下一跳为 ER，响应路径同样经 er-RT1、CFW、er-RT2 返回。不可将两个 er-RT 表误认为两个 ER 实例，也不可把目的侧的回程 VPC 路由表画成新请求进入目标前必经的额外路由节点。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安全组有状态，匹配已允许连接的响应流量自动放通，不要求机械地为回包配置一条对称端口放行。由目的主机重新发起的独立反向连接，需要按新连接重新核验对应方向的安全策略。CFW 策略、安全组及其他控制层与业务服务共同决定端到端结果。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官方依据，核验日期 2026-10-17：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华为云《配置企业路由器并将流量引至云防火墙》https://support.huaweicloud.com/usermanual-cfw/cfw_01_0269.html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华为云《安全组和安全组规则概述》https://support.huaweicloud.com/usermanual-vpc/zh-cn_topic_0073379079.html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华为云《步骤一：规划组网和资源》https://support.huaweicloud.com/intl/zh-cn/qs-er/er_01_0063.html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安全组状态机制参考：华为云《VPC访问控制概述》https://support.huaweicloud.com/intl/zh-cn/usermanual-vpc/zh-cn_topic_0052003963.html 和《安全组和安全组规则概述》https://support.huaweicloud.com/intl/zh-cn/usermanual-vpc/zh-cn_topic_0073379079.html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安全组保护关联实例，网络 ACL 对关联子网实施访问约束，CFW 对已接入的网络边界做统一管控与检测，WAF 面向 HTTP(S)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安全组保护关联实例，网络 ACL 对关联子网实施访问约束，CFW 对已接入的网络边界做统一管控与检测，WAF 面向 HTTP(S) Web 应用防护。本节只比较作用对象与任务，不把不同产品视为可相互替代。TCP 3306 示例访问应核对 CFW 和数据库安全组等实际控制层。产品依据来自华为云官方文档。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访问控制策略比较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https://support.huaweicloud.com/intl/zh-cn/usermanual-vpc/zh-cn_topic_0052003963.html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网络 ACL 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https://support.huaweicloud.com/usermanual-vpc/acl_0001.html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WAF 与 CFW 的职责区别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https://support.huaweicloud.com/waf_faq/waf_01_0354.html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先检查关联，再看目的网段与下一跳。华为云对部分包含 EIP、ELB、NAT 网关等场景明确提醒，VPC 表中使用指向 ER 的 0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ER 引流配置（新版）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https://support.huaweicloud.com/usermanual-cfw/cfw_01_0269.html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VPC默认路由的ER产品约束核验来源：https://support.huaweicloud.com/er_faq/er_01_0121.html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左列均为管理建议，不代表用户当前架构。重点讲实际源地址：经 WAF、CDN 或代理时，CFW 看到的地址可能与终端用户不同。公网禁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左列均为管理建议，不代表用户当前架构。重点讲实际源地址：经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企业上云安全建设指南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https://www.huaweicloud.com/securecenter/compliance/compliance-center/on-cloud/guidance.html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互联网边界防护规则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https://support.huaweicloud.com/intl/zh-cn/usermanual-cfw/cfw_01_0271.html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用三个问题结束 VPC 章节：谁管理这个网段？这条流量为什么走这个下一跳？业务需要哪条访问？提醒 VPC 和子网分区并不会自动落实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用三个问题结束 VPC 章节：谁管理这个网段？这条流量为什么走这个下一跳？业务需要哪条访问？提醒 VPC 和子网分区并不会自动落实端口隔离，需对应安全组、ACL 或已接入的 CFW 策略。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互联网与 NAT 边界不能简单套用相同源地址。VPC 边界文档当前明确仅专业版支持，并依赖 ER 引流。不要暗示同 VPC 所有流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所有流量自动受边界防火墙保护。需要跨账号或混合云时，应额外核对连接类型、共享与路由支持条件。本材料主要以 VPC 边界为例。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本节以逻辑边界表示保护范围，连接线不代表实际物理下一跳。跨 VPC 的 ER 送检和返回转发关系见第 57 页。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/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参考资料：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 边界防火墙概述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https://support.huaweicloud.com/usermanual-cfw/cfw_01_0185.html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互联网边界防护规则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https://support.huaweicloud.com/intl/zh-cn/usermanual-cfw/cfw_01_0271.html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NAT 网关边界防护规则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https://support.huaweicloud.com/usermanual-cfw/cfw_01_0298.html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依据华为云新版 ER 引流官方文档重绘逻辑关系，图示样式与全课统一，非原始控制台截图。er-RT1 接收来自业务 VPC 的流量并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依据华为云新版 ER 引流官方文档重绘逻辑关系，图示样式与全课统一，非原始控制台截图。er-RT1 接收来自业务 VPC 的流量并将其送入 CFW。er-RT2 关联 CFW 连接并学习业务 VPC 路由，将检查后的流量转发到目标 VPC。业务请求与响应均需按设计经过检查。图中原有占位 IP 不代表生产配置。来源：https://support.huaweicloud.com/usermanual-cfw/cfw_01_0269.html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ER 引流配置（新版）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https://support.huaweicloud.com/usermanual-cfw/cfw_01_0269.html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接入完成不代表默认拒绝已落地。收敛前先梳理 DNS、时间同步、监控、备份、证书与软件仓库等依赖。不要在未知依赖时直接启用全量阻断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应检查它在实际部署模式中的关联、传播、VPC 路由及规则覆盖。不可机械复用别的区域的默认配置。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VPC 边界防火墙概述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https://support.huaweicloud.com/usermanual-cfw/cfw_01_0185.html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ER 引流配置（新版）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https://support.huaweicloud.com/usermanual-cfw/cfw_01_0269.html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开启防护与流量验证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https://support.huaweicloud.com/usermanual-cfw/cfw_01_0133.html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强调此处是企业实施建议，并非产品自动执行的流程。先记录业务基线、真实地址与周期性依赖，再准备精确放行、规则顺序和恢复前态。首批只选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强调此处是企业实施建议，并非产品自动执行的流程。先记录业务基线、真实地址与周期性依赖，再准备精确放行、规则顺序和恢复前态。首批只选已批准范围，发布显式兜底阻断后验证新建应通与应拒绝连接。出现预先约定的关键交易失败、错误率或时延异常时，恢复已记录的规则与路由前态并复核。观察窗口要覆盖备份、批处理、月结等周期，不能套用固定时长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开启防护与流量验证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https://support.huaweicloud.com/usermanual-cfw/cfw_01_0133.html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 边界防火墙概述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https://support.huaweicloud.com/usermanual-cfw/cfw_01_0185.html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示例源端口为 Any 是因为客户端通常使用动态源端口，不能把数据库的 3306 同时填入源端口。源、目的、服务、动作和优先级为产品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https://support.huaweicloud.com/intl/zh-cn/usermanual-cfw/cfw_01_0297.html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地址及端口只是示例样例。放行数据库时，核对应用安全组出方向与数据安全组入方向，也要看历史规则、网络 ACL、主机防火墙和服务监听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地址及端口只是示例样例。放行数据库时，核对应用安全组出方向与数据安全组入方向，也要看历史规则、网络 ACL、主机防火墙和服务监听。兜底阻断的作用域应与审批边界一致，避免跨业务复用过宽地址组。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https://support.huaweicloud.com/intl/zh-cn/usermanual-cfw/cfw_01_0297.html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外层功能顺序与 ACL 内的优先级是两个层次。华为云文档给出的功能优先顺序是流量封堵、白名单、黑名单、防护策略 ACL。ACL 中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访问控制策略概述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https://support.huaweicloud.com/intl/zh-cn/usermanual-cfw/cfw_01_0262.html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VPC 边界防火墙概述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https://support.huaweicloud.com/usermanual-cfw/cfw_01_0185.html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分析结论是第 1 条。将第 2 条挪到前面只能解决 SSH 这一项，仍保留了过宽授权，较好的修复是用批准的最小权限业务规则替换第 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分析结论是第 1 条。将第 2 条挪到前面只能解决 SSH 这一项，仍保留了过宽授权，较好的修复是用批准的最小权限业务规则替换第 1 条。不能仅凭规则有命中就认定整个规则集合理。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https://support.huaweicloud.com/intl/zh-cn/usermanual-cfw/cfw_01_0297.html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防火墙出方向策略需要结合实际出口类型配置。CFW 看到的源地址受 NAT 和代理影响，应以观测结果为准。固定域名也可能使用 CDN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NAT 网关边界防护规则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https://support.huaweicloud.com/usermanual-cfw/cfw_01_0298.html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访问控制策略概述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https://support.huaweicloud.com/intl/zh-cn/usermanual-cfw/cfw_01_0262.html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华为云支持不同域名匹配方式，应用型可依据 Host 或 SNI 等字段，网络型依赖域名解析到的地址。不能把一个匹配方式的适用条件套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华为云支持不同域名匹配方式，应用型可依据 Host 或 SNI 等字段，网络型依赖域名解析到的地址。不能把一个匹配方式的适用条件套到全部协议。加密与协议变化也需要结合当前产品能力确认。本节强调验证，不承诺所有加密流量都能按域名精确识别。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访问控制策略概述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https://support.huaweicloud.com/intl/zh-cn/usermanual-cfw/cfw_01_0262.html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VPC 边界防护规则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https://support.huaweicloud.com/intl/zh-cn/usermanual-cfw/cfw_01_0297.html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NAT 网关边界防护规则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https://support.huaweicloud.com/usermanual-cfw/cfw_01_0298.html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关键结论已列于正文，无需依赖备注。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观察模式记录事件而不执行同等拦截，不能长期当作生产防护完成的证据。误报处理优先定位具体命中规则，评估最小范围例外并跟踪恢复，不建议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观察模式记录事件而不执行同等拦截，不能长期当作生产防护完成的证据。误报处理优先定位具体命中规则，评估最小范围例外并跟踪恢复，不建议为单一业务问题长期关闭整体防护。白名单审批与到期复核是管理建议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配置防护策略后业务无法访问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https://support.huaweicloud.com/intl/zh-cn/ally-visitor-1-usermanual-cfw/cfw_01_0248.html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VPC 边界防火墙概述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https://support.huaweicloud.com/usermanual-cfw/cfw_01_0185.html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关键结论已列于正文，无需依赖备注。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先展示防护对象，再展示规则，不直接从“添加规则”开始。VPC 规则处于启用状态时确认后可立即生效，因此大范围变更可先建立停用规则并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https://support.huaweicloud.com/intl/zh-cn/usermanual-cfw/cfw_01_0297.html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所有结果均为示例预期，并非实测记录。禁止使用真实密码或生产连接串展示。  参考资料： Test-NetConnection 命令文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所有结果均为示例预期，并非实测记录。禁止使用真实密码或生产连接串展示。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Test-NetConnection 命令文档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https://learn.microsoft.com/en-us/powershell/module/nettcpip/test-netconnection?view=windowsserver2025-ps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 边界防护规则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https://support.huaweicloud.com/intl/zh-cn/usermanual-cfw/cfw_01_0297.html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日志查询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https://support.huaweicloud.com/usermanual-cfw/cfw_01_0139.html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总结 CFW 章节并转入操作治理。清理规则前确认批任务、月结、故障切换和备份等低频业务，不能只按短时间无命中自动删除。命中次数也不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总结 CFW 章节并转入操作治理。清理规则前确认批任务、月结、故障切换和备份等低频业务，不能只按短时间无命中自动删除。命中次数也不是业务必要性的唯一证据。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本节为建议岗位分工，并非用户既有制度。小团队可以一人承担多个角色，但高影响范围与宽泛放行应由另一个人复核。业务 Owner 对需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本节为建议岗位分工，并非用户既有制度。小团队可以一人承担多个角色，但高影响范围与宽泛放行应由另一个人复核。业务 Owner 对需求负责，不能将“安全组由别人管理”当作免除业务回归责任的理由。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回滚门槛应由业务与变更负责人在发布前填写具体数字或明确结果，方案不替企业设定统一阈值。规则回滚可恢复上一版本或停用本次新增规则，路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回滚门槛应由业务与变更负责人在发布前填写具体数字或明确结果，方案不替企业设定统一阈值。规则回滚可恢复上一版本或停用本次新增规则，路由回滚应恢复已记录的前态。大范围关闭 CFW 会改变检查覆盖，必须记录风险、持续时间与恢复责任人。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关键结论已列于正文，无需依赖备注。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强调拒绝证据不能只看连接超时，还要排除服务未监听等原因。新连接更便于判断新策略命中，既有会话行为不能一概而论。记录测试源、目的、协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强调拒绝证据不能只看连接超时，还要排除服务未监听等原因。新连接更便于判断新策略命中，既有会话行为不能一概而论。记录测试源、目的、协议、目的端口、时间和时区。仅在测试环境验证回滚，不为示例故意破坏生产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图示为依据华为云访问控制日志字段绘制的示例界面，已统一蓝色 UI 样式，非真实控制台截图或生产日志。示例展示相同应用来源访问数据库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图示为依据华为云访问控制日志字段绘制的示例界面，已统一蓝色 UI 样式，非真实控制台截图或生产日志。示例展示相同应用来源访问数据库 TCP 3306 放行，以及访问 TCP 22 阻断。访问控制日志与攻击事件日志回答不同问题。流量日志存在会话结束上报等机制，暂时查不到记录时先核对筛选、上报和路径。来源：https://support.huaweicloud.com/usermanual-cfw/cfw_01_0139.html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日志查询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https://support.huaweicloud.com/usermanual-cfw/cfw_01_0139.html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流量统计与会话上报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https://support.huaweicloud.com/cfw_faq/cfw_01_0027.html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配置防护策略后业务无法访问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https://support.huaweicloud.com/intl/zh-cn/ally-visitor-1-usermanual-cfw/cfw_01_0248.html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源端抓包或连接日志能证明请求是否发出，目标端能证明是否收到。路由、策略和应用排查可能交替进行，本节是最小调查顺序。无法定位时保留时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源端抓包或连接日志能证明请求是否发出，目标端能证明是否收到。路由、策略和应用排查可能交替进行，本节是最小调查顺序。无法定位时保留时间窗口、配置与日志交厂商支持。应急修改需进入上一页的变更和回滚流程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/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参考资料：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配置防护策略后业务无法访问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https://support.huaweicloud.com/intl/zh-cn/ally-visitor-1-usermanual-cfw/cfw_01_0248.html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流量统计与会话上报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https://support.huaweicloud.com/cfw_faq/cfw_01_0027.html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要求每组写出故障层、具体错误、修改范围、应通与应拒绝用例。示例日志和配置均为虚构。 本节为逻辑架构示意，非真实控制台或生产环境。图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要求每组写出故障层、具体错误、修改范围、应通与应拒绝用例。示例日志和配置均为虚构。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根因是数据主机安全组允许来源与应用实际来源不一致。不要将数据主机安全组扩大为 10.0.0.0/8 或所有来源。源端出方向和其他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根因是数据主机安全组允许来源与应用实际来源不一致。不要将数据主机安全组扩大为 10.0.0.0/8 或所有来源。源端出方向和其他层在题目假设中正常，实际场景仍需核验。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访问控制概述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https://support.huaweicloud.com/intl/zh-cn/usermanual-vpc/zh-cn_topic_0052003963.html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题目已提供新连接命中证据，不需要猜测存量会话。要求分析结论同时描述业务端口是否仍可用。 本节为逻辑架构示意，非真实控制台或生产环境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题目已提供新连接命中证据，不需要猜测存量会话。要求分析结论同时描述业务端口是否仍可用。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解释 ACL 命中后停止继续匹配，所以不能认为靠后的拒绝天然覆盖前面的允许。先获得必要业务依赖，再替换宽泛规则。  参考资料： V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解释 ACL 命中后停止继续匹配，所以不能认为靠后的拒绝天然覆盖前面的允许。先获得必要业务依赖，再替换宽泛规则。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边界防护规则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https://support.huaweicloud.com/intl/zh-cn/usermanual-cfw/cfw_01_0297.html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题目已排除单纯日志延迟。不要仅删除对等连接，也不要直接替换整个 VPC 默认路由。要求说明受影响业务清单、去回程、ER 表关联和回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题目已排除单纯日志延迟。不要仅删除对等连接，也不要直接替换整个 VPC 默认路由。要求说明受影响业务清单、去回程、ER 表关联和回滚方案。真实环境应先分析匹配到哪条路由，不能只根据资源列表判断。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本节为逻辑架构示意，非真实控制台或生产环境。图中关系配合右侧配置要点解释，产品限制以对应来源为准。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图中只有一个 ER 实例，内部 er-RT1 负责送检，er-RT2 负责 CFW 返回后的目的 VPC 转发。旧对等连接为题设实际命中路径。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这是覆盖问题，不是简单放行问题。规则正确但路径绕过检查时，策略无法发挥作用。避免盲目删除承载其他业务的对等连接，只处理本次批准范围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这是覆盖问题，不是简单放行问题。规则正确但路径绕过检查时，策略无法发挥作用。避免盲目删除承载其他业务的对等连接，只处理本次批准范围并评估路由优先级。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ER 引流配置（新版）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https://support.huaweicloud.com/usermanual-cfw/cfw_01_0269.html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开启防护与流量验证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https://support.huaweicloud.com/usermanual-cfw/cfw_01_0133.html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流量统计与会话上报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https://support.huaweicloud.com/cfw_faq/cfw_01_0027.html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分析结论为否、否、否、否、是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分析结论为否、否、否、否、是。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快速纠正常见误解。  参考资料： VPC 网络规划与隔离 https://support.huaweicloud.com/intl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快速纠正常见误解。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参考资料：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 网络规划与隔离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https://support.huaweicloud.com/intl/zh-cn/helppanel-vpc/vpc_help_0002.html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 边界防火墙概述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https://support.huaweicloud.com/usermanual-cfw/cfw_01_0185.html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访问控制策略概述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https://support.huaweicloud.com/intl/zh-cn/usermanual-cfw/cfw_01_0262.html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配置防护策略后业务无法访问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https://support.huaweicloud.com/intl/zh-cn/ally-visitor-1-usermanual-cfw/cfw_01_0248.html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这是可以转成内部检查表的建议内容。不要把课件里的周期安排、日志期限或例外权限当成已经生效的公司制度。团队需明确责任人后正式采用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这是可以转成内部检查表的建议内容。不要把课件里的周期安排、日志期限或例外权限当成已经生效的公司制度。团队需明确责任人后正式采用。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每日由值班运维检查防护覆盖变化、异常阻断与告警，并记录业务影响和跟进人。每周由安全管理员核查临时授权到期、宽泛授权、对象组变化及例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每日由值班运维检查防护覆盖变化、异常阻断与告警，并记录业务影响和跟进人。每周由安全管理员核查临时授权到期、宽泛授权、对象组变化及例外清单，清理前复核 Owner 与审批依据。每月由业务 Owner 与网络、安全团队复核周期性依赖、路由引流、规则必要性和恢复前态。长期未命中的规则需覆盖业务周期后再评估，不能机械按天数删除。资产、路由或出口变化时应触发额外复核。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650"/>
              <ns0:t>官方文档索引（链接核验日期 2026-10-18）。各条目涵盖对应产品或功能，实际配置仍需检查区域、版本与资源关系。</ns0:t>
            </ns0:r>
          </ns0:p>
          <ns1:p xmlns:ns1="http://schemas.openxmlformats.org/drawingml/2006/main">
            <ns1:r>
              <ns1:rPr sz="1650"/>
              <ns1:t>VPC 与网络互联</ns1:t>
            </ns1:r>
          </ns1:p>
          <ns2:p xmlns:ns2="http://schemas.openxmlformats.org/drawingml/2006/main">
            <ns2:r>
              <ns2:rPr sz="1650"/>
              <ns2:t>VPC 网络规划</ns2:t>
            </ns2:r>
          </ns2:p>
          <ns3:p xmlns:ns3="http://schemas.openxmlformats.org/drawingml/2006/main">
            <ns3:r>
              <ns3:rPr sz="1650"/>
              <ns3:t>https://support.huaweicloud.com/usermanual-vpc/vpc_0001.html</ns3:t>
            </ns3:r>
          </ns3:p>
          <ns4:p xmlns:ns4="http://schemas.openxmlformats.org/drawingml/2006/main">
            <ns4:r>
              <ns4:rPr sz="1650"/>
              <ns4:t>对等连接与传递路由</ns4:t>
            </ns4:r>
          </ns4:p>
          <ns5:p xmlns:ns5="http://schemas.openxmlformats.org/drawingml/2006/main">
            <ns5:r>
              <ns5:rPr sz="1650"/>
              <ns5:t>https://support.huaweicloud.com/usermanual-vpc/vpc_peering_0009.html</ns5:t>
            </ns5:r>
          </ns5:p>
          <ns6:p xmlns:ns6="http://schemas.openxmlformats.org/drawingml/2006/main">
            <ns6:r>
              <ns6:rPr sz="1650"/>
              <ns6:t>ER 共享与跨账号接入</ns6:t>
            </ns6:r>
          </ns6:p>
          <ns7:p xmlns:ns7="http://schemas.openxmlformats.org/drawingml/2006/main">
            <ns7:r>
              <ns7:rPr sz="1650"/>
              <ns7:t>https://support.huaweicloud.com/usermanual-er/er_01_0095.html</ns7:t>
            </ns7:r>
          </ns7:p>
          <ns8:p xmlns:ns8="http://schemas.openxmlformats.org/drawingml/2006/main">
            <ns8:r>
              <ns8:rPr sz="1650"/>
              <ns8:t>CC 中心网络与区域限制</ns8:t>
            </ns8:r>
          </ns8:p>
          <ns9:p xmlns:ns9="http://schemas.openxmlformats.org/drawingml/2006/main">
            <ns9:r>
              <ns9:rPr sz="1650"/>
              <ns9:t>https://support.huaweicloud.com/usermanual-cc/cc_03_1010.html</ns9:t>
            </ns9:r>
          </ns9:p>
          <ns10:p xmlns:ns10="http://schemas.openxmlformats.org/drawingml/2006/main">
            <ns10:r>
              <ns10:rPr sz="1650"/>
              <ns10:t>私网 NAT 使用说明</ns10:t>
            </ns10:r>
          </ns10:p>
          <ns11:p xmlns:ns11="http://schemas.openxmlformats.org/drawingml/2006/main">
            <ns11:r>
              <ns11:rPr sz="1650"/>
              <ns11:t>https://support.huaweicloud.com/intl/zh-cn/usermanual-natgateway/nat_privatenat_0001.html</ns11:t>
            </ns11:r>
          </ns11:p>
          <ns12:p xmlns:ns12="http://schemas.openxmlformats.org/drawingml/2006/main">
            <ns12:r>
              <ns12:rPr sz="1650"/>
              <ns12:t>VPCEP 规格与限制</ns12:t>
            </ns12:r>
          </ns12:p>
          <ns13:p xmlns:ns13="http://schemas.openxmlformats.org/drawingml/2006/main">
            <ns13:r>
              <ns13:rPr sz="1650"/>
              <ns13:t>https://support.huaweicloud.com/productdesc-vpcep/vpcep_01_0005.html</ns13:t>
            </ns13:r>
          </ns13:p>
          <ns14:p xmlns:ns14="http://schemas.openxmlformats.org/drawingml/2006/main">
            <ns14:r>
              <ns14:rPr sz="1650"/>
              <ns14:t/>
            </ns14:r>
          </ns14:p>
          <ns15:p xmlns:ns15="http://schemas.openxmlformats.org/drawingml/2006/main">
            <ns15:r>
              <ns15:rPr sz="1650"/>
              <ns15:t>OBS / SWR 安全加固</ns15:t>
            </ns15:r>
          </ns15:p>
          <ns16:p xmlns:ns16="http://schemas.openxmlformats.org/drawingml/2006/main">
            <ns16:r>
              <ns16:rPr sz="1650"/>
              <ns16:t>OBS 双端固定</ns16:t>
            </ns16:r>
          </ns16:p>
          <ns17:p xmlns:ns17="http://schemas.openxmlformats.org/drawingml/2006/main">
            <ns17:r>
              <ns17:rPr sz="1650"/>
              <ns17:t>https://support.huaweicloud.com/usermanual-obs/obs_03_0602.html</ns17:t>
            </ns17:r>
          </ns17:p>
          <ns18:p xmlns:ns18="http://schemas.openxmlformats.org/drawingml/2006/main">
            <ns18:r>
              <ns18:rPr sz="1650"/>
              <ns18:t>OBS 桶策略与 HTTPS</ns18:t>
            </ns18:r>
          </ns18:p>
          <ns19:p xmlns:ns19="http://schemas.openxmlformats.org/drawingml/2006/main">
            <ns19:r>
              <ns19:rPr sz="1650"/>
              <ns19:t>https://support.huaweicloud.com/perms-cfg-obs/obs_40_0041.html</ns19:t>
            </ns19:r>
          </ns19:p>
          <ns20:p xmlns:ns20="http://schemas.openxmlformats.org/drawingml/2006/main">
            <ns20:r>
              <ns20:rPr sz="1650"/>
              <ns20:t>SWR 基础版内网访问</ns20:t>
            </ns20:r>
          </ns20:p>
          <ns21:p xmlns:ns21="http://schemas.openxmlformats.org/drawingml/2006/main">
            <ns21:r>
              <ns21:rPr sz="1650"/>
              <ns21:t>https://support.huaweicloud.com/intl/zh-cn/bestpractice-swr/swr_bestpractice_0007.html</ns21:t>
            </ns21:r>
          </ns21:p>
          <ns22:p xmlns:ns22="http://schemas.openxmlformats.org/drawingml/2006/main">
            <ns22:r>
              <ns22:rPr sz="1650"/>
              <ns22:t>SWR 企业版内网访问</ns22:t>
            </ns22:r>
          </ns22:p>
          <ns23:p xmlns:ns23="http://schemas.openxmlformats.org/drawingml/2006/main">
            <ns23:r>
              <ns23:rPr sz="1650"/>
              <ns23:t>https://support.huaweicloud.com/usermanual2-swr/swr_02_0411.html</ns23:t>
            </ns23:r>
          </ns23:p>
          <ns24:p xmlns:ns24="http://schemas.openxmlformats.org/drawingml/2006/main">
            <ns24:r>
              <ns24:rPr sz="1650"/>
              <ns24:t>SWR 登录与凭证</ns24:t>
            </ns24:r>
          </ns24:p>
          <ns25:p xmlns:ns25="http://schemas.openxmlformats.org/drawingml/2006/main">
            <ns25:r>
              <ns25:rPr sz="1650"/>
              <ns25:t>https://support.huaweicloud.com/usermanual-swr/swr_01_1000.html</ns25:t>
            </ns25:r>
          </ns25:p>
          <ns26:p xmlns:ns26="http://schemas.openxmlformats.org/drawingml/2006/main">
            <ns26:r>
              <ns26:rPr sz="1650"/>
              <ns26:t>CCE 委托拉取镜像</ns26:t>
            </ns26:r>
          </ns26:p>
          <ns27:p xmlns:ns27="http://schemas.openxmlformats.org/drawingml/2006/main">
            <ns27:r>
              <ns27:rPr sz="1650"/>
              <ns27:t>https://support.huaweicloud.com/usermanual-cce/cce_10_1091.html</ns27:t>
            </ns27:r>
          </ns27:p>
          <ns28:p xmlns:ns28="http://schemas.openxmlformats.org/drawingml/2006/main">
            <ns28:r>
              <ns28:rPr sz="1650"/>
              <ns28:t/>
            </ns28:r>
          </ns28:p>
          <ns29:p xmlns:ns29="http://schemas.openxmlformats.org/drawingml/2006/main">
            <ns29:r>
              <ns29:rPr sz="1650"/>
              <ns29:t>CFW 策略与运维</ns29:t>
            </ns29:r>
          </ns29:p>
          <ns30:p xmlns:ns30="http://schemas.openxmlformats.org/drawingml/2006/main">
            <ns30:r>
              <ns30:rPr sz="1650"/>
              <ns30:t>VPC 边界防火墙</ns30:t>
            </ns30:r>
          </ns30:p>
          <ns31:p xmlns:ns31="http://schemas.openxmlformats.org/drawingml/2006/main">
            <ns31:r>
              <ns31:rPr sz="1650"/>
              <ns31:t>https://support.huaweicloud.com/usermanual-cfw/cfw_01_0185.html</ns31:t>
            </ns31:r>
          </ns31:p>
          <ns32:p xmlns:ns32="http://schemas.openxmlformats.org/drawingml/2006/main">
            <ns32:r>
              <ns32:rPr sz="1650"/>
              <ns32:t>ER 引流配置（新版）</ns32:t>
            </ns32:r>
          </ns32:p>
          <ns33:p xmlns:ns33="http://schemas.openxmlformats.org/drawingml/2006/main">
            <ns33:r>
              <ns33:rPr sz="1650"/>
              <ns33:t>https://support.huaweicloud.com/usermanual-cfw/cfw_01_0269.html</ns33:t>
            </ns33:r>
          </ns33:p>
          <ns34:p xmlns:ns34="http://schemas.openxmlformats.org/drawingml/2006/main">
            <ns34:r>
              <ns34:rPr sz="1650"/>
              <ns34:t>访问控制策略概述</ns34:t>
            </ns34:r>
          </ns34:p>
          <ns35:p xmlns:ns35="http://schemas.openxmlformats.org/drawingml/2006/main">
            <ns35:r>
              <ns35:rPr sz="1650"/>
              <ns35:t>https://support.huaweicloud.com/intl/zh-cn/usermanual-cfw/cfw_01_0262.html</ns35:t>
            </ns35:r>
          </ns35:p>
          <ns36:p xmlns:ns36="http://schemas.openxmlformats.org/drawingml/2006/main">
            <ns36:r>
              <ns36:rPr sz="1650"/>
              <ns36:t>IPS 入侵防御概述</ns36:t>
            </ns36:r>
          </ns36:p>
          <ns37:p xmlns:ns37="http://schemas.openxmlformats.org/drawingml/2006/main">
            <ns37:r>
              <ns37:rPr sz="1650"/>
              <ns37:t>https://support.huaweicloud.com/intl/zh-cn/usermanual-cfw/cfw_01_0309.html</ns37:t>
            </ns37:r>
          </ns37:p>
          <ns38:p xmlns:ns38="http://schemas.openxmlformats.org/drawingml/2006/main">
            <ns38:r>
              <ns38:rPr sz="1650"/>
              <ns38:t>日志查询与筛选</ns38:t>
            </ns38:r>
          </ns38:p>
          <ns39:p xmlns:ns39="http://schemas.openxmlformats.org/drawingml/2006/main">
            <ns39:r>
              <ns39:rPr sz="1650"/>
              <ns39:t>https://support.huaweicloud.com/usermanual-cfw/cfw_01_0139.html</ns39:t>
            </ns39:r>
          </ns39:p>
          <ns40:p xmlns:ns40="http://schemas.openxmlformats.org/drawingml/2006/main">
            <ns40:r>
              <ns40:rPr sz="1650"/>
              <ns40:t>常见故障排查索引</ns40:t>
            </ns40:r>
          </ns40:p>
          <ns41:p xmlns:ns41="http://schemas.openxmlformats.org/drawingml/2006/main">
            <ns41:r>
              <ns41:rPr sz="1650"/>
              <ns41:t>https://support.huaweicloud.com/intl/zh-cn/cfw_faq/cfw_01_0020.html</ns41:t>
            </ns41:r>
          </ns41:p>
          <ns42:p xmlns:ns42="http://schemas.openxmlformats.org/drawingml/2006/main">
            <ns42:r>
              <ns42:rPr sz="1650"/>
              <ns42:t/>
            </ns42:r>
          </ns42:p>
          <ns43:p xmlns:ns43="http://schemas.openxmlformats.org/drawingml/2006/main">
            <ns43:r>
              <ns43:rPr sz="1650"/>
              <ns43:t>补充原有参考资料：</ns43:t>
            </ns43:r>
          </ns43:p>
          <ns44:p xmlns:ns44="http://schemas.openxmlformats.org/drawingml/2006/main">
            <ns44:r>
              <ns44:rPr sz="1650"/>
              <ns44:t>参考资料：</ns44:t>
            </ns44:r>
          </ns44:p>
          <ns45:p xmlns:ns45="http://schemas.openxmlformats.org/drawingml/2006/main">
            <ns45:r>
              <ns45:rPr sz="1650"/>
              <ns45:t>VPC 网络规划建议</ns45:t>
            </ns45:r>
          </ns45:p>
          <ns46:p xmlns:ns46="http://schemas.openxmlformats.org/drawingml/2006/main">
            <ns46:r>
              <ns46:rPr sz="1650"/>
              <ns46:t>https://support.huaweicloud.com/usermanual-vpc/vpc_0001.html</ns46:t>
            </ns46:r>
          </ns46:p>
          <ns47:p xmlns:ns47="http://schemas.openxmlformats.org/drawingml/2006/main">
            <ns47:r>
              <ns47:rPr sz="1650"/>
              <ns47:t>VPC 网络规划与隔离</ns47:t>
            </ns47:r>
          </ns47:p>
          <ns48:p xmlns:ns48="http://schemas.openxmlformats.org/drawingml/2006/main">
            <ns48:r>
              <ns48:rPr sz="1650"/>
              <ns48:t>https://support.huaweicloud.com/intl/zh-cn/helppanel-vpc/vpc_help_0002.html</ns48:t>
            </ns48:r>
          </ns48:p>
          <ns49:p xmlns:ns49="http://schemas.openxmlformats.org/drawingml/2006/main">
            <ns49:r>
              <ns49:rPr sz="1650"/>
              <ns49:t>VPC 访问控制概述</ns49:t>
            </ns49:r>
          </ns49:p>
          <ns50:p xmlns:ns50="http://schemas.openxmlformats.org/drawingml/2006/main">
            <ns50:r>
              <ns50:rPr sz="1650"/>
              <ns50:t>https://support.huaweicloud.com/intl/zh-cn/usermanual-vpc/zh-cn_topic_0052003963.html</ns50:t>
            </ns50:r>
          </ns50:p>
          <ns51:p xmlns:ns51="http://schemas.openxmlformats.org/drawingml/2006/main">
            <ns51:r>
              <ns51:rPr sz="1650"/>
              <ns51:t>VPC 边界防火墙概述</ns51:t>
            </ns51:r>
          </ns51:p>
          <ns52:p xmlns:ns52="http://schemas.openxmlformats.org/drawingml/2006/main">
            <ns52:r>
              <ns52:rPr sz="1650"/>
              <ns52:t>https://support.huaweicloud.com/usermanual-cfw/cfw_01_0185.html</ns52:t>
            </ns52:r>
          </ns52:p>
          <ns53:p xmlns:ns53="http://schemas.openxmlformats.org/drawingml/2006/main">
            <ns53:r>
              <ns53:rPr sz="1650"/>
              <ns53:t>ER 引流配置（新版）</ns53:t>
            </ns53:r>
          </ns53:p>
          <ns54:p xmlns:ns54="http://schemas.openxmlformats.org/drawingml/2006/main">
            <ns54:r>
              <ns54:rPr sz="1650"/>
              <ns54:t>https://support.huaweicloud.com/usermanual-cfw/cfw_01_0269.html</ns54:t>
            </ns54:r>
          </ns54:p>
          <ns55:p xmlns:ns55="http://schemas.openxmlformats.org/drawingml/2006/main">
            <ns55:r>
              <ns55:rPr sz="1650"/>
              <ns55:t>开启防护与流量验证</ns55:t>
            </ns55:r>
          </ns55:p>
          <ns56:p xmlns:ns56="http://schemas.openxmlformats.org/drawingml/2006/main">
            <ns56:r>
              <ns56:rPr sz="1650"/>
              <ns56:t>https://support.huaweicloud.com/usermanual-cfw/cfw_01_0133.html</ns56:t>
            </ns56:r>
          </ns56:p>
          <ns57:p xmlns:ns57="http://schemas.openxmlformats.org/drawingml/2006/main">
            <ns57:r>
              <ns57:rPr sz="1650"/>
              <ns57:t>VPC 边界防护规则</ns57:t>
            </ns57:r>
          </ns57:p>
          <ns58:p xmlns:ns58="http://schemas.openxmlformats.org/drawingml/2006/main">
            <ns58:r>
              <ns58:rPr sz="1650"/>
              <ns58:t>https://support.huaweicloud.com/intl/zh-cn/usermanual-cfw/cfw_01_0297.html</ns58:t>
            </ns58:r>
          </ns58:p>
          <ns59:p xmlns:ns59="http://schemas.openxmlformats.org/drawingml/2006/main">
            <ns59:r>
              <ns59:rPr sz="1650"/>
              <ns59:t>访问控制策略概述</ns59:t>
            </ns59:r>
          </ns59:p>
          <ns60:p xmlns:ns60="http://schemas.openxmlformats.org/drawingml/2006/main">
            <ns60:r>
              <ns60:rPr sz="1650"/>
              <ns60:t>https://support.huaweicloud.com/intl/zh-cn/usermanual-cfw/cfw_01_0262.html</ns60:t>
            </ns60:r>
          </ns60:p>
          <ns61:p xmlns:ns61="http://schemas.openxmlformats.org/drawingml/2006/main">
            <ns61:r>
              <ns61:rPr sz="1650"/>
              <ns61:t>日志查询</ns61:t>
            </ns61:r>
          </ns61:p>
          <ns62:p xmlns:ns62="http://schemas.openxmlformats.org/drawingml/2006/main">
            <ns62:r>
              <ns62:rPr sz="1650"/>
              <ns62:t>https://support.huaweicloud.com/usermanual-cfw/cfw_01_0139.html</ns62:t>
            </ns62:r>
          </ns62:p>
          <ns63:p xmlns:ns63="http://schemas.openxmlformats.org/drawingml/2006/main">
            <ns63:r>
              <ns63:rPr sz="1650"/>
              <ns63:t>流量统计与会话上报</ns63:t>
            </ns63:r>
          </ns63:p>
          <ns64:p xmlns:ns64="http://schemas.openxmlformats.org/drawingml/2006/main">
            <ns64:r>
              <ns64:rPr sz="1650"/>
              <ns64:t>https://support.huaweicloud.com/cfw_faq/cfw_01_0027.html</ns64:t>
            </ns64:r>
          </ns64:p>
          <ns65:p xmlns:ns65="http://schemas.openxmlformats.org/drawingml/2006/main">
            <ns65:r>
              <ns65:rPr sz="1650"/>
              <ns65:t>配置防护策略后业务无法访问</ns65:t>
            </ns65:r>
          </ns65:p>
          <ns66:p xmlns:ns66="http://schemas.openxmlformats.org/drawingml/2006/main">
            <ns66:r>
              <ns66:rPr sz="1650"/>
              <ns66:t>https://support.huaweicloud.com/intl/zh-cn/ally-visitor-1-usermanual-cfw/cfw_01_0248.html</ns66:t>
            </ns66:r>
          </ns6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官方资料： https://support.huaweicloud.com/intl/zh-cn/vpc_faq/vpc_faq_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官方资料：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https://support.huaweicloud.com/intl/zh-cn/vpc_faq/vpc_faq_0001.html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https://support.huaweicloud.com/productdesc-vpc/overview_region.html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先从Region层定位VPC，再放入计算、容器和数据库。VPC可以承载跨可用区部署的云资源。图中AZ-A和AZ-B代表资源故障域，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按物理承载、基础资源、平台服务、软件服务说明职责与支撑关系。底部“物理资源与部署”是云服务的承载与部署组织说明，并非第四种即服务分类。服务器、存储设备、网络设备和链路提供物理承载。Region 从地理位置和时延等维度划分区域，AZ 为区域内具有独立基础设施的资源部署与故障域。VPC 为区域级逻辑网络，可连接同区域多 AZ 资源。箭头仅连接层级整体，表示下层能力支撑上层服务，不表示具体产品间的逐项依赖或报文路径。SaaS 为直接使用的软件服务示例，自建云上应用不自动等于 SaaS。MaaS（Model as a Service，模型即服务）作为 AI 模型能力扩展，与平台能力并列示意，不表示固定第四层或所有 MaaS 均可由用户 VPC 私网接入。托管服务的底层资源由服务方管理。本图不表示用户需购买 ECS 或 EVS 才能使用托管服务。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https://support.huaweicloud.com/productdesc-vpc/overview_region.html</a:t>
            </a:r>
          </a:p>
          <a:p xmlns:a="http://schemas.openxmlformats.org/drawingml/2006/main">
            <a:r>
              <a:t>https://support.huaweicloud.com/intl/zh-cn/vpc_faq/vpc_faq_0001.html</a:t>
            </a:r>
          </a:p>
          <a:p xmlns:a="http://schemas.openxmlformats.org/drawingml/2006/main">
            <a:r>
              <a:t>https://support.huaweicloud.com/intl/zh-cn/usermanual-caf/caf_01_0005.html</a:t>
            </a:r>
          </a:p>
          <a:p xmlns:a="http://schemas.openxmlformats.org/drawingml/2006/main">
            <a:r>
              <a:t>https://support.huaweicloud.com/intl/zh-cn/resp-pcre/index.html?product=icp</a:t>
            </a:r>
          </a:p>
          <a:p xmlns:a="http://schemas.openxmlformats.org/drawingml/2006/main">
            <a:r>
              <a:t>https://support.huaweicloud.com/productdesc-maas/productdesc_maas_0002.html</a:t>
            </a:r>
          </a:p>
          <a:p xmlns:a="http://schemas.openxmlformats.org/drawingml/2006/main">
            <a:r>
              <a:t>https://support.huaweicloud.com/intl/zh-cn/productdesc-cce/cce_productdesc_0001.html</a:t>
            </a:r>
          </a:p>
          <a:p xmlns:a="http://schemas.openxmlformats.org/drawingml/2006/main">
            <a:r>
              <a:t>https://support.huaweicloud.com/productdesc-rds/zh-cn_topic_dashboard.html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控制面接收控制台或API配置，维护VPC、子网、网卡和路由等逻辑对象，再将相关转发与隔离策略交给数据面执行。数据面按这些策略转发业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控制面接收控制台或API配置，维护VPC、子网、网卡和路由等逻辑对象，再将相关转发与隔离策略交给数据面执行。数据面按这些策略转发业务包，并保持不同VPC的逻辑隔离。共享物理基础设施不等于共享租户地址空间。华为云产品优势文档公开描述了隧道技术，不在方案中推断具体区域使用的交换芯片、宿主机模块或私有封装。强调配置生效和实际流量路径都需要验证。隧道隔离也不能直接当作业务加密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VPC产品优势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https://support.huaweicloud.com/productdesc-vpc/overview_0004.html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什么是VPC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https://support.huaweicloud.com/intl/zh-cn/vpc_faq/vpc_faq_0001.html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Overlay是面向租户的逻辑网络，Underlay是承载它的底层网络。以RFC7348 VXLAN为标准示例：源端封装逻辑网络内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Overlay是面向租户的逻辑网络，Underlay是承载它的底层网络。以RFC7348 VXLAN为标准示例：源端封装逻辑网络内的报文并带上网络标识，外层地址用于在底层IP网络中运输，隧道对端解封装后交付目标。图中包结构为概念简图，省略Ethernet、UDP等完整协议字段，不可当成抓包模板。私网业务地址与外层隧道地址职责不同。网络隔离与加密分别设计，应用敏感通信仍应按要求使用TLS或其他适当加密。排障时用户主要检查自己可见的VPC路由、安全组和服务日志，底层承载异常联系云侧支持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RFC 7348 VXLAN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https://www.rfc-editor.org/rfc/rfc7348.html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VPC产品优势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https://support.huaweicloud.com/productdesc-vpc/overview_0004.html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本节针对IPv4示例场景。VPC归属Region，跨Region需要专门互联。主网段并非普通可随时调整参数，官方修改说明含API条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本节针对IPv4示例场景。VPC归属Region，跨Region需要专门互联。主网段并非普通可随时调整参数，官方修改说明含API条件与扩展网段能力差异，变更前核对当前区域和资源支持。整网对等连接示例要求两端VPC网段不重叠。子网网段需要符合VPC的主或扩展网段范围，且同VPC子网不能重叠。官方创建子网示例192.168.0.0/24预留.0、.1、.253、.254、.255，可用于该示例的地址为251个。不要把/24的256个地址都计入业务容量，系统预留和实际可分配地址以当前界面为准。地址规划还应预留负载均衡、容器节点和扩容使用量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VPC规划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https://support.huaweicloud.com/usermanual-vpc/vpc_0001.html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修改VPC信息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https://support.huaweicloud.com/usermanual-vpc/vpc_vpc_0007.html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创建子网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https://support.huaweicloud.com/intl/zh-cn/usermanual-vpc/zh-cn_topic_0013748726.html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连通整个VPC网络的对等连接配置示例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https://support.huaweicloud.com/usermanual-vpc/vpc_peering_0009.html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建议用一分钟强调日常高发问题：创建前先看当前账号和区域的VPC、子网、自定义路由表等配额，不能拿某张静态默认配额表当成自己的额度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建议用一分钟强调日常高发问题：创建前先看当前账号和区域的VPC、子网、自定义路由表等配额，不能拿某张静态默认配额表当成自己的额度。申请、扩容或删除均先梳理资源依赖。子网地址使用率需要包含ECS、ELB以及其他云服务消费的IP。修改路由表尤其要确认实际关联子网和更具体路由。IPv6需要检查服务、路由与安全策略是否均支持，而不是只给一个IPv6地址。保留变更前态、正反测试及回滚门槛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VPC使用限制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https://support.huaweicloud.com/productdesc-vpc/overview_0003.html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修改VPC信息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https://support.huaweicloud.com/usermanual-vpc/vpc_vpc_0007.html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创建子网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https://support.huaweicloud.com/intl/zh-cn/usermanual-vpc/zh-cn_topic_0013748726.html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VPC访问控制概述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https://support.huaweicloud.com/intl/zh-cn/usermanual-vpc/zh-cn_topic_0052003963.html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同VPC子网通信使用本地网络能力，跨VPC不应一律使用ER。对等连接适用于同Region的VPC互联。ER提供区域内的集中路由连接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同VPC子网通信使用本地网络能力，跨VPC不应一律使用ER。对等连接适用于同Region的VPC互联。ER提供区域内的集中路由连接，便于多VPC统一规划。VPCEP将指定服务私网发布给消费者，消费者不因此获得整个服务VPC的任意访问权。CC中心网络通过各Region的ER做跨Region互联。云下IDC接入可使用VPN或专线DC，并按拓扑接到ER等服务。公网入出方向可用EIP、公网NAT等产品，但各产品能力和安全边界不同。全方案后续案例均采用私网地址，避免混入公网出口的地址转换逻辑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什么是VPC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https://support.huaweicloud.com/intl/zh-cn/vpc_faq/vpc_faq_0001.html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对等连接概述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https://support.huaweicloud.com/usermanual-vpc/zh-cn_topic_0046655036.html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跨VPC终端节点配置（同一账号）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https://support.huaweicloud.com/qs-vpcep/vpcep_02_0200.html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中心网络连接跨区域ER</ns9:t>
            </ns9:r>
          </ns9:p>
          <ns10:p xmlns:ns10="http://schemas.openxmlformats.org/drawingml/2006/main">
            <ns10:r>
              <ns10:rPr sz="1200">
                <ns10:latin typeface="Microsoft YaHei"/>
                <ns10:ea typeface="Microsoft YaHei"/>
                <ns10:cs typeface="Microsoft YaHei"/>
              </ns10:rPr>
              <ns10:t>https://support.huaweicloud.com/usermanual-cc/cc_03_1010.html</ns10:t>
            </ns10:r>
          </ns10:p>
          <ns11:p xmlns:ns11="http://schemas.openxmlformats.org/drawingml/2006/main">
            <ns11:r>
              <ns11:rPr sz="1200">
                <ns11:latin typeface="Microsoft YaHei"/>
                <ns11:ea typeface="Microsoft YaHei"/>
                <ns11:cs typeface="Microsoft YaHei"/>
              </ns11:rPr>
              <ns11:t>ER产品介绍</ns11:t>
            </ns11:r>
          </ns11:p>
          <ns12:p xmlns:ns12="http://schemas.openxmlformats.org/drawingml/2006/main">
            <ns12:r>
              <ns12:rPr sz="1200">
                <ns12:latin typeface="Microsoft YaHei"/>
                <ns12:ea typeface="Microsoft YaHei"/>
                <ns12:cs typeface="Microsoft YaHei"/>
              </ns12:rPr>
              <ns12:t>https://support.huaweicloud.com/productdesc-er/er_01_0002.html</ns12:t>
            </ns12:r>
          </ns12:p>
          <ns13:p xmlns:ns13="http://schemas.openxmlformats.org/drawingml/2006/main">
            <ns13:r>
              <ns13:rPr sz="1200">
                <ns13:latin typeface="Microsoft YaHei"/>
                <ns13:ea typeface="Microsoft YaHei"/>
                <ns13:cs typeface="Microsoft YaHei"/>
              </ns13:rPr>
              <ns13:t>新增私网NAT资料（2026-10-18核验）：</ns13:t>
            </ns13:r>
          </ns13:p>
          <ns14:p xmlns:ns14="http://schemas.openxmlformats.org/drawingml/2006/main">
            <ns14:r>
              <ns14:rPr sz="1200">
                <ns14:latin typeface="Microsoft YaHei"/>
                <ns14:ea typeface="Microsoft YaHei"/>
                <ns14:cs typeface="Microsoft YaHei"/>
              </ns14:rPr>
              <ns14:t>https://support.huaweicloud.com/bestpractice-natgateway/nat_bp_0006.html</ns14:t>
            </ns14:r>
          </ns14:p>
          <ns15:p xmlns:ns15="http://schemas.openxmlformats.org/drawingml/2006/main">
            <ns15:r>
              <ns15:rPr sz="1200">
                <ns15:latin typeface="Microsoft YaHei"/>
                <ns15:ea typeface="Microsoft YaHei"/>
                <ns15:cs typeface="Microsoft YaHei"/>
              </ns15:rPr>
              <ns15:t>https://support.huaweicloud.com/intl/zh-cn/usermanual-natgateway/nat_privatenat_0001.html</ns15:t>
            </ns15:r>
          </ns1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只需要消费一个已经发布的API或数据库入口，优先考虑VPCEP的服务级私网访问。同Region少量VPC需要相互访问，可采用对等连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需求到候选产品的选择线索，不表示互斥关系。私网NAT既可为指定服务建立DNAT映射，也可叠加底层连接进行SNAT，实际区域能力、接入条件及安全策略需逐项复核。重叠网段通常需两侧NAT与独立中转网络，不是添加一条SNAT即可解决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https://support.huaweicloud.com/usermanual-natgateway/nat_privatenat_0007.html</a:t>
            </a:r>
          </a:p>
          <a:p xmlns:a="http://schemas.openxmlformats.org/drawingml/2006/main"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场景为同账号同Region，应用VPC 10.50.0.0/16，应用ECS 10.50.1.10。数据VPC 10.60.0.0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场景为同账号同Region，应用VPC 10.50.0.0/16，应用ECS 10.50.1.10。数据VPC 10.60.0.0/16，数据库ECS 10.60.2.20。建立Peering-AB后两端子网关联的VPC路由表分别添加到对端VPC的路由。源安全组出方向允许必要业务，目的安全组入方向仅允许10.50.1.10/32到TCP3306，同时核验主机防火墙和数据库监听。图中的连线表示逻辑网络路径，不暗示对等连接自动经过ER或CFW。该案例为独立的互联方案演示，生产若要求CFW检查，必须另行按支持架构设计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对等连接概述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https://support.huaweicloud.com/usermanual-vpc/zh-cn_topic_0046655036.html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连通整个VPC网络的对等连接配置示例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https://support.huaweicloud.com/usermanual-vpc/vpc_peering_0009.html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VPC访问控制概述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https://support.huaweicloud.com/intl/zh-cn/usermanual-vpc/zh-cn_topic_0052003963.html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依次检查连接是否已接受和可用、两端实际关联VPC路由表是否具备相应路由、两端安全组和服务监听是否满足审批。正向测试TCP3306并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依次检查连接是否已接受和可用、两端实际关联VPC路由表是否具备相应路由、两端安全组和服务监听是否满足审批。正向测试TCP3306并执行数据库只读查询，负向测试TCP22且不增加额外宽泛授权。对等连接没有自动的CFW送检含义。本节特别强调华为云官方2026年9月文档明确支持基于路由配置的对等传递：若A-B和A-C已建连接，可在B和C的路由表分别指向对应对等连接，由A转发。不要套用其他云平台的不可传递结论。本例堂只配置A-B两VPC，复杂传递组网须单独审核路由、地址、安全域与支持条件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连通整个VPC网络的对等连接配置示例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https://support.huaweicloud.com/usermanual-vpc/vpc_peering_0009.html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对等连接概述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https://support.huaweicloud.com/usermanual-vpc/zh-cn_topic_0046655036.html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VPC访问控制概述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https://support.huaweicloud.com/intl/zh-cn/usermanual-vpc/zh-cn_topic_0052003963.html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关键结论已列于正文，无需依赖备注。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业务方只需要访问HTTPS API，不需要服务VPC全网互通。消费VPC 10.70.0.0/16中的ECS访问接口型终端节点10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业务方只需要访问HTTPS API，不需要服务VPC全网互通。消费VPC 10.70.0.0/16中的ECS访问接口型终端节点10.70.1.10。服务方在10.80.0.0/16的服务VPC部署私网ELB及后端ECS，并将ELB发布为终端节点服务。端口映射设置TCP443到443，ELB监听与后端协议按真实业务配置。本图用一个统一服务入口表示协议流程，地址均为示例虚构值。终端节点与服务需要满足同Region及相应项目条件。只有终端节点侧可主动向已发布服务发起，不能由此推断双方VPC任意地址均互通。跨账号额外配置服务账号白名单与授权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跨VPC终端节点配置（同一账号）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https://support.huaweicloud.com/qs-vpcep/vpcep_02_0200.html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跨VPC终端节点配置（不同账号）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https://support.huaweicloud.com/qs-vpcep/vpcep_02_0203.html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先发布终端节点服务，关联正确ELB并设置TCP443到443的端口映射。消费者在符合Region与项目条件的VPC中建立接口型终端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先发布终端节点服务，关联正确ELB并设置TCP443到443的端口映射。消费者在符合Region与项目条件的VPC中建立接口型终端节点。若服务启用了连接审批，服务方需要接受连接；跨账号还要把消费者账号加入服务白名单。终端节点访问控制白名单填写允许的消费源CIDR。官方同账号快速入门要求ELB的后端安全组放通198.19.128.0/17，ELB开启访问控制时也需允许此地址范围，且ELB后端无法取得真实消费端IP。实际规则还应限定必要协议与服务端口，不能为了放通网段开放所有业务端口。验收既检查终端节点IP或内网域名的443成功，也验证未经授权的消费源和未发布服务端口不会获得额外访问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跨VPC终端节点配置（同一账号）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https://support.huaweicloud.com/qs-vpcep/vpcep_02_0200.html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跨VPC终端节点配置（不同账号）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https://support.huaweicloud.com/qs-vpcep/vpcep_02_0203.html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关键结论已列于正文，无需依赖备注。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示例场景为同账号两个Region，区域A的应用VPC10.90.0.0/16，区域B的业务VPC10.100.0.0/16，网段不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示例场景为同账号两个Region，区域A的应用VPC10.90.0.0/16，区域B的业务VPC10.100.0.0/16，网段不重叠。每个VPC接入本Region的ER，CC中心网络互联两个ER。图中横向连接使用华为云骨干网络，不是公网隧道。创建中心网络策略纳入ER并定义互通关系，再分配全域互联带宽中的跨区域连接带宽。VPC路由和ER路由均须双向完整。图为基础连接路径，不包含CFW强制送检；如果要求区域内集中检查，需要另行按当前ER与CFW支持架构复核关联、传播、优先级和回程，不能直接套用本节默认关联与传播设置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中心网络连接跨区域ER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https://support.huaweicloud.com/usermanual-cc/cc_03_1010.html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中心网络与ER实现同账号跨区域VPC互通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https://support.huaweicloud.com/qs-cc/cc_02_0203.html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先在两个Region分别准备VPC、ECS和ER，再把VPC连接加入对应ER。官方中心网络快速入门要求ER开启默认路由表关联和传播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先在两个Region分别准备VPC、ECS和ER，再把VPC连接加入对应ER。官方中心网络快速入门要求ER开启默认路由表关联和传播。创建中心网络及策略加入两端ER，购买和分配全域互联带宽，配置跨区域连接带宽。路由检查分别进行：区域A的源子网路由表到10.100.0.0/16下一跳ER-A；区域B的目标子网回程到10.90.0.0/16下一跳ER-B。两个ER需要通过所属连接与传播具备到对端VPC的有效路由，核对来源、目的和下一跳。业务示例使用TCP443进行正向访问及返回，未批准管理端口应拒绝，并记录应用请求耗时、时延与吞吐。请勿以ping通代表所有应用正常或带宽达到合同上限。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/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官方参考资料（核验日期 2026-10-17）：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中心网络与ER实现同账号跨区域VPC互通</ns3:t>
            </ns3:r>
          </ns3:p>
          <ns4:p xmlns:ns4="http://schemas.openxmlformats.org/drawingml/2006/main">
            <ns4:r>
              <ns4:rPr sz="1200">
                <ns4:latin typeface="Microsoft YaHei"/>
                <ns4:ea typeface="Microsoft YaHei"/>
                <ns4:cs typeface="Microsoft YaHei"/>
              </ns4:rPr>
              <ns4:t>https://support.huaweicloud.com/qs-cc/cc_02_0203.html</ns4:t>
            </ns4:r>
          </ns4:p>
          <ns5:p xmlns:ns5="http://schemas.openxmlformats.org/drawingml/2006/main">
            <ns5:r>
              <ns5:rPr sz="1200">
                <ns5:latin typeface="Microsoft YaHei"/>
                <ns5:ea typeface="Microsoft YaHei"/>
                <ns5:cs typeface="Microsoft YaHei"/>
              </ns5:rPr>
              <ns5:t>中心网络连接跨区域ER</ns5:t>
            </ns5:r>
          </ns5:p>
          <ns6:p xmlns:ns6="http://schemas.openxmlformats.org/drawingml/2006/main">
            <ns6:r>
              <ns6:rPr sz="1200">
                <ns6:latin typeface="Microsoft YaHei"/>
                <ns6:ea typeface="Microsoft YaHei"/>
                <ns6:cs typeface="Microsoft YaHei"/>
              </ns6:rPr>
              <ns6:t>https://support.huaweicloud.com/usermanual-cc/cc_03_1010.html</ns6:t>
            </ns6:r>
          </ns6:p>
          <ns7:p xmlns:ns7="http://schemas.openxmlformats.org/drawingml/2006/main">
            <ns7:r>
              <ns7:rPr sz="1200">
                <ns7:latin typeface="Microsoft YaHei"/>
                <ns7:ea typeface="Microsoft YaHei"/>
                <ns7:cs typeface="Microsoft YaHei"/>
              </ns7:rPr>
              <ns7:t>ER产品介绍</ns7:t>
            </ns7:r>
          </ns7:p>
          <ns8:p xmlns:ns8="http://schemas.openxmlformats.org/drawingml/2006/main">
            <ns8:r>
              <ns8:rPr sz="1200">
                <ns8:latin typeface="Microsoft YaHei"/>
                <ns8:ea typeface="Microsoft YaHei"/>
                <ns8:cs typeface="Microsoft YaHei"/>
              </ns8:rPr>
              <ns8:t>https://support.huaweicloud.com/productdesc-er/er_01_0002.html</ns8:t>
            </ns8:r>
          </ns8:p>
          <ns9:p xmlns:ns9="http://schemas.openxmlformats.org/drawingml/2006/main">
            <ns9:r>
              <ns9:rPr sz="1200">
                <ns9:latin typeface="Microsoft YaHei"/>
                <ns9:ea typeface="Microsoft YaHei"/>
                <ns9:cs typeface="Microsoft YaHei"/>
              </ns9:rPr>
              <ns9:t>关键结论已列于正文，无需依赖备注。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本节连接VPC新专题与后续CFW章节。对等连接的更具体路由可能使流量绕过预期ER送检路径。VPCEP有独立的服务发布、连接授权与后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连接不等于流量已送CFW。对等连接需核对更具体路由，私网NAT需记录转换前后源目的及实际路径，VPCEP需核对服务授权及后端可见源地址，CC与ER需核对区域路由和返回路径。CFW覆盖依据实际支持边界、路径与对应流量日志证明。本页不宣称DNAT ELB路径天然可被某个VPC边界CFW检查。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官方资料： https://support.huaweicloud.com/productdesc-er/er_01_0002.h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保留对等连接、ER、VPCEP、CC中心网络的原有分工，增加私网NAT。SNAT转换源地址，DNAT转换目的地址或端口。当前官方同Region跨VPC ELB DNAT案例无需配置路由，传统SNAT访问远端VPC则通过中转VPC和对等连接配套双向路由。不能把无需路由泛化到所有私网NAT场景。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https://support.huaweicloud.com/usermanual-natgateway/nat_privatenat_0007.html</a:t>
            </a:r>
          </a:p>
          <a:p xmlns:a="http://schemas.openxmlformats.org/drawingml/2006/main">
            <a:r>
              <a:t>https://support.huaweicloud.com/usermanual-vpc/vpc_peering_0009.html</a:t>
            </a:r>
          </a:p>
          <a:p xmlns:a="http://schemas.openxmlformats.org/drawingml/2006/main">
            <a:r>
              <a:t>https://support.huaweicloud.com/productdesc-er/er_01_0002.html</a:t>
            </a:r>
          </a:p>
          <a:p xmlns:a="http://schemas.openxmlformats.org/drawingml/2006/main">
            <a:r>
              <a:t>https://support.huaweicloud.com/qs-vpcep/vpcep_02_0200.html</a:t>
            </a:r>
          </a:p>
          <a:p xmlns:a="http://schemas.openxmlformats.org/drawingml/2006/main">
            <a:r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intl/zh-cn/v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https://support.huaweicloud.com/intl/zh-cn/vpc_faq/vpc_faq_0001.html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https://support.huaweicloud.com/intl/zh-cn/usermanual-vpc/zh-cn_topic_0052003963.html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usermanual-v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https://support.huaweicloud.com/usermanual-vpc/vpc_peering_0009.html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qs-vpcep/vpc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https://support.huaweicloud.com/qs-vpcep/vpcep_02_0200.html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https://support.huaweicloud.com/qs-vpcep/vpcep_02_0203.html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qs-cc/cc_02_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https://support.huaweicloud.com/qs-cc/cc_02_0203.html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https://support.huaweicloud.com/usermanual-cfw/cfw_01_0269.html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官方资料： https://support.huaweicloud.com/productdesc-cfw/cfw_01_000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官方资料：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https://support.huaweicloud.com/productdesc-cfw/cfw_01_0002.html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https://support.huaweicloud.com/usermanual-cfw/cfw_01_0269.html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https://support.huaweicloud.com/intl/zh-cn/usermanual-cfw/cfw_01_0262.html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intl/zh-cn/u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https://support.huaweicloud.com/intl/zh-cn/usermanual-cfw/cfw_01_0262.html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参考资料（2026-10-18 核验）： https://support.huaweicloud.com/intl/zh-cn/u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参考资料（2026-10-18 核验）：</ns0:t>
            </ns0:r>
          </ns0:p>
          <ns1:p xmlns:ns1="http://schemas.openxmlformats.org/drawingml/2006/main">
            <ns1:r>
              <ns1:rPr sz="1200">
                <ns1:latin typeface="Microsoft YaHei"/>
                <ns1:ea typeface="Microsoft YaHei"/>
                <ns1:cs typeface="Microsoft YaHei"/>
              </ns1:rPr>
              <ns1:t>https://support.huaweicloud.com/intl/zh-cn/usermanual-cfw/cfw_01_0309.html</ns1:t>
            </ns1:r>
          </ns1:p>
          <ns2:p xmlns:ns2="http://schemas.openxmlformats.org/drawingml/2006/main">
            <ns2:r>
              <ns2:rPr sz="1200">
                <ns2:latin typeface="Microsoft YaHei"/>
                <ns2:ea typeface="Microsoft YaHei"/>
                <ns2:cs typeface="Microsoft YaHei"/>
              </ns2:rPr>
              <ns2:t>https://support.huaweicloud.com/usermanual-cfw/cfw_01_0168.html</ns2:t>
            </ns2:r>
          </ns2:p>
          <ns3:p xmlns:ns3="http://schemas.openxmlformats.org/drawingml/2006/main">
            <ns3:r>
              <ns3:rPr sz="1200">
                <ns3:latin typeface="Microsoft YaHei"/>
                <ns3:ea typeface="Microsoft YaHei"/>
                <ns3:cs typeface="Microsoft YaHei"/>
              </ns3:rPr>
              <ns3:t>https://support.huaweicloud.com/cfw_faq/cfw_01_0225.html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正文-判断条件和恢复动作已列于正文，阈值由业务与变更负责人事先约定。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200">
                <ns0:latin typeface="Microsoft YaHei"/>
                <ns0:ea typeface="Microsoft YaHei"/>
                <ns0:cs typeface="Microsoft YaHei"/>
              </ns0:rPr>
              <ns0:t>判断条件和恢复动作已列于正文，阈值由业务与变更负责人事先约定。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私网NAT为私网地址转换服务。DNAT是远端访问本端映射服务，SNAT是本端转换源地址访问远端。方案A按官方跨VPC ELB案例，NAT位于提供方VPC，中转IP位于消费方VPC，无需配置路由。方案B按官方SNAT快速入门与连接指南，NAT位于业务VPC，中转IP位于中转VPC，再通过对等连接到远端VPC，并配套路由。两方案独立示意。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https://support.huaweicloud.com/usermanual-natgateway/nat_privatenat_0007.html</a:t>
            </a:r>
          </a:p>
          <a:p xmlns:a="http://schemas.openxmlformats.org/drawingml/2006/main"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基于华为云官方最佳实践，虚构示例地址改为VPC-A 10.70.0.0/16，消费子网10.70.1.0/24，中转IP10.70.1.144；VPC-B 10.80.0.0/16，私网ELB 10.80.1.10，后端10.80.1.20。NAT部署于提供方VPC-B，中转IP属于消费方VPC-A，DNAT实例类型选择负载均衡器，TCP80映射到ELB业务端口80。官方明确该实践无需配置路由。同一个ELB仅支持在一个VPC内创建一个DNAT规则访问，不支持多消费VPC分别以多个中转IP映射该ELB。图为逻辑请求路径，非底层网络实现。安全策略按实际可见源与批准范围核验，后端需允许ELB转发和健康检查。本例不复用官方示例的允许所有IP作为生产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https://support.huaweicloud.com/usermanual-natgateway/nat_privatednat_0001.html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由官方SNAT快速入门与连接其他VPC指南组合为同Region示例。业务VPC-A为10.60.0.0/16，源10.60.1.20。私网NAT属于业务VPC-A。中转VPC-T为10.61.0.0/24，中转IP10.61.0.10。远端VPC-B为10.62.0.0/16，目标10.62.1.10:443。SNAT选择源业务子网与中转IP。中转VPC-T通过对等连接连到VPC-B，VPC-A到10.62.0.0/16下一跳私网NAT，中转VPC-T到该目标下一跳对等连接，VPC-B回10.61.0.10/32下一跳同一对等连接。私网NAT基于会话对返回报文反向转换。远端安全策略核对SNAT后的10.61.0.10，不把10.60.1.20当作远端实例可见源。示例不涉及重叠网段，实际应核对中转地址和路由目标无冲突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https://support.huaweicloud.com/usermanual-natgateway/nat_privatenat_0007.html</a:t>
            </a:r>
          </a:p>
          <a:p xmlns:a="http://schemas.openxmlformats.org/drawingml/2006/main">
            <a:r>
              <a:t>https://support.huaweicloud.com/qs-natgateway/nat_qs_0019.html</a:t>
            </a:r>
          </a:p>
          <a:p xmlns:a="http://schemas.openxmlformats.org/drawingml/2006/main">
            <a:r>
              <a:t>https://support.huaweicloud.com/usermanual-natgateway/nat_privatesnat_0001.html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三条路由对应上一页SNAT例，全部是VPC实际关联路由表条目，不是ER路由。中转IP回程下一跳为对等连接。DNAT访问ELB不照搬SNAT的路由清单。新增DNAT规则应限制映射协议端口，源侧安全组出方向与目标侧安全控制按真实可见地址授权，ELB后端健康检查和服务监听另行检查。私网NAT并非自动连接CFW，需验证路径与日志。每子网只能添加一条SNAT规则、DNAT全端口与具体端口不能共用同一中转IP等规则应以当前控制台与用户指南核验。SNAT和DNAT中转IP共用限制在官方旧最佳实践和现行DNAT指南存在差异，此处不将旧限制写成统一要求。重叠网段需按官方两侧NAT与独立中转网络设计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https://support.huaweicloud.com/qs-natgateway/nat_qs_0019.html</a:t>
            </a:r>
          </a:p>
          <a:p xmlns:a="http://schemas.openxmlformats.org/drawingml/2006/main">
            <a:r>
              <a:t>https://support.huaweicloud.com/usermanual-natgateway/nat_privatesnat_0001.html</a:t>
            </a:r>
          </a:p>
          <a:p xmlns:a="http://schemas.openxmlformats.org/drawingml/2006/main">
            <a:r>
              <a:t>https://support.huaweicloud.com/usermanual-natgateway/nat_privatednat_0001.html</a:t>
            </a:r>
          </a:p>
          <a:p xmlns:a="http://schemas.openxmlformats.org/drawingml/2006/main">
            <a:r>
              <a:t>https://support.huaweicloud.com/bestpractice-natgateway/privatenat_bestpractice_0003.html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限制来源于华为云对等连接概述及跨账号创建指南。对等连接只连同Region，两VPC之间只能一条。互通子网不能重叠，容器网段需纳入IP规划。VPC大网段重叠但互通子网不重叠的情况按官方专项示例配置，不笼统宣称所有VPC CIDR重叠都不支持。华为云支持显式配置传递组网，不应误用其他云的不可传递规则。建议均为企业治理建议。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https://support.huaweicloud.com/intl/zh-cn/usermanual-vpc/zh-cn_topic_0046655036.html</a:t>
            </a:r>
          </a:p>
          <a:p xmlns:a="http://schemas.openxmlformats.org/drawingml/2006/main">
            <a:r>
              <a:t>https://support.huaweicloud.com/usermanual-vpc/zh-cn_topic_0046655038.html</a:t>
            </a:r>
          </a:p>
          <a:p xmlns:a="http://schemas.openxmlformats.org/drawingml/2006/main">
            <a:r>
              <a:t>https://support.huaweicloud.com/usermanual-vpc/vpc_peering_0011.html</a:t>
            </a:r>
          </a:p>
          <a:p xmlns:a="http://schemas.openxmlformats.org/drawingml/2006/main">
            <a: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与传播限制来源于ER原理、关联概述和路由概述。每连接只能关联一个路由表，但可向多个路由表传播。VPC/CFW连接不能仅依赖关联自动学习ER路由回到VPC。ER约束文档指出共享型ELB、VPCEP、私网NAT、DCS和混合云DNS等场景不建议业务VPC直接接ER，需核验服务兼容性并优先评估中转方案。带EIP或存在ELB、NAT、VPCEP、DCS的业务VPC不建议用0/0指ER。相关切换可能影响长连接，客户端应重连。建议按需传播和灰度变更为治理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https://support.huaweicloud.com/usermanual-er/er_01_0030.html</a:t>
            </a:r>
          </a:p>
          <a:p xmlns:a="http://schemas.openxmlformats.org/drawingml/2006/main">
            <a:r>
              <a:t>https://support.huaweicloud.com/intl/zh-cn/productdesc-er/er_01_0011.html</a:t>
            </a:r>
          </a:p>
          <a:p xmlns:a="http://schemas.openxmlformats.org/drawingml/2006/main">
            <a:r>
              <a:t>https://support.huaweicloud.com/intl/zh-cn/usermanual-er/er_01_0040.html</a:t>
            </a:r>
          </a:p>
          <a:p xmlns:a="http://schemas.openxmlformats.org/drawingml/2006/main">
            <a:r>
              <a:t>https://support.huaweicloud.com/intl/zh-cn/productdesc-er/er_01_0006.html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DNAT ELB限制、SNAT每子网一条、DNAT全端口与具体端口互斥同中转IP来自现行用户指南。重叠子网互访按官方双侧NAT及独立中转网络方案处理。NAT转换源地址后仅凭远端源IP不能区分共享映射的原始实例，应结合应用请求标识及可用访问日志关联，不能承诺该产品在所有区域必然提供逐会话转换日志。容量测试、端口保留、映射台账、回收和回退为企业使用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https://support.huaweicloud.com/intl/zh-cn/usermanual-natgateway/nat_privatenat_0001.html</a:t>
            </a:r>
          </a:p>
          <a:p xmlns:a="http://schemas.openxmlformats.org/drawingml/2006/main">
            <a:r>
              <a:t>https://support.huaweicloud.com/bestpractice-natgateway/nat_bp_0006.html</a:t>
            </a:r>
          </a:p>
          <a:p xmlns:a="http://schemas.openxmlformats.org/drawingml/2006/main">
            <a:r>
              <a:t>https://support.huaweicloud.com/usermanual-natgateway/nat_privatesnat_0001.html</a:t>
            </a:r>
          </a:p>
          <a:p xmlns:a="http://schemas.openxmlformats.org/drawingml/2006/main">
            <a:r>
              <a:t>https://support.huaweicloud.com/usermanual-natgateway/nat_privatednat_0001.html</a:t>
            </a:r>
          </a:p>
          <a:p xmlns:a="http://schemas.openxmlformats.org/drawingml/2006/main">
            <a:r>
              <a:t>https://support.huaweicloud.com/bestpractice-natgateway/privatenat_bestpractice_0003.html</a:t>
            </a:r>
          </a:p>
          <a:p xmlns:a="http://schemas.openxmlformats.org/drawingml/2006/main">
            <a:r>
              <a:t>https://support.huaweicloud.com/usermanual-natgateway/nat_privatenat_0002.html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中国站VPCEP约束说明中基础型与专业型都要求服务已存在且同Region，一个终端节点只连接一个服务。专业型终端节点本身不受SG/ACL规则限制，此范围不能延伸成所有后端均不受安全策略约束。ELB后端真实源地址与198.19.128.0/17说明按国际站现行创建终端节点服务指南及本材料ELB案例，其他资源类型需各自验证。容量不写死所有区域值，上线按实例类型与控制台核验。应用鉴权、TLS、台账和变更通知为业务使用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https://support.huaweicloud.com/productdesc-vpcep/vpcep_01_0005.html</a:t>
            </a:r>
          </a:p>
          <a:p xmlns:a="http://schemas.openxmlformats.org/drawingml/2006/main">
            <a:r>
              <a:t>https://support.huaweicloud.com/intl/zh-cn/usermanual-vpcep/zh-cn_topic_0131645182.html</a:t>
            </a:r>
          </a:p>
          <a:p xmlns:a="http://schemas.openxmlformats.org/drawingml/2006/main">
            <a: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650"/>
              <ns0:t>中心网络同一区域的ER接入数量按当前中心网络约束核验。华为云中国站《共享概述》2026-09-22更新说明，共享ER的使用者可以创建VPC连接和Peering连接，不同账号ER可通过共享授权接入同一中心网络。因此不再使用旧国际站2025文档中“不能加入他人共享ER”的笼统表述。共享ER接入需确认RAM权限、共享邀请和连接申请审批，ER所有者负责其路由管理。跨地域连接带宽不超过已购全域互联带宽，购买后仍需分配。跨区域时延、应用一致性、超时重试及容灾带宽分别验证。</ns0:t>
            </ns0:r>
          </ns0:p>
          <ns1:p xmlns:ns1="http://schemas.openxmlformats.org/drawingml/2006/main">
            <ns1:r>
              <ns1:rPr sz="1650"/>
              <ns1:t>官方资料（核验日期 2026-10-18）：</ns1:t>
            </ns1:r>
          </ns1:p>
          <ns2:p xmlns:ns2="http://schemas.openxmlformats.org/drawingml/2006/main">
            <ns2:r>
              <ns2:rPr sz="1650"/>
              <ns2:t>https://support.huaweicloud.com/usermanual-er/er_01_0095.html</ns2:t>
            </ns2:r>
          </ns2:p>
          <ns3:p xmlns:ns3="http://schemas.openxmlformats.org/drawingml/2006/main">
            <ns3:r>
              <ns3:rPr sz="1650"/>
              <ns3:t>https://support.huaweicloud.com/usermanual-cc/cc_03_1010.html</ns3:t>
            </ns3:r>
          </ns3:p>
          <ns4:p xmlns:ns4="http://schemas.openxmlformats.org/drawingml/2006/main">
            <ns4:r>
              <ns4:rPr sz="1650"/>
              <ns4:t>https://support.huaweicloud.com/intl/zh-cn/usermanual-cc/cc_03_1050.html</ns4:t>
            </ns4:r>
          </ns4:p>
          <ns5:p xmlns:ns5="http://schemas.openxmlformats.org/drawingml/2006/main">
            <ns5:r>
              <ns5:rPr sz="1650"/>
              <ns5:t>https://support.huaweicloud.com/qs-cc/cc_02_0203.html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C隔离不等于应用和数据的完整授权。基线建议：生产开发资源按域隔离，管理入口避免全网放通，源目的安全组按批准业务授权；出站最小化应先清点DNS、认证、OBS和镜像下载等必要依赖。使用服务支持的私网链路，同时保留HTTPS证书校验、IAM最小权限和审计。专业型终端节点本身不受SG/ACL限制，不能假定所有终端节点流量都由实例SG控制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https://support.huaweicloud.com/usermanual-vpc/zh-cn_topic_0081124350.html</a:t>
            </a:r>
          </a:p>
          <a:p xmlns:a="http://schemas.openxmlformats.org/drawingml/2006/main">
            <a:r>
              <a:t>https://support.huaweicloud.com/productdesc-vpcep/vpcep_01_0005.html</a:t>
            </a:r>
          </a:p>
          <a:p xmlns:a="http://schemas.openxmlformats.org/drawingml/2006/main">
            <a:r>
              <a:t>https://support.huaweicloud.com/bestpractice-obs/obs_05_2100.html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可以通过同区域ECS内网DNS路径访问；需要VPC粒度的双向资源限制时，选支持OBS双端固定的终端节点服务并配置策略。SWR基础版同区域ECS或CCE节点默认走内网上传下载，也可购买SWR终端节点。企业版在注册表创建内网访问，选批准VPC/子网，平台建立配套VPCEP和DNS。终端节点策略不替代身份与资源策略。本表只讨论同Region，其他来源或跨Region需另设计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https://support.huaweicloud.com/bestpractice-ecs/ecs_05_3301.html</a:t>
            </a:r>
          </a:p>
          <a:p xmlns:a="http://schemas.openxmlformats.org/drawingml/2006/main">
            <a:r>
              <a:t>https://support.huaweicloud.com/usermanual-obs/obs_03_0602.html</a:t>
            </a:r>
          </a:p>
          <a:p xmlns:a="http://schemas.openxmlformats.org/drawingml/2006/main">
            <a:r>
              <a:t>https://support.huaweicloud.com/usermanual-vpcep/vpcep_03_0210.html</a:t>
            </a:r>
          </a:p>
          <a:p xmlns:a="http://schemas.openxmlformats.org/drawingml/2006/main">
            <a:r>
              <a:t>https://support.huaweicloud.com/intl/zh-cn/bestpractice-swr/swr_bestpractice_0007.html</a:t>
            </a:r>
          </a:p>
          <a:p xmlns:a="http://schemas.openxmlformats.org/drawingml/2006/main">
            <a:r>
              <a:t>https://support.huaweicloud.com/usermanual2-swr/swr_02_0411.html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华为云OBS双端固定文档重绘逻辑图。业务VPC内通过与OBS相连的终端节点访问，源侧VPCEP策略限制OBS资源和操作，资源侧桶策略限制SourceVpc或SourceVpce并授权主体。新终端节点默认策略可能为FullAccess，需主动收敛。桶和对象操作分别匹配对应资源粒度。本页为逻辑策略关口，不声明OBS部署于用户VPC，也不声明所有OBS路径都自动穿过CFW。测试应包含批准身份从指定VPC读取指定对象成功、其他VPC访问受限桶失败、此VPC访问未批准桶失败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https://support.huaweicloud.com/usermanual-obs/obs_03_0602.html</a:t>
            </a:r>
          </a:p>
          <a:p xmlns:a="http://schemas.openxmlformats.org/drawingml/2006/main">
            <a:r>
              <a:t>https://support.huaweicloud.com/usermanual-vpcep/vpcep_03_0210.html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逻辑规则及代表性条件键，不给出可直接发布的宽泛Deny模板。SourceVpc、SourceVpce和SecureTransport在OBS桶策略参数中有对应定义；g前缀语法在不同策略体系下按官方当前指南核验。桶与对象API匹配不同资源粒度。显式全主体Deny可能锁定管理员或阻断其他云服务访问，应先按真实委托主体和业务流程设计例外，避免改为所有服务通放。建议先小范围验证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https://support.huaweicloud.com/perms-cfg-obs/obs_40_0041.html</a:t>
            </a:r>
          </a:p>
          <a:p xmlns:a="http://schemas.openxmlformats.org/drawingml/2006/main">
            <a:r>
              <a:t>https://support.huaweicloud.com/bestpractice-obs/obs_05_2100.html</a:t>
            </a:r>
          </a:p>
          <a:p xmlns:a="http://schemas.openxmlformats.org/drawingml/2006/main">
            <a:r>
              <a:t>https://support.huaweicloud.com/usermanual-obs/obs_03_0602.html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SWR基础版同Region ECS/CCE节点默认走内网，可另购买SWR VPCEP。不能把默认内网等同于只允许本VPC或关闭了服务公网端点。企业版通过注册表内网访问创建批准VPC和子网的接入，配套VPCEP不可误删，DNS配额需满足，新增接入仍需创建访问凭证。企业版未使用公网入口时建议保持关闭，已启用则按业务评估关闭或最小源白名单，入口控制与镜像属性分开。具体能力按区域和版本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https://support.huaweicloud.com/intl/zh-cn/bestpractice-swr/swr_bestpractice_0007.html</a:t>
            </a:r>
          </a:p>
          <a:p xmlns:a="http://schemas.openxmlformats.org/drawingml/2006/main">
            <a:r>
              <a:t>https://support.huaweicloud.com/usermanual2-swr/swr_02_0411.html</a:t>
            </a:r>
          </a:p>
          <a:p xmlns:a="http://schemas.openxmlformats.org/drawingml/2006/main">
            <a:r>
              <a:t>https://support.huaweicloud.com/usermanual2-swr/swr_02_0410.html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根据SWR基础版官方内网实践，收紧OBS终端节点双端固定策略时必须将本Region SWR镜像所用OBS桶集群加入允许范围，可能包含一个或多个主备桶，区域清单以官方或工单为准。两条链路为逻辑依赖，不是声称每个请求都使用相同端点或解析地址。SWR托管桶由服务方管理，用户只在本端可配置策略中允许必要资源，不修改SWR托管桶策略、不自行猜测桶名，也不将OBS全部资源开放。本页验证要求完整拉取未缓存镜像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https://support.huaweicloud.com/intl/zh-cn/bestpractice-swr/swr_bestpractice_0007.html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SWR基础版通用型和增强型登录权限体系，增强型指令配合IAM新平面且仅支持临时登录，不套用旧版本地仓库授权。临时凭证有效期不写死旧值，按实际类型设置与续期。CCE镜像免密拉取可配置节点池委托并开启对应能力，需按版本核验，不能把免密解释为匿名。CI/CD与运行时拆分、凭证脱敏、禁止过宽管理权限属于企业建议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https://support.huaweicloud.com/usermanual-swr/swr_01_1000.html</a:t>
            </a:r>
          </a:p>
          <a:p xmlns:a="http://schemas.openxmlformats.org/drawingml/2006/main">
            <a:r>
              <a:t>https://support.huaweicloud.com/usermanual-swr/swr_01_0086.html</a:t>
            </a:r>
          </a:p>
          <a:p xmlns:a="http://schemas.openxmlformats.org/drawingml/2006/main"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sz="1650"/>
              <ns0:t>本页为可执行的加固发布建议，不宣称企业已采用该制度。DNS故障、私网路径选择、OBS端点策略和资源策略、SWR镜像数据依赖、CCE临时凭证续期应分别验证。OBS默认端点策略FullAccess要主动收口；显式来源Deny可影响管理员、控制台和云服务委托。仅通过删除EIP并不能证明已封堵公共访问资源的所有方式。观察业务、分批实施、保存前态与快速回退为建议。</ns0:t>
            </ns0:r>
          </ns0:p>
          <ns1:p xmlns:ns1="http://schemas.openxmlformats.org/drawingml/2006/main">
            <ns1:r>
              <ns1:rPr sz="1650"/>
              <ns1:t>官方资料（核验日期 2026-10-18）：</ns1:t>
            </ns1:r>
          </ns1:p>
          <ns2:p xmlns:ns2="http://schemas.openxmlformats.org/drawingml/2006/main">
            <ns2:r>
              <ns2:rPr sz="1650"/>
              <ns2:t>https://support.huaweicloud.com/usermanual-obs/obs_03_0602.html</ns2:t>
            </ns2:r>
          </ns2:p>
          <ns3:p xmlns:ns3="http://schemas.openxmlformats.org/drawingml/2006/main">
            <ns3:r>
              <ns3:rPr sz="1650"/>
              <ns3:t>https://support.huaweicloud.com/bestpractice-obs/obs_05_2100.html</ns3:t>
            </ns3:r>
          </ns3:p>
          <ns4:p xmlns:ns4="http://schemas.openxmlformats.org/drawingml/2006/main">
            <ns4:r>
              <ns4:rPr sz="1650"/>
              <ns4:t>https://support.huaweicloud.com/intl/zh-cn/bestpractice-swr/swr_bestpractice_0007.html</ns4:t>
            </ns4:r>
          </ns4:p>
          <ns5:p xmlns:ns5="http://schemas.openxmlformats.org/drawingml/2006/main">
            <ns5:r>
              <ns5:rPr sz="1650"/>
              <ns5:t>https://support.huaweicloud.com/usermanual2-swr/swr_02_0411.html</ns5:t>
            </ns5:r>
          </ns5:p>
          <ns6:p xmlns:ns6="http://schemas.openxmlformats.org/drawingml/2006/main">
            <ns6:r>
              <ns6:rPr sz="1650"/>
              <ns6:t>https://support.huaweicloud.com/usermanual-cce/cce_10_1091.html</ns6:t>
            </ns6:r>
          </ns6:p>
          <ns7:p xmlns:ns7="http://schemas.openxmlformats.org/drawingml/2006/main">
            <ns7:r>
              <ns7:rPr sz="1650"/>
              <ns7:t>OBS 终端节点策略配置后，按当前官方文档等待10分钟再验证；此等待说明针对OBS端点策略，不泛化为所有安全策略的生效时间。</ns7:t>
            </ns7:r>
          </ns7:p>
          <ns8:p xmlns:ns8="http://schemas.openxmlformats.org/drawingml/2006/main">
            <ns8:r>
              <ns8:rPr sz="1650"/>
              <ns8:t>https://support.huaweicloud.com/usermanual-obs/obs_03_0602.html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业务验收建议。要求正向OBS限定VPC限定身份限定对象读取成功；其他VPC、公网来源或未批准桶访问按对应策略拒绝；只读身份上传删除、HTTP访问敏感桶按配置拒绝。SWR生产拉取身份完整下载未缓存镜像成功，而推送和访问未授权仓库失败。验证凭证自动续期、过期凭证拒绝及新增节点恢复。日志根据实际启用的OBS访问日志、CTS管理与数据事件以及SWR版本支持的审计采集，不声称所有网络操作必有CFW日志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https://support.huaweicloud.com/usermanual-obs/obs_03_0602.html</a:t>
            </a:r>
          </a:p>
          <a:p xmlns:a="http://schemas.openxmlformats.org/drawingml/2006/main">
            <a:r>
              <a:t>https://support.huaweicloud.com/bestpractice-obs/obs_05_2100.html</a:t>
            </a:r>
          </a:p>
          <a:p xmlns:a="http://schemas.openxmlformats.org/drawingml/2006/main">
            <a:r>
              <a:t>https://support.huaweicloud.com/intl/zh-cn/bestpractice-swr/swr_bestpractice_0007.html</a:t>
            </a:r>
          </a:p>
          <a:p xmlns:a="http://schemas.openxmlformats.org/drawingml/2006/main">
            <a:r>
              <a:t>https://support.huaweicloud.com/usermanual2-swr/swr_02_0411.html</a:t>
            </a:r>
          </a:p>
          <a:p xmlns:a="http://schemas.openxmlformats.org/drawingml/2006/main">
            <a:r>
              <a:t>https://support.huaweicloud.com/usermanual-swr/swr_01_1000.html</a:t>
            </a:r>
          </a:p>
          <a:p xmlns:a="http://schemas.openxmlformats.org/drawingml/2006/main"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本图按账号、区域重新分组。全图只有一个中心网络，归属 Pro 账号。Pro 的贵阳一、华东二、新加坡三个区域分别建立区域 ER，接入该唯一中心网络并采用全互连策略。OP 在贵阳一、华东二保留自有 ER 和多个业务 VPC，通过各自同区域的共享 ER 和中转 VPC 链路接入 Pro。OP 的跨区域访问复用 Pro 中心网络，不另设 OP 中心网络。每区域的 VPC 1、省略号和 VPC n 表示多个独立业务 VPC，1 和 n 为示意标签，不代表真实资源名或确切数量。短汇聚线简化表示多条 VPC 到同一区域 ER 的连接，不代表另有一台交换机或额外汇聚设备，也不表示新加坡存在 OP 资源。</a:t>
            </a:r>
          </a:p>
          <a:p xmlns:a="http://schemas.openxmlformats.org/drawingml/2006/main">
            <a:r>
              <a:t>跨账号链路采用逻辑聚合表示，不是 ER 与 ER 的直接连接类型。具体方向延续前版假设：Pro 将同区域 ER 通过 RAM 共享给 OP。实施时可用两个专用中转 VPC 配合 VPC 对等连接分别接入共享的 Pro ER 和 OP 自有 ER，两个中转 VPC 均可归 OP，不承载业务。该展开方式基于共享 ER、对等连接和中转 VPC 的官方机制组合，是设计方案，实际部署以前态资源与区域能力核验。图中的账号边界仅划分已展开的 VPC、ER、CC 资源归属，聚合链路内部的中转资源归属在实施设计中另行明确。</a:t>
            </a:r>
          </a:p>
          <a:p xmlns:a="http://schemas.openxmlformats.org/drawingml/2006/main">
            <a:r>
              <a:t>当前中心网络概述规定同一中心网络单个区域仅可加入一台 ER。因此本图将 Pro 的每区域 ER 作为中心网络接入点，OP 同区域 ER 经中转接入，不把同区域 Pro 与 OP 两台 ER 同时直接挂入该中心网络。共享授权与连接审批分别完成，共享 ER 所有者管理其路由表。共享关系本身不会自动生成全部业务路由。</a:t>
            </a:r>
          </a:p>
          <a:p xmlns:a="http://schemas.openxmlformats.org/drawingml/2006/main">
            <a:r>
              <a:t>路由要求：两侧 ER、专用中转 VPC 和业务 VPC 分别核验双向业务前缀与下一跳。采用中转 VPC 和对等连接时，不能假定全部远端业务前缀自动传播。CC 路由、连接带宽、网段冲突与访问授权分别核验。网络互联不等于应用容灾自动切换，数据复制、DNS、应用恢复和切换带宽需单独验证。</a:t>
            </a:r>
          </a:p>
          <a:p xmlns:a="http://schemas.openxmlformats.org/drawingml/2006/main">
            <a:r>
              <a:t>官方资料（核验日期 2026-10-18）：</a:t>
            </a:r>
          </a:p>
          <a:p xmlns:a="http://schemas.openxmlformats.org/drawingml/2006/main">
            <a:r>
              <a:t>中心网络概述（单区域 ER 数量限制）：https://support.huaweicloud.com/usermanual-cc/cc_03_1010.html</a:t>
            </a:r>
          </a:p>
          <a:p xmlns:a="http://schemas.openxmlformats.org/drawingml/2006/main">
            <a:r>
              <a:t>ER 共享概述：https://support.huaweicloud.com/usermanual-er/er_01_0095.html</a:t>
            </a:r>
          </a:p>
          <a:p xmlns:a="http://schemas.openxmlformats.org/drawingml/2006/main">
            <a:r>
              <a:t>中转 VPC 组网和资源规划：https://support.huaweicloud.com/bestpractice-er/er_03_0092.html</a:t>
            </a:r>
          </a:p>
          <a:p xmlns:a="http://schemas.openxmlformats.org/drawingml/2006/main">
            <a:r>
              <a:t>通过中心网络和 ER 实现同账号跨区域 VPC 互通：https://support.huaweicloud.com/qs-cc/cc_02_0203.html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9268251d64b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cfeea13f74a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dbcada14040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0bb4ad0c04a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beb4bb89a48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19c85469c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142095-831A-41B3-822F-507D862C8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00587A-6DDE-4532-9D68-08D2968595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A2ECF2-4630-48A2-B239-CEEC2B9DF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7077C1-CC6C-4E5D-91FE-83435ED9B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BD8281-1A1A-49C3-9E68-9BFC49FF14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62EE7-25CC-4E8E-96F0-4F9826A3F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D44483-8462-4F4B-9576-B3A7F7C15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7FDC19-43B2-4ACC-91DF-B0FCD1CC7C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03D87B-0B0D-44F4-BBEC-2792AB3EE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43A546-805A-45F0-89FA-12E9D68E7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4a7b5f143481c" /><Relationship Type="http://schemas.openxmlformats.org/officeDocument/2006/relationships/slideLayout" Target="/ppt/slideLayouts/slideLayout1.xml" Id="R42354fa6cbc447f0" /><Relationship Type="http://schemas.openxmlformats.org/officeDocument/2006/relationships/slideLayout" Target="/ppt/slideLayouts/slideLayout2.xml" Id="R265bd4098f204b6a" /><Relationship Type="http://schemas.openxmlformats.org/officeDocument/2006/relationships/slideLayout" Target="/ppt/slideLayouts/slideLayout3.xml" Id="R660505c657a94ed4" /><Relationship Type="http://schemas.openxmlformats.org/officeDocument/2006/relationships/slideLayout" Target="/ppt/slideLayouts/slideLayout4.xml" Id="Rb9bcdeab1da84986" /><Relationship Type="http://schemas.openxmlformats.org/officeDocument/2006/relationships/slideLayout" Target="/ppt/slideLayouts/slideLayout5.xml" Id="R49ce6fa1acae4149" /><Relationship Type="http://schemas.openxmlformats.org/officeDocument/2006/relationships/slideLayout" Target="/ppt/slideLayouts/slideLayout6.xml" Id="R5678240b70b449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54fa6cbc447f0"/>
    <p:sldLayoutId xmlns:r="http://schemas.openxmlformats.org/officeDocument/2006/relationships" id="2147483650" r:id="R265bd4098f204b6a"/>
    <p:sldLayoutId xmlns:r="http://schemas.openxmlformats.org/officeDocument/2006/relationships" id="2147483651" r:id="R660505c657a94ed4"/>
    <p:sldLayoutId xmlns:r="http://schemas.openxmlformats.org/officeDocument/2006/relationships" id="2147483652" r:id="Rb9bcdeab1da84986"/>
    <p:sldLayoutId xmlns:r="http://schemas.openxmlformats.org/officeDocument/2006/relationships" id="2147483653" r:id="R49ce6fa1acae4149"/>
    <p:sldLayoutId xmlns:r="http://schemas.openxmlformats.org/officeDocument/2006/relationships" id="2147483654" r:id="R5678240b70b449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4a0ff4ca94671" /><Relationship Type="http://schemas.openxmlformats.org/officeDocument/2006/relationships/notesSlide" Target="/ppt/notesSlides/notesSlide1.xml" Id="Re384a6d87f30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f5bae0a094fe2" /><Relationship Type="http://schemas.openxmlformats.org/officeDocument/2006/relationships/notesSlide" Target="/ppt/notesSlides/notesSlide2.xml" Id="Re60028b78125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b6fe8ded448e2" /><Relationship Type="http://schemas.openxmlformats.org/officeDocument/2006/relationships/notesSlide" Target="/ppt/notesSlides/notesSlide3.xml" Id="Rac41f82d5bb2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198bf7c484979" /><Relationship Type="http://schemas.openxmlformats.org/officeDocument/2006/relationships/notesSlide" Target="/ppt/notesSlides/notesSlide4.xml" Id="R75a31bd77875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680b93a594838" /><Relationship Type="http://schemas.openxmlformats.org/officeDocument/2006/relationships/notesSlide" Target="/ppt/notesSlides/notesSlide5.xml" Id="R457af7078c7c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2d0a720f049f2" /><Relationship Type="http://schemas.openxmlformats.org/officeDocument/2006/relationships/notesSlide" Target="/ppt/notesSlides/notesSlide6.xml" Id="R502e6ac5b5714f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2b307516c4362" /><Relationship Type="http://schemas.openxmlformats.org/officeDocument/2006/relationships/notesSlide" Target="/ppt/notesSlides/notesSlide7.xml" Id="R149004bf03e842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bfe57197c4063" /><Relationship Type="http://schemas.openxmlformats.org/officeDocument/2006/relationships/notesSlide" Target="/ppt/notesSlides/notesSlide8.xml" Id="R3f5967cf9e8245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4f4844ad64326" /><Relationship Type="http://schemas.openxmlformats.org/officeDocument/2006/relationships/notesSlide" Target="/ppt/notesSlides/notesSlide9.xml" Id="R26df27d78e6542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d889effe84164" /><Relationship Type="http://schemas.openxmlformats.org/officeDocument/2006/relationships/notesSlide" Target="/ppt/notesSlides/notesSlide10.xml" Id="R617dc4b1270d45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a710f5de94757" /><Relationship Type="http://schemas.openxmlformats.org/officeDocument/2006/relationships/notesSlide" Target="/ppt/notesSlides/notesSlide11.xml" Id="R1c81cee8cde14c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804ca662b4932" /><Relationship Type="http://schemas.openxmlformats.org/officeDocument/2006/relationships/notesSlide" Target="/ppt/notesSlides/notesSlide12.xml" Id="R1544b06022da48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a7572aa794237" /><Relationship Type="http://schemas.openxmlformats.org/officeDocument/2006/relationships/notesSlide" Target="/ppt/notesSlides/notesSlide13.xml" Id="Rdeecd4a8d2cd4d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86f3c8e054e45" /><Relationship Type="http://schemas.openxmlformats.org/officeDocument/2006/relationships/notesSlide" Target="/ppt/notesSlides/notesSlide14.xml" Id="R925327c8c72e4d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4288a4a474b90" /><Relationship Type="http://schemas.openxmlformats.org/officeDocument/2006/relationships/notesSlide" Target="/ppt/notesSlides/notesSlide15.xml" Id="R6c25921e41db43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51224d6fe4d09" /><Relationship Type="http://schemas.openxmlformats.org/officeDocument/2006/relationships/notesSlide" Target="/ppt/notesSlides/notesSlide16.xml" Id="R7810481bf70340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4df16dd904c92" /><Relationship Type="http://schemas.openxmlformats.org/officeDocument/2006/relationships/notesSlide" Target="/ppt/notesSlides/notesSlide17.xml" Id="R10fc7924884b4e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92b258b3e493f" /><Relationship Type="http://schemas.openxmlformats.org/officeDocument/2006/relationships/notesSlide" Target="/ppt/notesSlides/notesSlide18.xml" Id="Ra12ec8c0e7d442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d80d537484789" /><Relationship Type="http://schemas.openxmlformats.org/officeDocument/2006/relationships/notesSlide" Target="/ppt/notesSlides/notesSlide19.xml" Id="R6edca679a7744c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174164286444b" /><Relationship Type="http://schemas.openxmlformats.org/officeDocument/2006/relationships/notesSlide" Target="/ppt/notesSlides/notesSlide20.xml" Id="Ra59ffec6119742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e5cb841774643" /><Relationship Type="http://schemas.openxmlformats.org/officeDocument/2006/relationships/notesSlide" Target="/ppt/notesSlides/notesSlide21.xml" Id="R849e2871ea8346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2a1c3c95c442b" /><Relationship Type="http://schemas.openxmlformats.org/officeDocument/2006/relationships/notesSlide" Target="/ppt/notesSlides/notesSlide22.xml" Id="R141dac3262394d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de2949d564ceb" /><Relationship Type="http://schemas.openxmlformats.org/officeDocument/2006/relationships/notesSlide" Target="/ppt/notesSlides/notesSlide23.xml" Id="R8631ee9d19674e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55725c7734999" /><Relationship Type="http://schemas.openxmlformats.org/officeDocument/2006/relationships/notesSlide" Target="/ppt/notesSlides/notesSlide24.xml" Id="R854cd0d7c8664f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86f26b2e44ef4" /><Relationship Type="http://schemas.openxmlformats.org/officeDocument/2006/relationships/notesSlide" Target="/ppt/notesSlides/notesSlide25.xml" Id="Rdf914917f50c4e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3d454c8f346b5" /><Relationship Type="http://schemas.openxmlformats.org/officeDocument/2006/relationships/notesSlide" Target="/ppt/notesSlides/notesSlide26.xml" Id="R745ba9fa6dd349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56161c3374300" /><Relationship Type="http://schemas.openxmlformats.org/officeDocument/2006/relationships/notesSlide" Target="/ppt/notesSlides/notesSlide27.xml" Id="R03f1f5d3db754e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0a1f7e5034799" /><Relationship Type="http://schemas.openxmlformats.org/officeDocument/2006/relationships/notesSlide" Target="/ppt/notesSlides/notesSlide28.xml" Id="R71dddca5751341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9caca5589496d" /><Relationship Type="http://schemas.openxmlformats.org/officeDocument/2006/relationships/notesSlide" Target="/ppt/notesSlides/notesSlide29.xml" Id="R2e3902cd34074d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161e5b88243da" /><Relationship Type="http://schemas.openxmlformats.org/officeDocument/2006/relationships/notesSlide" Target="/ppt/notesSlides/notesSlide30.xml" Id="Rc3a47681e0e34a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053fb8f3c483f" /><Relationship Type="http://schemas.openxmlformats.org/officeDocument/2006/relationships/notesSlide" Target="/ppt/notesSlides/notesSlide31.xml" Id="R56ee569d284e4d8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b1ce89bcb4118" /><Relationship Type="http://schemas.openxmlformats.org/officeDocument/2006/relationships/notesSlide" Target="/ppt/notesSlides/notesSlide32.xml" Id="Rd1e14684515741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ff01c08804c3e" /><Relationship Type="http://schemas.openxmlformats.org/officeDocument/2006/relationships/notesSlide" Target="/ppt/notesSlides/notesSlide33.xml" Id="Ra221d97c442848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01d3bc5d84350" /><Relationship Type="http://schemas.openxmlformats.org/officeDocument/2006/relationships/notesSlide" Target="/ppt/notesSlides/notesSlide34.xml" Id="R6ec3d08e25524d8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b90e6fa214bb2" /><Relationship Type="http://schemas.openxmlformats.org/officeDocument/2006/relationships/notesSlide" Target="/ppt/notesSlides/notesSlide35.xml" Id="R6b6d6c43eb4f4db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1bd3c4c664ba1" /><Relationship Type="http://schemas.openxmlformats.org/officeDocument/2006/relationships/notesSlide" Target="/ppt/notesSlides/notesSlide36.xml" Id="R7427d793b26d40b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7d45678824a35" /><Relationship Type="http://schemas.openxmlformats.org/officeDocument/2006/relationships/notesSlide" Target="/ppt/notesSlides/notesSlide37.xml" Id="R7ab956cef6a34e7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4867dfe8f4ff6" /><Relationship Type="http://schemas.openxmlformats.org/officeDocument/2006/relationships/notesSlide" Target="/ppt/notesSlides/notesSlide38.xml" Id="R673a67fdf8234ed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a77cddd55436e" /><Relationship Type="http://schemas.openxmlformats.org/officeDocument/2006/relationships/notesSlide" Target="/ppt/notesSlides/notesSlide39.xml" Id="Rb46ad3bdc7844293" 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50a4d62f4e41bb"/><Relationship Type="http://schemas.openxmlformats.org/officeDocument/2006/relationships/notesSlide" Target="/ppt/notesSlides/notesSlide40.xml" Id="Rcee3579d9ad84c48"/><Relationship Id="RFDoc1" Type="http://schemas.openxmlformats.org/officeDocument/2006/relationships/hyperlink" Target="https://support.huaweicloud.com/usermanual-vpc/vpc_0001.html" TargetMode="External"/><Relationship Id="RFDoc2" Type="http://schemas.openxmlformats.org/officeDocument/2006/relationships/hyperlink" Target="https://support.huaweicloud.com/usermanual-vpc/vpc_peering_0009.html" TargetMode="External"/><Relationship Id="RFDoc3" Type="http://schemas.openxmlformats.org/officeDocument/2006/relationships/hyperlink" Target="https://support.huaweicloud.com/usermanual-er/er_01_0095.html" TargetMode="External"/><Relationship Id="RFDoc4" Type="http://schemas.openxmlformats.org/officeDocument/2006/relationships/hyperlink" Target="https://support.huaweicloud.com/usermanual-cc/cc_03_1010.html" TargetMode="External"/><Relationship Id="RFDoc5" Type="http://schemas.openxmlformats.org/officeDocument/2006/relationships/hyperlink" Target="https://support.huaweicloud.com/intl/zh-cn/usermanual-natgateway/nat_privatenat_0001.html" TargetMode="External"/><Relationship Id="RFDoc6" Type="http://schemas.openxmlformats.org/officeDocument/2006/relationships/hyperlink" Target="https://support.huaweicloud.com/productdesc-vpcep/vpcep_01_0005.html" TargetMode="External"/><Relationship Id="RFDoc7" Type="http://schemas.openxmlformats.org/officeDocument/2006/relationships/hyperlink" Target="https://support.huaweicloud.com/usermanual-obs/obs_03_0602.html" TargetMode="External"/><Relationship Id="RFDoc8" Type="http://schemas.openxmlformats.org/officeDocument/2006/relationships/hyperlink" Target="https://support.huaweicloud.com/perms-cfg-obs/obs_40_0041.html" TargetMode="External"/><Relationship Id="RFDoc9" Type="http://schemas.openxmlformats.org/officeDocument/2006/relationships/hyperlink" Target="https://support.huaweicloud.com/intl/zh-cn/bestpractice-swr/swr_bestpractice_0007.html" TargetMode="External"/><Relationship Id="RFDoc10" Type="http://schemas.openxmlformats.org/officeDocument/2006/relationships/hyperlink" Target="https://support.huaweicloud.com/usermanual2-swr/swr_02_0411.html" TargetMode="External"/><Relationship Id="RFDoc11" Type="http://schemas.openxmlformats.org/officeDocument/2006/relationships/hyperlink" Target="https://support.huaweicloud.com/usermanual-swr/swr_01_1000.html" TargetMode="External"/><Relationship Id="RFDoc12" Type="http://schemas.openxmlformats.org/officeDocument/2006/relationships/hyperlink" Target="https://support.huaweicloud.com/usermanual-cce/cce_10_1091.html" TargetMode="External"/><Relationship Id="RFDoc13" Type="http://schemas.openxmlformats.org/officeDocument/2006/relationships/hyperlink" Target="https://support.huaweicloud.com/usermanual-cfw/cfw_01_0185.html" TargetMode="External"/><Relationship Id="RFDoc14" Type="http://schemas.openxmlformats.org/officeDocument/2006/relationships/hyperlink" Target="https://support.huaweicloud.com/usermanual-cfw/cfw_01_0269.html" TargetMode="External"/><Relationship Id="RFDoc15" Type="http://schemas.openxmlformats.org/officeDocument/2006/relationships/hyperlink" Target="https://support.huaweicloud.com/intl/zh-cn/usermanual-cfw/cfw_01_0262.html" TargetMode="External"/><Relationship Id="RFDoc16" Type="http://schemas.openxmlformats.org/officeDocument/2006/relationships/hyperlink" Target="https://support.huaweicloud.com/intl/zh-cn/usermanual-cfw/cfw_01_0309.html" TargetMode="External"/><Relationship Id="RFDoc17" Type="http://schemas.openxmlformats.org/officeDocument/2006/relationships/hyperlink" Target="https://support.huaweicloud.com/usermanual-cfw/cfw_01_0139.html" TargetMode="External"/><Relationship Id="RFDoc18" Type="http://schemas.openxmlformats.org/officeDocument/2006/relationships/hyperlink" Target="https://support.huaweicloud.com/intl/zh-cn/cfw_faq/cfw_01_0020.html" TargetMode="External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1.xml" Id="Re384a6d87f30459a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2.xml" Id="Re384a6d87f30459a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3.xml" Id="Re384a6d87f30459a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4.xml" Id="Re384a6d87f30459a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5.xml" Id="Re384a6d87f30459a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6.xml" Id="Re384a6d87f30459a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7.xml" Id="Re384a6d87f30459a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8.xml" Id="Re384a6d87f30459a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49.xml" Id="Re384a6d87f30459a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0.xml" Id="Re384a6d87f30459a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1.xml" Id="Re384a6d87f30459a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2.xml" Id="Re384a6d87f30459a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3.xml" Id="Re384a6d87f30459a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4.xml" Id="Re384a6d87f30459a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5.xml" Id="Re384a6d87f30459a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6.xml" Id="Re384a6d87f30459a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7.xml" Id="Re384a6d87f30459a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8.xml" Id="Re384a6d87f30459a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59.xml" Id="Re384a6d87f30459a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0.xml" Id="Re384a6d87f30459a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1.xml" Id="Re384a6d87f30459a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2.xml" Id="Re384a6d87f30459a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3.xml" Id="Re384a6d87f30459a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4.xml" Id="Re384a6d87f30459a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5.xml" Id="Re384a6d87f30459a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6.xml" Id="Re384a6d87f30459a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7.xml" Id="Re384a6d87f30459a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8.xml" Id="Re384a6d87f30459a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69.xml" Id="Re384a6d87f30459a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0.xml" Id="Re384a6d87f30459a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1.xml" Id="Re384a6d87f30459a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2.xml" Id="Re384a6d87f30459a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3.xml" Id="Re384a6d87f30459a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4.xml" Id="Re384a6d87f30459a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5.xml" Id="Re384a6d87f30459a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6.xml" Id="Re384a6d87f30459a"/></Relationships>
</file>

<file path=ppt/slides/_rels/slide7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7.xml" Id="Re384a6d87f30459a"/></Relationships>
</file>

<file path=ppt/slides/_rels/slide7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8.xml" Id="Re384a6d87f30459a"/></Relationships>
</file>

<file path=ppt/slides/_rels/slide7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79.xml" Id="Re384a6d87f30459a"/></Relationships>
</file>

<file path=ppt/slides/_rels/slide8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80.xml" Id="Re384a6d87f30459a"/></Relationships>
</file>

<file path=ppt/slides/_rels/slide8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81.xml" Id="Re384a6d87f30459a"/></Relationships>
</file>

<file path=ppt/slides/_rels/slide8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82.xml" Id="Re384a6d87f30459a"/></Relationships>
</file>

<file path=ppt/slides/_rels/slide8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4a0ff4ca94671"/><Relationship Type="http://schemas.openxmlformats.org/officeDocument/2006/relationships/notesSlide" Target="/ppt/notesSlides/notesSlide83.xml" Id="Re384a6d87f30459a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" name="封面-路径-1">
            <a:extLst xmlns:a="http://schemas.openxmlformats.org/drawingml/2006/main">
              <a:ext uri="{FF2B5EF4-FFF2-40B4-BE49-F238E27FC236}">
                <a16:creationId xmlns:a16="http://schemas.microsoft.com/office/drawing/2014/main" id="{8C0C743A-C015-4E4D-ADB6-C117175291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34150" y="2590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BCCCE6"/>
            </a:solidFill>
          </a:ln>
        </p:spPr>
      </p:cxnSp>
      <p:cxnSp>
        <p:nvCxnSpPr>
          <p:cNvPr id="2" name="封面-路径-2">
            <a:extLst xmlns:a="http://schemas.openxmlformats.org/drawingml/2006/main">
              <a:ext uri="{FF2B5EF4-FFF2-40B4-BE49-F238E27FC236}">
                <a16:creationId xmlns:a16="http://schemas.microsoft.com/office/drawing/2014/main" id="{66401377-CBDB-4618-B3B8-DB6B2046BC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29650" y="2590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BCCCE6"/>
            </a:solidFill>
          </a:ln>
        </p:spPr>
      </p:cxnSp>
      <p:cxnSp>
        <p:nvCxnSpPr>
          <p:cNvPr id="3" name="封面-路径-3">
            <a:extLst xmlns:a="http://schemas.openxmlformats.org/drawingml/2006/main">
              <a:ext uri="{FF2B5EF4-FFF2-40B4-BE49-F238E27FC236}">
                <a16:creationId xmlns:a16="http://schemas.microsoft.com/office/drawing/2014/main" id="{ABA8339A-1E34-4A9E-9AA9-E93C10B757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25150" y="2590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BCCCE6"/>
            </a:solidFill>
          </a:ln>
        </p:spPr>
      </p:cxnSp>
      <p:sp>
        <p:nvSpPr>
          <p:cNvPr id="4" name="封面-VPC 业务网络矩形模块玻璃后沿-4">
            <a:extLst xmlns:a="http://schemas.openxmlformats.org/drawingml/2006/main">
              <a:ext uri="{FF2B5EF4-FFF2-40B4-BE49-F238E27FC236}">
                <a16:creationId xmlns:a16="http://schemas.microsoft.com/office/drawing/2014/main" id="{DC4D6AEE-9A4B-4D55-B03E-2F386E4B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封面-VPC 业务网络矩形模块-5">
            <a:extLst xmlns:a="http://schemas.openxmlformats.org/drawingml/2006/main">
              <a:ext uri="{FF2B5EF4-FFF2-40B4-BE49-F238E27FC236}">
                <a16:creationId xmlns:a16="http://schemas.microsoft.com/office/drawing/2014/main" id="{1C5BD877-A81C-4E36-9839-8B9FF2F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封面-VPC 业务网络矩形模块玻璃内沿-6">
            <a:extLst xmlns:a="http://schemas.openxmlformats.org/drawingml/2006/main">
              <a:ext uri="{FF2B5EF4-FFF2-40B4-BE49-F238E27FC236}">
                <a16:creationId xmlns:a16="http://schemas.microsoft.com/office/drawing/2014/main" id="{0186E84E-760A-458B-ABE6-4B7E40C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809" y="1613059"/>
            <a:ext cx="16506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封面-VPC 业务网络矩形模块透光反射面-7">
            <a:extLst xmlns:a="http://schemas.openxmlformats.org/drawingml/2006/main">
              <a:ext uri="{FF2B5EF4-FFF2-40B4-BE49-F238E27FC236}">
                <a16:creationId xmlns:a16="http://schemas.microsoft.com/office/drawing/2014/main" id="{FF7ED93B-E74F-4F47-8DD7-9DE13309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638300" cy="952500"/>
          </a:xfrm>
          <a:custGeom xmlns:a="http://schemas.openxmlformats.org/drawingml/2006/main"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8" name="封面-VPC 业务网络矩形模块边缘高光-8">
            <a:extLst xmlns:a="http://schemas.openxmlformats.org/drawingml/2006/main">
              <a:ext uri="{FF2B5EF4-FFF2-40B4-BE49-F238E27FC236}">
                <a16:creationId xmlns:a16="http://schemas.microsoft.com/office/drawing/2014/main" id="{26D6FF45-4E15-465D-8C91-EA5A34A9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00200"/>
            <a:ext cx="1676400" cy="990600"/>
          </a:xfrm>
          <a:custGeom xmlns:a="http://schemas.openxmlformats.org/drawingml/2006/main"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" name="封面-VPC 统一线性云图标-9">
            <a:extLst xmlns:a="http://schemas.openxmlformats.org/drawingml/2006/main">
              <a:ext uri="{FF2B5EF4-FFF2-40B4-BE49-F238E27FC236}">
                <a16:creationId xmlns:a16="http://schemas.microsoft.com/office/drawing/2014/main" id="{32BDFBEC-6A53-4722-AA4C-1312DD3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383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10" name="封面-文字-VPC-10">
            <a:extLst xmlns:a="http://schemas.openxmlformats.org/drawingml/2006/main">
              <a:ext uri="{FF2B5EF4-FFF2-40B4-BE49-F238E27FC236}">
                <a16:creationId xmlns:a16="http://schemas.microsoft.com/office/drawing/2014/main" id="{22CB7380-2680-4977-B1EA-CA25796A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1" name="封面-文字-业务网络-11">
            <a:extLst xmlns:a="http://schemas.openxmlformats.org/drawingml/2006/main">
              <a:ext uri="{FF2B5EF4-FFF2-40B4-BE49-F238E27FC236}">
                <a16:creationId xmlns:a16="http://schemas.microsoft.com/office/drawing/2014/main" id="{6A6185A6-9D23-4854-8699-15909E8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17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业务网络</a:t>
            </a:r>
          </a:p>
        </p:txBody>
      </p:sp>
      <p:sp>
        <p:nvSpPr>
          <p:cNvPr id="12" name="封面-VPC 应用网络矩形模块玻璃后沿-12">
            <a:extLst xmlns:a="http://schemas.openxmlformats.org/drawingml/2006/main">
              <a:ext uri="{FF2B5EF4-FFF2-40B4-BE49-F238E27FC236}">
                <a16:creationId xmlns:a16="http://schemas.microsoft.com/office/drawing/2014/main" id="{748A0129-2EC7-4AD6-88E3-304C3F0F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封面-VPC 应用网络矩形模块-13">
            <a:extLst xmlns:a="http://schemas.openxmlformats.org/drawingml/2006/main">
              <a:ext uri="{FF2B5EF4-FFF2-40B4-BE49-F238E27FC236}">
                <a16:creationId xmlns:a16="http://schemas.microsoft.com/office/drawing/2014/main" id="{EBC63E3C-F142-4659-ADE4-059B3E2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封面-VPC 应用网络矩形模块玻璃内沿-14">
            <a:extLst xmlns:a="http://schemas.openxmlformats.org/drawingml/2006/main">
              <a:ext uri="{FF2B5EF4-FFF2-40B4-BE49-F238E27FC236}">
                <a16:creationId xmlns:a16="http://schemas.microsoft.com/office/drawing/2014/main" id="{B69A3985-3A97-4AD2-8B66-2E9A125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309" y="1613059"/>
            <a:ext cx="16506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封面-VPC 应用网络矩形模块透光反射面-15">
            <a:extLst xmlns:a="http://schemas.openxmlformats.org/drawingml/2006/main">
              <a:ext uri="{FF2B5EF4-FFF2-40B4-BE49-F238E27FC236}">
                <a16:creationId xmlns:a16="http://schemas.microsoft.com/office/drawing/2014/main" id="{25D616D8-BF0B-41ED-98CE-8120F2F0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1638300" cy="952500"/>
          </a:xfrm>
          <a:custGeom xmlns:a="http://schemas.openxmlformats.org/drawingml/2006/main"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6" name="封面-VPC 应用网络矩形模块边缘高光-16">
            <a:extLst xmlns:a="http://schemas.openxmlformats.org/drawingml/2006/main">
              <a:ext uri="{FF2B5EF4-FFF2-40B4-BE49-F238E27FC236}">
                <a16:creationId xmlns:a16="http://schemas.microsoft.com/office/drawing/2014/main" id="{AB0E7D27-A86F-4C7F-A8EB-890F77A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00200"/>
            <a:ext cx="1676400" cy="990600"/>
          </a:xfrm>
          <a:custGeom xmlns:a="http://schemas.openxmlformats.org/drawingml/2006/main"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封面-VPC 统一线性云图标-17">
            <a:extLst xmlns:a="http://schemas.openxmlformats.org/drawingml/2006/main">
              <a:ext uri="{FF2B5EF4-FFF2-40B4-BE49-F238E27FC236}">
                <a16:creationId xmlns:a16="http://schemas.microsoft.com/office/drawing/2014/main" id="{491576EF-9C9C-4C7B-A4F1-8457A75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383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18" name="封面-文字-VPC-18">
            <a:extLst xmlns:a="http://schemas.openxmlformats.org/drawingml/2006/main">
              <a:ext uri="{FF2B5EF4-FFF2-40B4-BE49-F238E27FC236}">
                <a16:creationId xmlns:a16="http://schemas.microsoft.com/office/drawing/2014/main" id="{1ED1A9F5-F1B8-406F-AC1D-193C2AE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288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9" name="封面-文字-应用网络-19">
            <a:extLst xmlns:a="http://schemas.openxmlformats.org/drawingml/2006/main">
              <a:ext uri="{FF2B5EF4-FFF2-40B4-BE49-F238E27FC236}">
                <a16:creationId xmlns:a16="http://schemas.microsoft.com/office/drawing/2014/main" id="{F3C1B86D-10DF-4A6A-B1DB-89DE69C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应用网络</a:t>
            </a:r>
          </a:p>
        </p:txBody>
      </p:sp>
      <p:sp>
        <p:nvSpPr>
          <p:cNvPr id="20" name="封面-VPC 数据网络矩形模块玻璃后沿-20">
            <a:extLst xmlns:a="http://schemas.openxmlformats.org/drawingml/2006/main">
              <a:ext uri="{FF2B5EF4-FFF2-40B4-BE49-F238E27FC236}">
                <a16:creationId xmlns:a16="http://schemas.microsoft.com/office/drawing/2014/main" id="{6314C410-1C5A-4900-B810-0139E91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封面-VPC 数据网络矩形模块-21">
            <a:extLst xmlns:a="http://schemas.openxmlformats.org/drawingml/2006/main">
              <a:ext uri="{FF2B5EF4-FFF2-40B4-BE49-F238E27FC236}">
                <a16:creationId xmlns:a16="http://schemas.microsoft.com/office/drawing/2014/main" id="{50BC7C67-26C4-417B-B833-0107D58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676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2" name="封面-VPC 数据网络矩形模块玻璃内沿-22">
            <a:extLst xmlns:a="http://schemas.openxmlformats.org/drawingml/2006/main">
              <a:ext uri="{FF2B5EF4-FFF2-40B4-BE49-F238E27FC236}">
                <a16:creationId xmlns:a16="http://schemas.microsoft.com/office/drawing/2014/main" id="{7E1A3F60-F53F-45B8-9A90-E750744F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809" y="1613059"/>
            <a:ext cx="16506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3" name="封面-VPC 数据网络矩形模块透光反射面-23">
            <a:extLst xmlns:a="http://schemas.openxmlformats.org/drawingml/2006/main">
              <a:ext uri="{FF2B5EF4-FFF2-40B4-BE49-F238E27FC236}">
                <a16:creationId xmlns:a16="http://schemas.microsoft.com/office/drawing/2014/main" id="{BF1CB52A-A94D-4812-B4FE-0945BDDD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638300" cy="952500"/>
          </a:xfrm>
          <a:custGeom xmlns:a="http://schemas.openxmlformats.org/drawingml/2006/main"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4" name="封面-VPC 数据网络矩形模块边缘高光-24">
            <a:extLst xmlns:a="http://schemas.openxmlformats.org/drawingml/2006/main">
              <a:ext uri="{FF2B5EF4-FFF2-40B4-BE49-F238E27FC236}">
                <a16:creationId xmlns:a16="http://schemas.microsoft.com/office/drawing/2014/main" id="{559C7955-8790-4726-A281-66F829D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676400" cy="990600"/>
          </a:xfrm>
          <a:custGeom xmlns:a="http://schemas.openxmlformats.org/drawingml/2006/main"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封面-VPC 统一线性云图标-25">
            <a:extLst xmlns:a="http://schemas.openxmlformats.org/drawingml/2006/main">
              <a:ext uri="{FF2B5EF4-FFF2-40B4-BE49-F238E27FC236}">
                <a16:creationId xmlns:a16="http://schemas.microsoft.com/office/drawing/2014/main" id="{3C18ABF3-2E4C-42B4-A82D-8D651B7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383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26" name="封面-文字-VPC-26">
            <a:extLst xmlns:a="http://schemas.openxmlformats.org/drawingml/2006/main">
              <a:ext uri="{FF2B5EF4-FFF2-40B4-BE49-F238E27FC236}">
                <a16:creationId xmlns:a16="http://schemas.microsoft.com/office/drawing/2014/main" id="{A15C8755-03E2-4C10-975A-D9862C1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288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27" name="封面-文字-数据网络-27">
            <a:extLst xmlns:a="http://schemas.openxmlformats.org/drawingml/2006/main">
              <a:ext uri="{FF2B5EF4-FFF2-40B4-BE49-F238E27FC236}">
                <a16:creationId xmlns:a16="http://schemas.microsoft.com/office/drawing/2014/main" id="{E40A32DE-A6D4-42FD-9A05-3FFCEC0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717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数据网络</a:t>
            </a:r>
          </a:p>
        </p:txBody>
      </p:sp>
      <p:sp>
        <p:nvSpPr>
          <p:cNvPr id="28" name="封面-ER 共享路由域玻璃后沿-28">
            <a:extLst xmlns:a="http://schemas.openxmlformats.org/drawingml/2006/main">
              <a:ext uri="{FF2B5EF4-FFF2-40B4-BE49-F238E27FC236}">
                <a16:creationId xmlns:a16="http://schemas.microsoft.com/office/drawing/2014/main" id="{F3C9D465-17B0-4B0D-878B-91001BC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8674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封面-ER 共享路由域-29">
            <a:extLst xmlns:a="http://schemas.openxmlformats.org/drawingml/2006/main">
              <a:ext uri="{FF2B5EF4-FFF2-40B4-BE49-F238E27FC236}">
                <a16:creationId xmlns:a16="http://schemas.microsoft.com/office/drawing/2014/main" id="{6BE95C4A-0154-4779-A0BA-D63BF9A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8674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封面-ER 共享路由域玻璃内沿-30">
            <a:extLst xmlns:a="http://schemas.openxmlformats.org/drawingml/2006/main">
              <a:ext uri="{FF2B5EF4-FFF2-40B4-BE49-F238E27FC236}">
                <a16:creationId xmlns:a16="http://schemas.microsoft.com/office/drawing/2014/main" id="{9DAF9D70-C3D3-4592-A08E-7F68B9D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809" y="3251359"/>
            <a:ext cx="5841683" cy="1307783"/>
          </a:xfrm>
          <a:prstGeom xmlns:a="http://schemas.openxmlformats.org/drawingml/2006/main" prst="roundRect">
            <a:avLst>
              <a:gd name="adj" fmla="val 56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封面-ER 共享路由域透光反射面-31">
            <a:extLst xmlns:a="http://schemas.openxmlformats.org/drawingml/2006/main">
              <a:ext uri="{FF2B5EF4-FFF2-40B4-BE49-F238E27FC236}">
                <a16:creationId xmlns:a16="http://schemas.microsoft.com/office/drawing/2014/main" id="{AE31A210-4B9A-4898-8ACA-A957AC2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5829300" cy="1295400"/>
          </a:xfrm>
          <a:custGeom xmlns:a="http://schemas.openxmlformats.org/drawingml/2006/main">
            <a:pathLst>
              <a:path w="5829300" h="1295400">
                <a:moveTo>
                  <a:pt x="76200" y="0"/>
                </a:moveTo>
                <a:lnTo>
                  <a:pt x="3730752" y="0"/>
                </a:lnTo>
                <a:lnTo>
                  <a:pt x="1515618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2" name="封面-ER 共享路由域边缘高光-32">
            <a:extLst xmlns:a="http://schemas.openxmlformats.org/drawingml/2006/main">
              <a:ext uri="{FF2B5EF4-FFF2-40B4-BE49-F238E27FC236}">
                <a16:creationId xmlns:a16="http://schemas.microsoft.com/office/drawing/2014/main" id="{8C16221F-0A3D-4E74-BABA-05936B14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867400" cy="1333500"/>
          </a:xfrm>
          <a:custGeom xmlns:a="http://schemas.openxmlformats.org/drawingml/2006/main">
            <a:pathLst>
              <a:path w="5867400" h="13335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封面-ER 统一线性路由器外形-33">
            <a:extLst xmlns:a="http://schemas.openxmlformats.org/drawingml/2006/main">
              <a:ext uri="{FF2B5EF4-FFF2-40B4-BE49-F238E27FC236}">
                <a16:creationId xmlns:a16="http://schemas.microsoft.com/office/drawing/2014/main" id="{427BB7ED-18BF-4F5A-BD32-7351ED0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0517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34" name="封面-ER 统一线性四向路由-34">
            <a:extLst xmlns:a="http://schemas.openxmlformats.org/drawingml/2006/main">
              <a:ext uri="{FF2B5EF4-FFF2-40B4-BE49-F238E27FC236}">
                <a16:creationId xmlns:a16="http://schemas.microsoft.com/office/drawing/2014/main" id="{178B832E-BEB9-4C9E-A9EF-273E0977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0517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35" name="封面-文字-ER-35">
            <a:extLst xmlns:a="http://schemas.openxmlformats.org/drawingml/2006/main">
              <a:ext uri="{FF2B5EF4-FFF2-40B4-BE49-F238E27FC236}">
                <a16:creationId xmlns:a16="http://schemas.microsoft.com/office/drawing/2014/main" id="{3AE52D8F-EBA4-4DE3-972B-B6A4D0C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051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36" name="封面-文字-企业路由器-36">
            <a:extLst xmlns:a="http://schemas.openxmlformats.org/drawingml/2006/main">
              <a:ext uri="{FF2B5EF4-FFF2-40B4-BE49-F238E27FC236}">
                <a16:creationId xmlns:a16="http://schemas.microsoft.com/office/drawing/2014/main" id="{E049C029-8A8A-4C9B-8E1A-CE9D6A4C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480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企业路由器</a:t>
            </a:r>
          </a:p>
        </p:txBody>
      </p:sp>
      <p:sp>
        <p:nvSpPr>
          <p:cNvPr id="37" name="封面-文字-VPC 连接统一关联 er-RT1-37">
            <a:extLst xmlns:a="http://schemas.openxmlformats.org/drawingml/2006/main">
              <a:ext uri="{FF2B5EF4-FFF2-40B4-BE49-F238E27FC236}">
                <a16:creationId xmlns:a16="http://schemas.microsoft.com/office/drawing/2014/main" id="{883432CE-55A1-43A5-89F4-86C8779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671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连接统一关联 er-RT1</a:t>
            </a:r>
          </a:p>
        </p:txBody>
      </p:sp>
      <p:cxnSp>
        <p:nvCxnSpPr>
          <p:cNvPr id="38" name="封面-路径-38">
            <a:extLst xmlns:a="http://schemas.openxmlformats.org/drawingml/2006/main">
              <a:ext uri="{FF2B5EF4-FFF2-40B4-BE49-F238E27FC236}">
                <a16:creationId xmlns:a16="http://schemas.microsoft.com/office/drawing/2014/main" id="{37730776-6EB1-4A8D-B48C-7DE4675893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95950" y="3867150"/>
            <a:ext cx="5867400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DE6F4"/>
            </a:solidFill>
          </a:ln>
        </p:spPr>
      </p:cxnSp>
      <p:cxnSp>
        <p:nvCxnSpPr>
          <p:cNvPr id="39" name="封面-路径-39">
            <a:extLst xmlns:a="http://schemas.openxmlformats.org/drawingml/2006/main">
              <a:ext uri="{FF2B5EF4-FFF2-40B4-BE49-F238E27FC236}">
                <a16:creationId xmlns:a16="http://schemas.microsoft.com/office/drawing/2014/main" id="{128B21D4-D12D-4A3B-851B-6FC70160A4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29650" y="40195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DE6F4"/>
            </a:solidFill>
          </a:ln>
        </p:spPr>
      </p:cxnSp>
      <p:sp>
        <p:nvSpPr>
          <p:cNvPr id="40" name="封面-文字-er-RT1-40">
            <a:extLst xmlns:a="http://schemas.openxmlformats.org/drawingml/2006/main">
              <a:ext uri="{FF2B5EF4-FFF2-40B4-BE49-F238E27FC236}">
                <a16:creationId xmlns:a16="http://schemas.microsoft.com/office/drawing/2014/main" id="{CDEFDB44-C165-4F54-87AC-ECF01511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41" name="封面-文字-引流至 CFW-41">
            <a:extLst xmlns:a="http://schemas.openxmlformats.org/drawingml/2006/main">
              <a:ext uri="{FF2B5EF4-FFF2-40B4-BE49-F238E27FC236}">
                <a16:creationId xmlns:a16="http://schemas.microsoft.com/office/drawing/2014/main" id="{F6C4FB87-9238-4E0A-8607-889C529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引流至 CFW</a:t>
            </a:r>
          </a:p>
        </p:txBody>
      </p:sp>
      <p:sp>
        <p:nvSpPr>
          <p:cNvPr id="42" name="封面-文字-er-RT2-42">
            <a:extLst xmlns:a="http://schemas.openxmlformats.org/drawingml/2006/main">
              <a:ext uri="{FF2B5EF4-FFF2-40B4-BE49-F238E27FC236}">
                <a16:creationId xmlns:a16="http://schemas.microsoft.com/office/drawing/2014/main" id="{45256A2F-54FB-4826-986E-8BDBE1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43" name="封面-文字-CFW 连接关联，转发至目标 VPC-43">
            <a:extLst xmlns:a="http://schemas.openxmlformats.org/drawingml/2006/main">
              <a:ext uri="{FF2B5EF4-FFF2-40B4-BE49-F238E27FC236}">
                <a16:creationId xmlns:a16="http://schemas.microsoft.com/office/drawing/2014/main" id="{8B16E1FF-53A9-47A5-BC99-6BA0EBA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148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CFW 连接关联，转发至目标 VPC</a:t>
            </a:r>
          </a:p>
        </p:txBody>
      </p:sp>
      <p:sp>
        <p:nvSpPr>
          <p:cNvPr id="71" name="统一风格-首页 CFW 等宽横向模块玻璃后沿-1">
            <a:extLst xmlns:a="http://schemas.openxmlformats.org/drawingml/2006/main">
              <a:ext uri="{FF2B5EF4-FFF2-40B4-BE49-F238E27FC236}">
                <a16:creationId xmlns:a16="http://schemas.microsoft.com/office/drawing/2014/main" id="{6C98F9DF-AC47-4F6C-8E36-F4B677D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5867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2" name="统一风格-首页 CFW 等宽横向模块-2">
            <a:extLst xmlns:a="http://schemas.openxmlformats.org/drawingml/2006/main">
              <a:ext uri="{FF2B5EF4-FFF2-40B4-BE49-F238E27FC236}">
                <a16:creationId xmlns:a16="http://schemas.microsoft.com/office/drawing/2014/main" id="{C9BBE27F-D02B-45F0-A3EA-B5C42253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58674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3" name="统一风格-首页 CFW 等宽横向模块玻璃内沿-3">
            <a:extLst xmlns:a="http://schemas.openxmlformats.org/drawingml/2006/main">
              <a:ext uri="{FF2B5EF4-FFF2-40B4-BE49-F238E27FC236}">
                <a16:creationId xmlns:a16="http://schemas.microsoft.com/office/drawing/2014/main" id="{6B8AED85-688D-484B-9CEF-CE8B6C0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809" y="5346859"/>
            <a:ext cx="58416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4" name="统一风格-首页 CFW 等宽横向模块透光反射面-4">
            <a:extLst xmlns:a="http://schemas.openxmlformats.org/drawingml/2006/main">
              <a:ext uri="{FF2B5EF4-FFF2-40B4-BE49-F238E27FC236}">
                <a16:creationId xmlns:a16="http://schemas.microsoft.com/office/drawing/2014/main" id="{3B1A9A4A-0DF7-43EE-A08A-A4F0D0F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53050"/>
            <a:ext cx="5829300" cy="952500"/>
          </a:xfrm>
          <a:custGeom xmlns:a="http://schemas.openxmlformats.org/drawingml/2006/main">
            <a:pathLst>
              <a:path w="5829300" h="952500">
                <a:moveTo>
                  <a:pt x="76200" y="0"/>
                </a:moveTo>
                <a:lnTo>
                  <a:pt x="3730752" y="0"/>
                </a:lnTo>
                <a:lnTo>
                  <a:pt x="151561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5" name="统一风格-首页 CFW 等宽横向模块边缘高光-5">
            <a:extLst xmlns:a="http://schemas.openxmlformats.org/drawingml/2006/main">
              <a:ext uri="{FF2B5EF4-FFF2-40B4-BE49-F238E27FC236}">
                <a16:creationId xmlns:a16="http://schemas.microsoft.com/office/drawing/2014/main" id="{F0533CE9-2B0F-444C-B3F9-BAA23520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5867400" cy="990600"/>
          </a:xfrm>
          <a:custGeom xmlns:a="http://schemas.openxmlformats.org/drawingml/2006/main">
            <a:pathLst>
              <a:path w="5867400" h="9906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封面-CFW 统一线性防火墙-49">
            <a:extLst xmlns:a="http://schemas.openxmlformats.org/drawingml/2006/main">
              <a:ext uri="{FF2B5EF4-FFF2-40B4-BE49-F238E27FC236}">
                <a16:creationId xmlns:a16="http://schemas.microsoft.com/office/drawing/2014/main" id="{32581D99-64E4-4569-9D1D-6A0A04C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721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50" name="封面-CFW 防火墙砖缝-50">
            <a:extLst xmlns:a="http://schemas.openxmlformats.org/drawingml/2006/main">
              <a:ext uri="{FF2B5EF4-FFF2-40B4-BE49-F238E27FC236}">
                <a16:creationId xmlns:a16="http://schemas.microsoft.com/office/drawing/2014/main" id="{0CDBB623-12E2-4EBD-A8C1-5424BD0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721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51" name="封面-CFW 火焰前景衬边-51">
            <a:extLst xmlns:a="http://schemas.openxmlformats.org/drawingml/2006/main">
              <a:ext uri="{FF2B5EF4-FFF2-40B4-BE49-F238E27FC236}">
                <a16:creationId xmlns:a16="http://schemas.microsoft.com/office/drawing/2014/main" id="{238B1E97-5C27-4EF1-B869-A6C7D35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721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52" name="封面-CFW 统一线性火焰-52">
            <a:extLst xmlns:a="http://schemas.openxmlformats.org/drawingml/2006/main">
              <a:ext uri="{FF2B5EF4-FFF2-40B4-BE49-F238E27FC236}">
                <a16:creationId xmlns:a16="http://schemas.microsoft.com/office/drawing/2014/main" id="{E3DD8D51-4D54-41B9-BBA6-2E2AC55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72125"/>
            <a:ext cx="514350" cy="514350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20479" cap="rnd">
            <a:solidFill>
              <a:srgbClr val="2053C3"/>
            </a:solidFill>
            <a:round/>
          </a:ln>
        </p:spPr>
      </p:sp>
      <p:sp>
        <p:nvSpPr>
          <p:cNvPr id="53" name="封面-文字-CFW-53">
            <a:extLst xmlns:a="http://schemas.openxmlformats.org/drawingml/2006/main">
              <a:ext uri="{FF2B5EF4-FFF2-40B4-BE49-F238E27FC236}">
                <a16:creationId xmlns:a16="http://schemas.microsoft.com/office/drawing/2014/main" id="{E6B7ECC4-5F07-4131-9E8C-0648AB7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5626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封面-文字-云防火墙-54">
            <a:extLst xmlns:a="http://schemas.openxmlformats.org/drawingml/2006/main">
              <a:ext uri="{FF2B5EF4-FFF2-40B4-BE49-F238E27FC236}">
                <a16:creationId xmlns:a16="http://schemas.microsoft.com/office/drawing/2014/main" id="{14B944BE-7DC1-4540-9752-717C8213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055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云防火墙</a:t>
            </a:r>
          </a:p>
        </p:txBody>
      </p:sp>
      <p:cxnSp>
        <p:nvCxnSpPr>
          <p:cNvPr id="76" name="首页 ER 送检至 CFW">
            <a:extLst xmlns:a="http://schemas.openxmlformats.org/drawingml/2006/main">
              <a:ext uri="{FF2B5EF4-FFF2-40B4-BE49-F238E27FC236}">
                <a16:creationId xmlns:a16="http://schemas.microsoft.com/office/drawing/2014/main" id="{BC99B15D-CD65-4F70-AB08-1C9C4E01F3E3}"/>
              </a:ext>
            </a:extLst>
          </p:cNvPr>
          <p:cNvCxnSpPr/>
          <p:nvPr/>
        </p:nvCxnSpPr>
        <p:spPr>
          <a:xfrm xmlns:a="http://schemas.openxmlformats.org/drawingml/2006/main" flipV="0">
            <a:off x="7162800" y="4572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57C3"/>
            </a:solidFill>
            <a:tailEnd type="triangle" w="sm" len="sm"/>
          </a:ln>
        </p:spPr>
      </p:cxnSp>
      <p:cxnSp>
        <p:nvCxnSpPr>
          <p:cNvPr id="77" name="首页 CFW 放行回注至 ER">
            <a:extLst xmlns:a="http://schemas.openxmlformats.org/drawingml/2006/main">
              <a:ext uri="{FF2B5EF4-FFF2-40B4-BE49-F238E27FC236}">
                <a16:creationId xmlns:a16="http://schemas.microsoft.com/office/drawing/2014/main" id="{A0A8D440-BCBA-4088-9D74-44B13A77E400}"/>
              </a:ext>
            </a:extLst>
          </p:cNvPr>
          <p:cNvCxnSpPr/>
          <p:nvPr/>
        </p:nvCxnSpPr>
        <p:spPr>
          <a:xfrm xmlns:a="http://schemas.openxmlformats.org/drawingml/2006/main" flipV="1">
            <a:off x="10096500" y="4572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293CE"/>
            </a:solidFill>
            <a:tailEnd type="triangle" w="sm" len="sm"/>
          </a:ln>
        </p:spPr>
      </p:cxnSp>
      <p:sp>
        <p:nvSpPr>
          <p:cNvPr id="78" name="统一风格-文字 送检-6">
            <a:extLst xmlns:a="http://schemas.openxmlformats.org/drawingml/2006/main">
              <a:ext uri="{FF2B5EF4-FFF2-40B4-BE49-F238E27FC236}">
                <a16:creationId xmlns:a16="http://schemas.microsoft.com/office/drawing/2014/main" id="{69DD9D32-3D73-423F-9149-E8D9557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8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sp>
        <p:nvSpPr>
          <p:cNvPr id="79" name="统一风格-文字 回注-7">
            <a:extLst xmlns:a="http://schemas.openxmlformats.org/drawingml/2006/main">
              <a:ext uri="{FF2B5EF4-FFF2-40B4-BE49-F238E27FC236}">
                <a16:creationId xmlns:a16="http://schemas.microsoft.com/office/drawing/2014/main" id="{A0504EB0-AE4F-4EAD-9884-58F9957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38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rPr>
              <a:t>回注</a:t>
            </a:r>
          </a:p>
        </p:txBody>
      </p:sp>
      <p:sp>
        <p:nvSpPr>
          <p:cNvPr id="62" name="正文-华为云网络与安全">
            <a:extLst xmlns:a="http://schemas.openxmlformats.org/drawingml/2006/main">
              <a:ext uri="{FF2B5EF4-FFF2-40B4-BE49-F238E27FC236}">
                <a16:creationId xmlns:a16="http://schemas.microsoft.com/office/drawing/2014/main" id="{BE58C81E-0B76-44DC-884F-517C5B75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500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00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华为云网络与安全</ns0:t>
            </ns0:r>
          </ns0:p>
        </p:txBody>
      </p:sp>
      <p:sp>
        <p:nvSpPr>
          <p:cNvPr id="63" name="封面-文字-VPC 网络与-63">
            <a:extLst xmlns:a="http://schemas.openxmlformats.org/drawingml/2006/main">
              <a:ext uri="{FF2B5EF4-FFF2-40B4-BE49-F238E27FC236}">
                <a16:creationId xmlns:a16="http://schemas.microsoft.com/office/drawing/2014/main" id="{12663C43-FA12-4CAB-836C-71DAF75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网络与</a:t>
            </a:r>
          </a:p>
        </p:txBody>
      </p:sp>
      <p:sp>
        <p:nvSpPr>
          <p:cNvPr id="64" name="封面-文字-云防火墙 CFW-64">
            <a:extLst xmlns:a="http://schemas.openxmlformats.org/drawingml/2006/main">
              <a:ext uri="{FF2B5EF4-FFF2-40B4-BE49-F238E27FC236}">
                <a16:creationId xmlns:a16="http://schemas.microsoft.com/office/drawing/2014/main" id="{49F8361E-60EE-45E4-97F0-111AC5B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云防火墙 CFW</a:t>
            </a:r>
          </a:p>
        </p:txBody>
      </p:sp>
      <p:sp>
        <p:nvSpPr>
          <p:cNvPr id="65" name="正文-使用规范与实践案例">
            <a:extLst xmlns:a="http://schemas.openxmlformats.org/drawingml/2006/main">
              <a:ext uri="{FF2B5EF4-FFF2-40B4-BE49-F238E27FC236}">
                <a16:creationId xmlns:a16="http://schemas.microsoft.com/office/drawing/2014/main" id="{D8453A2E-6AD2-445A-A00A-F94E6839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875" b="0">
                <ns1:solidFill>
                  <ns1:srgbClr val="5D739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5D7393"/>
                </ns1:solidFill>
                <ns1:latin typeface="Microsoft YaHei"/>
                <ns1:ea typeface="Microsoft YaHei"/>
                <ns1:cs typeface="Microsoft YaHei"/>
              </ns1:rPr>
              <ns1:t>使用规范与实践案例</ns1:t>
            </ns1:r>
          </ns1:p>
        </p:txBody>
      </p:sp>
      <p:cxnSp>
        <p:nvCxnSpPr>
          <p:cNvPr id="66" name="封面-路径-66">
            <a:extLst xmlns:a="http://schemas.openxmlformats.org/drawingml/2006/main">
              <a:ext uri="{FF2B5EF4-FFF2-40B4-BE49-F238E27FC236}">
                <a16:creationId xmlns:a16="http://schemas.microsoft.com/office/drawing/2014/main" id="{38AAB116-D51A-4DB6-864D-710D94C893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7700" y="5305425"/>
            <a:ext cx="4057650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FE7F2"/>
            </a:solidFill>
          </a:ln>
        </p:spPr>
      </p:cxnSp>
      <p:sp>
        <p:nvSpPr>
          <p:cNvPr id="69" name="正文-网络架构 / 访问控制 / 变更与排障">
            <a:extLst xmlns:a="http://schemas.openxmlformats.org/drawingml/2006/main">
              <a:ext uri="{FF2B5EF4-FFF2-40B4-BE49-F238E27FC236}">
                <a16:creationId xmlns:a16="http://schemas.microsoft.com/office/drawing/2014/main" id="{9CD69EDB-1A7C-4067-B834-F5F3FF2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57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l">
              <ns2:defRPr sz="1200" b="0">
                <ns2:solidFill>
                  <ns2:srgbClr val="7C8DA8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650" b="0">
                <ns2:solidFill>
                  <ns2:srgbClr val="7C8DA8"/>
                </ns2:solidFill>
                <ns2:latin typeface="Microsoft YaHei"/>
                <ns2:ea typeface="Microsoft YaHei"/>
                <ns2:cs typeface="Microsoft YaHei"/>
              </ns2:rPr>
              <ns2:t>网络架构 / 访问控制 / 变更与排障</ns2:t>
            </ns2:r>
          </ns2:p>
        </p:txBody>
      </p:sp>
    </p:spTree>
    <p:extLst>
      <p:ext uri="{BB962C8B-B14F-4D97-AF65-F5344CB8AC3E}">
        <p14:creationId xmlns:p14="http://schemas.microsoft.com/office/powerpoint/2010/main" val="1615585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统一风格-文字 内容概览-1">
            <a:extLst xmlns:a="http://schemas.openxmlformats.org/drawingml/2006/main">
              <a:ext uri="{FF2B5EF4-FFF2-40B4-BE49-F238E27FC236}">
                <a16:creationId xmlns:a16="http://schemas.microsoft.com/office/drawing/2014/main" id="{6E023F4C-149A-4386-A1D4-2AD6CDB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内容概览</a:t>
            </a:r>
          </a:p>
        </p:txBody>
      </p:sp>
      <p:sp>
        <p:nvSpPr>
          <p:cNvPr id="2" name="统一风格-文字 议题目录-2">
            <a:extLst xmlns:a="http://schemas.openxmlformats.org/drawingml/2006/main">
              <a:ext uri="{FF2B5EF4-FFF2-40B4-BE49-F238E27FC236}">
                <a16:creationId xmlns:a16="http://schemas.microsoft.com/office/drawing/2014/main" id="{139EB8D6-9D84-48F8-84BD-377916AF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议题目录</a:t>
            </a:r>
          </a:p>
        </p:txBody>
      </p:sp>
      <p:sp>
        <p:nvSpPr>
          <p:cNvPr id="3" name="统一风格-文字 VPC 网络规划、连接方式、CFW 访问控制与运行管理-3">
            <a:extLst xmlns:a="http://schemas.openxmlformats.org/drawingml/2006/main">
              <a:ext uri="{FF2B5EF4-FFF2-40B4-BE49-F238E27FC236}">
                <a16:creationId xmlns:a16="http://schemas.microsoft.com/office/drawing/2014/main" id="{18389C1F-07DE-47CA-A5D1-D27C352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2:p xmlns:ns2="http://schemas.openxmlformats.org/drawingml/2006/main">
            <ns2:pPr algn="l">
              <ns2:defRPr sz="1650" b="0">
                <ns2:solidFill>
                  <ns2:srgbClr val="647B9C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650" b="0">
                <ns2:solidFill>
                  <ns2:srgbClr val="647B9C"/>
                </ns2:solidFill>
                <ns2:latin typeface="Microsoft YaHei"/>
                <ns2:ea typeface="Microsoft YaHei"/>
                <ns2:cs typeface="Microsoft YaHei"/>
              </ns2:rPr>
              <ns2:t>VPC 网络规划、私网互联与云服务加固、CFW 访问控制</ns2:t>
            </ns2:r>
          </ns2:p>
        </p:txBody>
      </p:sp>
      <p:sp>
        <p:nvSpPr>
          <p:cNvPr id="4" name="统一风格-VPC 基础与规范玻璃后沿-4">
            <a:extLst xmlns:a="http://schemas.openxmlformats.org/drawingml/2006/main">
              <a:ext uri="{FF2B5EF4-FFF2-40B4-BE49-F238E27FC236}">
                <a16:creationId xmlns:a16="http://schemas.microsoft.com/office/drawing/2014/main" id="{B6C68AE8-0E61-4A4B-B8BC-34EF8C8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" name="统一风格-VPC 基础与规范-5">
            <a:extLst xmlns:a="http://schemas.openxmlformats.org/drawingml/2006/main">
              <a:ext uri="{FF2B5EF4-FFF2-40B4-BE49-F238E27FC236}">
                <a16:creationId xmlns:a16="http://schemas.microsoft.com/office/drawing/2014/main" id="{5621302B-3150-45B3-BC44-506F229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VPC 基础与规范玻璃内沿-6">
            <a:extLst xmlns:a="http://schemas.openxmlformats.org/drawingml/2006/main">
              <a:ext uri="{FF2B5EF4-FFF2-40B4-BE49-F238E27FC236}">
                <a16:creationId xmlns:a16="http://schemas.microsoft.com/office/drawing/2014/main" id="{8B18A8BB-6DF9-48AD-8D28-31A57CE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VPC 基础与规范透光反射面-7">
            <a:extLst xmlns:a="http://schemas.openxmlformats.org/drawingml/2006/main">
              <a:ext uri="{FF2B5EF4-FFF2-40B4-BE49-F238E27FC236}">
                <a16:creationId xmlns:a16="http://schemas.microsoft.com/office/drawing/2014/main" id="{FB5FE020-C22F-47F4-8FA3-B9CBCC2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934700" cy="485775"/>
          </a:xfrm>
          <a:custGeom xmlns:a="http://schemas.openxmlformats.org/drawingml/2006/main"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8" name="统一风格-VPC 基础与规范边缘高光-8">
            <a:extLst xmlns:a="http://schemas.openxmlformats.org/drawingml/2006/main">
              <a:ext uri="{FF2B5EF4-FFF2-40B4-BE49-F238E27FC236}">
                <a16:creationId xmlns:a16="http://schemas.microsoft.com/office/drawing/2014/main" id="{10741308-815D-448D-B56F-A292956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" name="统一风格-文字 01-9">
            <a:extLst xmlns:a="http://schemas.openxmlformats.org/drawingml/2006/main">
              <a:ext uri="{FF2B5EF4-FFF2-40B4-BE49-F238E27FC236}">
                <a16:creationId xmlns:a16="http://schemas.microsoft.com/office/drawing/2014/main" id="{576DD719-0A0D-41DD-9211-58A9C1D1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统一风格-文字 VPC 基础与规范-10">
            <a:extLst xmlns:a="http://schemas.openxmlformats.org/drawingml/2006/main">
              <a:ext uri="{FF2B5EF4-FFF2-40B4-BE49-F238E27FC236}">
                <a16:creationId xmlns:a16="http://schemas.microsoft.com/office/drawing/2014/main" id="{C559A5F9-3D63-4C02-8F7B-6747E6C3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基础与规范</a:t>
            </a:r>
          </a:p>
        </p:txBody>
      </p:sp>
      <p:sp>
        <p:nvSpPr>
          <p:cNvPr id="11" name="统一风格-文字 定义、实现原理、组成与使用边界-11">
            <a:extLst xmlns:a="http://schemas.openxmlformats.org/drawingml/2006/main">
              <a:ext uri="{FF2B5EF4-FFF2-40B4-BE49-F238E27FC236}">
                <a16:creationId xmlns:a16="http://schemas.microsoft.com/office/drawing/2014/main" id="{AF1EF0E4-1806-48FA-A8AC-81F953B1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717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定义、实现原理、组成与使用边界</a:t>
            </a:r>
          </a:p>
        </p:txBody>
      </p:sp>
      <p:sp>
        <p:nvSpPr>
          <p:cNvPr id="12" name="统一风格-文字 03–16-12">
            <a:extLst xmlns:a="http://schemas.openxmlformats.org/drawingml/2006/main">
              <a:ext uri="{FF2B5EF4-FFF2-40B4-BE49-F238E27FC236}">
                <a16:creationId xmlns:a16="http://schemas.microsoft.com/office/drawing/2014/main" id="{7BE1F2B6-2076-4DB9-813B-772C4D8A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03–16</a:t>
            </a:r>
          </a:p>
        </p:txBody>
      </p:sp>
      <p:sp>
        <p:nvSpPr>
          <p:cNvPr id="13" name="统一风格-网络互联方案玻璃后沿-13">
            <a:extLst xmlns:a="http://schemas.openxmlformats.org/drawingml/2006/main">
              <a:ext uri="{FF2B5EF4-FFF2-40B4-BE49-F238E27FC236}">
                <a16:creationId xmlns:a16="http://schemas.microsoft.com/office/drawing/2014/main" id="{70A5B1B8-01B3-4F54-AA07-CFAA85B5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网络互联方案-14">
            <a:extLst xmlns:a="http://schemas.openxmlformats.org/drawingml/2006/main">
              <a:ext uri="{FF2B5EF4-FFF2-40B4-BE49-F238E27FC236}">
                <a16:creationId xmlns:a16="http://schemas.microsoft.com/office/drawing/2014/main" id="{03A4D3B4-E21A-4CFF-891E-3D783D14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网络互联方案玻璃内沿-15">
            <a:extLst xmlns:a="http://schemas.openxmlformats.org/drawingml/2006/main">
              <a:ext uri="{FF2B5EF4-FFF2-40B4-BE49-F238E27FC236}">
                <a16:creationId xmlns:a16="http://schemas.microsoft.com/office/drawing/2014/main" id="{E7A882D3-F4EA-49C1-8510-246247E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75605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网络互联方案边缘高光-16">
            <a:extLst xmlns:a="http://schemas.openxmlformats.org/drawingml/2006/main">
              <a:ext uri="{FF2B5EF4-FFF2-40B4-BE49-F238E27FC236}">
                <a16:creationId xmlns:a16="http://schemas.microsoft.com/office/drawing/2014/main" id="{D470913F-F08A-4608-B9CF-DF03A73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文字 02-17">
            <a:extLst xmlns:a="http://schemas.openxmlformats.org/drawingml/2006/main">
              <a:ext uri="{FF2B5EF4-FFF2-40B4-BE49-F238E27FC236}">
                <a16:creationId xmlns:a16="http://schemas.microsoft.com/office/drawing/2014/main" id="{C3DAF7BD-F6C3-4DE5-8DF2-9336913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统一风格-文字 网络互联方案-18">
            <a:extLst xmlns:a="http://schemas.openxmlformats.org/drawingml/2006/main">
              <a:ext uri="{FF2B5EF4-FFF2-40B4-BE49-F238E27FC236}">
                <a16:creationId xmlns:a16="http://schemas.microsoft.com/office/drawing/2014/main" id="{9FA0A629-93F8-4FC7-BBD8-8FBD1075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80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0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网络互联与安全加固</ns0:t>
            </ns0:r>
          </ns0:p>
        </p:txBody>
      </p:sp>
      <p:sp>
        <p:nvSpPr>
          <p:cNvPr id="19" name="统一风格-文字 产品概念、选型原则与组网案例-19">
            <a:extLst xmlns:a="http://schemas.openxmlformats.org/drawingml/2006/main">
              <a:ext uri="{FF2B5EF4-FFF2-40B4-BE49-F238E27FC236}">
                <a16:creationId xmlns:a16="http://schemas.microsoft.com/office/drawing/2014/main" id="{AB53C2BF-A489-4246-BB7D-C6EBDBD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165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连接选型、组网案例与 OBS / SWR 加固</ns1:t>
            </ns1:r>
          </ns1:p>
        </p:txBody>
      </p:sp>
      <p:sp>
        <p:nvSpPr>
          <p:cNvPr id="20" name="统一风格-文字 17–29-20">
            <a:extLst xmlns:a="http://schemas.openxmlformats.org/drawingml/2006/main">
              <a:ext uri="{FF2B5EF4-FFF2-40B4-BE49-F238E27FC236}">
                <a16:creationId xmlns:a16="http://schemas.microsoft.com/office/drawing/2014/main" id="{B2A1CC4D-04FB-48C3-BD31-A5A49CE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1940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4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4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17–48</ns0:t>
            </ns0:r>
          </ns0:p>
        </p:txBody>
      </p:sp>
      <p:sp>
        <p:nvSpPr>
          <p:cNvPr id="21" name="统一风格-CFW 使用规范玻璃后沿-21">
            <a:extLst xmlns:a="http://schemas.openxmlformats.org/drawingml/2006/main">
              <a:ext uri="{FF2B5EF4-FFF2-40B4-BE49-F238E27FC236}">
                <a16:creationId xmlns:a16="http://schemas.microsoft.com/office/drawing/2014/main" id="{B3D12FC9-E30B-4B9F-8F02-4065B5AC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2" name="统一风格-CFW 使用规范-22">
            <a:extLst xmlns:a="http://schemas.openxmlformats.org/drawingml/2006/main">
              <a:ext uri="{FF2B5EF4-FFF2-40B4-BE49-F238E27FC236}">
                <a16:creationId xmlns:a16="http://schemas.microsoft.com/office/drawing/2014/main" id="{0C60B4D8-B42A-461D-8561-6BEE09EF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CFW 使用规范玻璃内沿-23">
            <a:extLst xmlns:a="http://schemas.openxmlformats.org/drawingml/2006/main">
              <a:ext uri="{FF2B5EF4-FFF2-40B4-BE49-F238E27FC236}">
                <a16:creationId xmlns:a16="http://schemas.microsoft.com/office/drawing/2014/main" id="{0CCA4579-E707-480D-9682-F1D2B7F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38470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CFW 使用规范透光反射面-24">
            <a:extLst xmlns:a="http://schemas.openxmlformats.org/drawingml/2006/main">
              <a:ext uri="{FF2B5EF4-FFF2-40B4-BE49-F238E27FC236}">
                <a16:creationId xmlns:a16="http://schemas.microsoft.com/office/drawing/2014/main" id="{CB33E38C-D8C2-4E1E-A923-5621AE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934700" cy="485775"/>
          </a:xfrm>
          <a:custGeom xmlns:a="http://schemas.openxmlformats.org/drawingml/2006/main"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5" name="统一风格-CFW 使用规范边缘高光-25">
            <a:extLst xmlns:a="http://schemas.openxmlformats.org/drawingml/2006/main">
              <a:ext uri="{FF2B5EF4-FFF2-40B4-BE49-F238E27FC236}">
                <a16:creationId xmlns:a16="http://schemas.microsoft.com/office/drawing/2014/main" id="{4FB2F10C-F111-4042-A8D1-37A812AC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文字 03-26">
            <a:extLst xmlns:a="http://schemas.openxmlformats.org/drawingml/2006/main">
              <a:ext uri="{FF2B5EF4-FFF2-40B4-BE49-F238E27FC236}">
                <a16:creationId xmlns:a16="http://schemas.microsoft.com/office/drawing/2014/main" id="{3F179640-DA74-4153-AE55-01147C3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统一风格-文字 CFW 使用规范-27">
            <a:extLst xmlns:a="http://schemas.openxmlformats.org/drawingml/2006/main">
              <a:ext uri="{FF2B5EF4-FFF2-40B4-BE49-F238E27FC236}">
                <a16:creationId xmlns:a16="http://schemas.microsoft.com/office/drawing/2014/main" id="{CE17C4C3-287D-45FB-A04B-AA68E02C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使用规范</a:t>
            </a:r>
          </a:p>
        </p:txBody>
      </p:sp>
      <p:sp>
        <p:nvSpPr>
          <p:cNvPr id="28" name="统一风格-文字 概念、关键规则、接入与策略配置-28">
            <a:extLst xmlns:a="http://schemas.openxmlformats.org/drawingml/2006/main">
              <a:ext uri="{FF2B5EF4-FFF2-40B4-BE49-F238E27FC236}">
                <a16:creationId xmlns:a16="http://schemas.microsoft.com/office/drawing/2014/main" id="{D53F2E18-BC14-4BDD-B374-73E4701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概念、关键规则、接入与策略配置</a:t>
            </a:r>
          </a:p>
        </p:txBody>
      </p:sp>
      <p:sp>
        <p:nvSpPr>
          <p:cNvPr id="29" name="统一风格-文字 30–47-29">
            <a:extLst xmlns:a="http://schemas.openxmlformats.org/drawingml/2006/main">
              <a:ext uri="{FF2B5EF4-FFF2-40B4-BE49-F238E27FC236}">
                <a16:creationId xmlns:a16="http://schemas.microsoft.com/office/drawing/2014/main" id="{593032FC-925E-4788-92D9-1C80AF1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4805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4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rPr>
              <ns1:t>49–66</ns1:t>
            </ns1:r>
          </ns1:p>
        </p:txBody>
      </p:sp>
      <p:sp>
        <p:nvSpPr>
          <p:cNvPr id="30" name="统一风格-变更与排障玻璃后沿-30">
            <a:extLst xmlns:a="http://schemas.openxmlformats.org/drawingml/2006/main">
              <a:ext uri="{FF2B5EF4-FFF2-40B4-BE49-F238E27FC236}">
                <a16:creationId xmlns:a16="http://schemas.microsoft.com/office/drawing/2014/main" id="{912BD83F-F10E-49FE-87D4-6CF0F93C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变更与排障-31">
            <a:extLst xmlns:a="http://schemas.openxmlformats.org/drawingml/2006/main">
              <a:ext uri="{FF2B5EF4-FFF2-40B4-BE49-F238E27FC236}">
                <a16:creationId xmlns:a16="http://schemas.microsoft.com/office/drawing/2014/main" id="{3045B33A-EC43-4423-A713-7849646D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变更与排障玻璃内沿-32">
            <a:extLst xmlns:a="http://schemas.openxmlformats.org/drawingml/2006/main">
              <a:ext uri="{FF2B5EF4-FFF2-40B4-BE49-F238E27FC236}">
                <a16:creationId xmlns:a16="http://schemas.microsoft.com/office/drawing/2014/main" id="{0C53384F-C21C-44A5-A55D-09459257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01335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变更与排障边缘高光-33">
            <a:extLst xmlns:a="http://schemas.openxmlformats.org/drawingml/2006/main">
              <a:ext uri="{FF2B5EF4-FFF2-40B4-BE49-F238E27FC236}">
                <a16:creationId xmlns:a16="http://schemas.microsoft.com/office/drawing/2014/main" id="{AB589BB3-ACAD-473B-B3CC-F4EC0CF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文字 04-34">
            <a:extLst xmlns:a="http://schemas.openxmlformats.org/drawingml/2006/main">
              <a:ext uri="{FF2B5EF4-FFF2-40B4-BE49-F238E27FC236}">
                <a16:creationId xmlns:a16="http://schemas.microsoft.com/office/drawing/2014/main" id="{9AF146DA-520F-4703-B477-F6928B4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变更与排障-35">
            <a:extLst xmlns:a="http://schemas.openxmlformats.org/drawingml/2006/main">
              <a:ext uri="{FF2B5EF4-FFF2-40B4-BE49-F238E27FC236}">
                <a16:creationId xmlns:a16="http://schemas.microsoft.com/office/drawing/2014/main" id="{4A9DFAF4-829F-411B-9AC1-7883731E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变更与排障</a:t>
            </a:r>
          </a:p>
        </p:txBody>
      </p:sp>
      <p:sp>
        <p:nvSpPr>
          <p:cNvPr id="36" name="统一风格-文字 职责分工、发布回滚与日志定位-36">
            <a:extLst xmlns:a="http://schemas.openxmlformats.org/drawingml/2006/main">
              <a:ext uri="{FF2B5EF4-FFF2-40B4-BE49-F238E27FC236}">
                <a16:creationId xmlns:a16="http://schemas.microsoft.com/office/drawing/2014/main" id="{71DD120A-2FF0-4B54-BDCC-BB6F577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职责分工、发布回滚与日志定位</a:t>
            </a:r>
          </a:p>
        </p:txBody>
      </p:sp>
      <p:sp>
        <p:nvSpPr>
          <p:cNvPr id="37" name="统一风格-文字 48–53-37">
            <a:extLst xmlns:a="http://schemas.openxmlformats.org/drawingml/2006/main">
              <a:ext uri="{FF2B5EF4-FFF2-40B4-BE49-F238E27FC236}">
                <a16:creationId xmlns:a16="http://schemas.microsoft.com/office/drawing/2014/main" id="{E402D01C-2A53-4849-9888-6568A42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7670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2:p xmlns:ns2="http://schemas.openxmlformats.org/drawingml/2006/main">
            <ns2:pPr algn="r">
              <ns2:defRPr sz="1425" b="0">
                <ns2:solidFill>
                  <ns2:srgbClr val="002FA7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425" b="0">
                <ns2:solidFill>
                  <ns2:srgbClr val="002FA7"/>
                </ns2:solidFill>
                <ns2:latin typeface="Microsoft YaHei"/>
                <ns2:ea typeface="Microsoft YaHei"/>
                <ns2:cs typeface="Microsoft YaHei"/>
              </ns2:rPr>
              <ns2:t>67–72</ns2:t>
            </ns2:r>
          </ns2:p>
        </p:txBody>
      </p:sp>
      <p:sp>
        <p:nvSpPr>
          <p:cNvPr id="38" name="统一风格-典型故障分析玻璃后沿-38">
            <a:extLst xmlns:a="http://schemas.openxmlformats.org/drawingml/2006/main">
              <a:ext uri="{FF2B5EF4-FFF2-40B4-BE49-F238E27FC236}">
                <a16:creationId xmlns:a16="http://schemas.microsoft.com/office/drawing/2014/main" id="{0C6C2A9D-9BF8-4777-86A6-5BE0B231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9" name="统一风格-典型故障分析-39">
            <a:extLst xmlns:a="http://schemas.openxmlformats.org/drawingml/2006/main">
              <a:ext uri="{FF2B5EF4-FFF2-40B4-BE49-F238E27FC236}">
                <a16:creationId xmlns:a16="http://schemas.microsoft.com/office/drawing/2014/main" id="{8A0867E5-C39D-4F9C-A35E-86CEF9D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0" name="统一风格-典型故障分析玻璃内沿-40">
            <a:extLst xmlns:a="http://schemas.openxmlformats.org/drawingml/2006/main">
              <a:ext uri="{FF2B5EF4-FFF2-40B4-BE49-F238E27FC236}">
                <a16:creationId xmlns:a16="http://schemas.microsoft.com/office/drawing/2014/main" id="{19DA92C0-9458-449A-9C48-76D90644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64200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1" name="统一风格-典型故障分析透光反射面-41">
            <a:extLst xmlns:a="http://schemas.openxmlformats.org/drawingml/2006/main">
              <a:ext uri="{FF2B5EF4-FFF2-40B4-BE49-F238E27FC236}">
                <a16:creationId xmlns:a16="http://schemas.microsoft.com/office/drawing/2014/main" id="{45DCAF57-8F72-4E15-A982-21BFD28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485775"/>
          </a:xfrm>
          <a:custGeom xmlns:a="http://schemas.openxmlformats.org/drawingml/2006/main"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2" name="统一风格-典型故障分析边缘高光-42">
            <a:extLst xmlns:a="http://schemas.openxmlformats.org/drawingml/2006/main">
              <a:ext uri="{FF2B5EF4-FFF2-40B4-BE49-F238E27FC236}">
                <a16:creationId xmlns:a16="http://schemas.microsoft.com/office/drawing/2014/main" id="{157FD9D2-F889-40D4-85FA-9E97C7C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文字 05-43">
            <a:extLst xmlns:a="http://schemas.openxmlformats.org/drawingml/2006/main">
              <a:ext uri="{FF2B5EF4-FFF2-40B4-BE49-F238E27FC236}">
                <a16:creationId xmlns:a16="http://schemas.microsoft.com/office/drawing/2014/main" id="{08054F1A-9E6B-4EB2-96C0-BC0D23E5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统一风格-文字 典型故障分析-44">
            <a:extLst xmlns:a="http://schemas.openxmlformats.org/drawingml/2006/main">
              <a:ext uri="{FF2B5EF4-FFF2-40B4-BE49-F238E27FC236}">
                <a16:creationId xmlns:a16="http://schemas.microsoft.com/office/drawing/2014/main" id="{3D74B590-AFFF-4042-80E2-1B24B50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典型故障分析</a:t>
            </a:r>
          </a:p>
        </p:txBody>
      </p:sp>
      <p:sp>
        <p:nvSpPr>
          <p:cNvPr id="45" name="统一风格-文字 安全组、宽泛授权与检查旁路-45">
            <a:extLst xmlns:a="http://schemas.openxmlformats.org/drawingml/2006/main">
              <a:ext uri="{FF2B5EF4-FFF2-40B4-BE49-F238E27FC236}">
                <a16:creationId xmlns:a16="http://schemas.microsoft.com/office/drawing/2014/main" id="{A60EE473-599C-4347-BDF3-78B5D54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安全组、宽泛授权与检查旁路</a:t>
            </a:r>
          </a:p>
        </p:txBody>
      </p:sp>
      <p:sp>
        <p:nvSpPr>
          <p:cNvPr id="46" name="统一风格-文字 54–59-46">
            <a:extLst xmlns:a="http://schemas.openxmlformats.org/drawingml/2006/main">
              <a:ext uri="{FF2B5EF4-FFF2-40B4-BE49-F238E27FC236}">
                <a16:creationId xmlns:a16="http://schemas.microsoft.com/office/drawing/2014/main" id="{682772C6-90DA-46BB-8573-0E918B0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0535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3:p xmlns:ns3="http://schemas.openxmlformats.org/drawingml/2006/main">
            <ns3:pPr algn="r">
              <ns3:defRPr sz="1425" b="0">
                <ns3:solidFill>
                  <ns3:srgbClr val="002FA7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425" b="0">
                <ns3:solidFill>
                  <ns3:srgbClr val="002FA7"/>
                </ns3:solidFill>
                <ns3:latin typeface="Microsoft YaHei"/>
                <ns3:ea typeface="Microsoft YaHei"/>
                <ns3:cs typeface="Microsoft YaHei"/>
              </ns3:rPr>
              <ns3:t>73–78</ns3:t>
            </ns3:r>
          </ns3:p>
        </p:txBody>
      </p:sp>
      <p:sp>
        <p:nvSpPr>
          <p:cNvPr id="47" name="统一风格-配置核验与巡检玻璃后沿-47">
            <a:extLst xmlns:a="http://schemas.openxmlformats.org/drawingml/2006/main">
              <a:ext uri="{FF2B5EF4-FFF2-40B4-BE49-F238E27FC236}">
                <a16:creationId xmlns:a16="http://schemas.microsoft.com/office/drawing/2014/main" id="{4503FF3B-1572-468C-B625-4925A62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8" name="统一风格-配置核验与巡检-48">
            <a:extLst xmlns:a="http://schemas.openxmlformats.org/drawingml/2006/main">
              <a:ext uri="{FF2B5EF4-FFF2-40B4-BE49-F238E27FC236}">
                <a16:creationId xmlns:a16="http://schemas.microsoft.com/office/drawing/2014/main" id="{A9488DDF-7337-4C52-BD95-6FC9DF68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9" name="统一风格-配置核验与巡检玻璃内沿-49">
            <a:extLst xmlns:a="http://schemas.openxmlformats.org/drawingml/2006/main">
              <a:ext uri="{FF2B5EF4-FFF2-40B4-BE49-F238E27FC236}">
                <a16:creationId xmlns:a16="http://schemas.microsoft.com/office/drawing/2014/main" id="{340587D6-B127-4CBF-85E4-56108B97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270659"/>
            <a:ext cx="109470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0" name="统一风格-配置核验与巡检边缘高光-50">
            <a:extLst xmlns:a="http://schemas.openxmlformats.org/drawingml/2006/main">
              <a:ext uri="{FF2B5EF4-FFF2-40B4-BE49-F238E27FC236}">
                <a16:creationId xmlns:a16="http://schemas.microsoft.com/office/drawing/2014/main" id="{EF79CD8B-824D-4E16-8C37-CBDCEFF4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custGeom xmlns:a="http://schemas.openxmlformats.org/drawingml/2006/main"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1" name="统一风格-文字 06-51">
            <a:extLst xmlns:a="http://schemas.openxmlformats.org/drawingml/2006/main">
              <a:ext uri="{FF2B5EF4-FFF2-40B4-BE49-F238E27FC236}">
                <a16:creationId xmlns:a16="http://schemas.microsoft.com/office/drawing/2014/main" id="{FE43E84E-295F-41F3-A70F-A3C7E31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2" name="统一风格-文字 配置核验与巡检-52">
            <a:extLst xmlns:a="http://schemas.openxmlformats.org/drawingml/2006/main">
              <a:ext uri="{FF2B5EF4-FFF2-40B4-BE49-F238E27FC236}">
                <a16:creationId xmlns:a16="http://schemas.microsoft.com/office/drawing/2014/main" id="{D0111A39-DF54-4D52-B9A0-B876650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配置核验与巡检</a:t>
            </a:r>
          </a:p>
        </p:txBody>
      </p:sp>
      <p:sp>
        <p:nvSpPr>
          <p:cNvPr id="53" name="统一风格-文字 关键判断、上线检查与持续复核-53">
            <a:extLst xmlns:a="http://schemas.openxmlformats.org/drawingml/2006/main">
              <a:ext uri="{FF2B5EF4-FFF2-40B4-BE49-F238E27FC236}">
                <a16:creationId xmlns:a16="http://schemas.microsoft.com/office/drawing/2014/main" id="{0469F5D8-11C6-4F84-895F-D9308ED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1495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关键判断、上线检查与持续复核</a:t>
            </a:r>
          </a:p>
        </p:txBody>
      </p:sp>
      <p:sp>
        <p:nvSpPr>
          <p:cNvPr id="54" name="统一风格-文字 60–63-54">
            <a:extLst xmlns:a="http://schemas.openxmlformats.org/drawingml/2006/main">
              <a:ext uri="{FF2B5EF4-FFF2-40B4-BE49-F238E27FC236}">
                <a16:creationId xmlns:a16="http://schemas.microsoft.com/office/drawing/2014/main" id="{52B8AD37-362C-4E35-BBC7-330CF27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90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4:p xmlns:ns4="http://schemas.openxmlformats.org/drawingml/2006/main">
            <ns4:pPr algn="r">
              <ns4:defRPr sz="1425" b="0">
                <ns4:solidFill>
                  <ns4:srgbClr val="002FA7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425" b="0">
                <ns4:solidFill>
                  <ns4:srgbClr val="002FA7"/>
                </ns4:solidFill>
                <ns4:latin typeface="Microsoft YaHei"/>
                <ns4:ea typeface="Microsoft YaHei"/>
                <ns4:cs typeface="Microsoft YaHei"/>
              </ns4:rPr>
              <ns4:t>79–82</ns4:t>
            </ns4:r>
          </ns4:p>
        </p:txBody>
      </p:sp>
      <p:sp>
        <p:nvSpPr>
          <p:cNvPr id="55" name="统一风格-页脚分隔线-55">
            <a:extLst xmlns:a="http://schemas.openxmlformats.org/drawingml/2006/main">
              <a:ext uri="{FF2B5EF4-FFF2-40B4-BE49-F238E27FC236}">
                <a16:creationId xmlns:a16="http://schemas.microsoft.com/office/drawing/2014/main" id="{8586A7E8-4F03-4BA7-9D58-9076600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6" name="统一风格-文字 网络规划与安全配置需以业务访问需求和实际流量路径为依据-56">
            <a:extLst xmlns:a="http://schemas.openxmlformats.org/drawingml/2006/main">
              <a:ext uri="{FF2B5EF4-FFF2-40B4-BE49-F238E27FC236}">
                <a16:creationId xmlns:a16="http://schemas.microsoft.com/office/drawing/2014/main" id="{FE0F9430-658D-4B2F-99FF-2D6DAFC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网络规划与安全配置需以业务访问需求和实际流量路径为依据</a:t>
            </a:r>
          </a:p>
        </p:txBody>
      </p:sp>
      <p:sp>
        <p:nvSpPr>
          <p:cNvPr id="57" name="正文-02">
            <a:extLst xmlns:a="http://schemas.openxmlformats.org/drawingml/2006/main">
              <a:ext uri="{FF2B5EF4-FFF2-40B4-BE49-F238E27FC236}">
                <a16:creationId xmlns:a16="http://schemas.microsoft.com/office/drawing/2014/main" id="{B15BD514-8022-4322-9745-1BECC4B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02</ns0:t>
            </ns0:r>
          </ns0:p>
        </p:txBody>
      </p:sp>
    </p:spTree>
    <p:extLst>
      <p:ext uri="{BB962C8B-B14F-4D97-AF65-F5344CB8AC3E}">
        <p14:creationId xmlns:p14="http://schemas.microsoft.com/office/powerpoint/2010/main" val="731965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963832ED-EF7F-42E5-BEC1-1E960E4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rPr>
              <ns1:t>01  VPC 基础与规范</ns1:t>
            </ns1:r>
          </ns1:p>
        </p:txBody>
      </p:sp>
      <p:sp>
        <p:nvSpPr>
          <p:cNvPr id="2" name="正文-业务场景与网络信任域">
            <a:extLst xmlns:a="http://schemas.openxmlformats.org/drawingml/2006/main">
              <a:ext uri="{FF2B5EF4-FFF2-40B4-BE49-F238E27FC236}">
                <a16:creationId xmlns:a16="http://schemas.microsoft.com/office/drawing/2014/main" id="{E741CAE0-6EEC-4AFC-B60A-43E2E235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2850" b="1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业务场景与网络信任域</ns1:t>
            </ns1:r>
          </ns1:p>
        </p:txBody>
      </p:sp>
      <p:sp>
        <p:nvSpPr>
          <p:cNvPr id="3" name="正文-订单服务跨 VPC 访问自建 ECS 数据库，该场景默认无 NAT 或代理">
            <a:extLst xmlns:a="http://schemas.openxmlformats.org/drawingml/2006/main">
              <a:ext uri="{FF2B5EF4-FFF2-40B4-BE49-F238E27FC236}">
                <a16:creationId xmlns:a16="http://schemas.microsoft.com/office/drawing/2014/main" id="{6BB352A0-3FB3-4F6E-BDCF-3EEB8C1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l">
              <ns2:defRPr sz="165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65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rPr>
              <ns2:t>订单服务跨 VPC 访问自建 ECS 数据库，该场景默认无 NAT 或代理</ns2:t>
            </ns2:r>
          </ns2:p>
        </p:txBody>
      </p:sp>
      <p:sp>
        <p:nvSpPr>
          <p:cNvPr id="4" name="正文-地址为虚构示例。图中连接表示批准的业务关系，详细 ER 引流见第 38 页">
            <a:extLst xmlns:a="http://schemas.openxmlformats.org/drawingml/2006/main">
              <a:ext uri="{FF2B5EF4-FFF2-40B4-BE49-F238E27FC236}">
                <a16:creationId xmlns:a16="http://schemas.microsoft.com/office/drawing/2014/main" id="{F0EA4B48-6C27-4445-A812-327E774D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地址为虚构示例。图中连接表示批准的业务关系，详细 ER 引流见第 57 页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F1341055-202C-4611-A18D-7A6C4F0B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13">
            <a:extLst xmlns:a="http://schemas.openxmlformats.org/drawingml/2006/main">
              <a:ext uri="{FF2B5EF4-FFF2-40B4-BE49-F238E27FC236}">
                <a16:creationId xmlns:a16="http://schemas.microsoft.com/office/drawing/2014/main" id="{3C484C2C-11F7-4610-96A5-3E896D8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r">
              <ns2:defRPr sz="120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20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rPr>
              <ns2:t>13</ns2:t>
            </ns2:r>
          </ns2:p>
        </p:txBody>
      </p:sp>
      <p:sp>
        <p:nvSpPr>
          <p:cNvPr id="7" name="统一风格-flat-zones 生产应用 VPC玻璃后沿-31">
            <a:extLst xmlns:a="http://schemas.openxmlformats.org/drawingml/2006/main">
              <a:ext uri="{FF2B5EF4-FFF2-40B4-BE49-F238E27FC236}">
                <a16:creationId xmlns:a16="http://schemas.microsoft.com/office/drawing/2014/main" id="{0EA22640-E9B2-45BB-9CD4-76B044BE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flat-zones 生产应用 VPC-32">
            <a:extLst xmlns:a="http://schemas.openxmlformats.org/drawingml/2006/main">
              <a:ext uri="{FF2B5EF4-FFF2-40B4-BE49-F238E27FC236}">
                <a16:creationId xmlns:a16="http://schemas.microsoft.com/office/drawing/2014/main" id="{6684A65D-B944-4AD2-9FCF-CE5A739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flat-zones 生产应用 VPC玻璃内沿-33">
            <a:extLst xmlns:a="http://schemas.openxmlformats.org/drawingml/2006/main">
              <a:ext uri="{FF2B5EF4-FFF2-40B4-BE49-F238E27FC236}">
                <a16:creationId xmlns:a16="http://schemas.microsoft.com/office/drawing/2014/main" id="{B5880563-6AF9-4499-ABAF-F1B6BAA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228918"/>
            <a:ext cx="2310175" cy="1076824"/>
          </a:xfrm>
          <a:prstGeom xmlns:a="http://schemas.openxmlformats.org/drawingml/2006/main" prst="roundRect">
            <a:avLst>
              <a:gd name="adj" fmla="val 681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flat-zones 生产应用 VPC透光反射面-34">
            <a:extLst xmlns:a="http://schemas.openxmlformats.org/drawingml/2006/main">
              <a:ext uri="{FF2B5EF4-FFF2-40B4-BE49-F238E27FC236}">
                <a16:creationId xmlns:a16="http://schemas.microsoft.com/office/drawing/2014/main" id="{E346C928-EDF4-4C16-8D2E-CBCAF5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5109"/>
            <a:ext cx="2297793" cy="1064441"/>
          </a:xfrm>
          <a:custGeom xmlns:a="http://schemas.openxmlformats.org/drawingml/2006/main"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flat-zones 生产应用 VPC边缘高光-35">
            <a:extLst xmlns:a="http://schemas.openxmlformats.org/drawingml/2006/main">
              <a:ext uri="{FF2B5EF4-FFF2-40B4-BE49-F238E27FC236}">
                <a16:creationId xmlns:a16="http://schemas.microsoft.com/office/drawing/2014/main" id="{DFF9C004-7189-40A9-A6D0-3A9454CB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6059"/>
            <a:ext cx="2335893" cy="1102541"/>
          </a:xfrm>
          <a:custGeom xmlns:a="http://schemas.openxmlformats.org/drawingml/2006/main"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36">
            <a:extLst xmlns:a="http://schemas.openxmlformats.org/drawingml/2006/main">
              <a:ext uri="{FF2B5EF4-FFF2-40B4-BE49-F238E27FC236}">
                <a16:creationId xmlns:a16="http://schemas.microsoft.com/office/drawing/2014/main" id="{0AB58321-E217-4421-A744-BF96860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44030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文字 生产应用 VPC-37">
            <a:extLst xmlns:a="http://schemas.openxmlformats.org/drawingml/2006/main">
              <a:ext uri="{FF2B5EF4-FFF2-40B4-BE49-F238E27FC236}">
                <a16:creationId xmlns:a16="http://schemas.microsoft.com/office/drawing/2014/main" id="{A614A369-FBFD-45BD-98BF-9996A4B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374900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 VPC</a:t>
            </a:r>
          </a:p>
        </p:txBody>
      </p:sp>
      <p:sp>
        <p:nvSpPr>
          <p:cNvPr id="14" name="统一风格-文字 Web / App 子网-38">
            <a:extLst xmlns:a="http://schemas.openxmlformats.org/drawingml/2006/main">
              <a:ext uri="{FF2B5EF4-FFF2-40B4-BE49-F238E27FC236}">
                <a16:creationId xmlns:a16="http://schemas.microsoft.com/office/drawing/2014/main" id="{31D17775-AB31-4EDD-B1E0-F54D9EF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701925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Web / App 子网</a:t>
            </a:r>
          </a:p>
        </p:txBody>
      </p:sp>
      <p:sp>
        <p:nvSpPr>
          <p:cNvPr id="15" name="统一风格-flat-zones 生产数据 VPC玻璃后沿-39">
            <a:extLst xmlns:a="http://schemas.openxmlformats.org/drawingml/2006/main">
              <a:ext uri="{FF2B5EF4-FFF2-40B4-BE49-F238E27FC236}">
                <a16:creationId xmlns:a16="http://schemas.microsoft.com/office/drawing/2014/main" id="{F6AE844D-5A95-4EBA-8BAE-4E0D4AB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954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flat-zones 生产数据 VPC-40">
            <a:extLst xmlns:a="http://schemas.openxmlformats.org/drawingml/2006/main">
              <a:ext uri="{FF2B5EF4-FFF2-40B4-BE49-F238E27FC236}">
                <a16:creationId xmlns:a16="http://schemas.microsoft.com/office/drawing/2014/main" id="{671EDA5B-00F7-484B-ADFD-CF9B335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954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flat-zones 生产数据 VPC玻璃内沿-41">
            <a:extLst xmlns:a="http://schemas.openxmlformats.org/drawingml/2006/main">
              <a:ext uri="{FF2B5EF4-FFF2-40B4-BE49-F238E27FC236}">
                <a16:creationId xmlns:a16="http://schemas.microsoft.com/office/drawing/2014/main" id="{2C0A1104-9647-47D4-B7A8-4E28E22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2" y="2228918"/>
            <a:ext cx="2310175" cy="1076824"/>
          </a:xfrm>
          <a:prstGeom xmlns:a="http://schemas.openxmlformats.org/drawingml/2006/main" prst="roundRect">
            <a:avLst>
              <a:gd name="adj" fmla="val 681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flat-zones 生产数据 VPC透光反射面-42">
            <a:extLst xmlns:a="http://schemas.openxmlformats.org/drawingml/2006/main">
              <a:ext uri="{FF2B5EF4-FFF2-40B4-BE49-F238E27FC236}">
                <a16:creationId xmlns:a16="http://schemas.microsoft.com/office/drawing/2014/main" id="{48201EFC-03DC-4CD5-8DD8-ACF72E0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004" y="2235109"/>
            <a:ext cx="2297793" cy="1064441"/>
          </a:xfrm>
          <a:custGeom xmlns:a="http://schemas.openxmlformats.org/drawingml/2006/main"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flat-zones 生产数据 VPC边缘高光-43">
            <a:extLst xmlns:a="http://schemas.openxmlformats.org/drawingml/2006/main">
              <a:ext uri="{FF2B5EF4-FFF2-40B4-BE49-F238E27FC236}">
                <a16:creationId xmlns:a16="http://schemas.microsoft.com/office/drawing/2014/main" id="{A006DE28-CD89-4B34-BE98-F52AA67B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954" y="2216059"/>
            <a:ext cx="2335893" cy="1102541"/>
          </a:xfrm>
          <a:custGeom xmlns:a="http://schemas.openxmlformats.org/drawingml/2006/main"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cloud VPC 云轮廓-44">
            <a:extLst xmlns:a="http://schemas.openxmlformats.org/drawingml/2006/main">
              <a:ext uri="{FF2B5EF4-FFF2-40B4-BE49-F238E27FC236}">
                <a16:creationId xmlns:a16="http://schemas.microsoft.com/office/drawing/2014/main" id="{43338063-C751-4797-94DB-497B717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794" y="244030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1" name="统一风格-文字 生产数据 VPC-45">
            <a:extLst xmlns:a="http://schemas.openxmlformats.org/drawingml/2006/main">
              <a:ext uri="{FF2B5EF4-FFF2-40B4-BE49-F238E27FC236}">
                <a16:creationId xmlns:a16="http://schemas.microsoft.com/office/drawing/2014/main" id="{19E64C09-BE3A-4ABE-A1DA-F72769A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2374900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生产数据 VPC</a:t>
            </a:r>
          </a:p>
        </p:txBody>
      </p:sp>
      <p:sp>
        <p:nvSpPr>
          <p:cNvPr id="22" name="统一风格-文字 DB 子网-46">
            <a:extLst xmlns:a="http://schemas.openxmlformats.org/drawingml/2006/main">
              <a:ext uri="{FF2B5EF4-FFF2-40B4-BE49-F238E27FC236}">
                <a16:creationId xmlns:a16="http://schemas.microsoft.com/office/drawing/2014/main" id="{263DC001-A0C5-4058-B513-55F799BA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2701925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DB 子网</a:t>
            </a:r>
          </a:p>
        </p:txBody>
      </p:sp>
      <p:sp>
        <p:nvSpPr>
          <p:cNvPr id="23" name="统一风格-flat-zones 运维 VPC玻璃后沿-47">
            <a:extLst xmlns:a="http://schemas.openxmlformats.org/drawingml/2006/main">
              <a:ext uri="{FF2B5EF4-FFF2-40B4-BE49-F238E27FC236}">
                <a16:creationId xmlns:a16="http://schemas.microsoft.com/office/drawing/2014/main" id="{76E0C45D-EBF2-443C-B799-7B9610C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307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统一风格-flat-zones 运维 VPC-48">
            <a:extLst xmlns:a="http://schemas.openxmlformats.org/drawingml/2006/main">
              <a:ext uri="{FF2B5EF4-FFF2-40B4-BE49-F238E27FC236}">
                <a16:creationId xmlns:a16="http://schemas.microsoft.com/office/drawing/2014/main" id="{5B0AB15E-FA09-479B-A32B-DF69F734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307" y="2216059"/>
            <a:ext cx="2335893" cy="1102541"/>
          </a:xfrm>
          <a:prstGeom xmlns:a="http://schemas.openxmlformats.org/drawingml/2006/main" prst="roundRect">
            <a:avLst>
              <a:gd name="adj" fmla="val 77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flat-zones 运维 VPC玻璃内沿-49">
            <a:extLst xmlns:a="http://schemas.openxmlformats.org/drawingml/2006/main">
              <a:ext uri="{FF2B5EF4-FFF2-40B4-BE49-F238E27FC236}">
                <a16:creationId xmlns:a16="http://schemas.microsoft.com/office/drawing/2014/main" id="{30501876-F54F-4707-B13F-16A18F2A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166" y="2228918"/>
            <a:ext cx="2310175" cy="1076824"/>
          </a:xfrm>
          <a:prstGeom xmlns:a="http://schemas.openxmlformats.org/drawingml/2006/main" prst="roundRect">
            <a:avLst>
              <a:gd name="adj" fmla="val 681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flat-zones 运维 VPC透光反射面-50">
            <a:extLst xmlns:a="http://schemas.openxmlformats.org/drawingml/2006/main">
              <a:ext uri="{FF2B5EF4-FFF2-40B4-BE49-F238E27FC236}">
                <a16:creationId xmlns:a16="http://schemas.microsoft.com/office/drawing/2014/main" id="{634BDA7E-4CCB-4197-BD1C-82C55CB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357" y="2235109"/>
            <a:ext cx="2297793" cy="1064441"/>
          </a:xfrm>
          <a:custGeom xmlns:a="http://schemas.openxmlformats.org/drawingml/2006/main"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7" name="统一风格-flat-zones 运维 VPC边缘高光-51">
            <a:extLst xmlns:a="http://schemas.openxmlformats.org/drawingml/2006/main">
              <a:ext uri="{FF2B5EF4-FFF2-40B4-BE49-F238E27FC236}">
                <a16:creationId xmlns:a16="http://schemas.microsoft.com/office/drawing/2014/main" id="{57583735-1A06-45D2-987B-69033E3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307" y="2216059"/>
            <a:ext cx="2335893" cy="1102541"/>
          </a:xfrm>
          <a:custGeom xmlns:a="http://schemas.openxmlformats.org/drawingml/2006/main"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cloud VPC 云轮廓-52">
            <a:extLst xmlns:a="http://schemas.openxmlformats.org/drawingml/2006/main">
              <a:ext uri="{FF2B5EF4-FFF2-40B4-BE49-F238E27FC236}">
                <a16:creationId xmlns:a16="http://schemas.microsoft.com/office/drawing/2014/main" id="{75826BED-A6EC-4AF3-B1DD-3797EC25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148" y="244030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9" name="统一风格-文字 运维 VPC-53">
            <a:extLst xmlns:a="http://schemas.openxmlformats.org/drawingml/2006/main">
              <a:ext uri="{FF2B5EF4-FFF2-40B4-BE49-F238E27FC236}">
                <a16:creationId xmlns:a16="http://schemas.microsoft.com/office/drawing/2014/main" id="{FC54F6CA-1A39-47F6-BC9C-65DE664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824" y="2374900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 VPC</a:t>
            </a:r>
          </a:p>
        </p:txBody>
      </p:sp>
      <p:sp>
        <p:nvSpPr>
          <p:cNvPr id="30" name="统一风格-文字 堡垒机-54">
            <a:extLst xmlns:a="http://schemas.openxmlformats.org/drawingml/2006/main">
              <a:ext uri="{FF2B5EF4-FFF2-40B4-BE49-F238E27FC236}">
                <a16:creationId xmlns:a16="http://schemas.microsoft.com/office/drawing/2014/main" id="{4E690415-B8DE-44C0-8CAD-3EBC127D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824" y="2701925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cxnSp>
        <p:nvCxnSpPr>
          <p:cNvPr id="31" name="统一拓扑-flat-zones-连线-1">
            <a:extLst xmlns:a="http://schemas.openxmlformats.org/drawingml/2006/main">
              <a:ext uri="{FF2B5EF4-FFF2-40B4-BE49-F238E27FC236}">
                <a16:creationId xmlns:a16="http://schemas.microsoft.com/office/drawing/2014/main" id="{D9A2FDDE-7FBA-403B-A2D8-789B8970B6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5493" y="2767330"/>
            <a:ext cx="420461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2" name="统一风格-flat-zones 关系文字衬底-55">
            <a:extLst xmlns:a="http://schemas.openxmlformats.org/drawingml/2006/main">
              <a:ext uri="{FF2B5EF4-FFF2-40B4-BE49-F238E27FC236}">
                <a16:creationId xmlns:a16="http://schemas.microsoft.com/office/drawing/2014/main" id="{20C082D3-8F90-4118-9460-F39828F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191" y="3384006"/>
            <a:ext cx="1401536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33" name="统一风格-文字 TCP 3306-56">
            <a:extLst xmlns:a="http://schemas.openxmlformats.org/drawingml/2006/main">
              <a:ext uri="{FF2B5EF4-FFF2-40B4-BE49-F238E27FC236}">
                <a16:creationId xmlns:a16="http://schemas.microsoft.com/office/drawing/2014/main" id="{5A4EF6DB-275D-40F5-99F8-6E9B10AE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566" y="3384006"/>
            <a:ext cx="1326787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cxnSp>
        <p:nvCxnSpPr>
          <p:cNvPr id="34" name="统一拓扑-flat-zones-连线-2">
            <a:extLst xmlns:a="http://schemas.openxmlformats.org/drawingml/2006/main">
              <a:ext uri="{FF2B5EF4-FFF2-40B4-BE49-F238E27FC236}">
                <a16:creationId xmlns:a16="http://schemas.microsoft.com/office/drawing/2014/main" id="{C1941977-01F9-45E2-9D1A-823B09A129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90254" y="3318601"/>
            <a:ext cx="0" cy="766173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35" name="统一拓扑-flat-zones-连线-3">
            <a:extLst xmlns:a="http://schemas.openxmlformats.org/drawingml/2006/main">
              <a:ext uri="{FF2B5EF4-FFF2-40B4-BE49-F238E27FC236}">
                <a16:creationId xmlns:a16="http://schemas.microsoft.com/office/drawing/2014/main" id="{E01D024D-3EE0-4FA7-9E63-0D6633D27A1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777546" y="4084774"/>
            <a:ext cx="551270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36" name="统一拓扑-flat-zones-连线-4">
            <a:extLst xmlns:a="http://schemas.openxmlformats.org/drawingml/2006/main">
              <a:ext uri="{FF2B5EF4-FFF2-40B4-BE49-F238E27FC236}">
                <a16:creationId xmlns:a16="http://schemas.microsoft.com/office/drawing/2014/main" id="{014B6B55-E610-406D-99ED-148EC4BEF5A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777546" y="3318601"/>
            <a:ext cx="0" cy="766173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7" name="统一风格-flat-zones 关系文字衬底-57">
            <a:extLst xmlns:a="http://schemas.openxmlformats.org/drawingml/2006/main">
              <a:ext uri="{FF2B5EF4-FFF2-40B4-BE49-F238E27FC236}">
                <a16:creationId xmlns:a16="http://schemas.microsoft.com/office/drawing/2014/main" id="{2BECEF6A-81B0-4CF7-97C0-FE73E41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721" y="3767092"/>
            <a:ext cx="2177052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38" name="统一风格-文字 TCP 22 · 管理连接-58">
            <a:extLst xmlns:a="http://schemas.openxmlformats.org/drawingml/2006/main">
              <a:ext uri="{FF2B5EF4-FFF2-40B4-BE49-F238E27FC236}">
                <a16:creationId xmlns:a16="http://schemas.microsoft.com/office/drawing/2014/main" id="{3671371D-58C6-49E6-AE4B-F128D153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096" y="3767092"/>
            <a:ext cx="2102304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22 · 管理连接</a:t>
            </a:r>
          </a:p>
        </p:txBody>
      </p:sp>
      <p:sp>
        <p:nvSpPr>
          <p:cNvPr id="39" name="统一风格-flat-zones 测试 VPC玻璃后沿-59">
            <a:extLst xmlns:a="http://schemas.openxmlformats.org/drawingml/2006/main">
              <a:ext uri="{FF2B5EF4-FFF2-40B4-BE49-F238E27FC236}">
                <a16:creationId xmlns:a16="http://schemas.microsoft.com/office/drawing/2014/main" id="{17724776-B90D-4988-ABA2-FA849DDF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1449"/>
            <a:ext cx="2335893" cy="1046480"/>
          </a:xfrm>
          <a:prstGeom xmlns:a="http://schemas.openxmlformats.org/drawingml/2006/main" prst="roundRect">
            <a:avLst>
              <a:gd name="adj" fmla="val 819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统一风格-flat-zones 测试 VPC-60">
            <a:extLst xmlns:a="http://schemas.openxmlformats.org/drawingml/2006/main">
              <a:ext uri="{FF2B5EF4-FFF2-40B4-BE49-F238E27FC236}">
                <a16:creationId xmlns:a16="http://schemas.microsoft.com/office/drawing/2014/main" id="{F288B092-94BA-43DF-B018-4D70CF83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1449"/>
            <a:ext cx="2335893" cy="1046480"/>
          </a:xfrm>
          <a:prstGeom xmlns:a="http://schemas.openxmlformats.org/drawingml/2006/main" prst="roundRect">
            <a:avLst>
              <a:gd name="adj" fmla="val 819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1" name="统一风格-flat-zones 测试 VPC玻璃内沿-61">
            <a:extLst xmlns:a="http://schemas.openxmlformats.org/drawingml/2006/main">
              <a:ext uri="{FF2B5EF4-FFF2-40B4-BE49-F238E27FC236}">
                <a16:creationId xmlns:a16="http://schemas.microsoft.com/office/drawing/2014/main" id="{F66F4F72-AF6F-4E49-B2AB-95E34446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714308"/>
            <a:ext cx="2310175" cy="1020762"/>
          </a:xfrm>
          <a:prstGeom xmlns:a="http://schemas.openxmlformats.org/drawingml/2006/main" prst="roundRect">
            <a:avLst>
              <a:gd name="adj" fmla="val 718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2" name="统一风格-flat-zones 测试 VPC透光反射面-62">
            <a:extLst xmlns:a="http://schemas.openxmlformats.org/drawingml/2006/main">
              <a:ext uri="{FF2B5EF4-FFF2-40B4-BE49-F238E27FC236}">
                <a16:creationId xmlns:a16="http://schemas.microsoft.com/office/drawing/2014/main" id="{69DEAB95-C085-40A2-A2B1-7C8C31D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0499"/>
            <a:ext cx="2297793" cy="1008380"/>
          </a:xfrm>
          <a:custGeom xmlns:a="http://schemas.openxmlformats.org/drawingml/2006/main">
            <a:pathLst>
              <a:path w="2297793" h="1008380">
                <a:moveTo>
                  <a:pt x="76200" y="0"/>
                </a:moveTo>
                <a:lnTo>
                  <a:pt x="1470587" y="0"/>
                </a:lnTo>
                <a:lnTo>
                  <a:pt x="597426" y="1008380"/>
                </a:lnTo>
                <a:lnTo>
                  <a:pt x="76200" y="1008380"/>
                </a:lnTo>
                <a:cubicBezTo>
                  <a:pt x="28575" y="1008380"/>
                  <a:pt x="0" y="979805"/>
                  <a:pt x="0" y="93218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3" name="统一风格-flat-zones 测试 VPC边缘高光-63">
            <a:extLst xmlns:a="http://schemas.openxmlformats.org/drawingml/2006/main">
              <a:ext uri="{FF2B5EF4-FFF2-40B4-BE49-F238E27FC236}">
                <a16:creationId xmlns:a16="http://schemas.microsoft.com/office/drawing/2014/main" id="{B28386E0-B51E-4103-9A7C-CFA531AB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1449"/>
            <a:ext cx="2335893" cy="1046480"/>
          </a:xfrm>
          <a:custGeom xmlns:a="http://schemas.openxmlformats.org/drawingml/2006/main">
            <a:pathLst>
              <a:path w="2335893" h="1046480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4" name="统一风格-cloud VPC 云轮廓-64">
            <a:extLst xmlns:a="http://schemas.openxmlformats.org/drawingml/2006/main">
              <a:ext uri="{FF2B5EF4-FFF2-40B4-BE49-F238E27FC236}">
                <a16:creationId xmlns:a16="http://schemas.microsoft.com/office/drawing/2014/main" id="{9EA95269-4A06-422F-B34D-1FB516A6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49256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5" name="统一风格-文字 测试 VPC-65">
            <a:extLst xmlns:a="http://schemas.openxmlformats.org/drawingml/2006/main">
              <a:ext uri="{FF2B5EF4-FFF2-40B4-BE49-F238E27FC236}">
                <a16:creationId xmlns:a16="http://schemas.microsoft.com/office/drawing/2014/main" id="{54D501C6-A373-4B3F-840C-97F0315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4860290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 VPC</a:t>
            </a:r>
          </a:p>
        </p:txBody>
      </p:sp>
      <p:sp>
        <p:nvSpPr>
          <p:cNvPr id="46" name="统一风格-文字 测试服务器-66">
            <a:extLst xmlns:a="http://schemas.openxmlformats.org/drawingml/2006/main">
              <a:ext uri="{FF2B5EF4-FFF2-40B4-BE49-F238E27FC236}">
                <a16:creationId xmlns:a16="http://schemas.microsoft.com/office/drawing/2014/main" id="{E300A552-9EDE-43C3-8C5A-8D325EF4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5187315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测试服务器</a:t>
            </a:r>
          </a:p>
        </p:txBody>
      </p:sp>
      <p:cxnSp>
        <p:nvCxnSpPr>
          <p:cNvPr id="47" name="统一拓扑-flat-zones-连线-5">
            <a:extLst xmlns:a="http://schemas.openxmlformats.org/drawingml/2006/main">
              <a:ext uri="{FF2B5EF4-FFF2-40B4-BE49-F238E27FC236}">
                <a16:creationId xmlns:a16="http://schemas.microsoft.com/office/drawing/2014/main" id="{434ADC4F-2E9E-40FE-971E-FE0EE05B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5493" y="5224689"/>
            <a:ext cx="158840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</a:ln>
        </p:spPr>
      </p:cxnSp>
      <p:cxnSp>
        <p:nvCxnSpPr>
          <p:cNvPr id="48" name="统一拓扑-flat-zones-连线-6">
            <a:extLst xmlns:a="http://schemas.openxmlformats.org/drawingml/2006/main">
              <a:ext uri="{FF2B5EF4-FFF2-40B4-BE49-F238E27FC236}">
                <a16:creationId xmlns:a16="http://schemas.microsoft.com/office/drawing/2014/main" id="{C833B08F-241A-414E-B0F2-62F2E8E1068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33900" y="4383768"/>
            <a:ext cx="0" cy="84092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49" name="统一拓扑-flat-zones-连线-7">
            <a:extLst xmlns:a="http://schemas.openxmlformats.org/drawingml/2006/main">
              <a:ext uri="{FF2B5EF4-FFF2-40B4-BE49-F238E27FC236}">
                <a16:creationId xmlns:a16="http://schemas.microsoft.com/office/drawing/2014/main" id="{B29BC633-CD10-4A62-B8C6-12FB4A261C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49808" y="4477204"/>
            <a:ext cx="168184" cy="168184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cxnSp>
        <p:nvCxnSpPr>
          <p:cNvPr id="50" name="统一拓扑-flat-zones-连线-8">
            <a:extLst xmlns:a="http://schemas.openxmlformats.org/drawingml/2006/main">
              <a:ext uri="{FF2B5EF4-FFF2-40B4-BE49-F238E27FC236}">
                <a16:creationId xmlns:a16="http://schemas.microsoft.com/office/drawing/2014/main" id="{1EBAEB6C-4029-4C3E-9E51-8FBC44F9EF8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449808" y="4477204"/>
            <a:ext cx="168184" cy="168184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sp>
        <p:nvSpPr>
          <p:cNvPr id="51" name="统一风格-flat-zones 关系文字衬底-67">
            <a:extLst xmlns:a="http://schemas.openxmlformats.org/drawingml/2006/main">
              <a:ext uri="{FF2B5EF4-FFF2-40B4-BE49-F238E27FC236}">
                <a16:creationId xmlns:a16="http://schemas.microsoft.com/office/drawing/2014/main" id="{C4C247C3-A8AB-4579-A840-46FE6A6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956" y="4888321"/>
            <a:ext cx="2410641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52" name="统一风格-文字 默认无互访授权-68">
            <a:extLst xmlns:a="http://schemas.openxmlformats.org/drawingml/2006/main">
              <a:ext uri="{FF2B5EF4-FFF2-40B4-BE49-F238E27FC236}">
                <a16:creationId xmlns:a16="http://schemas.microsoft.com/office/drawing/2014/main" id="{9CBB370D-3E17-4F50-9AAF-A023A3A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30" y="4888321"/>
            <a:ext cx="2335893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默认无互访授权</a:t>
            </a:r>
          </a:p>
        </p:txBody>
      </p:sp>
      <p:sp>
        <p:nvSpPr>
          <p:cNvPr id="53" name="统一风格-文字 10.20.10.15-69">
            <a:extLst xmlns:a="http://schemas.openxmlformats.org/drawingml/2006/main">
              <a:ext uri="{FF2B5EF4-FFF2-40B4-BE49-F238E27FC236}">
                <a16:creationId xmlns:a16="http://schemas.microsoft.com/office/drawing/2014/main" id="{7CF0424E-A333-4693-8DD9-90A502D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7484"/>
            <a:ext cx="2335893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54" name="统一风格-文字 10.30.20.10-70">
            <a:extLst xmlns:a="http://schemas.openxmlformats.org/drawingml/2006/main">
              <a:ext uri="{FF2B5EF4-FFF2-40B4-BE49-F238E27FC236}">
                <a16:creationId xmlns:a16="http://schemas.microsoft.com/office/drawing/2014/main" id="{D7624B2B-44F2-4FC9-87CE-0D8CB38C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954" y="2907484"/>
            <a:ext cx="2335893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sp>
        <p:nvSpPr>
          <p:cNvPr id="5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F46DF32E-19DC-4B47-AADF-EED788A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56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DB32FBB-BE01-4110-B547-70A40EC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7" name="txt-56">
            <a:extLst xmlns:a="http://schemas.openxmlformats.org/drawingml/2006/main">
              <a:ext uri="{FF2B5EF4-FFF2-40B4-BE49-F238E27FC236}">
                <a16:creationId xmlns:a16="http://schemas.microsoft.com/office/drawing/2014/main" id="{D4712E20-5252-4309-891E-66FBC1E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8" name="txt-57">
            <a:extLst xmlns:a="http://schemas.openxmlformats.org/drawingml/2006/main">
              <a:ext uri="{FF2B5EF4-FFF2-40B4-BE49-F238E27FC236}">
                <a16:creationId xmlns:a16="http://schemas.microsoft.com/office/drawing/2014/main" id="{969F5BFA-0ECB-4259-A41E-132603E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所在 VPC 10.20.0.0/16</a:t>
            </a:r>
          </a:p>
        </p:txBody>
      </p:sp>
      <p:sp>
        <p:nvSpPr>
          <p:cNvPr id="59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BEF555E-559B-4AA6-9D91-7D3E25D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0" name="txt-59">
            <a:extLst xmlns:a="http://schemas.openxmlformats.org/drawingml/2006/main">
              <a:ext uri="{FF2B5EF4-FFF2-40B4-BE49-F238E27FC236}">
                <a16:creationId xmlns:a16="http://schemas.microsoft.com/office/drawing/2014/main" id="{4FB95AA8-B5D6-4554-AD58-E68DAEC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61" name="txt-60">
            <a:extLst xmlns:a="http://schemas.openxmlformats.org/drawingml/2006/main">
              <a:ext uri="{FF2B5EF4-FFF2-40B4-BE49-F238E27FC236}">
                <a16:creationId xmlns:a16="http://schemas.microsoft.com/office/drawing/2014/main" id="{34F4C6D2-E12F-478E-B2BA-63243740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仅需 TCP 3306</a:t>
            </a:r>
          </a:p>
        </p:txBody>
      </p:sp>
      <p:sp>
        <p:nvSpPr>
          <p:cNvPr id="62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5FA7AC7-BDDC-4C73-812E-CA016EA9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3" name="txt-62">
            <a:extLst xmlns:a="http://schemas.openxmlformats.org/drawingml/2006/main">
              <a:ext uri="{FF2B5EF4-FFF2-40B4-BE49-F238E27FC236}">
                <a16:creationId xmlns:a16="http://schemas.microsoft.com/office/drawing/2014/main" id="{A11934D6-B10C-427E-87CC-D6D0090C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64" name="txt-63">
            <a:extLst xmlns:a="http://schemas.openxmlformats.org/drawingml/2006/main">
              <a:ext uri="{FF2B5EF4-FFF2-40B4-BE49-F238E27FC236}">
                <a16:creationId xmlns:a16="http://schemas.microsoft.com/office/drawing/2014/main" id="{42EC5739-0F23-46B3-80B7-4C8777B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堡垒机发起管理连接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1157120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11B56BB1-3089-4A94-BF67-B3B6F62C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D716DEB-4670-4BA6-BDEA-AD774ED3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VPC、子网与路由表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8F6EB9A-EB62-443C-B000-343C756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地址范围、部署单元和转发路径分别管理</a:t>
            </a:r>
          </a:p>
        </p:txBody>
      </p:sp>
      <p:sp>
        <p:nvSpPr>
          <p:cNvPr id="4" name="正文-逻辑架构示意，具体配置以实际区域、版本与网络路径为准">
            <a:extLst xmlns:a="http://schemas.openxmlformats.org/drawingml/2006/main">
              <a:ext uri="{FF2B5EF4-FFF2-40B4-BE49-F238E27FC236}">
                <a16:creationId xmlns:a16="http://schemas.microsoft.com/office/drawing/2014/main" id="{D1A69DF1-E04B-4502-9181-A6DA78D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逻辑架构示意，具体配置以实际区域、版本与网络路径为准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E8A06B62-77E3-4A53-976A-F5481F5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05">
            <a:extLst xmlns:a="http://schemas.openxmlformats.org/drawingml/2006/main">
              <a:ext uri="{FF2B5EF4-FFF2-40B4-BE49-F238E27FC236}">
                <a16:creationId xmlns:a16="http://schemas.microsoft.com/office/drawing/2014/main" id="{0CE98213-B111-4474-B211-B4673C2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r">
              <ns1:def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p:txBody>
      </p:sp>
      <p:sp>
        <p:nvSpPr>
          <p:cNvPr id="7" name="统一风格-anatomy VPC 主域玻璃后沿-71">
            <a:extLst xmlns:a="http://schemas.openxmlformats.org/drawingml/2006/main">
              <a:ext uri="{FF2B5EF4-FFF2-40B4-BE49-F238E27FC236}">
                <a16:creationId xmlns:a16="http://schemas.microsoft.com/office/drawing/2014/main" id="{75F89AFA-9C80-4A79-A52F-FD2CDD3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7848600" cy="3737429"/>
          </a:xfrm>
          <a:prstGeom xmlns:a="http://schemas.openxmlformats.org/drawingml/2006/main" prst="roundRect">
            <a:avLst>
              <a:gd name="adj" fmla="val 229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anatomy VPC 主域-72">
            <a:extLst xmlns:a="http://schemas.openxmlformats.org/drawingml/2006/main">
              <a:ext uri="{FF2B5EF4-FFF2-40B4-BE49-F238E27FC236}">
                <a16:creationId xmlns:a16="http://schemas.microsoft.com/office/drawing/2014/main" id="{010D8F25-EA3E-41B2-8F16-9CE9FBFB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7848600" cy="3737429"/>
          </a:xfrm>
          <a:prstGeom xmlns:a="http://schemas.openxmlformats.org/drawingml/2006/main" prst="roundRect">
            <a:avLst>
              <a:gd name="adj" fmla="val 229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anatomy VPC 主域玻璃内沿-73">
            <a:extLst xmlns:a="http://schemas.openxmlformats.org/drawingml/2006/main">
              <a:ext uri="{FF2B5EF4-FFF2-40B4-BE49-F238E27FC236}">
                <a16:creationId xmlns:a16="http://schemas.microsoft.com/office/drawing/2014/main" id="{3EA69405-73BC-4F6E-A0DB-F28F0234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7452"/>
            <a:ext cx="7822883" cy="3711711"/>
          </a:xfrm>
          <a:prstGeom xmlns:a="http://schemas.openxmlformats.org/drawingml/2006/main" prst="roundRect">
            <a:avLst>
              <a:gd name="adj" fmla="val 19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anatomy VPC 主域透光反射面-74">
            <a:extLst xmlns:a="http://schemas.openxmlformats.org/drawingml/2006/main">
              <a:ext uri="{FF2B5EF4-FFF2-40B4-BE49-F238E27FC236}">
                <a16:creationId xmlns:a16="http://schemas.microsoft.com/office/drawing/2014/main" id="{20913E87-D5D1-48A6-ADB6-2E0F5785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3643"/>
            <a:ext cx="7810500" cy="3699329"/>
          </a:xfrm>
          <a:custGeom xmlns:a="http://schemas.openxmlformats.org/drawingml/2006/main">
            <a:pathLst>
              <a:path w="7810500" h="3699329">
                <a:moveTo>
                  <a:pt x="76200" y="0"/>
                </a:moveTo>
                <a:lnTo>
                  <a:pt x="4998720" y="0"/>
                </a:lnTo>
                <a:lnTo>
                  <a:pt x="2030730" y="3699329"/>
                </a:lnTo>
                <a:lnTo>
                  <a:pt x="76200" y="3699329"/>
                </a:lnTo>
                <a:cubicBezTo>
                  <a:pt x="28575" y="3699329"/>
                  <a:pt x="0" y="3670754"/>
                  <a:pt x="0" y="362312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anatomy VPC 主域边缘高光-75">
            <a:extLst xmlns:a="http://schemas.openxmlformats.org/drawingml/2006/main">
              <a:ext uri="{FF2B5EF4-FFF2-40B4-BE49-F238E27FC236}">
                <a16:creationId xmlns:a16="http://schemas.microsoft.com/office/drawing/2014/main" id="{B8764B9B-1ECC-426E-80B7-DCD53AA9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7848600" cy="3737429"/>
          </a:xfrm>
          <a:custGeom xmlns:a="http://schemas.openxmlformats.org/drawingml/2006/main">
            <a:pathLst>
              <a:path w="7848600" h="3737429">
                <a:moveTo>
                  <a:pt x="95250" y="9525"/>
                </a:moveTo>
                <a:lnTo>
                  <a:pt x="7753350" y="9525"/>
                </a:lnTo>
                <a:cubicBezTo>
                  <a:pt x="7800975" y="9525"/>
                  <a:pt x="7839075" y="47625"/>
                  <a:pt x="78390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76">
            <a:extLst xmlns:a="http://schemas.openxmlformats.org/drawingml/2006/main">
              <a:ext uri="{FF2B5EF4-FFF2-40B4-BE49-F238E27FC236}">
                <a16:creationId xmlns:a16="http://schemas.microsoft.com/office/drawing/2014/main" id="{CB27E0DB-29D4-41F9-8FED-7DEA51A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59" y="2178685"/>
            <a:ext cx="439148" cy="439148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85" cap="rnd">
            <a:solidFill>
              <a:srgbClr val="2053C3"/>
            </a:solidFill>
            <a:round/>
          </a:ln>
        </p:spPr>
      </p:sp>
      <p:sp>
        <p:nvSpPr>
          <p:cNvPr id="13" name="统一风格-文字 VPC  10.20.0.0/16-77">
            <a:extLst xmlns:a="http://schemas.openxmlformats.org/drawingml/2006/main">
              <a:ext uri="{FF2B5EF4-FFF2-40B4-BE49-F238E27FC236}">
                <a16:creationId xmlns:a16="http://schemas.microsoft.com/office/drawing/2014/main" id="{23118315-6D32-4F23-9F41-29EF0CF7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804" y="2234746"/>
            <a:ext cx="6353629" cy="373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 10.20.0.0/16</a:t>
            </a:r>
          </a:p>
        </p:txBody>
      </p:sp>
      <p:sp>
        <p:nvSpPr>
          <p:cNvPr id="14" name="统一风格-anatomy 子网边界-78">
            <a:extLst xmlns:a="http://schemas.openxmlformats.org/drawingml/2006/main">
              <a:ext uri="{FF2B5EF4-FFF2-40B4-BE49-F238E27FC236}">
                <a16:creationId xmlns:a16="http://schemas.microsoft.com/office/drawing/2014/main" id="{CAC9A826-F5EC-4B9D-BF96-3CD9DFA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59" y="2851422"/>
            <a:ext cx="3606619" cy="1850027"/>
          </a:xfrm>
          <a:prstGeom xmlns:a="http://schemas.openxmlformats.org/drawingml/2006/main" prst="roundRect">
            <a:avLst>
              <a:gd name="adj" fmla="val 4634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8409">
            <a:solidFill>
              <a:srgbClr val="B7CBEA"/>
            </a:solidFill>
          </a:ln>
        </p:spPr>
      </p:sp>
      <p:sp>
        <p:nvSpPr>
          <p:cNvPr id="15" name="统一风格-文字 Web 子网  10.20.20.0/24-79">
            <a:extLst xmlns:a="http://schemas.openxmlformats.org/drawingml/2006/main">
              <a:ext uri="{FF2B5EF4-FFF2-40B4-BE49-F238E27FC236}">
                <a16:creationId xmlns:a16="http://schemas.microsoft.com/office/drawing/2014/main" id="{CCF0DF31-6A2C-4969-AF14-FC21BD45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69" y="2972889"/>
            <a:ext cx="3335655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子网  10.20.20.0/24</a:t>
            </a:r>
          </a:p>
        </p:txBody>
      </p:sp>
      <p:sp>
        <p:nvSpPr>
          <p:cNvPr id="16" name="统一风格-server 服务器机架-80">
            <a:extLst xmlns:a="http://schemas.openxmlformats.org/drawingml/2006/main">
              <a:ext uri="{FF2B5EF4-FFF2-40B4-BE49-F238E27FC236}">
                <a16:creationId xmlns:a16="http://schemas.microsoft.com/office/drawing/2014/main" id="{CA882352-2AE9-4A23-AD3E-07E6CDF8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17" name="统一风格-server 机架状态-81">
            <a:extLst xmlns:a="http://schemas.openxmlformats.org/drawingml/2006/main">
              <a:ext uri="{FF2B5EF4-FFF2-40B4-BE49-F238E27FC236}">
                <a16:creationId xmlns:a16="http://schemas.microsoft.com/office/drawing/2014/main" id="{DC698692-99F7-4E39-AD4E-EC1D06A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18" name="统一风格-server 指示灯-82">
            <a:extLst xmlns:a="http://schemas.openxmlformats.org/drawingml/2006/main">
              <a:ext uri="{FF2B5EF4-FFF2-40B4-BE49-F238E27FC236}">
                <a16:creationId xmlns:a16="http://schemas.microsoft.com/office/drawing/2014/main" id="{210B6479-9001-4D77-931F-D44D750A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" name="统一风格-server 服务器机架-83">
            <a:extLst xmlns:a="http://schemas.openxmlformats.org/drawingml/2006/main">
              <a:ext uri="{FF2B5EF4-FFF2-40B4-BE49-F238E27FC236}">
                <a16:creationId xmlns:a16="http://schemas.microsoft.com/office/drawing/2014/main" id="{871D47CE-231A-4B87-9A25-07E1511F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0" name="统一风格-server 机架状态-84">
            <a:extLst xmlns:a="http://schemas.openxmlformats.org/drawingml/2006/main">
              <a:ext uri="{FF2B5EF4-FFF2-40B4-BE49-F238E27FC236}">
                <a16:creationId xmlns:a16="http://schemas.microsoft.com/office/drawing/2014/main" id="{784A0038-FEBC-45D3-A4D9-2CD6C085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1" name="统一风格-server 指示灯-85">
            <a:extLst xmlns:a="http://schemas.openxmlformats.org/drawingml/2006/main">
              <a:ext uri="{FF2B5EF4-FFF2-40B4-BE49-F238E27FC236}">
                <a16:creationId xmlns:a16="http://schemas.microsoft.com/office/drawing/2014/main" id="{82CCD180-ED0D-41B2-A509-C6F0121F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" name="统一风格-server 服务器机架-86">
            <a:extLst xmlns:a="http://schemas.openxmlformats.org/drawingml/2006/main">
              <a:ext uri="{FF2B5EF4-FFF2-40B4-BE49-F238E27FC236}">
                <a16:creationId xmlns:a16="http://schemas.microsoft.com/office/drawing/2014/main" id="{D2700B6E-2ABE-4CB3-B7B1-207ED2F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3" name="统一风格-server 机架状态-87">
            <a:extLst xmlns:a="http://schemas.openxmlformats.org/drawingml/2006/main">
              <a:ext uri="{FF2B5EF4-FFF2-40B4-BE49-F238E27FC236}">
                <a16:creationId xmlns:a16="http://schemas.microsoft.com/office/drawing/2014/main" id="{D88984FE-CD46-4A2E-9E0B-2A0E754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4" name="统一风格-server 指示灯-88">
            <a:extLst xmlns:a="http://schemas.openxmlformats.org/drawingml/2006/main">
              <a:ext uri="{FF2B5EF4-FFF2-40B4-BE49-F238E27FC236}">
                <a16:creationId xmlns:a16="http://schemas.microsoft.com/office/drawing/2014/main" id="{BAAC6500-5AD6-4665-8F17-81963C8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2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" name="统一风格-文字 Web 服务器 1-89">
            <a:extLst xmlns:a="http://schemas.openxmlformats.org/drawingml/2006/main">
              <a:ext uri="{FF2B5EF4-FFF2-40B4-BE49-F238E27FC236}">
                <a16:creationId xmlns:a16="http://schemas.microsoft.com/office/drawing/2014/main" id="{9FF6F20E-DB8B-41A4-A58F-C48A2D9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6" y="4159522"/>
            <a:ext cx="1298756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1</a:t>
            </a:r>
          </a:p>
        </p:txBody>
      </p:sp>
      <p:sp>
        <p:nvSpPr>
          <p:cNvPr id="26" name="统一风格-server 服务器机架-90">
            <a:extLst xmlns:a="http://schemas.openxmlformats.org/drawingml/2006/main">
              <a:ext uri="{FF2B5EF4-FFF2-40B4-BE49-F238E27FC236}">
                <a16:creationId xmlns:a16="http://schemas.microsoft.com/office/drawing/2014/main" id="{FB23998E-BD8B-401E-95A7-8AA5540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7" name="统一风格-server 机架状态-91">
            <a:extLst xmlns:a="http://schemas.openxmlformats.org/drawingml/2006/main">
              <a:ext uri="{FF2B5EF4-FFF2-40B4-BE49-F238E27FC236}">
                <a16:creationId xmlns:a16="http://schemas.microsoft.com/office/drawing/2014/main" id="{B5065735-39DC-441A-A45D-E87F943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28" name="统一风格-server 指示灯-92">
            <a:extLst xmlns:a="http://schemas.openxmlformats.org/drawingml/2006/main">
              <a:ext uri="{FF2B5EF4-FFF2-40B4-BE49-F238E27FC236}">
                <a16:creationId xmlns:a16="http://schemas.microsoft.com/office/drawing/2014/main" id="{FC1AC8A8-310D-472B-8CC8-4361855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" name="统一风格-server 服务器机架-93">
            <a:extLst xmlns:a="http://schemas.openxmlformats.org/drawingml/2006/main">
              <a:ext uri="{FF2B5EF4-FFF2-40B4-BE49-F238E27FC236}">
                <a16:creationId xmlns:a16="http://schemas.microsoft.com/office/drawing/2014/main" id="{534DEB60-2BEC-451A-AB0D-5972BD03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30" name="统一风格-server 机架状态-94">
            <a:extLst xmlns:a="http://schemas.openxmlformats.org/drawingml/2006/main">
              <a:ext uri="{FF2B5EF4-FFF2-40B4-BE49-F238E27FC236}">
                <a16:creationId xmlns:a16="http://schemas.microsoft.com/office/drawing/2014/main" id="{E064B68A-1051-43F2-A8C0-0B7B758E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31" name="统一风格-server 指示灯-95">
            <a:extLst xmlns:a="http://schemas.openxmlformats.org/drawingml/2006/main">
              <a:ext uri="{FF2B5EF4-FFF2-40B4-BE49-F238E27FC236}">
                <a16:creationId xmlns:a16="http://schemas.microsoft.com/office/drawing/2014/main" id="{8E136C3C-C3D0-40A1-BF51-371BD638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" name="统一风格-server 服务器机架-96">
            <a:extLst xmlns:a="http://schemas.openxmlformats.org/drawingml/2006/main">
              <a:ext uri="{FF2B5EF4-FFF2-40B4-BE49-F238E27FC236}">
                <a16:creationId xmlns:a16="http://schemas.microsoft.com/office/drawing/2014/main" id="{3C2CD106-1343-43AC-BD7D-D4226B08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33" name="统一风格-server 机架状态-97">
            <a:extLst xmlns:a="http://schemas.openxmlformats.org/drawingml/2006/main">
              <a:ext uri="{FF2B5EF4-FFF2-40B4-BE49-F238E27FC236}">
                <a16:creationId xmlns:a16="http://schemas.microsoft.com/office/drawing/2014/main" id="{A31D0A5D-C55D-411A-9035-A8F286B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34" name="统一风格-server 指示灯-98">
            <a:extLst xmlns:a="http://schemas.openxmlformats.org/drawingml/2006/main">
              <a:ext uri="{FF2B5EF4-FFF2-40B4-BE49-F238E27FC236}">
                <a16:creationId xmlns:a16="http://schemas.microsoft.com/office/drawing/2014/main" id="{4C4725E5-295A-4B5E-8132-1811DABD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11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5" name="统一风格-文字 Web 服务器 2-99">
            <a:extLst xmlns:a="http://schemas.openxmlformats.org/drawingml/2006/main">
              <a:ext uri="{FF2B5EF4-FFF2-40B4-BE49-F238E27FC236}">
                <a16:creationId xmlns:a16="http://schemas.microsoft.com/office/drawing/2014/main" id="{6CA9EFC1-0392-4D38-B5F6-23D7093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155" y="4159522"/>
            <a:ext cx="1298756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2</a:t>
            </a:r>
          </a:p>
        </p:txBody>
      </p:sp>
      <p:cxnSp>
        <p:nvCxnSpPr>
          <p:cNvPr id="36" name="统一拓扑-anatomy-连线-1">
            <a:extLst xmlns:a="http://schemas.openxmlformats.org/drawingml/2006/main">
              <a:ext uri="{FF2B5EF4-FFF2-40B4-BE49-F238E27FC236}">
                <a16:creationId xmlns:a16="http://schemas.microsoft.com/office/drawing/2014/main" id="{4A7E72F3-1F6C-43DE-B6AC-8F249F3886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18468" y="4701449"/>
            <a:ext cx="0" cy="457835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7" name="统一拓扑-anatomy-连线-2">
            <a:extLst xmlns:a="http://schemas.openxmlformats.org/drawingml/2006/main">
              <a:ext uri="{FF2B5EF4-FFF2-40B4-BE49-F238E27FC236}">
                <a16:creationId xmlns:a16="http://schemas.microsoft.com/office/drawing/2014/main" id="{AA455734-DB34-430E-B10A-A461E968B1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18468" y="5159284"/>
            <a:ext cx="457835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sp>
        <p:nvSpPr>
          <p:cNvPr id="38" name="统一风格-anatomy 子网边界-100">
            <a:extLst xmlns:a="http://schemas.openxmlformats.org/drawingml/2006/main">
              <a:ext uri="{FF2B5EF4-FFF2-40B4-BE49-F238E27FC236}">
                <a16:creationId xmlns:a16="http://schemas.microsoft.com/office/drawing/2014/main" id="{E1586400-7086-479C-BFAF-94D59B0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023" y="2851422"/>
            <a:ext cx="3606619" cy="1850027"/>
          </a:xfrm>
          <a:prstGeom xmlns:a="http://schemas.openxmlformats.org/drawingml/2006/main" prst="roundRect">
            <a:avLst>
              <a:gd name="adj" fmla="val 4634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8409">
            <a:solidFill>
              <a:srgbClr val="B7CBEA"/>
            </a:solidFill>
          </a:ln>
        </p:spPr>
      </p:sp>
      <p:sp>
        <p:nvSpPr>
          <p:cNvPr id="39" name="统一风格-文字 App 子网  10.20.10.0/24-101">
            <a:extLst xmlns:a="http://schemas.openxmlformats.org/drawingml/2006/main">
              <a:ext uri="{FF2B5EF4-FFF2-40B4-BE49-F238E27FC236}">
                <a16:creationId xmlns:a16="http://schemas.microsoft.com/office/drawing/2014/main" id="{50780012-BF41-47A6-8609-7C82B1C0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833" y="2972889"/>
            <a:ext cx="3335655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子网  10.20.10.0/24</a:t>
            </a:r>
          </a:p>
        </p:txBody>
      </p:sp>
      <p:sp>
        <p:nvSpPr>
          <p:cNvPr id="40" name="统一风格-server 服务器机架-102">
            <a:extLst xmlns:a="http://schemas.openxmlformats.org/drawingml/2006/main">
              <a:ext uri="{FF2B5EF4-FFF2-40B4-BE49-F238E27FC236}">
                <a16:creationId xmlns:a16="http://schemas.microsoft.com/office/drawing/2014/main" id="{DD825626-A1BB-40F9-ADC6-2E3006D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1" name="统一风格-server 机架状态-103">
            <a:extLst xmlns:a="http://schemas.openxmlformats.org/drawingml/2006/main">
              <a:ext uri="{FF2B5EF4-FFF2-40B4-BE49-F238E27FC236}">
                <a16:creationId xmlns:a16="http://schemas.microsoft.com/office/drawing/2014/main" id="{AAC4B3B7-72F8-480A-972E-B9D5968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2" name="统一风格-server 指示灯-104">
            <a:extLst xmlns:a="http://schemas.openxmlformats.org/drawingml/2006/main">
              <a:ext uri="{FF2B5EF4-FFF2-40B4-BE49-F238E27FC236}">
                <a16:creationId xmlns:a16="http://schemas.microsoft.com/office/drawing/2014/main" id="{D33D0FD4-94D6-4533-A491-A842852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3" name="统一风格-server 服务器机架-105">
            <a:extLst xmlns:a="http://schemas.openxmlformats.org/drawingml/2006/main">
              <a:ext uri="{FF2B5EF4-FFF2-40B4-BE49-F238E27FC236}">
                <a16:creationId xmlns:a16="http://schemas.microsoft.com/office/drawing/2014/main" id="{3F2C7BA9-1A4B-409D-843A-3B757CA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4" name="统一风格-server 机架状态-106">
            <a:extLst xmlns:a="http://schemas.openxmlformats.org/drawingml/2006/main">
              <a:ext uri="{FF2B5EF4-FFF2-40B4-BE49-F238E27FC236}">
                <a16:creationId xmlns:a16="http://schemas.microsoft.com/office/drawing/2014/main" id="{2F062260-34ED-4F23-8E0C-5A03258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5" name="统一风格-server 指示灯-107">
            <a:extLst xmlns:a="http://schemas.openxmlformats.org/drawingml/2006/main">
              <a:ext uri="{FF2B5EF4-FFF2-40B4-BE49-F238E27FC236}">
                <a16:creationId xmlns:a16="http://schemas.microsoft.com/office/drawing/2014/main" id="{C9AC7ACB-DDDB-4853-B26B-E6669C15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6" name="统一风格-server 服务器机架-108">
            <a:extLst xmlns:a="http://schemas.openxmlformats.org/drawingml/2006/main">
              <a:ext uri="{FF2B5EF4-FFF2-40B4-BE49-F238E27FC236}">
                <a16:creationId xmlns:a16="http://schemas.microsoft.com/office/drawing/2014/main" id="{705C05A9-E807-4B47-B810-525479D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7" name="统一风格-server 机架状态-109">
            <a:extLst xmlns:a="http://schemas.openxmlformats.org/drawingml/2006/main">
              <a:ext uri="{FF2B5EF4-FFF2-40B4-BE49-F238E27FC236}">
                <a16:creationId xmlns:a16="http://schemas.microsoft.com/office/drawing/2014/main" id="{FC623A40-3B13-47F7-80E6-8E7ADAF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48" name="统一风格-server 指示灯-110">
            <a:extLst xmlns:a="http://schemas.openxmlformats.org/drawingml/2006/main">
              <a:ext uri="{FF2B5EF4-FFF2-40B4-BE49-F238E27FC236}">
                <a16:creationId xmlns:a16="http://schemas.microsoft.com/office/drawing/2014/main" id="{02E754F9-D9D9-48A1-893E-BAED31F8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386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9" name="统一风格-文字 App 服务器 1-111">
            <a:extLst xmlns:a="http://schemas.openxmlformats.org/drawingml/2006/main">
              <a:ext uri="{FF2B5EF4-FFF2-40B4-BE49-F238E27FC236}">
                <a16:creationId xmlns:a16="http://schemas.microsoft.com/office/drawing/2014/main" id="{7C44AE88-FE69-4D8E-B294-34E8FF7D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30" y="4159522"/>
            <a:ext cx="1298756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1</a:t>
            </a:r>
          </a:p>
        </p:txBody>
      </p:sp>
      <p:sp>
        <p:nvSpPr>
          <p:cNvPr id="50" name="统一风格-server 服务器机架-112">
            <a:extLst xmlns:a="http://schemas.openxmlformats.org/drawingml/2006/main">
              <a:ext uri="{FF2B5EF4-FFF2-40B4-BE49-F238E27FC236}">
                <a16:creationId xmlns:a16="http://schemas.microsoft.com/office/drawing/2014/main" id="{16DC4E64-66D5-441C-BCE1-D8AA5DA5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1" name="统一风格-server 机架状态-113">
            <a:extLst xmlns:a="http://schemas.openxmlformats.org/drawingml/2006/main">
              <a:ext uri="{FF2B5EF4-FFF2-40B4-BE49-F238E27FC236}">
                <a16:creationId xmlns:a16="http://schemas.microsoft.com/office/drawing/2014/main" id="{56B9A77C-383B-41BC-9B13-3B8E5561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2" name="统一风格-server 指示灯-114">
            <a:extLst xmlns:a="http://schemas.openxmlformats.org/drawingml/2006/main">
              <a:ext uri="{FF2B5EF4-FFF2-40B4-BE49-F238E27FC236}">
                <a16:creationId xmlns:a16="http://schemas.microsoft.com/office/drawing/2014/main" id="{ED7A086E-1C27-46D0-ABAC-6C3B8E15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3" name="统一风格-server 服务器机架-115">
            <a:extLst xmlns:a="http://schemas.openxmlformats.org/drawingml/2006/main">
              <a:ext uri="{FF2B5EF4-FFF2-40B4-BE49-F238E27FC236}">
                <a16:creationId xmlns:a16="http://schemas.microsoft.com/office/drawing/2014/main" id="{F36AD69D-B1C1-4343-974D-D05ED54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4" name="统一风格-server 机架状态-116">
            <a:extLst xmlns:a="http://schemas.openxmlformats.org/drawingml/2006/main">
              <a:ext uri="{FF2B5EF4-FFF2-40B4-BE49-F238E27FC236}">
                <a16:creationId xmlns:a16="http://schemas.microsoft.com/office/drawing/2014/main" id="{95B34E20-D04E-4ECC-A598-90DEBB1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5" name="统一风格-server 指示灯-117">
            <a:extLst xmlns:a="http://schemas.openxmlformats.org/drawingml/2006/main">
              <a:ext uri="{FF2B5EF4-FFF2-40B4-BE49-F238E27FC236}">
                <a16:creationId xmlns:a16="http://schemas.microsoft.com/office/drawing/2014/main" id="{571AA808-AD5F-481C-A2AD-0C0A82F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6" name="统一风格-server 服务器机架-118">
            <a:extLst xmlns:a="http://schemas.openxmlformats.org/drawingml/2006/main">
              <a:ext uri="{FF2B5EF4-FFF2-40B4-BE49-F238E27FC236}">
                <a16:creationId xmlns:a16="http://schemas.microsoft.com/office/drawing/2014/main" id="{1F550F56-068A-4A90-92D6-43FBE9B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7" name="统一风格-server 机架状态-119">
            <a:extLst xmlns:a="http://schemas.openxmlformats.org/drawingml/2006/main">
              <a:ext uri="{FF2B5EF4-FFF2-40B4-BE49-F238E27FC236}">
                <a16:creationId xmlns:a16="http://schemas.microsoft.com/office/drawing/2014/main" id="{D0AB5591-9337-400F-9742-FDBD257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1577" cap="rnd">
            <a:solidFill>
              <a:srgbClr val="2053C3"/>
            </a:solidFill>
            <a:round/>
          </a:ln>
        </p:spPr>
      </p:sp>
      <p:sp>
        <p:nvSpPr>
          <p:cNvPr id="58" name="统一风格-server 指示灯-120">
            <a:extLst xmlns:a="http://schemas.openxmlformats.org/drawingml/2006/main">
              <a:ext uri="{FF2B5EF4-FFF2-40B4-BE49-F238E27FC236}">
                <a16:creationId xmlns:a16="http://schemas.microsoft.com/office/drawing/2014/main" id="{20126F7F-1327-4B5F-B633-4BE444AF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3458754"/>
            <a:ext cx="541927" cy="541927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9" name="统一风格-文字 App 服务器 2-121">
            <a:extLst xmlns:a="http://schemas.openxmlformats.org/drawingml/2006/main">
              <a:ext uri="{FF2B5EF4-FFF2-40B4-BE49-F238E27FC236}">
                <a16:creationId xmlns:a16="http://schemas.microsoft.com/office/drawing/2014/main" id="{B427682D-A09F-464B-A89D-5704406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019" y="4159522"/>
            <a:ext cx="1298756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2</a:t>
            </a:r>
          </a:p>
        </p:txBody>
      </p:sp>
      <p:cxnSp>
        <p:nvCxnSpPr>
          <p:cNvPr id="60" name="统一拓扑-anatomy-连线-3">
            <a:extLst xmlns:a="http://schemas.openxmlformats.org/drawingml/2006/main">
              <a:ext uri="{FF2B5EF4-FFF2-40B4-BE49-F238E27FC236}">
                <a16:creationId xmlns:a16="http://schemas.microsoft.com/office/drawing/2014/main" id="{E706801A-96D9-4506-A297-BB3DC1C82F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49332" y="4701449"/>
            <a:ext cx="0" cy="457835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61" name="统一拓扑-anatomy-连线-4">
            <a:extLst xmlns:a="http://schemas.openxmlformats.org/drawingml/2006/main">
              <a:ext uri="{FF2B5EF4-FFF2-40B4-BE49-F238E27FC236}">
                <a16:creationId xmlns:a16="http://schemas.microsoft.com/office/drawing/2014/main" id="{30BA7156-9866-4E52-A59E-104E422122D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991497" y="5159284"/>
            <a:ext cx="457835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sp>
        <p:nvSpPr>
          <p:cNvPr id="62" name="统一风格-anatomy VPC 路由表模块玻璃后沿-122">
            <a:extLst xmlns:a="http://schemas.openxmlformats.org/drawingml/2006/main">
              <a:ext uri="{FF2B5EF4-FFF2-40B4-BE49-F238E27FC236}">
                <a16:creationId xmlns:a16="http://schemas.microsoft.com/office/drawing/2014/main" id="{3EA89FAB-BD5B-4B16-B0E9-91AD24B8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4832259"/>
            <a:ext cx="2915194" cy="672737"/>
          </a:xfrm>
          <a:prstGeom xmlns:a="http://schemas.openxmlformats.org/drawingml/2006/main" prst="roundRect">
            <a:avLst>
              <a:gd name="adj" fmla="val 127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统一风格-anatomy VPC 路由表模块-123">
            <a:extLst xmlns:a="http://schemas.openxmlformats.org/drawingml/2006/main">
              <a:ext uri="{FF2B5EF4-FFF2-40B4-BE49-F238E27FC236}">
                <a16:creationId xmlns:a16="http://schemas.microsoft.com/office/drawing/2014/main" id="{7DA3A3EF-ED93-4D5D-AB52-806AAF73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4832259"/>
            <a:ext cx="2915194" cy="672737"/>
          </a:xfrm>
          <a:prstGeom xmlns:a="http://schemas.openxmlformats.org/drawingml/2006/main" prst="roundRect">
            <a:avLst>
              <a:gd name="adj" fmla="val 127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4" name="统一风格-anatomy VPC 路由表模块玻璃内沿-124">
            <a:extLst xmlns:a="http://schemas.openxmlformats.org/drawingml/2006/main">
              <a:ext uri="{FF2B5EF4-FFF2-40B4-BE49-F238E27FC236}">
                <a16:creationId xmlns:a16="http://schemas.microsoft.com/office/drawing/2014/main" id="{C6615555-D42C-4F9C-9D74-DB168879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162" y="4845118"/>
            <a:ext cx="2889477" cy="647020"/>
          </a:xfrm>
          <a:prstGeom xmlns:a="http://schemas.openxmlformats.org/drawingml/2006/main" prst="roundRect">
            <a:avLst>
              <a:gd name="adj" fmla="val 113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5" name="统一风格-anatomy VPC 路由表模块透光反射面-125">
            <a:extLst xmlns:a="http://schemas.openxmlformats.org/drawingml/2006/main">
              <a:ext uri="{FF2B5EF4-FFF2-40B4-BE49-F238E27FC236}">
                <a16:creationId xmlns:a16="http://schemas.microsoft.com/office/drawing/2014/main" id="{16D55275-9383-4331-A8AD-3B522F2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353" y="4851309"/>
            <a:ext cx="2877094" cy="634637"/>
          </a:xfrm>
          <a:custGeom xmlns:a="http://schemas.openxmlformats.org/drawingml/2006/main">
            <a:pathLst>
              <a:path w="2877094" h="634637">
                <a:moveTo>
                  <a:pt x="76200" y="0"/>
                </a:moveTo>
                <a:lnTo>
                  <a:pt x="1841340" y="0"/>
                </a:lnTo>
                <a:lnTo>
                  <a:pt x="748045" y="634637"/>
                </a:lnTo>
                <a:lnTo>
                  <a:pt x="76200" y="634637"/>
                </a:lnTo>
                <a:cubicBezTo>
                  <a:pt x="28575" y="634637"/>
                  <a:pt x="0" y="606062"/>
                  <a:pt x="0" y="55843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66" name="统一风格-anatomy VPC 路由表模块边缘高光-126">
            <a:extLst xmlns:a="http://schemas.openxmlformats.org/drawingml/2006/main">
              <a:ext uri="{FF2B5EF4-FFF2-40B4-BE49-F238E27FC236}">
                <a16:creationId xmlns:a16="http://schemas.microsoft.com/office/drawing/2014/main" id="{E077A203-F06C-4277-A407-527E42F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4832259"/>
            <a:ext cx="2915194" cy="672737"/>
          </a:xfrm>
          <a:custGeom xmlns:a="http://schemas.openxmlformats.org/drawingml/2006/main">
            <a:pathLst>
              <a:path w="2915194" h="672737">
                <a:moveTo>
                  <a:pt x="95250" y="9525"/>
                </a:moveTo>
                <a:lnTo>
                  <a:pt x="2819944" y="9525"/>
                </a:lnTo>
                <a:cubicBezTo>
                  <a:pt x="2867569" y="9525"/>
                  <a:pt x="2905669" y="47625"/>
                  <a:pt x="2905669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7" name="统一风格-route-table VPC 路由表外框-127">
            <a:extLst xmlns:a="http://schemas.openxmlformats.org/drawingml/2006/main">
              <a:ext uri="{FF2B5EF4-FFF2-40B4-BE49-F238E27FC236}">
                <a16:creationId xmlns:a16="http://schemas.microsoft.com/office/drawing/2014/main" id="{05FFD414-B6FA-4E05-A0EA-BCF9BC75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4944382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8" name="统一风格-route-table 路由表列与表头-128">
            <a:extLst xmlns:a="http://schemas.openxmlformats.org/drawingml/2006/main">
              <a:ext uri="{FF2B5EF4-FFF2-40B4-BE49-F238E27FC236}">
                <a16:creationId xmlns:a16="http://schemas.microsoft.com/office/drawing/2014/main" id="{8F57F03A-C39F-4C5E-BE25-A2504E7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4944382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9" name="统一风格-route-table 目的网段条目-129">
            <a:extLst xmlns:a="http://schemas.openxmlformats.org/drawingml/2006/main">
              <a:ext uri="{FF2B5EF4-FFF2-40B4-BE49-F238E27FC236}">
                <a16:creationId xmlns:a16="http://schemas.microsoft.com/office/drawing/2014/main" id="{8D90DA1C-0592-490C-93A9-8110E98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4944382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0" name="统一风格-route-table 下一跳箭头-130">
            <a:extLst xmlns:a="http://schemas.openxmlformats.org/drawingml/2006/main">
              <a:ext uri="{FF2B5EF4-FFF2-40B4-BE49-F238E27FC236}">
                <a16:creationId xmlns:a16="http://schemas.microsoft.com/office/drawing/2014/main" id="{1D9EEE86-3F84-429A-B790-A33BD143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4944382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1" name="统一风格-文字 VPC 路由表-131">
            <a:extLst xmlns:a="http://schemas.openxmlformats.org/drawingml/2006/main">
              <a:ext uri="{FF2B5EF4-FFF2-40B4-BE49-F238E27FC236}">
                <a16:creationId xmlns:a16="http://schemas.microsoft.com/office/drawing/2014/main" id="{64B4E77A-BAC5-44BF-861F-E0F0C691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63" y="5000444"/>
            <a:ext cx="1934119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路由表</a:t>
            </a:r>
          </a:p>
        </p:txBody>
      </p:sp>
      <p:sp>
        <p:nvSpPr>
          <p:cNvPr id="72" name="统一风格-文字 子网关联决定实际生效范围-132">
            <a:extLst xmlns:a="http://schemas.openxmlformats.org/drawingml/2006/main">
              <a:ext uri="{FF2B5EF4-FFF2-40B4-BE49-F238E27FC236}">
                <a16:creationId xmlns:a16="http://schemas.microsoft.com/office/drawing/2014/main" id="{57F82DE7-B91E-4314-911D-E903318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186" y="5561058"/>
            <a:ext cx="4111171" cy="233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子网关联决定实际生效范围</a:t>
            </a:r>
          </a:p>
        </p:txBody>
      </p:sp>
      <p:sp>
        <p:nvSpPr>
          <p:cNvPr id="7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7CCD76B8-5C4B-4ABE-AECD-C15FCCC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7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26A1CB6-24D4-4D00-A9C0-568C4A28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5" name="txt-74">
            <a:extLst xmlns:a="http://schemas.openxmlformats.org/drawingml/2006/main">
              <a:ext uri="{FF2B5EF4-FFF2-40B4-BE49-F238E27FC236}">
                <a16:creationId xmlns:a16="http://schemas.microsoft.com/office/drawing/2014/main" id="{1ECBF121-43B9-40CF-88E6-EC34828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76" name="txt-75">
            <a:extLst xmlns:a="http://schemas.openxmlformats.org/drawingml/2006/main">
              <a:ext uri="{FF2B5EF4-FFF2-40B4-BE49-F238E27FC236}">
                <a16:creationId xmlns:a16="http://schemas.microsoft.com/office/drawing/2014/main" id="{56E8E410-A7DF-43FA-A546-99980459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承载地址空间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与逻辑网络边界</a:t>
            </a:r>
          </a:p>
        </p:txBody>
      </p:sp>
      <p:sp>
        <p:nvSpPr>
          <p:cNvPr id="7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ABC1D86-8516-43BE-B71E-D144A5A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8" name="txt-77">
            <a:extLst xmlns:a="http://schemas.openxmlformats.org/drawingml/2006/main">
              <a:ext uri="{FF2B5EF4-FFF2-40B4-BE49-F238E27FC236}">
                <a16:creationId xmlns:a16="http://schemas.microsoft.com/office/drawing/2014/main" id="{D70932D4-5E07-4C0D-A6A0-FC743BB8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子网</a:t>
            </a:r>
          </a:p>
        </p:txBody>
      </p:sp>
      <p:sp>
        <p:nvSpPr>
          <p:cNvPr id="79" name="txt-78">
            <a:extLst xmlns:a="http://schemas.openxmlformats.org/drawingml/2006/main">
              <a:ext uri="{FF2B5EF4-FFF2-40B4-BE49-F238E27FC236}">
                <a16:creationId xmlns:a16="http://schemas.microsoft.com/office/drawing/2014/main" id="{89B5BC24-BB80-4288-9C98-504CB0A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组织业务层与容量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划分后仍需访问控制</a:t>
            </a:r>
          </a:p>
        </p:txBody>
      </p:sp>
      <p:sp>
        <p:nvSpPr>
          <p:cNvPr id="8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A54418A-756E-4F37-8F4E-852D129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1" name="txt-80">
            <a:extLst xmlns:a="http://schemas.openxmlformats.org/drawingml/2006/main">
              <a:ext uri="{FF2B5EF4-FFF2-40B4-BE49-F238E27FC236}">
                <a16:creationId xmlns:a16="http://schemas.microsoft.com/office/drawing/2014/main" id="{E6EC063C-5137-4AD7-BFED-1E4520E7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路由表</a:t>
            </a:r>
          </a:p>
        </p:txBody>
      </p:sp>
      <p:sp>
        <p:nvSpPr>
          <p:cNvPr id="82" name="txt-81">
            <a:extLst xmlns:a="http://schemas.openxmlformats.org/drawingml/2006/main">
              <a:ext uri="{FF2B5EF4-FFF2-40B4-BE49-F238E27FC236}">
                <a16:creationId xmlns:a16="http://schemas.microsoft.com/office/drawing/2014/main" id="{A8269357-3182-4342-9927-DDB3D0E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1895441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636F03FE-120D-4955-8623-E9EEA5EA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A7AD289-DBF9-4311-94B1-52DF6965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 规划从可用容量与未来互联开始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52E541FF-37D7-4AA7-AC7E-A77B310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地址池优先采用 RFC 1918 私网段，统一核对 VPC、IDC、VPN 与容器网段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A34CF40-6AFC-452A-A475-4F09C37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示例地址不代表可直接套用的企业地址池。可分配 IP 数需扣除平台保留地址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4A1D7F9-BD60-4AD6-82B3-4190CD3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12">
            <a:extLst xmlns:a="http://schemas.openxmlformats.org/drawingml/2006/main">
              <a:ext uri="{FF2B5EF4-FFF2-40B4-BE49-F238E27FC236}">
                <a16:creationId xmlns:a16="http://schemas.microsoft.com/office/drawing/2014/main" id="{B4263E45-C688-44B1-9EDF-8239B17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r">
              <ns1:def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12</ns1:t>
            </ns1:r>
          </ns1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D108EDF3-B0ED-4B50-9E86-B7AA4090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532E19F0-4585-4AC3-99E6-659F457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生产应用地址池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EBD5CD25-E376-41FA-8ACB-C9A7A4A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台账关联区域、环境、业务、</a:t>
            </a:r>
          </a:p>
          <a:p xmlns:a="http://schemas.openxmlformats.org/drawingml/2006/main"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负责人和工单。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6886D9D0-19F9-41FC-A4C6-CCE9F9F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87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互联前统一查冲突，</ns1:t>
            </ns1:r>
          </ns1:p>
          <ns2:p xmlns:ns2="http://schemas.openxmlformats.org/drawingml/2006/main">
            <ns2:pPr algn="l">
              <ns2:defRPr sz="1875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875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rPr>
              <ns2:t>/24 容量扣除平台保留地址。</ns2:t>
            </ns2:r>
          </ns2:p>
        </p:txBody>
      </p:sp>
      <p:sp>
        <p:nvSpPr>
          <p:cNvPr id="11" name="统一风格-表格玻璃容器玻璃后沿-127">
            <a:extLst xmlns:a="http://schemas.openxmlformats.org/drawingml/2006/main">
              <a:ext uri="{FF2B5EF4-FFF2-40B4-BE49-F238E27FC236}">
                <a16:creationId xmlns:a16="http://schemas.microsoft.com/office/drawing/2014/main" id="{3979598C-1A36-46D0-A5AD-36FED35F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05025"/>
            <a:ext cx="6057900" cy="3486150"/>
          </a:xfrm>
          <a:prstGeom xmlns:a="http://schemas.openxmlformats.org/drawingml/2006/main" prst="roundRect">
            <a:avLst>
              <a:gd name="adj" fmla="val 24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2" name="统一风格-表格玻璃容器-128">
            <a:extLst xmlns:a="http://schemas.openxmlformats.org/drawingml/2006/main">
              <a:ext uri="{FF2B5EF4-FFF2-40B4-BE49-F238E27FC236}">
                <a16:creationId xmlns:a16="http://schemas.microsoft.com/office/drawing/2014/main" id="{3205B136-989E-4504-81A6-8181B82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05025"/>
            <a:ext cx="6057900" cy="3486150"/>
          </a:xfrm>
          <a:prstGeom xmlns:a="http://schemas.openxmlformats.org/drawingml/2006/main" prst="roundRect">
            <a:avLst>
              <a:gd name="adj" fmla="val 24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表格玻璃容器玻璃内沿-129">
            <a:extLst xmlns:a="http://schemas.openxmlformats.org/drawingml/2006/main">
              <a:ext uri="{FF2B5EF4-FFF2-40B4-BE49-F238E27FC236}">
                <a16:creationId xmlns:a16="http://schemas.microsoft.com/office/drawing/2014/main" id="{17A650C9-BA7D-4F96-97D5-7A0CC20B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559" y="2117884"/>
            <a:ext cx="6032183" cy="3460433"/>
          </a:xfrm>
          <a:prstGeom xmlns:a="http://schemas.openxmlformats.org/drawingml/2006/main" prst="roundRect">
            <a:avLst>
              <a:gd name="adj" fmla="val 21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表格玻璃容器边缘高光-130">
            <a:extLst xmlns:a="http://schemas.openxmlformats.org/drawingml/2006/main">
              <a:ext uri="{FF2B5EF4-FFF2-40B4-BE49-F238E27FC236}">
                <a16:creationId xmlns:a16="http://schemas.microsoft.com/office/drawing/2014/main" id="{AB398238-9E2B-40B6-8D4E-1978948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05025"/>
            <a:ext cx="6057900" cy="3486150"/>
          </a:xfrm>
          <a:custGeom xmlns:a="http://schemas.openxmlformats.org/drawingml/2006/main">
            <a:pathLst>
              <a:path w="6057900" h="3486150">
                <a:moveTo>
                  <a:pt x="95250" y="9525"/>
                </a:moveTo>
                <a:lnTo>
                  <a:pt x="5962650" y="9525"/>
                </a:lnTo>
                <a:cubicBezTo>
                  <a:pt x="6010275" y="9525"/>
                  <a:pt x="6048375" y="47625"/>
                  <a:pt x="60483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68D8E-3F3F-4A46-950B-CBB5EB0A03BE}"/>
              </a:ext>
            </a:extLst>
          </p:cNvPr>
          <p:cNvGraphicFramePr/>
          <p:nvPr/>
        </p:nvGraphicFramePr>
        <p:xfrm>
          <a:off xmlns:a="http://schemas.openxmlformats.org/drawingml/2006/main" x="5676900" y="218122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</a:tblGrid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子网用途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示例网段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应用服务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10.20.10.0/24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入口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10.20.20.0/24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预留未分配范围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918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F170C91B-075D-4748-9751-A01316A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统一风格-文字 跨 VPC 连接的去程与回程检查-2">
            <a:extLst xmlns:a="http://schemas.openxmlformats.org/drawingml/2006/main">
              <a:ext uri="{FF2B5EF4-FFF2-40B4-BE49-F238E27FC236}">
                <a16:creationId xmlns:a16="http://schemas.microsoft.com/office/drawing/2014/main" id="{1A423D5C-6C3B-427F-8D55-36E6843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连接的去程与回程检查</a:t>
            </a:r>
          </a:p>
        </p:txBody>
      </p:sp>
      <p:sp>
        <p:nvSpPr>
          <p:cNvPr id="3" name="统一风格-文字 两端安全组分别核验，VPC 路由与 ER 路由分别查表-3">
            <a:extLst xmlns:a="http://schemas.openxmlformats.org/drawingml/2006/main">
              <a:ext uri="{FF2B5EF4-FFF2-40B4-BE49-F238E27FC236}">
                <a16:creationId xmlns:a16="http://schemas.microsoft.com/office/drawing/2014/main" id="{A995A358-FBE1-457A-B4D8-09C41006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两端安全组分别核验，VPC 路由与 ER 路由分别查表</a:t>
            </a:r>
          </a:p>
        </p:txBody>
      </p:sp>
      <p:sp>
        <p:nvSpPr>
          <p:cNvPr id="4" name="统一风格-应用 VPC 域玻璃后沿-4">
            <a:extLst xmlns:a="http://schemas.openxmlformats.org/drawingml/2006/main">
              <a:ext uri="{FF2B5EF4-FFF2-40B4-BE49-F238E27FC236}">
                <a16:creationId xmlns:a16="http://schemas.microsoft.com/office/drawing/2014/main" id="{596D9225-EE25-4330-844B-40D84985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3048000"/>
          </a:xfrm>
          <a:prstGeom xmlns:a="http://schemas.openxmlformats.org/drawingml/2006/main" prst="roundRect">
            <a:avLst>
              <a:gd name="adj" fmla="val 3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" name="统一风格-应用 VPC 域-5">
            <a:extLst xmlns:a="http://schemas.openxmlformats.org/drawingml/2006/main">
              <a:ext uri="{FF2B5EF4-FFF2-40B4-BE49-F238E27FC236}">
                <a16:creationId xmlns:a16="http://schemas.microsoft.com/office/drawing/2014/main" id="{53EB67F6-B007-42F5-9D61-3FAD078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3048000"/>
          </a:xfrm>
          <a:prstGeom xmlns:a="http://schemas.openxmlformats.org/drawingml/2006/main" prst="roundRect">
            <a:avLst>
              <a:gd name="adj" fmla="val 3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应用 VPC 域玻璃内沿-6">
            <a:extLst xmlns:a="http://schemas.openxmlformats.org/drawingml/2006/main">
              <a:ext uri="{FF2B5EF4-FFF2-40B4-BE49-F238E27FC236}">
                <a16:creationId xmlns:a16="http://schemas.microsoft.com/office/drawing/2014/main" id="{1F8500BF-03A5-4907-9AC7-C869CDB3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46459"/>
            <a:ext cx="2831783" cy="3022283"/>
          </a:xfrm>
          <a:prstGeom xmlns:a="http://schemas.openxmlformats.org/drawingml/2006/main" prst="roundRect">
            <a:avLst>
              <a:gd name="adj" fmla="val 259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应用 VPC 域边缘高光-7">
            <a:extLst xmlns:a="http://schemas.openxmlformats.org/drawingml/2006/main">
              <a:ext uri="{FF2B5EF4-FFF2-40B4-BE49-F238E27FC236}">
                <a16:creationId xmlns:a16="http://schemas.microsoft.com/office/drawing/2014/main" id="{D71B48F4-1B56-4FF5-841D-F78C8C19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3048000"/>
          </a:xfrm>
          <a:custGeom xmlns:a="http://schemas.openxmlformats.org/drawingml/2006/main"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" name="统一风格-数据 VPC 域玻璃后沿-8">
            <a:extLst xmlns:a="http://schemas.openxmlformats.org/drawingml/2006/main">
              <a:ext uri="{FF2B5EF4-FFF2-40B4-BE49-F238E27FC236}">
                <a16:creationId xmlns:a16="http://schemas.microsoft.com/office/drawing/2014/main" id="{11F213F0-F469-4D2F-8DD9-C9FBCAE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857500" cy="3048000"/>
          </a:xfrm>
          <a:prstGeom xmlns:a="http://schemas.openxmlformats.org/drawingml/2006/main" prst="roundRect">
            <a:avLst>
              <a:gd name="adj" fmla="val 3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9" name="统一风格-数据 VPC 域-9">
            <a:extLst xmlns:a="http://schemas.openxmlformats.org/drawingml/2006/main">
              <a:ext uri="{FF2B5EF4-FFF2-40B4-BE49-F238E27FC236}">
                <a16:creationId xmlns:a16="http://schemas.microsoft.com/office/drawing/2014/main" id="{E33813B2-6E5D-45EE-A9C5-F2F058E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857500" cy="3048000"/>
          </a:xfrm>
          <a:prstGeom xmlns:a="http://schemas.openxmlformats.org/drawingml/2006/main" prst="roundRect">
            <a:avLst>
              <a:gd name="adj" fmla="val 3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0" name="统一风格-数据 VPC 域玻璃内沿-10">
            <a:extLst xmlns:a="http://schemas.openxmlformats.org/drawingml/2006/main">
              <a:ext uri="{FF2B5EF4-FFF2-40B4-BE49-F238E27FC236}">
                <a16:creationId xmlns:a16="http://schemas.microsoft.com/office/drawing/2014/main" id="{8E89553A-7599-497B-94CB-C353BAE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759" y="2146459"/>
            <a:ext cx="2831783" cy="3022283"/>
          </a:xfrm>
          <a:prstGeom xmlns:a="http://schemas.openxmlformats.org/drawingml/2006/main" prst="roundRect">
            <a:avLst>
              <a:gd name="adj" fmla="val 259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1" name="统一风格-数据 VPC 域边缘高光-11">
            <a:extLst xmlns:a="http://schemas.openxmlformats.org/drawingml/2006/main">
              <a:ext uri="{FF2B5EF4-FFF2-40B4-BE49-F238E27FC236}">
                <a16:creationId xmlns:a16="http://schemas.microsoft.com/office/drawing/2014/main" id="{2D7F6660-D490-441C-88D2-DC84CD26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857500" cy="3048000"/>
          </a:xfrm>
          <a:custGeom xmlns:a="http://schemas.openxmlformats.org/drawingml/2006/main"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12">
            <a:extLst xmlns:a="http://schemas.openxmlformats.org/drawingml/2006/main">
              <a:ext uri="{FF2B5EF4-FFF2-40B4-BE49-F238E27FC236}">
                <a16:creationId xmlns:a16="http://schemas.microsoft.com/office/drawing/2014/main" id="{F31C5EE9-C561-45B2-8F3C-F459AC6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57425"/>
            <a:ext cx="361950" cy="3619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4411" cap="rnd">
            <a:solidFill>
              <a:srgbClr val="2053C3"/>
            </a:solidFill>
            <a:round/>
          </a:ln>
        </p:spPr>
      </p:sp>
      <p:sp>
        <p:nvSpPr>
          <p:cNvPr id="13" name="统一风格-文字 应用 VPC-13">
            <a:extLst xmlns:a="http://schemas.openxmlformats.org/drawingml/2006/main">
              <a:ext uri="{FF2B5EF4-FFF2-40B4-BE49-F238E27FC236}">
                <a16:creationId xmlns:a16="http://schemas.microsoft.com/office/drawing/2014/main" id="{28DB553F-ABD1-42EF-9FC8-0378868B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38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0.0/16-14">
            <a:extLst xmlns:a="http://schemas.openxmlformats.org/drawingml/2006/main">
              <a:ext uri="{FF2B5EF4-FFF2-40B4-BE49-F238E27FC236}">
                <a16:creationId xmlns:a16="http://schemas.microsoft.com/office/drawing/2014/main" id="{4810A9DE-6F6B-4CBA-B8D3-5505C73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86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15" name="统一风格-cloud VPC 云轮廓-15">
            <a:extLst xmlns:a="http://schemas.openxmlformats.org/drawingml/2006/main">
              <a:ext uri="{FF2B5EF4-FFF2-40B4-BE49-F238E27FC236}">
                <a16:creationId xmlns:a16="http://schemas.microsoft.com/office/drawing/2014/main" id="{731CC06F-391E-494E-8F82-DE5E7F3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57425"/>
            <a:ext cx="361950" cy="3619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4411" cap="rnd">
            <a:solidFill>
              <a:srgbClr val="2053C3"/>
            </a:solidFill>
            <a:round/>
          </a:ln>
        </p:spPr>
      </p:sp>
      <p:sp>
        <p:nvSpPr>
          <p:cNvPr id="16" name="统一风格-文字 数据 VPC-16">
            <a:extLst xmlns:a="http://schemas.openxmlformats.org/drawingml/2006/main">
              <a:ext uri="{FF2B5EF4-FFF2-40B4-BE49-F238E27FC236}">
                <a16:creationId xmlns:a16="http://schemas.microsoft.com/office/drawing/2014/main" id="{636F8907-28FF-48D2-949A-D31731B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38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17" name="统一风格-文字 10.30.0.0/16-17">
            <a:extLst xmlns:a="http://schemas.openxmlformats.org/drawingml/2006/main">
              <a:ext uri="{FF2B5EF4-FFF2-40B4-BE49-F238E27FC236}">
                <a16:creationId xmlns:a16="http://schemas.microsoft.com/office/drawing/2014/main" id="{F23652AB-269A-4803-993B-A89D9418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86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</a:t>
            </a:r>
          </a:p>
        </p:txBody>
      </p:sp>
      <p:sp>
        <p:nvSpPr>
          <p:cNvPr id="18" name="统一风格-源主机玻璃后沿-18">
            <a:extLst xmlns:a="http://schemas.openxmlformats.org/drawingml/2006/main">
              <a:ext uri="{FF2B5EF4-FFF2-40B4-BE49-F238E27FC236}">
                <a16:creationId xmlns:a16="http://schemas.microsoft.com/office/drawing/2014/main" id="{C0C5BE30-84D0-4FB7-A6A4-C114BEE0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4765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统一风格-源主机-19">
            <a:extLst xmlns:a="http://schemas.openxmlformats.org/drawingml/2006/main">
              <a:ext uri="{FF2B5EF4-FFF2-40B4-BE49-F238E27FC236}">
                <a16:creationId xmlns:a16="http://schemas.microsoft.com/office/drawing/2014/main" id="{8F79B276-7207-4303-9909-65238707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4765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源主机玻璃内沿-20">
            <a:extLst xmlns:a="http://schemas.openxmlformats.org/drawingml/2006/main">
              <a:ext uri="{FF2B5EF4-FFF2-40B4-BE49-F238E27FC236}">
                <a16:creationId xmlns:a16="http://schemas.microsoft.com/office/drawing/2014/main" id="{750B1FAE-039C-478B-83A2-A7B23642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2737009"/>
            <a:ext cx="2450783" cy="545783"/>
          </a:xfrm>
          <a:prstGeom xmlns:a="http://schemas.openxmlformats.org/drawingml/2006/main" prst="roundRect">
            <a:avLst>
              <a:gd name="adj" fmla="val 134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源主机透光反射面-21">
            <a:extLst xmlns:a="http://schemas.openxmlformats.org/drawingml/2006/main">
              <a:ext uri="{FF2B5EF4-FFF2-40B4-BE49-F238E27FC236}">
                <a16:creationId xmlns:a16="http://schemas.microsoft.com/office/drawing/2014/main" id="{82484263-0ADE-40EA-BA57-354BC8D7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438400" cy="533400"/>
          </a:xfrm>
          <a:custGeom xmlns:a="http://schemas.openxmlformats.org/drawingml/2006/main"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2" name="统一风格-源主机边缘高光-22">
            <a:extLst xmlns:a="http://schemas.openxmlformats.org/drawingml/2006/main">
              <a:ext uri="{FF2B5EF4-FFF2-40B4-BE49-F238E27FC236}">
                <a16:creationId xmlns:a16="http://schemas.microsoft.com/office/drawing/2014/main" id="{9CCBFC51-1B67-47A5-AC49-0DE5ED5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476500" cy="571500"/>
          </a:xfrm>
          <a:custGeom xmlns:a="http://schemas.openxmlformats.org/drawingml/2006/main"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server 服务器机架-23">
            <a:extLst xmlns:a="http://schemas.openxmlformats.org/drawingml/2006/main">
              <a:ext uri="{FF2B5EF4-FFF2-40B4-BE49-F238E27FC236}">
                <a16:creationId xmlns:a16="http://schemas.microsoft.com/office/drawing/2014/main" id="{317F733E-C294-40EC-AF4C-F0F0611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24" name="统一风格-server 机架状态-24">
            <a:extLst xmlns:a="http://schemas.openxmlformats.org/drawingml/2006/main">
              <a:ext uri="{FF2B5EF4-FFF2-40B4-BE49-F238E27FC236}">
                <a16:creationId xmlns:a16="http://schemas.microsoft.com/office/drawing/2014/main" id="{7FD4D2AD-A801-45E9-85EB-6FCCC81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25" name="统一风格-server 指示灯-25">
            <a:extLst xmlns:a="http://schemas.openxmlformats.org/drawingml/2006/main">
              <a:ext uri="{FF2B5EF4-FFF2-40B4-BE49-F238E27FC236}">
                <a16:creationId xmlns:a16="http://schemas.microsoft.com/office/drawing/2014/main" id="{0B44414D-9C2E-446D-990E-05DCBAF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" name="统一风格-server 服务器机架-26">
            <a:extLst xmlns:a="http://schemas.openxmlformats.org/drawingml/2006/main">
              <a:ext uri="{FF2B5EF4-FFF2-40B4-BE49-F238E27FC236}">
                <a16:creationId xmlns:a16="http://schemas.microsoft.com/office/drawing/2014/main" id="{794F7FEA-AFCC-4CE4-A9E3-ADDB644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27" name="统一风格-server 机架状态-27">
            <a:extLst xmlns:a="http://schemas.openxmlformats.org/drawingml/2006/main">
              <a:ext uri="{FF2B5EF4-FFF2-40B4-BE49-F238E27FC236}">
                <a16:creationId xmlns:a16="http://schemas.microsoft.com/office/drawing/2014/main" id="{4462F4F0-63E6-4478-BC98-0281EDD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28" name="统一风格-server 指示灯-28">
            <a:extLst xmlns:a="http://schemas.openxmlformats.org/drawingml/2006/main">
              <a:ext uri="{FF2B5EF4-FFF2-40B4-BE49-F238E27FC236}">
                <a16:creationId xmlns:a16="http://schemas.microsoft.com/office/drawing/2014/main" id="{BCDC4081-D47C-4218-8F0F-E6E980DC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" name="统一风格-server 服务器机架-29">
            <a:extLst xmlns:a="http://schemas.openxmlformats.org/drawingml/2006/main">
              <a:ext uri="{FF2B5EF4-FFF2-40B4-BE49-F238E27FC236}">
                <a16:creationId xmlns:a16="http://schemas.microsoft.com/office/drawing/2014/main" id="{0E46F294-6691-4B59-98D3-748C2766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30" name="统一风格-server 机架状态-30">
            <a:extLst xmlns:a="http://schemas.openxmlformats.org/drawingml/2006/main">
              <a:ext uri="{FF2B5EF4-FFF2-40B4-BE49-F238E27FC236}">
                <a16:creationId xmlns:a16="http://schemas.microsoft.com/office/drawing/2014/main" id="{76EB8627-0096-4297-AD98-033B3CC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31" name="统一风格-server 指示灯-31">
            <a:extLst xmlns:a="http://schemas.openxmlformats.org/drawingml/2006/main">
              <a:ext uri="{FF2B5EF4-FFF2-40B4-BE49-F238E27FC236}">
                <a16:creationId xmlns:a16="http://schemas.microsoft.com/office/drawing/2014/main" id="{3548695F-DBB8-4FA6-8F76-4C45381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" name="统一风格-文字 源主机-32">
            <a:extLst xmlns:a="http://schemas.openxmlformats.org/drawingml/2006/main">
              <a:ext uri="{FF2B5EF4-FFF2-40B4-BE49-F238E27FC236}">
                <a16:creationId xmlns:a16="http://schemas.microsoft.com/office/drawing/2014/main" id="{88224FA3-9250-4D43-8FE2-08DA50B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81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源主机</a:t>
            </a:r>
          </a:p>
        </p:txBody>
      </p:sp>
      <p:sp>
        <p:nvSpPr>
          <p:cNvPr id="33" name="统一风格-文字 10.20.10.15-33">
            <a:extLst xmlns:a="http://schemas.openxmlformats.org/drawingml/2006/main">
              <a:ext uri="{FF2B5EF4-FFF2-40B4-BE49-F238E27FC236}">
                <a16:creationId xmlns:a16="http://schemas.microsoft.com/office/drawing/2014/main" id="{711B414A-5A65-49F4-BAAC-05F7C3B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480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34" name="统一风格-源安全组 · 出方向玻璃后沿-34">
            <a:extLst xmlns:a="http://schemas.openxmlformats.org/drawingml/2006/main">
              <a:ext uri="{FF2B5EF4-FFF2-40B4-BE49-F238E27FC236}">
                <a16:creationId xmlns:a16="http://schemas.microsoft.com/office/drawing/2014/main" id="{A7FDFEAD-2BEC-4B9F-AF13-7C1635B6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476500" cy="51435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统一风格-源安全组 · 出方向-35">
            <a:extLst xmlns:a="http://schemas.openxmlformats.org/drawingml/2006/main">
              <a:ext uri="{FF2B5EF4-FFF2-40B4-BE49-F238E27FC236}">
                <a16:creationId xmlns:a16="http://schemas.microsoft.com/office/drawing/2014/main" id="{967622B6-020D-4F24-B9C0-4FEA46E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476500" cy="51435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源安全组 · 出方向玻璃内沿-36">
            <a:extLst xmlns:a="http://schemas.openxmlformats.org/drawingml/2006/main">
              <a:ext uri="{FF2B5EF4-FFF2-40B4-BE49-F238E27FC236}">
                <a16:creationId xmlns:a16="http://schemas.microsoft.com/office/drawing/2014/main" id="{0883AA7D-75D0-4C6D-9544-C59BB67A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3518059"/>
            <a:ext cx="2450783" cy="488633"/>
          </a:xfrm>
          <a:prstGeom xmlns:a="http://schemas.openxmlformats.org/drawingml/2006/main" prst="roundRect">
            <a:avLst>
              <a:gd name="adj" fmla="val 150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源安全组 · 出方向透光反射面-37">
            <a:extLst xmlns:a="http://schemas.openxmlformats.org/drawingml/2006/main">
              <a:ext uri="{FF2B5EF4-FFF2-40B4-BE49-F238E27FC236}">
                <a16:creationId xmlns:a16="http://schemas.microsoft.com/office/drawing/2014/main" id="{0AAFFA3D-3935-4369-BA9C-AAFDF5DE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438400" cy="476250"/>
          </a:xfrm>
          <a:custGeom xmlns:a="http://schemas.openxmlformats.org/drawingml/2006/main"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8" name="统一风格-源安全组 · 出方向边缘高光-38">
            <a:extLst xmlns:a="http://schemas.openxmlformats.org/drawingml/2006/main">
              <a:ext uri="{FF2B5EF4-FFF2-40B4-BE49-F238E27FC236}">
                <a16:creationId xmlns:a16="http://schemas.microsoft.com/office/drawing/2014/main" id="{DCD67A7E-2C47-4B4B-B11C-14B54093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476500" cy="514350"/>
          </a:xfrm>
          <a:custGeom xmlns:a="http://schemas.openxmlformats.org/drawingml/2006/main"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lock 安全盾-39">
            <a:extLst xmlns:a="http://schemas.openxmlformats.org/drawingml/2006/main">
              <a:ext uri="{FF2B5EF4-FFF2-40B4-BE49-F238E27FC236}">
                <a16:creationId xmlns:a16="http://schemas.microsoft.com/office/drawing/2014/main" id="{470B00CB-8A28-4E8C-9D2B-3C4D848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40" name="统一风格-lock 锁梁-40">
            <a:extLst xmlns:a="http://schemas.openxmlformats.org/drawingml/2006/main">
              <a:ext uri="{FF2B5EF4-FFF2-40B4-BE49-F238E27FC236}">
                <a16:creationId xmlns:a16="http://schemas.microsoft.com/office/drawing/2014/main" id="{F5B792D2-6DCD-4DCC-93FD-AEF746B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41" name="统一风格-lock 锁体-41">
            <a:extLst xmlns:a="http://schemas.openxmlformats.org/drawingml/2006/main">
              <a:ext uri="{FF2B5EF4-FFF2-40B4-BE49-F238E27FC236}">
                <a16:creationId xmlns:a16="http://schemas.microsoft.com/office/drawing/2014/main" id="{02AD9CA6-F9AD-4F3D-B033-40DA97CE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42" name="统一风格-lock 锁孔-42">
            <a:extLst xmlns:a="http://schemas.openxmlformats.org/drawingml/2006/main">
              <a:ext uri="{FF2B5EF4-FFF2-40B4-BE49-F238E27FC236}">
                <a16:creationId xmlns:a16="http://schemas.microsoft.com/office/drawing/2014/main" id="{D26915AD-F4F3-4C7A-AD6D-B18CA000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43" name="统一风格-文字 源安全组 · 出方向-43">
            <a:extLst xmlns:a="http://schemas.openxmlformats.org/drawingml/2006/main">
              <a:ext uri="{FF2B5EF4-FFF2-40B4-BE49-F238E27FC236}">
                <a16:creationId xmlns:a16="http://schemas.microsoft.com/office/drawing/2014/main" id="{1D4122CE-C500-4EEE-AFF9-A0374C6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29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源安全组 · 出方向</a:t>
            </a:r>
          </a:p>
        </p:txBody>
      </p:sp>
      <p:sp>
        <p:nvSpPr>
          <p:cNvPr id="44" name="统一风格-源 VPC 路由表玻璃后沿-44">
            <a:extLst xmlns:a="http://schemas.openxmlformats.org/drawingml/2006/main">
              <a:ext uri="{FF2B5EF4-FFF2-40B4-BE49-F238E27FC236}">
                <a16:creationId xmlns:a16="http://schemas.microsoft.com/office/drawing/2014/main" id="{10670F94-B8F5-4E9F-AE13-F4A4AE10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476500" cy="742950"/>
          </a:xfrm>
          <a:prstGeom xmlns:a="http://schemas.openxmlformats.org/drawingml/2006/main" prst="roundRect">
            <a:avLst>
              <a:gd name="adj" fmla="val 1153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5" name="统一风格-源 VPC 路由表-45">
            <a:extLst xmlns:a="http://schemas.openxmlformats.org/drawingml/2006/main">
              <a:ext uri="{FF2B5EF4-FFF2-40B4-BE49-F238E27FC236}">
                <a16:creationId xmlns:a16="http://schemas.microsoft.com/office/drawing/2014/main" id="{63F5A986-1BE9-4533-A5E1-07B7098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476500" cy="742950"/>
          </a:xfrm>
          <a:prstGeom xmlns:a="http://schemas.openxmlformats.org/drawingml/2006/main" prst="roundRect">
            <a:avLst>
              <a:gd name="adj" fmla="val 1153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源 VPC 路由表玻璃内沿-46">
            <a:extLst xmlns:a="http://schemas.openxmlformats.org/drawingml/2006/main">
              <a:ext uri="{FF2B5EF4-FFF2-40B4-BE49-F238E27FC236}">
                <a16:creationId xmlns:a16="http://schemas.microsoft.com/office/drawing/2014/main" id="{77BF7B63-D152-4E42-9AC5-68D6925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4299109"/>
            <a:ext cx="2450783" cy="717233"/>
          </a:xfrm>
          <a:prstGeom xmlns:a="http://schemas.openxmlformats.org/drawingml/2006/main" prst="roundRect">
            <a:avLst>
              <a:gd name="adj" fmla="val 1022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源 VPC 路由表透光反射面-47">
            <a:extLst xmlns:a="http://schemas.openxmlformats.org/drawingml/2006/main">
              <a:ext uri="{FF2B5EF4-FFF2-40B4-BE49-F238E27FC236}">
                <a16:creationId xmlns:a16="http://schemas.microsoft.com/office/drawing/2014/main" id="{49ADD31B-D7D2-40E3-90A6-9A0E63C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438400" cy="704850"/>
          </a:xfrm>
          <a:custGeom xmlns:a="http://schemas.openxmlformats.org/drawingml/2006/main"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8" name="统一风格-源 VPC 路由表边缘高光-48">
            <a:extLst xmlns:a="http://schemas.openxmlformats.org/drawingml/2006/main">
              <a:ext uri="{FF2B5EF4-FFF2-40B4-BE49-F238E27FC236}">
                <a16:creationId xmlns:a16="http://schemas.microsoft.com/office/drawing/2014/main" id="{25A9E104-C5A1-4415-9BAF-3590E92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476500" cy="742950"/>
          </a:xfrm>
          <a:custGeom xmlns:a="http://schemas.openxmlformats.org/drawingml/2006/main"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route-table VPC 路由表外框-49">
            <a:extLst xmlns:a="http://schemas.openxmlformats.org/drawingml/2006/main">
              <a:ext uri="{FF2B5EF4-FFF2-40B4-BE49-F238E27FC236}">
                <a16:creationId xmlns:a16="http://schemas.microsoft.com/office/drawing/2014/main" id="{E3F26909-E280-4249-9F20-E0756A1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0" name="统一风格-route-table 路由表列与表头-50">
            <a:extLst xmlns:a="http://schemas.openxmlformats.org/drawingml/2006/main">
              <a:ext uri="{FF2B5EF4-FFF2-40B4-BE49-F238E27FC236}">
                <a16:creationId xmlns:a16="http://schemas.microsoft.com/office/drawing/2014/main" id="{B9FCCD03-BC83-4E74-B056-64779D4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1" name="统一风格-route-table 目的网段条目-51">
            <a:extLst xmlns:a="http://schemas.openxmlformats.org/drawingml/2006/main">
              <a:ext uri="{FF2B5EF4-FFF2-40B4-BE49-F238E27FC236}">
                <a16:creationId xmlns:a16="http://schemas.microsoft.com/office/drawing/2014/main" id="{73540F41-37E2-4377-A6B2-9C6ED51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2" name="统一风格-route-table 下一跳箭头-52">
            <a:extLst xmlns:a="http://schemas.openxmlformats.org/drawingml/2006/main">
              <a:ext uri="{FF2B5EF4-FFF2-40B4-BE49-F238E27FC236}">
                <a16:creationId xmlns:a16="http://schemas.microsoft.com/office/drawing/2014/main" id="{3AC91165-741C-4A97-8579-86E6C47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3" name="统一风格-文字 源 VPC 路由表-53">
            <a:extLst xmlns:a="http://schemas.openxmlformats.org/drawingml/2006/main">
              <a:ext uri="{FF2B5EF4-FFF2-40B4-BE49-F238E27FC236}">
                <a16:creationId xmlns:a16="http://schemas.microsoft.com/office/drawing/2014/main" id="{E1B02C2A-3B42-469B-BF51-1B6789F6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VPC 路由表</a:t>
            </a:r>
          </a:p>
        </p:txBody>
      </p:sp>
      <p:sp>
        <p:nvSpPr>
          <p:cNvPr id="54" name="统一风格-文字 10.30.0.0/16 → ER-54">
            <a:extLst xmlns:a="http://schemas.openxmlformats.org/drawingml/2006/main">
              <a:ext uri="{FF2B5EF4-FFF2-40B4-BE49-F238E27FC236}">
                <a16:creationId xmlns:a16="http://schemas.microsoft.com/office/drawing/2014/main" id="{571A780D-ABB1-4FEF-80E3-3EF3BB27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958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 → ER</a:t>
            </a:r>
          </a:p>
        </p:txBody>
      </p:sp>
      <p:sp>
        <p:nvSpPr>
          <p:cNvPr id="55" name="统一风格-目标服务玻璃后沿-55">
            <a:extLst xmlns:a="http://schemas.openxmlformats.org/drawingml/2006/main">
              <a:ext uri="{FF2B5EF4-FFF2-40B4-BE49-F238E27FC236}">
                <a16:creationId xmlns:a16="http://schemas.microsoft.com/office/drawing/2014/main" id="{A2556A57-0A28-44C8-BC61-173D73D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4765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" name="统一风格-目标服务-56">
            <a:extLst xmlns:a="http://schemas.openxmlformats.org/drawingml/2006/main">
              <a:ext uri="{FF2B5EF4-FFF2-40B4-BE49-F238E27FC236}">
                <a16:creationId xmlns:a16="http://schemas.microsoft.com/office/drawing/2014/main" id="{07C1575C-C3CD-4294-80F5-11640BB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4765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目标服务玻璃内沿-57">
            <a:extLst xmlns:a="http://schemas.openxmlformats.org/drawingml/2006/main">
              <a:ext uri="{FF2B5EF4-FFF2-40B4-BE49-F238E27FC236}">
                <a16:creationId xmlns:a16="http://schemas.microsoft.com/office/drawing/2014/main" id="{0A151EBD-0D5B-461D-926E-91248087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259" y="2737009"/>
            <a:ext cx="2450783" cy="545783"/>
          </a:xfrm>
          <a:prstGeom xmlns:a="http://schemas.openxmlformats.org/drawingml/2006/main" prst="roundRect">
            <a:avLst>
              <a:gd name="adj" fmla="val 134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目标服务透光反射面-58">
            <a:extLst xmlns:a="http://schemas.openxmlformats.org/drawingml/2006/main">
              <a:ext uri="{FF2B5EF4-FFF2-40B4-BE49-F238E27FC236}">
                <a16:creationId xmlns:a16="http://schemas.microsoft.com/office/drawing/2014/main" id="{1058C310-052D-41C7-B3A1-F3105241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438400" cy="533400"/>
          </a:xfrm>
          <a:custGeom xmlns:a="http://schemas.openxmlformats.org/drawingml/2006/main"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9" name="统一风格-目标服务边缘高光-59">
            <a:extLst xmlns:a="http://schemas.openxmlformats.org/drawingml/2006/main">
              <a:ext uri="{FF2B5EF4-FFF2-40B4-BE49-F238E27FC236}">
                <a16:creationId xmlns:a16="http://schemas.microsoft.com/office/drawing/2014/main" id="{CCC7B72D-1B19-4F07-907F-D867C3F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476500" cy="571500"/>
          </a:xfrm>
          <a:custGeom xmlns:a="http://schemas.openxmlformats.org/drawingml/2006/main"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server 服务器机架-60">
            <a:extLst xmlns:a="http://schemas.openxmlformats.org/drawingml/2006/main">
              <a:ext uri="{FF2B5EF4-FFF2-40B4-BE49-F238E27FC236}">
                <a16:creationId xmlns:a16="http://schemas.microsoft.com/office/drawing/2014/main" id="{6F877C27-2CE3-408B-97C5-BD49718C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1" name="统一风格-server 机架状态-61">
            <a:extLst xmlns:a="http://schemas.openxmlformats.org/drawingml/2006/main">
              <a:ext uri="{FF2B5EF4-FFF2-40B4-BE49-F238E27FC236}">
                <a16:creationId xmlns:a16="http://schemas.microsoft.com/office/drawing/2014/main" id="{5E138787-49AB-4D19-BBD6-445DB83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2" name="统一风格-server 指示灯-62">
            <a:extLst xmlns:a="http://schemas.openxmlformats.org/drawingml/2006/main">
              <a:ext uri="{FF2B5EF4-FFF2-40B4-BE49-F238E27FC236}">
                <a16:creationId xmlns:a16="http://schemas.microsoft.com/office/drawing/2014/main" id="{55E7838F-8280-4AC2-91DE-90A64D1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3" name="统一风格-server 服务器机架-63">
            <a:extLst xmlns:a="http://schemas.openxmlformats.org/drawingml/2006/main">
              <a:ext uri="{FF2B5EF4-FFF2-40B4-BE49-F238E27FC236}">
                <a16:creationId xmlns:a16="http://schemas.microsoft.com/office/drawing/2014/main" id="{84789394-2593-4328-B134-DB0FA8E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4" name="统一风格-server 机架状态-64">
            <a:extLst xmlns:a="http://schemas.openxmlformats.org/drawingml/2006/main">
              <a:ext uri="{FF2B5EF4-FFF2-40B4-BE49-F238E27FC236}">
                <a16:creationId xmlns:a16="http://schemas.microsoft.com/office/drawing/2014/main" id="{820EB2FD-514D-4935-B11D-534AD88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5" name="统一风格-server 指示灯-65">
            <a:extLst xmlns:a="http://schemas.openxmlformats.org/drawingml/2006/main">
              <a:ext uri="{FF2B5EF4-FFF2-40B4-BE49-F238E27FC236}">
                <a16:creationId xmlns:a16="http://schemas.microsoft.com/office/drawing/2014/main" id="{D97C2AAD-F469-41F0-B699-67CD328C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6" name="统一风格-server 服务器机架-66">
            <a:extLst xmlns:a="http://schemas.openxmlformats.org/drawingml/2006/main">
              <a:ext uri="{FF2B5EF4-FFF2-40B4-BE49-F238E27FC236}">
                <a16:creationId xmlns:a16="http://schemas.microsoft.com/office/drawing/2014/main" id="{08B73366-1DD3-4CC8-963F-CD8E4D9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7" name="统一风格-server 机架状态-67">
            <a:extLst xmlns:a="http://schemas.openxmlformats.org/drawingml/2006/main">
              <a:ext uri="{FF2B5EF4-FFF2-40B4-BE49-F238E27FC236}">
                <a16:creationId xmlns:a16="http://schemas.microsoft.com/office/drawing/2014/main" id="{0916D088-D0B0-4F38-A2FD-AF01B532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68" name="统一风格-server 指示灯-68">
            <a:extLst xmlns:a="http://schemas.openxmlformats.org/drawingml/2006/main">
              <a:ext uri="{FF2B5EF4-FFF2-40B4-BE49-F238E27FC236}">
                <a16:creationId xmlns:a16="http://schemas.microsoft.com/office/drawing/2014/main" id="{A7EEB886-2BDA-4B08-B61A-4B473183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2892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9" name="统一风格-文字 目标服务-69">
            <a:extLst xmlns:a="http://schemas.openxmlformats.org/drawingml/2006/main">
              <a:ext uri="{FF2B5EF4-FFF2-40B4-BE49-F238E27FC236}">
                <a16:creationId xmlns:a16="http://schemas.microsoft.com/office/drawing/2014/main" id="{8C20F877-DD16-493B-A385-FE004E3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81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0" name="统一风格-文字 10.30.20.10 : 3306-70">
            <a:extLst xmlns:a="http://schemas.openxmlformats.org/drawingml/2006/main">
              <a:ext uri="{FF2B5EF4-FFF2-40B4-BE49-F238E27FC236}">
                <a16:creationId xmlns:a16="http://schemas.microsoft.com/office/drawing/2014/main" id="{6DF5CF9E-AC23-4148-8F97-158B4EE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0480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 : 3306</a:t>
            </a:r>
          </a:p>
        </p:txBody>
      </p:sp>
      <p:sp>
        <p:nvSpPr>
          <p:cNvPr id="71" name="统一风格-目的安全组 · 入方向玻璃后沿-71">
            <a:extLst xmlns:a="http://schemas.openxmlformats.org/drawingml/2006/main">
              <a:ext uri="{FF2B5EF4-FFF2-40B4-BE49-F238E27FC236}">
                <a16:creationId xmlns:a16="http://schemas.microsoft.com/office/drawing/2014/main" id="{51E1175C-9432-423E-B0D3-F50BEF8F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2476500" cy="51435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2" name="统一风格-目的安全组 · 入方向-72">
            <a:extLst xmlns:a="http://schemas.openxmlformats.org/drawingml/2006/main">
              <a:ext uri="{FF2B5EF4-FFF2-40B4-BE49-F238E27FC236}">
                <a16:creationId xmlns:a16="http://schemas.microsoft.com/office/drawing/2014/main" id="{4C4D1348-679E-4175-9D10-987B42B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2476500" cy="51435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3" name="统一风格-目的安全组 · 入方向玻璃内沿-73">
            <a:extLst xmlns:a="http://schemas.openxmlformats.org/drawingml/2006/main">
              <a:ext uri="{FF2B5EF4-FFF2-40B4-BE49-F238E27FC236}">
                <a16:creationId xmlns:a16="http://schemas.microsoft.com/office/drawing/2014/main" id="{06F08349-D2DB-4E54-B313-FB69719C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259" y="3518059"/>
            <a:ext cx="2450783" cy="488633"/>
          </a:xfrm>
          <a:prstGeom xmlns:a="http://schemas.openxmlformats.org/drawingml/2006/main" prst="roundRect">
            <a:avLst>
              <a:gd name="adj" fmla="val 150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4" name="统一风格-目的安全组 · 入方向透光反射面-74">
            <a:extLst xmlns:a="http://schemas.openxmlformats.org/drawingml/2006/main">
              <a:ext uri="{FF2B5EF4-FFF2-40B4-BE49-F238E27FC236}">
                <a16:creationId xmlns:a16="http://schemas.microsoft.com/office/drawing/2014/main" id="{A6093B88-6568-400D-9810-A32446EC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2438400" cy="476250"/>
          </a:xfrm>
          <a:custGeom xmlns:a="http://schemas.openxmlformats.org/drawingml/2006/main"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5" name="统一风格-目的安全组 · 入方向边缘高光-75">
            <a:extLst xmlns:a="http://schemas.openxmlformats.org/drawingml/2006/main">
              <a:ext uri="{FF2B5EF4-FFF2-40B4-BE49-F238E27FC236}">
                <a16:creationId xmlns:a16="http://schemas.microsoft.com/office/drawing/2014/main" id="{B931467A-1A50-4A5D-8EF9-21408CD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2476500" cy="514350"/>
          </a:xfrm>
          <a:custGeom xmlns:a="http://schemas.openxmlformats.org/drawingml/2006/main"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6" name="统一风格-lock 安全盾-76">
            <a:extLst xmlns:a="http://schemas.openxmlformats.org/drawingml/2006/main">
              <a:ext uri="{FF2B5EF4-FFF2-40B4-BE49-F238E27FC236}">
                <a16:creationId xmlns:a16="http://schemas.microsoft.com/office/drawing/2014/main" id="{C43F9B7B-8E02-4919-A5A9-AFC2E110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77" name="统一风格-lock 锁梁-77">
            <a:extLst xmlns:a="http://schemas.openxmlformats.org/drawingml/2006/main">
              <a:ext uri="{FF2B5EF4-FFF2-40B4-BE49-F238E27FC236}">
                <a16:creationId xmlns:a16="http://schemas.microsoft.com/office/drawing/2014/main" id="{890BFCB9-B176-4988-AD74-92D0F75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78" name="统一风格-lock 锁体-78">
            <a:extLst xmlns:a="http://schemas.openxmlformats.org/drawingml/2006/main">
              <a:ext uri="{FF2B5EF4-FFF2-40B4-BE49-F238E27FC236}">
                <a16:creationId xmlns:a16="http://schemas.microsoft.com/office/drawing/2014/main" id="{FDD34183-4613-4759-BD0E-E328B7BC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79" name="统一风格-lock 锁孔-79">
            <a:extLst xmlns:a="http://schemas.openxmlformats.org/drawingml/2006/main">
              <a:ext uri="{FF2B5EF4-FFF2-40B4-BE49-F238E27FC236}">
                <a16:creationId xmlns:a16="http://schemas.microsoft.com/office/drawing/2014/main" id="{331A3B59-B014-4D36-A7B6-82C5127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00450"/>
            <a:ext cx="333375" cy="333375"/>
          </a:xfrm>
          <a:custGeom xmlns:a="http://schemas.openxmlformats.org/drawingml/2006/main"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80" name="统一风格-文字 目的安全组 · 入方向-80">
            <a:extLst xmlns:a="http://schemas.openxmlformats.org/drawingml/2006/main">
              <a:ext uri="{FF2B5EF4-FFF2-40B4-BE49-F238E27FC236}">
                <a16:creationId xmlns:a16="http://schemas.microsoft.com/office/drawing/2014/main" id="{E321C576-4507-45A5-A35B-24BEAD8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629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目的安全组 · 入方向</a:t>
            </a:r>
          </a:p>
        </p:txBody>
      </p:sp>
      <p:sp>
        <p:nvSpPr>
          <p:cNvPr id="81" name="统一风格-目的 VPC 路由表玻璃后沿-81">
            <a:extLst xmlns:a="http://schemas.openxmlformats.org/drawingml/2006/main">
              <a:ext uri="{FF2B5EF4-FFF2-40B4-BE49-F238E27FC236}">
                <a16:creationId xmlns:a16="http://schemas.microsoft.com/office/drawing/2014/main" id="{BA263569-C549-4084-B11D-D7B142A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476500" cy="742950"/>
          </a:xfrm>
          <a:prstGeom xmlns:a="http://schemas.openxmlformats.org/drawingml/2006/main" prst="roundRect">
            <a:avLst>
              <a:gd name="adj" fmla="val 1153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2" name="统一风格-目的 VPC 路由表-82">
            <a:extLst xmlns:a="http://schemas.openxmlformats.org/drawingml/2006/main">
              <a:ext uri="{FF2B5EF4-FFF2-40B4-BE49-F238E27FC236}">
                <a16:creationId xmlns:a16="http://schemas.microsoft.com/office/drawing/2014/main" id="{44C022AD-6F3B-4B44-908E-F8CAF48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476500" cy="742950"/>
          </a:xfrm>
          <a:prstGeom xmlns:a="http://schemas.openxmlformats.org/drawingml/2006/main" prst="roundRect">
            <a:avLst>
              <a:gd name="adj" fmla="val 1153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3" name="统一风格-目的 VPC 路由表玻璃内沿-83">
            <a:extLst xmlns:a="http://schemas.openxmlformats.org/drawingml/2006/main">
              <a:ext uri="{FF2B5EF4-FFF2-40B4-BE49-F238E27FC236}">
                <a16:creationId xmlns:a16="http://schemas.microsoft.com/office/drawing/2014/main" id="{A1BB3C86-158C-4A0A-BF12-927A403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259" y="4299109"/>
            <a:ext cx="2450783" cy="717233"/>
          </a:xfrm>
          <a:prstGeom xmlns:a="http://schemas.openxmlformats.org/drawingml/2006/main" prst="roundRect">
            <a:avLst>
              <a:gd name="adj" fmla="val 1022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4" name="统一风格-目的 VPC 路由表透光反射面-84">
            <a:extLst xmlns:a="http://schemas.openxmlformats.org/drawingml/2006/main">
              <a:ext uri="{FF2B5EF4-FFF2-40B4-BE49-F238E27FC236}">
                <a16:creationId xmlns:a16="http://schemas.microsoft.com/office/drawing/2014/main" id="{6E646F4C-50B8-4C79-87C5-0F7D13A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2438400" cy="704850"/>
          </a:xfrm>
          <a:custGeom xmlns:a="http://schemas.openxmlformats.org/drawingml/2006/main"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85" name="统一风格-目的 VPC 路由表边缘高光-85">
            <a:extLst xmlns:a="http://schemas.openxmlformats.org/drawingml/2006/main">
              <a:ext uri="{FF2B5EF4-FFF2-40B4-BE49-F238E27FC236}">
                <a16:creationId xmlns:a16="http://schemas.microsoft.com/office/drawing/2014/main" id="{692CEF65-56E9-4739-BF4A-02398354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476500" cy="742950"/>
          </a:xfrm>
          <a:custGeom xmlns:a="http://schemas.openxmlformats.org/drawingml/2006/main"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6" name="统一风格-route-table VPC 路由表外框-86">
            <a:extLst xmlns:a="http://schemas.openxmlformats.org/drawingml/2006/main">
              <a:ext uri="{FF2B5EF4-FFF2-40B4-BE49-F238E27FC236}">
                <a16:creationId xmlns:a16="http://schemas.microsoft.com/office/drawing/2014/main" id="{E5A866C6-0AD8-44F1-B209-D8C4AFD8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87" name="统一风格-route-table 路由表列与表头-87">
            <a:extLst xmlns:a="http://schemas.openxmlformats.org/drawingml/2006/main">
              <a:ext uri="{FF2B5EF4-FFF2-40B4-BE49-F238E27FC236}">
                <a16:creationId xmlns:a16="http://schemas.microsoft.com/office/drawing/2014/main" id="{54FDFBB6-33B9-4178-920E-2AC4796B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88" name="统一风格-route-table 目的网段条目-88">
            <a:extLst xmlns:a="http://schemas.openxmlformats.org/drawingml/2006/main">
              <a:ext uri="{FF2B5EF4-FFF2-40B4-BE49-F238E27FC236}">
                <a16:creationId xmlns:a16="http://schemas.microsoft.com/office/drawing/2014/main" id="{1026D031-D31D-40D4-8484-34F69B4C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89" name="统一风格-route-table 下一跳箭头-89">
            <a:extLst xmlns:a="http://schemas.openxmlformats.org/drawingml/2006/main">
              <a:ext uri="{FF2B5EF4-FFF2-40B4-BE49-F238E27FC236}">
                <a16:creationId xmlns:a16="http://schemas.microsoft.com/office/drawing/2014/main" id="{37DBF3B2-EB7B-496D-82A2-2D0C591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386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90" name="统一风格-文字 目的 VPC 路由表-90">
            <a:extLst xmlns:a="http://schemas.openxmlformats.org/drawingml/2006/main">
              <a:ext uri="{FF2B5EF4-FFF2-40B4-BE49-F238E27FC236}">
                <a16:creationId xmlns:a16="http://schemas.microsoft.com/office/drawing/2014/main" id="{EE63A6D1-F634-4E66-94C6-C52FFAB3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624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 VPC 路由表</a:t>
            </a:r>
          </a:p>
        </p:txBody>
      </p:sp>
      <p:sp>
        <p:nvSpPr>
          <p:cNvPr id="91" name="统一风格-文字 10.20.0.0/16 → ER-91">
            <a:extLst xmlns:a="http://schemas.openxmlformats.org/drawingml/2006/main">
              <a:ext uri="{FF2B5EF4-FFF2-40B4-BE49-F238E27FC236}">
                <a16:creationId xmlns:a16="http://schemas.microsoft.com/office/drawing/2014/main" id="{B6F0584F-A2D3-4289-85BB-D0BDBDF1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958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10.20.0.0/16 → ER</a:t>
            </a:r>
          </a:p>
        </p:txBody>
      </p:sp>
      <p:cxnSp>
        <p:nvCxnSpPr>
          <p:cNvPr id="92" name="端到端路径-1">
            <a:extLst xmlns:a="http://schemas.openxmlformats.org/drawingml/2006/main">
              <a:ext uri="{FF2B5EF4-FFF2-40B4-BE49-F238E27FC236}">
                <a16:creationId xmlns:a16="http://schemas.microsoft.com/office/drawing/2014/main" id="{0BDFE0DA-5AEA-4544-B41B-02F8DB8929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8350" y="32956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端到端路径-2">
            <a:extLst xmlns:a="http://schemas.openxmlformats.org/drawingml/2006/main">
              <a:ext uri="{FF2B5EF4-FFF2-40B4-BE49-F238E27FC236}">
                <a16:creationId xmlns:a16="http://schemas.microsoft.com/office/drawing/2014/main" id="{71CCD36D-4BF5-44D4-A668-F0FAC4820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8350" y="4019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4" name="端到端路径-3">
            <a:extLst xmlns:a="http://schemas.openxmlformats.org/drawingml/2006/main">
              <a:ext uri="{FF2B5EF4-FFF2-40B4-BE49-F238E27FC236}">
                <a16:creationId xmlns:a16="http://schemas.microsoft.com/office/drawing/2014/main" id="{5434DF4E-03E6-4B2B-860A-AAE9F4D10C6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153650" y="32956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5" name="端到端路径-4">
            <a:extLst xmlns:a="http://schemas.openxmlformats.org/drawingml/2006/main">
              <a:ext uri="{FF2B5EF4-FFF2-40B4-BE49-F238E27FC236}">
                <a16:creationId xmlns:a16="http://schemas.microsoft.com/office/drawing/2014/main" id="{B5DE38E0-6B21-46E3-897E-98D2398A4F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53650" y="4019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897C9"/>
            </a:solidFill>
            <a:prstDash val="dash"/>
            <a:tailEnd type="triangle" w="sm" len="sm"/>
          </a:ln>
        </p:spPr>
      </p:cxnSp>
      <p:sp>
        <p:nvSpPr>
          <p:cNvPr id="96" name="统一风格-文字 回程-92">
            <a:extLst xmlns:a="http://schemas.openxmlformats.org/drawingml/2006/main">
              <a:ext uri="{FF2B5EF4-FFF2-40B4-BE49-F238E27FC236}">
                <a16:creationId xmlns:a16="http://schemas.microsoft.com/office/drawing/2014/main" id="{3C2DA368-EFFB-411E-89E5-2F099B69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38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回程</a:t>
            </a:r>
          </a:p>
        </p:txBody>
      </p:sp>
      <p:sp>
        <p:nvSpPr>
          <p:cNvPr id="97" name="统一风格-同一个 ER 路由域玻璃后沿-93">
            <a:extLst xmlns:a="http://schemas.openxmlformats.org/drawingml/2006/main">
              <a:ext uri="{FF2B5EF4-FFF2-40B4-BE49-F238E27FC236}">
                <a16:creationId xmlns:a16="http://schemas.microsoft.com/office/drawing/2014/main" id="{52B9E872-83C9-433F-ACC5-B78F2A6B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4305300" cy="1885950"/>
          </a:xfrm>
          <a:prstGeom xmlns:a="http://schemas.openxmlformats.org/drawingml/2006/main" prst="roundRect">
            <a:avLst>
              <a:gd name="adj" fmla="val 454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98" name="统一风格-同一个 ER 路由域-94">
            <a:extLst xmlns:a="http://schemas.openxmlformats.org/drawingml/2006/main">
              <a:ext uri="{FF2B5EF4-FFF2-40B4-BE49-F238E27FC236}">
                <a16:creationId xmlns:a16="http://schemas.microsoft.com/office/drawing/2014/main" id="{BAF2C4C4-6871-479A-A22B-E395231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4305300" cy="1885950"/>
          </a:xfrm>
          <a:prstGeom xmlns:a="http://schemas.openxmlformats.org/drawingml/2006/main" prst="roundRect">
            <a:avLst>
              <a:gd name="adj" fmla="val 454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9" name="统一风格-同一个 ER 路由域玻璃内沿-95">
            <a:extLst xmlns:a="http://schemas.openxmlformats.org/drawingml/2006/main">
              <a:ext uri="{FF2B5EF4-FFF2-40B4-BE49-F238E27FC236}">
                <a16:creationId xmlns:a16="http://schemas.microsoft.com/office/drawing/2014/main" id="{2FD25260-0109-4562-A37D-009D42AA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209" y="2146459"/>
            <a:ext cx="4279583" cy="1860233"/>
          </a:xfrm>
          <a:prstGeom xmlns:a="http://schemas.openxmlformats.org/drawingml/2006/main" prst="roundRect">
            <a:avLst>
              <a:gd name="adj" fmla="val 394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0" name="统一风格-同一个 ER 路由域边缘高光-96">
            <a:extLst xmlns:a="http://schemas.openxmlformats.org/drawingml/2006/main">
              <a:ext uri="{FF2B5EF4-FFF2-40B4-BE49-F238E27FC236}">
                <a16:creationId xmlns:a16="http://schemas.microsoft.com/office/drawing/2014/main" id="{7281A416-1529-4452-8F4F-18652B4A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4305300" cy="1885950"/>
          </a:xfrm>
          <a:custGeom xmlns:a="http://schemas.openxmlformats.org/drawingml/2006/main">
            <a:pathLst>
              <a:path w="4305300" h="1885950">
                <a:moveTo>
                  <a:pt x="95250" y="9525"/>
                </a:moveTo>
                <a:lnTo>
                  <a:pt x="4210050" y="9525"/>
                </a:lnTo>
                <a:cubicBezTo>
                  <a:pt x="4257675" y="9525"/>
                  <a:pt x="4295775" y="47625"/>
                  <a:pt x="4295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1" name="统一风格-router ER 路由器外形-97">
            <a:extLst xmlns:a="http://schemas.openxmlformats.org/drawingml/2006/main">
              <a:ext uri="{FF2B5EF4-FFF2-40B4-BE49-F238E27FC236}">
                <a16:creationId xmlns:a16="http://schemas.microsoft.com/office/drawing/2014/main" id="{D92AAED6-1AF9-4EFD-9EB6-DD9E5D5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955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02" name="统一风格-router ER 四向路由-98">
            <a:extLst xmlns:a="http://schemas.openxmlformats.org/drawingml/2006/main">
              <a:ext uri="{FF2B5EF4-FFF2-40B4-BE49-F238E27FC236}">
                <a16:creationId xmlns:a16="http://schemas.microsoft.com/office/drawing/2014/main" id="{DA22D56F-F429-4E39-8DC9-7909276C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955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03" name="统一风格-文字 ER · 同一个企业路由器-99">
            <a:extLst xmlns:a="http://schemas.openxmlformats.org/drawingml/2006/main">
              <a:ext uri="{FF2B5EF4-FFF2-40B4-BE49-F238E27FC236}">
                <a16:creationId xmlns:a16="http://schemas.microsoft.com/office/drawing/2014/main" id="{BC535568-A537-4293-9103-AE097F1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3362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· 同一个企业路由器</a:t>
            </a:r>
          </a:p>
        </p:txBody>
      </p:sp>
      <p:sp>
        <p:nvSpPr>
          <p:cNvPr id="104" name="统一风格-er-RT1玻璃后沿-100">
            <a:extLst xmlns:a="http://schemas.openxmlformats.org/drawingml/2006/main">
              <a:ext uri="{FF2B5EF4-FFF2-40B4-BE49-F238E27FC236}">
                <a16:creationId xmlns:a16="http://schemas.microsoft.com/office/drawing/2014/main" id="{A59EEEAB-422E-4B51-AFE4-2BFAF6D2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43225"/>
            <a:ext cx="1847850" cy="952500"/>
          </a:xfrm>
          <a:prstGeom xmlns:a="http://schemas.openxmlformats.org/drawingml/2006/main" prst="roundRect">
            <a:avLst>
              <a:gd name="adj" fmla="val 9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5" name="统一风格-er-RT1-101">
            <a:extLst xmlns:a="http://schemas.openxmlformats.org/drawingml/2006/main">
              <a:ext uri="{FF2B5EF4-FFF2-40B4-BE49-F238E27FC236}">
                <a16:creationId xmlns:a16="http://schemas.microsoft.com/office/drawing/2014/main" id="{7E4BB6D0-4F04-478B-A955-898C8444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43225"/>
            <a:ext cx="1847850" cy="952500"/>
          </a:xfrm>
          <a:prstGeom xmlns:a="http://schemas.openxmlformats.org/drawingml/2006/main" prst="roundRect">
            <a:avLst>
              <a:gd name="adj" fmla="val 9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06" name="统一风格-er-RT1玻璃内沿-102">
            <a:extLst xmlns:a="http://schemas.openxmlformats.org/drawingml/2006/main">
              <a:ext uri="{FF2B5EF4-FFF2-40B4-BE49-F238E27FC236}">
                <a16:creationId xmlns:a16="http://schemas.microsoft.com/office/drawing/2014/main" id="{E2109D62-1C9D-4EBE-8964-11BC8A5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09" y="2956084"/>
            <a:ext cx="1822133" cy="926783"/>
          </a:xfrm>
          <a:prstGeom xmlns:a="http://schemas.openxmlformats.org/drawingml/2006/main" prst="roundRect">
            <a:avLst>
              <a:gd name="adj" fmla="val 791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7" name="统一风格-er-RT1透光反射面-103">
            <a:extLst xmlns:a="http://schemas.openxmlformats.org/drawingml/2006/main">
              <a:ext uri="{FF2B5EF4-FFF2-40B4-BE49-F238E27FC236}">
                <a16:creationId xmlns:a16="http://schemas.microsoft.com/office/drawing/2014/main" id="{DB56A435-CA7A-48A3-9ED8-6A7F627A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62275"/>
            <a:ext cx="1809750" cy="914400"/>
          </a:xfrm>
          <a:custGeom xmlns:a="http://schemas.openxmlformats.org/drawingml/2006/main"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8" name="统一风格-er-RT1边缘高光-104">
            <a:extLst xmlns:a="http://schemas.openxmlformats.org/drawingml/2006/main">
              <a:ext uri="{FF2B5EF4-FFF2-40B4-BE49-F238E27FC236}">
                <a16:creationId xmlns:a16="http://schemas.microsoft.com/office/drawing/2014/main" id="{6EF6A2B1-D217-4529-BDB4-4A994F53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43225"/>
            <a:ext cx="1847850" cy="952500"/>
          </a:xfrm>
          <a:custGeom xmlns:a="http://schemas.openxmlformats.org/drawingml/2006/main"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9" name="统一风格-route-table VPC 路由表外框-105">
            <a:extLst xmlns:a="http://schemas.openxmlformats.org/drawingml/2006/main">
              <a:ext uri="{FF2B5EF4-FFF2-40B4-BE49-F238E27FC236}">
                <a16:creationId xmlns:a16="http://schemas.microsoft.com/office/drawing/2014/main" id="{BD056206-3CE4-4284-AB09-DA6C131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10" name="统一风格-route-table 路由表列与表头-106">
            <a:extLst xmlns:a="http://schemas.openxmlformats.org/drawingml/2006/main">
              <a:ext uri="{FF2B5EF4-FFF2-40B4-BE49-F238E27FC236}">
                <a16:creationId xmlns:a16="http://schemas.microsoft.com/office/drawing/2014/main" id="{80928810-B1F0-4331-B019-4BC5914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11" name="统一风格-route-table 目的网段条目-107">
            <a:extLst xmlns:a="http://schemas.openxmlformats.org/drawingml/2006/main">
              <a:ext uri="{FF2B5EF4-FFF2-40B4-BE49-F238E27FC236}">
                <a16:creationId xmlns:a16="http://schemas.microsoft.com/office/drawing/2014/main" id="{4AFBC04C-8952-4F66-9C91-40A899F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12" name="统一风格-route-table 下一跳箭头-108">
            <a:extLst xmlns:a="http://schemas.openxmlformats.org/drawingml/2006/main">
              <a:ext uri="{FF2B5EF4-FFF2-40B4-BE49-F238E27FC236}">
                <a16:creationId xmlns:a16="http://schemas.microsoft.com/office/drawing/2014/main" id="{B22F08B8-4B86-420E-8B50-AFF7E6C9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13" name="统一风格-文字 er-RT1-109">
            <a:extLst xmlns:a="http://schemas.openxmlformats.org/drawingml/2006/main">
              <a:ext uri="{FF2B5EF4-FFF2-40B4-BE49-F238E27FC236}">
                <a16:creationId xmlns:a16="http://schemas.microsoft.com/office/drawing/2014/main" id="{89C2074B-B5DB-4684-8F50-F1A35AD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57525"/>
            <a:ext cx="1162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114" name="统一风格-文字 关联业务 VPC 连接 送检至 CFW-110">
            <a:extLst xmlns:a="http://schemas.openxmlformats.org/drawingml/2006/main">
              <a:ext uri="{FF2B5EF4-FFF2-40B4-BE49-F238E27FC236}">
                <a16:creationId xmlns:a16="http://schemas.microsoft.com/office/drawing/2014/main" id="{97463C26-3A50-4CE1-8E0C-E91E705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671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关联业务 VPC 连接</a:t>
            </a:r>
          </a:p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送检至 CFW</a:t>
            </a:r>
          </a:p>
        </p:txBody>
      </p:sp>
      <p:sp>
        <p:nvSpPr>
          <p:cNvPr id="115" name="统一风格-er-RT2玻璃后沿-111">
            <a:extLst xmlns:a="http://schemas.openxmlformats.org/drawingml/2006/main">
              <a:ext uri="{FF2B5EF4-FFF2-40B4-BE49-F238E27FC236}">
                <a16:creationId xmlns:a16="http://schemas.microsoft.com/office/drawing/2014/main" id="{C069FCF4-06B9-4E0F-AC75-EDC8FCE7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43225"/>
            <a:ext cx="1847850" cy="952500"/>
          </a:xfrm>
          <a:prstGeom xmlns:a="http://schemas.openxmlformats.org/drawingml/2006/main" prst="roundRect">
            <a:avLst>
              <a:gd name="adj" fmla="val 9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6" name="统一风格-er-RT2-112">
            <a:extLst xmlns:a="http://schemas.openxmlformats.org/drawingml/2006/main">
              <a:ext uri="{FF2B5EF4-FFF2-40B4-BE49-F238E27FC236}">
                <a16:creationId xmlns:a16="http://schemas.microsoft.com/office/drawing/2014/main" id="{EFAB4F15-0972-431E-AAD6-CCED8169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43225"/>
            <a:ext cx="1847850" cy="952500"/>
          </a:xfrm>
          <a:prstGeom xmlns:a="http://schemas.openxmlformats.org/drawingml/2006/main" prst="roundRect">
            <a:avLst>
              <a:gd name="adj" fmla="val 9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17" name="统一风格-er-RT2玻璃内沿-113">
            <a:extLst xmlns:a="http://schemas.openxmlformats.org/drawingml/2006/main">
              <a:ext uri="{FF2B5EF4-FFF2-40B4-BE49-F238E27FC236}">
                <a16:creationId xmlns:a16="http://schemas.microsoft.com/office/drawing/2014/main" id="{33BE7E84-A70B-437A-B7D3-4B78B171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109" y="2956084"/>
            <a:ext cx="1822133" cy="926783"/>
          </a:xfrm>
          <a:prstGeom xmlns:a="http://schemas.openxmlformats.org/drawingml/2006/main" prst="roundRect">
            <a:avLst>
              <a:gd name="adj" fmla="val 791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18" name="统一风格-er-RT2透光反射面-114">
            <a:extLst xmlns:a="http://schemas.openxmlformats.org/drawingml/2006/main">
              <a:ext uri="{FF2B5EF4-FFF2-40B4-BE49-F238E27FC236}">
                <a16:creationId xmlns:a16="http://schemas.microsoft.com/office/drawing/2014/main" id="{4B2A4D38-DA1F-4C21-A0F5-409FEB9B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62275"/>
            <a:ext cx="1809750" cy="914400"/>
          </a:xfrm>
          <a:custGeom xmlns:a="http://schemas.openxmlformats.org/drawingml/2006/main"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9" name="统一风格-er-RT2边缘高光-115">
            <a:extLst xmlns:a="http://schemas.openxmlformats.org/drawingml/2006/main">
              <a:ext uri="{FF2B5EF4-FFF2-40B4-BE49-F238E27FC236}">
                <a16:creationId xmlns:a16="http://schemas.microsoft.com/office/drawing/2014/main" id="{25B1DF53-46FE-42E5-8579-1309904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43225"/>
            <a:ext cx="1847850" cy="952500"/>
          </a:xfrm>
          <a:custGeom xmlns:a="http://schemas.openxmlformats.org/drawingml/2006/main"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0" name="统一风格-route-table VPC 路由表外框-116">
            <a:extLst xmlns:a="http://schemas.openxmlformats.org/drawingml/2006/main">
              <a:ext uri="{FF2B5EF4-FFF2-40B4-BE49-F238E27FC236}">
                <a16:creationId xmlns:a16="http://schemas.microsoft.com/office/drawing/2014/main" id="{BD797B6A-E3AD-4A6B-97C1-2022A0E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21" name="统一风格-route-table 路由表列与表头-117">
            <a:extLst xmlns:a="http://schemas.openxmlformats.org/drawingml/2006/main">
              <a:ext uri="{FF2B5EF4-FFF2-40B4-BE49-F238E27FC236}">
                <a16:creationId xmlns:a16="http://schemas.microsoft.com/office/drawing/2014/main" id="{4EC84EFC-4FBD-4923-BBB6-3E0BD1D2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22" name="统一风格-route-table 目的网段条目-118">
            <a:extLst xmlns:a="http://schemas.openxmlformats.org/drawingml/2006/main">
              <a:ext uri="{FF2B5EF4-FFF2-40B4-BE49-F238E27FC236}">
                <a16:creationId xmlns:a16="http://schemas.microsoft.com/office/drawing/2014/main" id="{B83C8460-7276-4825-BD81-41A6FC2E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23" name="统一风格-route-table 下一跳箭头-119">
            <a:extLst xmlns:a="http://schemas.openxmlformats.org/drawingml/2006/main">
              <a:ext uri="{FF2B5EF4-FFF2-40B4-BE49-F238E27FC236}">
                <a16:creationId xmlns:a16="http://schemas.microsoft.com/office/drawing/2014/main" id="{0BB7C8F9-4125-481C-B042-6915378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24" name="统一风格-文字 er-RT2-120">
            <a:extLst xmlns:a="http://schemas.openxmlformats.org/drawingml/2006/main">
              <a:ext uri="{FF2B5EF4-FFF2-40B4-BE49-F238E27FC236}">
                <a16:creationId xmlns:a16="http://schemas.microsoft.com/office/drawing/2014/main" id="{86AB6B9A-922B-4DF3-AADD-9BD9C37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57525"/>
            <a:ext cx="1162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125" name="统一风格-文字 关联 CFW 连接 转发至目标 VPC-121">
            <a:extLst xmlns:a="http://schemas.openxmlformats.org/drawingml/2006/main">
              <a:ext uri="{FF2B5EF4-FFF2-40B4-BE49-F238E27FC236}">
                <a16:creationId xmlns:a16="http://schemas.microsoft.com/office/drawing/2014/main" id="{120F1D84-CB11-4CB5-ADDA-F863CCE9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671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 CFW 连接</a:t>
            </a:r>
          </a:p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转发至目标 VPC</a:t>
            </a:r>
          </a:p>
        </p:txBody>
      </p:sp>
      <p:cxnSp>
        <p:nvCxnSpPr>
          <p:cNvPr id="126" name="端到端路径-5">
            <a:extLst xmlns:a="http://schemas.openxmlformats.org/drawingml/2006/main">
              <a:ext uri="{FF2B5EF4-FFF2-40B4-BE49-F238E27FC236}">
                <a16:creationId xmlns:a16="http://schemas.microsoft.com/office/drawing/2014/main" id="{C32F0977-3CC5-4A4B-B591-5879F15484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76600" y="4657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27" name="端到端路径-6">
            <a:extLst xmlns:a="http://schemas.openxmlformats.org/drawingml/2006/main">
              <a:ext uri="{FF2B5EF4-FFF2-40B4-BE49-F238E27FC236}">
                <a16:creationId xmlns:a16="http://schemas.microsoft.com/office/drawing/2014/main" id="{D444BB4F-1014-4501-A7DF-C5FE3A8B7AA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714750" y="341947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28" name="端到端路径-7">
            <a:extLst xmlns:a="http://schemas.openxmlformats.org/drawingml/2006/main">
              <a:ext uri="{FF2B5EF4-FFF2-40B4-BE49-F238E27FC236}">
                <a16:creationId xmlns:a16="http://schemas.microsoft.com/office/drawing/2014/main" id="{0773D837-2C48-4CB6-86C1-CFAB2A7D3F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14750" y="3419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29" name="端到端路径-8">
            <a:extLst xmlns:a="http://schemas.openxmlformats.org/drawingml/2006/main">
              <a:ext uri="{FF2B5EF4-FFF2-40B4-BE49-F238E27FC236}">
                <a16:creationId xmlns:a16="http://schemas.microsoft.com/office/drawing/2014/main" id="{640F0666-B97E-40AB-B614-8CADC445E6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39100" y="34194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30" name="端到端路径-9">
            <a:extLst xmlns:a="http://schemas.openxmlformats.org/drawingml/2006/main">
              <a:ext uri="{FF2B5EF4-FFF2-40B4-BE49-F238E27FC236}">
                <a16:creationId xmlns:a16="http://schemas.microsoft.com/office/drawing/2014/main" id="{FFAC08A5-A78F-4C4B-BBF3-B0BF98EBC7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82025" y="341947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31" name="端到端路径-10">
            <a:extLst xmlns:a="http://schemas.openxmlformats.org/drawingml/2006/main">
              <a:ext uri="{FF2B5EF4-FFF2-40B4-BE49-F238E27FC236}">
                <a16:creationId xmlns:a16="http://schemas.microsoft.com/office/drawing/2014/main" id="{C06F16F9-8D91-46C4-9B49-FD0420813D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82025" y="3762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32" name="统一风格-CFW 检查模块玻璃后沿-122">
            <a:extLst xmlns:a="http://schemas.openxmlformats.org/drawingml/2006/main">
              <a:ext uri="{FF2B5EF4-FFF2-40B4-BE49-F238E27FC236}">
                <a16:creationId xmlns:a16="http://schemas.microsoft.com/office/drawing/2014/main" id="{B15145D4-D4A4-4714-BEB6-B917D6B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90750" cy="914400"/>
          </a:xfrm>
          <a:prstGeom xmlns:a="http://schemas.openxmlformats.org/drawingml/2006/main" prst="roundRect">
            <a:avLst>
              <a:gd name="adj" fmla="val 93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3" name="统一风格-CFW 检查模块-123">
            <a:extLst xmlns:a="http://schemas.openxmlformats.org/drawingml/2006/main">
              <a:ext uri="{FF2B5EF4-FFF2-40B4-BE49-F238E27FC236}">
                <a16:creationId xmlns:a16="http://schemas.microsoft.com/office/drawing/2014/main" id="{E9373EDE-C379-4F84-9382-970BA71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90750" cy="914400"/>
          </a:xfrm>
          <a:prstGeom xmlns:a="http://schemas.openxmlformats.org/drawingml/2006/main" prst="roundRect">
            <a:avLst>
              <a:gd name="adj" fmla="val 93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34" name="统一风格-CFW 检查模块玻璃内沿-124">
            <a:extLst xmlns:a="http://schemas.openxmlformats.org/drawingml/2006/main">
              <a:ext uri="{FF2B5EF4-FFF2-40B4-BE49-F238E27FC236}">
                <a16:creationId xmlns:a16="http://schemas.microsoft.com/office/drawing/2014/main" id="{2F09EC7E-47FC-4A3A-94CF-223454B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009" y="4280059"/>
            <a:ext cx="2165033" cy="888683"/>
          </a:xfrm>
          <a:prstGeom xmlns:a="http://schemas.openxmlformats.org/drawingml/2006/main" prst="roundRect">
            <a:avLst>
              <a:gd name="adj" fmla="val 825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35" name="统一风格-CFW 检查模块透光反射面-125">
            <a:extLst xmlns:a="http://schemas.openxmlformats.org/drawingml/2006/main">
              <a:ext uri="{FF2B5EF4-FFF2-40B4-BE49-F238E27FC236}">
                <a16:creationId xmlns:a16="http://schemas.microsoft.com/office/drawing/2014/main" id="{20AE20B0-E96E-4713-856C-1EDB613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86250"/>
            <a:ext cx="2152650" cy="876300"/>
          </a:xfrm>
          <a:custGeom xmlns:a="http://schemas.openxmlformats.org/drawingml/2006/main">
            <a:pathLst>
              <a:path w="2152650" h="876300">
                <a:moveTo>
                  <a:pt x="76200" y="0"/>
                </a:moveTo>
                <a:lnTo>
                  <a:pt x="1377696" y="0"/>
                </a:lnTo>
                <a:lnTo>
                  <a:pt x="559689" y="876300"/>
                </a:lnTo>
                <a:lnTo>
                  <a:pt x="76200" y="876300"/>
                </a:lnTo>
                <a:cubicBezTo>
                  <a:pt x="28575" y="876300"/>
                  <a:pt x="0" y="847725"/>
                  <a:pt x="0" y="8001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36" name="统一风格-CFW 检查模块边缘高光-126">
            <a:extLst xmlns:a="http://schemas.openxmlformats.org/drawingml/2006/main">
              <a:ext uri="{FF2B5EF4-FFF2-40B4-BE49-F238E27FC236}">
                <a16:creationId xmlns:a16="http://schemas.microsoft.com/office/drawing/2014/main" id="{F2567BCE-AC63-4830-80A7-8DC8C3ED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2190750" cy="914400"/>
          </a:xfrm>
          <a:custGeom xmlns:a="http://schemas.openxmlformats.org/drawingml/2006/main">
            <a:pathLst>
              <a:path w="2190750" h="914400">
                <a:moveTo>
                  <a:pt x="95250" y="9525"/>
                </a:moveTo>
                <a:lnTo>
                  <a:pt x="2095500" y="9525"/>
                </a:lnTo>
                <a:cubicBezTo>
                  <a:pt x="2143125" y="9525"/>
                  <a:pt x="2181225" y="47625"/>
                  <a:pt x="21812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7" name="统一风格-firewall CFW 砖墙-127">
            <a:extLst xmlns:a="http://schemas.openxmlformats.org/drawingml/2006/main">
              <a:ext uri="{FF2B5EF4-FFF2-40B4-BE49-F238E27FC236}">
                <a16:creationId xmlns:a16="http://schemas.microsoft.com/office/drawing/2014/main" id="{9AB3FA44-6597-496D-B47A-32BC1190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6722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38" name="统一风格-firewall CFW 砖缝-128">
            <a:extLst xmlns:a="http://schemas.openxmlformats.org/drawingml/2006/main">
              <a:ext uri="{FF2B5EF4-FFF2-40B4-BE49-F238E27FC236}">
                <a16:creationId xmlns:a16="http://schemas.microsoft.com/office/drawing/2014/main" id="{298E5906-D2D7-4A2D-80BD-CE4AC24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6722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39" name="统一风格-firewall CFW 前景衬底-129">
            <a:extLst xmlns:a="http://schemas.openxmlformats.org/drawingml/2006/main">
              <a:ext uri="{FF2B5EF4-FFF2-40B4-BE49-F238E27FC236}">
                <a16:creationId xmlns:a16="http://schemas.microsoft.com/office/drawing/2014/main" id="{0E02EBD8-D60A-4EDB-97DD-B42CFEAF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6722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0" name="统一风格-firewall CFW 简洁火焰-130">
            <a:extLst xmlns:a="http://schemas.openxmlformats.org/drawingml/2006/main">
              <a:ext uri="{FF2B5EF4-FFF2-40B4-BE49-F238E27FC236}">
                <a16:creationId xmlns:a16="http://schemas.microsoft.com/office/drawing/2014/main" id="{ADFDC0FF-6045-4D72-A0E1-22BA4355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6722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41" name="统一风格-文字 CFW-131">
            <a:extLst xmlns:a="http://schemas.openxmlformats.org/drawingml/2006/main">
              <a:ext uri="{FF2B5EF4-FFF2-40B4-BE49-F238E27FC236}">
                <a16:creationId xmlns:a16="http://schemas.microsoft.com/office/drawing/2014/main" id="{04866BBE-2DED-41F3-9B1C-C3787371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10075"/>
            <a:ext cx="1266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142" name="统一风格-文字 策略与威胁检测-132">
            <a:extLst xmlns:a="http://schemas.openxmlformats.org/drawingml/2006/main">
              <a:ext uri="{FF2B5EF4-FFF2-40B4-BE49-F238E27FC236}">
                <a16:creationId xmlns:a16="http://schemas.microsoft.com/office/drawing/2014/main" id="{6563774E-FA13-4B58-B07B-71BE1BD5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7910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策略与威胁检测</a:t>
            </a:r>
          </a:p>
        </p:txBody>
      </p:sp>
      <p:cxnSp>
        <p:nvCxnSpPr>
          <p:cNvPr id="143" name="端到端路径-11">
            <a:extLst xmlns:a="http://schemas.openxmlformats.org/drawingml/2006/main">
              <a:ext uri="{FF2B5EF4-FFF2-40B4-BE49-F238E27FC236}">
                <a16:creationId xmlns:a16="http://schemas.microsoft.com/office/drawing/2014/main" id="{02C1E1B1-6609-4EB7-9A18-7BB283E49C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57775" y="38957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44" name="端到端路径-12">
            <a:extLst xmlns:a="http://schemas.openxmlformats.org/drawingml/2006/main">
              <a:ext uri="{FF2B5EF4-FFF2-40B4-BE49-F238E27FC236}">
                <a16:creationId xmlns:a16="http://schemas.microsoft.com/office/drawing/2014/main" id="{C4EA9F02-D59A-4EE2-A8DC-98C9A25C63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57775" y="4124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</a:ln>
        </p:spPr>
      </p:cxnSp>
      <p:cxnSp>
        <p:nvCxnSpPr>
          <p:cNvPr id="145" name="端到端路径-13">
            <a:extLst xmlns:a="http://schemas.openxmlformats.org/drawingml/2006/main">
              <a:ext uri="{FF2B5EF4-FFF2-40B4-BE49-F238E27FC236}">
                <a16:creationId xmlns:a16="http://schemas.microsoft.com/office/drawing/2014/main" id="{2F6986AF-D1AA-4720-808E-47B8191473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67350" y="4124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46" name="统一风格-文字 送检-133">
            <a:extLst xmlns:a="http://schemas.openxmlformats.org/drawingml/2006/main">
              <a:ext uri="{FF2B5EF4-FFF2-40B4-BE49-F238E27FC236}">
                <a16:creationId xmlns:a16="http://schemas.microsoft.com/office/drawing/2014/main" id="{9D1E605B-4DCF-4540-A5B0-FF88861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29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cxnSp>
        <p:nvCxnSpPr>
          <p:cNvPr id="147" name="端到端路径-14">
            <a:extLst xmlns:a="http://schemas.openxmlformats.org/drawingml/2006/main">
              <a:ext uri="{FF2B5EF4-FFF2-40B4-BE49-F238E27FC236}">
                <a16:creationId xmlns:a16="http://schemas.microsoft.com/office/drawing/2014/main" id="{6B2D39E0-952F-47E9-BCCC-9F25B4F225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00900" y="47244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897C9"/>
            </a:solidFill>
            <a:prstDash val="solid"/>
          </a:ln>
        </p:spPr>
      </p:cxnSp>
      <p:cxnSp>
        <p:nvCxnSpPr>
          <p:cNvPr id="148" name="端到端路径-15">
            <a:extLst xmlns:a="http://schemas.openxmlformats.org/drawingml/2006/main">
              <a:ext uri="{FF2B5EF4-FFF2-40B4-BE49-F238E27FC236}">
                <a16:creationId xmlns:a16="http://schemas.microsoft.com/office/drawing/2014/main" id="{9B0DEBB2-FC5F-438E-933F-406FE71AF49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829550" y="413385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897C9"/>
            </a:solidFill>
            <a:prstDash val="solid"/>
          </a:ln>
        </p:spPr>
      </p:cxnSp>
      <p:cxnSp>
        <p:nvCxnSpPr>
          <p:cNvPr id="149" name="端到端路径-16">
            <a:extLst xmlns:a="http://schemas.openxmlformats.org/drawingml/2006/main">
              <a:ext uri="{FF2B5EF4-FFF2-40B4-BE49-F238E27FC236}">
                <a16:creationId xmlns:a16="http://schemas.microsoft.com/office/drawing/2014/main" id="{FC9A2D85-0947-4E2E-A2DE-ED6A3B035B0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115175" y="41338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897C9"/>
            </a:solidFill>
            <a:prstDash val="solid"/>
          </a:ln>
        </p:spPr>
      </p:cxnSp>
      <p:cxnSp>
        <p:nvCxnSpPr>
          <p:cNvPr id="150" name="端到端路径-17">
            <a:extLst xmlns:a="http://schemas.openxmlformats.org/drawingml/2006/main">
              <a:ext uri="{FF2B5EF4-FFF2-40B4-BE49-F238E27FC236}">
                <a16:creationId xmlns:a16="http://schemas.microsoft.com/office/drawing/2014/main" id="{19B8AA27-1786-427C-A805-BC619E8C119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15175" y="38957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897C9"/>
            </a:solidFill>
            <a:prstDash val="solid"/>
            <a:tailEnd type="triangle" w="sm" len="sm"/>
          </a:ln>
        </p:spPr>
      </p:cxnSp>
      <p:sp>
        <p:nvSpPr>
          <p:cNvPr id="151" name="统一风格-文字 放行回注-134">
            <a:extLst xmlns:a="http://schemas.openxmlformats.org/drawingml/2006/main">
              <a:ext uri="{FF2B5EF4-FFF2-40B4-BE49-F238E27FC236}">
                <a16:creationId xmlns:a16="http://schemas.microsoft.com/office/drawing/2014/main" id="{2B95FA76-DA2D-4CA2-93CF-60E287E8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76800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放行回注</a:t>
            </a:r>
          </a:p>
        </p:txBody>
      </p:sp>
      <p:sp>
        <p:nvSpPr>
          <p:cNvPr id="152" name="统一风格-回程说明玻璃后沿-135">
            <a:extLst xmlns:a="http://schemas.openxmlformats.org/drawingml/2006/main">
              <a:ext uri="{FF2B5EF4-FFF2-40B4-BE49-F238E27FC236}">
                <a16:creationId xmlns:a16="http://schemas.microsoft.com/office/drawing/2014/main" id="{261BCE09-D88A-4F2A-9388-C3C3479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53" name="统一风格-回程说明-136">
            <a:extLst xmlns:a="http://schemas.openxmlformats.org/drawingml/2006/main">
              <a:ext uri="{FF2B5EF4-FFF2-40B4-BE49-F238E27FC236}">
                <a16:creationId xmlns:a16="http://schemas.microsoft.com/office/drawing/2014/main" id="{02E5FD80-AF0E-4157-8C23-10CBAB2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4" name="统一风格-回程说明玻璃内沿-137">
            <a:extLst xmlns:a="http://schemas.openxmlformats.org/drawingml/2006/main">
              <a:ext uri="{FF2B5EF4-FFF2-40B4-BE49-F238E27FC236}">
                <a16:creationId xmlns:a16="http://schemas.microsoft.com/office/drawing/2014/main" id="{8F0048E6-27D6-4F99-A810-E7A43CFD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75434"/>
            <a:ext cx="10947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5" name="统一风格-回程说明边缘高光-138">
            <a:extLst xmlns:a="http://schemas.openxmlformats.org/drawingml/2006/main">
              <a:ext uri="{FF2B5EF4-FFF2-40B4-BE49-F238E27FC236}">
                <a16:creationId xmlns:a16="http://schemas.microsoft.com/office/drawing/2014/main" id="{8EB3E34A-B413-4B77-8B7E-3EAC07C3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52450"/>
          </a:xfrm>
          <a:custGeom xmlns:a="http://schemas.openxmlformats.org/drawingml/2006/main">
            <a:pathLst>
              <a:path w="10972800" h="5524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56" name="统一风格-文字 回程-139">
            <a:extLst xmlns:a="http://schemas.openxmlformats.org/drawingml/2006/main">
              <a:ext uri="{FF2B5EF4-FFF2-40B4-BE49-F238E27FC236}">
                <a16:creationId xmlns:a16="http://schemas.microsoft.com/office/drawing/2014/main" id="{8C8E6F9E-2DEA-479E-97C0-7C34A61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8640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回程</a:t>
            </a:r>
          </a:p>
        </p:txBody>
      </p:sp>
      <p:sp>
        <p:nvSpPr>
          <p:cNvPr id="157" name="统一风格-文字 从数据 VPC 路由表进入同一 ER，仍经 er-RT1、CFW、er-RT2 返回应用 VPC。-140">
            <a:extLst xmlns:a="http://schemas.openxmlformats.org/drawingml/2006/main">
              <a:ext uri="{FF2B5EF4-FFF2-40B4-BE49-F238E27FC236}">
                <a16:creationId xmlns:a16="http://schemas.microsoft.com/office/drawing/2014/main" id="{989BF2B8-2279-4D57-8C28-428C7AC7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410200"/>
            <a:ext cx="9705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42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388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响应按同一 ER / CFW 路径返回；安全组自动允许匹配已放行连接的回包。</ns0:t>
            </ns0:r>
          </ns0:p>
          <ns1:p xmlns:ns1="http://schemas.openxmlformats.org/drawingml/2006/main">
            <ns1:pPr algn="l">
              <ns1:defRPr sz="142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88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目的主机主动发起新连接时，仍需按新方向核验安全组与 CFW 策略。</ns1:t>
            </ns1:r>
          </ns1:p>
        </p:txBody>
      </p:sp>
      <p:cxnSp>
        <p:nvCxnSpPr>
          <p:cNvPr id="158" name="端到端路径-18">
            <a:extLst xmlns:a="http://schemas.openxmlformats.org/drawingml/2006/main">
              <a:ext uri="{FF2B5EF4-FFF2-40B4-BE49-F238E27FC236}">
                <a16:creationId xmlns:a16="http://schemas.microsoft.com/office/drawing/2014/main" id="{5D6A712D-38FD-434D-84CA-3417D67CE0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159" name="统一风格-文字 安全组有状态：已放行连接的响应流量自动允许；新建反向连接仍需核验。ACL、主机防火墙与服务监听另行检查。-141">
            <a:extLst xmlns:a="http://schemas.openxmlformats.org/drawingml/2006/main">
              <a:ext uri="{FF2B5EF4-FFF2-40B4-BE49-F238E27FC236}">
                <a16:creationId xmlns:a16="http://schemas.microsoft.com/office/drawing/2014/main" id="{D29390F4-56FC-459C-822F-704F593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安全组有状态：已放行连接的响应流量自动允许；新建反向连接仍需核验。ACL、主机防火墙与服务监听另行检查。</a:t>
            </a:r>
          </a:p>
        </p:txBody>
      </p:sp>
      <p:sp>
        <p:nvSpPr>
          <p:cNvPr id="160" name="正文-39">
            <a:extLst xmlns:a="http://schemas.openxmlformats.org/drawingml/2006/main">
              <a:ext uri="{FF2B5EF4-FFF2-40B4-BE49-F238E27FC236}">
                <a16:creationId xmlns:a16="http://schemas.microsoft.com/office/drawing/2014/main" id="{235564AF-3B52-4267-84CC-49C7A063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58</ns0:t>
            </ns0:r>
          </ns0:p>
        </p:txBody>
      </p:sp>
    </p:spTree>
    <p:extLst>
      <p:ext uri="{BB962C8B-B14F-4D97-AF65-F5344CB8AC3E}">
        <p14:creationId xmlns:p14="http://schemas.microsoft.com/office/powerpoint/2010/main" val="1219699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F99F13F9-921A-42E9-909B-1F4C263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B436A5A-07FC-4D59-98D4-FC8B7F5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安全控制的职责与适用场景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382C184-BAE2-4D32-AD53-96ABC64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先确定需要保护的对象，再选择控制层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CD20A16-3BD7-447E-B7B0-29DA378F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这些控制层共同作用。实际路径、关联对象与接入状态需要分别核验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D89E16F-6B07-462A-ACB3-7B360CE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14">
            <a:extLst xmlns:a="http://schemas.openxmlformats.org/drawingml/2006/main">
              <a:ext uri="{FF2B5EF4-FFF2-40B4-BE49-F238E27FC236}">
                <a16:creationId xmlns:a16="http://schemas.microsoft.com/office/drawing/2014/main" id="{9C37102C-1722-4040-A1B0-DE5FA43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r">
              <ns1:def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14</ns1:t>
            </ns1:r>
          </ns1:p>
        </p:txBody>
      </p:sp>
      <p:sp>
        <p:nvSpPr>
          <p:cNvPr id="7" name="统一风格-表格玻璃容器玻璃后沿-199">
            <a:extLst xmlns:a="http://schemas.openxmlformats.org/drawingml/2006/main">
              <a:ext uri="{FF2B5EF4-FFF2-40B4-BE49-F238E27FC236}">
                <a16:creationId xmlns:a16="http://schemas.microsoft.com/office/drawing/2014/main" id="{DD365188-FB4A-4BFB-8DA7-4F6C2FC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200400"/>
          </a:xfrm>
          <a:prstGeom xmlns:a="http://schemas.openxmlformats.org/drawingml/2006/main" prst="roundRect">
            <a:avLst>
              <a:gd name="adj" fmla="val 267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200">
            <a:extLst xmlns:a="http://schemas.openxmlformats.org/drawingml/2006/main">
              <a:ext uri="{FF2B5EF4-FFF2-40B4-BE49-F238E27FC236}">
                <a16:creationId xmlns:a16="http://schemas.microsoft.com/office/drawing/2014/main" id="{BDD12765-45BB-409C-96F4-8E5AA92C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200400"/>
          </a:xfrm>
          <a:prstGeom xmlns:a="http://schemas.openxmlformats.org/drawingml/2006/main" prst="roundRect">
            <a:avLst>
              <a:gd name="adj" fmla="val 267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201">
            <a:extLst xmlns:a="http://schemas.openxmlformats.org/drawingml/2006/main">
              <a:ext uri="{FF2B5EF4-FFF2-40B4-BE49-F238E27FC236}">
                <a16:creationId xmlns:a16="http://schemas.microsoft.com/office/drawing/2014/main" id="{A1B4E739-D775-4B45-AF18-9ADC1C9F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089309"/>
            <a:ext cx="11099483" cy="3174683"/>
          </a:xfrm>
          <a:prstGeom xmlns:a="http://schemas.openxmlformats.org/drawingml/2006/main" prst="roundRect">
            <a:avLst>
              <a:gd name="adj" fmla="val 23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202">
            <a:extLst xmlns:a="http://schemas.openxmlformats.org/drawingml/2006/main">
              <a:ext uri="{FF2B5EF4-FFF2-40B4-BE49-F238E27FC236}">
                <a16:creationId xmlns:a16="http://schemas.microsoft.com/office/drawing/2014/main" id="{7BAB8AC4-2A92-4FF8-A78E-5241A73F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3200400"/>
          </a:xfrm>
          <a:custGeom xmlns:a="http://schemas.openxmlformats.org/drawingml/2006/main">
            <a:pathLst>
              <a:path w="11125200" h="3200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BD120-A069-453B-A1BA-77172707DF10}"/>
              </a:ext>
            </a:extLst>
          </p:cNvPr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190750"/>
                <a:gridCol w="3048000"/>
                <a:gridCol w="4019550"/>
              </a:tblGrid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保护对象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典型使用场景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关联实例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实例入出方向访问约束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数据库仅允许应用源访问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ACL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关联子网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对子网实施整体访问约束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按子网执行补充访问限制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CFW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已接入的网络边界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统一访问策略、检测与日志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VPC 访问与外联管控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WAF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HTTP(S) Web 应用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识别并拦截 Web 应用攻击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网站入口的 SQL 注入防护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正文-业务示例">
            <a:extLst xmlns:a="http://schemas.openxmlformats.org/drawingml/2006/main">
              <a:ext uri="{FF2B5EF4-FFF2-40B4-BE49-F238E27FC236}">
                <a16:creationId xmlns:a16="http://schemas.microsoft.com/office/drawing/2014/main" id="{A1C74B0C-DF63-4BD9-AB73-ABA60A28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800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00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业务示例</ns0:t>
            </ns0:r>
          </ns0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D4EB29A9-6B96-4465-9899-5FEFAE28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72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72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TCP 3306 访问需核对源安全组出方向、目的安全组入方向、CFW 与服务监听。</ns0:t>
            </ns0:r>
          </ns0:p>
        </p:txBody>
      </p:sp>
    </p:spTree>
    <p:extLst>
      <p:ext uri="{BB962C8B-B14F-4D97-AF65-F5344CB8AC3E}">
        <p14:creationId xmlns:p14="http://schemas.microsoft.com/office/powerpoint/2010/main" val="473262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F35BEB0A-2FC6-4618-9DBD-E64E926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0D15708-304F-4C79-9BE8-F825C9B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路由审核需要看实际命中的路径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DA64476-0D35-4791-8792-067B32A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VPC 默认路由指向 ER 存在场景约束，需与 ER 内部引流路由分别判断</ns0:t>
            </ns0:r>
          </ns0:p>
        </p:txBody>
      </p:sp>
      <p:sp>
        <p:nvSpPr>
          <p:cNvPr id="4" name="正文-下表为示例配置。每次变更都需确认子网关联、去回程与更具体路由的影响">
            <a:extLst xmlns:a="http://schemas.openxmlformats.org/drawingml/2006/main">
              <a:ext uri="{FF2B5EF4-FFF2-40B4-BE49-F238E27FC236}">
                <a16:creationId xmlns:a16="http://schemas.microsoft.com/office/drawing/2014/main" id="{00797354-4F61-4FEE-8DF9-0352D031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下表为示例配置。每次变更都需确认子网关联、去回程与更具体路由的影响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28F5CFEA-068A-4F01-B6F8-AD46105B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15">
            <a:extLst xmlns:a="http://schemas.openxmlformats.org/drawingml/2006/main">
              <a:ext uri="{FF2B5EF4-FFF2-40B4-BE49-F238E27FC236}">
                <a16:creationId xmlns:a16="http://schemas.microsoft.com/office/drawing/2014/main" id="{7942416D-2284-4A4A-9AB5-9138507D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r">
              <ns1:def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15</ns1:t>
            </ns1:r>
          </ns1:p>
        </p:txBody>
      </p:sp>
      <p:sp>
        <p:nvSpPr>
          <p:cNvPr id="7" name="统一风格-表格玻璃容器玻璃后沿-203">
            <a:extLst xmlns:a="http://schemas.openxmlformats.org/drawingml/2006/main">
              <a:ext uri="{FF2B5EF4-FFF2-40B4-BE49-F238E27FC236}">
                <a16:creationId xmlns:a16="http://schemas.microsoft.com/office/drawing/2014/main" id="{762522D1-0D4D-40AD-84EA-750B449E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11125200" cy="2486025"/>
          </a:xfrm>
          <a:prstGeom xmlns:a="http://schemas.openxmlformats.org/drawingml/2006/main" prst="roundRect">
            <a:avLst>
              <a:gd name="adj" fmla="val 344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204">
            <a:extLst xmlns:a="http://schemas.openxmlformats.org/drawingml/2006/main">
              <a:ext uri="{FF2B5EF4-FFF2-40B4-BE49-F238E27FC236}">
                <a16:creationId xmlns:a16="http://schemas.microsoft.com/office/drawing/2014/main" id="{0E26E8EC-50AE-43D8-94DF-ECEF24D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11125200" cy="2486025"/>
          </a:xfrm>
          <a:prstGeom xmlns:a="http://schemas.openxmlformats.org/drawingml/2006/main" prst="roundRect">
            <a:avLst>
              <a:gd name="adj" fmla="val 344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205">
            <a:extLst xmlns:a="http://schemas.openxmlformats.org/drawingml/2006/main">
              <a:ext uri="{FF2B5EF4-FFF2-40B4-BE49-F238E27FC236}">
                <a16:creationId xmlns:a16="http://schemas.microsoft.com/office/drawing/2014/main" id="{EAB6FE3C-7B64-4BCB-BFB5-C3740FC8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36934"/>
            <a:ext cx="11099483" cy="2460308"/>
          </a:xfrm>
          <a:prstGeom xmlns:a="http://schemas.openxmlformats.org/drawingml/2006/main" prst="roundRect">
            <a:avLst>
              <a:gd name="adj" fmla="val 298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206">
            <a:extLst xmlns:a="http://schemas.openxmlformats.org/drawingml/2006/main">
              <a:ext uri="{FF2B5EF4-FFF2-40B4-BE49-F238E27FC236}">
                <a16:creationId xmlns:a16="http://schemas.microsoft.com/office/drawing/2014/main" id="{47BC2D22-0419-49F5-9CDD-2D9FD29A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11125200" cy="2486025"/>
          </a:xfrm>
          <a:custGeom xmlns:a="http://schemas.openxmlformats.org/drawingml/2006/main">
            <a:pathLst>
              <a:path w="11125200" h="248602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769D7-B4AE-4D86-99C3-FB4036497274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162550"/>
              </a:tblGrid>
              <a:tr h="777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审核判断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77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10.30.0.0/16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预期跨 VPC 检查路径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77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10.30.20.0/24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旧对等连接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更具体目标范围可能走旧路径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E5A15B9-545D-4CD8-BB60-15F36DF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1A65B478-8E99-4C06-BE5F-0ACF3D0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子网关联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D6DCB632-0700-45F4-A682-FF7DEB73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319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核对子网实际关联，</ns1:t>
            </ns1:r>
          </ns1:p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确认修改的表会生效。</ns2:t>
            </ns2:r>
          </ns2:p>
        </p:txBody>
      </p:sp>
      <p:sp>
        <p:nvSpPr>
          <p:cNvPr id="1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8DEE5B0-C3C9-4100-AC3C-2FF7C5A0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00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6" name="txt-14">
            <a:extLst xmlns:a="http://schemas.openxmlformats.org/drawingml/2006/main">
              <a:ext uri="{FF2B5EF4-FFF2-40B4-BE49-F238E27FC236}">
                <a16:creationId xmlns:a16="http://schemas.microsoft.com/office/drawing/2014/main" id="{9A5E4A6A-116F-42C6-B31F-A65EC7B8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实际命中</a:t>
            </a:r>
          </a:p>
        </p:txBody>
      </p:sp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8081714A-C5B9-417A-967A-968AA8A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95900"/>
            <a:ext cx="319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3:p xmlns:ns3="http://schemas.openxmlformats.org/drawingml/2006/main">
            <ns3:pPr algn="l">
              <ns3:def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rPr>
              <ns3:t>对具体目标查更具体路由，</ns3:t>
            </ns3:r>
          </ns3:p>
          <ns4:p xmlns:ns4="http://schemas.openxmlformats.org/drawingml/2006/main">
            <ns4:pPr algn="l">
              <ns4:defRPr sz="157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57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rPr>
              <ns4:t>核对真实下一跳。</ns4:t>
            </ns4:r>
          </ns4:p>
        </p:txBody>
      </p:sp>
      <p:sp>
        <p:nvSpPr>
          <p:cNvPr id="18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0535E9D-1D27-4C57-8EAE-631E8C8E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00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F73CB752-2970-46CB-A6E6-08B11375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双向验证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B2DE3A83-D0D9-46DA-A346-E567DF4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95900"/>
            <a:ext cx="308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 algn="l">
              <ns5:defRPr sz="1575" b="0">
                <ns5:solidFill>
                  <ns5:srgbClr val="16335F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575" b="0">
                <ns5:solidFill>
                  <ns5:srgbClr val="16335F"/>
                </ns5:solidFill>
                <ns5:latin typeface="Microsoft YaHei"/>
                <ns5:ea typeface="Microsoft YaHei"/>
                <ns5:cs typeface="Microsoft YaHei"/>
              </ns5:rPr>
              <ns5:t>核验去回程；涉及 EIP 等服务，</ns5:t>
            </ns5:r>
          </ns5:p>
          <ns6:p xmlns:ns6="http://schemas.openxmlformats.org/drawingml/2006/main">
            <ns6:pPr algn="l">
              <ns6:defRPr sz="1575" b="0">
                <ns6:solidFill>
                  <ns6:srgbClr val="16335F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575" b="0">
                <ns6:solidFill>
                  <ns6:srgbClr val="16335F"/>
                </ns6:solidFill>
                <ns6:latin typeface="Microsoft YaHei"/>
                <ns6:ea typeface="Microsoft YaHei"/>
                <ns6:cs typeface="Microsoft YaHei"/>
              </ns6:rPr>
              <ns6:t>另查默认路由兼容性。</ns6:t>
            </ns6:r>
          </ns6:p>
        </p:txBody>
      </p:sp>
    </p:spTree>
    <p:extLst>
      <p:ext uri="{BB962C8B-B14F-4D97-AF65-F5344CB8AC3E}">
        <p14:creationId xmlns:p14="http://schemas.microsoft.com/office/powerpoint/2010/main" val="2026051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92607BF6-C587-4915-95DB-E4B64B6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FA08FD3-D623-463B-9118-16BA3C6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运维接入与公网暴露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57FFBC2D-7BB8-4803-8B28-F91F0AE1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生产管理集中接入并审计；经 NAT、WAF、CDN 或代理后需核对观测源地址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4FE11CD7-0AA1-4C44-A62E-82C0AAD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图示为建议的组织基线，具体接入方式需结合企业现有架构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4FCAC9F-8151-4BB9-99DE-34D8302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16">
            <a:extLst xmlns:a="http://schemas.openxmlformats.org/drawingml/2006/main">
              <a:ext uri="{FF2B5EF4-FFF2-40B4-BE49-F238E27FC236}">
                <a16:creationId xmlns:a16="http://schemas.microsoft.com/office/drawing/2014/main" id="{2B4AA9F2-3558-408C-978D-2CF9051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r">
              <ns1:def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16</ns1:t>
            </ns1:r>
          </ns1:p>
        </p:txBody>
      </p:sp>
      <p:sp>
        <p:nvSpPr>
          <p:cNvPr id="7" name="统一风格-ops 运维终端玻璃后沿-207">
            <a:extLst xmlns:a="http://schemas.openxmlformats.org/drawingml/2006/main">
              <a:ext uri="{FF2B5EF4-FFF2-40B4-BE49-F238E27FC236}">
                <a16:creationId xmlns:a16="http://schemas.microsoft.com/office/drawing/2014/main" id="{21954838-49A0-40E8-B9F1-72CEDD2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ops 运维终端-208">
            <a:extLst xmlns:a="http://schemas.openxmlformats.org/drawingml/2006/main">
              <a:ext uri="{FF2B5EF4-FFF2-40B4-BE49-F238E27FC236}">
                <a16:creationId xmlns:a16="http://schemas.microsoft.com/office/drawing/2014/main" id="{2DB2B0A5-A8A5-4C8F-918E-66AAE088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ops 运维终端玻璃内沿-209">
            <a:extLst xmlns:a="http://schemas.openxmlformats.org/drawingml/2006/main">
              <a:ext uri="{FF2B5EF4-FFF2-40B4-BE49-F238E27FC236}">
                <a16:creationId xmlns:a16="http://schemas.microsoft.com/office/drawing/2014/main" id="{25EB59E6-5387-4618-AA1D-B3C5584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210231"/>
            <a:ext cx="1506628" cy="1086168"/>
          </a:xfrm>
          <a:prstGeom xmlns:a="http://schemas.openxmlformats.org/drawingml/2006/main" prst="roundRect">
            <a:avLst>
              <a:gd name="adj" fmla="val 67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ops 运维终端透光反射面-210">
            <a:extLst xmlns:a="http://schemas.openxmlformats.org/drawingml/2006/main">
              <a:ext uri="{FF2B5EF4-FFF2-40B4-BE49-F238E27FC236}">
                <a16:creationId xmlns:a16="http://schemas.microsoft.com/office/drawing/2014/main" id="{E2EBFEC9-2AE7-4D1C-B986-F18B7E68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6422"/>
            <a:ext cx="1494246" cy="1073785"/>
          </a:xfrm>
          <a:custGeom xmlns:a="http://schemas.openxmlformats.org/drawingml/2006/main"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ops 运维终端边缘高光-211">
            <a:extLst xmlns:a="http://schemas.openxmlformats.org/drawingml/2006/main">
              <a:ext uri="{FF2B5EF4-FFF2-40B4-BE49-F238E27FC236}">
                <a16:creationId xmlns:a16="http://schemas.microsoft.com/office/drawing/2014/main" id="{66DD3CD6-9FF0-457B-AB6E-72FD1DB0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7372"/>
            <a:ext cx="1532346" cy="1111885"/>
          </a:xfrm>
          <a:custGeom xmlns:a="http://schemas.openxmlformats.org/drawingml/2006/main"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212">
            <a:extLst xmlns:a="http://schemas.openxmlformats.org/drawingml/2006/main">
              <a:ext uri="{FF2B5EF4-FFF2-40B4-BE49-F238E27FC236}">
                <a16:creationId xmlns:a16="http://schemas.microsoft.com/office/drawing/2014/main" id="{645D5195-5498-49B4-921D-A84F7F39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2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laptop 终端底座-213">
            <a:extLst xmlns:a="http://schemas.openxmlformats.org/drawingml/2006/main">
              <a:ext uri="{FF2B5EF4-FFF2-40B4-BE49-F238E27FC236}">
                <a16:creationId xmlns:a16="http://schemas.microsoft.com/office/drawing/2014/main" id="{B7EF4C90-80AE-4AD9-B610-7842019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2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laptop 终端内容-214">
            <a:extLst xmlns:a="http://schemas.openxmlformats.org/drawingml/2006/main">
              <a:ext uri="{FF2B5EF4-FFF2-40B4-BE49-F238E27FC236}">
                <a16:creationId xmlns:a16="http://schemas.microsoft.com/office/drawing/2014/main" id="{54B1A862-095C-4533-A420-C4A65F58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2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5" name="统一风格-文字 运维终端-215">
            <a:extLst xmlns:a="http://schemas.openxmlformats.org/drawingml/2006/main">
              <a:ext uri="{FF2B5EF4-FFF2-40B4-BE49-F238E27FC236}">
                <a16:creationId xmlns:a16="http://schemas.microsoft.com/office/drawing/2014/main" id="{4912F510-6D68-4EC4-9851-C564ED35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2842079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运维终端</a:t>
            </a:r>
          </a:p>
        </p:txBody>
      </p:sp>
      <p:sp>
        <p:nvSpPr>
          <p:cNvPr id="16" name="统一风格-ops VPN玻璃后沿-216">
            <a:extLst xmlns:a="http://schemas.openxmlformats.org/drawingml/2006/main">
              <a:ext uri="{FF2B5EF4-FFF2-40B4-BE49-F238E27FC236}">
                <a16:creationId xmlns:a16="http://schemas.microsoft.com/office/drawing/2014/main" id="{5DE309EA-F3C2-4188-8A6B-E5FE3C3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6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ops VPN-217">
            <a:extLst xmlns:a="http://schemas.openxmlformats.org/drawingml/2006/main">
              <a:ext uri="{FF2B5EF4-FFF2-40B4-BE49-F238E27FC236}">
                <a16:creationId xmlns:a16="http://schemas.microsoft.com/office/drawing/2014/main" id="{F39583C2-4E96-4BDF-B069-7D466E85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6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ops VPN玻璃内沿-218">
            <a:extLst xmlns:a="http://schemas.openxmlformats.org/drawingml/2006/main">
              <a:ext uri="{FF2B5EF4-FFF2-40B4-BE49-F238E27FC236}">
                <a16:creationId xmlns:a16="http://schemas.microsoft.com/office/drawing/2014/main" id="{D2BDD676-53A4-4988-B3DE-248E3C04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9" y="2210231"/>
            <a:ext cx="1506628" cy="1086168"/>
          </a:xfrm>
          <a:prstGeom xmlns:a="http://schemas.openxmlformats.org/drawingml/2006/main" prst="roundRect">
            <a:avLst>
              <a:gd name="adj" fmla="val 67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ops VPN透光反射面-219">
            <a:extLst xmlns:a="http://schemas.openxmlformats.org/drawingml/2006/main">
              <a:ext uri="{FF2B5EF4-FFF2-40B4-BE49-F238E27FC236}">
                <a16:creationId xmlns:a16="http://schemas.microsoft.com/office/drawing/2014/main" id="{B605D978-94E5-444C-9245-8B114E7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610" y="2216422"/>
            <a:ext cx="1494246" cy="1073785"/>
          </a:xfrm>
          <a:custGeom xmlns:a="http://schemas.openxmlformats.org/drawingml/2006/main"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ops VPN边缘高光-220">
            <a:extLst xmlns:a="http://schemas.openxmlformats.org/drawingml/2006/main">
              <a:ext uri="{FF2B5EF4-FFF2-40B4-BE49-F238E27FC236}">
                <a16:creationId xmlns:a16="http://schemas.microsoft.com/office/drawing/2014/main" id="{4B240C09-8A13-4A54-87E5-C1E635E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60" y="2197372"/>
            <a:ext cx="1532346" cy="1111885"/>
          </a:xfrm>
          <a:custGeom xmlns:a="http://schemas.openxmlformats.org/drawingml/2006/main"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lock 安全盾-221">
            <a:extLst xmlns:a="http://schemas.openxmlformats.org/drawingml/2006/main">
              <a:ext uri="{FF2B5EF4-FFF2-40B4-BE49-F238E27FC236}">
                <a16:creationId xmlns:a16="http://schemas.microsoft.com/office/drawing/2014/main" id="{BD7BDCF0-6B33-4F53-AF45-DA9C81C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lock 锁梁-222">
            <a:extLst xmlns:a="http://schemas.openxmlformats.org/drawingml/2006/main">
              <a:ext uri="{FF2B5EF4-FFF2-40B4-BE49-F238E27FC236}">
                <a16:creationId xmlns:a16="http://schemas.microsoft.com/office/drawing/2014/main" id="{A71128B0-B31B-4FA3-B8F7-0EA9B165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3" name="统一风格-lock 锁体-223">
            <a:extLst xmlns:a="http://schemas.openxmlformats.org/drawingml/2006/main">
              <a:ext uri="{FF2B5EF4-FFF2-40B4-BE49-F238E27FC236}">
                <a16:creationId xmlns:a16="http://schemas.microsoft.com/office/drawing/2014/main" id="{3863B964-96D2-4D4E-866E-777B21ED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4" name="统一风格-lock 锁孔-224">
            <a:extLst xmlns:a="http://schemas.openxmlformats.org/drawingml/2006/main">
              <a:ext uri="{FF2B5EF4-FFF2-40B4-BE49-F238E27FC236}">
                <a16:creationId xmlns:a16="http://schemas.microsoft.com/office/drawing/2014/main" id="{7254FF40-1907-44A5-A3C2-870217E9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48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5" name="统一风格-文字 VPN-225">
            <a:extLst xmlns:a="http://schemas.openxmlformats.org/drawingml/2006/main">
              <a:ext uri="{FF2B5EF4-FFF2-40B4-BE49-F238E27FC236}">
                <a16:creationId xmlns:a16="http://schemas.microsoft.com/office/drawing/2014/main" id="{F4CEBF9F-0E16-42C4-B8EE-2304CB8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2842079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VPN</a:t>
            </a:r>
          </a:p>
        </p:txBody>
      </p:sp>
      <p:sp>
        <p:nvSpPr>
          <p:cNvPr id="26" name="统一风格-ops 堡垒机玻璃后沿-226">
            <a:extLst xmlns:a="http://schemas.openxmlformats.org/drawingml/2006/main">
              <a:ext uri="{FF2B5EF4-FFF2-40B4-BE49-F238E27FC236}">
                <a16:creationId xmlns:a16="http://schemas.microsoft.com/office/drawing/2014/main" id="{BD05DB2D-3513-45D8-A8D3-066AE0DE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52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统一风格-ops 堡垒机-227">
            <a:extLst xmlns:a="http://schemas.openxmlformats.org/drawingml/2006/main">
              <a:ext uri="{FF2B5EF4-FFF2-40B4-BE49-F238E27FC236}">
                <a16:creationId xmlns:a16="http://schemas.microsoft.com/office/drawing/2014/main" id="{4ED31926-BFEA-4B2E-83DF-0B2532E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52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ops 堡垒机玻璃内沿-228">
            <a:extLst xmlns:a="http://schemas.openxmlformats.org/drawingml/2006/main">
              <a:ext uri="{FF2B5EF4-FFF2-40B4-BE49-F238E27FC236}">
                <a16:creationId xmlns:a16="http://schemas.microsoft.com/office/drawing/2014/main" id="{2A980878-547D-4EF5-8F99-9C9DA8BC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379" y="2210231"/>
            <a:ext cx="1506628" cy="1086168"/>
          </a:xfrm>
          <a:prstGeom xmlns:a="http://schemas.openxmlformats.org/drawingml/2006/main" prst="roundRect">
            <a:avLst>
              <a:gd name="adj" fmla="val 67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ops 堡垒机透光反射面-229">
            <a:extLst xmlns:a="http://schemas.openxmlformats.org/drawingml/2006/main">
              <a:ext uri="{FF2B5EF4-FFF2-40B4-BE49-F238E27FC236}">
                <a16:creationId xmlns:a16="http://schemas.microsoft.com/office/drawing/2014/main" id="{248FE3BA-159C-4621-8026-2B7E47AD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570" y="2216422"/>
            <a:ext cx="1494246" cy="1073785"/>
          </a:xfrm>
          <a:custGeom xmlns:a="http://schemas.openxmlformats.org/drawingml/2006/main"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0" name="统一风格-ops 堡垒机边缘高光-230">
            <a:extLst xmlns:a="http://schemas.openxmlformats.org/drawingml/2006/main">
              <a:ext uri="{FF2B5EF4-FFF2-40B4-BE49-F238E27FC236}">
                <a16:creationId xmlns:a16="http://schemas.microsoft.com/office/drawing/2014/main" id="{0CE65711-807C-4062-AA99-3262AFC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520" y="2197372"/>
            <a:ext cx="1532346" cy="1111885"/>
          </a:xfrm>
          <a:custGeom xmlns:a="http://schemas.openxmlformats.org/drawingml/2006/main"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server 服务器机架-231">
            <a:extLst xmlns:a="http://schemas.openxmlformats.org/drawingml/2006/main">
              <a:ext uri="{FF2B5EF4-FFF2-40B4-BE49-F238E27FC236}">
                <a16:creationId xmlns:a16="http://schemas.microsoft.com/office/drawing/2014/main" id="{DD58CDDF-4994-49A5-AF7C-5B73DDB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2" name="统一风格-server 机架状态-232">
            <a:extLst xmlns:a="http://schemas.openxmlformats.org/drawingml/2006/main">
              <a:ext uri="{FF2B5EF4-FFF2-40B4-BE49-F238E27FC236}">
                <a16:creationId xmlns:a16="http://schemas.microsoft.com/office/drawing/2014/main" id="{8C40C293-1FE2-4C33-B346-BB16978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3" name="统一风格-server 指示灯-233">
            <a:extLst xmlns:a="http://schemas.openxmlformats.org/drawingml/2006/main">
              <a:ext uri="{FF2B5EF4-FFF2-40B4-BE49-F238E27FC236}">
                <a16:creationId xmlns:a16="http://schemas.microsoft.com/office/drawing/2014/main" id="{2EAB647C-1487-425E-A79E-C73828BA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" name="统一风格-server 服务器机架-234">
            <a:extLst xmlns:a="http://schemas.openxmlformats.org/drawingml/2006/main">
              <a:ext uri="{FF2B5EF4-FFF2-40B4-BE49-F238E27FC236}">
                <a16:creationId xmlns:a16="http://schemas.microsoft.com/office/drawing/2014/main" id="{56CE09C7-CB21-4E27-9DC9-4365A566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5" name="统一风格-server 机架状态-235">
            <a:extLst xmlns:a="http://schemas.openxmlformats.org/drawingml/2006/main">
              <a:ext uri="{FF2B5EF4-FFF2-40B4-BE49-F238E27FC236}">
                <a16:creationId xmlns:a16="http://schemas.microsoft.com/office/drawing/2014/main" id="{21D3969D-2BE7-43C6-A45F-F4615EF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6" name="统一风格-server 指示灯-236">
            <a:extLst xmlns:a="http://schemas.openxmlformats.org/drawingml/2006/main">
              <a:ext uri="{FF2B5EF4-FFF2-40B4-BE49-F238E27FC236}">
                <a16:creationId xmlns:a16="http://schemas.microsoft.com/office/drawing/2014/main" id="{58AC706E-D45B-40AA-819C-7A476E0F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" name="统一风格-server 服务器机架-237">
            <a:extLst xmlns:a="http://schemas.openxmlformats.org/drawingml/2006/main">
              <a:ext uri="{FF2B5EF4-FFF2-40B4-BE49-F238E27FC236}">
                <a16:creationId xmlns:a16="http://schemas.microsoft.com/office/drawing/2014/main" id="{D305D8C6-F90D-4830-9163-1FD77EA9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8" name="统一风格-server 机架状态-238">
            <a:extLst xmlns:a="http://schemas.openxmlformats.org/drawingml/2006/main">
              <a:ext uri="{FF2B5EF4-FFF2-40B4-BE49-F238E27FC236}">
                <a16:creationId xmlns:a16="http://schemas.microsoft.com/office/drawing/2014/main" id="{A57239EE-A6B4-4416-B34D-32CEEF3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9" name="统一风格-server 指示灯-239">
            <a:extLst xmlns:a="http://schemas.openxmlformats.org/drawingml/2006/main">
              <a:ext uri="{FF2B5EF4-FFF2-40B4-BE49-F238E27FC236}">
                <a16:creationId xmlns:a16="http://schemas.microsoft.com/office/drawing/2014/main" id="{91857F2A-38C7-4B25-B57C-06F9D547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44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" name="统一风格-文字 堡垒机-240">
            <a:extLst xmlns:a="http://schemas.openxmlformats.org/drawingml/2006/main">
              <a:ext uri="{FF2B5EF4-FFF2-40B4-BE49-F238E27FC236}">
                <a16:creationId xmlns:a16="http://schemas.microsoft.com/office/drawing/2014/main" id="{7A4375AD-1CC2-4EAE-AE84-162474B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925" y="2842079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sp>
        <p:nvSpPr>
          <p:cNvPr id="41" name="统一风格-ops 生产 VPC玻璃后沿-241">
            <a:extLst xmlns:a="http://schemas.openxmlformats.org/drawingml/2006/main">
              <a:ext uri="{FF2B5EF4-FFF2-40B4-BE49-F238E27FC236}">
                <a16:creationId xmlns:a16="http://schemas.microsoft.com/office/drawing/2014/main" id="{77935DC7-C37B-4C8D-A1CA-060A572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统一风格-ops 生产 VPC-242">
            <a:extLst xmlns:a="http://schemas.openxmlformats.org/drawingml/2006/main">
              <a:ext uri="{FF2B5EF4-FFF2-40B4-BE49-F238E27FC236}">
                <a16:creationId xmlns:a16="http://schemas.microsoft.com/office/drawing/2014/main" id="{E3849301-2B18-4E6E-9505-3B67566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2197372"/>
            <a:ext cx="1532346" cy="1111885"/>
          </a:xfrm>
          <a:prstGeom xmlns:a="http://schemas.openxmlformats.org/drawingml/2006/main" prst="roundRect">
            <a:avLst>
              <a:gd name="adj" fmla="val 771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ops 生产 VPC玻璃内沿-243">
            <a:extLst xmlns:a="http://schemas.openxmlformats.org/drawingml/2006/main">
              <a:ext uri="{FF2B5EF4-FFF2-40B4-BE49-F238E27FC236}">
                <a16:creationId xmlns:a16="http://schemas.microsoft.com/office/drawing/2014/main" id="{627E1B8B-2EE9-43B9-A919-8809600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339" y="2210231"/>
            <a:ext cx="1506628" cy="1086168"/>
          </a:xfrm>
          <a:prstGeom xmlns:a="http://schemas.openxmlformats.org/drawingml/2006/main" prst="roundRect">
            <a:avLst>
              <a:gd name="adj" fmla="val 67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ops 生产 VPC透光反射面-244">
            <a:extLst xmlns:a="http://schemas.openxmlformats.org/drawingml/2006/main">
              <a:ext uri="{FF2B5EF4-FFF2-40B4-BE49-F238E27FC236}">
                <a16:creationId xmlns:a16="http://schemas.microsoft.com/office/drawing/2014/main" id="{D34F8B53-2596-4B8B-80D9-A9D784C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530" y="2216422"/>
            <a:ext cx="1494246" cy="1073785"/>
          </a:xfrm>
          <a:custGeom xmlns:a="http://schemas.openxmlformats.org/drawingml/2006/main"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5" name="统一风格-ops 生产 VPC边缘高光-245">
            <a:extLst xmlns:a="http://schemas.openxmlformats.org/drawingml/2006/main">
              <a:ext uri="{FF2B5EF4-FFF2-40B4-BE49-F238E27FC236}">
                <a16:creationId xmlns:a16="http://schemas.microsoft.com/office/drawing/2014/main" id="{4161BCEA-A6B1-47E9-B62A-A4749BE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2197372"/>
            <a:ext cx="1532346" cy="1111885"/>
          </a:xfrm>
          <a:custGeom xmlns:a="http://schemas.openxmlformats.org/drawingml/2006/main"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6" name="统一风格-cloud VPC 云轮廓-246">
            <a:extLst xmlns:a="http://schemas.openxmlformats.org/drawingml/2006/main">
              <a:ext uri="{FF2B5EF4-FFF2-40B4-BE49-F238E27FC236}">
                <a16:creationId xmlns:a16="http://schemas.microsoft.com/office/drawing/2014/main" id="{005AF39F-DA95-4E17-A399-8BB3DBC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7" name="统一风格-文字 生产 VPC-247">
            <a:extLst xmlns:a="http://schemas.openxmlformats.org/drawingml/2006/main">
              <a:ext uri="{FF2B5EF4-FFF2-40B4-BE49-F238E27FC236}">
                <a16:creationId xmlns:a16="http://schemas.microsoft.com/office/drawing/2014/main" id="{9271268E-795B-4597-891B-322F490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885" y="2842079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 VPC</a:t>
            </a:r>
          </a:p>
        </p:txBody>
      </p:sp>
      <p:cxnSp>
        <p:nvCxnSpPr>
          <p:cNvPr id="48" name="统一拓扑-ops-连线-1">
            <a:extLst xmlns:a="http://schemas.openxmlformats.org/drawingml/2006/main">
              <a:ext uri="{FF2B5EF4-FFF2-40B4-BE49-F238E27FC236}">
                <a16:creationId xmlns:a16="http://schemas.microsoft.com/office/drawing/2014/main" id="{97DFE45F-3395-41AB-B6BC-0C5A4D8DDA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41946" y="2753315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9" name="统一拓扑-ops-连线-2">
            <a:extLst xmlns:a="http://schemas.openxmlformats.org/drawingml/2006/main">
              <a:ext uri="{FF2B5EF4-FFF2-40B4-BE49-F238E27FC236}">
                <a16:creationId xmlns:a16="http://schemas.microsoft.com/office/drawing/2014/main" id="{8DF020CA-EFBA-488D-A4FF-AC192B5B9C4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34906" y="2753315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ops-连线-3">
            <a:extLst xmlns:a="http://schemas.openxmlformats.org/drawingml/2006/main">
              <a:ext uri="{FF2B5EF4-FFF2-40B4-BE49-F238E27FC236}">
                <a16:creationId xmlns:a16="http://schemas.microsoft.com/office/drawing/2014/main" id="{43404B0B-FFCD-44EF-A56D-D87894C786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27866" y="2753315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51" name="统一风格-ops 关系文字衬底-248">
            <a:extLst xmlns:a="http://schemas.openxmlformats.org/drawingml/2006/main">
              <a:ext uri="{FF2B5EF4-FFF2-40B4-BE49-F238E27FC236}">
                <a16:creationId xmlns:a16="http://schemas.microsoft.com/office/drawing/2014/main" id="{DC91323F-6C54-4759-98F2-F5BBF81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869" y="3561534"/>
            <a:ext cx="3513183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52" name="统一风格-文字 身份认证与操作审计-249">
            <a:extLst xmlns:a="http://schemas.openxmlformats.org/drawingml/2006/main">
              <a:ext uri="{FF2B5EF4-FFF2-40B4-BE49-F238E27FC236}">
                <a16:creationId xmlns:a16="http://schemas.microsoft.com/office/drawing/2014/main" id="{45B154A1-0F0B-453E-94F4-63C13B2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244" y="3561534"/>
            <a:ext cx="3438434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身份认证与操作审计</a:t>
            </a:r>
          </a:p>
        </p:txBody>
      </p:sp>
      <p:sp>
        <p:nvSpPr>
          <p:cNvPr id="53" name="统一风格-ops 任意公网来源玻璃后沿-250">
            <a:extLst xmlns:a="http://schemas.openxmlformats.org/drawingml/2006/main">
              <a:ext uri="{FF2B5EF4-FFF2-40B4-BE49-F238E27FC236}">
                <a16:creationId xmlns:a16="http://schemas.microsoft.com/office/drawing/2014/main" id="{28A5D9A4-3216-4BFE-84F7-AB946DC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7204"/>
            <a:ext cx="1532346" cy="1083854"/>
          </a:xfrm>
          <a:prstGeom xmlns:a="http://schemas.openxmlformats.org/drawingml/2006/main" prst="roundRect">
            <a:avLst>
              <a:gd name="adj" fmla="val 79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统一风格-ops 任意公网来源-251">
            <a:extLst xmlns:a="http://schemas.openxmlformats.org/drawingml/2006/main">
              <a:ext uri="{FF2B5EF4-FFF2-40B4-BE49-F238E27FC236}">
                <a16:creationId xmlns:a16="http://schemas.microsoft.com/office/drawing/2014/main" id="{A0ED3169-7524-4811-9B08-17CA26C2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7204"/>
            <a:ext cx="1532346" cy="1083854"/>
          </a:xfrm>
          <a:prstGeom xmlns:a="http://schemas.openxmlformats.org/drawingml/2006/main" prst="roundRect">
            <a:avLst>
              <a:gd name="adj" fmla="val 79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5" name="统一风格-ops 任意公网来源玻璃内沿-252">
            <a:extLst xmlns:a="http://schemas.openxmlformats.org/drawingml/2006/main">
              <a:ext uri="{FF2B5EF4-FFF2-40B4-BE49-F238E27FC236}">
                <a16:creationId xmlns:a16="http://schemas.microsoft.com/office/drawing/2014/main" id="{B0F1845D-708B-4910-A69D-861198F5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490062"/>
            <a:ext cx="1506628" cy="1058137"/>
          </a:xfrm>
          <a:prstGeom xmlns:a="http://schemas.openxmlformats.org/drawingml/2006/main" prst="roundRect">
            <a:avLst>
              <a:gd name="adj" fmla="val 693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6" name="统一风格-ops 任意公网来源透光反射面-253">
            <a:extLst xmlns:a="http://schemas.openxmlformats.org/drawingml/2006/main">
              <a:ext uri="{FF2B5EF4-FFF2-40B4-BE49-F238E27FC236}">
                <a16:creationId xmlns:a16="http://schemas.microsoft.com/office/drawing/2014/main" id="{FBD37754-3E5F-45E8-969D-098E5EF2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6254"/>
            <a:ext cx="1494246" cy="1045754"/>
          </a:xfrm>
          <a:custGeom xmlns:a="http://schemas.openxmlformats.org/drawingml/2006/main"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7" name="统一风格-ops 任意公网来源边缘高光-254">
            <a:extLst xmlns:a="http://schemas.openxmlformats.org/drawingml/2006/main">
              <a:ext uri="{FF2B5EF4-FFF2-40B4-BE49-F238E27FC236}">
                <a16:creationId xmlns:a16="http://schemas.microsoft.com/office/drawing/2014/main" id="{376A46C6-8FD4-479A-A189-B75DF3B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7204"/>
            <a:ext cx="1532346" cy="1083854"/>
          </a:xfrm>
          <a:custGeom xmlns:a="http://schemas.openxmlformats.org/drawingml/2006/main"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8" name="统一风格-globe 互联网外形-255">
            <a:extLst xmlns:a="http://schemas.openxmlformats.org/drawingml/2006/main">
              <a:ext uri="{FF2B5EF4-FFF2-40B4-BE49-F238E27FC236}">
                <a16:creationId xmlns:a16="http://schemas.microsoft.com/office/drawing/2014/main" id="{54289E84-7F70-4AC7-9F31-5EFBD80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2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9" name="统一风格-globe 经纬线-256">
            <a:extLst xmlns:a="http://schemas.openxmlformats.org/drawingml/2006/main">
              <a:ext uri="{FF2B5EF4-FFF2-40B4-BE49-F238E27FC236}">
                <a16:creationId xmlns:a16="http://schemas.microsoft.com/office/drawing/2014/main" id="{8D96B632-4D4E-429F-9400-677D09F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2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0" name="统一风格-文字 任意公网来源-257">
            <a:extLst xmlns:a="http://schemas.openxmlformats.org/drawingml/2006/main">
              <a:ext uri="{FF2B5EF4-FFF2-40B4-BE49-F238E27FC236}">
                <a16:creationId xmlns:a16="http://schemas.microsoft.com/office/drawing/2014/main" id="{636321D9-C17F-47D5-ADC2-B7BEF14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5121910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任意公网来源</a:t>
            </a:r>
          </a:p>
        </p:txBody>
      </p:sp>
      <p:sp>
        <p:nvSpPr>
          <p:cNvPr id="61" name="统一风格-ops 管理端口玻璃后沿-258">
            <a:extLst xmlns:a="http://schemas.openxmlformats.org/drawingml/2006/main">
              <a:ext uri="{FF2B5EF4-FFF2-40B4-BE49-F238E27FC236}">
                <a16:creationId xmlns:a16="http://schemas.microsoft.com/office/drawing/2014/main" id="{2B2DD18F-2739-4E17-AB4F-F39B255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477204"/>
            <a:ext cx="1532346" cy="1083854"/>
          </a:xfrm>
          <a:prstGeom xmlns:a="http://schemas.openxmlformats.org/drawingml/2006/main" prst="roundRect">
            <a:avLst>
              <a:gd name="adj" fmla="val 79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2" name="统一风格-ops 管理端口-259">
            <a:extLst xmlns:a="http://schemas.openxmlformats.org/drawingml/2006/main">
              <a:ext uri="{FF2B5EF4-FFF2-40B4-BE49-F238E27FC236}">
                <a16:creationId xmlns:a16="http://schemas.microsoft.com/office/drawing/2014/main" id="{57DDC669-99EF-4D35-AA52-3F03E99F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477204"/>
            <a:ext cx="1532346" cy="1083854"/>
          </a:xfrm>
          <a:prstGeom xmlns:a="http://schemas.openxmlformats.org/drawingml/2006/main" prst="roundRect">
            <a:avLst>
              <a:gd name="adj" fmla="val 79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3" name="统一风格-ops 管理端口玻璃内沿-260">
            <a:extLst xmlns:a="http://schemas.openxmlformats.org/drawingml/2006/main">
              <a:ext uri="{FF2B5EF4-FFF2-40B4-BE49-F238E27FC236}">
                <a16:creationId xmlns:a16="http://schemas.microsoft.com/office/drawing/2014/main" id="{C4D86104-892B-4954-9FEA-063294ED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339" y="4490062"/>
            <a:ext cx="1506628" cy="1058137"/>
          </a:xfrm>
          <a:prstGeom xmlns:a="http://schemas.openxmlformats.org/drawingml/2006/main" prst="roundRect">
            <a:avLst>
              <a:gd name="adj" fmla="val 693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4" name="统一风格-ops 管理端口透光反射面-261">
            <a:extLst xmlns:a="http://schemas.openxmlformats.org/drawingml/2006/main">
              <a:ext uri="{FF2B5EF4-FFF2-40B4-BE49-F238E27FC236}">
                <a16:creationId xmlns:a16="http://schemas.microsoft.com/office/drawing/2014/main" id="{9A19F0AC-8725-4922-9BD8-4AC9FDF4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530" y="4496254"/>
            <a:ext cx="1494246" cy="1045754"/>
          </a:xfrm>
          <a:custGeom xmlns:a="http://schemas.openxmlformats.org/drawingml/2006/main"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65" name="统一风格-ops 管理端口边缘高光-262">
            <a:extLst xmlns:a="http://schemas.openxmlformats.org/drawingml/2006/main">
              <a:ext uri="{FF2B5EF4-FFF2-40B4-BE49-F238E27FC236}">
                <a16:creationId xmlns:a16="http://schemas.microsoft.com/office/drawing/2014/main" id="{DEA10C63-298D-442F-901C-055181A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477204"/>
            <a:ext cx="1532346" cy="1083854"/>
          </a:xfrm>
          <a:custGeom xmlns:a="http://schemas.openxmlformats.org/drawingml/2006/main"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6" name="统一风格-server 服务器机架-263">
            <a:extLst xmlns:a="http://schemas.openxmlformats.org/drawingml/2006/main">
              <a:ext uri="{FF2B5EF4-FFF2-40B4-BE49-F238E27FC236}">
                <a16:creationId xmlns:a16="http://schemas.microsoft.com/office/drawing/2014/main" id="{4B8E5777-A975-435A-BFF7-A836BEB3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7" name="统一风格-server 机架状态-264">
            <a:extLst xmlns:a="http://schemas.openxmlformats.org/drawingml/2006/main">
              <a:ext uri="{FF2B5EF4-FFF2-40B4-BE49-F238E27FC236}">
                <a16:creationId xmlns:a16="http://schemas.microsoft.com/office/drawing/2014/main" id="{B0E40AFA-731C-43D1-BE3D-28B90E26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8" name="统一风格-server 指示灯-265">
            <a:extLst xmlns:a="http://schemas.openxmlformats.org/drawingml/2006/main">
              <a:ext uri="{FF2B5EF4-FFF2-40B4-BE49-F238E27FC236}">
                <a16:creationId xmlns:a16="http://schemas.microsoft.com/office/drawing/2014/main" id="{8979AD0E-D6B5-48D6-890B-02E16CA8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9" name="统一风格-server 服务器机架-266">
            <a:extLst xmlns:a="http://schemas.openxmlformats.org/drawingml/2006/main">
              <a:ext uri="{FF2B5EF4-FFF2-40B4-BE49-F238E27FC236}">
                <a16:creationId xmlns:a16="http://schemas.microsoft.com/office/drawing/2014/main" id="{5EB12508-AC6F-4FE6-A297-EC105F0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0" name="统一风格-server 机架状态-267">
            <a:extLst xmlns:a="http://schemas.openxmlformats.org/drawingml/2006/main">
              <a:ext uri="{FF2B5EF4-FFF2-40B4-BE49-F238E27FC236}">
                <a16:creationId xmlns:a16="http://schemas.microsoft.com/office/drawing/2014/main" id="{03FADA1B-37E3-45BE-BBC9-830F1C4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1" name="统一风格-server 指示灯-268">
            <a:extLst xmlns:a="http://schemas.openxmlformats.org/drawingml/2006/main">
              <a:ext uri="{FF2B5EF4-FFF2-40B4-BE49-F238E27FC236}">
                <a16:creationId xmlns:a16="http://schemas.microsoft.com/office/drawing/2014/main" id="{4BC7097E-4640-40AF-9316-AE51943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2" name="统一风格-server 服务器机架-269">
            <a:extLst xmlns:a="http://schemas.openxmlformats.org/drawingml/2006/main">
              <a:ext uri="{FF2B5EF4-FFF2-40B4-BE49-F238E27FC236}">
                <a16:creationId xmlns:a16="http://schemas.microsoft.com/office/drawing/2014/main" id="{FBF197BF-04CA-4745-850F-1664DC4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3" name="统一风格-server 机架状态-270">
            <a:extLst xmlns:a="http://schemas.openxmlformats.org/drawingml/2006/main">
              <a:ext uri="{FF2B5EF4-FFF2-40B4-BE49-F238E27FC236}">
                <a16:creationId xmlns:a16="http://schemas.microsoft.com/office/drawing/2014/main" id="{C0987D4A-EEFE-4DAB-A2C7-C7F1D25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4" name="统一风格-server 指示灯-271">
            <a:extLst xmlns:a="http://schemas.openxmlformats.org/drawingml/2006/main">
              <a:ext uri="{FF2B5EF4-FFF2-40B4-BE49-F238E27FC236}">
                <a16:creationId xmlns:a16="http://schemas.microsoft.com/office/drawing/2014/main" id="{C6AA6A8A-9B9E-41E5-B74D-4622AB99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7" y="458932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5" name="统一风格-文字 管理端口-272">
            <a:extLst xmlns:a="http://schemas.openxmlformats.org/drawingml/2006/main">
              <a:ext uri="{FF2B5EF4-FFF2-40B4-BE49-F238E27FC236}">
                <a16:creationId xmlns:a16="http://schemas.microsoft.com/office/drawing/2014/main" id="{D543F4D9-43AA-4ED5-9AA8-09DF6930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885" y="5121910"/>
            <a:ext cx="14015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管理端口</a:t>
            </a:r>
          </a:p>
        </p:txBody>
      </p:sp>
      <p:cxnSp>
        <p:nvCxnSpPr>
          <p:cNvPr id="76" name="统一拓扑-ops-连线-4">
            <a:extLst xmlns:a="http://schemas.openxmlformats.org/drawingml/2006/main">
              <a:ext uri="{FF2B5EF4-FFF2-40B4-BE49-F238E27FC236}">
                <a16:creationId xmlns:a16="http://schemas.microsoft.com/office/drawing/2014/main" id="{7E8B39EE-7534-4F81-8583-6D7770B117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41946" y="5019131"/>
            <a:ext cx="474653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77" name="统一拓扑-ops-连线-5">
            <a:extLst xmlns:a="http://schemas.openxmlformats.org/drawingml/2006/main">
              <a:ext uri="{FF2B5EF4-FFF2-40B4-BE49-F238E27FC236}">
                <a16:creationId xmlns:a16="http://schemas.microsoft.com/office/drawing/2014/main" id="{9C13A6EE-41A3-46D8-B86B-36B178B8BA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1777" y="4907008"/>
            <a:ext cx="224246" cy="224246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cxnSp>
        <p:nvCxnSpPr>
          <p:cNvPr id="78" name="统一拓扑-ops-连线-6">
            <a:extLst xmlns:a="http://schemas.openxmlformats.org/drawingml/2006/main">
              <a:ext uri="{FF2B5EF4-FFF2-40B4-BE49-F238E27FC236}">
                <a16:creationId xmlns:a16="http://schemas.microsoft.com/office/drawing/2014/main" id="{6E6EEB72-1A1B-44CE-9B8A-AB49350AA5F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421777" y="4907008"/>
            <a:ext cx="224246" cy="224246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sp>
        <p:nvSpPr>
          <p:cNvPr id="79" name="统一风格-ops 关系文字衬底-273">
            <a:extLst xmlns:a="http://schemas.openxmlformats.org/drawingml/2006/main">
              <a:ext uri="{FF2B5EF4-FFF2-40B4-BE49-F238E27FC236}">
                <a16:creationId xmlns:a16="http://schemas.microsoft.com/office/drawing/2014/main" id="{1951123A-641F-445D-A61D-187DDBCB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31" y="5355499"/>
            <a:ext cx="3288937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80" name="统一风格-文字 直接公网管理默认不开放-274">
            <a:extLst xmlns:a="http://schemas.openxmlformats.org/drawingml/2006/main">
              <a:ext uri="{FF2B5EF4-FFF2-40B4-BE49-F238E27FC236}">
                <a16:creationId xmlns:a16="http://schemas.microsoft.com/office/drawing/2014/main" id="{A9B7D5A7-9CA7-4FA5-8148-AF109C4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806" y="5355499"/>
            <a:ext cx="3214189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直接公网管理默认不开放</a:t>
            </a:r>
          </a:p>
        </p:txBody>
      </p:sp>
      <p:sp>
        <p:nvSpPr>
          <p:cNvPr id="8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49F935AE-8C55-4559-85CE-D308A88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82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E699796F-7207-4CFD-9EF8-7A0DC3A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3" name="txt-82">
            <a:extLst xmlns:a="http://schemas.openxmlformats.org/drawingml/2006/main">
              <a:ext uri="{FF2B5EF4-FFF2-40B4-BE49-F238E27FC236}">
                <a16:creationId xmlns:a16="http://schemas.microsoft.com/office/drawing/2014/main" id="{676932CF-A550-4A8D-9ED5-C0DCEDD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84" name="txt-83">
            <a:extLst xmlns:a="http://schemas.openxmlformats.org/drawingml/2006/main">
              <a:ext uri="{FF2B5EF4-FFF2-40B4-BE49-F238E27FC236}">
                <a16:creationId xmlns:a16="http://schemas.microsoft.com/office/drawing/2014/main" id="{8284B266-12E4-46A4-957B-F6D7BFB8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VPN 或企业批准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的方式接入</a:t>
            </a:r>
          </a:p>
        </p:txBody>
      </p:sp>
      <p:sp>
        <p:nvSpPr>
          <p:cNvPr id="8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2CC5FEB-7E5C-4C4E-9976-69E951B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6" name="txt-85">
            <a:extLst xmlns:a="http://schemas.openxmlformats.org/drawingml/2006/main">
              <a:ext uri="{FF2B5EF4-FFF2-40B4-BE49-F238E27FC236}">
                <a16:creationId xmlns:a16="http://schemas.microsoft.com/office/drawing/2014/main" id="{F780B8F7-B1E2-4F5F-BAA1-0969802E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87" name="txt-86">
            <a:extLst xmlns:a="http://schemas.openxmlformats.org/drawingml/2006/main">
              <a:ext uri="{FF2B5EF4-FFF2-40B4-BE49-F238E27FC236}">
                <a16:creationId xmlns:a16="http://schemas.microsoft.com/office/drawing/2014/main" id="{DD601A02-7D2D-436A-A2B4-1CFB628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堡垒机控制身份、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目标与操作权限</a:t>
            </a:r>
          </a:p>
        </p:txBody>
      </p:sp>
      <p:sp>
        <p:nvSpPr>
          <p:cNvPr id="88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49825D6-1DE8-4856-999E-C2F646B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9" name="txt-88">
            <a:extLst xmlns:a="http://schemas.openxmlformats.org/drawingml/2006/main">
              <a:ext uri="{FF2B5EF4-FFF2-40B4-BE49-F238E27FC236}">
                <a16:creationId xmlns:a16="http://schemas.microsoft.com/office/drawing/2014/main" id="{2B3897EB-9018-4550-B576-8A03D97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暴露面</a:t>
            </a:r>
          </a:p>
        </p:txBody>
      </p:sp>
      <p:sp>
        <p:nvSpPr>
          <p:cNvPr id="90" name="txt-89">
            <a:extLst xmlns:a="http://schemas.openxmlformats.org/drawingml/2006/main">
              <a:ext uri="{FF2B5EF4-FFF2-40B4-BE49-F238E27FC236}">
                <a16:creationId xmlns:a16="http://schemas.microsoft.com/office/drawing/2014/main" id="{C522A288-CC61-4381-8266-1719AB11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IPv4 / IPv6 都需验证，</ns1:t>
            </ns1:r>
          </ns1:p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临时公网管理按例外限时。</ns2:t>
            </ns2:r>
          </ns2:p>
        </p:txBody>
      </p:sp>
    </p:spTree>
    <p:extLst>
      <p:ext uri="{BB962C8B-B14F-4D97-AF65-F5344CB8AC3E}">
        <p14:creationId xmlns:p14="http://schemas.microsoft.com/office/powerpoint/2010/main" val="174602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49944819-35F2-4FEA-AD47-6B021E7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rPr>
              <ns1:t>01  VPC 基础与规范</ns1:t>
            </ns1:r>
          </ns1:p>
        </p:txBody>
      </p:sp>
      <p:sp>
        <p:nvSpPr>
          <p:cNvPr id="2" name="正文-VPC 使用的关键原则">
            <a:extLst xmlns:a="http://schemas.openxmlformats.org/drawingml/2006/main">
              <a:ext uri="{FF2B5EF4-FFF2-40B4-BE49-F238E27FC236}">
                <a16:creationId xmlns:a16="http://schemas.microsoft.com/office/drawing/2014/main" id="{0C5C5100-D7E8-44AB-89AE-66A838A1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VPC 使用的关键原则</ns0:t>
            </ns0:r>
          </ns0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096DA1E-782B-4538-BE9D-CB746B8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子网名称体现用途，安全策略落实访问边界</a:t>
            </a:r>
          </a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CA84794-EF5E-4218-BAB0-7B76F1B3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09">
            <a:extLst xmlns:a="http://schemas.openxmlformats.org/drawingml/2006/main">
              <a:ext uri="{FF2B5EF4-FFF2-40B4-BE49-F238E27FC236}">
                <a16:creationId xmlns:a16="http://schemas.microsoft.com/office/drawing/2014/main" id="{056E38C6-994C-4451-B11A-94011D1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r">
              <ns2:defRPr sz="120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200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rPr>
              <ns2:t>09</ns2:t>
            </ns2:r>
          </ns2:p>
        </p:txBody>
      </p:sp>
      <p:sp>
        <p:nvSpPr>
          <p:cNvPr id="6" name="统一风格-章节要点模块玻璃后沿-275">
            <a:extLst xmlns:a="http://schemas.openxmlformats.org/drawingml/2006/main">
              <a:ext uri="{FF2B5EF4-FFF2-40B4-BE49-F238E27FC236}">
                <a16:creationId xmlns:a16="http://schemas.microsoft.com/office/drawing/2014/main" id="{C3CB4A85-B189-4DA1-97D2-6F5DCC9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章节要点模块-276">
            <a:extLst xmlns:a="http://schemas.openxmlformats.org/drawingml/2006/main">
              <a:ext uri="{FF2B5EF4-FFF2-40B4-BE49-F238E27FC236}">
                <a16:creationId xmlns:a16="http://schemas.microsoft.com/office/drawing/2014/main" id="{766BBA3F-014B-4D08-BCB9-0BC99BC4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章节要点模块玻璃内沿-277">
            <a:extLst xmlns:a="http://schemas.openxmlformats.org/drawingml/2006/main">
              <a:ext uri="{FF2B5EF4-FFF2-40B4-BE49-F238E27FC236}">
                <a16:creationId xmlns:a16="http://schemas.microsoft.com/office/drawing/2014/main" id="{E6B324B3-6699-451B-A1E8-FB8E58AB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章节要点模块透光反射面-278">
            <a:extLst xmlns:a="http://schemas.openxmlformats.org/drawingml/2006/main">
              <a:ext uri="{FF2B5EF4-FFF2-40B4-BE49-F238E27FC236}">
                <a16:creationId xmlns:a16="http://schemas.microsoft.com/office/drawing/2014/main" id="{7799AC85-95FD-4240-91A5-0BE5A00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章节要点模块边缘高光-279">
            <a:extLst xmlns:a="http://schemas.openxmlformats.org/drawingml/2006/main">
              <a:ext uri="{FF2B5EF4-FFF2-40B4-BE49-F238E27FC236}">
                <a16:creationId xmlns:a16="http://schemas.microsoft.com/office/drawing/2014/main" id="{F1DED0A2-9F28-46C4-BEE4-FC69038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20700731-B4FE-43BB-A374-35332B3D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地址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561F83A3-4943-407E-B842-CD71E51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无冲突、有容量、能定位 Owner</a:t>
            </a:r>
          </a:p>
        </p:txBody>
      </p:sp>
      <p:sp>
        <p:nvSpPr>
          <p:cNvPr id="13" name="统一风格-章节要点模块玻璃后沿-280">
            <a:extLst xmlns:a="http://schemas.openxmlformats.org/drawingml/2006/main">
              <a:ext uri="{FF2B5EF4-FFF2-40B4-BE49-F238E27FC236}">
                <a16:creationId xmlns:a16="http://schemas.microsoft.com/office/drawing/2014/main" id="{B602F59C-227A-4D7C-BEAC-D3B4A0E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统一风格-章节要点模块-281">
            <a:extLst xmlns:a="http://schemas.openxmlformats.org/drawingml/2006/main">
              <a:ext uri="{FF2B5EF4-FFF2-40B4-BE49-F238E27FC236}">
                <a16:creationId xmlns:a16="http://schemas.microsoft.com/office/drawing/2014/main" id="{D8C8A07D-B07C-48FF-B10F-DA65B87F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章节要点模块玻璃内沿-282">
            <a:extLst xmlns:a="http://schemas.openxmlformats.org/drawingml/2006/main">
              <a:ext uri="{FF2B5EF4-FFF2-40B4-BE49-F238E27FC236}">
                <a16:creationId xmlns:a16="http://schemas.microsoft.com/office/drawing/2014/main" id="{018EFCAE-401C-4E93-B6B8-57C07EA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32755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章节要点模块透光反射面-283">
            <a:extLst xmlns:a="http://schemas.openxmlformats.org/drawingml/2006/main">
              <a:ext uri="{FF2B5EF4-FFF2-40B4-BE49-F238E27FC236}">
                <a16:creationId xmlns:a16="http://schemas.microsoft.com/office/drawing/2014/main" id="{65DE3296-88E1-4B59-8F13-9D57D5F1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7" name="统一风格-章节要点模块边缘高光-284">
            <a:extLst xmlns:a="http://schemas.openxmlformats.org/drawingml/2006/main">
              <a:ext uri="{FF2B5EF4-FFF2-40B4-BE49-F238E27FC236}">
                <a16:creationId xmlns:a16="http://schemas.microsoft.com/office/drawing/2014/main" id="{43F257D3-CCEF-4FD6-8BBA-4CD0576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67150069-C0D8-4FA5-9D0C-CD00D377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A04519E3-67A6-4AC7-928F-77615E1F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去回程明确，能证明实际下一跳</a:t>
            </a:r>
          </a:p>
        </p:txBody>
      </p:sp>
      <p:sp>
        <p:nvSpPr>
          <p:cNvPr id="20" name="统一风格-章节要点模块玻璃后沿-285">
            <a:extLst xmlns:a="http://schemas.openxmlformats.org/drawingml/2006/main">
              <a:ext uri="{FF2B5EF4-FFF2-40B4-BE49-F238E27FC236}">
                <a16:creationId xmlns:a16="http://schemas.microsoft.com/office/drawing/2014/main" id="{DE9AADBC-7233-4277-843E-653ACB3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统一风格-章节要点模块-286">
            <a:extLst xmlns:a="http://schemas.openxmlformats.org/drawingml/2006/main">
              <a:ext uri="{FF2B5EF4-FFF2-40B4-BE49-F238E27FC236}">
                <a16:creationId xmlns:a16="http://schemas.microsoft.com/office/drawing/2014/main" id="{E8B05886-ED00-4FD9-8C6D-9CCADA6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2" name="统一风格-章节要点模块玻璃内沿-287">
            <a:extLst xmlns:a="http://schemas.openxmlformats.org/drawingml/2006/main">
              <a:ext uri="{FF2B5EF4-FFF2-40B4-BE49-F238E27FC236}">
                <a16:creationId xmlns:a16="http://schemas.microsoft.com/office/drawing/2014/main" id="{9C32AA46-42EF-4CFC-A17E-421F118A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52770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3" name="统一风格-章节要点模块透光反射面-288">
            <a:extLst xmlns:a="http://schemas.openxmlformats.org/drawingml/2006/main">
              <a:ext uri="{FF2B5EF4-FFF2-40B4-BE49-F238E27FC236}">
                <a16:creationId xmlns:a16="http://schemas.microsoft.com/office/drawing/2014/main" id="{855CAC8F-0F94-4AAF-B556-EC0DDF3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4" name="统一风格-章节要点模块边缘高光-289">
            <a:extLst xmlns:a="http://schemas.openxmlformats.org/drawingml/2006/main">
              <a:ext uri="{FF2B5EF4-FFF2-40B4-BE49-F238E27FC236}">
                <a16:creationId xmlns:a16="http://schemas.microsoft.com/office/drawing/2014/main" id="{3891E827-AFF0-49D9-A1C9-51A34A8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6EB2FDBA-37F5-4339-9EBA-32643A1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91F97345-356A-4CA0-A87D-3BDE196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只授权业务所需来源与端口</a:t>
            </a:r>
          </a:p>
        </p:txBody>
      </p:sp>
    </p:spTree>
    <p:extLst>
      <p:ext uri="{BB962C8B-B14F-4D97-AF65-F5344CB8AC3E}">
        <p14:creationId xmlns:p14="http://schemas.microsoft.com/office/powerpoint/2010/main" val="2060634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E6CDEBC3-6A41-4AB6-BC1B-7CAFCDF3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596C78B-959A-44DE-B456-77EE64F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的检查范围取决于接入边界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0C753D9-E9BA-40F3-85CB-BF91062D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VPC 边界防护需专业版能力与 ER 引流，互联网 / NAT 边界分别核验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DA095C45-C181-404B-B842-C714279E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同 VPC 子网间流量不能仅凭购买 CFW 就认定已受检查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F076EC19-E0A6-464E-9B35-71F0A965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31">
            <a:extLst xmlns:a="http://schemas.openxmlformats.org/drawingml/2006/main">
              <a:ext uri="{FF2B5EF4-FFF2-40B4-BE49-F238E27FC236}">
                <a16:creationId xmlns:a16="http://schemas.microsoft.com/office/drawing/2014/main" id="{17E97AD9-AE3F-4F50-BC63-0872288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50</ns0:t>
            </ns0:r>
          </ns0:p>
        </p:txBody>
      </p:sp>
      <p:sp>
        <p:nvSpPr>
          <p:cNvPr id="7" name="统一风格-flat-boundaries 互联网玻璃后沿-290">
            <a:extLst xmlns:a="http://schemas.openxmlformats.org/drawingml/2006/main">
              <a:ext uri="{FF2B5EF4-FFF2-40B4-BE49-F238E27FC236}">
                <a16:creationId xmlns:a16="http://schemas.microsoft.com/office/drawing/2014/main" id="{50A362F3-0F5C-4150-BFF8-4A8CCD1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2624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flat-boundaries 互联网-291">
            <a:extLst xmlns:a="http://schemas.openxmlformats.org/drawingml/2006/main">
              <a:ext uri="{FF2B5EF4-FFF2-40B4-BE49-F238E27FC236}">
                <a16:creationId xmlns:a16="http://schemas.microsoft.com/office/drawing/2014/main" id="{59A3F5D5-173E-4548-AE83-82B38D8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2624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flat-boundaries 互联网玻璃内沿-292">
            <a:extLst xmlns:a="http://schemas.openxmlformats.org/drawingml/2006/main">
              <a:ext uri="{FF2B5EF4-FFF2-40B4-BE49-F238E27FC236}">
                <a16:creationId xmlns:a16="http://schemas.microsoft.com/office/drawing/2014/main" id="{94517193-45F8-4088-9BFE-65A805CA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35482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flat-boundaries 互联网透光反射面-293">
            <a:extLst xmlns:a="http://schemas.openxmlformats.org/drawingml/2006/main">
              <a:ext uri="{FF2B5EF4-FFF2-40B4-BE49-F238E27FC236}">
                <a16:creationId xmlns:a16="http://schemas.microsoft.com/office/drawing/2014/main" id="{311213F3-CE2E-4BDD-9042-F55C236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1674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flat-boundaries 互联网边缘高光-294">
            <a:extLst xmlns:a="http://schemas.openxmlformats.org/drawingml/2006/main">
              <a:ext uri="{FF2B5EF4-FFF2-40B4-BE49-F238E27FC236}">
                <a16:creationId xmlns:a16="http://schemas.microsoft.com/office/drawing/2014/main" id="{52B26ADA-4180-4A60-8EC7-CC92DBC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2624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globe 互联网外形-295">
            <a:extLst xmlns:a="http://schemas.openxmlformats.org/drawingml/2006/main">
              <a:ext uri="{FF2B5EF4-FFF2-40B4-BE49-F238E27FC236}">
                <a16:creationId xmlns:a16="http://schemas.microsoft.com/office/drawing/2014/main" id="{AF36006D-E9E3-4585-8F6D-DFB029A9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globe 经纬线-296">
            <a:extLst xmlns:a="http://schemas.openxmlformats.org/drawingml/2006/main">
              <a:ext uri="{FF2B5EF4-FFF2-40B4-BE49-F238E27FC236}">
                <a16:creationId xmlns:a16="http://schemas.microsoft.com/office/drawing/2014/main" id="{E3C22E90-623B-434C-8956-8B26C90C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文字 互联网-297">
            <a:extLst xmlns:a="http://schemas.openxmlformats.org/drawingml/2006/main">
              <a:ext uri="{FF2B5EF4-FFF2-40B4-BE49-F238E27FC236}">
                <a16:creationId xmlns:a16="http://schemas.microsoft.com/office/drawing/2014/main" id="{AD6BBFE5-9C35-4480-A37A-65900FB5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281464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15" name="统一风格-flat-boundaries CFW玻璃后沿-298">
            <a:extLst xmlns:a="http://schemas.openxmlformats.org/drawingml/2006/main">
              <a:ext uri="{FF2B5EF4-FFF2-40B4-BE49-F238E27FC236}">
                <a16:creationId xmlns:a16="http://schemas.microsoft.com/office/drawing/2014/main" id="{E253F360-11A8-46BF-B478-088F3ED5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2122624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flat-boundaries CFW-299">
            <a:extLst xmlns:a="http://schemas.openxmlformats.org/drawingml/2006/main">
              <a:ext uri="{FF2B5EF4-FFF2-40B4-BE49-F238E27FC236}">
                <a16:creationId xmlns:a16="http://schemas.microsoft.com/office/drawing/2014/main" id="{9CE734CF-3B58-45D8-8DCB-8C47F09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2122624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flat-boundaries CFW玻璃内沿-300">
            <a:extLst xmlns:a="http://schemas.openxmlformats.org/drawingml/2006/main">
              <a:ext uri="{FF2B5EF4-FFF2-40B4-BE49-F238E27FC236}">
                <a16:creationId xmlns:a16="http://schemas.microsoft.com/office/drawing/2014/main" id="{D3F8CA52-B0C2-4A3D-9EF2-643A584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61" y="2135482"/>
            <a:ext cx="2160678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flat-boundaries CFW透光反射面-301">
            <a:extLst xmlns:a="http://schemas.openxmlformats.org/drawingml/2006/main">
              <a:ext uri="{FF2B5EF4-FFF2-40B4-BE49-F238E27FC236}">
                <a16:creationId xmlns:a16="http://schemas.microsoft.com/office/drawing/2014/main" id="{A2DC8CAB-C3CD-43FD-95FA-04EF97E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752" y="2141674"/>
            <a:ext cx="2148296" cy="896257"/>
          </a:xfrm>
          <a:custGeom xmlns:a="http://schemas.openxmlformats.org/drawingml/2006/main"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flat-boundaries CFW边缘高光-302">
            <a:extLst xmlns:a="http://schemas.openxmlformats.org/drawingml/2006/main">
              <a:ext uri="{FF2B5EF4-FFF2-40B4-BE49-F238E27FC236}">
                <a16:creationId xmlns:a16="http://schemas.microsoft.com/office/drawing/2014/main" id="{E6C30FD7-D49D-4B0C-95C2-A72CE85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2122624"/>
            <a:ext cx="2186396" cy="934357"/>
          </a:xfrm>
          <a:custGeom xmlns:a="http://schemas.openxmlformats.org/drawingml/2006/main"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firewall CFW 砖墙-303">
            <a:extLst xmlns:a="http://schemas.openxmlformats.org/drawingml/2006/main">
              <a:ext uri="{FF2B5EF4-FFF2-40B4-BE49-F238E27FC236}">
                <a16:creationId xmlns:a16="http://schemas.microsoft.com/office/drawing/2014/main" id="{232EC099-62C8-4A48-8201-04FA3C0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1" name="统一风格-firewall CFW 砖缝-304">
            <a:extLst xmlns:a="http://schemas.openxmlformats.org/drawingml/2006/main">
              <a:ext uri="{FF2B5EF4-FFF2-40B4-BE49-F238E27FC236}">
                <a16:creationId xmlns:a16="http://schemas.microsoft.com/office/drawing/2014/main" id="{A479DD83-34C0-4970-B8E9-FBC73AE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firewall CFW 前景衬底-305">
            <a:extLst xmlns:a="http://schemas.openxmlformats.org/drawingml/2006/main">
              <a:ext uri="{FF2B5EF4-FFF2-40B4-BE49-F238E27FC236}">
                <a16:creationId xmlns:a16="http://schemas.microsoft.com/office/drawing/2014/main" id="{E6E608B2-A84E-4893-85EA-AF80D65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" name="统一风格-firewall CFW 简洁火焰-306">
            <a:extLst xmlns:a="http://schemas.openxmlformats.org/drawingml/2006/main">
              <a:ext uri="{FF2B5EF4-FFF2-40B4-BE49-F238E27FC236}">
                <a16:creationId xmlns:a16="http://schemas.microsoft.com/office/drawing/2014/main" id="{0942AAD3-4183-41DB-AA4D-BA6B776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4" name="统一风格-文字 CFW-307">
            <a:extLst xmlns:a="http://schemas.openxmlformats.org/drawingml/2006/main">
              <a:ext uri="{FF2B5EF4-FFF2-40B4-BE49-F238E27FC236}">
                <a16:creationId xmlns:a16="http://schemas.microsoft.com/office/drawing/2014/main" id="{CCF5A22C-EE53-43E3-ADD8-A483AA18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2281464"/>
            <a:ext cx="130810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25" name="统一风格-文字 检查已接入边界-308">
            <a:extLst xmlns:a="http://schemas.openxmlformats.org/drawingml/2006/main">
              <a:ext uri="{FF2B5EF4-FFF2-40B4-BE49-F238E27FC236}">
                <a16:creationId xmlns:a16="http://schemas.microsoft.com/office/drawing/2014/main" id="{CDF8F6C0-BC98-4EF4-956F-672D5F4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2608489"/>
            <a:ext cx="1308100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26" name="统一风格-flat-boundaries 云资产玻璃后沿-309">
            <a:extLst xmlns:a="http://schemas.openxmlformats.org/drawingml/2006/main">
              <a:ext uri="{FF2B5EF4-FFF2-40B4-BE49-F238E27FC236}">
                <a16:creationId xmlns:a16="http://schemas.microsoft.com/office/drawing/2014/main" id="{050CCD96-9E79-4701-B847-25224415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122624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统一风格-flat-boundaries 云资产-310">
            <a:extLst xmlns:a="http://schemas.openxmlformats.org/drawingml/2006/main">
              <a:ext uri="{FF2B5EF4-FFF2-40B4-BE49-F238E27FC236}">
                <a16:creationId xmlns:a16="http://schemas.microsoft.com/office/drawing/2014/main" id="{CA542F5A-7203-4967-9BC6-DAAEBABF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122624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flat-boundaries 云资产玻璃内沿-311">
            <a:extLst xmlns:a="http://schemas.openxmlformats.org/drawingml/2006/main">
              <a:ext uri="{FF2B5EF4-FFF2-40B4-BE49-F238E27FC236}">
                <a16:creationId xmlns:a16="http://schemas.microsoft.com/office/drawing/2014/main" id="{726BBF44-DA7B-4AF2-980F-986A30CC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350" y="2135482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flat-boundaries 云资产透光反射面-312">
            <a:extLst xmlns:a="http://schemas.openxmlformats.org/drawingml/2006/main">
              <a:ext uri="{FF2B5EF4-FFF2-40B4-BE49-F238E27FC236}">
                <a16:creationId xmlns:a16="http://schemas.microsoft.com/office/drawing/2014/main" id="{39BC7029-2613-4627-BFF1-84B5BB6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541" y="2141674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0" name="统一风格-flat-boundaries 云资产边缘高光-313">
            <a:extLst xmlns:a="http://schemas.openxmlformats.org/drawingml/2006/main">
              <a:ext uri="{FF2B5EF4-FFF2-40B4-BE49-F238E27FC236}">
                <a16:creationId xmlns:a16="http://schemas.microsoft.com/office/drawing/2014/main" id="{536F55E8-2197-42FC-920B-877A4F28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122624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cloud VPC 云轮廓-314">
            <a:extLst xmlns:a="http://schemas.openxmlformats.org/drawingml/2006/main">
              <a:ext uri="{FF2B5EF4-FFF2-40B4-BE49-F238E27FC236}">
                <a16:creationId xmlns:a16="http://schemas.microsoft.com/office/drawing/2014/main" id="{646A4B50-EFF4-4006-B1CE-61A74906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234686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2" name="统一风格-文字 云资产-315">
            <a:extLst xmlns:a="http://schemas.openxmlformats.org/drawingml/2006/main">
              <a:ext uri="{FF2B5EF4-FFF2-40B4-BE49-F238E27FC236}">
                <a16:creationId xmlns:a16="http://schemas.microsoft.com/office/drawing/2014/main" id="{0D2D2105-6EEB-469E-990F-F1EE841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08" y="2281464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云资产</a:t>
            </a:r>
          </a:p>
        </p:txBody>
      </p:sp>
      <p:cxnSp>
        <p:nvCxnSpPr>
          <p:cNvPr id="33" name="统一拓扑-flat-boundaries-连线-1">
            <a:extLst xmlns:a="http://schemas.openxmlformats.org/drawingml/2006/main">
              <a:ext uri="{FF2B5EF4-FFF2-40B4-BE49-F238E27FC236}">
                <a16:creationId xmlns:a16="http://schemas.microsoft.com/office/drawing/2014/main" id="{A92E519F-B99C-45D1-AC65-9AC50AA036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77309" y="2589802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4" name="统一拓扑-flat-boundaries-连线-2">
            <a:extLst xmlns:a="http://schemas.openxmlformats.org/drawingml/2006/main">
              <a:ext uri="{FF2B5EF4-FFF2-40B4-BE49-F238E27FC236}">
                <a16:creationId xmlns:a16="http://schemas.microsoft.com/office/drawing/2014/main" id="{3EB70E6C-6B97-427E-9700-9763C0ABD3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27098" y="2589802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flat-boundaries 关系文字衬底-316">
            <a:extLst xmlns:a="http://schemas.openxmlformats.org/drawingml/2006/main">
              <a:ext uri="{FF2B5EF4-FFF2-40B4-BE49-F238E27FC236}">
                <a16:creationId xmlns:a16="http://schemas.microsoft.com/office/drawing/2014/main" id="{1F1E3A2B-78AE-41A6-994D-5BC10D75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3094355"/>
            <a:ext cx="2915194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统一风格-文字 互联网边界 / 南北向-317">
            <a:extLst xmlns:a="http://schemas.openxmlformats.org/drawingml/2006/main">
              <a:ext uri="{FF2B5EF4-FFF2-40B4-BE49-F238E27FC236}">
                <a16:creationId xmlns:a16="http://schemas.microsoft.com/office/drawing/2014/main" id="{9FB97BDF-1A8F-42D9-9E16-222A1CA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677" y="3094355"/>
            <a:ext cx="2840446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互联网边界 / 南北向</a:t>
            </a:r>
          </a:p>
        </p:txBody>
      </p:sp>
      <p:sp>
        <p:nvSpPr>
          <p:cNvPr id="37" name="统一风格-flat-boundaries 应用 VPC玻璃后沿-318">
            <a:extLst xmlns:a="http://schemas.openxmlformats.org/drawingml/2006/main">
              <a:ext uri="{FF2B5EF4-FFF2-40B4-BE49-F238E27FC236}">
                <a16:creationId xmlns:a16="http://schemas.microsoft.com/office/drawing/2014/main" id="{0A19E4C5-B215-45DE-AE00-9ED5BA6A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693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统一风格-flat-boundaries 应用 VPC-319">
            <a:extLst xmlns:a="http://schemas.openxmlformats.org/drawingml/2006/main">
              <a:ext uri="{FF2B5EF4-FFF2-40B4-BE49-F238E27FC236}">
                <a16:creationId xmlns:a16="http://schemas.microsoft.com/office/drawing/2014/main" id="{81B8198A-2271-4750-BA69-57084F96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693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flat-boundaries 应用 VPC玻璃内沿-320">
            <a:extLst xmlns:a="http://schemas.openxmlformats.org/drawingml/2006/main">
              <a:ext uri="{FF2B5EF4-FFF2-40B4-BE49-F238E27FC236}">
                <a16:creationId xmlns:a16="http://schemas.microsoft.com/office/drawing/2014/main" id="{24412210-BCB4-4E9B-AD49-F7C3EF3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415552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flat-boundaries 应用 VPC透光反射面-321">
            <a:extLst xmlns:a="http://schemas.openxmlformats.org/drawingml/2006/main">
              <a:ext uri="{FF2B5EF4-FFF2-40B4-BE49-F238E27FC236}">
                <a16:creationId xmlns:a16="http://schemas.microsoft.com/office/drawing/2014/main" id="{8059C85D-26A7-44D1-B4D9-49D960D9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1743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1" name="统一风格-flat-boundaries 应用 VPC边缘高光-322">
            <a:extLst xmlns:a="http://schemas.openxmlformats.org/drawingml/2006/main">
              <a:ext uri="{FF2B5EF4-FFF2-40B4-BE49-F238E27FC236}">
                <a16:creationId xmlns:a16="http://schemas.microsoft.com/office/drawing/2014/main" id="{83E5B3CC-1F08-47C4-9F0B-645EFE9F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693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2" name="统一风格-cloud VPC 云轮廓-323">
            <a:extLst xmlns:a="http://schemas.openxmlformats.org/drawingml/2006/main">
              <a:ext uri="{FF2B5EF4-FFF2-40B4-BE49-F238E27FC236}">
                <a16:creationId xmlns:a16="http://schemas.microsoft.com/office/drawing/2014/main" id="{533DF89E-7242-4055-ADE7-5AFA3A2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3" name="统一风格-文字 应用 VPC-324">
            <a:extLst xmlns:a="http://schemas.openxmlformats.org/drawingml/2006/main">
              <a:ext uri="{FF2B5EF4-FFF2-40B4-BE49-F238E27FC236}">
                <a16:creationId xmlns:a16="http://schemas.microsoft.com/office/drawing/2014/main" id="{FE62E1C1-D4E2-405A-92F2-A39CDAF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3561534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44" name="统一风格-flat-boundaries CFW玻璃后沿-325">
            <a:extLst xmlns:a="http://schemas.openxmlformats.org/drawingml/2006/main">
              <a:ext uri="{FF2B5EF4-FFF2-40B4-BE49-F238E27FC236}">
                <a16:creationId xmlns:a16="http://schemas.microsoft.com/office/drawing/2014/main" id="{22C0CD50-70CE-4CA7-8F7E-D2146327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3402693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5" name="统一风格-flat-boundaries CFW-326">
            <a:extLst xmlns:a="http://schemas.openxmlformats.org/drawingml/2006/main">
              <a:ext uri="{FF2B5EF4-FFF2-40B4-BE49-F238E27FC236}">
                <a16:creationId xmlns:a16="http://schemas.microsoft.com/office/drawing/2014/main" id="{DB63BAC2-ED6B-4BEB-B44B-009D2B91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3402693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flat-boundaries CFW玻璃内沿-327">
            <a:extLst xmlns:a="http://schemas.openxmlformats.org/drawingml/2006/main">
              <a:ext uri="{FF2B5EF4-FFF2-40B4-BE49-F238E27FC236}">
                <a16:creationId xmlns:a16="http://schemas.microsoft.com/office/drawing/2014/main" id="{5F5A2B6C-9C5E-418F-BAC0-73D10469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61" y="3415552"/>
            <a:ext cx="2160678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flat-boundaries CFW透光反射面-328">
            <a:extLst xmlns:a="http://schemas.openxmlformats.org/drawingml/2006/main">
              <a:ext uri="{FF2B5EF4-FFF2-40B4-BE49-F238E27FC236}">
                <a16:creationId xmlns:a16="http://schemas.microsoft.com/office/drawing/2014/main" id="{A387F541-80C1-4EB5-B32B-191555B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752" y="3421743"/>
            <a:ext cx="2148296" cy="896257"/>
          </a:xfrm>
          <a:custGeom xmlns:a="http://schemas.openxmlformats.org/drawingml/2006/main"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8" name="统一风格-flat-boundaries CFW边缘高光-329">
            <a:extLst xmlns:a="http://schemas.openxmlformats.org/drawingml/2006/main">
              <a:ext uri="{FF2B5EF4-FFF2-40B4-BE49-F238E27FC236}">
                <a16:creationId xmlns:a16="http://schemas.microsoft.com/office/drawing/2014/main" id="{792F6423-35AD-4FAE-AAE4-F85C22E6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3402693"/>
            <a:ext cx="2186396" cy="934357"/>
          </a:xfrm>
          <a:custGeom xmlns:a="http://schemas.openxmlformats.org/drawingml/2006/main"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firewall CFW 砖墙-330">
            <a:extLst xmlns:a="http://schemas.openxmlformats.org/drawingml/2006/main">
              <a:ext uri="{FF2B5EF4-FFF2-40B4-BE49-F238E27FC236}">
                <a16:creationId xmlns:a16="http://schemas.microsoft.com/office/drawing/2014/main" id="{A76F12EB-B7CB-491D-86E3-2F804C3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0" name="统一风格-firewall CFW 砖缝-331">
            <a:extLst xmlns:a="http://schemas.openxmlformats.org/drawingml/2006/main">
              <a:ext uri="{FF2B5EF4-FFF2-40B4-BE49-F238E27FC236}">
                <a16:creationId xmlns:a16="http://schemas.microsoft.com/office/drawing/2014/main" id="{1C41B662-63A6-48A0-816B-1FB44E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1" name="统一风格-firewall CFW 前景衬底-332">
            <a:extLst xmlns:a="http://schemas.openxmlformats.org/drawingml/2006/main">
              <a:ext uri="{FF2B5EF4-FFF2-40B4-BE49-F238E27FC236}">
                <a16:creationId xmlns:a16="http://schemas.microsoft.com/office/drawing/2014/main" id="{9AA62115-9106-4CE6-AF2A-FC64E78B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52" name="统一风格-firewall CFW 简洁火焰-333">
            <a:extLst xmlns:a="http://schemas.openxmlformats.org/drawingml/2006/main">
              <a:ext uri="{FF2B5EF4-FFF2-40B4-BE49-F238E27FC236}">
                <a16:creationId xmlns:a16="http://schemas.microsoft.com/office/drawing/2014/main" id="{CD2DD8A8-B8AA-43EC-B8D3-16D717F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3" name="统一风格-文字 CFW-334">
            <a:extLst xmlns:a="http://schemas.openxmlformats.org/drawingml/2006/main">
              <a:ext uri="{FF2B5EF4-FFF2-40B4-BE49-F238E27FC236}">
                <a16:creationId xmlns:a16="http://schemas.microsoft.com/office/drawing/2014/main" id="{6FF5D7E3-5541-4415-83DB-222F2F6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3561534"/>
            <a:ext cx="130810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统一风格-文字 检查已接入边界-335">
            <a:extLst xmlns:a="http://schemas.openxmlformats.org/drawingml/2006/main">
              <a:ext uri="{FF2B5EF4-FFF2-40B4-BE49-F238E27FC236}">
                <a16:creationId xmlns:a16="http://schemas.microsoft.com/office/drawing/2014/main" id="{A10C935E-E6A7-4AAA-B00B-D413B429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3888559"/>
            <a:ext cx="1308100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55" name="统一风格-flat-boundaries 数据 VPC玻璃后沿-336">
            <a:extLst xmlns:a="http://schemas.openxmlformats.org/drawingml/2006/main">
              <a:ext uri="{FF2B5EF4-FFF2-40B4-BE49-F238E27FC236}">
                <a16:creationId xmlns:a16="http://schemas.microsoft.com/office/drawing/2014/main" id="{8C2855F1-B017-4EAC-AD8E-E94BF6B7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402693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" name="统一风格-flat-boundaries 数据 VPC-337">
            <a:extLst xmlns:a="http://schemas.openxmlformats.org/drawingml/2006/main">
              <a:ext uri="{FF2B5EF4-FFF2-40B4-BE49-F238E27FC236}">
                <a16:creationId xmlns:a16="http://schemas.microsoft.com/office/drawing/2014/main" id="{CE6FC339-BADD-4D3F-942D-E1A59CAC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402693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flat-boundaries 数据 VPC玻璃内沿-338">
            <a:extLst xmlns:a="http://schemas.openxmlformats.org/drawingml/2006/main">
              <a:ext uri="{FF2B5EF4-FFF2-40B4-BE49-F238E27FC236}">
                <a16:creationId xmlns:a16="http://schemas.microsoft.com/office/drawing/2014/main" id="{1E12DAF4-8E1F-4D24-8F98-811E821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350" y="3415552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flat-boundaries 数据 VPC透光反射面-339">
            <a:extLst xmlns:a="http://schemas.openxmlformats.org/drawingml/2006/main">
              <a:ext uri="{FF2B5EF4-FFF2-40B4-BE49-F238E27FC236}">
                <a16:creationId xmlns:a16="http://schemas.microsoft.com/office/drawing/2014/main" id="{B182AF01-C929-4648-A8C2-BE4073A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541" y="3421743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9" name="统一风格-flat-boundaries 数据 VPC边缘高光-340">
            <a:extLst xmlns:a="http://schemas.openxmlformats.org/drawingml/2006/main">
              <a:ext uri="{FF2B5EF4-FFF2-40B4-BE49-F238E27FC236}">
                <a16:creationId xmlns:a16="http://schemas.microsoft.com/office/drawing/2014/main" id="{A8D65595-5E3B-4DF0-ABAB-A8557239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402693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cloud VPC 云轮廓-341">
            <a:extLst xmlns:a="http://schemas.openxmlformats.org/drawingml/2006/main">
              <a:ext uri="{FF2B5EF4-FFF2-40B4-BE49-F238E27FC236}">
                <a16:creationId xmlns:a16="http://schemas.microsoft.com/office/drawing/2014/main" id="{CC4D0297-5F5D-4573-9A08-3D196FAB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3626939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1" name="统一风格-文字 数据 VPC-342">
            <a:extLst xmlns:a="http://schemas.openxmlformats.org/drawingml/2006/main">
              <a:ext uri="{FF2B5EF4-FFF2-40B4-BE49-F238E27FC236}">
                <a16:creationId xmlns:a16="http://schemas.microsoft.com/office/drawing/2014/main" id="{B7DDF797-01A3-442D-A583-C735472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08" y="3561534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cxnSp>
        <p:nvCxnSpPr>
          <p:cNvPr id="62" name="统一拓扑-flat-boundaries-连线-3">
            <a:extLst xmlns:a="http://schemas.openxmlformats.org/drawingml/2006/main">
              <a:ext uri="{FF2B5EF4-FFF2-40B4-BE49-F238E27FC236}">
                <a16:creationId xmlns:a16="http://schemas.microsoft.com/office/drawing/2014/main" id="{ADCFDEFC-7FEE-4B3A-9438-386A53C08E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77309" y="3869871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flat-boundaries-连线-4">
            <a:extLst xmlns:a="http://schemas.openxmlformats.org/drawingml/2006/main">
              <a:ext uri="{FF2B5EF4-FFF2-40B4-BE49-F238E27FC236}">
                <a16:creationId xmlns:a16="http://schemas.microsoft.com/office/drawing/2014/main" id="{D5B73E72-DA57-4221-8A69-6B9EE12DC3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27098" y="3869871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4" name="统一风格-flat-boundaries 关系文字衬底-343">
            <a:extLst xmlns:a="http://schemas.openxmlformats.org/drawingml/2006/main">
              <a:ext uri="{FF2B5EF4-FFF2-40B4-BE49-F238E27FC236}">
                <a16:creationId xmlns:a16="http://schemas.microsoft.com/office/drawing/2014/main" id="{16577981-E838-4CA2-81D9-F1C79B5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4374424"/>
            <a:ext cx="2915194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65" name="统一风格-文字 VPC 边界 / 东西向-344">
            <a:extLst xmlns:a="http://schemas.openxmlformats.org/drawingml/2006/main">
              <a:ext uri="{FF2B5EF4-FFF2-40B4-BE49-F238E27FC236}">
                <a16:creationId xmlns:a16="http://schemas.microsoft.com/office/drawing/2014/main" id="{831274C6-4BB8-4D18-90DA-668DFD3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677" y="4374424"/>
            <a:ext cx="2840446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 边界 / 东西向</a:t>
            </a:r>
          </a:p>
        </p:txBody>
      </p:sp>
      <p:sp>
        <p:nvSpPr>
          <p:cNvPr id="66" name="统一风格-flat-boundaries IDC玻璃后沿-345">
            <a:extLst xmlns:a="http://schemas.openxmlformats.org/drawingml/2006/main">
              <a:ext uri="{FF2B5EF4-FFF2-40B4-BE49-F238E27FC236}">
                <a16:creationId xmlns:a16="http://schemas.microsoft.com/office/drawing/2014/main" id="{F4BADC92-09CD-4A7A-9B0D-87CEF7D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2762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统一风格-flat-boundaries IDC-346">
            <a:extLst xmlns:a="http://schemas.openxmlformats.org/drawingml/2006/main">
              <a:ext uri="{FF2B5EF4-FFF2-40B4-BE49-F238E27FC236}">
                <a16:creationId xmlns:a16="http://schemas.microsoft.com/office/drawing/2014/main" id="{95E3E441-3F25-4F92-B327-EAB50F91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2762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8" name="统一风格-flat-boundaries IDC玻璃内沿-347">
            <a:extLst xmlns:a="http://schemas.openxmlformats.org/drawingml/2006/main">
              <a:ext uri="{FF2B5EF4-FFF2-40B4-BE49-F238E27FC236}">
                <a16:creationId xmlns:a16="http://schemas.microsoft.com/office/drawing/2014/main" id="{8BB52132-4C7C-4B8A-B5D1-8344DB3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695621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9" name="统一风格-flat-boundaries IDC透光反射面-348">
            <a:extLst xmlns:a="http://schemas.openxmlformats.org/drawingml/2006/main">
              <a:ext uri="{FF2B5EF4-FFF2-40B4-BE49-F238E27FC236}">
                <a16:creationId xmlns:a16="http://schemas.microsoft.com/office/drawing/2014/main" id="{6C07F886-B757-4F2C-871A-3B6FC59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1812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0" name="统一风格-flat-boundaries IDC边缘高光-349">
            <a:extLst xmlns:a="http://schemas.openxmlformats.org/drawingml/2006/main">
              <a:ext uri="{FF2B5EF4-FFF2-40B4-BE49-F238E27FC236}">
                <a16:creationId xmlns:a16="http://schemas.microsoft.com/office/drawing/2014/main" id="{4FA87903-381A-4872-A7F0-726623E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2762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1" name="统一风格-building IDC 楼宇-350">
            <a:extLst xmlns:a="http://schemas.openxmlformats.org/drawingml/2006/main">
              <a:ext uri="{FF2B5EF4-FFF2-40B4-BE49-F238E27FC236}">
                <a16:creationId xmlns:a16="http://schemas.microsoft.com/office/drawing/2014/main" id="{94D9893E-29E3-4E8F-BEB5-26476607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2" name="统一风格-building IDC 窗口-351">
            <a:extLst xmlns:a="http://schemas.openxmlformats.org/drawingml/2006/main">
              <a:ext uri="{FF2B5EF4-FFF2-40B4-BE49-F238E27FC236}">
                <a16:creationId xmlns:a16="http://schemas.microsoft.com/office/drawing/2014/main" id="{BD55174F-D27E-455D-B29B-AD67862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3" name="统一风格-文字 IDC-352">
            <a:extLst xmlns:a="http://schemas.openxmlformats.org/drawingml/2006/main">
              <a:ext uri="{FF2B5EF4-FFF2-40B4-BE49-F238E27FC236}">
                <a16:creationId xmlns:a16="http://schemas.microsoft.com/office/drawing/2014/main" id="{3ED0ABA9-21FA-42F3-B52B-3E305CFC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4841603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IDC</a:t>
            </a:r>
          </a:p>
        </p:txBody>
      </p:sp>
      <p:sp>
        <p:nvSpPr>
          <p:cNvPr id="74" name="统一风格-flat-boundaries CFW玻璃后沿-353">
            <a:extLst xmlns:a="http://schemas.openxmlformats.org/drawingml/2006/main">
              <a:ext uri="{FF2B5EF4-FFF2-40B4-BE49-F238E27FC236}">
                <a16:creationId xmlns:a16="http://schemas.microsoft.com/office/drawing/2014/main" id="{DCAC959D-DDA4-4CD1-B0AB-E6AEECA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4682762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5" name="统一风格-flat-boundaries CFW-354">
            <a:extLst xmlns:a="http://schemas.openxmlformats.org/drawingml/2006/main">
              <a:ext uri="{FF2B5EF4-FFF2-40B4-BE49-F238E27FC236}">
                <a16:creationId xmlns:a16="http://schemas.microsoft.com/office/drawing/2014/main" id="{7833A418-216E-4F5F-B1C7-93B97C88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4682762"/>
            <a:ext cx="2186396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6" name="统一风格-flat-boundaries CFW玻璃内沿-355">
            <a:extLst xmlns:a="http://schemas.openxmlformats.org/drawingml/2006/main">
              <a:ext uri="{FF2B5EF4-FFF2-40B4-BE49-F238E27FC236}">
                <a16:creationId xmlns:a16="http://schemas.microsoft.com/office/drawing/2014/main" id="{A058AC9B-6468-4370-8A78-28D8AFA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61" y="4695621"/>
            <a:ext cx="2160678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7" name="统一风格-flat-boundaries CFW透光反射面-356">
            <a:extLst xmlns:a="http://schemas.openxmlformats.org/drawingml/2006/main">
              <a:ext uri="{FF2B5EF4-FFF2-40B4-BE49-F238E27FC236}">
                <a16:creationId xmlns:a16="http://schemas.microsoft.com/office/drawing/2014/main" id="{E30C56A8-C649-4372-8559-0F4D368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752" y="4701812"/>
            <a:ext cx="2148296" cy="896257"/>
          </a:xfrm>
          <a:custGeom xmlns:a="http://schemas.openxmlformats.org/drawingml/2006/main"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8" name="统一风格-flat-boundaries CFW边缘高光-357">
            <a:extLst xmlns:a="http://schemas.openxmlformats.org/drawingml/2006/main">
              <a:ext uri="{FF2B5EF4-FFF2-40B4-BE49-F238E27FC236}">
                <a16:creationId xmlns:a16="http://schemas.microsoft.com/office/drawing/2014/main" id="{F2CE1A97-3093-4013-8EAD-7FEDB51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02" y="4682762"/>
            <a:ext cx="2186396" cy="934357"/>
          </a:xfrm>
          <a:custGeom xmlns:a="http://schemas.openxmlformats.org/drawingml/2006/main"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9" name="统一风格-firewall CFW 砖墙-358">
            <a:extLst xmlns:a="http://schemas.openxmlformats.org/drawingml/2006/main">
              <a:ext uri="{FF2B5EF4-FFF2-40B4-BE49-F238E27FC236}">
                <a16:creationId xmlns:a16="http://schemas.microsoft.com/office/drawing/2014/main" id="{25108CAF-F62F-4F1D-849B-FEA1EEC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80" name="统一风格-firewall CFW 砖缝-359">
            <a:extLst xmlns:a="http://schemas.openxmlformats.org/drawingml/2006/main">
              <a:ext uri="{FF2B5EF4-FFF2-40B4-BE49-F238E27FC236}">
                <a16:creationId xmlns:a16="http://schemas.microsoft.com/office/drawing/2014/main" id="{FBA1953D-E438-4687-AD2C-11C98C70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81" name="统一风格-firewall CFW 前景衬底-360">
            <a:extLst xmlns:a="http://schemas.openxmlformats.org/drawingml/2006/main">
              <a:ext uri="{FF2B5EF4-FFF2-40B4-BE49-F238E27FC236}">
                <a16:creationId xmlns:a16="http://schemas.microsoft.com/office/drawing/2014/main" id="{DADF88DB-E626-4110-B3C6-2CDB4EFF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82" name="统一风格-firewall CFW 简洁火焰-361">
            <a:extLst xmlns:a="http://schemas.openxmlformats.org/drawingml/2006/main">
              <a:ext uri="{FF2B5EF4-FFF2-40B4-BE49-F238E27FC236}">
                <a16:creationId xmlns:a16="http://schemas.microsoft.com/office/drawing/2014/main" id="{69F5B5FA-1C0E-46E3-A95D-D4C9C3ED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543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83" name="统一风格-文字 CFW-362">
            <a:extLst xmlns:a="http://schemas.openxmlformats.org/drawingml/2006/main">
              <a:ext uri="{FF2B5EF4-FFF2-40B4-BE49-F238E27FC236}">
                <a16:creationId xmlns:a16="http://schemas.microsoft.com/office/drawing/2014/main" id="{E2A4ABD3-314B-481A-AB31-F36B4B72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4841603"/>
            <a:ext cx="130810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84" name="统一风格-文字 检查已接入边界-363">
            <a:extLst xmlns:a="http://schemas.openxmlformats.org/drawingml/2006/main">
              <a:ext uri="{FF2B5EF4-FFF2-40B4-BE49-F238E27FC236}">
                <a16:creationId xmlns:a16="http://schemas.microsoft.com/office/drawing/2014/main" id="{7BC5FC18-271F-4A60-BE6E-3C4D787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219" y="5168628"/>
            <a:ext cx="1308100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85" name="统一风格-flat-boundaries 云 VPC玻璃后沿-364">
            <a:extLst xmlns:a="http://schemas.openxmlformats.org/drawingml/2006/main">
              <a:ext uri="{FF2B5EF4-FFF2-40B4-BE49-F238E27FC236}">
                <a16:creationId xmlns:a16="http://schemas.microsoft.com/office/drawing/2014/main" id="{3B3A7677-D140-453D-B679-343954C5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4682762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6" name="统一风格-flat-boundaries 云 VPC-365">
            <a:extLst xmlns:a="http://schemas.openxmlformats.org/drawingml/2006/main">
              <a:ext uri="{FF2B5EF4-FFF2-40B4-BE49-F238E27FC236}">
                <a16:creationId xmlns:a16="http://schemas.microsoft.com/office/drawing/2014/main" id="{F7AF936F-2C5C-4FAB-BBCB-AC178151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4682762"/>
            <a:ext cx="2167709" cy="934357"/>
          </a:xfrm>
          <a:prstGeom xmlns:a="http://schemas.openxmlformats.org/drawingml/2006/main" prst="roundRect">
            <a:avLst>
              <a:gd name="adj" fmla="val 91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7" name="统一风格-flat-boundaries 云 VPC玻璃内沿-366">
            <a:extLst xmlns:a="http://schemas.openxmlformats.org/drawingml/2006/main">
              <a:ext uri="{FF2B5EF4-FFF2-40B4-BE49-F238E27FC236}">
                <a16:creationId xmlns:a16="http://schemas.microsoft.com/office/drawing/2014/main" id="{67629989-DC8B-4E88-B5F6-964C366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350" y="4695621"/>
            <a:ext cx="2141991" cy="908640"/>
          </a:xfrm>
          <a:prstGeom xmlns:a="http://schemas.openxmlformats.org/drawingml/2006/main" prst="roundRect">
            <a:avLst>
              <a:gd name="adj" fmla="val 807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8" name="统一风格-flat-boundaries 云 VPC透光反射面-367">
            <a:extLst xmlns:a="http://schemas.openxmlformats.org/drawingml/2006/main">
              <a:ext uri="{FF2B5EF4-FFF2-40B4-BE49-F238E27FC236}">
                <a16:creationId xmlns:a16="http://schemas.microsoft.com/office/drawing/2014/main" id="{A3ED7F0F-5554-4B72-9A51-A8976BF7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541" y="4701812"/>
            <a:ext cx="2129609" cy="896257"/>
          </a:xfrm>
          <a:custGeom xmlns:a="http://schemas.openxmlformats.org/drawingml/2006/main"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89" name="统一风格-flat-boundaries 云 VPC边缘高光-368">
            <a:extLst xmlns:a="http://schemas.openxmlformats.org/drawingml/2006/main">
              <a:ext uri="{FF2B5EF4-FFF2-40B4-BE49-F238E27FC236}">
                <a16:creationId xmlns:a16="http://schemas.microsoft.com/office/drawing/2014/main" id="{E23A6C95-20DF-4A6B-995D-FFBCEB1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4682762"/>
            <a:ext cx="2167709" cy="934357"/>
          </a:xfrm>
          <a:custGeom xmlns:a="http://schemas.openxmlformats.org/drawingml/2006/main"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0" name="统一风格-cloud VPC 云轮廓-369">
            <a:extLst xmlns:a="http://schemas.openxmlformats.org/drawingml/2006/main">
              <a:ext uri="{FF2B5EF4-FFF2-40B4-BE49-F238E27FC236}">
                <a16:creationId xmlns:a16="http://schemas.microsoft.com/office/drawing/2014/main" id="{44ACC7A5-43C7-47E2-9A23-96FFAAA4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4907008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1" name="统一风格-文字 云 VPC-370">
            <a:extLst xmlns:a="http://schemas.openxmlformats.org/drawingml/2006/main">
              <a:ext uri="{FF2B5EF4-FFF2-40B4-BE49-F238E27FC236}">
                <a16:creationId xmlns:a16="http://schemas.microsoft.com/office/drawing/2014/main" id="{A15C1B1F-A3FF-4686-9C7E-DCB6A167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08" y="4841603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 VPC</a:t>
            </a:r>
          </a:p>
        </p:txBody>
      </p:sp>
      <p:cxnSp>
        <p:nvCxnSpPr>
          <p:cNvPr id="92" name="统一拓扑-flat-boundaries-连线-5">
            <a:extLst xmlns:a="http://schemas.openxmlformats.org/drawingml/2006/main">
              <a:ext uri="{FF2B5EF4-FFF2-40B4-BE49-F238E27FC236}">
                <a16:creationId xmlns:a16="http://schemas.microsoft.com/office/drawing/2014/main" id="{884D7CD6-EDCC-4188-A501-A6A5743EE7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77309" y="5149941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统一拓扑-flat-boundaries-连线-6">
            <a:extLst xmlns:a="http://schemas.openxmlformats.org/drawingml/2006/main">
              <a:ext uri="{FF2B5EF4-FFF2-40B4-BE49-F238E27FC236}">
                <a16:creationId xmlns:a16="http://schemas.microsoft.com/office/drawing/2014/main" id="{65D7C405-B7D8-4A05-9207-CFBA493D77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27098" y="5149941"/>
            <a:ext cx="66339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94" name="统一风格-flat-boundaries 关系文字衬底-371">
            <a:extLst xmlns:a="http://schemas.openxmlformats.org/drawingml/2006/main">
              <a:ext uri="{FF2B5EF4-FFF2-40B4-BE49-F238E27FC236}">
                <a16:creationId xmlns:a16="http://schemas.microsoft.com/office/drawing/2014/main" id="{5AC72CAD-80D7-4922-94DD-BFE76CFF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03" y="5654494"/>
            <a:ext cx="2915194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95" name="统一风格-文字 混合云互联-372">
            <a:extLst xmlns:a="http://schemas.openxmlformats.org/drawingml/2006/main">
              <a:ext uri="{FF2B5EF4-FFF2-40B4-BE49-F238E27FC236}">
                <a16:creationId xmlns:a16="http://schemas.microsoft.com/office/drawing/2014/main" id="{9EA50A64-BAE7-4BE1-8BA6-A861A90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677" y="5654494"/>
            <a:ext cx="2840446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混合云互联</a:t>
            </a:r>
          </a:p>
        </p:txBody>
      </p:sp>
      <p:sp>
        <p:nvSpPr>
          <p:cNvPr id="96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6172BC8-63ED-462B-97E0-E99BBF7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9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1A59669-23B2-4F4C-BACF-D9A854AB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98" name="txt-97">
            <a:extLst xmlns:a="http://schemas.openxmlformats.org/drawingml/2006/main">
              <a:ext uri="{FF2B5EF4-FFF2-40B4-BE49-F238E27FC236}">
                <a16:creationId xmlns:a16="http://schemas.microsoft.com/office/drawing/2014/main" id="{EC62AABF-05C0-4BEE-868A-AE2AFB65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99" name="txt-98">
            <a:extLst xmlns:a="http://schemas.openxmlformats.org/drawingml/2006/main">
              <a:ext uri="{FF2B5EF4-FFF2-40B4-BE49-F238E27FC236}">
                <a16:creationId xmlns:a16="http://schemas.microsoft.com/office/drawing/2014/main" id="{F11F5065-0D0A-43A6-A9C8-3EC4277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检查已纳管 EIP 等互联网边界对象</a:t>
            </a:r>
          </a:p>
        </p:txBody>
      </p:sp>
      <p:sp>
        <p:nvSpPr>
          <p:cNvPr id="10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BE81DE0-4E7F-4846-9AD1-82E2E58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01" name="txt-100">
            <a:extLst xmlns:a="http://schemas.openxmlformats.org/drawingml/2006/main">
              <a:ext uri="{FF2B5EF4-FFF2-40B4-BE49-F238E27FC236}">
                <a16:creationId xmlns:a16="http://schemas.microsoft.com/office/drawing/2014/main" id="{904545A0-A3CF-4ED2-8B98-99C4328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 / IDC</a:t>
            </a:r>
          </a:p>
        </p:txBody>
      </p:sp>
      <p:sp>
        <p:nvSpPr>
          <p:cNvPr id="102" name="txt-101">
            <a:extLst xmlns:a="http://schemas.openxmlformats.org/drawingml/2006/main">
              <a:ext uri="{FF2B5EF4-FFF2-40B4-BE49-F238E27FC236}">
                <a16:creationId xmlns:a16="http://schemas.microsoft.com/office/drawing/2014/main" id="{A8F97729-03D4-4D3A-8BF0-B46AD2D3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ER 引流后按路径检查，</ns1:t>
            </ns1:r>
          </ns1:p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跨账号 / IDC 另核兼容性。</ns2:t>
            </ns2:r>
          </ns2:p>
        </p:txBody>
      </p:sp>
      <p:sp>
        <p:nvSpPr>
          <p:cNvPr id="10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0BD61C1-D792-4CE4-AC6E-79C6F4BC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04" name="txt-103">
            <a:extLst xmlns:a="http://schemas.openxmlformats.org/drawingml/2006/main">
              <a:ext uri="{FF2B5EF4-FFF2-40B4-BE49-F238E27FC236}">
                <a16:creationId xmlns:a16="http://schemas.microsoft.com/office/drawing/2014/main" id="{0E0BA0E0-967F-465D-A878-60159FD0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NAT</a:t>
            </a:r>
          </a:p>
        </p:txBody>
      </p:sp>
      <p:sp>
        <p:nvSpPr>
          <p:cNvPr id="105" name="txt-104">
            <a:extLst xmlns:a="http://schemas.openxmlformats.org/drawingml/2006/main">
              <a:ext uri="{FF2B5EF4-FFF2-40B4-BE49-F238E27FC236}">
                <a16:creationId xmlns:a16="http://schemas.microsoft.com/office/drawing/2014/main" id="{37CC230E-05B3-47D3-BBD0-6257071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按出口方式启用防护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1914329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32F600AB-E389-4D8E-B8A4-B1D820EC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75D45A0-E038-41CA-9AA1-46B6CD84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两张路由表分别承担送检与转发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5639CB3-9E6B-4D8A-B56F-9FD1D22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同一个 ER、两张路由表；送检与回注表示同一 CFW 连接的两个流量方向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EF0B68E-6CBC-45E8-A11F-74570E8D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图中两种流向表示进入和离开检查路径，业务响应同样需要按设计检查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02C1813-3B59-4110-91C1-1B56444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38">
            <a:extLst xmlns:a="http://schemas.openxmlformats.org/drawingml/2006/main">
              <a:ext uri="{FF2B5EF4-FFF2-40B4-BE49-F238E27FC236}">
                <a16:creationId xmlns:a16="http://schemas.microsoft.com/office/drawing/2014/main" id="{5C92DFA2-55D4-4D70-A2C6-52F7D13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57</ns0:t>
            </ns0:r>
          </ns0:p>
        </p:txBody>
      </p:sp>
      <p:sp>
        <p:nvSpPr>
          <p:cNvPr id="7" name="统一风格-official-er VPC 1 / ECS 1玻璃后沿-373">
            <a:extLst xmlns:a="http://schemas.openxmlformats.org/drawingml/2006/main">
              <a:ext uri="{FF2B5EF4-FFF2-40B4-BE49-F238E27FC236}">
                <a16:creationId xmlns:a16="http://schemas.microsoft.com/office/drawing/2014/main" id="{4F335FD3-CA39-46DA-A110-2524294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6" y="2047875"/>
            <a:ext cx="2335893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official-er VPC 1 / ECS 1-374">
            <a:extLst xmlns:a="http://schemas.openxmlformats.org/drawingml/2006/main">
              <a:ext uri="{FF2B5EF4-FFF2-40B4-BE49-F238E27FC236}">
                <a16:creationId xmlns:a16="http://schemas.microsoft.com/office/drawing/2014/main" id="{67071E16-7BB6-4DDC-BD64-E86F5578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6" y="2047875"/>
            <a:ext cx="2335893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official-er VPC 1 / ECS 1玻璃内沿-375">
            <a:extLst xmlns:a="http://schemas.openxmlformats.org/drawingml/2006/main">
              <a:ext uri="{FF2B5EF4-FFF2-40B4-BE49-F238E27FC236}">
                <a16:creationId xmlns:a16="http://schemas.microsoft.com/office/drawing/2014/main" id="{4221EEF9-30ED-4FA3-9F9E-45DF38F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24" y="2060734"/>
            <a:ext cx="2310175" cy="871265"/>
          </a:xfrm>
          <a:prstGeom xmlns:a="http://schemas.openxmlformats.org/drawingml/2006/main" prst="roundRect">
            <a:avLst>
              <a:gd name="adj" fmla="val 841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official-er VPC 1 / ECS 1透光反射面-376">
            <a:extLst xmlns:a="http://schemas.openxmlformats.org/drawingml/2006/main">
              <a:ext uri="{FF2B5EF4-FFF2-40B4-BE49-F238E27FC236}">
                <a16:creationId xmlns:a16="http://schemas.microsoft.com/office/drawing/2014/main" id="{9739F757-E8F7-41BA-AF13-B40274B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16" y="2066925"/>
            <a:ext cx="2297793" cy="858883"/>
          </a:xfrm>
          <a:custGeom xmlns:a="http://schemas.openxmlformats.org/drawingml/2006/main">
            <a:pathLst>
              <a:path w="2297793" h="858883">
                <a:moveTo>
                  <a:pt x="76200" y="0"/>
                </a:moveTo>
                <a:lnTo>
                  <a:pt x="1470587" y="0"/>
                </a:lnTo>
                <a:lnTo>
                  <a:pt x="597426" y="858883"/>
                </a:lnTo>
                <a:lnTo>
                  <a:pt x="76200" y="858883"/>
                </a:lnTo>
                <a:cubicBezTo>
                  <a:pt x="28575" y="858883"/>
                  <a:pt x="0" y="830308"/>
                  <a:pt x="0" y="78268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official-er VPC 1 / ECS 1边缘高光-377">
            <a:extLst xmlns:a="http://schemas.openxmlformats.org/drawingml/2006/main">
              <a:ext uri="{FF2B5EF4-FFF2-40B4-BE49-F238E27FC236}">
                <a16:creationId xmlns:a16="http://schemas.microsoft.com/office/drawing/2014/main" id="{45F68470-52BB-4A74-AAB2-673614CE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6" y="2047875"/>
            <a:ext cx="2335893" cy="896983"/>
          </a:xfrm>
          <a:custGeom xmlns:a="http://schemas.openxmlformats.org/drawingml/2006/main">
            <a:pathLst>
              <a:path w="2335893" h="896983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378">
            <a:extLst xmlns:a="http://schemas.openxmlformats.org/drawingml/2006/main">
              <a:ext uri="{FF2B5EF4-FFF2-40B4-BE49-F238E27FC236}">
                <a16:creationId xmlns:a16="http://schemas.microsoft.com/office/drawing/2014/main" id="{2EDBE581-1D5B-461E-A8AE-E1E3338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06" y="2272121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文字 VPC 1 / ECS 1-379">
            <a:extLst xmlns:a="http://schemas.openxmlformats.org/drawingml/2006/main">
              <a:ext uri="{FF2B5EF4-FFF2-40B4-BE49-F238E27FC236}">
                <a16:creationId xmlns:a16="http://schemas.microsoft.com/office/drawing/2014/main" id="{F6BEE08F-A3AB-4CF7-8CDD-52334EA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982" y="2206716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 / ECS 1</a:t>
            </a:r>
          </a:p>
        </p:txBody>
      </p:sp>
      <p:sp>
        <p:nvSpPr>
          <p:cNvPr id="14" name="统一风格-文字 业务 VPC 连接-380">
            <a:extLst xmlns:a="http://schemas.openxmlformats.org/drawingml/2006/main">
              <a:ext uri="{FF2B5EF4-FFF2-40B4-BE49-F238E27FC236}">
                <a16:creationId xmlns:a16="http://schemas.microsoft.com/office/drawing/2014/main" id="{4ED3A173-A041-418D-A5B8-4DDB8E9D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982" y="2533741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 VPC 连接</a:t>
            </a:r>
          </a:p>
        </p:txBody>
      </p:sp>
      <p:sp>
        <p:nvSpPr>
          <p:cNvPr id="15" name="统一风格-official-er VPC 2 / ECS 2玻璃后沿-381">
            <a:extLst xmlns:a="http://schemas.openxmlformats.org/drawingml/2006/main">
              <a:ext uri="{FF2B5EF4-FFF2-40B4-BE49-F238E27FC236}">
                <a16:creationId xmlns:a16="http://schemas.microsoft.com/office/drawing/2014/main" id="{81055AA0-2A51-43E3-9CE8-A303373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441" y="2047875"/>
            <a:ext cx="2335893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official-er VPC 2 / ECS 2-382">
            <a:extLst xmlns:a="http://schemas.openxmlformats.org/drawingml/2006/main">
              <a:ext uri="{FF2B5EF4-FFF2-40B4-BE49-F238E27FC236}">
                <a16:creationId xmlns:a16="http://schemas.microsoft.com/office/drawing/2014/main" id="{9A33C56C-3C50-4C48-9755-B0D3730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441" y="2047875"/>
            <a:ext cx="2335893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official-er VPC 2 / ECS 2玻璃内沿-383">
            <a:extLst xmlns:a="http://schemas.openxmlformats.org/drawingml/2006/main">
              <a:ext uri="{FF2B5EF4-FFF2-40B4-BE49-F238E27FC236}">
                <a16:creationId xmlns:a16="http://schemas.microsoft.com/office/drawing/2014/main" id="{C040FFB4-AF8E-4527-8553-DCFA729B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300" y="2060734"/>
            <a:ext cx="2310175" cy="871265"/>
          </a:xfrm>
          <a:prstGeom xmlns:a="http://schemas.openxmlformats.org/drawingml/2006/main" prst="roundRect">
            <a:avLst>
              <a:gd name="adj" fmla="val 841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official-er VPC 2 / ECS 2透光反射面-384">
            <a:extLst xmlns:a="http://schemas.openxmlformats.org/drawingml/2006/main">
              <a:ext uri="{FF2B5EF4-FFF2-40B4-BE49-F238E27FC236}">
                <a16:creationId xmlns:a16="http://schemas.microsoft.com/office/drawing/2014/main" id="{17AC3BF6-BA6C-45BD-A3D1-2A30E90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491" y="2066925"/>
            <a:ext cx="2297793" cy="858883"/>
          </a:xfrm>
          <a:custGeom xmlns:a="http://schemas.openxmlformats.org/drawingml/2006/main">
            <a:pathLst>
              <a:path w="2297793" h="858883">
                <a:moveTo>
                  <a:pt x="76200" y="0"/>
                </a:moveTo>
                <a:lnTo>
                  <a:pt x="1470587" y="0"/>
                </a:lnTo>
                <a:lnTo>
                  <a:pt x="597426" y="858883"/>
                </a:lnTo>
                <a:lnTo>
                  <a:pt x="76200" y="858883"/>
                </a:lnTo>
                <a:cubicBezTo>
                  <a:pt x="28575" y="858883"/>
                  <a:pt x="0" y="830308"/>
                  <a:pt x="0" y="78268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official-er VPC 2 / ECS 2边缘高光-385">
            <a:extLst xmlns:a="http://schemas.openxmlformats.org/drawingml/2006/main">
              <a:ext uri="{FF2B5EF4-FFF2-40B4-BE49-F238E27FC236}">
                <a16:creationId xmlns:a16="http://schemas.microsoft.com/office/drawing/2014/main" id="{26B9A146-E3DA-4EE4-91CD-499246E9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441" y="2047875"/>
            <a:ext cx="2335893" cy="896983"/>
          </a:xfrm>
          <a:custGeom xmlns:a="http://schemas.openxmlformats.org/drawingml/2006/main">
            <a:pathLst>
              <a:path w="2335893" h="896983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cloud VPC 云轮廓-386">
            <a:extLst xmlns:a="http://schemas.openxmlformats.org/drawingml/2006/main">
              <a:ext uri="{FF2B5EF4-FFF2-40B4-BE49-F238E27FC236}">
                <a16:creationId xmlns:a16="http://schemas.microsoft.com/office/drawing/2014/main" id="{63802904-2BBC-4414-B48B-00F8CB2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282" y="2272121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1" name="统一风格-文字 VPC 2 / ECS 2-387">
            <a:extLst xmlns:a="http://schemas.openxmlformats.org/drawingml/2006/main">
              <a:ext uri="{FF2B5EF4-FFF2-40B4-BE49-F238E27FC236}">
                <a16:creationId xmlns:a16="http://schemas.microsoft.com/office/drawing/2014/main" id="{D5CD9954-908C-42A4-89F6-CB40D05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958" y="2206716"/>
            <a:ext cx="1457597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2 / ECS 2</a:t>
            </a:r>
          </a:p>
        </p:txBody>
      </p:sp>
      <p:sp>
        <p:nvSpPr>
          <p:cNvPr id="22" name="统一风格-文字 业务 VPC 连接-388">
            <a:extLst xmlns:a="http://schemas.openxmlformats.org/drawingml/2006/main">
              <a:ext uri="{FF2B5EF4-FFF2-40B4-BE49-F238E27FC236}">
                <a16:creationId xmlns:a16="http://schemas.microsoft.com/office/drawing/2014/main" id="{CF8F23B1-65E9-4DB1-8B2B-01D9CDFA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958" y="2533741"/>
            <a:ext cx="1457597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 VPC 连接</a:t>
            </a:r>
          </a:p>
        </p:txBody>
      </p:sp>
      <p:cxnSp>
        <p:nvCxnSpPr>
          <p:cNvPr id="23" name="统一拓扑-official-er-连线-1">
            <a:extLst xmlns:a="http://schemas.openxmlformats.org/drawingml/2006/main">
              <a:ext uri="{FF2B5EF4-FFF2-40B4-BE49-F238E27FC236}">
                <a16:creationId xmlns:a16="http://schemas.microsoft.com/office/drawing/2014/main" id="{AD2B9885-B683-4C63-8892-DDBEDABE18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63412" y="2944858"/>
            <a:ext cx="0" cy="476522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24" name="统一拓扑-official-er-连线-2">
            <a:extLst xmlns:a="http://schemas.openxmlformats.org/drawingml/2006/main">
              <a:ext uri="{FF2B5EF4-FFF2-40B4-BE49-F238E27FC236}">
                <a16:creationId xmlns:a16="http://schemas.microsoft.com/office/drawing/2014/main" id="{0F0B32E7-0E14-437E-BDD4-A6AFAC8540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04388" y="2944858"/>
            <a:ext cx="0" cy="476522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sp>
        <p:nvSpPr>
          <p:cNvPr id="25" name="统一风格-official-er ER 单一共享路由域玻璃后沿-389">
            <a:extLst xmlns:a="http://schemas.openxmlformats.org/drawingml/2006/main">
              <a:ext uri="{FF2B5EF4-FFF2-40B4-BE49-F238E27FC236}">
                <a16:creationId xmlns:a16="http://schemas.microsoft.com/office/drawing/2014/main" id="{082BD8CD-CFD5-4267-92F5-F9A314D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69" y="3421380"/>
            <a:ext cx="7175863" cy="1186634"/>
          </a:xfrm>
          <a:prstGeom xmlns:a="http://schemas.openxmlformats.org/drawingml/2006/main" prst="roundRect">
            <a:avLst>
              <a:gd name="adj" fmla="val 722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统一风格-official-er ER 单一共享路由域-390">
            <a:extLst xmlns:a="http://schemas.openxmlformats.org/drawingml/2006/main">
              <a:ext uri="{FF2B5EF4-FFF2-40B4-BE49-F238E27FC236}">
                <a16:creationId xmlns:a16="http://schemas.microsoft.com/office/drawing/2014/main" id="{A315A969-63D2-464B-9C76-86B8470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69" y="3421380"/>
            <a:ext cx="7175863" cy="1186634"/>
          </a:xfrm>
          <a:prstGeom xmlns:a="http://schemas.openxmlformats.org/drawingml/2006/main" prst="roundRect">
            <a:avLst>
              <a:gd name="adj" fmla="val 722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7" name="统一风格-official-er ER 单一共享路由域玻璃内沿-391">
            <a:extLst xmlns:a="http://schemas.openxmlformats.org/drawingml/2006/main">
              <a:ext uri="{FF2B5EF4-FFF2-40B4-BE49-F238E27FC236}">
                <a16:creationId xmlns:a16="http://schemas.microsoft.com/office/drawing/2014/main" id="{A3A9123B-0FCE-4CD5-B468-0A0F3153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27" y="3434239"/>
            <a:ext cx="7150145" cy="1160916"/>
          </a:xfrm>
          <a:prstGeom xmlns:a="http://schemas.openxmlformats.org/drawingml/2006/main" prst="roundRect">
            <a:avLst>
              <a:gd name="adj" fmla="val 631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8" name="统一风格-official-er ER 单一共享路由域透光反射面-392">
            <a:extLst xmlns:a="http://schemas.openxmlformats.org/drawingml/2006/main">
              <a:ext uri="{FF2B5EF4-FFF2-40B4-BE49-F238E27FC236}">
                <a16:creationId xmlns:a16="http://schemas.microsoft.com/office/drawing/2014/main" id="{A5D0A6E8-A684-4D6A-9C7B-E8F11FE7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19" y="3440430"/>
            <a:ext cx="7137763" cy="1148534"/>
          </a:xfrm>
          <a:custGeom xmlns:a="http://schemas.openxmlformats.org/drawingml/2006/main">
            <a:pathLst>
              <a:path w="7137763" h="1148534">
                <a:moveTo>
                  <a:pt x="76200" y="0"/>
                </a:moveTo>
                <a:lnTo>
                  <a:pt x="4568168" y="0"/>
                </a:lnTo>
                <a:lnTo>
                  <a:pt x="1855818" y="1148534"/>
                </a:lnTo>
                <a:lnTo>
                  <a:pt x="76200" y="1148534"/>
                </a:lnTo>
                <a:cubicBezTo>
                  <a:pt x="28575" y="1148534"/>
                  <a:pt x="0" y="1119959"/>
                  <a:pt x="0" y="107233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9" name="统一风格-official-er ER 单一共享路由域边缘高光-393">
            <a:extLst xmlns:a="http://schemas.openxmlformats.org/drawingml/2006/main">
              <a:ext uri="{FF2B5EF4-FFF2-40B4-BE49-F238E27FC236}">
                <a16:creationId xmlns:a16="http://schemas.microsoft.com/office/drawing/2014/main" id="{ADE978C6-7C79-4D8D-9D0B-82DDDFF2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69" y="3421380"/>
            <a:ext cx="7175863" cy="1186634"/>
          </a:xfrm>
          <a:custGeom xmlns:a="http://schemas.openxmlformats.org/drawingml/2006/main">
            <a:pathLst>
              <a:path w="7175863" h="1186634">
                <a:moveTo>
                  <a:pt x="95250" y="9525"/>
                </a:moveTo>
                <a:lnTo>
                  <a:pt x="7080613" y="9525"/>
                </a:lnTo>
                <a:cubicBezTo>
                  <a:pt x="7128238" y="9525"/>
                  <a:pt x="7166338" y="47625"/>
                  <a:pt x="716633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0" name="统一风格-router ER 路由器外形-394">
            <a:extLst xmlns:a="http://schemas.openxmlformats.org/drawingml/2006/main">
              <a:ext uri="{FF2B5EF4-FFF2-40B4-BE49-F238E27FC236}">
                <a16:creationId xmlns:a16="http://schemas.microsoft.com/office/drawing/2014/main" id="{C8D0F610-EC27-4C3F-8010-98664CB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3514816"/>
            <a:ext cx="401774" cy="401774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97" cap="rnd">
            <a:solidFill>
              <a:srgbClr val="2053C3"/>
            </a:solidFill>
            <a:round/>
          </a:ln>
        </p:spPr>
      </p:sp>
      <p:sp>
        <p:nvSpPr>
          <p:cNvPr id="31" name="统一风格-router ER 四向路由-395">
            <a:extLst xmlns:a="http://schemas.openxmlformats.org/drawingml/2006/main">
              <a:ext uri="{FF2B5EF4-FFF2-40B4-BE49-F238E27FC236}">
                <a16:creationId xmlns:a16="http://schemas.microsoft.com/office/drawing/2014/main" id="{394ED736-7C81-49BC-9DFF-235B233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3514816"/>
            <a:ext cx="401774" cy="401774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5997" cap="rnd">
            <a:solidFill>
              <a:srgbClr val="2053C3"/>
            </a:solidFill>
            <a:round/>
          </a:ln>
        </p:spPr>
      </p:sp>
      <p:sp>
        <p:nvSpPr>
          <p:cNvPr id="32" name="统一风格-文字 ER  企业路由器-396">
            <a:extLst xmlns:a="http://schemas.openxmlformats.org/drawingml/2006/main">
              <a:ext uri="{FF2B5EF4-FFF2-40B4-BE49-F238E27FC236}">
                <a16:creationId xmlns:a16="http://schemas.microsoft.com/office/drawing/2014/main" id="{F3B6DD95-88BE-41E2-9C52-E0E2088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67" y="3561534"/>
            <a:ext cx="2971256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 企业路由器</a:t>
            </a:r>
          </a:p>
        </p:txBody>
      </p:sp>
      <p:sp>
        <p:nvSpPr>
          <p:cNvPr id="33" name="统一风格-文字 业务 VPC 连接统一关联 er-RT1-397">
            <a:extLst xmlns:a="http://schemas.openxmlformats.org/drawingml/2006/main">
              <a:ext uri="{FF2B5EF4-FFF2-40B4-BE49-F238E27FC236}">
                <a16:creationId xmlns:a16="http://schemas.microsoft.com/office/drawing/2014/main" id="{815E0CB6-AAD6-4444-9299-5AC7D771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3580221"/>
            <a:ext cx="3111409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 VPC 连接统一关联 er-RT1</a:t>
            </a:r>
          </a:p>
        </p:txBody>
      </p:sp>
      <p:cxnSp>
        <p:nvCxnSpPr>
          <p:cNvPr id="34" name="统一拓扑-official-er-连线-3">
            <a:extLst xmlns:a="http://schemas.openxmlformats.org/drawingml/2006/main">
              <a:ext uri="{FF2B5EF4-FFF2-40B4-BE49-F238E27FC236}">
                <a16:creationId xmlns:a16="http://schemas.microsoft.com/office/drawing/2014/main" id="{BADC09F7-6158-49F7-94A6-7CEC5B97D6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5969" y="3991338"/>
            <a:ext cx="7175863" cy="0"/>
          </a:xfrm>
          <a:prstGeom xmlns:a="http://schemas.openxmlformats.org/drawingml/2006/main" prst="straightConnector1">
            <a:avLst/>
          </a:prstGeom>
          <a:ln xmlns:a="http://schemas.openxmlformats.org/drawingml/2006/main" w="7942">
            <a:solidFill>
              <a:srgbClr val="DDE6F4"/>
            </a:solidFill>
            <a:prstDash val="solid"/>
          </a:ln>
        </p:spPr>
      </p:cxnSp>
      <p:cxnSp>
        <p:nvCxnSpPr>
          <p:cNvPr id="35" name="统一拓扑-official-er-连线-4">
            <a:extLst xmlns:a="http://schemas.openxmlformats.org/drawingml/2006/main">
              <a:ext uri="{FF2B5EF4-FFF2-40B4-BE49-F238E27FC236}">
                <a16:creationId xmlns:a16="http://schemas.microsoft.com/office/drawing/2014/main" id="{A03F7724-46C2-4009-BD3D-B9098380E6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4084774"/>
            <a:ext cx="0" cy="429804"/>
          </a:xfrm>
          <a:prstGeom xmlns:a="http://schemas.openxmlformats.org/drawingml/2006/main" prst="straightConnector1">
            <a:avLst/>
          </a:prstGeom>
          <a:ln xmlns:a="http://schemas.openxmlformats.org/drawingml/2006/main" w="7942">
            <a:solidFill>
              <a:srgbClr val="DDE6F4"/>
            </a:solidFill>
            <a:prstDash val="solid"/>
          </a:ln>
        </p:spPr>
      </p:cxnSp>
      <p:sp>
        <p:nvSpPr>
          <p:cNvPr id="36" name="统一风格-文字 er-RT1-398">
            <a:extLst xmlns:a="http://schemas.openxmlformats.org/drawingml/2006/main">
              <a:ext uri="{FF2B5EF4-FFF2-40B4-BE49-F238E27FC236}">
                <a16:creationId xmlns:a16="http://schemas.microsoft.com/office/drawing/2014/main" id="{8F655DFE-717F-4457-B4AA-E55AB60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" y="4056743"/>
            <a:ext cx="2971256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37" name="统一风格-文字 下一跳：CFW 自动连接-399">
            <a:extLst xmlns:a="http://schemas.openxmlformats.org/drawingml/2006/main">
              <a:ext uri="{FF2B5EF4-FFF2-40B4-BE49-F238E27FC236}">
                <a16:creationId xmlns:a16="http://schemas.microsoft.com/office/drawing/2014/main" id="{74E77427-6660-48A3-B44D-EA6BC30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" y="4346394"/>
            <a:ext cx="2971256" cy="20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下一跳：CFW 自动连接</a:t>
            </a:r>
          </a:p>
        </p:txBody>
      </p:sp>
      <p:sp>
        <p:nvSpPr>
          <p:cNvPr id="38" name="统一风格-文字 er-RT2-400">
            <a:extLst xmlns:a="http://schemas.openxmlformats.org/drawingml/2006/main">
              <a:ext uri="{FF2B5EF4-FFF2-40B4-BE49-F238E27FC236}">
                <a16:creationId xmlns:a16="http://schemas.microsoft.com/office/drawing/2014/main" id="{CC75215F-086F-4576-AA1E-40915EC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894" y="4056743"/>
            <a:ext cx="2971256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39" name="统一风格-文字 关联 CFW 连接，传播学习 VPC 路由-401">
            <a:extLst xmlns:a="http://schemas.openxmlformats.org/drawingml/2006/main">
              <a:ext uri="{FF2B5EF4-FFF2-40B4-BE49-F238E27FC236}">
                <a16:creationId xmlns:a16="http://schemas.microsoft.com/office/drawing/2014/main" id="{065338DC-92E3-4CB8-8A17-42422086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894" y="4346394"/>
            <a:ext cx="2971256" cy="20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 CFW 连接，传播学习 VPC 路由</a:t>
            </a:r>
          </a:p>
        </p:txBody>
      </p:sp>
      <p:sp>
        <p:nvSpPr>
          <p:cNvPr id="40" name="统一风格-official-er CFW玻璃后沿-402">
            <a:extLst xmlns:a="http://schemas.openxmlformats.org/drawingml/2006/main">
              <a:ext uri="{FF2B5EF4-FFF2-40B4-BE49-F238E27FC236}">
                <a16:creationId xmlns:a16="http://schemas.microsoft.com/office/drawing/2014/main" id="{6AA3D1DC-6C5B-443E-B313-9B9AE872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09787"/>
            <a:ext cx="2242457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1" name="统一风格-official-er CFW-403">
            <a:extLst xmlns:a="http://schemas.openxmlformats.org/drawingml/2006/main">
              <a:ext uri="{FF2B5EF4-FFF2-40B4-BE49-F238E27FC236}">
                <a16:creationId xmlns:a16="http://schemas.microsoft.com/office/drawing/2014/main" id="{0D1F7864-DF82-49B2-AE8E-C20BABAA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09787"/>
            <a:ext cx="2242457" cy="896983"/>
          </a:xfrm>
          <a:prstGeom xmlns:a="http://schemas.openxmlformats.org/drawingml/2006/main" prst="roundRect">
            <a:avLst>
              <a:gd name="adj" fmla="val 9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2" name="统一风格-official-er CFW玻璃内沿-404">
            <a:extLst xmlns:a="http://schemas.openxmlformats.org/drawingml/2006/main">
              <a:ext uri="{FF2B5EF4-FFF2-40B4-BE49-F238E27FC236}">
                <a16:creationId xmlns:a16="http://schemas.microsoft.com/office/drawing/2014/main" id="{D26577BB-B22A-4273-B001-044A9C29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530" y="5022646"/>
            <a:ext cx="2216740" cy="871265"/>
          </a:xfrm>
          <a:prstGeom xmlns:a="http://schemas.openxmlformats.org/drawingml/2006/main" prst="roundRect">
            <a:avLst>
              <a:gd name="adj" fmla="val 841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3" name="统一风格-official-er CFW透光反射面-405">
            <a:extLst xmlns:a="http://schemas.openxmlformats.org/drawingml/2006/main">
              <a:ext uri="{FF2B5EF4-FFF2-40B4-BE49-F238E27FC236}">
                <a16:creationId xmlns:a16="http://schemas.microsoft.com/office/drawing/2014/main" id="{89B82720-72E1-48F7-A191-B1EC45B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721" y="5028837"/>
            <a:ext cx="2204357" cy="858883"/>
          </a:xfrm>
          <a:custGeom xmlns:a="http://schemas.openxmlformats.org/drawingml/2006/main">
            <a:pathLst>
              <a:path w="2204357" h="858883">
                <a:moveTo>
                  <a:pt x="76200" y="0"/>
                </a:moveTo>
                <a:lnTo>
                  <a:pt x="1410789" y="0"/>
                </a:lnTo>
                <a:lnTo>
                  <a:pt x="573133" y="858883"/>
                </a:lnTo>
                <a:lnTo>
                  <a:pt x="76200" y="858883"/>
                </a:lnTo>
                <a:cubicBezTo>
                  <a:pt x="28575" y="858883"/>
                  <a:pt x="0" y="830308"/>
                  <a:pt x="0" y="78268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4" name="统一风格-official-er CFW边缘高光-406">
            <a:extLst xmlns:a="http://schemas.openxmlformats.org/drawingml/2006/main">
              <a:ext uri="{FF2B5EF4-FFF2-40B4-BE49-F238E27FC236}">
                <a16:creationId xmlns:a16="http://schemas.microsoft.com/office/drawing/2014/main" id="{789FDC43-A48A-4C83-8E6F-2370758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09787"/>
            <a:ext cx="2242457" cy="896983"/>
          </a:xfrm>
          <a:custGeom xmlns:a="http://schemas.openxmlformats.org/drawingml/2006/main">
            <a:pathLst>
              <a:path w="2242457" h="896983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5" name="统一风格-firewall CFW 砖墙-407">
            <a:extLst xmlns:a="http://schemas.openxmlformats.org/drawingml/2006/main">
              <a:ext uri="{FF2B5EF4-FFF2-40B4-BE49-F238E27FC236}">
                <a16:creationId xmlns:a16="http://schemas.microsoft.com/office/drawing/2014/main" id="{3E0AACFD-20A2-45B3-AE79-934C5B6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3403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6" name="统一风格-firewall CFW 砖缝-408">
            <a:extLst xmlns:a="http://schemas.openxmlformats.org/drawingml/2006/main">
              <a:ext uri="{FF2B5EF4-FFF2-40B4-BE49-F238E27FC236}">
                <a16:creationId xmlns:a16="http://schemas.microsoft.com/office/drawing/2014/main" id="{3E75FCFC-1AF0-47F0-A6DA-529FA4A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3403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7" name="统一风格-firewall CFW 前景衬底-409">
            <a:extLst xmlns:a="http://schemas.openxmlformats.org/drawingml/2006/main">
              <a:ext uri="{FF2B5EF4-FFF2-40B4-BE49-F238E27FC236}">
                <a16:creationId xmlns:a16="http://schemas.microsoft.com/office/drawing/2014/main" id="{8024FF3B-569F-42DA-A6A7-7085A61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3403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8" name="统一风格-firewall CFW 简洁火焰-410">
            <a:extLst xmlns:a="http://schemas.openxmlformats.org/drawingml/2006/main">
              <a:ext uri="{FF2B5EF4-FFF2-40B4-BE49-F238E27FC236}">
                <a16:creationId xmlns:a16="http://schemas.microsoft.com/office/drawing/2014/main" id="{C3DFDE4B-755F-41BB-A8A0-3E732821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3403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9" name="统一风格-文字 CFW-411">
            <a:extLst xmlns:a="http://schemas.openxmlformats.org/drawingml/2006/main">
              <a:ext uri="{FF2B5EF4-FFF2-40B4-BE49-F238E27FC236}">
                <a16:creationId xmlns:a16="http://schemas.microsoft.com/office/drawing/2014/main" id="{44717B69-19ED-4A6D-9369-DF1C0F00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188" y="5168628"/>
            <a:ext cx="136416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0" name="统一风格-文字 云防火墙-412">
            <a:extLst xmlns:a="http://schemas.openxmlformats.org/drawingml/2006/main">
              <a:ext uri="{FF2B5EF4-FFF2-40B4-BE49-F238E27FC236}">
                <a16:creationId xmlns:a16="http://schemas.microsoft.com/office/drawing/2014/main" id="{281F4993-3B94-4605-AF8D-8F95C72E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188" y="5495653"/>
            <a:ext cx="1364161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云防火墙</a:t>
            </a:r>
          </a:p>
        </p:txBody>
      </p:sp>
      <p:cxnSp>
        <p:nvCxnSpPr>
          <p:cNvPr id="51" name="统一拓扑-official-er-连线-5">
            <a:extLst xmlns:a="http://schemas.openxmlformats.org/drawingml/2006/main">
              <a:ext uri="{FF2B5EF4-FFF2-40B4-BE49-F238E27FC236}">
                <a16:creationId xmlns:a16="http://schemas.microsoft.com/office/drawing/2014/main" id="{C688AFBA-9C1B-4D4A-B670-646A834B22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99781" y="4608014"/>
            <a:ext cx="0" cy="224246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52" name="统一拓扑-official-er-连线-6">
            <a:extLst xmlns:a="http://schemas.openxmlformats.org/drawingml/2006/main">
              <a:ext uri="{FF2B5EF4-FFF2-40B4-BE49-F238E27FC236}">
                <a16:creationId xmlns:a16="http://schemas.microsoft.com/office/drawing/2014/main" id="{88B8F7B4-C93F-49BC-8A29-89B33D3AEF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99781" y="4832259"/>
            <a:ext cx="1158603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53" name="统一拓扑-official-er-连线-7">
            <a:extLst xmlns:a="http://schemas.openxmlformats.org/drawingml/2006/main">
              <a:ext uri="{FF2B5EF4-FFF2-40B4-BE49-F238E27FC236}">
                <a16:creationId xmlns:a16="http://schemas.microsoft.com/office/drawing/2014/main" id="{DD37A0B5-3481-43E9-A6E9-E85B756464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58384" y="4832259"/>
            <a:ext cx="0" cy="177528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54" name="统一风格-official-er 关系文字衬底-413">
            <a:extLst xmlns:a="http://schemas.openxmlformats.org/drawingml/2006/main">
              <a:ext uri="{FF2B5EF4-FFF2-40B4-BE49-F238E27FC236}">
                <a16:creationId xmlns:a16="http://schemas.microsoft.com/office/drawing/2014/main" id="{B64135DB-06E5-4E07-8ADC-5E63BEFE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186" y="4626701"/>
            <a:ext cx="775516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55" name="统一风格-文字 送检-414">
            <a:extLst xmlns:a="http://schemas.openxmlformats.org/drawingml/2006/main">
              <a:ext uri="{FF2B5EF4-FFF2-40B4-BE49-F238E27FC236}">
                <a16:creationId xmlns:a16="http://schemas.microsoft.com/office/drawing/2014/main" id="{F6C9F1F0-C738-46BC-9BD6-BA0AE9F9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60" y="4626701"/>
            <a:ext cx="700768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cxnSp>
        <p:nvCxnSpPr>
          <p:cNvPr id="56" name="统一拓扑-official-er-连线-8">
            <a:extLst xmlns:a="http://schemas.openxmlformats.org/drawingml/2006/main">
              <a:ext uri="{FF2B5EF4-FFF2-40B4-BE49-F238E27FC236}">
                <a16:creationId xmlns:a16="http://schemas.microsoft.com/office/drawing/2014/main" id="{52F9D8BD-5280-449F-A0A2-C05CAEFFE6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55129" y="5458279"/>
            <a:ext cx="1027793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</a:ln>
        </p:spPr>
      </p:cxnSp>
      <p:cxnSp>
        <p:nvCxnSpPr>
          <p:cNvPr id="57" name="统一拓扑-official-er-连线-9">
            <a:extLst xmlns:a="http://schemas.openxmlformats.org/drawingml/2006/main">
              <a:ext uri="{FF2B5EF4-FFF2-40B4-BE49-F238E27FC236}">
                <a16:creationId xmlns:a16="http://schemas.microsoft.com/office/drawing/2014/main" id="{E4196550-A183-4603-AFB9-C026714099A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82921" y="4608014"/>
            <a:ext cx="0" cy="850265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  <a:tailEnd type="triangle" w="sm" len="sm"/>
          </a:ln>
        </p:spPr>
      </p:cxnSp>
      <p:sp>
        <p:nvSpPr>
          <p:cNvPr id="58" name="统一风格-official-er 关系文字衬底-415">
            <a:extLst xmlns:a="http://schemas.openxmlformats.org/drawingml/2006/main">
              <a:ext uri="{FF2B5EF4-FFF2-40B4-BE49-F238E27FC236}">
                <a16:creationId xmlns:a16="http://schemas.microsoft.com/office/drawing/2014/main" id="{1253FDE9-6571-466B-84AA-3F5513C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701" y="5131254"/>
            <a:ext cx="1289413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59" name="统一风格-文字 放行回注-416">
            <a:extLst xmlns:a="http://schemas.openxmlformats.org/drawingml/2006/main">
              <a:ext uri="{FF2B5EF4-FFF2-40B4-BE49-F238E27FC236}">
                <a16:creationId xmlns:a16="http://schemas.microsoft.com/office/drawing/2014/main" id="{E8EF7D33-0517-4750-A863-38B688B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5131254"/>
            <a:ext cx="1214664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放行回注</a:t>
            </a:r>
          </a:p>
        </p:txBody>
      </p:sp>
      <p:sp>
        <p:nvSpPr>
          <p:cNvPr id="6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DE2A0A8-6AB4-4DB1-AFB5-9EEECAE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6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28ECFAB2-8503-46B4-AAB3-910A2C7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2" name="txt-61">
            <a:extLst xmlns:a="http://schemas.openxmlformats.org/drawingml/2006/main">
              <a:ext uri="{FF2B5EF4-FFF2-40B4-BE49-F238E27FC236}">
                <a16:creationId xmlns:a16="http://schemas.microsoft.com/office/drawing/2014/main" id="{678C2CD1-265B-4CD5-AB54-95BCF3AA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63" name="txt-62">
            <a:extLst xmlns:a="http://schemas.openxmlformats.org/drawingml/2006/main">
              <a:ext uri="{FF2B5EF4-FFF2-40B4-BE49-F238E27FC236}">
                <a16:creationId xmlns:a16="http://schemas.microsoft.com/office/drawing/2014/main" id="{C3049C2D-D39E-4F0B-8802-0C49DE8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关联业务 VPC 连接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把待检流量送入 CFW</a:t>
            </a:r>
          </a:p>
        </p:txBody>
      </p:sp>
      <p:sp>
        <p:nvSpPr>
          <p:cNvPr id="6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FB0C9A4-038F-4AC1-B95F-BBFACD37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5" name="txt-64">
            <a:extLst xmlns:a="http://schemas.openxmlformats.org/drawingml/2006/main">
              <a:ext uri="{FF2B5EF4-FFF2-40B4-BE49-F238E27FC236}">
                <a16:creationId xmlns:a16="http://schemas.microsoft.com/office/drawing/2014/main" id="{939B9096-5784-4D1A-8077-0325BD2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66" name="txt-65">
            <a:extLst xmlns:a="http://schemas.openxmlformats.org/drawingml/2006/main">
              <a:ext uri="{FF2B5EF4-FFF2-40B4-BE49-F238E27FC236}">
                <a16:creationId xmlns:a16="http://schemas.microsoft.com/office/drawing/2014/main" id="{07E8BAEB-0F90-4B33-A673-7D992FA6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 CFW 连接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学习并转发至业务 VPC</a:t>
            </a:r>
          </a:p>
        </p:txBody>
      </p:sp>
      <p:sp>
        <p:nvSpPr>
          <p:cNvPr id="6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250FBF39-DFBD-41F0-AF4A-21AE38A6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8" name="txt-67">
            <a:extLst xmlns:a="http://schemas.openxmlformats.org/drawingml/2006/main">
              <a:ext uri="{FF2B5EF4-FFF2-40B4-BE49-F238E27FC236}">
                <a16:creationId xmlns:a16="http://schemas.microsoft.com/office/drawing/2014/main" id="{79963BD0-8113-44AB-BBFA-4B9DFFDD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69" name="txt-68">
            <a:extLst xmlns:a="http://schemas.openxmlformats.org/drawingml/2006/main">
              <a:ext uri="{FF2B5EF4-FFF2-40B4-BE49-F238E27FC236}">
                <a16:creationId xmlns:a16="http://schemas.microsoft.com/office/drawing/2014/main" id="{059C8051-1C38-42C2-BD3A-0A0665DF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业务可达、流量送检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两项分别验证</a:t>
            </a:r>
          </a:p>
        </p:txBody>
      </p:sp>
    </p:spTree>
    <p:extLst>
      <p:ext uri="{BB962C8B-B14F-4D97-AF65-F5344CB8AC3E}">
        <p14:creationId xmlns:p14="http://schemas.microsoft.com/office/powerpoint/2010/main" val="66593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2EA0DA2C-6E0E-404B-A8CA-5C83BDA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54ED511-25D5-42C8-B5C4-67435C75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接入验收需要覆盖四组配置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0ACC1C9F-EB77-4E7B-84D7-5F8149D2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VPC 边界新接入默认放行；连接、关联、传播、VPC 路由与显式策略一起验收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C8E8335-A425-4048-81A0-20EC9064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41A3782-E6F8-4C18-B994-C7A1EF4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0">
            <a:extLst xmlns:a="http://schemas.openxmlformats.org/drawingml/2006/main">
              <a:ext uri="{FF2B5EF4-FFF2-40B4-BE49-F238E27FC236}">
                <a16:creationId xmlns:a16="http://schemas.microsoft.com/office/drawing/2014/main" id="{7AF5CAC5-62A2-4C81-BBD0-A3AAEFE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59</ns0:t>
            </ns0:r>
          </ns0:p>
        </p:txBody>
      </p:sp>
      <p:sp>
        <p:nvSpPr>
          <p:cNvPr id="7" name="统一风格-表格玻璃容器玻璃后沿-417">
            <a:extLst xmlns:a="http://schemas.openxmlformats.org/drawingml/2006/main">
              <a:ext uri="{FF2B5EF4-FFF2-40B4-BE49-F238E27FC236}">
                <a16:creationId xmlns:a16="http://schemas.microsoft.com/office/drawing/2014/main" id="{07ACD347-F288-4299-A11F-6CD86E95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418">
            <a:extLst xmlns:a="http://schemas.openxmlformats.org/drawingml/2006/main">
              <a:ext uri="{FF2B5EF4-FFF2-40B4-BE49-F238E27FC236}">
                <a16:creationId xmlns:a16="http://schemas.microsoft.com/office/drawing/2014/main" id="{B11BC704-F6C0-4C9C-8C49-831CBB1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419">
            <a:extLst xmlns:a="http://schemas.openxmlformats.org/drawingml/2006/main">
              <a:ext uri="{FF2B5EF4-FFF2-40B4-BE49-F238E27FC236}">
                <a16:creationId xmlns:a16="http://schemas.microsoft.com/office/drawing/2014/main" id="{84818115-4DB5-4066-9B66-6BFCD14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84559"/>
            <a:ext cx="11099483" cy="3784283"/>
          </a:xfrm>
          <a:prstGeom xmlns:a="http://schemas.openxmlformats.org/drawingml/2006/main" prst="roundRect">
            <a:avLst>
              <a:gd name="adj" fmla="val 19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420">
            <a:extLst xmlns:a="http://schemas.openxmlformats.org/drawingml/2006/main">
              <a:ext uri="{FF2B5EF4-FFF2-40B4-BE49-F238E27FC236}">
                <a16:creationId xmlns:a16="http://schemas.microsoft.com/office/drawing/2014/main" id="{2D99D069-B554-4044-B19A-94C2D45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custGeom xmlns:a="http://schemas.openxmlformats.org/drawingml/2006/main"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5AB6A-3E45-4D92-927E-63515957BA99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962400"/>
              </a:tblGrid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配置对象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失败时的典型表现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与 ER 连接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 VPC 均有正确连接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只有一侧接入或目标不可达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关联与传播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业务连接送检，CFW 连接返回转发并学习 VPC 路由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绕过检查或形成错误路径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侧路由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对端网段下一跳与子网关联正确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只部分主机经过 CFW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策略与覆盖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已有阻断规则、日志、正反用例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接入即中断，或接入后仍过宽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459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0ED202B3-981A-4326-AF41-A7FF124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95065FF-8065-4ABF-A2A0-2571B0AF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存量业务的策略收敛过程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FF3C489-C0DD-466F-8486-8F9AFB5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从已确认的依赖出发，分范围建立精确授权与兜底阻断</a:t>
            </a:r>
          </a:p>
        </p:txBody>
      </p:sp>
      <p:sp>
        <p:nvSpPr>
          <p:cNvPr id="4" name="正文-实施建议流程。VPC 边界接入默认放行，范围内兜底阻断需要显式配置">
            <a:extLst xmlns:a="http://schemas.openxmlformats.org/drawingml/2006/main">
              <a:ext uri="{FF2B5EF4-FFF2-40B4-BE49-F238E27FC236}">
                <a16:creationId xmlns:a16="http://schemas.microsoft.com/office/drawing/2014/main" id="{9F6C188B-2C0E-41D4-94EA-C876121B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实施建议流程。VPC 边界接入默认放行，范围内兜底阻断需要显式配置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F6958B4-03ED-41A1-A5C4-EF86CC2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1">
            <a:extLst xmlns:a="http://schemas.openxmlformats.org/drawingml/2006/main">
              <a:ext uri="{FF2B5EF4-FFF2-40B4-BE49-F238E27FC236}">
                <a16:creationId xmlns:a16="http://schemas.microsoft.com/office/drawing/2014/main" id="{B023C136-8F78-46B6-8F61-D873EDF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60</ns0:t>
            </ns0:r>
          </ns0:p>
        </p:txBody>
      </p:sp>
      <p:sp>
        <p:nvSpPr>
          <p:cNvPr id="7" name="统一风格-策略收敛阶段模块玻璃后沿-421">
            <a:extLst xmlns:a="http://schemas.openxmlformats.org/drawingml/2006/main">
              <a:ext uri="{FF2B5EF4-FFF2-40B4-BE49-F238E27FC236}">
                <a16:creationId xmlns:a16="http://schemas.microsoft.com/office/drawing/2014/main" id="{4493E5F8-5D0C-4C94-801E-208FBD5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策略收敛阶段模块-422">
            <a:extLst xmlns:a="http://schemas.openxmlformats.org/drawingml/2006/main">
              <a:ext uri="{FF2B5EF4-FFF2-40B4-BE49-F238E27FC236}">
                <a16:creationId xmlns:a16="http://schemas.microsoft.com/office/drawing/2014/main" id="{B25CA5DC-975E-4AAE-93B4-4B19451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策略收敛阶段模块玻璃内沿-423">
            <a:extLst xmlns:a="http://schemas.openxmlformats.org/drawingml/2006/main">
              <a:ext uri="{FF2B5EF4-FFF2-40B4-BE49-F238E27FC236}">
                <a16:creationId xmlns:a16="http://schemas.microsoft.com/office/drawing/2014/main" id="{E5826242-6771-4A8B-940C-C392DA1B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8359"/>
            <a:ext cx="2488883" cy="2641283"/>
          </a:xfrm>
          <a:prstGeom xmlns:a="http://schemas.openxmlformats.org/drawingml/2006/main" prst="roundRect">
            <a:avLst>
              <a:gd name="adj" fmla="val 294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策略收敛阶段模块透光反射面-424">
            <a:extLst xmlns:a="http://schemas.openxmlformats.org/drawingml/2006/main">
              <a:ext uri="{FF2B5EF4-FFF2-40B4-BE49-F238E27FC236}">
                <a16:creationId xmlns:a16="http://schemas.microsoft.com/office/drawing/2014/main" id="{BF6D5405-B49A-4374-B67D-8F83D49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476500" cy="2628900"/>
          </a:xfrm>
          <a:custGeom xmlns:a="http://schemas.openxmlformats.org/drawingml/2006/main"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策略收敛阶段模块边缘高光-425">
            <a:extLst xmlns:a="http://schemas.openxmlformats.org/drawingml/2006/main">
              <a:ext uri="{FF2B5EF4-FFF2-40B4-BE49-F238E27FC236}">
                <a16:creationId xmlns:a16="http://schemas.microsoft.com/office/drawing/2014/main" id="{B4B99013-8BBE-4664-9DE3-5E2B775E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2667000"/>
          </a:xfrm>
          <a:custGeom xmlns:a="http://schemas.openxmlformats.org/drawingml/2006/main"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6FCCC0D6-5B96-46D7-AB10-077AC9B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策略收敛阶段-1">
            <a:extLst xmlns:a="http://schemas.openxmlformats.org/drawingml/2006/main">
              <a:ext uri="{FF2B5EF4-FFF2-40B4-BE49-F238E27FC236}">
                <a16:creationId xmlns:a16="http://schemas.microsoft.com/office/drawing/2014/main" id="{82EDEC20-5D3A-48E2-8900-E42AAC8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</a:ln>
        </p:spPr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2BF5B964-39C6-4034-A3F4-6255E32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业务基线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6E458AFB-1D4D-4B63-8ABC-3B9DE1F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记录真实业务流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覆盖周期性任务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 Owner 与基线</a:t>
            </a:r>
          </a:p>
        </p:txBody>
      </p:sp>
      <p:sp>
        <p:nvSpPr>
          <p:cNvPr id="16" name="统一风格-策略收敛阶段模块玻璃后沿-426">
            <a:extLst xmlns:a="http://schemas.openxmlformats.org/drawingml/2006/main">
              <a:ext uri="{FF2B5EF4-FFF2-40B4-BE49-F238E27FC236}">
                <a16:creationId xmlns:a16="http://schemas.microsoft.com/office/drawing/2014/main" id="{5EF4A18A-03C2-49E9-AF5E-6CE850F5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策略收敛阶段模块-427">
            <a:extLst xmlns:a="http://schemas.openxmlformats.org/drawingml/2006/main">
              <a:ext uri="{FF2B5EF4-FFF2-40B4-BE49-F238E27FC236}">
                <a16:creationId xmlns:a16="http://schemas.microsoft.com/office/drawing/2014/main" id="{99E18308-54B1-4B97-8076-F506A867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策略收敛阶段模块玻璃内沿-428">
            <a:extLst xmlns:a="http://schemas.openxmlformats.org/drawingml/2006/main">
              <a:ext uri="{FF2B5EF4-FFF2-40B4-BE49-F238E27FC236}">
                <a16:creationId xmlns:a16="http://schemas.microsoft.com/office/drawing/2014/main" id="{D15C3DD7-B412-438E-8865-1422E27C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59" y="2108359"/>
            <a:ext cx="2488883" cy="2641283"/>
          </a:xfrm>
          <a:prstGeom xmlns:a="http://schemas.openxmlformats.org/drawingml/2006/main" prst="roundRect">
            <a:avLst>
              <a:gd name="adj" fmla="val 294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策略收敛阶段模块透光反射面-429">
            <a:extLst xmlns:a="http://schemas.openxmlformats.org/drawingml/2006/main">
              <a:ext uri="{FF2B5EF4-FFF2-40B4-BE49-F238E27FC236}">
                <a16:creationId xmlns:a16="http://schemas.microsoft.com/office/drawing/2014/main" id="{EA5D6DA9-493E-401E-87A2-2C2A5AB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476500" cy="2628900"/>
          </a:xfrm>
          <a:custGeom xmlns:a="http://schemas.openxmlformats.org/drawingml/2006/main"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策略收敛阶段模块边缘高光-430">
            <a:extLst xmlns:a="http://schemas.openxmlformats.org/drawingml/2006/main">
              <a:ext uri="{FF2B5EF4-FFF2-40B4-BE49-F238E27FC236}">
                <a16:creationId xmlns:a16="http://schemas.microsoft.com/office/drawing/2014/main" id="{7E31EAC0-6241-414F-B4CC-946519D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2667000"/>
          </a:xfrm>
          <a:custGeom xmlns:a="http://schemas.openxmlformats.org/drawingml/2006/main"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4EF8638E-3271-450C-87BC-E4E51B9B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策略收敛阶段-2">
            <a:extLst xmlns:a="http://schemas.openxmlformats.org/drawingml/2006/main">
              <a:ext uri="{FF2B5EF4-FFF2-40B4-BE49-F238E27FC236}">
                <a16:creationId xmlns:a16="http://schemas.microsoft.com/office/drawing/2014/main" id="{8E0FA4AC-9911-4EC8-AAE3-15DC9A4E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</a:ln>
        </p:spPr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E4C8BE11-82C6-4A7E-89C8-E66A1B04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规则准备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A87606D5-96B9-4B99-885E-DFA542D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准备精确放行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检查顺序及例外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保存规则与路由前态</a:t>
            </a:r>
          </a:p>
        </p:txBody>
      </p:sp>
      <p:sp>
        <p:nvSpPr>
          <p:cNvPr id="25" name="统一风格-策略收敛阶段模块玻璃后沿-431">
            <a:extLst xmlns:a="http://schemas.openxmlformats.org/drawingml/2006/main">
              <a:ext uri="{FF2B5EF4-FFF2-40B4-BE49-F238E27FC236}">
                <a16:creationId xmlns:a16="http://schemas.microsoft.com/office/drawing/2014/main" id="{398CE8DF-0983-4754-AA91-AE2FC3BE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统一风格-策略收敛阶段模块-432">
            <a:extLst xmlns:a="http://schemas.openxmlformats.org/drawingml/2006/main">
              <a:ext uri="{FF2B5EF4-FFF2-40B4-BE49-F238E27FC236}">
                <a16:creationId xmlns:a16="http://schemas.microsoft.com/office/drawing/2014/main" id="{C71CC294-DD55-4FF1-A0E5-49F0EA7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7" name="统一风格-策略收敛阶段模块玻璃内沿-433">
            <a:extLst xmlns:a="http://schemas.openxmlformats.org/drawingml/2006/main">
              <a:ext uri="{FF2B5EF4-FFF2-40B4-BE49-F238E27FC236}">
                <a16:creationId xmlns:a16="http://schemas.microsoft.com/office/drawing/2014/main" id="{B5D35DE3-4663-4E44-996E-1FFA759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859" y="2108359"/>
            <a:ext cx="2488883" cy="2641283"/>
          </a:xfrm>
          <a:prstGeom xmlns:a="http://schemas.openxmlformats.org/drawingml/2006/main" prst="roundRect">
            <a:avLst>
              <a:gd name="adj" fmla="val 294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8" name="统一风格-策略收敛阶段模块透光反射面-434">
            <a:extLst xmlns:a="http://schemas.openxmlformats.org/drawingml/2006/main">
              <a:ext uri="{FF2B5EF4-FFF2-40B4-BE49-F238E27FC236}">
                <a16:creationId xmlns:a16="http://schemas.microsoft.com/office/drawing/2014/main" id="{8E4DD018-5C3E-4339-9A0D-B24505A2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2476500" cy="2628900"/>
          </a:xfrm>
          <a:custGeom xmlns:a="http://schemas.openxmlformats.org/drawingml/2006/main"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9" name="统一风格-策略收敛阶段模块边缘高光-435">
            <a:extLst xmlns:a="http://schemas.openxmlformats.org/drawingml/2006/main">
              <a:ext uri="{FF2B5EF4-FFF2-40B4-BE49-F238E27FC236}">
                <a16:creationId xmlns:a16="http://schemas.microsoft.com/office/drawing/2014/main" id="{FD48FE3F-E841-47DA-9782-EF21621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2667000"/>
          </a:xfrm>
          <a:custGeom xmlns:a="http://schemas.openxmlformats.org/drawingml/2006/main"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70A286A8-7C1C-4D22-A9F0-549B3DA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策略收敛阶段-3">
            <a:extLst xmlns:a="http://schemas.openxmlformats.org/drawingml/2006/main">
              <a:ext uri="{FF2B5EF4-FFF2-40B4-BE49-F238E27FC236}">
                <a16:creationId xmlns:a16="http://schemas.microsoft.com/office/drawing/2014/main" id="{C29FAE82-035B-42E8-A3DA-73C18F7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</a:ln>
        </p:spPr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658A894D-7B61-461D-80C8-C4036527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分范围收敛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95386C5F-AFA7-433E-AA8F-D4407483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选定首批业务范围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发布显式兜底阻断</a:t>
            </a:r>
          </a:p>
          <a:p xmlns:a="http://schemas.openxmlformats.org/drawingml/2006/main"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观察业务与日志</a:t>
            </a:r>
          </a:p>
        </p:txBody>
      </p:sp>
      <p:sp>
        <p:nvSpPr>
          <p:cNvPr id="34" name="统一风格-策略收敛阶段模块玻璃后沿-436">
            <a:extLst xmlns:a="http://schemas.openxmlformats.org/drawingml/2006/main">
              <a:ext uri="{FF2B5EF4-FFF2-40B4-BE49-F238E27FC236}">
                <a16:creationId xmlns:a16="http://schemas.microsoft.com/office/drawing/2014/main" id="{505FCD8B-6E66-47F7-A40B-E30B470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统一风格-策略收敛阶段模块-437">
            <a:extLst xmlns:a="http://schemas.openxmlformats.org/drawingml/2006/main">
              <a:ext uri="{FF2B5EF4-FFF2-40B4-BE49-F238E27FC236}">
                <a16:creationId xmlns:a16="http://schemas.microsoft.com/office/drawing/2014/main" id="{795089C8-872B-4289-A272-068A0A1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2667000"/>
          </a:xfrm>
          <a:prstGeom xmlns:a="http://schemas.openxmlformats.org/drawingml/2006/main" prst="roundRect">
            <a:avLst>
              <a:gd name="adj" fmla="val 340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策略收敛阶段模块玻璃内沿-438">
            <a:extLst xmlns:a="http://schemas.openxmlformats.org/drawingml/2006/main">
              <a:ext uri="{FF2B5EF4-FFF2-40B4-BE49-F238E27FC236}">
                <a16:creationId xmlns:a16="http://schemas.microsoft.com/office/drawing/2014/main" id="{0EE3B982-073C-497D-B638-4CA0653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059" y="2108359"/>
            <a:ext cx="2488883" cy="2641283"/>
          </a:xfrm>
          <a:prstGeom xmlns:a="http://schemas.openxmlformats.org/drawingml/2006/main" prst="roundRect">
            <a:avLst>
              <a:gd name="adj" fmla="val 294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策略收敛阶段模块透光反射面-439">
            <a:extLst xmlns:a="http://schemas.openxmlformats.org/drawingml/2006/main">
              <a:ext uri="{FF2B5EF4-FFF2-40B4-BE49-F238E27FC236}">
                <a16:creationId xmlns:a16="http://schemas.microsoft.com/office/drawing/2014/main" id="{263956B2-728F-4BFE-93AA-5A32A60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476500" cy="2628900"/>
          </a:xfrm>
          <a:custGeom xmlns:a="http://schemas.openxmlformats.org/drawingml/2006/main"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8" name="统一风格-策略收敛阶段模块边缘高光-440">
            <a:extLst xmlns:a="http://schemas.openxmlformats.org/drawingml/2006/main">
              <a:ext uri="{FF2B5EF4-FFF2-40B4-BE49-F238E27FC236}">
                <a16:creationId xmlns:a16="http://schemas.microsoft.com/office/drawing/2014/main" id="{7EBC958B-74A9-4602-93D9-59F7F42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2667000"/>
          </a:xfrm>
          <a:custGeom xmlns:a="http://schemas.openxmlformats.org/drawingml/2006/main"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txt-38">
            <a:extLst xmlns:a="http://schemas.openxmlformats.org/drawingml/2006/main">
              <a:ext uri="{FF2B5EF4-FFF2-40B4-BE49-F238E27FC236}">
                <a16:creationId xmlns:a16="http://schemas.microsoft.com/office/drawing/2014/main" id="{0800E75B-B751-4CD2-B1D6-B75E798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策略收敛阶段-4">
            <a:extLst xmlns:a="http://schemas.openxmlformats.org/drawingml/2006/main">
              <a:ext uri="{FF2B5EF4-FFF2-40B4-BE49-F238E27FC236}">
                <a16:creationId xmlns:a16="http://schemas.microsoft.com/office/drawing/2014/main" id="{E08B48B3-B665-4808-9C14-9AF346C6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</a:ln>
        </p:spPr>
      </p:sp>
      <p:sp>
        <p:nvSpPr>
          <p:cNvPr id="41" name="txt-40">
            <a:extLst xmlns:a="http://schemas.openxmlformats.org/drawingml/2006/main">
              <a:ext uri="{FF2B5EF4-FFF2-40B4-BE49-F238E27FC236}">
                <a16:creationId xmlns:a16="http://schemas.microsoft.com/office/drawing/2014/main" id="{C0D068B3-2BBA-42FF-8E40-7E8C6683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验收与复核</a:t>
            </a:r>
          </a:p>
        </p:txBody>
      </p:sp>
      <p:sp>
        <p:nvSpPr>
          <p:cNvPr id="42" name="txt-41">
            <a:extLst xmlns:a="http://schemas.openxmlformats.org/drawingml/2006/main">
              <a:ext uri="{FF2B5EF4-FFF2-40B4-BE49-F238E27FC236}">
                <a16:creationId xmlns:a16="http://schemas.microsoft.com/office/drawing/2014/main" id="{4B892572-959A-418E-8B5D-70F1AD0E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57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新建应通与应拒绝连接</ns0:t>
            </ns0:r>
          </ns0:p>
          <ns1:p xmlns:ns1="http://schemas.openxmlformats.org/drawingml/2006/main">
            <ns1:pPr algn="l">
              <ns1:defRPr sz="157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关键交易回归</ns1:t>
            </ns1:r>
          </ns1:p>
          <ns2:p xmlns:ns2="http://schemas.openxmlformats.org/drawingml/2006/main">
            <ns2:pPr algn="l">
              <ns2:defRPr sz="1575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627695"/>
                </ns2:solidFill>
                <ns2:latin typeface="Microsoft YaHei"/>
                <ns2:ea typeface="Microsoft YaHei"/>
                <ns2:cs typeface="Microsoft YaHei"/>
              </ns2:rPr>
              <ns2:t>到期复核并扩围</ns2:t>
            </ns2:r>
          </ns2:p>
        </p:txBody>
      </p: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0C1230-C5FC-4EDC-9BBE-076BEC0A93E8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876300" y="291465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EDF"/>
            </a:solidFill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030FA1-960D-40BB-B2FF-D94916B0B52B}"/>
              </a:ext>
            </a:extLst>
          </p:cNvPr>
          <p:cNvCxnSpPr>
            <a:stCxn xmlns:a="http://schemas.openxmlformats.org/drawingml/2006/main" id="22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3619500" y="291465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EDF"/>
            </a:solidFill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42A3C2-7307-4C0D-91F9-089333A9038A}"/>
              </a:ext>
            </a:extLst>
          </p:cNvPr>
          <p:cNvCxnSpPr>
            <a:stCxn xmlns:a="http://schemas.openxmlformats.org/drawingml/2006/main" id="31" idx="6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6362700" y="291465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EDF"/>
            </a:solidFill>
            <a:tailEnd type="triangle" w="sm" len="sm"/>
          </a:ln>
        </p:spPr>
      </p:cxnSp>
      <p:sp>
        <p:nvSpPr>
          <p:cNvPr id="46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4274105-7E73-42AB-BF10-1E0B05E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8E5"/>
            </a:solidFill>
          </a:ln>
        </p:spPr>
      </p:sp>
      <p:sp>
        <p:nvSpPr>
          <p:cNvPr id="47" name="txt-46">
            <a:extLst xmlns:a="http://schemas.openxmlformats.org/drawingml/2006/main">
              <a:ext uri="{FF2B5EF4-FFF2-40B4-BE49-F238E27FC236}">
                <a16:creationId xmlns:a16="http://schemas.microsoft.com/office/drawing/2014/main" id="{E3661DAE-2C6D-4BCC-B9C7-4B33F5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开始阻断前</a:t>
            </a:r>
          </a:p>
        </p:txBody>
      </p:sp>
      <p:sp>
        <p:nvSpPr>
          <p:cNvPr id="48" name="txt-47">
            <a:extLst xmlns:a="http://schemas.openxmlformats.org/drawingml/2006/main">
              <a:ext uri="{FF2B5EF4-FFF2-40B4-BE49-F238E27FC236}">
                <a16:creationId xmlns:a16="http://schemas.microsoft.com/office/drawing/2014/main" id="{BD175BFA-BCAC-45B8-9A0D-3C9EF6D0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00650"/>
            <a:ext cx="822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3:p xmlns:ns3="http://schemas.openxmlformats.org/drawingml/2006/main">
            <ns3:pPr algn="l">
              <ns3:defRPr sz="172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72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rPr>
              <ns3:t>观察窗口覆盖备份、批处理与月结等周期。</ns3:t>
            </ns3:r>
          </ns3:p>
          <ns4:p xmlns:ns4="http://schemas.openxmlformats.org/drawingml/2006/main">
            <ns4:pPr algn="l">
              <ns4:defRPr sz="172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72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rPr>
              <ns4:t>关键交易、错误率或时延触发门槛时，恢复前态并复测。</ns4:t>
            </ns4:r>
          </ns4:p>
        </p:txBody>
      </p:sp>
    </p:spTree>
    <p:extLst>
      <p:ext uri="{BB962C8B-B14F-4D97-AF65-F5344CB8AC3E}">
        <p14:creationId xmlns:p14="http://schemas.microsoft.com/office/powerpoint/2010/main" val="1029843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E67D0109-6691-4915-981D-55B3CF8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7264511-CBC7-490C-9F73-1DF2D1C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访问申请应能直接转换为策略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A8AD72E-DFE9-4316-A28B-2C00A26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源端口通常动态分配；工单、Owner、有效期与回滚记录随申请一起维护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41F8B28-6CE0-43AA-99DA-959E555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示例请求单 CHG-DEMO-001 为虚构，不代表真实审批记录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50C0A9B-F098-4A0B-89F1-E40B8A5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2">
            <a:extLst xmlns:a="http://schemas.openxmlformats.org/drawingml/2006/main">
              <a:ext uri="{FF2B5EF4-FFF2-40B4-BE49-F238E27FC236}">
                <a16:creationId xmlns:a16="http://schemas.microsoft.com/office/drawing/2014/main" id="{4AB93F80-D95A-4565-BD54-E7F38EA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61</ns0:t>
            </ns0:r>
          </ns0:p>
        </p:txBody>
      </p:sp>
      <p:sp>
        <p:nvSpPr>
          <p:cNvPr id="7" name="统一风格-表格玻璃容器玻璃后沿-441">
            <a:extLst xmlns:a="http://schemas.openxmlformats.org/drawingml/2006/main">
              <a:ext uri="{FF2B5EF4-FFF2-40B4-BE49-F238E27FC236}">
                <a16:creationId xmlns:a16="http://schemas.microsoft.com/office/drawing/2014/main" id="{A03CA5AE-AAB2-4053-A2F5-742A5F4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11125200" cy="3914775"/>
          </a:xfrm>
          <a:prstGeom xmlns:a="http://schemas.openxmlformats.org/drawingml/2006/main" prst="roundRect">
            <a:avLst>
              <a:gd name="adj" fmla="val 219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442">
            <a:extLst xmlns:a="http://schemas.openxmlformats.org/drawingml/2006/main">
              <a:ext uri="{FF2B5EF4-FFF2-40B4-BE49-F238E27FC236}">
                <a16:creationId xmlns:a16="http://schemas.microsoft.com/office/drawing/2014/main" id="{6269F446-0C58-45DC-9CCE-9989A712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11125200" cy="3914775"/>
          </a:xfrm>
          <a:prstGeom xmlns:a="http://schemas.openxmlformats.org/drawingml/2006/main" prst="roundRect">
            <a:avLst>
              <a:gd name="adj" fmla="val 219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443">
            <a:extLst xmlns:a="http://schemas.openxmlformats.org/drawingml/2006/main">
              <a:ext uri="{FF2B5EF4-FFF2-40B4-BE49-F238E27FC236}">
                <a16:creationId xmlns:a16="http://schemas.microsoft.com/office/drawing/2014/main" id="{257BD597-556C-4A63-AD8E-6AF289FD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060734"/>
            <a:ext cx="11099483" cy="3889058"/>
          </a:xfrm>
          <a:prstGeom xmlns:a="http://schemas.openxmlformats.org/drawingml/2006/main" prst="roundRect">
            <a:avLst>
              <a:gd name="adj" fmla="val 188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444">
            <a:extLst xmlns:a="http://schemas.openxmlformats.org/drawingml/2006/main">
              <a:ext uri="{FF2B5EF4-FFF2-40B4-BE49-F238E27FC236}">
                <a16:creationId xmlns:a16="http://schemas.microsoft.com/office/drawing/2014/main" id="{B8E35191-B228-4C51-9119-1B2FD6B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11125200" cy="3914775"/>
          </a:xfrm>
          <a:custGeom xmlns:a="http://schemas.openxmlformats.org/drawingml/2006/main">
            <a:pathLst>
              <a:path w="11125200" h="39147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679ED-2248-40F4-80D8-964BAFD575F0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申请示例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订单服务访问自建数据库，CHG-DEMO-001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连接发起方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10.20.10.15/32，应用 VPC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连接接收方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10.30.20.10/32，数据 VPC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端口与协议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TCP，源端口 Any，目的端口 3306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生效范围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边界，按审批窗口发布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3748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管理与验收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负责人、有效期与复核、正反用例和回滚门槛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3749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E0BE8298-BB37-4257-BCC2-D4E5AD18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A90D437-7274-42D2-B0D7-87569B76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业务访问矩阵示例</a:t>
            </a:r>
          </a:p>
        </p:txBody>
      </p:sp>
      <p:sp>
        <p:nvSpPr>
          <p:cNvPr id="3" name="正文-配置原则：仅批准明确业务流。表内规则需同步核对安全组与其他控制层">
            <a:extLst xmlns:a="http://schemas.openxmlformats.org/drawingml/2006/main">
              <a:ext uri="{FF2B5EF4-FFF2-40B4-BE49-F238E27FC236}">
                <a16:creationId xmlns:a16="http://schemas.microsoft.com/office/drawing/2014/main" id="{414BA720-0480-4A00-95DA-C30939B7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配置原则：仅批准明确业务流。表内规则需同步核对安全组与其他控制层</ns0:t>
            </ns0:r>
          </ns0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D181AEE-68D2-4E50-A30D-7822383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43">
            <a:extLst xmlns:a="http://schemas.openxmlformats.org/drawingml/2006/main">
              <a:ext uri="{FF2B5EF4-FFF2-40B4-BE49-F238E27FC236}">
                <a16:creationId xmlns:a16="http://schemas.microsoft.com/office/drawing/2014/main" id="{B035AF3E-BE38-471E-B813-15724CB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62</ns0:t>
            </ns0:r>
          </ns0:p>
        </p:txBody>
      </p:sp>
      <p:sp>
        <p:nvSpPr>
          <p:cNvPr id="6" name="统一风格-表格玻璃容器玻璃后沿-445">
            <a:extLst xmlns:a="http://schemas.openxmlformats.org/drawingml/2006/main">
              <a:ext uri="{FF2B5EF4-FFF2-40B4-BE49-F238E27FC236}">
                <a16:creationId xmlns:a16="http://schemas.microsoft.com/office/drawing/2014/main" id="{0C1E3C72-F913-46E0-BA8D-4AFB06B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" name="统一风格-表格玻璃容器-446">
            <a:extLst xmlns:a="http://schemas.openxmlformats.org/drawingml/2006/main">
              <a:ext uri="{FF2B5EF4-FFF2-40B4-BE49-F238E27FC236}">
                <a16:creationId xmlns:a16="http://schemas.microsoft.com/office/drawing/2014/main" id="{866D3A67-5D82-4D27-953F-2C96961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表格玻璃容器玻璃内沿-447">
            <a:extLst xmlns:a="http://schemas.openxmlformats.org/drawingml/2006/main">
              <a:ext uri="{FF2B5EF4-FFF2-40B4-BE49-F238E27FC236}">
                <a16:creationId xmlns:a16="http://schemas.microsoft.com/office/drawing/2014/main" id="{E55365F1-B06A-45A6-BB6F-7C07B6E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84559"/>
            <a:ext cx="11099483" cy="3784283"/>
          </a:xfrm>
          <a:prstGeom xmlns:a="http://schemas.openxmlformats.org/drawingml/2006/main" prst="roundRect">
            <a:avLst>
              <a:gd name="adj" fmla="val 19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表格玻璃容器边缘高光-448">
            <a:extLst xmlns:a="http://schemas.openxmlformats.org/drawingml/2006/main">
              <a:ext uri="{FF2B5EF4-FFF2-40B4-BE49-F238E27FC236}">
                <a16:creationId xmlns:a16="http://schemas.microsoft.com/office/drawing/2014/main" id="{9B1E5043-37A3-436E-8B35-AA60EEF2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custGeom xmlns:a="http://schemas.openxmlformats.org/drawingml/2006/main"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6DF0A-3F38-41F5-BC62-4B6248CD3408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619250"/>
                <a:gridCol w="3486150"/>
              </a:tblGrid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动作与依据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放行，订单服务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10.40.10.5/32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放行，受控运维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阻断，无运维需求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测试环境地址组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生产数据地址组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阻断，环境隔离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已纳管业务源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已核验业务范围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其他流量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兜底阻断，依赖梳理完成后启用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259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FC6D2D00-D883-472C-8126-808A40E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DEF1FC6-6187-45A7-9E78-1ED0CBD2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功能优先级与 ACL 规则顺序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34479C1-6CF3-4B48-8074-2616B1B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外层防护顺序与 ACL 内首条命中是两个层次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6A67C4B-5BC7-4FF1-8FD9-4A5528D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图中的兜底阻断需由管理员显式配置。VPC 边界接入本身默认放行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4DF902A3-DD71-42BB-A5BB-7F4BD0E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34">
            <a:extLst xmlns:a="http://schemas.openxmlformats.org/drawingml/2006/main">
              <a:ext uri="{FF2B5EF4-FFF2-40B4-BE49-F238E27FC236}">
                <a16:creationId xmlns:a16="http://schemas.microsoft.com/office/drawing/2014/main" id="{BA8E31D6-2EBD-4106-A6B8-1804A28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53</ns0:t>
            </ns0:r>
          </ns0:p>
        </p:txBody>
      </p:sp>
      <p:sp>
        <p:nvSpPr>
          <p:cNvPr id="7" name="统一风格-pipeline-wide 新连接玻璃后沿-449">
            <a:extLst xmlns:a="http://schemas.openxmlformats.org/drawingml/2006/main">
              <a:ext uri="{FF2B5EF4-FFF2-40B4-BE49-F238E27FC236}">
                <a16:creationId xmlns:a16="http://schemas.microsoft.com/office/drawing/2014/main" id="{433A27DD-CCEC-4A78-85E7-CA2AEB0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pipeline-wide 新连接-450">
            <a:extLst xmlns:a="http://schemas.openxmlformats.org/drawingml/2006/main">
              <a:ext uri="{FF2B5EF4-FFF2-40B4-BE49-F238E27FC236}">
                <a16:creationId xmlns:a16="http://schemas.microsoft.com/office/drawing/2014/main" id="{4DF5946F-EF2B-437F-881A-6980EDE3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pipeline-wide 新连接玻璃内沿-451">
            <a:extLst xmlns:a="http://schemas.openxmlformats.org/drawingml/2006/main">
              <a:ext uri="{FF2B5EF4-FFF2-40B4-BE49-F238E27FC236}">
                <a16:creationId xmlns:a16="http://schemas.microsoft.com/office/drawing/2014/main" id="{CDC92D24-D3F8-497F-89B1-8ACC352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pipeline-wide 新连接透光反射面-452">
            <a:extLst xmlns:a="http://schemas.openxmlformats.org/drawingml/2006/main">
              <a:ext uri="{FF2B5EF4-FFF2-40B4-BE49-F238E27FC236}">
                <a16:creationId xmlns:a16="http://schemas.microsoft.com/office/drawing/2014/main" id="{4D795FF1-0A7E-40D2-917D-759501B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pipeline-wide 新连接边缘高光-453">
            <a:extLst xmlns:a="http://schemas.openxmlformats.org/drawingml/2006/main">
              <a:ext uri="{FF2B5EF4-FFF2-40B4-BE49-F238E27FC236}">
                <a16:creationId xmlns:a16="http://schemas.microsoft.com/office/drawing/2014/main" id="{8261DAEC-1B7B-42EA-B179-38F5498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454">
            <a:extLst xmlns:a="http://schemas.openxmlformats.org/drawingml/2006/main">
              <a:ext uri="{FF2B5EF4-FFF2-40B4-BE49-F238E27FC236}">
                <a16:creationId xmlns:a16="http://schemas.microsoft.com/office/drawing/2014/main" id="{5972D83C-4941-4372-B000-8935B70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13" name="统一风格-laptop 终端底座-455">
            <a:extLst xmlns:a="http://schemas.openxmlformats.org/drawingml/2006/main">
              <a:ext uri="{FF2B5EF4-FFF2-40B4-BE49-F238E27FC236}">
                <a16:creationId xmlns:a16="http://schemas.microsoft.com/office/drawing/2014/main" id="{ED77CE60-A386-4608-B4BF-C047973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14" name="统一风格-laptop 终端内容-456">
            <a:extLst xmlns:a="http://schemas.openxmlformats.org/drawingml/2006/main">
              <a:ext uri="{FF2B5EF4-FFF2-40B4-BE49-F238E27FC236}">
                <a16:creationId xmlns:a16="http://schemas.microsoft.com/office/drawing/2014/main" id="{24E42707-FBBB-410E-A867-DAF6633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15" name="统一风格-文字 新连接-457">
            <a:extLst xmlns:a="http://schemas.openxmlformats.org/drawingml/2006/main">
              <a:ext uri="{FF2B5EF4-FFF2-40B4-BE49-F238E27FC236}">
                <a16:creationId xmlns:a16="http://schemas.microsoft.com/office/drawing/2014/main" id="{47508A0F-D8FB-456C-9881-8567658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新连接</a:t>
            </a:r>
          </a:p>
        </p:txBody>
      </p:sp>
      <p:sp>
        <p:nvSpPr>
          <p:cNvPr id="16" name="统一风格-pipeline-wide 流量封堵玻璃后沿-458">
            <a:extLst xmlns:a="http://schemas.openxmlformats.org/drawingml/2006/main">
              <a:ext uri="{FF2B5EF4-FFF2-40B4-BE49-F238E27FC236}">
                <a16:creationId xmlns:a16="http://schemas.microsoft.com/office/drawing/2014/main" id="{4D9C76D3-9269-46FA-B620-70CDD2F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pipeline-wide 流量封堵-459">
            <a:extLst xmlns:a="http://schemas.openxmlformats.org/drawingml/2006/main">
              <a:ext uri="{FF2B5EF4-FFF2-40B4-BE49-F238E27FC236}">
                <a16:creationId xmlns:a16="http://schemas.microsoft.com/office/drawing/2014/main" id="{2B2C1676-173B-4BFD-A9E1-C996D900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pipeline-wide 流量封堵玻璃内沿-460">
            <a:extLst xmlns:a="http://schemas.openxmlformats.org/drawingml/2006/main">
              <a:ext uri="{FF2B5EF4-FFF2-40B4-BE49-F238E27FC236}">
                <a16:creationId xmlns:a16="http://schemas.microsoft.com/office/drawing/2014/main" id="{2B698AF3-CBD2-4DD3-9FC7-6E331BC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33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pipeline-wide 流量封堵透光反射面-461">
            <a:extLst xmlns:a="http://schemas.openxmlformats.org/drawingml/2006/main">
              <a:ext uri="{FF2B5EF4-FFF2-40B4-BE49-F238E27FC236}">
                <a16:creationId xmlns:a16="http://schemas.microsoft.com/office/drawing/2014/main" id="{57987E21-E264-47C1-88B4-11C5618D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pipeline-wide 流量封堵边缘高光-462">
            <a:extLst xmlns:a="http://schemas.openxmlformats.org/drawingml/2006/main">
              <a:ext uri="{FF2B5EF4-FFF2-40B4-BE49-F238E27FC236}">
                <a16:creationId xmlns:a16="http://schemas.microsoft.com/office/drawing/2014/main" id="{28BE1BF4-5CB3-4F3D-95ED-43E614C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firewall CFW 砖墙-463">
            <a:extLst xmlns:a="http://schemas.openxmlformats.org/drawingml/2006/main">
              <a:ext uri="{FF2B5EF4-FFF2-40B4-BE49-F238E27FC236}">
                <a16:creationId xmlns:a16="http://schemas.microsoft.com/office/drawing/2014/main" id="{586993C9-0700-4513-BA75-141436C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22" name="统一风格-firewall CFW 砖缝-464">
            <a:extLst xmlns:a="http://schemas.openxmlformats.org/drawingml/2006/main">
              <a:ext uri="{FF2B5EF4-FFF2-40B4-BE49-F238E27FC236}">
                <a16:creationId xmlns:a16="http://schemas.microsoft.com/office/drawing/2014/main" id="{34D5F460-3063-40B0-814A-9D19756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23" name="统一风格-firewall CFW 前景衬底-465">
            <a:extLst xmlns:a="http://schemas.openxmlformats.org/drawingml/2006/main">
              <a:ext uri="{FF2B5EF4-FFF2-40B4-BE49-F238E27FC236}">
                <a16:creationId xmlns:a16="http://schemas.microsoft.com/office/drawing/2014/main" id="{138A3D2B-1307-4110-88CC-D1494465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" name="统一风格-firewall CFW 简洁火焰-466">
            <a:extLst xmlns:a="http://schemas.openxmlformats.org/drawingml/2006/main">
              <a:ext uri="{FF2B5EF4-FFF2-40B4-BE49-F238E27FC236}">
                <a16:creationId xmlns:a16="http://schemas.microsoft.com/office/drawing/2014/main" id="{893D50AD-F97B-4C8C-A1C9-603A6975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25" name="统一风格-文字 流量封堵-467">
            <a:extLst xmlns:a="http://schemas.openxmlformats.org/drawingml/2006/main">
              <a:ext uri="{FF2B5EF4-FFF2-40B4-BE49-F238E27FC236}">
                <a16:creationId xmlns:a16="http://schemas.microsoft.com/office/drawing/2014/main" id="{30084B48-E68B-4DFC-8093-B28E552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流量封堵</a:t>
            </a:r>
          </a:p>
        </p:txBody>
      </p:sp>
      <p:sp>
        <p:nvSpPr>
          <p:cNvPr id="26" name="统一风格-pipeline-wide 白名单玻璃后沿-468">
            <a:extLst xmlns:a="http://schemas.openxmlformats.org/drawingml/2006/main">
              <a:ext uri="{FF2B5EF4-FFF2-40B4-BE49-F238E27FC236}">
                <a16:creationId xmlns:a16="http://schemas.microsoft.com/office/drawing/2014/main" id="{DE10B043-AB9B-414A-845F-F972D50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统一风格-pipeline-wide 白名单-469">
            <a:extLst xmlns:a="http://schemas.openxmlformats.org/drawingml/2006/main">
              <a:ext uri="{FF2B5EF4-FFF2-40B4-BE49-F238E27FC236}">
                <a16:creationId xmlns:a16="http://schemas.microsoft.com/office/drawing/2014/main" id="{F035BCE0-F1AD-4B27-8B31-86D4CD2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pipeline-wide 白名单玻璃内沿-470">
            <a:extLst xmlns:a="http://schemas.openxmlformats.org/drawingml/2006/main">
              <a:ext uri="{FF2B5EF4-FFF2-40B4-BE49-F238E27FC236}">
                <a16:creationId xmlns:a16="http://schemas.microsoft.com/office/drawing/2014/main" id="{49E095BF-5DC7-4249-A465-9654075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8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pipeline-wide 白名单透光反射面-471">
            <a:extLst xmlns:a="http://schemas.openxmlformats.org/drawingml/2006/main">
              <a:ext uri="{FF2B5EF4-FFF2-40B4-BE49-F238E27FC236}">
                <a16:creationId xmlns:a16="http://schemas.microsoft.com/office/drawing/2014/main" id="{34DF8ECE-410B-4805-B826-70941C4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0" name="统一风格-pipeline-wide 白名单边缘高光-472">
            <a:extLst xmlns:a="http://schemas.openxmlformats.org/drawingml/2006/main">
              <a:ext uri="{FF2B5EF4-FFF2-40B4-BE49-F238E27FC236}">
                <a16:creationId xmlns:a16="http://schemas.microsoft.com/office/drawing/2014/main" id="{8EF773B5-303F-4FC5-BA20-D7E6D0C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doc 规则文档-473">
            <a:extLst xmlns:a="http://schemas.openxmlformats.org/drawingml/2006/main">
              <a:ext uri="{FF2B5EF4-FFF2-40B4-BE49-F238E27FC236}">
                <a16:creationId xmlns:a16="http://schemas.microsoft.com/office/drawing/2014/main" id="{2791DB57-0B48-4812-8C80-275B626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32" name="统一风格-doc 文档折角-474">
            <a:extLst xmlns:a="http://schemas.openxmlformats.org/drawingml/2006/main">
              <a:ext uri="{FF2B5EF4-FFF2-40B4-BE49-F238E27FC236}">
                <a16:creationId xmlns:a16="http://schemas.microsoft.com/office/drawing/2014/main" id="{EBB99284-C9DE-4DD2-869C-C8D1BB1C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33" name="统一风格-doc 规则条目-475">
            <a:extLst xmlns:a="http://schemas.openxmlformats.org/drawingml/2006/main">
              <a:ext uri="{FF2B5EF4-FFF2-40B4-BE49-F238E27FC236}">
                <a16:creationId xmlns:a16="http://schemas.microsoft.com/office/drawing/2014/main" id="{5C0449AA-AE87-47E4-8349-647F6112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34" name="统一风格-文字 白名单-476">
            <a:extLst xmlns:a="http://schemas.openxmlformats.org/drawingml/2006/main">
              <a:ext uri="{FF2B5EF4-FFF2-40B4-BE49-F238E27FC236}">
                <a16:creationId xmlns:a16="http://schemas.microsoft.com/office/drawing/2014/main" id="{30EAD75D-6CA4-402C-A328-A57FF89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</a:t>
            </a:r>
          </a:p>
        </p:txBody>
      </p:sp>
      <p:sp>
        <p:nvSpPr>
          <p:cNvPr id="35" name="统一风格-pipeline-wide 黑名单玻璃后沿-477">
            <a:extLst xmlns:a="http://schemas.openxmlformats.org/drawingml/2006/main">
              <a:ext uri="{FF2B5EF4-FFF2-40B4-BE49-F238E27FC236}">
                <a16:creationId xmlns:a16="http://schemas.microsoft.com/office/drawing/2014/main" id="{8EEF9A42-ED68-46B5-9C76-35424F07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统一风格-pipeline-wide 黑名单-478">
            <a:extLst xmlns:a="http://schemas.openxmlformats.org/drawingml/2006/main">
              <a:ext uri="{FF2B5EF4-FFF2-40B4-BE49-F238E27FC236}">
                <a16:creationId xmlns:a16="http://schemas.microsoft.com/office/drawing/2014/main" id="{547B453A-FF67-4259-935D-F055E27B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pipeline-wide 黑名单玻璃内沿-479">
            <a:extLst xmlns:a="http://schemas.openxmlformats.org/drawingml/2006/main">
              <a:ext uri="{FF2B5EF4-FFF2-40B4-BE49-F238E27FC236}">
                <a16:creationId xmlns:a16="http://schemas.microsoft.com/office/drawing/2014/main" id="{5367EB5A-8C1A-4A26-8CE9-038B9F5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63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pipeline-wide 黑名单透光反射面-480">
            <a:extLst xmlns:a="http://schemas.openxmlformats.org/drawingml/2006/main">
              <a:ext uri="{FF2B5EF4-FFF2-40B4-BE49-F238E27FC236}">
                <a16:creationId xmlns:a16="http://schemas.microsoft.com/office/drawing/2014/main" id="{A68B3B93-6C4B-4908-8139-E2711E13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9" name="统一风格-pipeline-wide 黑名单边缘高光-481">
            <a:extLst xmlns:a="http://schemas.openxmlformats.org/drawingml/2006/main">
              <a:ext uri="{FF2B5EF4-FFF2-40B4-BE49-F238E27FC236}">
                <a16:creationId xmlns:a16="http://schemas.microsoft.com/office/drawing/2014/main" id="{DD522B26-A037-4C2D-BFB5-A20DC0A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0" name="统一风格-doc 规则文档-482">
            <a:extLst xmlns:a="http://schemas.openxmlformats.org/drawingml/2006/main">
              <a:ext uri="{FF2B5EF4-FFF2-40B4-BE49-F238E27FC236}">
                <a16:creationId xmlns:a16="http://schemas.microsoft.com/office/drawing/2014/main" id="{58E88E47-2059-48E5-A0FF-A66C4DC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41" name="统一风格-doc 文档折角-483">
            <a:extLst xmlns:a="http://schemas.openxmlformats.org/drawingml/2006/main">
              <a:ext uri="{FF2B5EF4-FFF2-40B4-BE49-F238E27FC236}">
                <a16:creationId xmlns:a16="http://schemas.microsoft.com/office/drawing/2014/main" id="{DEBA4321-C338-49C3-8F8F-CD052F9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42" name="统一风格-doc 规则条目-484">
            <a:extLst xmlns:a="http://schemas.openxmlformats.org/drawingml/2006/main">
              <a:ext uri="{FF2B5EF4-FFF2-40B4-BE49-F238E27FC236}">
                <a16:creationId xmlns:a16="http://schemas.microsoft.com/office/drawing/2014/main" id="{8AE42619-71F1-4376-AD34-D8C9A328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43" name="统一风格-文字 黑名单-485">
            <a:extLst xmlns:a="http://schemas.openxmlformats.org/drawingml/2006/main">
              <a:ext uri="{FF2B5EF4-FFF2-40B4-BE49-F238E27FC236}">
                <a16:creationId xmlns:a16="http://schemas.microsoft.com/office/drawing/2014/main" id="{3859987A-9638-4DDA-A5CB-4905741C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</a:t>
            </a:r>
          </a:p>
        </p:txBody>
      </p:sp>
      <p:sp>
        <p:nvSpPr>
          <p:cNvPr id="44" name="统一风格-pipeline-wide ACL玻璃后沿-486">
            <a:extLst xmlns:a="http://schemas.openxmlformats.org/drawingml/2006/main">
              <a:ext uri="{FF2B5EF4-FFF2-40B4-BE49-F238E27FC236}">
                <a16:creationId xmlns:a16="http://schemas.microsoft.com/office/drawing/2014/main" id="{8513ABA9-D271-4522-9E34-D88ADC9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5" name="统一风格-pipeline-wide ACL-487">
            <a:extLst xmlns:a="http://schemas.openxmlformats.org/drawingml/2006/main">
              <a:ext uri="{FF2B5EF4-FFF2-40B4-BE49-F238E27FC236}">
                <a16:creationId xmlns:a16="http://schemas.microsoft.com/office/drawing/2014/main" id="{E09D7AE5-07B8-4407-B8AC-AB3AF2E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pipeline-wide ACL玻璃内沿-488">
            <a:extLst xmlns:a="http://schemas.openxmlformats.org/drawingml/2006/main">
              <a:ext uri="{FF2B5EF4-FFF2-40B4-BE49-F238E27FC236}">
                <a16:creationId xmlns:a16="http://schemas.microsoft.com/office/drawing/2014/main" id="{500CA00E-1372-45C9-A534-5BD6CA04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78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pipeline-wide ACL透光反射面-489">
            <a:extLst xmlns:a="http://schemas.openxmlformats.org/drawingml/2006/main">
              <a:ext uri="{FF2B5EF4-FFF2-40B4-BE49-F238E27FC236}">
                <a16:creationId xmlns:a16="http://schemas.microsoft.com/office/drawing/2014/main" id="{918026A0-CCB9-4D39-AA76-7105B27B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8" name="统一风格-pipeline-wide ACL边缘高光-490">
            <a:extLst xmlns:a="http://schemas.openxmlformats.org/drawingml/2006/main">
              <a:ext uri="{FF2B5EF4-FFF2-40B4-BE49-F238E27FC236}">
                <a16:creationId xmlns:a16="http://schemas.microsoft.com/office/drawing/2014/main" id="{0DCEA10E-FAFB-4BD1-B3F4-2AF21B0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acl 规则文档-491">
            <a:extLst xmlns:a="http://schemas.openxmlformats.org/drawingml/2006/main">
              <a:ext uri="{FF2B5EF4-FFF2-40B4-BE49-F238E27FC236}">
                <a16:creationId xmlns:a16="http://schemas.microsoft.com/office/drawing/2014/main" id="{4AC40FD1-468D-4817-A87A-E3A39C88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50" name="统一风格-acl 文档折角-492">
            <a:extLst xmlns:a="http://schemas.openxmlformats.org/drawingml/2006/main">
              <a:ext uri="{FF2B5EF4-FFF2-40B4-BE49-F238E27FC236}">
                <a16:creationId xmlns:a16="http://schemas.microsoft.com/office/drawing/2014/main" id="{DD9C8BEA-8362-41DA-B634-4687AC7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51" name="统一风格-acl 规则条目-493">
            <a:extLst xmlns:a="http://schemas.openxmlformats.org/drawingml/2006/main">
              <a:ext uri="{FF2B5EF4-FFF2-40B4-BE49-F238E27FC236}">
                <a16:creationId xmlns:a16="http://schemas.microsoft.com/office/drawing/2014/main" id="{AE4BB3F7-1B65-41C1-ABC1-A19C1D6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52" name="统一风格-文字 ACL-494">
            <a:extLst xmlns:a="http://schemas.openxmlformats.org/drawingml/2006/main">
              <a:ext uri="{FF2B5EF4-FFF2-40B4-BE49-F238E27FC236}">
                <a16:creationId xmlns:a16="http://schemas.microsoft.com/office/drawing/2014/main" id="{9D93A25F-1666-47F6-B443-A11B60A6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</a:t>
            </a:r>
          </a:p>
        </p:txBody>
      </p:sp>
      <p:sp>
        <p:nvSpPr>
          <p:cNvPr id="53" name="统一风格-pipeline-wide IPS 检测玻璃后沿-495">
            <a:extLst xmlns:a="http://schemas.openxmlformats.org/drawingml/2006/main">
              <a:ext uri="{FF2B5EF4-FFF2-40B4-BE49-F238E27FC236}">
                <a16:creationId xmlns:a16="http://schemas.microsoft.com/office/drawing/2014/main" id="{8BB71DC1-E6C2-4146-ADDC-279C192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统一风格-pipeline-wide IPS 检测-496">
            <a:extLst xmlns:a="http://schemas.openxmlformats.org/drawingml/2006/main">
              <a:ext uri="{FF2B5EF4-FFF2-40B4-BE49-F238E27FC236}">
                <a16:creationId xmlns:a16="http://schemas.microsoft.com/office/drawing/2014/main" id="{A9900358-75DE-46D7-9368-0A44A282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5" name="统一风格-pipeline-wide IPS 检测玻璃内沿-497">
            <a:extLst xmlns:a="http://schemas.openxmlformats.org/drawingml/2006/main">
              <a:ext uri="{FF2B5EF4-FFF2-40B4-BE49-F238E27FC236}">
                <a16:creationId xmlns:a16="http://schemas.microsoft.com/office/drawing/2014/main" id="{B62A6F12-BE8B-4FBE-8DA1-B7308158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93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6" name="统一风格-pipeline-wide IPS 检测透光反射面-498">
            <a:extLst xmlns:a="http://schemas.openxmlformats.org/drawingml/2006/main">
              <a:ext uri="{FF2B5EF4-FFF2-40B4-BE49-F238E27FC236}">
                <a16:creationId xmlns:a16="http://schemas.microsoft.com/office/drawing/2014/main" id="{56FF21EC-F320-490A-8BD4-1384226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7" name="统一风格-pipeline-wide IPS 检测边缘高光-499">
            <a:extLst xmlns:a="http://schemas.openxmlformats.org/drawingml/2006/main">
              <a:ext uri="{FF2B5EF4-FFF2-40B4-BE49-F238E27FC236}">
                <a16:creationId xmlns:a16="http://schemas.microsoft.com/office/drawing/2014/main" id="{4D901EF3-BB5F-406C-A585-6E3B742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8" name="统一风格-ips 安全盾-500">
            <a:extLst xmlns:a="http://schemas.openxmlformats.org/drawingml/2006/main">
              <a:ext uri="{FF2B5EF4-FFF2-40B4-BE49-F238E27FC236}">
                <a16:creationId xmlns:a16="http://schemas.microsoft.com/office/drawing/2014/main" id="{ABBDBD62-2386-4D8B-892B-BB887B66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59" name="统一风格-ips 检测透镜-501">
            <a:extLst xmlns:a="http://schemas.openxmlformats.org/drawingml/2006/main">
              <a:ext uri="{FF2B5EF4-FFF2-40B4-BE49-F238E27FC236}">
                <a16:creationId xmlns:a16="http://schemas.microsoft.com/office/drawing/2014/main" id="{AD80258B-8BF4-4DE5-BAD1-665E0A59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60" name="统一风格-ips 检测手柄-502">
            <a:extLst xmlns:a="http://schemas.openxmlformats.org/drawingml/2006/main">
              <a:ext uri="{FF2B5EF4-FFF2-40B4-BE49-F238E27FC236}">
                <a16:creationId xmlns:a16="http://schemas.microsoft.com/office/drawing/2014/main" id="{4694B00E-2CA2-4140-B949-B406CC5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61" name="统一风格-文字 IPS 检测-503">
            <a:extLst xmlns:a="http://schemas.openxmlformats.org/drawingml/2006/main">
              <a:ext uri="{FF2B5EF4-FFF2-40B4-BE49-F238E27FC236}">
                <a16:creationId xmlns:a16="http://schemas.microsoft.com/office/drawing/2014/main" id="{8B92534B-829C-4748-9DFB-905C09D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62" name="统一风格-pipeline-wide 目标服务玻璃后沿-504">
            <a:extLst xmlns:a="http://schemas.openxmlformats.org/drawingml/2006/main">
              <a:ext uri="{FF2B5EF4-FFF2-40B4-BE49-F238E27FC236}">
                <a16:creationId xmlns:a16="http://schemas.microsoft.com/office/drawing/2014/main" id="{53DCF6FA-A222-4645-BDC4-2F342A3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统一风格-pipeline-wide 目标服务-505">
            <a:extLst xmlns:a="http://schemas.openxmlformats.org/drawingml/2006/main">
              <a:ext uri="{FF2B5EF4-FFF2-40B4-BE49-F238E27FC236}">
                <a16:creationId xmlns:a16="http://schemas.microsoft.com/office/drawing/2014/main" id="{62F78FFA-AE1E-42CF-8C55-F9685A3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95625"/>
            <a:ext cx="1314450" cy="1123950"/>
          </a:xfrm>
          <a:prstGeom xmlns:a="http://schemas.openxmlformats.org/drawingml/2006/main" prst="roundRect">
            <a:avLst>
              <a:gd name="adj" fmla="val 762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4" name="统一风格-pipeline-wide 目标服务玻璃内沿-506">
            <a:extLst xmlns:a="http://schemas.openxmlformats.org/drawingml/2006/main">
              <a:ext uri="{FF2B5EF4-FFF2-40B4-BE49-F238E27FC236}">
                <a16:creationId xmlns:a16="http://schemas.microsoft.com/office/drawing/2014/main" id="{85CDC529-35E1-41A3-B44D-9642A756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084" y="3108484"/>
            <a:ext cx="1288733" cy="1098233"/>
          </a:xfrm>
          <a:prstGeom xmlns:a="http://schemas.openxmlformats.org/drawingml/2006/main" prst="roundRect">
            <a:avLst>
              <a:gd name="adj" fmla="val 667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5" name="统一风格-pipeline-wide 目标服务透光反射面-507">
            <a:extLst xmlns:a="http://schemas.openxmlformats.org/drawingml/2006/main">
              <a:ext uri="{FF2B5EF4-FFF2-40B4-BE49-F238E27FC236}">
                <a16:creationId xmlns:a16="http://schemas.microsoft.com/office/drawing/2014/main" id="{22B1FDA5-93D1-4D33-96F5-FAFC63E4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114675"/>
            <a:ext cx="1276350" cy="1085850"/>
          </a:xfrm>
          <a:custGeom xmlns:a="http://schemas.openxmlformats.org/drawingml/2006/main"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66" name="统一风格-pipeline-wide 目标服务边缘高光-508">
            <a:extLst xmlns:a="http://schemas.openxmlformats.org/drawingml/2006/main">
              <a:ext uri="{FF2B5EF4-FFF2-40B4-BE49-F238E27FC236}">
                <a16:creationId xmlns:a16="http://schemas.microsoft.com/office/drawing/2014/main" id="{DA18B4D1-7348-454A-ADFF-E88B2A80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95625"/>
            <a:ext cx="1314450" cy="1123950"/>
          </a:xfrm>
          <a:custGeom xmlns:a="http://schemas.openxmlformats.org/drawingml/2006/main"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7" name="统一风格-server 服务器机架-509">
            <a:extLst xmlns:a="http://schemas.openxmlformats.org/drawingml/2006/main">
              <a:ext uri="{FF2B5EF4-FFF2-40B4-BE49-F238E27FC236}">
                <a16:creationId xmlns:a16="http://schemas.microsoft.com/office/drawing/2014/main" id="{5D00898F-1BB0-4FF9-AE4A-26239F98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68" name="统一风格-server 机架状态-510">
            <a:extLst xmlns:a="http://schemas.openxmlformats.org/drawingml/2006/main">
              <a:ext uri="{FF2B5EF4-FFF2-40B4-BE49-F238E27FC236}">
                <a16:creationId xmlns:a16="http://schemas.microsoft.com/office/drawing/2014/main" id="{65DD5F35-9DC9-42D7-8DE8-8033D6B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69" name="统一风格-server 指示灯-511">
            <a:extLst xmlns:a="http://schemas.openxmlformats.org/drawingml/2006/main">
              <a:ext uri="{FF2B5EF4-FFF2-40B4-BE49-F238E27FC236}">
                <a16:creationId xmlns:a16="http://schemas.microsoft.com/office/drawing/2014/main" id="{06CB1367-08E8-42D6-8584-66576720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0" name="统一风格-server 服务器机架-512">
            <a:extLst xmlns:a="http://schemas.openxmlformats.org/drawingml/2006/main">
              <a:ext uri="{FF2B5EF4-FFF2-40B4-BE49-F238E27FC236}">
                <a16:creationId xmlns:a16="http://schemas.microsoft.com/office/drawing/2014/main" id="{5534C399-3482-4B05-817F-531983F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71" name="统一风格-server 机架状态-513">
            <a:extLst xmlns:a="http://schemas.openxmlformats.org/drawingml/2006/main">
              <a:ext uri="{FF2B5EF4-FFF2-40B4-BE49-F238E27FC236}">
                <a16:creationId xmlns:a16="http://schemas.microsoft.com/office/drawing/2014/main" id="{6027E9C3-CBB3-4BAC-B917-47297FC2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72" name="统一风格-server 指示灯-514">
            <a:extLst xmlns:a="http://schemas.openxmlformats.org/drawingml/2006/main">
              <a:ext uri="{FF2B5EF4-FFF2-40B4-BE49-F238E27FC236}">
                <a16:creationId xmlns:a16="http://schemas.microsoft.com/office/drawing/2014/main" id="{BF552713-75E0-4F9E-A2C7-84A4FE8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3" name="统一风格-server 服务器机架-515">
            <a:extLst xmlns:a="http://schemas.openxmlformats.org/drawingml/2006/main">
              <a:ext uri="{FF2B5EF4-FFF2-40B4-BE49-F238E27FC236}">
                <a16:creationId xmlns:a16="http://schemas.microsoft.com/office/drawing/2014/main" id="{7BB22B3A-93A1-4598-83C9-9C9411B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74" name="统一风格-server 机架状态-516">
            <a:extLst xmlns:a="http://schemas.openxmlformats.org/drawingml/2006/main">
              <a:ext uri="{FF2B5EF4-FFF2-40B4-BE49-F238E27FC236}">
                <a16:creationId xmlns:a16="http://schemas.microsoft.com/office/drawing/2014/main" id="{E788F48A-8F36-49A7-AB26-2BC9DBEB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75" name="统一风格-server 指示灯-517">
            <a:extLst xmlns:a="http://schemas.openxmlformats.org/drawingml/2006/main">
              <a:ext uri="{FF2B5EF4-FFF2-40B4-BE49-F238E27FC236}">
                <a16:creationId xmlns:a16="http://schemas.microsoft.com/office/drawing/2014/main" id="{FB3CE5F2-8414-4225-BAFB-06DDCEE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6" name="统一风格-文字 目标服务-518">
            <a:extLst xmlns:a="http://schemas.openxmlformats.org/drawingml/2006/main">
              <a:ext uri="{FF2B5EF4-FFF2-40B4-BE49-F238E27FC236}">
                <a16:creationId xmlns:a16="http://schemas.microsoft.com/office/drawing/2014/main" id="{BB325778-24AF-4561-83FC-FB81136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52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cxnSp>
        <p:nvCxnSpPr>
          <p:cNvPr id="77" name="统一拓扑-pipeline-wide-连线-1">
            <a:extLst xmlns:a="http://schemas.openxmlformats.org/drawingml/2006/main">
              <a:ext uri="{FF2B5EF4-FFF2-40B4-BE49-F238E27FC236}">
                <a16:creationId xmlns:a16="http://schemas.microsoft.com/office/drawing/2014/main" id="{03E6AC13-ECC5-4BC6-8999-77A45B128B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977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8" name="统一拓扑-pipeline-wide-连线-2">
            <a:extLst xmlns:a="http://schemas.openxmlformats.org/drawingml/2006/main">
              <a:ext uri="{FF2B5EF4-FFF2-40B4-BE49-F238E27FC236}">
                <a16:creationId xmlns:a16="http://schemas.microsoft.com/office/drawing/2014/main" id="{C65CD96C-E587-4FF6-987E-043B22CB2B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9092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9" name="统一拓扑-pipeline-wide-连线-3">
            <a:extLst xmlns:a="http://schemas.openxmlformats.org/drawingml/2006/main">
              <a:ext uri="{FF2B5EF4-FFF2-40B4-BE49-F238E27FC236}">
                <a16:creationId xmlns:a16="http://schemas.microsoft.com/office/drawing/2014/main" id="{FC47B180-4C1C-41DA-BB03-EAC052C6E2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7207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0" name="统一拓扑-pipeline-wide-连线-4">
            <a:extLst xmlns:a="http://schemas.openxmlformats.org/drawingml/2006/main">
              <a:ext uri="{FF2B5EF4-FFF2-40B4-BE49-F238E27FC236}">
                <a16:creationId xmlns:a16="http://schemas.microsoft.com/office/drawing/2014/main" id="{1713D0A4-A0B7-4D0D-A0C5-BE8D75CE13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5322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1" name="统一拓扑-pipeline-wide-连线-5">
            <a:extLst xmlns:a="http://schemas.openxmlformats.org/drawingml/2006/main">
              <a:ext uri="{FF2B5EF4-FFF2-40B4-BE49-F238E27FC236}">
                <a16:creationId xmlns:a16="http://schemas.microsoft.com/office/drawing/2014/main" id="{4773E238-1474-4A7C-AA97-2835A95DD4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3437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2" name="统一拓扑-pipeline-wide-连线-6">
            <a:extLst xmlns:a="http://schemas.openxmlformats.org/drawingml/2006/main">
              <a:ext uri="{FF2B5EF4-FFF2-40B4-BE49-F238E27FC236}">
                <a16:creationId xmlns:a16="http://schemas.microsoft.com/office/drawing/2014/main" id="{731ED09B-5C23-4B88-BA4A-31230559A9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15525" y="3657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3" name="统一拓扑-pipeline-wide-连线-7">
            <a:extLst xmlns:a="http://schemas.openxmlformats.org/drawingml/2006/main">
              <a:ext uri="{FF2B5EF4-FFF2-40B4-BE49-F238E27FC236}">
                <a16:creationId xmlns:a16="http://schemas.microsoft.com/office/drawing/2014/main" id="{BBD98C37-1960-4C67-B46B-D0B9861961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14850" y="2552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</a:ln>
        </p:spPr>
      </p:cxnSp>
      <p:cxnSp>
        <p:nvCxnSpPr>
          <p:cNvPr id="84" name="统一拓扑-pipeline-wide-连线-8">
            <a:extLst xmlns:a="http://schemas.openxmlformats.org/drawingml/2006/main">
              <a:ext uri="{FF2B5EF4-FFF2-40B4-BE49-F238E27FC236}">
                <a16:creationId xmlns:a16="http://schemas.microsoft.com/office/drawing/2014/main" id="{827F0F7F-2AF7-4705-A660-4331E91E28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14850" y="2552700"/>
            <a:ext cx="632460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</a:ln>
        </p:spPr>
      </p:cxnSp>
      <p:cxnSp>
        <p:nvCxnSpPr>
          <p:cNvPr id="85" name="统一拓扑-pipeline-wide-连线-9">
            <a:extLst xmlns:a="http://schemas.openxmlformats.org/drawingml/2006/main">
              <a:ext uri="{FF2B5EF4-FFF2-40B4-BE49-F238E27FC236}">
                <a16:creationId xmlns:a16="http://schemas.microsoft.com/office/drawing/2014/main" id="{C0443397-88FD-4BF3-BD37-C3975D5768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39450" y="2552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6" name="统一风格-pipeline-wide 关系文字衬底-519">
            <a:extLst xmlns:a="http://schemas.openxmlformats.org/drawingml/2006/main">
              <a:ext uri="{FF2B5EF4-FFF2-40B4-BE49-F238E27FC236}">
                <a16:creationId xmlns:a16="http://schemas.microsoft.com/office/drawing/2014/main" id="{DE5437B4-60D2-40CE-ABF5-E3B317B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05025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87" name="统一风格-文字 白名单命中：直接放行-520">
            <a:extLst xmlns:a="http://schemas.openxmlformats.org/drawingml/2006/main">
              <a:ext uri="{FF2B5EF4-FFF2-40B4-BE49-F238E27FC236}">
                <a16:creationId xmlns:a16="http://schemas.microsoft.com/office/drawing/2014/main" id="{E6468831-6B34-49C4-944A-67449504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050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白名单命中：直接放行</a:t>
            </a:r>
          </a:p>
        </p:txBody>
      </p:sp>
      <p:sp>
        <p:nvSpPr>
          <p:cNvPr id="88" name="统一风格-文字 后续检测-521">
            <a:extLst xmlns:a="http://schemas.openxmlformats.org/drawingml/2006/main">
              <a:ext uri="{FF2B5EF4-FFF2-40B4-BE49-F238E27FC236}">
                <a16:creationId xmlns:a16="http://schemas.microsoft.com/office/drawing/2014/main" id="{551AAC56-FF0B-474B-987B-878961B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9" name="txt-88">
            <a:extLst xmlns:a="http://schemas.openxmlformats.org/drawingml/2006/main">
              <a:ext uri="{FF2B5EF4-FFF2-40B4-BE49-F238E27FC236}">
                <a16:creationId xmlns:a16="http://schemas.microsoft.com/office/drawing/2014/main" id="{88ED6D28-AA26-4B1A-A2A9-1B224028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功能顺序</a:t>
            </a:r>
          </a:p>
        </p:txBody>
      </p:sp>
      <p:sp>
        <p:nvSpPr>
          <p:cNvPr id="90" name="txt-89">
            <a:extLst xmlns:a="http://schemas.openxmlformats.org/drawingml/2006/main">
              <a:ext uri="{FF2B5EF4-FFF2-40B4-BE49-F238E27FC236}">
                <a16:creationId xmlns:a16="http://schemas.microsoft.com/office/drawing/2014/main" id="{5B388A09-A4DB-44D7-9654-11EFDA0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依次检查封堵、白名单、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黑名单与 ACL</a:t>
            </a:r>
          </a:p>
        </p:txBody>
      </p:sp>
      <p:sp>
        <p:nvSpPr>
          <p:cNvPr id="91" name="txt-90">
            <a:extLst xmlns:a="http://schemas.openxmlformats.org/drawingml/2006/main">
              <a:ext uri="{FF2B5EF4-FFF2-40B4-BE49-F238E27FC236}">
                <a16:creationId xmlns:a16="http://schemas.microsoft.com/office/drawing/2014/main" id="{19D53615-8867-4501-A57B-5094844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首条命中</a:t>
            </a:r>
          </a:p>
        </p:txBody>
      </p:sp>
      <p:sp>
        <p:nvSpPr>
          <p:cNvPr id="92" name="txt-91">
            <a:extLst xmlns:a="http://schemas.openxmlformats.org/drawingml/2006/main">
              <a:ext uri="{FF2B5EF4-FFF2-40B4-BE49-F238E27FC236}">
                <a16:creationId xmlns:a16="http://schemas.microsoft.com/office/drawing/2014/main" id="{1CD15CCC-6A9A-447A-84EC-1F1CB01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4768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具体规则靠前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首条命中后停止匹配</a:t>
            </a:r>
          </a:p>
        </p:txBody>
      </p:sp>
      <p:sp>
        <p:nvSpPr>
          <p:cNvPr id="93" name="txt-92">
            <a:extLst xmlns:a="http://schemas.openxmlformats.org/drawingml/2006/main">
              <a:ext uri="{FF2B5EF4-FFF2-40B4-BE49-F238E27FC236}">
                <a16:creationId xmlns:a16="http://schemas.microsoft.com/office/drawing/2014/main" id="{34B1D349-B9BE-421B-9584-2300E2F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白名单例外</a:t>
            </a:r>
          </a:p>
        </p:txBody>
      </p:sp>
      <p:sp>
        <p:nvSpPr>
          <p:cNvPr id="94" name="txt-93">
            <a:extLst xmlns:a="http://schemas.openxmlformats.org/drawingml/2006/main">
              <a:ext uri="{FF2B5EF4-FFF2-40B4-BE49-F238E27FC236}">
                <a16:creationId xmlns:a16="http://schemas.microsoft.com/office/drawing/2014/main" id="{D4B7970E-2E47-4859-A6A1-B9F850F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768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直接放行并跳过后续检测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9798043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71E9874A-869E-4710-A215-6A66B74D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8CD86E73-0563-44C6-AB44-8C0BECD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一条宽泛放行可以使阻断规则失效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279FA02-FC69-4C2D-BE4B-31CCC28B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先判断实际首条命中，再审查授权是否超出业务需要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88A7219-C52E-4131-B8D5-5B844E7D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仅把 SSH 阻断移到最前面仍会保留其他过宽访问，需要收敛原始授权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0CB114BE-D35F-4CD6-A570-3295D0DD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5">
            <a:extLst xmlns:a="http://schemas.openxmlformats.org/drawingml/2006/main">
              <a:ext uri="{FF2B5EF4-FFF2-40B4-BE49-F238E27FC236}">
                <a16:creationId xmlns:a16="http://schemas.microsoft.com/office/drawing/2014/main" id="{7AFBD6BA-B4BB-4069-ACBB-52AE8A49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64</ns0:t>
            </ns0:r>
          </ns0:p>
        </p:txBody>
      </p:sp>
      <p:sp>
        <p:nvSpPr>
          <p:cNvPr id="7" name="统一风格-表格玻璃容器玻璃后沿-522">
            <a:extLst xmlns:a="http://schemas.openxmlformats.org/drawingml/2006/main">
              <a:ext uri="{FF2B5EF4-FFF2-40B4-BE49-F238E27FC236}">
                <a16:creationId xmlns:a16="http://schemas.microsoft.com/office/drawing/2014/main" id="{70791627-913C-4603-A35F-460305C3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2819400"/>
          </a:xfrm>
          <a:prstGeom xmlns:a="http://schemas.openxmlformats.org/drawingml/2006/main" prst="roundRect">
            <a:avLst>
              <a:gd name="adj" fmla="val 30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523">
            <a:extLst xmlns:a="http://schemas.openxmlformats.org/drawingml/2006/main">
              <a:ext uri="{FF2B5EF4-FFF2-40B4-BE49-F238E27FC236}">
                <a16:creationId xmlns:a16="http://schemas.microsoft.com/office/drawing/2014/main" id="{9C214009-29E7-4C52-A79D-85DB38B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2819400"/>
          </a:xfrm>
          <a:prstGeom xmlns:a="http://schemas.openxmlformats.org/drawingml/2006/main" prst="roundRect">
            <a:avLst>
              <a:gd name="adj" fmla="val 30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524">
            <a:extLst xmlns:a="http://schemas.openxmlformats.org/drawingml/2006/main">
              <a:ext uri="{FF2B5EF4-FFF2-40B4-BE49-F238E27FC236}">
                <a16:creationId xmlns:a16="http://schemas.microsoft.com/office/drawing/2014/main" id="{0D86F3C1-78BA-4CA0-A284-8C23B736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098834"/>
            <a:ext cx="11099483" cy="2793683"/>
          </a:xfrm>
          <a:prstGeom xmlns:a="http://schemas.openxmlformats.org/drawingml/2006/main" prst="roundRect">
            <a:avLst>
              <a:gd name="adj" fmla="val 262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525">
            <a:extLst xmlns:a="http://schemas.openxmlformats.org/drawingml/2006/main">
              <a:ext uri="{FF2B5EF4-FFF2-40B4-BE49-F238E27FC236}">
                <a16:creationId xmlns:a16="http://schemas.microsoft.com/office/drawing/2014/main" id="{85190081-CA3E-4D11-9F2B-92A40D5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2819400"/>
          </a:xfrm>
          <a:custGeom xmlns:a="http://schemas.openxmlformats.org/drawingml/2006/main">
            <a:pathLst>
              <a:path w="11125200" h="2819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D4592-33B2-4CC5-AE8C-D411A59AD664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0"/>
                <a:gridCol w="1905000"/>
                <a:gridCol w="1924050"/>
              </a:tblGrid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源与目的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10.20.0.0/16 到 10.30.0.0/16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到 10.30.20.10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已审核业务范围内的其他流量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1F6B4EB9-3AEC-4FA9-861C-2B8951F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SSH 新连接首先命中第 1 条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9877FBA6-223E-4157-A7A0-D9D33871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23906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C42BBC7B-304F-4B20-A318-ADA9025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77849C2-965D-4695-B504-484F122A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出方向控制需要覆盖低频业务依赖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7E8466C8-AAB5-4546-B088-EBF52373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从业务外联清单建立策略，避免一次性放开全部 TCP 443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6882B44-41CE-4D50-BF5E-D15E5B3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域名规则依赖边界、协议与匹配方式。变更后需要以实际日志验证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BA47829-BA46-4753-9E11-6A7AD6B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6">
            <a:extLst xmlns:a="http://schemas.openxmlformats.org/drawingml/2006/main">
              <a:ext uri="{FF2B5EF4-FFF2-40B4-BE49-F238E27FC236}">
                <a16:creationId xmlns:a16="http://schemas.microsoft.com/office/drawing/2014/main" id="{24BB1D1C-8833-4F42-92DA-2FC0695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65</ns0:t>
            </ns0:r>
          </ns0:p>
        </p:txBody>
      </p:sp>
      <p:sp>
        <p:nvSpPr>
          <p:cNvPr id="7" name="统一风格-表格玻璃容器玻璃后沿-526">
            <a:extLst xmlns:a="http://schemas.openxmlformats.org/drawingml/2006/main">
              <a:ext uri="{FF2B5EF4-FFF2-40B4-BE49-F238E27FC236}">
                <a16:creationId xmlns:a16="http://schemas.microsoft.com/office/drawing/2014/main" id="{A1D96920-2034-4417-A55D-90042E1D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1125200" cy="3724275"/>
          </a:xfrm>
          <a:prstGeom xmlns:a="http://schemas.openxmlformats.org/drawingml/2006/main" prst="roundRect">
            <a:avLst>
              <a:gd name="adj" fmla="val 230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527">
            <a:extLst xmlns:a="http://schemas.openxmlformats.org/drawingml/2006/main">
              <a:ext uri="{FF2B5EF4-FFF2-40B4-BE49-F238E27FC236}">
                <a16:creationId xmlns:a16="http://schemas.microsoft.com/office/drawing/2014/main" id="{72B7B21A-D558-4706-BE41-FE61E6D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1125200" cy="3724275"/>
          </a:xfrm>
          <a:prstGeom xmlns:a="http://schemas.openxmlformats.org/drawingml/2006/main" prst="roundRect">
            <a:avLst>
              <a:gd name="adj" fmla="val 230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528">
            <a:extLst xmlns:a="http://schemas.openxmlformats.org/drawingml/2006/main">
              <a:ext uri="{FF2B5EF4-FFF2-40B4-BE49-F238E27FC236}">
                <a16:creationId xmlns:a16="http://schemas.microsoft.com/office/drawing/2014/main" id="{73E6CE96-B657-4F17-A547-46BE1F8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17884"/>
            <a:ext cx="11099483" cy="3698558"/>
          </a:xfrm>
          <a:prstGeom xmlns:a="http://schemas.openxmlformats.org/drawingml/2006/main" prst="roundRect">
            <a:avLst>
              <a:gd name="adj" fmla="val 19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529">
            <a:extLst xmlns:a="http://schemas.openxmlformats.org/drawingml/2006/main">
              <a:ext uri="{FF2B5EF4-FFF2-40B4-BE49-F238E27FC236}">
                <a16:creationId xmlns:a16="http://schemas.microsoft.com/office/drawing/2014/main" id="{7D341C2C-34B1-4365-BB03-D02395A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1125200" cy="3724275"/>
          </a:xfrm>
          <a:custGeom xmlns:a="http://schemas.openxmlformats.org/drawingml/2006/main"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E1ABE-923D-4EC0-9E9F-66E49361D29D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依赖类别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申请要说明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验证样例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API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目的域名、协议、业务负责人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请求完成且命中预期规则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软件与补丁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批准仓库、更新窗口、维护人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下载与更新流程正常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基础服务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DNS、时间同步、证书和监控依赖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解析、校时与告警正常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低频任务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备份、月结、批处理与故障切换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覆盖任务周期后再收敛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86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5A34647F-0334-4592-BAE8-C9A40217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8DAAF0DF-ABB6-4A58-9143-555A03D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地址转换改变检查点看到的源地址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C10785D-5FA4-41BC-9BE6-55BB94A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规则中的地址应来自实际路径与日志证据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4F40F6C7-9B3B-4370-BF78-93E6424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该图解释 SNAT 的地址变化，不表示所有 CFW 部署模式都只在转换后检查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D836AC5-4F3D-4DBF-A4BE-456DE8C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33">
            <a:extLst xmlns:a="http://schemas.openxmlformats.org/drawingml/2006/main">
              <a:ext uri="{FF2B5EF4-FFF2-40B4-BE49-F238E27FC236}">
                <a16:creationId xmlns:a16="http://schemas.microsoft.com/office/drawing/2014/main" id="{99FCB491-1D8F-445D-BBF3-7FDFB54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52</ns0:t>
            </ns0:r>
          </ns0:p>
        </p:txBody>
      </p:sp>
      <p:sp>
        <p:nvSpPr>
          <p:cNvPr id="7" name="统一风格-flat-nat 应用 VPC玻璃后沿-530">
            <a:extLst xmlns:a="http://schemas.openxmlformats.org/drawingml/2006/main">
              <a:ext uri="{FF2B5EF4-FFF2-40B4-BE49-F238E27FC236}">
                <a16:creationId xmlns:a16="http://schemas.microsoft.com/office/drawing/2014/main" id="{A10257E0-3682-4E32-8F3D-619C8819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flat-nat 应用 VPC-531">
            <a:extLst xmlns:a="http://schemas.openxmlformats.org/drawingml/2006/main">
              <a:ext uri="{FF2B5EF4-FFF2-40B4-BE49-F238E27FC236}">
                <a16:creationId xmlns:a16="http://schemas.microsoft.com/office/drawing/2014/main" id="{6B605945-9EB1-4FB9-A0FA-8611AC54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flat-nat 应用 VPC玻璃内沿-532">
            <a:extLst xmlns:a="http://schemas.openxmlformats.org/drawingml/2006/main">
              <a:ext uri="{FF2B5EF4-FFF2-40B4-BE49-F238E27FC236}">
                <a16:creationId xmlns:a16="http://schemas.microsoft.com/office/drawing/2014/main" id="{C1FAFBCF-7B75-4D81-A6E2-92974C37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387759"/>
            <a:ext cx="1936433" cy="1198290"/>
          </a:xfrm>
          <a:prstGeom xmlns:a="http://schemas.openxmlformats.org/drawingml/2006/main" prst="roundRect">
            <a:avLst>
              <a:gd name="adj" fmla="val 612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flat-nat 应用 VPC透光反射面-533">
            <a:extLst xmlns:a="http://schemas.openxmlformats.org/drawingml/2006/main">
              <a:ext uri="{FF2B5EF4-FFF2-40B4-BE49-F238E27FC236}">
                <a16:creationId xmlns:a16="http://schemas.microsoft.com/office/drawing/2014/main" id="{E1775502-B0E3-4D9F-A3B4-D10BFA46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3950"/>
            <a:ext cx="1924050" cy="1185908"/>
          </a:xfrm>
          <a:custGeom xmlns:a="http://schemas.openxmlformats.org/drawingml/2006/main"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flat-nat 应用 VPC边缘高光-534">
            <a:extLst xmlns:a="http://schemas.openxmlformats.org/drawingml/2006/main">
              <a:ext uri="{FF2B5EF4-FFF2-40B4-BE49-F238E27FC236}">
                <a16:creationId xmlns:a16="http://schemas.microsoft.com/office/drawing/2014/main" id="{4AA0DFD3-CE74-4B36-BE07-F5AC13F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4900"/>
            <a:ext cx="1962150" cy="1224008"/>
          </a:xfrm>
          <a:custGeom xmlns:a="http://schemas.openxmlformats.org/drawingml/2006/main"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535">
            <a:extLst xmlns:a="http://schemas.openxmlformats.org/drawingml/2006/main">
              <a:ext uri="{FF2B5EF4-FFF2-40B4-BE49-F238E27FC236}">
                <a16:creationId xmlns:a16="http://schemas.microsoft.com/office/drawing/2014/main" id="{E8F1FAA5-6F8C-4A63-B67E-429169DA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29" y="248702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文字 应用 VPC-536">
            <a:extLst xmlns:a="http://schemas.openxmlformats.org/drawingml/2006/main">
              <a:ext uri="{FF2B5EF4-FFF2-40B4-BE49-F238E27FC236}">
                <a16:creationId xmlns:a16="http://schemas.microsoft.com/office/drawing/2014/main" id="{993C031B-99A5-426C-994E-7B2324E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3019606"/>
            <a:ext cx="183134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537">
            <a:extLst xmlns:a="http://schemas.openxmlformats.org/drawingml/2006/main">
              <a:ext uri="{FF2B5EF4-FFF2-40B4-BE49-F238E27FC236}">
                <a16:creationId xmlns:a16="http://schemas.microsoft.com/office/drawing/2014/main" id="{49FEE816-1479-4475-80FB-F9D1B655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3673656"/>
            <a:ext cx="183134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flat-nat SNAT 网关玻璃后沿-538">
            <a:extLst xmlns:a="http://schemas.openxmlformats.org/drawingml/2006/main">
              <a:ext uri="{FF2B5EF4-FFF2-40B4-BE49-F238E27FC236}">
                <a16:creationId xmlns:a16="http://schemas.microsoft.com/office/drawing/2014/main" id="{76215DE0-233C-4426-949B-EF50D67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flat-nat SNAT 网关-539">
            <a:extLst xmlns:a="http://schemas.openxmlformats.org/drawingml/2006/main">
              <a:ext uri="{FF2B5EF4-FFF2-40B4-BE49-F238E27FC236}">
                <a16:creationId xmlns:a16="http://schemas.microsoft.com/office/drawing/2014/main" id="{D29DEBA8-C578-4C93-890B-46D3E619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flat-nat SNAT 网关玻璃内沿-540">
            <a:extLst xmlns:a="http://schemas.openxmlformats.org/drawingml/2006/main">
              <a:ext uri="{FF2B5EF4-FFF2-40B4-BE49-F238E27FC236}">
                <a16:creationId xmlns:a16="http://schemas.microsoft.com/office/drawing/2014/main" id="{E2B78D53-27E4-4457-80EF-9A82B693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84" y="2387759"/>
            <a:ext cx="1936433" cy="1198290"/>
          </a:xfrm>
          <a:prstGeom xmlns:a="http://schemas.openxmlformats.org/drawingml/2006/main" prst="roundRect">
            <a:avLst>
              <a:gd name="adj" fmla="val 612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flat-nat SNAT 网关透光反射面-541">
            <a:extLst xmlns:a="http://schemas.openxmlformats.org/drawingml/2006/main">
              <a:ext uri="{FF2B5EF4-FFF2-40B4-BE49-F238E27FC236}">
                <a16:creationId xmlns:a16="http://schemas.microsoft.com/office/drawing/2014/main" id="{F362129E-EDA1-40FD-B9CA-256073AF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93950"/>
            <a:ext cx="1924050" cy="1185908"/>
          </a:xfrm>
          <a:custGeom xmlns:a="http://schemas.openxmlformats.org/drawingml/2006/main"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flat-nat SNAT 网关边缘高光-542">
            <a:extLst xmlns:a="http://schemas.openxmlformats.org/drawingml/2006/main">
              <a:ext uri="{FF2B5EF4-FFF2-40B4-BE49-F238E27FC236}">
                <a16:creationId xmlns:a16="http://schemas.microsoft.com/office/drawing/2014/main" id="{EC5D51E6-30D8-496F-8FB0-7C05023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74900"/>
            <a:ext cx="1962150" cy="1224008"/>
          </a:xfrm>
          <a:custGeom xmlns:a="http://schemas.openxmlformats.org/drawingml/2006/main"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nat NAT 网关-543">
            <a:extLst xmlns:a="http://schemas.openxmlformats.org/drawingml/2006/main">
              <a:ext uri="{FF2B5EF4-FFF2-40B4-BE49-F238E27FC236}">
                <a16:creationId xmlns:a16="http://schemas.microsoft.com/office/drawing/2014/main" id="{E545ABF1-2B52-4E0E-9437-9193E1F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654" y="248702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1" name="统一风格-nat 地址转换-544">
            <a:extLst xmlns:a="http://schemas.openxmlformats.org/drawingml/2006/main">
              <a:ext uri="{FF2B5EF4-FFF2-40B4-BE49-F238E27FC236}">
                <a16:creationId xmlns:a16="http://schemas.microsoft.com/office/drawing/2014/main" id="{52617EBF-381B-4EE7-AD26-4CD5FB13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654" y="248702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文字 SNAT 网关-545">
            <a:extLst xmlns:a="http://schemas.openxmlformats.org/drawingml/2006/main">
              <a:ext uri="{FF2B5EF4-FFF2-40B4-BE49-F238E27FC236}">
                <a16:creationId xmlns:a16="http://schemas.microsoft.com/office/drawing/2014/main" id="{CB22A816-DF42-486E-B769-1E377B7D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230" y="3019606"/>
            <a:ext cx="183134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网关</a:t>
            </a:r>
          </a:p>
        </p:txBody>
      </p:sp>
      <p:sp>
        <p:nvSpPr>
          <p:cNvPr id="23" name="统一风格-flat-nat 外部服务玻璃后沿-546">
            <a:extLst xmlns:a="http://schemas.openxmlformats.org/drawingml/2006/main">
              <a:ext uri="{FF2B5EF4-FFF2-40B4-BE49-F238E27FC236}">
                <a16:creationId xmlns:a16="http://schemas.microsoft.com/office/drawing/2014/main" id="{A364C0CA-2FD1-433C-9DF8-16B6E97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统一风格-flat-nat 外部服务-547">
            <a:extLst xmlns:a="http://schemas.openxmlformats.org/drawingml/2006/main">
              <a:ext uri="{FF2B5EF4-FFF2-40B4-BE49-F238E27FC236}">
                <a16:creationId xmlns:a16="http://schemas.microsoft.com/office/drawing/2014/main" id="{BD8FC801-73FA-4A26-925F-6CD817CC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4900"/>
            <a:ext cx="1962150" cy="1224008"/>
          </a:xfrm>
          <a:prstGeom xmlns:a="http://schemas.openxmlformats.org/drawingml/2006/main" prst="roundRect">
            <a:avLst>
              <a:gd name="adj" fmla="val 700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flat-nat 外部服务玻璃内沿-548">
            <a:extLst xmlns:a="http://schemas.openxmlformats.org/drawingml/2006/main">
              <a:ext uri="{FF2B5EF4-FFF2-40B4-BE49-F238E27FC236}">
                <a16:creationId xmlns:a16="http://schemas.microsoft.com/office/drawing/2014/main" id="{AE45DD12-5EDD-44D2-8DA0-8FBABFF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909" y="2387759"/>
            <a:ext cx="1936433" cy="1198290"/>
          </a:xfrm>
          <a:prstGeom xmlns:a="http://schemas.openxmlformats.org/drawingml/2006/main" prst="roundRect">
            <a:avLst>
              <a:gd name="adj" fmla="val 612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flat-nat 外部服务透光反射面-549">
            <a:extLst xmlns:a="http://schemas.openxmlformats.org/drawingml/2006/main">
              <a:ext uri="{FF2B5EF4-FFF2-40B4-BE49-F238E27FC236}">
                <a16:creationId xmlns:a16="http://schemas.microsoft.com/office/drawing/2014/main" id="{E057A651-DB17-4118-85DB-12F939DE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93950"/>
            <a:ext cx="1924050" cy="1185908"/>
          </a:xfrm>
          <a:custGeom xmlns:a="http://schemas.openxmlformats.org/drawingml/2006/main"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7" name="统一风格-flat-nat 外部服务边缘高光-550">
            <a:extLst xmlns:a="http://schemas.openxmlformats.org/drawingml/2006/main">
              <a:ext uri="{FF2B5EF4-FFF2-40B4-BE49-F238E27FC236}">
                <a16:creationId xmlns:a16="http://schemas.microsoft.com/office/drawing/2014/main" id="{70AAF459-7125-407E-A1FF-E6F197D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4900"/>
            <a:ext cx="1962150" cy="1224008"/>
          </a:xfrm>
          <a:custGeom xmlns:a="http://schemas.openxmlformats.org/drawingml/2006/main"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globe 互联网外形-551">
            <a:extLst xmlns:a="http://schemas.openxmlformats.org/drawingml/2006/main">
              <a:ext uri="{FF2B5EF4-FFF2-40B4-BE49-F238E27FC236}">
                <a16:creationId xmlns:a16="http://schemas.microsoft.com/office/drawing/2014/main" id="{5D624199-4346-4566-BFF4-7C7147B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879" y="248702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9" name="统一风格-globe 经纬线-552">
            <a:extLst xmlns:a="http://schemas.openxmlformats.org/drawingml/2006/main">
              <a:ext uri="{FF2B5EF4-FFF2-40B4-BE49-F238E27FC236}">
                <a16:creationId xmlns:a16="http://schemas.microsoft.com/office/drawing/2014/main" id="{37F3A4E7-FC3D-4E99-B1CB-B9EF8AC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879" y="2487023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0" name="统一风格-文字 外部服务-553">
            <a:extLst xmlns:a="http://schemas.openxmlformats.org/drawingml/2006/main">
              <a:ext uri="{FF2B5EF4-FFF2-40B4-BE49-F238E27FC236}">
                <a16:creationId xmlns:a16="http://schemas.microsoft.com/office/drawing/2014/main" id="{B6BFDE2D-B357-4814-A0C3-3BD7167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455" y="3019606"/>
            <a:ext cx="183134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cxnSp>
        <p:nvCxnSpPr>
          <p:cNvPr id="31" name="统一拓扑-flat-nat-连线-1">
            <a:extLst xmlns:a="http://schemas.openxmlformats.org/drawingml/2006/main">
              <a:ext uri="{FF2B5EF4-FFF2-40B4-BE49-F238E27FC236}">
                <a16:creationId xmlns:a16="http://schemas.microsoft.com/office/drawing/2014/main" id="{9C8382FF-BD46-4DCD-A97C-9A8E9BE3B1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71750" y="2986904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flat-nat-连线-2">
            <a:extLst xmlns:a="http://schemas.openxmlformats.org/drawingml/2006/main">
              <a:ext uri="{FF2B5EF4-FFF2-40B4-BE49-F238E27FC236}">
                <a16:creationId xmlns:a16="http://schemas.microsoft.com/office/drawing/2014/main" id="{8CDE0EBD-BCBE-4D71-8F4B-18BD7D0F8E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14975" y="2986904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flat-nat 关系文字衬底-554">
            <a:extLst xmlns:a="http://schemas.openxmlformats.org/drawingml/2006/main">
              <a:ext uri="{FF2B5EF4-FFF2-40B4-BE49-F238E27FC236}">
                <a16:creationId xmlns:a16="http://schemas.microsoft.com/office/drawing/2014/main" id="{DEA45DA5-8B59-41C3-A5AA-CC1459F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94" y="2103936"/>
            <a:ext cx="1756591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34" name="统一风格-文字 业务私网源地址-555">
            <a:extLst xmlns:a="http://schemas.openxmlformats.org/drawingml/2006/main">
              <a:ext uri="{FF2B5EF4-FFF2-40B4-BE49-F238E27FC236}">
                <a16:creationId xmlns:a16="http://schemas.microsoft.com/office/drawing/2014/main" id="{1E8F36E4-08DD-42FC-A3EC-61D24283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069" y="2103936"/>
            <a:ext cx="1681843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业务私网源地址</a:t>
            </a:r>
          </a:p>
        </p:txBody>
      </p:sp>
      <p:sp>
        <p:nvSpPr>
          <p:cNvPr id="35" name="统一风格-flat-nat 关系文字衬底-556">
            <a:extLst xmlns:a="http://schemas.openxmlformats.org/drawingml/2006/main">
              <a:ext uri="{FF2B5EF4-FFF2-40B4-BE49-F238E27FC236}">
                <a16:creationId xmlns:a16="http://schemas.microsoft.com/office/drawing/2014/main" id="{4C49EF9E-82E1-4E70-95BE-1B6D8DCC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416" y="2103936"/>
            <a:ext cx="156972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统一风格-文字 出口 EIP-557">
            <a:extLst xmlns:a="http://schemas.openxmlformats.org/drawingml/2006/main">
              <a:ext uri="{FF2B5EF4-FFF2-40B4-BE49-F238E27FC236}">
                <a16:creationId xmlns:a16="http://schemas.microsoft.com/office/drawing/2014/main" id="{62B7696A-D95D-490A-8578-A673B90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91" y="2103936"/>
            <a:ext cx="1494971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出口 EIP</a:t>
            </a:r>
          </a:p>
        </p:txBody>
      </p:sp>
      <p:sp>
        <p:nvSpPr>
          <p:cNvPr id="37" name="统一风格-flat-nat 私网侧观察玻璃后沿-558">
            <a:extLst xmlns:a="http://schemas.openxmlformats.org/drawingml/2006/main">
              <a:ext uri="{FF2B5EF4-FFF2-40B4-BE49-F238E27FC236}">
                <a16:creationId xmlns:a16="http://schemas.microsoft.com/office/drawing/2014/main" id="{C9BAE1C2-AE8B-4136-A73C-72DB186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4701449"/>
            <a:ext cx="3083379" cy="981075"/>
          </a:xfrm>
          <a:prstGeom xmlns:a="http://schemas.openxmlformats.org/drawingml/2006/main" prst="roundRect">
            <a:avLst>
              <a:gd name="adj" fmla="val 873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统一风格-flat-nat 私网侧观察-559">
            <a:extLst xmlns:a="http://schemas.openxmlformats.org/drawingml/2006/main">
              <a:ext uri="{FF2B5EF4-FFF2-40B4-BE49-F238E27FC236}">
                <a16:creationId xmlns:a16="http://schemas.microsoft.com/office/drawing/2014/main" id="{555AB707-E0B0-4514-8EB7-FFA2125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4701449"/>
            <a:ext cx="3083379" cy="981075"/>
          </a:xfrm>
          <a:prstGeom xmlns:a="http://schemas.openxmlformats.org/drawingml/2006/main" prst="roundRect">
            <a:avLst>
              <a:gd name="adj" fmla="val 873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flat-nat 私网侧观察玻璃内沿-560">
            <a:extLst xmlns:a="http://schemas.openxmlformats.org/drawingml/2006/main">
              <a:ext uri="{FF2B5EF4-FFF2-40B4-BE49-F238E27FC236}">
                <a16:creationId xmlns:a16="http://schemas.microsoft.com/office/drawing/2014/main" id="{655B9DAB-4062-409E-BAA4-0575812C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55" y="4714308"/>
            <a:ext cx="3057661" cy="955358"/>
          </a:xfrm>
          <a:prstGeom xmlns:a="http://schemas.openxmlformats.org/drawingml/2006/main" prst="roundRect">
            <a:avLst>
              <a:gd name="adj" fmla="val 767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flat-nat 私网侧观察边缘高光-561">
            <a:extLst xmlns:a="http://schemas.openxmlformats.org/drawingml/2006/main">
              <a:ext uri="{FF2B5EF4-FFF2-40B4-BE49-F238E27FC236}">
                <a16:creationId xmlns:a16="http://schemas.microsoft.com/office/drawing/2014/main" id="{EDC322A1-1B94-4B89-8D34-2FB01FE5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4701449"/>
            <a:ext cx="3083379" cy="981075"/>
          </a:xfrm>
          <a:custGeom xmlns:a="http://schemas.openxmlformats.org/drawingml/2006/main"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1" name="统一风格-文字 私网侧观察-562">
            <a:extLst xmlns:a="http://schemas.openxmlformats.org/drawingml/2006/main">
              <a:ext uri="{FF2B5EF4-FFF2-40B4-BE49-F238E27FC236}">
                <a16:creationId xmlns:a16="http://schemas.microsoft.com/office/drawing/2014/main" id="{A055F6CF-F990-4A65-824D-BF4B3BA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368" y="4832259"/>
            <a:ext cx="2709636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私网侧观察</a:t>
            </a:r>
          </a:p>
        </p:txBody>
      </p:sp>
      <p:sp>
        <p:nvSpPr>
          <p:cNvPr id="42" name="统一风格-文字 SNAT 前：业务私网源地址-563">
            <a:extLst xmlns:a="http://schemas.openxmlformats.org/drawingml/2006/main">
              <a:ext uri="{FF2B5EF4-FFF2-40B4-BE49-F238E27FC236}">
                <a16:creationId xmlns:a16="http://schemas.microsoft.com/office/drawing/2014/main" id="{D35287B6-C863-4056-997F-419A39EB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368" y="5215346"/>
            <a:ext cx="27096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前：业务私网源地址</a:t>
            </a:r>
          </a:p>
        </p:txBody>
      </p:sp>
      <p:sp>
        <p:nvSpPr>
          <p:cNvPr id="43" name="统一风格-flat-nat 公网侧观察玻璃后沿-564">
            <a:extLst xmlns:a="http://schemas.openxmlformats.org/drawingml/2006/main">
              <a:ext uri="{FF2B5EF4-FFF2-40B4-BE49-F238E27FC236}">
                <a16:creationId xmlns:a16="http://schemas.microsoft.com/office/drawing/2014/main" id="{E6861162-786F-4178-BD07-27971A4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925" y="4701449"/>
            <a:ext cx="3083379" cy="981075"/>
          </a:xfrm>
          <a:prstGeom xmlns:a="http://schemas.openxmlformats.org/drawingml/2006/main" prst="roundRect">
            <a:avLst>
              <a:gd name="adj" fmla="val 873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统一风格-flat-nat 公网侧观察-565">
            <a:extLst xmlns:a="http://schemas.openxmlformats.org/drawingml/2006/main">
              <a:ext uri="{FF2B5EF4-FFF2-40B4-BE49-F238E27FC236}">
                <a16:creationId xmlns:a16="http://schemas.microsoft.com/office/drawing/2014/main" id="{AB0C3988-99A7-4992-833B-5F77840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925" y="4701449"/>
            <a:ext cx="3083379" cy="981075"/>
          </a:xfrm>
          <a:prstGeom xmlns:a="http://schemas.openxmlformats.org/drawingml/2006/main" prst="roundRect">
            <a:avLst>
              <a:gd name="adj" fmla="val 873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5" name="统一风格-flat-nat 公网侧观察玻璃内沿-566">
            <a:extLst xmlns:a="http://schemas.openxmlformats.org/drawingml/2006/main">
              <a:ext uri="{FF2B5EF4-FFF2-40B4-BE49-F238E27FC236}">
                <a16:creationId xmlns:a16="http://schemas.microsoft.com/office/drawing/2014/main" id="{67858005-69EE-4AA8-B6F4-BC51A858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84" y="4714308"/>
            <a:ext cx="3057661" cy="955358"/>
          </a:xfrm>
          <a:prstGeom xmlns:a="http://schemas.openxmlformats.org/drawingml/2006/main" prst="roundRect">
            <a:avLst>
              <a:gd name="adj" fmla="val 767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6" name="统一风格-flat-nat 公网侧观察边缘高光-567">
            <a:extLst xmlns:a="http://schemas.openxmlformats.org/drawingml/2006/main">
              <a:ext uri="{FF2B5EF4-FFF2-40B4-BE49-F238E27FC236}">
                <a16:creationId xmlns:a16="http://schemas.microsoft.com/office/drawing/2014/main" id="{7C6310A5-70D8-4C35-A766-234AF90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925" y="4701449"/>
            <a:ext cx="3083379" cy="981075"/>
          </a:xfrm>
          <a:custGeom xmlns:a="http://schemas.openxmlformats.org/drawingml/2006/main"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7" name="统一风格-文字 公网侧观察-568">
            <a:extLst xmlns:a="http://schemas.openxmlformats.org/drawingml/2006/main">
              <a:ext uri="{FF2B5EF4-FFF2-40B4-BE49-F238E27FC236}">
                <a16:creationId xmlns:a16="http://schemas.microsoft.com/office/drawing/2014/main" id="{904A5B72-B98A-419A-91D8-4759EE9F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796" y="4832259"/>
            <a:ext cx="2709636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公网侧观察</a:t>
            </a:r>
          </a:p>
        </p:txBody>
      </p:sp>
      <p:sp>
        <p:nvSpPr>
          <p:cNvPr id="48" name="统一风格-文字 SNAT 后：可能看到出口 EIP-569">
            <a:extLst xmlns:a="http://schemas.openxmlformats.org/drawingml/2006/main">
              <a:ext uri="{FF2B5EF4-FFF2-40B4-BE49-F238E27FC236}">
                <a16:creationId xmlns:a16="http://schemas.microsoft.com/office/drawing/2014/main" id="{6F1F6769-548B-4938-9300-BAA14832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796" y="5215346"/>
            <a:ext cx="270963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后：可能看到出口 EIP</a:t>
            </a:r>
          </a:p>
        </p:txBody>
      </p:sp>
      <p:cxnSp>
        <p:nvCxnSpPr>
          <p:cNvPr id="49" name="统一拓扑-flat-nat-连线-3">
            <a:extLst xmlns:a="http://schemas.openxmlformats.org/drawingml/2006/main">
              <a:ext uri="{FF2B5EF4-FFF2-40B4-BE49-F238E27FC236}">
                <a16:creationId xmlns:a16="http://schemas.microsoft.com/office/drawing/2014/main" id="{89F88DF7-2ED9-45A2-BC98-6D6401F70D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272" y="3075668"/>
            <a:ext cx="0" cy="154168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dash"/>
          </a:ln>
        </p:spPr>
      </p:cxnSp>
      <p:cxnSp>
        <p:nvCxnSpPr>
          <p:cNvPr id="50" name="统一拓扑-flat-nat-连线-4">
            <a:extLst xmlns:a="http://schemas.openxmlformats.org/drawingml/2006/main">
              <a:ext uri="{FF2B5EF4-FFF2-40B4-BE49-F238E27FC236}">
                <a16:creationId xmlns:a16="http://schemas.microsoft.com/office/drawing/2014/main" id="{146F8C71-736D-4AE0-A523-7C21FEBEDB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00841" y="3075668"/>
            <a:ext cx="0" cy="154168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dash"/>
          </a:ln>
        </p:spPr>
      </p:cxnSp>
      <p:sp>
        <p:nvSpPr>
          <p:cNvPr id="5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2CD733EB-3296-4268-B28A-8C6933F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52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FCA4E23A-A595-4FF5-B120-CB51B176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3" name="txt-52">
            <a:extLst xmlns:a="http://schemas.openxmlformats.org/drawingml/2006/main">
              <a:ext uri="{FF2B5EF4-FFF2-40B4-BE49-F238E27FC236}">
                <a16:creationId xmlns:a16="http://schemas.microsoft.com/office/drawing/2014/main" id="{AD0CDE82-78DB-4A17-A7B7-447A5FB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转换前</a:t>
            </a:r>
          </a:p>
        </p:txBody>
      </p:sp>
      <p:sp>
        <p:nvSpPr>
          <p:cNvPr id="54" name="txt-53">
            <a:extLst xmlns:a="http://schemas.openxmlformats.org/drawingml/2006/main">
              <a:ext uri="{FF2B5EF4-FFF2-40B4-BE49-F238E27FC236}">
                <a16:creationId xmlns:a16="http://schemas.microsoft.com/office/drawing/2014/main" id="{126B18DC-AE91-4C76-8466-30CB6A0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可看到业务私网源地址</a:t>
            </a:r>
          </a:p>
        </p:txBody>
      </p:sp>
      <p:sp>
        <p:nvSpPr>
          <p:cNvPr id="5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3FD6A17-4B02-4B06-83E5-F1748F8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6" name="txt-55">
            <a:extLst xmlns:a="http://schemas.openxmlformats.org/drawingml/2006/main">
              <a:ext uri="{FF2B5EF4-FFF2-40B4-BE49-F238E27FC236}">
                <a16:creationId xmlns:a16="http://schemas.microsoft.com/office/drawing/2014/main" id="{56224032-B079-4FDE-8617-AE096A2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转换后</a:t>
            </a:r>
          </a:p>
        </p:txBody>
      </p:sp>
      <p:sp>
        <p:nvSpPr>
          <p:cNvPr id="57" name="txt-56">
            <a:extLst xmlns:a="http://schemas.openxmlformats.org/drawingml/2006/main">
              <a:ext uri="{FF2B5EF4-FFF2-40B4-BE49-F238E27FC236}">
                <a16:creationId xmlns:a16="http://schemas.microsoft.com/office/drawing/2014/main" id="{8F47F55D-D423-4227-AE2B-4C44761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可能看到出口 EIP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代理也可能聚合来源</a:t>
            </a:r>
          </a:p>
        </p:txBody>
      </p:sp>
      <p:sp>
        <p:nvSpPr>
          <p:cNvPr id="58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E0EC5FC-FC90-49A9-8FE8-4692E23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9" name="txt-58">
            <a:extLst xmlns:a="http://schemas.openxmlformats.org/drawingml/2006/main">
              <a:ext uri="{FF2B5EF4-FFF2-40B4-BE49-F238E27FC236}">
                <a16:creationId xmlns:a16="http://schemas.microsoft.com/office/drawing/2014/main" id="{E385D8CF-EDF1-40A7-90E7-0D4A3629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60" name="txt-59">
            <a:extLst xmlns:a="http://schemas.openxmlformats.org/drawingml/2006/main">
              <a:ext uri="{FF2B5EF4-FFF2-40B4-BE49-F238E27FC236}">
                <a16:creationId xmlns:a16="http://schemas.microsoft.com/office/drawing/2014/main" id="{2DA9F63E-D4AA-4C32-8B98-80FED1A6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先明确 CFW 检查点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5732595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1E85EC0C-A1AE-4347-801C-C4627391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811215D8-17A3-466B-B057-D890787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放行与白名单例外的检测差别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04041D5-EDB7-4A2C-A79F-2C34779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普通业务授权优先使用精确 ACL</a:t>
            </a:r>
          </a:p>
        </p:txBody>
      </p:sp>
      <p:sp>
        <p:nvSpPr>
          <p:cNvPr id="4" name="正文-逻辑架构示意，具体配置以实际区域、版本与网络路径为准">
            <a:extLst xmlns:a="http://schemas.openxmlformats.org/drawingml/2006/main">
              <a:ext uri="{FF2B5EF4-FFF2-40B4-BE49-F238E27FC236}">
                <a16:creationId xmlns:a16="http://schemas.microsoft.com/office/drawing/2014/main" id="{73217176-B43D-4B30-9C75-BBEF729E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逻辑架构示意，具体配置以实际区域、版本与网络路径为准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68C5D9C-50F8-4844-BDB8-BECA7ABF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35">
            <a:extLst xmlns:a="http://schemas.openxmlformats.org/drawingml/2006/main">
              <a:ext uri="{FF2B5EF4-FFF2-40B4-BE49-F238E27FC236}">
                <a16:creationId xmlns:a16="http://schemas.microsoft.com/office/drawing/2014/main" id="{B1234B79-98ED-45AC-9537-C693C77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54</ns0:t>
            </ns0:r>
          </ns0:p>
        </p:txBody>
      </p:sp>
      <p:sp>
        <p:nvSpPr>
          <p:cNvPr id="7" name="统一风格-flat-ips 应用数据包玻璃后沿-570">
            <a:extLst xmlns:a="http://schemas.openxmlformats.org/drawingml/2006/main">
              <a:ext uri="{FF2B5EF4-FFF2-40B4-BE49-F238E27FC236}">
                <a16:creationId xmlns:a16="http://schemas.microsoft.com/office/drawing/2014/main" id="{4030AC2B-F2DD-4D4D-932B-20846EA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flat-ips 应用数据包-571">
            <a:extLst xmlns:a="http://schemas.openxmlformats.org/drawingml/2006/main">
              <a:ext uri="{FF2B5EF4-FFF2-40B4-BE49-F238E27FC236}">
                <a16:creationId xmlns:a16="http://schemas.microsoft.com/office/drawing/2014/main" id="{02DFF508-25B5-4841-8A2D-DA6B3ED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flat-ips 应用数据包玻璃内沿-572">
            <a:extLst xmlns:a="http://schemas.openxmlformats.org/drawingml/2006/main">
              <a:ext uri="{FF2B5EF4-FFF2-40B4-BE49-F238E27FC236}">
                <a16:creationId xmlns:a16="http://schemas.microsoft.com/office/drawing/2014/main" id="{ECB06A2A-E708-49DE-92F6-05BB32F3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7452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flat-ips 应用数据包透光反射面-573">
            <a:extLst xmlns:a="http://schemas.openxmlformats.org/drawingml/2006/main">
              <a:ext uri="{FF2B5EF4-FFF2-40B4-BE49-F238E27FC236}">
                <a16:creationId xmlns:a16="http://schemas.microsoft.com/office/drawing/2014/main" id="{CEB12C6D-5F69-4B27-852D-2734E76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3643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flat-ips 应用数据包边缘高光-574">
            <a:extLst xmlns:a="http://schemas.openxmlformats.org/drawingml/2006/main">
              <a:ext uri="{FF2B5EF4-FFF2-40B4-BE49-F238E27FC236}">
                <a16:creationId xmlns:a16="http://schemas.microsoft.com/office/drawing/2014/main" id="{4ACF8A1B-AD42-46EB-8399-5D0B1F0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4593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575">
            <a:extLst xmlns:a="http://schemas.openxmlformats.org/drawingml/2006/main">
              <a:ext uri="{FF2B5EF4-FFF2-40B4-BE49-F238E27FC236}">
                <a16:creationId xmlns:a16="http://schemas.microsoft.com/office/drawing/2014/main" id="{15F057EA-7054-4376-A664-1CD867F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laptop 终端底座-576">
            <a:extLst xmlns:a="http://schemas.openxmlformats.org/drawingml/2006/main">
              <a:ext uri="{FF2B5EF4-FFF2-40B4-BE49-F238E27FC236}">
                <a16:creationId xmlns:a16="http://schemas.microsoft.com/office/drawing/2014/main" id="{BA6A6528-EFC7-4E72-A18D-9B103A41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laptop 终端内容-577">
            <a:extLst xmlns:a="http://schemas.openxmlformats.org/drawingml/2006/main">
              <a:ext uri="{FF2B5EF4-FFF2-40B4-BE49-F238E27FC236}">
                <a16:creationId xmlns:a16="http://schemas.microsoft.com/office/drawing/2014/main" id="{73591BCC-430A-4B86-875F-0233A61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5" name="统一风格-文字 应用数据包-578">
            <a:extLst xmlns:a="http://schemas.openxmlformats.org/drawingml/2006/main">
              <a:ext uri="{FF2B5EF4-FFF2-40B4-BE49-F238E27FC236}">
                <a16:creationId xmlns:a16="http://schemas.microsoft.com/office/drawing/2014/main" id="{4966C1DE-EAE4-43B1-9103-85A73CE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273929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16" name="统一风格-flat-ips ACL 放行玻璃后沿-579">
            <a:extLst xmlns:a="http://schemas.openxmlformats.org/drawingml/2006/main">
              <a:ext uri="{FF2B5EF4-FFF2-40B4-BE49-F238E27FC236}">
                <a16:creationId xmlns:a16="http://schemas.microsoft.com/office/drawing/2014/main" id="{E89C6693-9B7C-4EE0-BEBD-9532F79F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flat-ips ACL 放行-580">
            <a:extLst xmlns:a="http://schemas.openxmlformats.org/drawingml/2006/main">
              <a:ext uri="{FF2B5EF4-FFF2-40B4-BE49-F238E27FC236}">
                <a16:creationId xmlns:a16="http://schemas.microsoft.com/office/drawing/2014/main" id="{06D82111-A645-4BD9-A497-A6B1EF2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flat-ips ACL 放行玻璃内沿-581">
            <a:extLst xmlns:a="http://schemas.openxmlformats.org/drawingml/2006/main">
              <a:ext uri="{FF2B5EF4-FFF2-40B4-BE49-F238E27FC236}">
                <a16:creationId xmlns:a16="http://schemas.microsoft.com/office/drawing/2014/main" id="{5C74E7C2-A0FD-4627-91CE-8DFEADC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762" y="2107452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flat-ips ACL 放行透光反射面-582">
            <a:extLst xmlns:a="http://schemas.openxmlformats.org/drawingml/2006/main">
              <a:ext uri="{FF2B5EF4-FFF2-40B4-BE49-F238E27FC236}">
                <a16:creationId xmlns:a16="http://schemas.microsoft.com/office/drawing/2014/main" id="{C8FC091B-29A8-49B8-8F3B-AF80D77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954" y="2113643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flat-ips ACL 放行边缘高光-583">
            <a:extLst xmlns:a="http://schemas.openxmlformats.org/drawingml/2006/main">
              <a:ext uri="{FF2B5EF4-FFF2-40B4-BE49-F238E27FC236}">
                <a16:creationId xmlns:a16="http://schemas.microsoft.com/office/drawing/2014/main" id="{573C0633-F003-46E7-A456-3EE8F899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094593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acl 规则文档-584">
            <a:extLst xmlns:a="http://schemas.openxmlformats.org/drawingml/2006/main">
              <a:ext uri="{FF2B5EF4-FFF2-40B4-BE49-F238E27FC236}">
                <a16:creationId xmlns:a16="http://schemas.microsoft.com/office/drawing/2014/main" id="{642CE8A4-3E96-43FD-B400-1CAA508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acl 文档折角-585">
            <a:extLst xmlns:a="http://schemas.openxmlformats.org/drawingml/2006/main">
              <a:ext uri="{FF2B5EF4-FFF2-40B4-BE49-F238E27FC236}">
                <a16:creationId xmlns:a16="http://schemas.microsoft.com/office/drawing/2014/main" id="{BA5D903A-7366-423A-8A73-BF2771DF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3" name="统一风格-acl 规则条目-586">
            <a:extLst xmlns:a="http://schemas.openxmlformats.org/drawingml/2006/main">
              <a:ext uri="{FF2B5EF4-FFF2-40B4-BE49-F238E27FC236}">
                <a16:creationId xmlns:a16="http://schemas.microsoft.com/office/drawing/2014/main" id="{EEB0FE42-E3F8-467C-94CB-F1081D76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4" name="统一风格-文字 ACL 放行-587">
            <a:extLst xmlns:a="http://schemas.openxmlformats.org/drawingml/2006/main">
              <a:ext uri="{FF2B5EF4-FFF2-40B4-BE49-F238E27FC236}">
                <a16:creationId xmlns:a16="http://schemas.microsoft.com/office/drawing/2014/main" id="{4A2D54ED-7EB4-4CF0-81C5-85708999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09" y="273929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</a:t>
            </a:r>
          </a:p>
        </p:txBody>
      </p:sp>
      <p:sp>
        <p:nvSpPr>
          <p:cNvPr id="25" name="统一风格-flat-ips IPS 检测玻璃后沿-588">
            <a:extLst xmlns:a="http://schemas.openxmlformats.org/drawingml/2006/main">
              <a:ext uri="{FF2B5EF4-FFF2-40B4-BE49-F238E27FC236}">
                <a16:creationId xmlns:a16="http://schemas.microsoft.com/office/drawing/2014/main" id="{7010FFD0-1244-406B-A641-4B6E8A5D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统一风格-flat-ips IPS 检测-589">
            <a:extLst xmlns:a="http://schemas.openxmlformats.org/drawingml/2006/main">
              <a:ext uri="{FF2B5EF4-FFF2-40B4-BE49-F238E27FC236}">
                <a16:creationId xmlns:a16="http://schemas.microsoft.com/office/drawing/2014/main" id="{BB335FFE-E4A1-4FCC-A9E4-B5533C4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7" name="统一风格-flat-ips IPS 检测玻璃内沿-590">
            <a:extLst xmlns:a="http://schemas.openxmlformats.org/drawingml/2006/main">
              <a:ext uri="{FF2B5EF4-FFF2-40B4-BE49-F238E27FC236}">
                <a16:creationId xmlns:a16="http://schemas.microsoft.com/office/drawing/2014/main" id="{97C300D6-E3FB-4268-8ADE-8B71F47F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66" y="2107452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8" name="统一风格-flat-ips IPS 检测透光反射面-591">
            <a:extLst xmlns:a="http://schemas.openxmlformats.org/drawingml/2006/main">
              <a:ext uri="{FF2B5EF4-FFF2-40B4-BE49-F238E27FC236}">
                <a16:creationId xmlns:a16="http://schemas.microsoft.com/office/drawing/2014/main" id="{FAC267E7-9836-4C8A-AFF8-1C488F0E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257" y="2113643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9" name="统一风格-flat-ips IPS 检测边缘高光-592">
            <a:extLst xmlns:a="http://schemas.openxmlformats.org/drawingml/2006/main">
              <a:ext uri="{FF2B5EF4-FFF2-40B4-BE49-F238E27FC236}">
                <a16:creationId xmlns:a16="http://schemas.microsoft.com/office/drawing/2014/main" id="{25E025E3-913A-4482-A23E-DF230A3D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094593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0" name="统一风格-ips 安全盾-593">
            <a:extLst xmlns:a="http://schemas.openxmlformats.org/drawingml/2006/main">
              <a:ext uri="{FF2B5EF4-FFF2-40B4-BE49-F238E27FC236}">
                <a16:creationId xmlns:a16="http://schemas.microsoft.com/office/drawing/2014/main" id="{44E0C8EA-B6F9-46AD-8B4A-C93FC6C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1" name="统一风格-ips 检测透镜-594">
            <a:extLst xmlns:a="http://schemas.openxmlformats.org/drawingml/2006/main">
              <a:ext uri="{FF2B5EF4-FFF2-40B4-BE49-F238E27FC236}">
                <a16:creationId xmlns:a16="http://schemas.microsoft.com/office/drawing/2014/main" id="{89DDEB19-3DD9-4524-B611-91F5A6F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2" name="统一风格-ips 检测手柄-595">
            <a:extLst xmlns:a="http://schemas.openxmlformats.org/drawingml/2006/main">
              <a:ext uri="{FF2B5EF4-FFF2-40B4-BE49-F238E27FC236}">
                <a16:creationId xmlns:a16="http://schemas.microsoft.com/office/drawing/2014/main" id="{F7B323BB-6EF0-4750-A7C6-50E926D9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3" name="统一风格-文字 IPS 检测-596">
            <a:extLst xmlns:a="http://schemas.openxmlformats.org/drawingml/2006/main">
              <a:ext uri="{FF2B5EF4-FFF2-40B4-BE49-F238E27FC236}">
                <a16:creationId xmlns:a16="http://schemas.microsoft.com/office/drawing/2014/main" id="{D57DEF46-251F-4876-9453-B7D4632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12" y="273929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34" name="统一风格-flat-ips 业务服务玻璃后沿-597">
            <a:extLst xmlns:a="http://schemas.openxmlformats.org/drawingml/2006/main">
              <a:ext uri="{FF2B5EF4-FFF2-40B4-BE49-F238E27FC236}">
                <a16:creationId xmlns:a16="http://schemas.microsoft.com/office/drawing/2014/main" id="{B5A41539-DAE7-43FD-BF6C-305A7A2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统一风格-flat-ips 业务服务-598">
            <a:extLst xmlns:a="http://schemas.openxmlformats.org/drawingml/2006/main">
              <a:ext uri="{FF2B5EF4-FFF2-40B4-BE49-F238E27FC236}">
                <a16:creationId xmlns:a16="http://schemas.microsoft.com/office/drawing/2014/main" id="{5AE924AD-4751-4253-9A2D-7E1BBECE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094593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flat-ips 业务服务玻璃内沿-599">
            <a:extLst xmlns:a="http://schemas.openxmlformats.org/drawingml/2006/main">
              <a:ext uri="{FF2B5EF4-FFF2-40B4-BE49-F238E27FC236}">
                <a16:creationId xmlns:a16="http://schemas.microsoft.com/office/drawing/2014/main" id="{4CA2EF1E-951F-4356-8267-7952798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369" y="2107452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flat-ips 业务服务透光反射面-600">
            <a:extLst xmlns:a="http://schemas.openxmlformats.org/drawingml/2006/main">
              <a:ext uri="{FF2B5EF4-FFF2-40B4-BE49-F238E27FC236}">
                <a16:creationId xmlns:a16="http://schemas.microsoft.com/office/drawing/2014/main" id="{2BC278DA-5745-4C33-8D1A-D3823AB7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561" y="2113643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8" name="统一风格-flat-ips 业务服务边缘高光-601">
            <a:extLst xmlns:a="http://schemas.openxmlformats.org/drawingml/2006/main">
              <a:ext uri="{FF2B5EF4-FFF2-40B4-BE49-F238E27FC236}">
                <a16:creationId xmlns:a16="http://schemas.microsoft.com/office/drawing/2014/main" id="{7AA5C664-BE6C-4A61-9DA6-977B0E7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094593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server 服务器机架-602">
            <a:extLst xmlns:a="http://schemas.openxmlformats.org/drawingml/2006/main">
              <a:ext uri="{FF2B5EF4-FFF2-40B4-BE49-F238E27FC236}">
                <a16:creationId xmlns:a16="http://schemas.microsoft.com/office/drawing/2014/main" id="{62F8671D-01B6-4DF7-A3BA-6C258DB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0" name="统一风格-server 机架状态-603">
            <a:extLst xmlns:a="http://schemas.openxmlformats.org/drawingml/2006/main">
              <a:ext uri="{FF2B5EF4-FFF2-40B4-BE49-F238E27FC236}">
                <a16:creationId xmlns:a16="http://schemas.microsoft.com/office/drawing/2014/main" id="{7787F295-C885-44F3-AA00-16AA1C7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1" name="统一风格-server 指示灯-604">
            <a:extLst xmlns:a="http://schemas.openxmlformats.org/drawingml/2006/main">
              <a:ext uri="{FF2B5EF4-FFF2-40B4-BE49-F238E27FC236}">
                <a16:creationId xmlns:a16="http://schemas.microsoft.com/office/drawing/2014/main" id="{2CF1A26C-3E48-4258-8B2D-782ED526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2" name="统一风格-server 服务器机架-605">
            <a:extLst xmlns:a="http://schemas.openxmlformats.org/drawingml/2006/main">
              <a:ext uri="{FF2B5EF4-FFF2-40B4-BE49-F238E27FC236}">
                <a16:creationId xmlns:a16="http://schemas.microsoft.com/office/drawing/2014/main" id="{D7A4C1AE-BD6F-426C-B1A6-65DDAFB0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3" name="统一风格-server 机架状态-606">
            <a:extLst xmlns:a="http://schemas.openxmlformats.org/drawingml/2006/main">
              <a:ext uri="{FF2B5EF4-FFF2-40B4-BE49-F238E27FC236}">
                <a16:creationId xmlns:a16="http://schemas.microsoft.com/office/drawing/2014/main" id="{CD46DAC9-3EA9-42DB-A711-324350BA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4" name="统一风格-server 指示灯-607">
            <a:extLst xmlns:a="http://schemas.openxmlformats.org/drawingml/2006/main">
              <a:ext uri="{FF2B5EF4-FFF2-40B4-BE49-F238E27FC236}">
                <a16:creationId xmlns:a16="http://schemas.microsoft.com/office/drawing/2014/main" id="{6779B093-AA98-4E59-990A-05233D1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5" name="统一风格-server 服务器机架-608">
            <a:extLst xmlns:a="http://schemas.openxmlformats.org/drawingml/2006/main">
              <a:ext uri="{FF2B5EF4-FFF2-40B4-BE49-F238E27FC236}">
                <a16:creationId xmlns:a16="http://schemas.microsoft.com/office/drawing/2014/main" id="{F04314E9-B156-4E44-9FFB-46E8413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6" name="统一风格-server 机架状态-609">
            <a:extLst xmlns:a="http://schemas.openxmlformats.org/drawingml/2006/main">
              <a:ext uri="{FF2B5EF4-FFF2-40B4-BE49-F238E27FC236}">
                <a16:creationId xmlns:a16="http://schemas.microsoft.com/office/drawing/2014/main" id="{5E4F6530-5E94-4E7A-B35E-9A17E6D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7" name="统一风格-server 指示灯-610">
            <a:extLst xmlns:a="http://schemas.openxmlformats.org/drawingml/2006/main">
              <a:ext uri="{FF2B5EF4-FFF2-40B4-BE49-F238E27FC236}">
                <a16:creationId xmlns:a16="http://schemas.microsoft.com/office/drawing/2014/main" id="{D86EBD25-8A20-430A-8BC6-C97FDBA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20671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8" name="统一风格-文字 业务服务-611">
            <a:extLst xmlns:a="http://schemas.openxmlformats.org/drawingml/2006/main">
              <a:ext uri="{FF2B5EF4-FFF2-40B4-BE49-F238E27FC236}">
                <a16:creationId xmlns:a16="http://schemas.microsoft.com/office/drawing/2014/main" id="{FF6FBBB8-3811-4D76-B2E1-2A7D0055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916" y="273929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49" name="统一拓扑-flat-ips-连线-1">
            <a:extLst xmlns:a="http://schemas.openxmlformats.org/drawingml/2006/main">
              <a:ext uri="{FF2B5EF4-FFF2-40B4-BE49-F238E27FC236}">
                <a16:creationId xmlns:a16="http://schemas.microsoft.com/office/drawing/2014/main" id="{49A8A8D0-BC9C-4F23-BBD9-FB48A9C3CD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51289" y="2608489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flat-ips-连线-2">
            <a:extLst xmlns:a="http://schemas.openxmlformats.org/drawingml/2006/main">
              <a:ext uri="{FF2B5EF4-FFF2-40B4-BE49-F238E27FC236}">
                <a16:creationId xmlns:a16="http://schemas.microsoft.com/office/drawing/2014/main" id="{695E6CC5-EF01-475F-8A3D-20D69E53B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3593" y="2608489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1" name="统一拓扑-flat-ips-连线-3">
            <a:extLst xmlns:a="http://schemas.openxmlformats.org/drawingml/2006/main">
              <a:ext uri="{FF2B5EF4-FFF2-40B4-BE49-F238E27FC236}">
                <a16:creationId xmlns:a16="http://schemas.microsoft.com/office/drawing/2014/main" id="{60CF6A03-AE04-4056-86F3-7E10F515A2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55896" y="2608489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2" name="统一拓扑-flat-ips-连线-4">
            <a:extLst xmlns:a="http://schemas.openxmlformats.org/drawingml/2006/main">
              <a:ext uri="{FF2B5EF4-FFF2-40B4-BE49-F238E27FC236}">
                <a16:creationId xmlns:a16="http://schemas.microsoft.com/office/drawing/2014/main" id="{8A3F6D1C-FBA1-40EF-937D-9645C460F9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80380" y="3122386"/>
            <a:ext cx="0" cy="457835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</a:ln>
        </p:spPr>
      </p:cxnSp>
      <p:cxnSp>
        <p:nvCxnSpPr>
          <p:cNvPr id="53" name="统一拓扑-flat-ips-连线-5">
            <a:extLst xmlns:a="http://schemas.openxmlformats.org/drawingml/2006/main">
              <a:ext uri="{FF2B5EF4-FFF2-40B4-BE49-F238E27FC236}">
                <a16:creationId xmlns:a16="http://schemas.microsoft.com/office/drawing/2014/main" id="{58DED63F-721E-411F-A673-93F643AC60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80380" y="3580221"/>
            <a:ext cx="105582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4" name="统一拓扑-flat-ips-连线-6">
            <a:extLst xmlns:a="http://schemas.openxmlformats.org/drawingml/2006/main">
              <a:ext uri="{FF2B5EF4-FFF2-40B4-BE49-F238E27FC236}">
                <a16:creationId xmlns:a16="http://schemas.microsoft.com/office/drawing/2014/main" id="{3500FF73-15EA-4163-8D03-F69A6500D6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85701" y="3496129"/>
            <a:ext cx="168184" cy="168184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cxnSp>
        <p:nvCxnSpPr>
          <p:cNvPr id="55" name="统一拓扑-flat-ips-连线-7">
            <a:extLst xmlns:a="http://schemas.openxmlformats.org/drawingml/2006/main">
              <a:ext uri="{FF2B5EF4-FFF2-40B4-BE49-F238E27FC236}">
                <a16:creationId xmlns:a16="http://schemas.microsoft.com/office/drawing/2014/main" id="{C67DB348-B546-4951-8888-C3F825EAE11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85701" y="3496129"/>
            <a:ext cx="168184" cy="168184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sp>
        <p:nvSpPr>
          <p:cNvPr id="56" name="统一风格-文字 允许访问仍接受威胁检测-612">
            <a:extLst xmlns:a="http://schemas.openxmlformats.org/drawingml/2006/main">
              <a:ext uri="{FF2B5EF4-FFF2-40B4-BE49-F238E27FC236}">
                <a16:creationId xmlns:a16="http://schemas.microsoft.com/office/drawing/2014/main" id="{02ECB7FE-1B91-42CD-BE37-54A9A23D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40" y="3636282"/>
            <a:ext cx="4484914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允许访问仍接受威胁检测</a:t>
            </a:r>
          </a:p>
        </p:txBody>
      </p:sp>
      <p:sp>
        <p:nvSpPr>
          <p:cNvPr id="57" name="统一风格-flat-ips 应用数据包玻璃后沿-613">
            <a:extLst xmlns:a="http://schemas.openxmlformats.org/drawingml/2006/main">
              <a:ext uri="{FF2B5EF4-FFF2-40B4-BE49-F238E27FC236}">
                <a16:creationId xmlns:a16="http://schemas.microsoft.com/office/drawing/2014/main" id="{FD1B1475-5294-4D06-831E-5102C5B4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统一风格-flat-ips 应用数据包-614">
            <a:extLst xmlns:a="http://schemas.openxmlformats.org/drawingml/2006/main">
              <a:ext uri="{FF2B5EF4-FFF2-40B4-BE49-F238E27FC236}">
                <a16:creationId xmlns:a16="http://schemas.microsoft.com/office/drawing/2014/main" id="{D9675721-A12D-4777-AE68-9B77B4F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9" name="统一风格-flat-ips 应用数据包玻璃内沿-615">
            <a:extLst xmlns:a="http://schemas.openxmlformats.org/drawingml/2006/main">
              <a:ext uri="{FF2B5EF4-FFF2-40B4-BE49-F238E27FC236}">
                <a16:creationId xmlns:a16="http://schemas.microsoft.com/office/drawing/2014/main" id="{0A2B34B0-620F-4253-9D75-9E4C486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648903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0" name="统一风格-flat-ips 应用数据包透光反射面-616">
            <a:extLst xmlns:a="http://schemas.openxmlformats.org/drawingml/2006/main">
              <a:ext uri="{FF2B5EF4-FFF2-40B4-BE49-F238E27FC236}">
                <a16:creationId xmlns:a16="http://schemas.microsoft.com/office/drawing/2014/main" id="{6838BB4E-72E5-4B65-8F24-7F7238B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5094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61" name="统一风格-flat-ips 应用数据包边缘高光-617">
            <a:extLst xmlns:a="http://schemas.openxmlformats.org/drawingml/2006/main">
              <a:ext uri="{FF2B5EF4-FFF2-40B4-BE49-F238E27FC236}">
                <a16:creationId xmlns:a16="http://schemas.microsoft.com/office/drawing/2014/main" id="{C32EFCF2-C170-4567-A526-8B44028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6044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2" name="统一风格-laptop 终端屏幕-618">
            <a:extLst xmlns:a="http://schemas.openxmlformats.org/drawingml/2006/main">
              <a:ext uri="{FF2B5EF4-FFF2-40B4-BE49-F238E27FC236}">
                <a16:creationId xmlns:a16="http://schemas.microsoft.com/office/drawing/2014/main" id="{258E029C-4869-49CD-A7D7-881D43C1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3" name="统一风格-laptop 终端底座-619">
            <a:extLst xmlns:a="http://schemas.openxmlformats.org/drawingml/2006/main">
              <a:ext uri="{FF2B5EF4-FFF2-40B4-BE49-F238E27FC236}">
                <a16:creationId xmlns:a16="http://schemas.microsoft.com/office/drawing/2014/main" id="{078E9601-2A17-4325-8A09-07A14B20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4" name="统一风格-laptop 终端内容-620">
            <a:extLst xmlns:a="http://schemas.openxmlformats.org/drawingml/2006/main">
              <a:ext uri="{FF2B5EF4-FFF2-40B4-BE49-F238E27FC236}">
                <a16:creationId xmlns:a16="http://schemas.microsoft.com/office/drawing/2014/main" id="{9DDD09CA-29B6-448E-852E-D59B6D42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65" name="统一风格-文字 应用数据包-621">
            <a:extLst xmlns:a="http://schemas.openxmlformats.org/drawingml/2006/main">
              <a:ext uri="{FF2B5EF4-FFF2-40B4-BE49-F238E27FC236}">
                <a16:creationId xmlns:a16="http://schemas.microsoft.com/office/drawing/2014/main" id="{FE5AC982-303F-4169-856F-16B3648C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5280751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66" name="统一风格-flat-ips 白名单命中玻璃后沿-622">
            <a:extLst xmlns:a="http://schemas.openxmlformats.org/drawingml/2006/main">
              <a:ext uri="{FF2B5EF4-FFF2-40B4-BE49-F238E27FC236}">
                <a16:creationId xmlns:a16="http://schemas.microsoft.com/office/drawing/2014/main" id="{394DFC48-CE53-47FB-8C73-2D16E65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统一风格-flat-ips 白名单命中-623">
            <a:extLst xmlns:a="http://schemas.openxmlformats.org/drawingml/2006/main">
              <a:ext uri="{FF2B5EF4-FFF2-40B4-BE49-F238E27FC236}">
                <a16:creationId xmlns:a16="http://schemas.microsoft.com/office/drawing/2014/main" id="{9255CD61-2FF6-44D1-BD03-9ABB525C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8" name="统一风格-flat-ips 白名单命中玻璃内沿-624">
            <a:extLst xmlns:a="http://schemas.openxmlformats.org/drawingml/2006/main">
              <a:ext uri="{FF2B5EF4-FFF2-40B4-BE49-F238E27FC236}">
                <a16:creationId xmlns:a16="http://schemas.microsoft.com/office/drawing/2014/main" id="{4CCF11D0-3993-4CD3-8D75-6A31EB6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762" y="4648903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9" name="统一风格-flat-ips 白名单命中透光反射面-625">
            <a:extLst xmlns:a="http://schemas.openxmlformats.org/drawingml/2006/main">
              <a:ext uri="{FF2B5EF4-FFF2-40B4-BE49-F238E27FC236}">
                <a16:creationId xmlns:a16="http://schemas.microsoft.com/office/drawing/2014/main" id="{270F82EF-0B1E-4C23-9F09-DC300DD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954" y="4655094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0" name="统一风格-flat-ips 白名单命中边缘高光-626">
            <a:extLst xmlns:a="http://schemas.openxmlformats.org/drawingml/2006/main">
              <a:ext uri="{FF2B5EF4-FFF2-40B4-BE49-F238E27FC236}">
                <a16:creationId xmlns:a16="http://schemas.microsoft.com/office/drawing/2014/main" id="{1199A9D7-95B2-4DE8-81FF-36C883D4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4636044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1" name="统一风格-acl 规则文档-627">
            <a:extLst xmlns:a="http://schemas.openxmlformats.org/drawingml/2006/main">
              <a:ext uri="{FF2B5EF4-FFF2-40B4-BE49-F238E27FC236}">
                <a16:creationId xmlns:a16="http://schemas.microsoft.com/office/drawing/2014/main" id="{23BEF5CA-6A0E-4C54-BF35-96642AF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2" name="统一风格-acl 文档折角-628">
            <a:extLst xmlns:a="http://schemas.openxmlformats.org/drawingml/2006/main">
              <a:ext uri="{FF2B5EF4-FFF2-40B4-BE49-F238E27FC236}">
                <a16:creationId xmlns:a16="http://schemas.microsoft.com/office/drawing/2014/main" id="{EEB85F9D-8967-4887-A961-9C3CB6F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3" name="统一风格-acl 规则条目-629">
            <a:extLst xmlns:a="http://schemas.openxmlformats.org/drawingml/2006/main">
              <a:ext uri="{FF2B5EF4-FFF2-40B4-BE49-F238E27FC236}">
                <a16:creationId xmlns:a16="http://schemas.microsoft.com/office/drawing/2014/main" id="{1E23BAB3-4450-4817-AF2E-48E832A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74" name="统一风格-文字 白名单命中-630">
            <a:extLst xmlns:a="http://schemas.openxmlformats.org/drawingml/2006/main">
              <a:ext uri="{FF2B5EF4-FFF2-40B4-BE49-F238E27FC236}">
                <a16:creationId xmlns:a16="http://schemas.microsoft.com/office/drawing/2014/main" id="{84B40898-6FF3-4521-8AAE-B21477B2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09" y="5280751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白名单命中</a:t>
            </a:r>
          </a:p>
        </p:txBody>
      </p:sp>
      <p:sp>
        <p:nvSpPr>
          <p:cNvPr id="75" name="统一风格-flat-ips 后续检测玻璃后沿-631">
            <a:extLst xmlns:a="http://schemas.openxmlformats.org/drawingml/2006/main">
              <a:ext uri="{FF2B5EF4-FFF2-40B4-BE49-F238E27FC236}">
                <a16:creationId xmlns:a16="http://schemas.microsoft.com/office/drawing/2014/main" id="{A24865FF-198E-4121-9486-2DF7911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6" name="统一风格-flat-ips 后续检测-632">
            <a:extLst xmlns:a="http://schemas.openxmlformats.org/drawingml/2006/main">
              <a:ext uri="{FF2B5EF4-FFF2-40B4-BE49-F238E27FC236}">
                <a16:creationId xmlns:a16="http://schemas.microsoft.com/office/drawing/2014/main" id="{EA5CC200-E9B3-431C-BB61-FA739744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7" name="统一风格-flat-ips 后续检测玻璃内沿-633">
            <a:extLst xmlns:a="http://schemas.openxmlformats.org/drawingml/2006/main">
              <a:ext uri="{FF2B5EF4-FFF2-40B4-BE49-F238E27FC236}">
                <a16:creationId xmlns:a16="http://schemas.microsoft.com/office/drawing/2014/main" id="{15249829-B2BC-4CAF-87A6-811F393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66" y="4648903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8" name="统一风格-flat-ips 后续检测透光反射面-634">
            <a:extLst xmlns:a="http://schemas.openxmlformats.org/drawingml/2006/main">
              <a:ext uri="{FF2B5EF4-FFF2-40B4-BE49-F238E27FC236}">
                <a16:creationId xmlns:a16="http://schemas.microsoft.com/office/drawing/2014/main" id="{EED430FC-8EA4-405B-AE58-1CB8EDB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257" y="4655094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9" name="统一风格-flat-ips 后续检测边缘高光-635">
            <a:extLst xmlns:a="http://schemas.openxmlformats.org/drawingml/2006/main">
              <a:ext uri="{FF2B5EF4-FFF2-40B4-BE49-F238E27FC236}">
                <a16:creationId xmlns:a16="http://schemas.microsoft.com/office/drawing/2014/main" id="{83D17CC2-086D-4941-ACB0-979A19E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4636044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0" name="统一风格-ips 安全盾-636">
            <a:extLst xmlns:a="http://schemas.openxmlformats.org/drawingml/2006/main">
              <a:ext uri="{FF2B5EF4-FFF2-40B4-BE49-F238E27FC236}">
                <a16:creationId xmlns:a16="http://schemas.microsoft.com/office/drawing/2014/main" id="{EEB76B03-1BE5-4630-A6E4-E76536C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A4BBDC"/>
            </a:solidFill>
            <a:round/>
          </a:ln>
        </p:spPr>
      </p:sp>
      <p:sp>
        <p:nvSpPr>
          <p:cNvPr id="81" name="统一风格-ips 检测透镜-637">
            <a:extLst xmlns:a="http://schemas.openxmlformats.org/drawingml/2006/main">
              <a:ext uri="{FF2B5EF4-FFF2-40B4-BE49-F238E27FC236}">
                <a16:creationId xmlns:a16="http://schemas.microsoft.com/office/drawing/2014/main" id="{C8F85E89-5EC7-455E-80A7-B98BA7C6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7857" cap="rnd">
            <a:solidFill>
              <a:srgbClr val="A4BBDC"/>
            </a:solidFill>
            <a:round/>
          </a:ln>
        </p:spPr>
      </p:sp>
      <p:sp>
        <p:nvSpPr>
          <p:cNvPr id="82" name="统一风格-ips 检测手柄-638">
            <a:extLst xmlns:a="http://schemas.openxmlformats.org/drawingml/2006/main">
              <a:ext uri="{FF2B5EF4-FFF2-40B4-BE49-F238E27FC236}">
                <a16:creationId xmlns:a16="http://schemas.microsoft.com/office/drawing/2014/main" id="{08B7EA39-B46B-443A-BD3C-AB18FD3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A4BBDC"/>
            </a:solidFill>
            <a:round/>
          </a:ln>
        </p:spPr>
      </p:sp>
      <p:sp>
        <p:nvSpPr>
          <p:cNvPr id="83" name="统一风格-文字 后续检测-639">
            <a:extLst xmlns:a="http://schemas.openxmlformats.org/drawingml/2006/main">
              <a:ext uri="{FF2B5EF4-FFF2-40B4-BE49-F238E27FC236}">
                <a16:creationId xmlns:a16="http://schemas.microsoft.com/office/drawing/2014/main" id="{B17D7015-5B44-4F24-BD36-248CAB77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12" y="5280751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4" name="统一风格-flat-ips 业务服务玻璃后沿-640">
            <a:extLst xmlns:a="http://schemas.openxmlformats.org/drawingml/2006/main">
              <a:ext uri="{FF2B5EF4-FFF2-40B4-BE49-F238E27FC236}">
                <a16:creationId xmlns:a16="http://schemas.microsoft.com/office/drawing/2014/main" id="{0CD11829-CCD9-4F2D-92A9-FA18598D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5" name="统一风格-flat-ips 业务服务-641">
            <a:extLst xmlns:a="http://schemas.openxmlformats.org/drawingml/2006/main">
              <a:ext uri="{FF2B5EF4-FFF2-40B4-BE49-F238E27FC236}">
                <a16:creationId xmlns:a16="http://schemas.microsoft.com/office/drawing/2014/main" id="{5553A00E-76B0-4634-B8FC-76457EA0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4636044"/>
            <a:ext cx="1541689" cy="1027793"/>
          </a:xfrm>
          <a:prstGeom xmlns:a="http://schemas.openxmlformats.org/drawingml/2006/main" prst="roundRect">
            <a:avLst>
              <a:gd name="adj" fmla="val 834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6" name="统一风格-flat-ips 业务服务玻璃内沿-642">
            <a:extLst xmlns:a="http://schemas.openxmlformats.org/drawingml/2006/main">
              <a:ext uri="{FF2B5EF4-FFF2-40B4-BE49-F238E27FC236}">
                <a16:creationId xmlns:a16="http://schemas.microsoft.com/office/drawing/2014/main" id="{1212C6A4-D9D3-4E76-81B8-D46FB69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369" y="4648903"/>
            <a:ext cx="1515972" cy="1002075"/>
          </a:xfrm>
          <a:prstGeom xmlns:a="http://schemas.openxmlformats.org/drawingml/2006/main" prst="roundRect">
            <a:avLst>
              <a:gd name="adj" fmla="val 73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7" name="统一风格-flat-ips 业务服务透光反射面-643">
            <a:extLst xmlns:a="http://schemas.openxmlformats.org/drawingml/2006/main">
              <a:ext uri="{FF2B5EF4-FFF2-40B4-BE49-F238E27FC236}">
                <a16:creationId xmlns:a16="http://schemas.microsoft.com/office/drawing/2014/main" id="{82C1436B-1366-468B-8709-51A0189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561" y="4655094"/>
            <a:ext cx="1503589" cy="989693"/>
          </a:xfrm>
          <a:custGeom xmlns:a="http://schemas.openxmlformats.org/drawingml/2006/main"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88" name="统一风格-flat-ips 业务服务边缘高光-644">
            <a:extLst xmlns:a="http://schemas.openxmlformats.org/drawingml/2006/main">
              <a:ext uri="{FF2B5EF4-FFF2-40B4-BE49-F238E27FC236}">
                <a16:creationId xmlns:a16="http://schemas.microsoft.com/office/drawing/2014/main" id="{58EC87CA-9461-4304-A9CD-9EEFBA3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4636044"/>
            <a:ext cx="1541689" cy="1027793"/>
          </a:xfrm>
          <a:custGeom xmlns:a="http://schemas.openxmlformats.org/drawingml/2006/main"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9" name="统一风格-server 服务器机架-645">
            <a:extLst xmlns:a="http://schemas.openxmlformats.org/drawingml/2006/main">
              <a:ext uri="{FF2B5EF4-FFF2-40B4-BE49-F238E27FC236}">
                <a16:creationId xmlns:a16="http://schemas.microsoft.com/office/drawing/2014/main" id="{73D1B471-F6EF-428E-A2D8-F3C2808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0" name="统一风格-server 机架状态-646">
            <a:extLst xmlns:a="http://schemas.openxmlformats.org/drawingml/2006/main">
              <a:ext uri="{FF2B5EF4-FFF2-40B4-BE49-F238E27FC236}">
                <a16:creationId xmlns:a16="http://schemas.microsoft.com/office/drawing/2014/main" id="{A0ED19BA-4C6E-4AC5-A09A-16AC077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1" name="统一风格-server 指示灯-647">
            <a:extLst xmlns:a="http://schemas.openxmlformats.org/drawingml/2006/main">
              <a:ext uri="{FF2B5EF4-FFF2-40B4-BE49-F238E27FC236}">
                <a16:creationId xmlns:a16="http://schemas.microsoft.com/office/drawing/2014/main" id="{1EF31D87-CDF9-416A-BA55-DE298488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92" name="统一风格-server 服务器机架-648">
            <a:extLst xmlns:a="http://schemas.openxmlformats.org/drawingml/2006/main">
              <a:ext uri="{FF2B5EF4-FFF2-40B4-BE49-F238E27FC236}">
                <a16:creationId xmlns:a16="http://schemas.microsoft.com/office/drawing/2014/main" id="{0F2141D1-8607-46BA-95AA-175B006C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3" name="统一风格-server 机架状态-649">
            <a:extLst xmlns:a="http://schemas.openxmlformats.org/drawingml/2006/main">
              <a:ext uri="{FF2B5EF4-FFF2-40B4-BE49-F238E27FC236}">
                <a16:creationId xmlns:a16="http://schemas.microsoft.com/office/drawing/2014/main" id="{A1D9F7BE-5D57-4A26-A34D-D17E06E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4" name="统一风格-server 指示灯-650">
            <a:extLst xmlns:a="http://schemas.openxmlformats.org/drawingml/2006/main">
              <a:ext uri="{FF2B5EF4-FFF2-40B4-BE49-F238E27FC236}">
                <a16:creationId xmlns:a16="http://schemas.microsoft.com/office/drawing/2014/main" id="{79A48EF9-AB75-46B3-9CDA-34EF408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95" name="统一风格-server 服务器机架-651">
            <a:extLst xmlns:a="http://schemas.openxmlformats.org/drawingml/2006/main">
              <a:ext uri="{FF2B5EF4-FFF2-40B4-BE49-F238E27FC236}">
                <a16:creationId xmlns:a16="http://schemas.microsoft.com/office/drawing/2014/main" id="{2F1D883C-2CEB-4744-BBFC-0F85F88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6" name="统一风格-server 机架状态-652">
            <a:extLst xmlns:a="http://schemas.openxmlformats.org/drawingml/2006/main">
              <a:ext uri="{FF2B5EF4-FFF2-40B4-BE49-F238E27FC236}">
                <a16:creationId xmlns:a16="http://schemas.microsoft.com/office/drawing/2014/main" id="{B5F06E4F-17B9-4F1B-8E3D-DEF3489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97" name="统一风格-server 指示灯-653">
            <a:extLst xmlns:a="http://schemas.openxmlformats.org/drawingml/2006/main">
              <a:ext uri="{FF2B5EF4-FFF2-40B4-BE49-F238E27FC236}">
                <a16:creationId xmlns:a16="http://schemas.microsoft.com/office/drawing/2014/main" id="{6DBA9949-81DE-45FB-BF78-0782149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474816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98" name="统一风格-文字 业务服务-654">
            <a:extLst xmlns:a="http://schemas.openxmlformats.org/drawingml/2006/main">
              <a:ext uri="{FF2B5EF4-FFF2-40B4-BE49-F238E27FC236}">
                <a16:creationId xmlns:a16="http://schemas.microsoft.com/office/drawing/2014/main" id="{73AE6BB1-19A9-4C8D-8485-97912AB2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916" y="5280751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99" name="统一拓扑-flat-ips-连线-8">
            <a:extLst xmlns:a="http://schemas.openxmlformats.org/drawingml/2006/main">
              <a:ext uri="{FF2B5EF4-FFF2-40B4-BE49-F238E27FC236}">
                <a16:creationId xmlns:a16="http://schemas.microsoft.com/office/drawing/2014/main" id="{686938F3-9108-4E4C-9F29-C51EE0F513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51289" y="5149941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00" name="统一拓扑-flat-ips-连线-9">
            <a:extLst xmlns:a="http://schemas.openxmlformats.org/drawingml/2006/main">
              <a:ext uri="{FF2B5EF4-FFF2-40B4-BE49-F238E27FC236}">
                <a16:creationId xmlns:a16="http://schemas.microsoft.com/office/drawing/2014/main" id="{024B92A5-66AF-4193-BF16-D9DE0DEB99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55896" y="5149941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9E2"/>
            </a:solidFill>
            <a:prstDash val="dash"/>
            <a:tailEnd type="triangle" w="sm" len="sm"/>
          </a:ln>
        </p:spPr>
      </p:cxnSp>
      <p:cxnSp>
        <p:nvCxnSpPr>
          <p:cNvPr id="101" name="统一拓扑-flat-ips-连线-10">
            <a:extLst xmlns:a="http://schemas.openxmlformats.org/drawingml/2006/main">
              <a:ext uri="{FF2B5EF4-FFF2-40B4-BE49-F238E27FC236}">
                <a16:creationId xmlns:a16="http://schemas.microsoft.com/office/drawing/2014/main" id="{F614A3D6-8290-47E8-B4C2-6B35AFA7ED0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478076" y="4280989"/>
            <a:ext cx="0" cy="355056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02" name="统一拓扑-flat-ips-连线-11">
            <a:extLst xmlns:a="http://schemas.openxmlformats.org/drawingml/2006/main">
              <a:ext uri="{FF2B5EF4-FFF2-40B4-BE49-F238E27FC236}">
                <a16:creationId xmlns:a16="http://schemas.microsoft.com/office/drawing/2014/main" id="{D33D0805-EF85-47FB-B142-E195EE6E90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78076" y="4280989"/>
            <a:ext cx="420460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03" name="统一拓扑-flat-ips-连线-12">
            <a:extLst xmlns:a="http://schemas.openxmlformats.org/drawingml/2006/main">
              <a:ext uri="{FF2B5EF4-FFF2-40B4-BE49-F238E27FC236}">
                <a16:creationId xmlns:a16="http://schemas.microsoft.com/office/drawing/2014/main" id="{6DF164F4-8DCA-4444-88F9-758E8AEC75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2684" y="4280989"/>
            <a:ext cx="0" cy="355056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04" name="统一风格-flat-ips 关系文字衬底-655">
            <a:extLst xmlns:a="http://schemas.openxmlformats.org/drawingml/2006/main">
              <a:ext uri="{FF2B5EF4-FFF2-40B4-BE49-F238E27FC236}">
                <a16:creationId xmlns:a16="http://schemas.microsoft.com/office/drawing/2014/main" id="{53CF019C-4FCE-489A-90A2-D8DD9858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911" y="3991338"/>
            <a:ext cx="3999049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105" name="统一风格-文字 直接放行，按检测例外管理-656">
            <a:extLst xmlns:a="http://schemas.openxmlformats.org/drawingml/2006/main">
              <a:ext uri="{FF2B5EF4-FFF2-40B4-BE49-F238E27FC236}">
                <a16:creationId xmlns:a16="http://schemas.microsoft.com/office/drawing/2014/main" id="{FAED3B8F-6717-40B4-9E5D-083AF01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286" y="3991338"/>
            <a:ext cx="3924300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直接放行，按检测例外管理</a:t>
            </a:r>
          </a:p>
        </p:txBody>
      </p:sp>
      <p:sp>
        <p:nvSpPr>
          <p:cNvPr id="106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B460C46-3DAC-41E9-9296-D45D1CA2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10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6EED7CF-68EA-4B00-86F2-ABC6BDA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08" name="txt-107">
            <a:extLst xmlns:a="http://schemas.openxmlformats.org/drawingml/2006/main">
              <a:ext uri="{FF2B5EF4-FFF2-40B4-BE49-F238E27FC236}">
                <a16:creationId xmlns:a16="http://schemas.microsoft.com/office/drawing/2014/main" id="{CA241D71-223F-4EF6-A268-7258E83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正常授权</a:t>
            </a:r>
          </a:p>
        </p:txBody>
      </p:sp>
      <p:sp>
        <p:nvSpPr>
          <p:cNvPr id="109" name="txt-108">
            <a:extLst xmlns:a="http://schemas.openxmlformats.org/drawingml/2006/main">
              <a:ext uri="{FF2B5EF4-FFF2-40B4-BE49-F238E27FC236}">
                <a16:creationId xmlns:a16="http://schemas.microsoft.com/office/drawing/2014/main" id="{0C285BF0-CFE7-4559-82DF-5C84BB58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允许必要业务，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同时保留后续威胁检测</a:t>
            </a:r>
          </a:p>
        </p:txBody>
      </p:sp>
      <p:sp>
        <p:nvSpPr>
          <p:cNvPr id="11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39A3D37-7E83-4841-896E-BAEAC53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11" name="txt-110">
            <a:extLst xmlns:a="http://schemas.openxmlformats.org/drawingml/2006/main">
              <a:ext uri="{FF2B5EF4-FFF2-40B4-BE49-F238E27FC236}">
                <a16:creationId xmlns:a16="http://schemas.microsoft.com/office/drawing/2014/main" id="{17EC305C-11D6-47AA-B407-D562F29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误报处理</a:t>
            </a:r>
          </a:p>
        </p:txBody>
      </p:sp>
      <p:sp>
        <p:nvSpPr>
          <p:cNvPr id="112" name="txt-111">
            <a:extLst xmlns:a="http://schemas.openxmlformats.org/drawingml/2006/main">
              <a:ext uri="{FF2B5EF4-FFF2-40B4-BE49-F238E27FC236}">
                <a16:creationId xmlns:a16="http://schemas.microsoft.com/office/drawing/2014/main" id="{405BE3D4-4D66-44F8-B41E-36B61BC7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定位 IPS 规则 ID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评估影响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限定例外范围</a:t>
            </a:r>
          </a:p>
        </p:txBody>
      </p:sp>
      <p:sp>
        <p:nvSpPr>
          <p:cNvPr id="11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028C65D4-DF90-45D3-B836-08B130F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114" name="txt-113">
            <a:extLst xmlns:a="http://schemas.openxmlformats.org/drawingml/2006/main">
              <a:ext uri="{FF2B5EF4-FFF2-40B4-BE49-F238E27FC236}">
                <a16:creationId xmlns:a16="http://schemas.microsoft.com/office/drawing/2014/main" id="{2BA135B2-D2D5-4C40-AC1C-8DAA109A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例外管理</a:t>
            </a:r>
          </a:p>
        </p:txBody>
      </p:sp>
      <p:sp>
        <p:nvSpPr>
          <p:cNvPr id="115" name="txt-114">
            <a:extLst xmlns:a="http://schemas.openxmlformats.org/drawingml/2006/main">
              <a:ext uri="{FF2B5EF4-FFF2-40B4-BE49-F238E27FC236}">
                <a16:creationId xmlns:a16="http://schemas.microsoft.com/office/drawing/2014/main" id="{EC373085-6E1D-4593-BA5F-03C5B8EA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记录审批与有效时间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明确恢复条件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9025673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EB9833CC-2588-4C4E-85E6-B8816111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EF006AE-1EEF-4CC4-A7DD-B261DCD7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规则填写示例与发布前复核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041C1EC-0E82-4B1B-AD22-59258D2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先确认防护对象，再复核规则，最后核对日志；启用时可能立即生效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3B07C69-C9CD-4C3D-B529-7E46B48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启用规则可能立即生效。先复核范围与顺序，再在批准窗口发布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C521E306-FA8F-41EF-A1FE-8625A561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4">
            <a:extLst xmlns:a="http://schemas.openxmlformats.org/drawingml/2006/main">
              <a:ext uri="{FF2B5EF4-FFF2-40B4-BE49-F238E27FC236}">
                <a16:creationId xmlns:a16="http://schemas.microsoft.com/office/drawing/2014/main" id="{FEF5868E-43FA-409D-9B0D-53FE872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63</ns0:t>
            </ns0:r>
          </ns0:p>
        </p:txBody>
      </p:sp>
      <p:sp>
        <p:nvSpPr>
          <p:cNvPr id="7" name="统一风格-表格玻璃容器玻璃后沿-657">
            <a:extLst xmlns:a="http://schemas.openxmlformats.org/drawingml/2006/main">
              <a:ext uri="{FF2B5EF4-FFF2-40B4-BE49-F238E27FC236}">
                <a16:creationId xmlns:a16="http://schemas.microsoft.com/office/drawing/2014/main" id="{345BB89C-B45E-4AE8-89B7-9C34748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867150"/>
          </a:xfrm>
          <a:prstGeom xmlns:a="http://schemas.openxmlformats.org/drawingml/2006/main" prst="roundRect">
            <a:avLst>
              <a:gd name="adj" fmla="val 22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658">
            <a:extLst xmlns:a="http://schemas.openxmlformats.org/drawingml/2006/main">
              <a:ext uri="{FF2B5EF4-FFF2-40B4-BE49-F238E27FC236}">
                <a16:creationId xmlns:a16="http://schemas.microsoft.com/office/drawing/2014/main" id="{9405B123-5AC1-47B8-AD0B-8E941F74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867150"/>
          </a:xfrm>
          <a:prstGeom xmlns:a="http://schemas.openxmlformats.org/drawingml/2006/main" prst="roundRect">
            <a:avLst>
              <a:gd name="adj" fmla="val 22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659">
            <a:extLst xmlns:a="http://schemas.openxmlformats.org/drawingml/2006/main">
              <a:ext uri="{FF2B5EF4-FFF2-40B4-BE49-F238E27FC236}">
                <a16:creationId xmlns:a16="http://schemas.microsoft.com/office/drawing/2014/main" id="{8567DB81-8EA3-4678-864F-01901427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098834"/>
            <a:ext cx="11099483" cy="3841433"/>
          </a:xfrm>
          <a:prstGeom xmlns:a="http://schemas.openxmlformats.org/drawingml/2006/main" prst="roundRect">
            <a:avLst>
              <a:gd name="adj" fmla="val 190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660">
            <a:extLst xmlns:a="http://schemas.openxmlformats.org/drawingml/2006/main">
              <a:ext uri="{FF2B5EF4-FFF2-40B4-BE49-F238E27FC236}">
                <a16:creationId xmlns:a16="http://schemas.microsoft.com/office/drawing/2014/main" id="{2C5F9E37-942A-4336-83CC-E88C7A6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867150"/>
          </a:xfrm>
          <a:custGeom xmlns:a="http://schemas.openxmlformats.org/drawingml/2006/main">
            <a:pathLst>
              <a:path w="11125200" h="3867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2C23C-021E-4E49-8CDB-0D4AC3168143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305300"/>
              </a:tblGrid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填写示例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复核要点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防护对象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应用与数据 VPC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检查资产与路径已接入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/ 目的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/ 10.30.20.10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地址范围与实际观测一致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/ 动作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 Any，目的 3306，放行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客户端源端口通常动态分配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</a:tr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启用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可先建停用规则，复核后按窗口启用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排查宽泛规则与优先模块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191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 / 管理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订单数据库访问，关联工单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Owner、复核与回滚可追溯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523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B980667E-08D6-484A-BD8A-7E330B7B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正文-应用访问自建数据库的配置与验证">
            <a:extLst xmlns:a="http://schemas.openxmlformats.org/drawingml/2006/main">
              <a:ext uri="{FF2B5EF4-FFF2-40B4-BE49-F238E27FC236}">
                <a16:creationId xmlns:a16="http://schemas.microsoft.com/office/drawing/2014/main" id="{D78A559E-DAF6-416B-AC65-495FAE3B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应用访问自建数据库的配置与验证</ns0:t>
            </ns0:r>
          </ns0:p>
        </p:txBody>
      </p:sp>
      <p:sp>
        <p:nvSpPr>
          <p:cNvPr id="3" name="正文-操作前确认 3306 监听、双向引流与其他控制层正常">
            <a:extLst xmlns:a="http://schemas.openxmlformats.org/drawingml/2006/main">
              <a:ext uri="{FF2B5EF4-FFF2-40B4-BE49-F238E27FC236}">
                <a16:creationId xmlns:a16="http://schemas.microsoft.com/office/drawing/2014/main" id="{48644602-D929-41DC-9F38-3123763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65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操作前确认 3306 监听、双向引流与其他控制层正常</ns1:t>
            </ns1:r>
          </ns1:p>
        </p:txBody>
      </p:sp>
      <p:sp>
        <p:nvSpPr>
          <p:cNvPr id="4" name="正文-示例环境为 Windows ECS，示例地址均为虚构。TCP 探测通过后仍需验证数据库业务">
            <a:extLst xmlns:a="http://schemas.openxmlformats.org/drawingml/2006/main">
              <a:ext uri="{FF2B5EF4-FFF2-40B4-BE49-F238E27FC236}">
                <a16:creationId xmlns:a16="http://schemas.microsoft.com/office/drawing/2014/main" id="{CDC6C7A9-2BEE-41BD-93F7-38AE285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7:p xmlns:ns7="http://schemas.openxmlformats.org/drawingml/2006/main">
            <ns7:pPr algn="l">
              <ns7:defRPr sz="1125" b="0">
                <ns7:solidFill>
                  <ns7:srgbClr val="627695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125" b="0">
                <ns7:solidFill>
                  <ns7:srgbClr val="627695"/>
                </ns7:solidFill>
                <ns7:latin typeface="Microsoft YaHei"/>
                <ns7:ea typeface="Microsoft YaHei"/>
                <ns7:cs typeface="Microsoft YaHei"/>
              </ns7:rPr>
              <ns7:t>示例环境为 Windows ECS，示例地址均为虚构。TCP 探测通过后仍需验证数据库业务</ns7:t>
            </ns7:r>
          </ns7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E99E65C0-AF02-4EAC-80D8-DF8E9AB9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7">
            <a:extLst xmlns:a="http://schemas.openxmlformats.org/drawingml/2006/main">
              <a:ext uri="{FF2B5EF4-FFF2-40B4-BE49-F238E27FC236}">
                <a16:creationId xmlns:a16="http://schemas.microsoft.com/office/drawing/2014/main" id="{0CAAB9A3-C712-4428-AA33-A58F11B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66</ns0:t>
            </ns0:r>
          </ns0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A849C9C6-943A-41EF-AFFA-4BB330F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正文-需求确认">
            <a:extLst xmlns:a="http://schemas.openxmlformats.org/drawingml/2006/main">
              <a:ext uri="{FF2B5EF4-FFF2-40B4-BE49-F238E27FC236}">
                <a16:creationId xmlns:a16="http://schemas.microsoft.com/office/drawing/2014/main" id="{0CC47D81-D8CB-4019-BBAB-EDA568B1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l">
              <ns2:defRPr sz="1650" b="1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650" b="1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需求确认</ns2:t>
            </ns2:r>
          </ns2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08BE50ED-8E03-4582-9E25-D72F035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确认地址、端口、工单与回滚前态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465E8E17-2288-428D-B3E0-B92B4831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正文-规则发布">
            <a:extLst xmlns:a="http://schemas.openxmlformats.org/drawingml/2006/main">
              <a:ext uri="{FF2B5EF4-FFF2-40B4-BE49-F238E27FC236}">
                <a16:creationId xmlns:a16="http://schemas.microsoft.com/office/drawing/2014/main" id="{C8D41832-2F24-40D2-96E9-2EBF63A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3:p xmlns:ns3="http://schemas.openxmlformats.org/drawingml/2006/main">
            <ns3:pPr algn="l">
              <ns3:defRPr sz="1650" b="1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650" b="1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rPr>
              <ns3:t>规则发布</ns3:t>
            </ns3:r>
          </ns3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23E86ABD-B0D4-4680-8384-EDB398A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在批准窗口启用精确放行并复核顺序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72BBF20F-24F2-4994-BFEA-1B4D780D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正文-连接测试">
            <a:extLst xmlns:a="http://schemas.openxmlformats.org/drawingml/2006/main">
              <a:ext uri="{FF2B5EF4-FFF2-40B4-BE49-F238E27FC236}">
                <a16:creationId xmlns:a16="http://schemas.microsoft.com/office/drawing/2014/main" id="{14A27B7A-4663-4F8D-8EED-7C11F50F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4:p xmlns:ns4="http://schemas.openxmlformats.org/drawingml/2006/main">
            <ns4:pPr algn="l">
              <ns4:defRPr sz="1650" b="1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650" b="1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rPr>
              <ns4:t>连接测试</ns4:t>
            </ns4:r>
          </ns4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6CBD48AA-3A1E-4F33-A029-D3950850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从应用主机新建 3306 和 22 连接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1F6123DF-C88C-40A2-9916-0449A38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正文-业务与日志核验">
            <a:extLst xmlns:a="http://schemas.openxmlformats.org/drawingml/2006/main">
              <a:ext uri="{FF2B5EF4-FFF2-40B4-BE49-F238E27FC236}">
                <a16:creationId xmlns:a16="http://schemas.microsoft.com/office/drawing/2014/main" id="{EDBB3755-6DC3-48EB-8433-4582B34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 algn="l">
              <ns5:defRPr sz="1650" b="1">
                <ns5:solidFill>
                  <ns5:srgbClr val="16335F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650" b="1">
                <ns5:solidFill>
                  <ns5:srgbClr val="16335F"/>
                </ns5:solidFill>
                <ns5:latin typeface="Microsoft YaHei"/>
                <ns5:ea typeface="Microsoft YaHei"/>
                <ns5:cs typeface="Microsoft YaHei"/>
              </ns5:rPr>
              <ns5:t>业务与日志核验</ns5:t>
            </ns5:r>
          </ns5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84BA42FB-5CC6-47AC-B0DC-3C6288EA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核对日志动作、命中规则与业务查询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F58098EE-2E7D-47A9-BB91-DC3EED2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正文-验收留证">
            <a:extLst xmlns:a="http://schemas.openxmlformats.org/drawingml/2006/main">
              <a:ext uri="{FF2B5EF4-FFF2-40B4-BE49-F238E27FC236}">
                <a16:creationId xmlns:a16="http://schemas.microsoft.com/office/drawing/2014/main" id="{A600FA0B-988A-4E56-8227-46C5A19B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6:p xmlns:ns6="http://schemas.openxmlformats.org/drawingml/2006/main">
            <ns6:pPr algn="l">
              <ns6:defRPr sz="1650" b="1">
                <ns6:solidFill>
                  <ns6:srgbClr val="16335F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650" b="1">
                <ns6:solidFill>
                  <ns6:srgbClr val="16335F"/>
                </ns6:solidFill>
                <ns6:latin typeface="Microsoft YaHei"/>
                <ns6:ea typeface="Microsoft YaHei"/>
                <ns6:cs typeface="Microsoft YaHei"/>
              </ns6:rPr>
              <ns6:t>验收留证</ns6:t>
            </ns6:r>
          </ns6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CAC7BE6E-FF08-4027-BB78-B7245A1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保存规则差异、测试和日志记录</a:t>
            </a:r>
          </a:p>
        </p:txBody>
      </p:sp>
      <p:sp>
        <p:nvSpPr>
          <p:cNvPr id="22" name="统一风格-可编辑 PowerShell 演示玻璃后沿-661">
            <a:extLst xmlns:a="http://schemas.openxmlformats.org/drawingml/2006/main">
              <a:ext uri="{FF2B5EF4-FFF2-40B4-BE49-F238E27FC236}">
                <a16:creationId xmlns:a16="http://schemas.microsoft.com/office/drawing/2014/main" id="{DD9988D1-DAF6-45F9-80CC-DF8D930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1150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统一风格-可编辑 PowerShell 演示-662">
            <a:extLst xmlns:a="http://schemas.openxmlformats.org/drawingml/2006/main">
              <a:ext uri="{FF2B5EF4-FFF2-40B4-BE49-F238E27FC236}">
                <a16:creationId xmlns:a16="http://schemas.microsoft.com/office/drawing/2014/main" id="{EC435B68-ADD5-4152-A122-5648B38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1150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可编辑 PowerShell 演示玻璃内沿-663">
            <a:extLst xmlns:a="http://schemas.openxmlformats.org/drawingml/2006/main">
              <a:ext uri="{FF2B5EF4-FFF2-40B4-BE49-F238E27FC236}">
                <a16:creationId xmlns:a16="http://schemas.microsoft.com/office/drawing/2014/main" id="{FF2AC29F-A685-4426-B732-BFEB08A2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2146459"/>
            <a:ext cx="6089333" cy="2650808"/>
          </a:xfrm>
          <a:prstGeom xmlns:a="http://schemas.openxmlformats.org/drawingml/2006/main" prst="roundRect">
            <a:avLst>
              <a:gd name="adj" fmla="val 276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可编辑 PowerShell 演示透光反射面-664">
            <a:extLst xmlns:a="http://schemas.openxmlformats.org/drawingml/2006/main">
              <a:ext uri="{FF2B5EF4-FFF2-40B4-BE49-F238E27FC236}">
                <a16:creationId xmlns:a16="http://schemas.microsoft.com/office/drawing/2014/main" id="{C281F376-73D5-4363-830D-7E70EC2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6076950" cy="2638425"/>
          </a:xfrm>
          <a:custGeom xmlns:a="http://schemas.openxmlformats.org/drawingml/2006/main">
            <a:pathLst>
              <a:path w="6076950" h="2638425">
                <a:moveTo>
                  <a:pt x="76200" y="0"/>
                </a:moveTo>
                <a:lnTo>
                  <a:pt x="3889248" y="0"/>
                </a:lnTo>
                <a:lnTo>
                  <a:pt x="1580007" y="2638425"/>
                </a:lnTo>
                <a:lnTo>
                  <a:pt x="76200" y="2638425"/>
                </a:lnTo>
                <a:cubicBezTo>
                  <a:pt x="28575" y="2638425"/>
                  <a:pt x="0" y="2609850"/>
                  <a:pt x="0" y="25622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6" name="统一风格-可编辑 PowerShell 演示边缘高光-665">
            <a:extLst xmlns:a="http://schemas.openxmlformats.org/drawingml/2006/main">
              <a:ext uri="{FF2B5EF4-FFF2-40B4-BE49-F238E27FC236}">
                <a16:creationId xmlns:a16="http://schemas.microsoft.com/office/drawing/2014/main" id="{7FB3D55A-70A3-4E84-A6AD-CA3E510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115050" cy="2676525"/>
          </a:xfrm>
          <a:custGeom xmlns:a="http://schemas.openxmlformats.org/drawingml/2006/main">
            <a:pathLst>
              <a:path w="6115050" h="2676525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008AA560-6417-4879-B49C-E4D1ACB2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611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FF5"/>
            </a:solidFill>
          </a:ln>
        </p:spPr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74435E49-C382-44C4-9570-661E0B3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24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Windows ECS 10.20.10.15   /   PowerShell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79A82D34-6F2C-4272-B9F6-F91ED5D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3306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58DAF3E5-418E-4FFB-905C-AC592A8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67075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True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6B835A2F-7284-4000-A50D-3F3B22A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195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22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29C79ACB-D890-417E-8EC5-F8D60E0C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100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False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D89558A0-CEF8-4C2D-9BAE-D46A0B28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05400"/>
            <a:ext cx="611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验收必须同时满足</a:t>
            </a:r>
          </a:p>
        </p:txBody>
      </p:sp>
      <p:sp>
        <p:nvSpPr>
          <p:cNvPr id="34" name="txt-33">
            <a:extLst xmlns:a="http://schemas.openxmlformats.org/drawingml/2006/main">
              <a:ext uri="{FF2B5EF4-FFF2-40B4-BE49-F238E27FC236}">
                <a16:creationId xmlns:a16="http://schemas.microsoft.com/office/drawing/2014/main" id="{95FB99CE-4E46-45A6-92AA-435527F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524500"/>
            <a:ext cx="611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3306 成功且数据库查询正常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22 失败且命中预期阻断日志</a:t>
            </a:r>
          </a:p>
        </p:txBody>
      </p:sp>
    </p:spTree>
    <p:extLst>
      <p:ext uri="{BB962C8B-B14F-4D97-AF65-F5344CB8AC3E}">
        <p14:creationId xmlns:p14="http://schemas.microsoft.com/office/powerpoint/2010/main" val="17754196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1DF7ADB6-69BB-46DB-A0A4-F8BF09B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rPr>
              <ns1:t>03  CFW 使用规范</ns1:t>
            </ns1:r>
          </ns1:p>
        </p:txBody>
      </p:sp>
      <p:sp>
        <p:nvSpPr>
          <p:cNvPr id="2" name="正文-CFW 使用的关键原则">
            <a:extLst xmlns:a="http://schemas.openxmlformats.org/drawingml/2006/main">
              <a:ext uri="{FF2B5EF4-FFF2-40B4-BE49-F238E27FC236}">
                <a16:creationId xmlns:a16="http://schemas.microsoft.com/office/drawing/2014/main" id="{21A185C5-359B-4E9B-9F66-3978E46D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CFW 使用的关键原则</ns0:t>
            </ns0:r>
          </ns0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EC074A8-F8D6-4B77-8BA5-C03F674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低频任务、月结、备份和故障切换需纳入复核，不能仅按短期无命中删规则</a:t>
            </a:r>
          </a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7F91D3E9-6BAD-41E2-9FA2-76098A6C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32">
            <a:extLst xmlns:a="http://schemas.openxmlformats.org/drawingml/2006/main">
              <a:ext uri="{FF2B5EF4-FFF2-40B4-BE49-F238E27FC236}">
                <a16:creationId xmlns:a16="http://schemas.microsoft.com/office/drawing/2014/main" id="{DC8128CB-8372-44DF-8C1D-1001443B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51</ns0:t>
            </ns0:r>
          </ns0:p>
        </p:txBody>
      </p:sp>
      <p:sp>
        <p:nvSpPr>
          <p:cNvPr id="6" name="统一风格-章节要点模块玻璃后沿-666">
            <a:extLst xmlns:a="http://schemas.openxmlformats.org/drawingml/2006/main">
              <a:ext uri="{FF2B5EF4-FFF2-40B4-BE49-F238E27FC236}">
                <a16:creationId xmlns:a16="http://schemas.microsoft.com/office/drawing/2014/main" id="{E4B67A38-EB16-4BDD-8184-AF1EC17E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章节要点模块-667">
            <a:extLst xmlns:a="http://schemas.openxmlformats.org/drawingml/2006/main">
              <a:ext uri="{FF2B5EF4-FFF2-40B4-BE49-F238E27FC236}">
                <a16:creationId xmlns:a16="http://schemas.microsoft.com/office/drawing/2014/main" id="{E1D1E6EF-9DB6-4C08-8765-17FFA35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章节要点模块玻璃内沿-668">
            <a:extLst xmlns:a="http://schemas.openxmlformats.org/drawingml/2006/main">
              <a:ext uri="{FF2B5EF4-FFF2-40B4-BE49-F238E27FC236}">
                <a16:creationId xmlns:a16="http://schemas.microsoft.com/office/drawing/2014/main" id="{6FC6945E-2456-4B69-8866-D683E6C4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章节要点模块透光反射面-669">
            <a:extLst xmlns:a="http://schemas.openxmlformats.org/drawingml/2006/main">
              <a:ext uri="{FF2B5EF4-FFF2-40B4-BE49-F238E27FC236}">
                <a16:creationId xmlns:a16="http://schemas.microsoft.com/office/drawing/2014/main" id="{78DFD81A-3775-4F10-A0F8-66A5340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章节要点模块边缘高光-670">
            <a:extLst xmlns:a="http://schemas.openxmlformats.org/drawingml/2006/main">
              <a:ext uri="{FF2B5EF4-FFF2-40B4-BE49-F238E27FC236}">
                <a16:creationId xmlns:a16="http://schemas.microsoft.com/office/drawing/2014/main" id="{19A47F16-9F32-4D45-AB0F-250E79B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F5E6DFB6-15C8-4DAF-8745-81098EA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982777DF-C38F-4607-9F65-B68597B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防护对象与实际流量路径一致</a:t>
            </a:r>
          </a:p>
        </p:txBody>
      </p:sp>
      <p:sp>
        <p:nvSpPr>
          <p:cNvPr id="13" name="统一风格-章节要点模块玻璃后沿-671">
            <a:extLst xmlns:a="http://schemas.openxmlformats.org/drawingml/2006/main">
              <a:ext uri="{FF2B5EF4-FFF2-40B4-BE49-F238E27FC236}">
                <a16:creationId xmlns:a16="http://schemas.microsoft.com/office/drawing/2014/main" id="{113CB960-0CCE-4E05-9721-F4228C77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统一风格-章节要点模块-672">
            <a:extLst xmlns:a="http://schemas.openxmlformats.org/drawingml/2006/main">
              <a:ext uri="{FF2B5EF4-FFF2-40B4-BE49-F238E27FC236}">
                <a16:creationId xmlns:a16="http://schemas.microsoft.com/office/drawing/2014/main" id="{B2F7DE45-5C04-40D8-A17D-C5951F3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章节要点模块玻璃内沿-673">
            <a:extLst xmlns:a="http://schemas.openxmlformats.org/drawingml/2006/main">
              <a:ext uri="{FF2B5EF4-FFF2-40B4-BE49-F238E27FC236}">
                <a16:creationId xmlns:a16="http://schemas.microsoft.com/office/drawing/2014/main" id="{1A2F46AE-209E-454F-A5D6-D47BB92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32755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章节要点模块透光反射面-674">
            <a:extLst xmlns:a="http://schemas.openxmlformats.org/drawingml/2006/main">
              <a:ext uri="{FF2B5EF4-FFF2-40B4-BE49-F238E27FC236}">
                <a16:creationId xmlns:a16="http://schemas.microsoft.com/office/drawing/2014/main" id="{0C8B6027-46F2-4320-AAB3-8DECBF9D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7" name="统一风格-章节要点模块边缘高光-675">
            <a:extLst xmlns:a="http://schemas.openxmlformats.org/drawingml/2006/main">
              <a:ext uri="{FF2B5EF4-FFF2-40B4-BE49-F238E27FC236}">
                <a16:creationId xmlns:a16="http://schemas.microsoft.com/office/drawing/2014/main" id="{DAD64D8B-5032-4368-8C4D-9E7E960A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11A1F152-311A-4A15-B3F0-47A233EC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0D4FBABD-9B8D-4B1A-AF74-73E2E5C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来源、目的和端口有业务依据</a:t>
            </a:r>
          </a:p>
        </p:txBody>
      </p:sp>
      <p:sp>
        <p:nvSpPr>
          <p:cNvPr id="20" name="统一风格-章节要点模块玻璃后沿-676">
            <a:extLst xmlns:a="http://schemas.openxmlformats.org/drawingml/2006/main">
              <a:ext uri="{FF2B5EF4-FFF2-40B4-BE49-F238E27FC236}">
                <a16:creationId xmlns:a16="http://schemas.microsoft.com/office/drawing/2014/main" id="{1E16847E-9844-4F6C-A272-36BD5D4A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统一风格-章节要点模块-677">
            <a:extLst xmlns:a="http://schemas.openxmlformats.org/drawingml/2006/main">
              <a:ext uri="{FF2B5EF4-FFF2-40B4-BE49-F238E27FC236}">
                <a16:creationId xmlns:a16="http://schemas.microsoft.com/office/drawing/2014/main" id="{18E99371-0B0C-471E-8620-6DF2B18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2" name="统一风格-章节要点模块玻璃内沿-678">
            <a:extLst xmlns:a="http://schemas.openxmlformats.org/drawingml/2006/main">
              <a:ext uri="{FF2B5EF4-FFF2-40B4-BE49-F238E27FC236}">
                <a16:creationId xmlns:a16="http://schemas.microsoft.com/office/drawing/2014/main" id="{7A85E2D0-77F0-4E51-A432-0761F157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527709"/>
            <a:ext cx="10947083" cy="964883"/>
          </a:xfrm>
          <a:prstGeom xmlns:a="http://schemas.openxmlformats.org/drawingml/2006/main" prst="roundRect">
            <a:avLst>
              <a:gd name="adj" fmla="val 76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3" name="统一风格-章节要点模块透光反射面-679">
            <a:extLst xmlns:a="http://schemas.openxmlformats.org/drawingml/2006/main">
              <a:ext uri="{FF2B5EF4-FFF2-40B4-BE49-F238E27FC236}">
                <a16:creationId xmlns:a16="http://schemas.microsoft.com/office/drawing/2014/main" id="{0A140C6D-E958-4040-8901-B759B609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0934700" cy="952500"/>
          </a:xfrm>
          <a:custGeom xmlns:a="http://schemas.openxmlformats.org/drawingml/2006/main"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4" name="统一风格-章节要点模块边缘高光-680">
            <a:extLst xmlns:a="http://schemas.openxmlformats.org/drawingml/2006/main">
              <a:ext uri="{FF2B5EF4-FFF2-40B4-BE49-F238E27FC236}">
                <a16:creationId xmlns:a16="http://schemas.microsoft.com/office/drawing/2014/main" id="{13B166FA-0781-4218-B597-761F2676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990600"/>
          </a:xfrm>
          <a:custGeom xmlns:a="http://schemas.openxmlformats.org/drawingml/2006/main"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D6402094-E4CC-40B8-A7B3-5F8F8DD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B9E8B8E0-056F-4898-98E8-6D6ABCA5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5414245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C5AE26AD-6361-4CA1-ACDF-A3C0743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426CF617-DB72-4AF0-B217-9D00F8ED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访问控制的岗位责任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ABB13D3-D554-4941-807B-5F62C04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小团队可兼任岗位；高影响变更和宽泛放行由另一人独立复核</ns0:t>
            </ns0:r>
          </ns0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BB0247B-99A2-4958-97CF-2E60FC1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48">
            <a:extLst xmlns:a="http://schemas.openxmlformats.org/drawingml/2006/main">
              <a:ext uri="{FF2B5EF4-FFF2-40B4-BE49-F238E27FC236}">
                <a16:creationId xmlns:a16="http://schemas.microsoft.com/office/drawing/2014/main" id="{BA9756A4-AF21-47C0-9AB8-D699CB7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67</ns0:t>
            </ns0:r>
          </ns0:p>
        </p:txBody>
      </p:sp>
      <p:sp>
        <p:nvSpPr>
          <p:cNvPr id="6" name="统一风格-表格玻璃容器玻璃后沿-681">
            <a:extLst xmlns:a="http://schemas.openxmlformats.org/drawingml/2006/main">
              <a:ext uri="{FF2B5EF4-FFF2-40B4-BE49-F238E27FC236}">
                <a16:creationId xmlns:a16="http://schemas.microsoft.com/office/drawing/2014/main" id="{0FED5810-348A-4BD3-9187-79B91C2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" name="统一风格-表格玻璃容器-682">
            <a:extLst xmlns:a="http://schemas.openxmlformats.org/drawingml/2006/main">
              <a:ext uri="{FF2B5EF4-FFF2-40B4-BE49-F238E27FC236}">
                <a16:creationId xmlns:a16="http://schemas.microsoft.com/office/drawing/2014/main" id="{2B4A8BC4-55E9-4691-A881-9B582B1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prstGeom xmlns:a="http://schemas.openxmlformats.org/drawingml/2006/main" prst="roundRect">
            <a:avLst>
              <a:gd name="adj" fmla="val 225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表格玻璃容器玻璃内沿-683">
            <a:extLst xmlns:a="http://schemas.openxmlformats.org/drawingml/2006/main">
              <a:ext uri="{FF2B5EF4-FFF2-40B4-BE49-F238E27FC236}">
                <a16:creationId xmlns:a16="http://schemas.microsoft.com/office/drawing/2014/main" id="{3BC8ADA0-1D25-4675-B0BE-F8C05381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84559"/>
            <a:ext cx="11099483" cy="3784283"/>
          </a:xfrm>
          <a:prstGeom xmlns:a="http://schemas.openxmlformats.org/drawingml/2006/main" prst="roundRect">
            <a:avLst>
              <a:gd name="adj" fmla="val 19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表格玻璃容器边缘高光-684">
            <a:extLst xmlns:a="http://schemas.openxmlformats.org/drawingml/2006/main">
              <a:ext uri="{FF2B5EF4-FFF2-40B4-BE49-F238E27FC236}">
                <a16:creationId xmlns:a16="http://schemas.microsoft.com/office/drawing/2014/main" id="{9F3A1E9A-FE0F-4642-9A52-645403EB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1125200" cy="3810000"/>
          </a:xfrm>
          <a:custGeom xmlns:a="http://schemas.openxmlformats.org/drawingml/2006/main"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C47BA-560A-4356-A946-7B6953B22F6E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57750"/>
                <a:gridCol w="3390900"/>
              </a:tblGrid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负责事项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交付证据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Owner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说明依赖、确认必要性与业务验收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端口依据、业务回归结果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网络/平台工程师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确认地址、路由、接入与回程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拓扑、路由快照、覆盖记录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审查最小权限、策略顺序与例外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规则评审、风险与例外记录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3152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变更负责人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安排窗口、协调验证与决定回滚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工单、验收与回滚结论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3595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EA61294C-DFE1-4A71-9F6E-24AFF24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E7C6A9B4-216C-43B8-9814-94E902F6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规则变更从申请到复核形成闭环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E8F1057-F54F-4C34-8ADD-BCD9AB2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回滚门槛与恢复前态应在发布前准备</a:t>
            </a:r>
          </a:p>
        </p:txBody>
      </p:sp>
      <p:sp>
        <p:nvSpPr>
          <p:cNvPr id="4" name="正文-流程与职责为管理建议，需由企业正式确认后采用">
            <a:extLst xmlns:a="http://schemas.openxmlformats.org/drawingml/2006/main">
              <a:ext uri="{FF2B5EF4-FFF2-40B4-BE49-F238E27FC236}">
                <a16:creationId xmlns:a16="http://schemas.microsoft.com/office/drawing/2014/main" id="{995D4AC1-257F-4AD6-87FD-5E2C3758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流程与职责为管理建议，需由企业正式确认后采用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30CE946-84C8-41A5-9EEF-8E865A9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49">
            <a:extLst xmlns:a="http://schemas.openxmlformats.org/drawingml/2006/main">
              <a:ext uri="{FF2B5EF4-FFF2-40B4-BE49-F238E27FC236}">
                <a16:creationId xmlns:a16="http://schemas.microsoft.com/office/drawing/2014/main" id="{5F2F7AB4-744C-4732-AF9A-4C17055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68</ns0:t>
            </ns0:r>
          </ns0:p>
        </p:txBody>
      </p:sp>
      <p:sp>
        <p:nvSpPr>
          <p:cNvPr id="7" name="统一风格-lifecycle 01 申请玻璃后沿-685">
            <a:extLst xmlns:a="http://schemas.openxmlformats.org/drawingml/2006/main">
              <a:ext uri="{FF2B5EF4-FFF2-40B4-BE49-F238E27FC236}">
                <a16:creationId xmlns:a16="http://schemas.microsoft.com/office/drawing/2014/main" id="{4DA31425-A5A6-4439-BA48-0226D9DF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lifecycle 01 申请-686">
            <a:extLst xmlns:a="http://schemas.openxmlformats.org/drawingml/2006/main">
              <a:ext uri="{FF2B5EF4-FFF2-40B4-BE49-F238E27FC236}">
                <a16:creationId xmlns:a16="http://schemas.microsoft.com/office/drawing/2014/main" id="{A8AB110D-B3EA-459F-AE11-E107920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lifecycle 01 申请玻璃内沿-687">
            <a:extLst xmlns:a="http://schemas.openxmlformats.org/drawingml/2006/main">
              <a:ext uri="{FF2B5EF4-FFF2-40B4-BE49-F238E27FC236}">
                <a16:creationId xmlns:a16="http://schemas.microsoft.com/office/drawing/2014/main" id="{A43B477C-E414-4CBB-9505-1702C7E6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98108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lifecycle 01 申请透光反射面-688">
            <a:extLst xmlns:a="http://schemas.openxmlformats.org/drawingml/2006/main">
              <a:ext uri="{FF2B5EF4-FFF2-40B4-BE49-F238E27FC236}">
                <a16:creationId xmlns:a16="http://schemas.microsoft.com/office/drawing/2014/main" id="{88B75A82-7A50-4E49-ABCC-2D8ACC1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4299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lifecycle 01 申请边缘高光-689">
            <a:extLst xmlns:a="http://schemas.openxmlformats.org/drawingml/2006/main">
              <a:ext uri="{FF2B5EF4-FFF2-40B4-BE49-F238E27FC236}">
                <a16:creationId xmlns:a16="http://schemas.microsoft.com/office/drawing/2014/main" id="{3165D7D0-954E-492A-9524-97B3FFC4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doc 规则文档-690">
            <a:extLst xmlns:a="http://schemas.openxmlformats.org/drawingml/2006/main">
              <a:ext uri="{FF2B5EF4-FFF2-40B4-BE49-F238E27FC236}">
                <a16:creationId xmlns:a16="http://schemas.microsoft.com/office/drawing/2014/main" id="{FCA7A660-7181-48D4-B742-5015FB9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doc 文档折角-691">
            <a:extLst xmlns:a="http://schemas.openxmlformats.org/drawingml/2006/main">
              <a:ext uri="{FF2B5EF4-FFF2-40B4-BE49-F238E27FC236}">
                <a16:creationId xmlns:a16="http://schemas.microsoft.com/office/drawing/2014/main" id="{3B968A39-FE69-4DB2-945F-2BE7C42F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doc 规则条目-692">
            <a:extLst xmlns:a="http://schemas.openxmlformats.org/drawingml/2006/main">
              <a:ext uri="{FF2B5EF4-FFF2-40B4-BE49-F238E27FC236}">
                <a16:creationId xmlns:a16="http://schemas.microsoft.com/office/drawing/2014/main" id="{FF981610-00DD-4C70-83E1-9F0D5441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5" name="统一风格-文字 01 申请-693">
            <a:extLst xmlns:a="http://schemas.openxmlformats.org/drawingml/2006/main">
              <a:ext uri="{FF2B5EF4-FFF2-40B4-BE49-F238E27FC236}">
                <a16:creationId xmlns:a16="http://schemas.microsoft.com/office/drawing/2014/main" id="{4A2FA801-62D1-4890-863B-ABF2523C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244090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申请</a:t>
            </a:r>
          </a:p>
        </p:txBody>
      </p:sp>
      <p:sp>
        <p:nvSpPr>
          <p:cNvPr id="16" name="统一风格-lifecycle 02 评审玻璃后沿-694">
            <a:extLst xmlns:a="http://schemas.openxmlformats.org/drawingml/2006/main">
              <a:ext uri="{FF2B5EF4-FFF2-40B4-BE49-F238E27FC236}">
                <a16:creationId xmlns:a16="http://schemas.microsoft.com/office/drawing/2014/main" id="{46970752-6334-4BE2-9110-35380E98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lifecycle 02 评审-695">
            <a:extLst xmlns:a="http://schemas.openxmlformats.org/drawingml/2006/main">
              <a:ext uri="{FF2B5EF4-FFF2-40B4-BE49-F238E27FC236}">
                <a16:creationId xmlns:a16="http://schemas.microsoft.com/office/drawing/2014/main" id="{0D3FBDEA-F77C-43FE-A89B-6802A785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lifecycle 02 评审玻璃内沿-696">
            <a:extLst xmlns:a="http://schemas.openxmlformats.org/drawingml/2006/main">
              <a:ext uri="{FF2B5EF4-FFF2-40B4-BE49-F238E27FC236}">
                <a16:creationId xmlns:a16="http://schemas.microsoft.com/office/drawing/2014/main" id="{8BA0B638-CE5D-43D9-BBF6-E2AE9A24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904" y="2098108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lifecycle 02 评审透光反射面-697">
            <a:extLst xmlns:a="http://schemas.openxmlformats.org/drawingml/2006/main">
              <a:ext uri="{FF2B5EF4-FFF2-40B4-BE49-F238E27FC236}">
                <a16:creationId xmlns:a16="http://schemas.microsoft.com/office/drawing/2014/main" id="{D3D01E8A-B757-4AE4-86A1-7A4BF26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96" y="2104299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lifecycle 02 评审边缘高光-698">
            <a:extLst xmlns:a="http://schemas.openxmlformats.org/drawingml/2006/main">
              <a:ext uri="{FF2B5EF4-FFF2-40B4-BE49-F238E27FC236}">
                <a16:creationId xmlns:a16="http://schemas.microsoft.com/office/drawing/2014/main" id="{C44CD33A-C456-403F-A0D6-9B1A3971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2085249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shield 安全盾-699">
            <a:extLst xmlns:a="http://schemas.openxmlformats.org/drawingml/2006/main">
              <a:ext uri="{FF2B5EF4-FFF2-40B4-BE49-F238E27FC236}">
                <a16:creationId xmlns:a16="http://schemas.microsoft.com/office/drawing/2014/main" id="{32E59B6F-EDC7-491C-9762-166CA13A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86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shield 核验标记-700">
            <a:extLst xmlns:a="http://schemas.openxmlformats.org/drawingml/2006/main">
              <a:ext uri="{FF2B5EF4-FFF2-40B4-BE49-F238E27FC236}">
                <a16:creationId xmlns:a16="http://schemas.microsoft.com/office/drawing/2014/main" id="{F4FD8262-AACD-4470-ABCC-3F15D42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86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3" name="统一风格-文字 02 评审-701">
            <a:extLst xmlns:a="http://schemas.openxmlformats.org/drawingml/2006/main">
              <a:ext uri="{FF2B5EF4-FFF2-40B4-BE49-F238E27FC236}">
                <a16:creationId xmlns:a16="http://schemas.microsoft.com/office/drawing/2014/main" id="{32751EF3-94BC-4A5A-A2B3-4126BDC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562" y="2244090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评审</a:t>
            </a:r>
          </a:p>
        </p:txBody>
      </p:sp>
      <p:sp>
        <p:nvSpPr>
          <p:cNvPr id="24" name="统一风格-lifecycle 03 快照玻璃后沿-702">
            <a:extLst xmlns:a="http://schemas.openxmlformats.org/drawingml/2006/main">
              <a:ext uri="{FF2B5EF4-FFF2-40B4-BE49-F238E27FC236}">
                <a16:creationId xmlns:a16="http://schemas.microsoft.com/office/drawing/2014/main" id="{33A2335C-CB60-4C8D-BA5C-1509B9CF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统一风格-lifecycle 03 快照-703">
            <a:extLst xmlns:a="http://schemas.openxmlformats.org/drawingml/2006/main">
              <a:ext uri="{FF2B5EF4-FFF2-40B4-BE49-F238E27FC236}">
                <a16:creationId xmlns:a16="http://schemas.microsoft.com/office/drawing/2014/main" id="{C1B24A1F-F8CE-4DE0-8AEB-1B20C564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085249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6" name="统一风格-lifecycle 03 快照玻璃内沿-704">
            <a:extLst xmlns:a="http://schemas.openxmlformats.org/drawingml/2006/main">
              <a:ext uri="{FF2B5EF4-FFF2-40B4-BE49-F238E27FC236}">
                <a16:creationId xmlns:a16="http://schemas.microsoft.com/office/drawing/2014/main" id="{45448654-7CBA-4533-9F63-32F376E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350" y="2098108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7" name="统一风格-lifecycle 03 快照透光反射面-705">
            <a:extLst xmlns:a="http://schemas.openxmlformats.org/drawingml/2006/main">
              <a:ext uri="{FF2B5EF4-FFF2-40B4-BE49-F238E27FC236}">
                <a16:creationId xmlns:a16="http://schemas.microsoft.com/office/drawing/2014/main" id="{46F9EB5D-1FC2-4528-8F85-36C46BE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541" y="2104299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8" name="统一风格-lifecycle 03 快照边缘高光-706">
            <a:extLst xmlns:a="http://schemas.openxmlformats.org/drawingml/2006/main">
              <a:ext uri="{FF2B5EF4-FFF2-40B4-BE49-F238E27FC236}">
                <a16:creationId xmlns:a16="http://schemas.microsoft.com/office/drawing/2014/main" id="{0BE31E20-35D6-409B-A70D-207C65E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2085249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9" name="统一风格-db 数据库柱体-707">
            <a:extLst xmlns:a="http://schemas.openxmlformats.org/drawingml/2006/main">
              <a:ext uri="{FF2B5EF4-FFF2-40B4-BE49-F238E27FC236}">
                <a16:creationId xmlns:a16="http://schemas.microsoft.com/office/drawing/2014/main" id="{D7E98EC2-6361-4C29-8107-95C60DF4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0" name="统一风格-db 数据库分层-708">
            <a:extLst xmlns:a="http://schemas.openxmlformats.org/drawingml/2006/main">
              <a:ext uri="{FF2B5EF4-FFF2-40B4-BE49-F238E27FC236}">
                <a16:creationId xmlns:a16="http://schemas.microsoft.com/office/drawing/2014/main" id="{B0FC4B7D-98A4-4538-BAC7-19F07623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1" name="统一风格-文字 03 快照-709">
            <a:extLst xmlns:a="http://schemas.openxmlformats.org/drawingml/2006/main">
              <a:ext uri="{FF2B5EF4-FFF2-40B4-BE49-F238E27FC236}">
                <a16:creationId xmlns:a16="http://schemas.microsoft.com/office/drawing/2014/main" id="{60326E40-51FE-41CC-8956-932D4A5D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08" y="2244090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快照</a:t>
            </a:r>
          </a:p>
        </p:txBody>
      </p:sp>
      <p:sp>
        <p:nvSpPr>
          <p:cNvPr id="32" name="统一风格-lifecycle 04 发布玻璃后沿-710">
            <a:extLst xmlns:a="http://schemas.openxmlformats.org/drawingml/2006/main">
              <a:ext uri="{FF2B5EF4-FFF2-40B4-BE49-F238E27FC236}">
                <a16:creationId xmlns:a16="http://schemas.microsoft.com/office/drawing/2014/main" id="{BCE5F5E2-DED9-445C-82DA-F723FAD6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统一风格-lifecycle 04 发布-711">
            <a:extLst xmlns:a="http://schemas.openxmlformats.org/drawingml/2006/main">
              <a:ext uri="{FF2B5EF4-FFF2-40B4-BE49-F238E27FC236}">
                <a16:creationId xmlns:a16="http://schemas.microsoft.com/office/drawing/2014/main" id="{B0DECF71-2B5A-4DE5-89A9-590950D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4" name="统一风格-lifecycle 04 发布玻璃内沿-712">
            <a:extLst xmlns:a="http://schemas.openxmlformats.org/drawingml/2006/main">
              <a:ext uri="{FF2B5EF4-FFF2-40B4-BE49-F238E27FC236}">
                <a16:creationId xmlns:a16="http://schemas.microsoft.com/office/drawing/2014/main" id="{27692686-311D-4746-8FFC-DCBD1BF7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350" y="3621110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5" name="统一风格-lifecycle 04 发布透光反射面-713">
            <a:extLst xmlns:a="http://schemas.openxmlformats.org/drawingml/2006/main">
              <a:ext uri="{FF2B5EF4-FFF2-40B4-BE49-F238E27FC236}">
                <a16:creationId xmlns:a16="http://schemas.microsoft.com/office/drawing/2014/main" id="{44176AA5-4400-4386-BAEF-143911A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541" y="3627301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6" name="统一风格-lifecycle 04 发布边缘高光-714">
            <a:extLst xmlns:a="http://schemas.openxmlformats.org/drawingml/2006/main">
              <a:ext uri="{FF2B5EF4-FFF2-40B4-BE49-F238E27FC236}">
                <a16:creationId xmlns:a16="http://schemas.microsoft.com/office/drawing/2014/main" id="{E49BED75-9522-4EFB-A81F-25AF297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91" y="3608251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doc 规则文档-715">
            <a:extLst xmlns:a="http://schemas.openxmlformats.org/drawingml/2006/main">
              <a:ext uri="{FF2B5EF4-FFF2-40B4-BE49-F238E27FC236}">
                <a16:creationId xmlns:a16="http://schemas.microsoft.com/office/drawing/2014/main" id="{505C1FCF-8B8D-4548-82CC-625DD9AE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8" name="统一风格-doc 文档折角-716">
            <a:extLst xmlns:a="http://schemas.openxmlformats.org/drawingml/2006/main">
              <a:ext uri="{FF2B5EF4-FFF2-40B4-BE49-F238E27FC236}">
                <a16:creationId xmlns:a16="http://schemas.microsoft.com/office/drawing/2014/main" id="{1DC8E652-12D1-4AED-B8FF-A7E1E2B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9" name="统一风格-doc 规则条目-717">
            <a:extLst xmlns:a="http://schemas.openxmlformats.org/drawingml/2006/main">
              <a:ext uri="{FF2B5EF4-FFF2-40B4-BE49-F238E27FC236}">
                <a16:creationId xmlns:a16="http://schemas.microsoft.com/office/drawing/2014/main" id="{AA9E4894-66ED-406C-9221-1B4E7D0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332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0" name="统一风格-文字 04 发布-718">
            <a:extLst xmlns:a="http://schemas.openxmlformats.org/drawingml/2006/main">
              <a:ext uri="{FF2B5EF4-FFF2-40B4-BE49-F238E27FC236}">
                <a16:creationId xmlns:a16="http://schemas.microsoft.com/office/drawing/2014/main" id="{C13E5AEF-91C0-44C0-A198-7F72780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08" y="3767092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04 发布</a:t>
            </a:r>
          </a:p>
        </p:txBody>
      </p:sp>
      <p:sp>
        <p:nvSpPr>
          <p:cNvPr id="41" name="统一风格-lifecycle 05 验收玻璃后沿-719">
            <a:extLst xmlns:a="http://schemas.openxmlformats.org/drawingml/2006/main">
              <a:ext uri="{FF2B5EF4-FFF2-40B4-BE49-F238E27FC236}">
                <a16:creationId xmlns:a16="http://schemas.microsoft.com/office/drawing/2014/main" id="{58092CB9-F9CE-4A2A-ADF5-17AD994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统一风格-lifecycle 05 验收-720">
            <a:extLst xmlns:a="http://schemas.openxmlformats.org/drawingml/2006/main">
              <a:ext uri="{FF2B5EF4-FFF2-40B4-BE49-F238E27FC236}">
                <a16:creationId xmlns:a16="http://schemas.microsoft.com/office/drawing/2014/main" id="{1D69490C-DDB0-47AA-8149-D40F6968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lifecycle 05 验收玻璃内沿-721">
            <a:extLst xmlns:a="http://schemas.openxmlformats.org/drawingml/2006/main">
              <a:ext uri="{FF2B5EF4-FFF2-40B4-BE49-F238E27FC236}">
                <a16:creationId xmlns:a16="http://schemas.microsoft.com/office/drawing/2014/main" id="{9C4F1693-5FCA-47E6-B8A1-BE9F896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904" y="3621110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lifecycle 05 验收透光反射面-722">
            <a:extLst xmlns:a="http://schemas.openxmlformats.org/drawingml/2006/main">
              <a:ext uri="{FF2B5EF4-FFF2-40B4-BE49-F238E27FC236}">
                <a16:creationId xmlns:a16="http://schemas.microsoft.com/office/drawing/2014/main" id="{3ACBDC58-9855-4581-AA8B-B95CBCF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96" y="3627301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5" name="统一风格-lifecycle 05 验收边缘高光-723">
            <a:extLst xmlns:a="http://schemas.openxmlformats.org/drawingml/2006/main">
              <a:ext uri="{FF2B5EF4-FFF2-40B4-BE49-F238E27FC236}">
                <a16:creationId xmlns:a16="http://schemas.microsoft.com/office/drawing/2014/main" id="{07EF3296-73D5-48B7-9638-6FF28256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046" y="3608251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6" name="统一风格-shield 安全盾-724">
            <a:extLst xmlns:a="http://schemas.openxmlformats.org/drawingml/2006/main">
              <a:ext uri="{FF2B5EF4-FFF2-40B4-BE49-F238E27FC236}">
                <a16:creationId xmlns:a16="http://schemas.microsoft.com/office/drawing/2014/main" id="{B28DD917-8DC7-4B18-AD30-8D8288C5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86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7" name="统一风格-shield 核验标记-725">
            <a:extLst xmlns:a="http://schemas.openxmlformats.org/drawingml/2006/main">
              <a:ext uri="{FF2B5EF4-FFF2-40B4-BE49-F238E27FC236}">
                <a16:creationId xmlns:a16="http://schemas.microsoft.com/office/drawing/2014/main" id="{131944FB-EE4D-453D-8392-D1ED9B1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86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8" name="统一风格-文字 05 验收-726">
            <a:extLst xmlns:a="http://schemas.openxmlformats.org/drawingml/2006/main">
              <a:ext uri="{FF2B5EF4-FFF2-40B4-BE49-F238E27FC236}">
                <a16:creationId xmlns:a16="http://schemas.microsoft.com/office/drawing/2014/main" id="{4F0DC102-B631-4A90-B37C-8578C9FC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562" y="3767092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05 验收</a:t>
            </a:r>
          </a:p>
        </p:txBody>
      </p:sp>
      <p:sp>
        <p:nvSpPr>
          <p:cNvPr id="49" name="统一风格-lifecycle 06 复核玻璃后沿-727">
            <a:extLst xmlns:a="http://schemas.openxmlformats.org/drawingml/2006/main">
              <a:ext uri="{FF2B5EF4-FFF2-40B4-BE49-F238E27FC236}">
                <a16:creationId xmlns:a16="http://schemas.microsoft.com/office/drawing/2014/main" id="{B98AE0CB-E599-45E5-9105-746E319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0" name="统一风格-lifecycle 06 复核-728">
            <a:extLst xmlns:a="http://schemas.openxmlformats.org/drawingml/2006/main">
              <a:ext uri="{FF2B5EF4-FFF2-40B4-BE49-F238E27FC236}">
                <a16:creationId xmlns:a16="http://schemas.microsoft.com/office/drawing/2014/main" id="{707D1B4D-A44B-4B40-BA4E-C713ADEF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8251"/>
            <a:ext cx="2167709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1" name="统一风格-lifecycle 06 复核玻璃内沿-729">
            <a:extLst xmlns:a="http://schemas.openxmlformats.org/drawingml/2006/main">
              <a:ext uri="{FF2B5EF4-FFF2-40B4-BE49-F238E27FC236}">
                <a16:creationId xmlns:a16="http://schemas.microsoft.com/office/drawing/2014/main" id="{659F0DBF-0579-4E72-8700-D49893C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621110"/>
            <a:ext cx="2141991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2" name="统一风格-lifecycle 06 复核透光反射面-730">
            <a:extLst xmlns:a="http://schemas.openxmlformats.org/drawingml/2006/main">
              <a:ext uri="{FF2B5EF4-FFF2-40B4-BE49-F238E27FC236}">
                <a16:creationId xmlns:a16="http://schemas.microsoft.com/office/drawing/2014/main" id="{930CEECE-0D94-4909-825A-80F8347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7301"/>
            <a:ext cx="2129609" cy="877570"/>
          </a:xfrm>
          <a:custGeom xmlns:a="http://schemas.openxmlformats.org/drawingml/2006/main"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3" name="统一风格-lifecycle 06 复核边缘高光-731">
            <a:extLst xmlns:a="http://schemas.openxmlformats.org/drawingml/2006/main">
              <a:ext uri="{FF2B5EF4-FFF2-40B4-BE49-F238E27FC236}">
                <a16:creationId xmlns:a16="http://schemas.microsoft.com/office/drawing/2014/main" id="{02DDB02A-4FC4-4E2B-B1AE-14F900A3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8251"/>
            <a:ext cx="2167709" cy="915670"/>
          </a:xfrm>
          <a:custGeom xmlns:a="http://schemas.openxmlformats.org/drawingml/2006/main"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ips 安全盾-732">
            <a:extLst xmlns:a="http://schemas.openxmlformats.org/drawingml/2006/main">
              <a:ext uri="{FF2B5EF4-FFF2-40B4-BE49-F238E27FC236}">
                <a16:creationId xmlns:a16="http://schemas.microsoft.com/office/drawing/2014/main" id="{93201E00-DBC0-4894-9AFA-F133ABE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5" name="统一风格-ips 检测透镜-733">
            <a:extLst xmlns:a="http://schemas.openxmlformats.org/drawingml/2006/main">
              <a:ext uri="{FF2B5EF4-FFF2-40B4-BE49-F238E27FC236}">
                <a16:creationId xmlns:a16="http://schemas.microsoft.com/office/drawing/2014/main" id="{1D470949-3327-4099-B2B0-524EE70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6" name="统一风格-ips 检测手柄-734">
            <a:extLst xmlns:a="http://schemas.openxmlformats.org/drawingml/2006/main">
              <a:ext uri="{FF2B5EF4-FFF2-40B4-BE49-F238E27FC236}">
                <a16:creationId xmlns:a16="http://schemas.microsoft.com/office/drawing/2014/main" id="{52D87EA6-64B4-4CDB-B7D0-2A943A67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383249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7" name="统一风格-文字 06 复核-735">
            <a:extLst xmlns:a="http://schemas.openxmlformats.org/drawingml/2006/main">
              <a:ext uri="{FF2B5EF4-FFF2-40B4-BE49-F238E27FC236}">
                <a16:creationId xmlns:a16="http://schemas.microsoft.com/office/drawing/2014/main" id="{37B4ED59-833C-4D6A-A3EC-FB350928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3767092"/>
            <a:ext cx="12894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06 复核</a:t>
            </a:r>
          </a:p>
        </p:txBody>
      </p:sp>
      <p:cxnSp>
        <p:nvCxnSpPr>
          <p:cNvPr id="58" name="统一拓扑-lifecycle-连线-1">
            <a:extLst xmlns:a="http://schemas.openxmlformats.org/drawingml/2006/main">
              <a:ext uri="{FF2B5EF4-FFF2-40B4-BE49-F238E27FC236}">
                <a16:creationId xmlns:a16="http://schemas.microsoft.com/office/drawing/2014/main" id="{C734F302-01A8-4768-97BE-7FC428ECE9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77309" y="2543084"/>
            <a:ext cx="67273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9" name="统一拓扑-lifecycle-连线-2">
            <a:extLst xmlns:a="http://schemas.openxmlformats.org/drawingml/2006/main">
              <a:ext uri="{FF2B5EF4-FFF2-40B4-BE49-F238E27FC236}">
                <a16:creationId xmlns:a16="http://schemas.microsoft.com/office/drawing/2014/main" id="{464699BE-D217-4B25-B948-8906984027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7754" y="2543084"/>
            <a:ext cx="67273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0" name="统一拓扑-lifecycle-连线-3">
            <a:extLst xmlns:a="http://schemas.openxmlformats.org/drawingml/2006/main">
              <a:ext uri="{FF2B5EF4-FFF2-40B4-BE49-F238E27FC236}">
                <a16:creationId xmlns:a16="http://schemas.microsoft.com/office/drawing/2014/main" id="{BB1C20DD-3263-4875-BE8E-A1B0ED5FAC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74346" y="3000919"/>
            <a:ext cx="0" cy="607332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1" name="统一拓扑-lifecycle-连线-4">
            <a:extLst xmlns:a="http://schemas.openxmlformats.org/drawingml/2006/main">
              <a:ext uri="{FF2B5EF4-FFF2-40B4-BE49-F238E27FC236}">
                <a16:creationId xmlns:a16="http://schemas.microsoft.com/office/drawing/2014/main" id="{D191F469-FAC9-46F7-92D6-005F6F6CABE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617754" y="4066086"/>
            <a:ext cx="67273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2" name="统一拓扑-lifecycle-连线-5">
            <a:extLst xmlns:a="http://schemas.openxmlformats.org/drawingml/2006/main">
              <a:ext uri="{FF2B5EF4-FFF2-40B4-BE49-F238E27FC236}">
                <a16:creationId xmlns:a16="http://schemas.microsoft.com/office/drawing/2014/main" id="{AF5B665B-7F25-48A7-B249-A6DA4DFA9EB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777309" y="4066086"/>
            <a:ext cx="672737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lifecycle-连线-6">
            <a:extLst xmlns:a="http://schemas.openxmlformats.org/drawingml/2006/main">
              <a:ext uri="{FF2B5EF4-FFF2-40B4-BE49-F238E27FC236}">
                <a16:creationId xmlns:a16="http://schemas.microsoft.com/office/drawing/2014/main" id="{F60CF3B0-B4F8-4A32-A995-2D6A10C906C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97477" y="4066086"/>
            <a:ext cx="112123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64" name="统一拓扑-lifecycle-连线-7">
            <a:extLst xmlns:a="http://schemas.openxmlformats.org/drawingml/2006/main">
              <a:ext uri="{FF2B5EF4-FFF2-40B4-BE49-F238E27FC236}">
                <a16:creationId xmlns:a16="http://schemas.microsoft.com/office/drawing/2014/main" id="{40AC310D-B82F-4C80-8EDD-9F41A21F089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7477" y="2543084"/>
            <a:ext cx="0" cy="1523002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65" name="统一拓扑-lifecycle-连线-8">
            <a:extLst xmlns:a="http://schemas.openxmlformats.org/drawingml/2006/main">
              <a:ext uri="{FF2B5EF4-FFF2-40B4-BE49-F238E27FC236}">
                <a16:creationId xmlns:a16="http://schemas.microsoft.com/office/drawing/2014/main" id="{584785FB-30DB-48C4-832C-672F6957DA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7477" y="2543084"/>
            <a:ext cx="112123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6" name="统一风格-lifecycle 回滚玻璃后沿-736">
            <a:extLst xmlns:a="http://schemas.openxmlformats.org/drawingml/2006/main">
              <a:ext uri="{FF2B5EF4-FFF2-40B4-BE49-F238E27FC236}">
                <a16:creationId xmlns:a16="http://schemas.microsoft.com/office/drawing/2014/main" id="{973AA0B7-0382-440F-A7C4-C81E1B2F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96" y="5159284"/>
            <a:ext cx="3475809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统一风格-lifecycle 回滚-737">
            <a:extLst xmlns:a="http://schemas.openxmlformats.org/drawingml/2006/main">
              <a:ext uri="{FF2B5EF4-FFF2-40B4-BE49-F238E27FC236}">
                <a16:creationId xmlns:a16="http://schemas.microsoft.com/office/drawing/2014/main" id="{9BF91493-C2F8-4612-9511-9F1625C0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96" y="5159284"/>
            <a:ext cx="3475809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8" name="统一风格-lifecycle 回滚玻璃内沿-738">
            <a:extLst xmlns:a="http://schemas.openxmlformats.org/drawingml/2006/main">
              <a:ext uri="{FF2B5EF4-FFF2-40B4-BE49-F238E27FC236}">
                <a16:creationId xmlns:a16="http://schemas.microsoft.com/office/drawing/2014/main" id="{DE1CCF9E-9F58-455E-8F01-9D37D85B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854" y="5172143"/>
            <a:ext cx="3450091" cy="581615"/>
          </a:xfrm>
          <a:prstGeom xmlns:a="http://schemas.openxmlformats.org/drawingml/2006/main" prst="roundRect">
            <a:avLst>
              <a:gd name="adj" fmla="val 126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9" name="统一风格-lifecycle 回滚边缘高光-739">
            <a:extLst xmlns:a="http://schemas.openxmlformats.org/drawingml/2006/main">
              <a:ext uri="{FF2B5EF4-FFF2-40B4-BE49-F238E27FC236}">
                <a16:creationId xmlns:a16="http://schemas.microsoft.com/office/drawing/2014/main" id="{5ADD3EE1-8D96-48BF-A247-B5EF1BDA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996" y="5159284"/>
            <a:ext cx="3475809" cy="607332"/>
          </a:xfrm>
          <a:custGeom xmlns:a="http://schemas.openxmlformats.org/drawingml/2006/main">
            <a:pathLst>
              <a:path w="3475809" h="607332">
                <a:moveTo>
                  <a:pt x="95250" y="9525"/>
                </a:moveTo>
                <a:lnTo>
                  <a:pt x="3380559" y="9525"/>
                </a:lnTo>
                <a:cubicBezTo>
                  <a:pt x="3428184" y="9525"/>
                  <a:pt x="3466284" y="47625"/>
                  <a:pt x="346628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0" name="统一风格-文字 触发回滚门槛，恢复已记录前态-740">
            <a:extLst xmlns:a="http://schemas.openxmlformats.org/drawingml/2006/main">
              <a:ext uri="{FF2B5EF4-FFF2-40B4-BE49-F238E27FC236}">
                <a16:creationId xmlns:a16="http://schemas.microsoft.com/office/drawing/2014/main" id="{D2B9F6BA-F4DD-4A1C-91F4-9F77A322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19" y="5271407"/>
            <a:ext cx="3251563" cy="383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触发回滚门槛，恢复已记录前态</a:t>
            </a:r>
          </a:p>
        </p:txBody>
      </p:sp>
      <p:cxnSp>
        <p:nvCxnSpPr>
          <p:cNvPr id="71" name="统一拓扑-lifecycle-连线-9">
            <a:extLst xmlns:a="http://schemas.openxmlformats.org/drawingml/2006/main">
              <a:ext uri="{FF2B5EF4-FFF2-40B4-BE49-F238E27FC236}">
                <a16:creationId xmlns:a16="http://schemas.microsoft.com/office/drawing/2014/main" id="{2FC7E5A4-63A6-4863-8C3F-F060198066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4523921"/>
            <a:ext cx="0" cy="635363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dash"/>
            <a:tailEnd type="triangle" w="sm" len="sm"/>
          </a:ln>
        </p:spPr>
      </p:cxnSp>
      <p:sp>
        <p:nvSpPr>
          <p:cNvPr id="72" name="统一风格-lifecycle 关系文字衬底-741">
            <a:extLst xmlns:a="http://schemas.openxmlformats.org/drawingml/2006/main">
              <a:ext uri="{FF2B5EF4-FFF2-40B4-BE49-F238E27FC236}">
                <a16:creationId xmlns:a16="http://schemas.microsoft.com/office/drawing/2014/main" id="{7F79BC20-221A-4F03-AAF1-39A207C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397" y="4729480"/>
            <a:ext cx="1382849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73" name="统一风格-文字 未通过-742">
            <a:extLst xmlns:a="http://schemas.openxmlformats.org/drawingml/2006/main">
              <a:ext uri="{FF2B5EF4-FFF2-40B4-BE49-F238E27FC236}">
                <a16:creationId xmlns:a16="http://schemas.microsoft.com/office/drawing/2014/main" id="{F1F55EC8-B9D7-40D8-BED7-70D1D5D8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771" y="4729480"/>
            <a:ext cx="1308100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7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0281D4C9-1EFF-432F-A2BD-C2196CC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7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FA3430F-DFB6-489C-BE1C-E42E6E4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6" name="txt-75">
            <a:extLst xmlns:a="http://schemas.openxmlformats.org/drawingml/2006/main">
              <a:ext uri="{FF2B5EF4-FFF2-40B4-BE49-F238E27FC236}">
                <a16:creationId xmlns:a16="http://schemas.microsoft.com/office/drawing/2014/main" id="{46FB2404-AB64-4CC0-BE9C-EC740433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77" name="txt-76">
            <a:extLst xmlns:a="http://schemas.openxmlformats.org/drawingml/2006/main">
              <a:ext uri="{FF2B5EF4-FFF2-40B4-BE49-F238E27FC236}">
                <a16:creationId xmlns:a16="http://schemas.microsoft.com/office/drawing/2014/main" id="{D9C68972-762B-41AF-8318-F06F92A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规则、对象组、路由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都保留变更前态</a:t>
            </a:r>
          </a:p>
        </p:txBody>
      </p:sp>
      <p:sp>
        <p:nvSpPr>
          <p:cNvPr id="78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AF97426-66C3-47BE-89EB-D1BF11A3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9" name="txt-78">
            <a:extLst xmlns:a="http://schemas.openxmlformats.org/drawingml/2006/main">
              <a:ext uri="{FF2B5EF4-FFF2-40B4-BE49-F238E27FC236}">
                <a16:creationId xmlns:a16="http://schemas.microsoft.com/office/drawing/2014/main" id="{7DF244CD-6258-41F5-BFEF-621CCF9B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0" name="txt-79">
            <a:extLst xmlns:a="http://schemas.openxmlformats.org/drawingml/2006/main">
              <a:ext uri="{FF2B5EF4-FFF2-40B4-BE49-F238E27FC236}">
                <a16:creationId xmlns:a16="http://schemas.microsoft.com/office/drawing/2014/main" id="{434F0C37-73C8-4D73-BBDA-3289A31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关键交易结果、错误率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时延与策略命中</a:t>
            </a:r>
          </a:p>
        </p:txBody>
      </p:sp>
      <p:sp>
        <p:nvSpPr>
          <p:cNvPr id="8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8055672-EC3C-40EE-A856-C35CD77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2" name="txt-81">
            <a:extLst xmlns:a="http://schemas.openxmlformats.org/drawingml/2006/main">
              <a:ext uri="{FF2B5EF4-FFF2-40B4-BE49-F238E27FC236}">
                <a16:creationId xmlns:a16="http://schemas.microsoft.com/office/drawing/2014/main" id="{91513CA3-43F0-4140-B365-0949469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83" name="txt-82">
            <a:extLst xmlns:a="http://schemas.openxmlformats.org/drawingml/2006/main">
              <a:ext uri="{FF2B5EF4-FFF2-40B4-BE49-F238E27FC236}">
                <a16:creationId xmlns:a16="http://schemas.microsoft.com/office/drawing/2014/main" id="{60681572-D711-4A24-99DC-C6385F1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达到约定门槛即执行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16686691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9CC1FA48-1C99-4B01-B336-2EE6A6A9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5DF52B9-A37D-474C-AA27-C4E860B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验收记录同时覆盖成功、拒绝与路径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7ACFDC4C-B64F-481A-8907-44D33496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记录测试时间与时区、源、目的、协议和端口，关联对应日志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C59F1D3-2CDE-4611-A378-3B63124F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“连接失败”需结合预期阻断日志解释，避免把服务未监听当作策略生效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D7C350B-E6F1-45E2-857D-9D972446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1">
            <a:extLst xmlns:a="http://schemas.openxmlformats.org/drawingml/2006/main">
              <a:ext uri="{FF2B5EF4-FFF2-40B4-BE49-F238E27FC236}">
                <a16:creationId xmlns:a16="http://schemas.microsoft.com/office/drawing/2014/main" id="{18F63574-60BE-4158-BE1F-556D5979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70</ns0:t>
            </ns0:r>
          </ns0:p>
        </p:txBody>
      </p:sp>
      <p:sp>
        <p:nvSpPr>
          <p:cNvPr id="7" name="统一风格-表格玻璃容器玻璃后沿-743">
            <a:extLst xmlns:a="http://schemas.openxmlformats.org/drawingml/2006/main">
              <a:ext uri="{FF2B5EF4-FFF2-40B4-BE49-F238E27FC236}">
                <a16:creationId xmlns:a16="http://schemas.microsoft.com/office/drawing/2014/main" id="{852D6D2A-52FB-4E2C-A333-8EBDF9DF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1125200" cy="3724275"/>
          </a:xfrm>
          <a:prstGeom xmlns:a="http://schemas.openxmlformats.org/drawingml/2006/main" prst="roundRect">
            <a:avLst>
              <a:gd name="adj" fmla="val 230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744">
            <a:extLst xmlns:a="http://schemas.openxmlformats.org/drawingml/2006/main">
              <a:ext uri="{FF2B5EF4-FFF2-40B4-BE49-F238E27FC236}">
                <a16:creationId xmlns:a16="http://schemas.microsoft.com/office/drawing/2014/main" id="{E8383CD1-EC85-4F91-9DE6-C108DD5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1125200" cy="3724275"/>
          </a:xfrm>
          <a:prstGeom xmlns:a="http://schemas.openxmlformats.org/drawingml/2006/main" prst="roundRect">
            <a:avLst>
              <a:gd name="adj" fmla="val 230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745">
            <a:extLst xmlns:a="http://schemas.openxmlformats.org/drawingml/2006/main">
              <a:ext uri="{FF2B5EF4-FFF2-40B4-BE49-F238E27FC236}">
                <a16:creationId xmlns:a16="http://schemas.microsoft.com/office/drawing/2014/main" id="{BF82908E-0411-421B-B95F-D389EF1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175034"/>
            <a:ext cx="11099483" cy="3698558"/>
          </a:xfrm>
          <a:prstGeom xmlns:a="http://schemas.openxmlformats.org/drawingml/2006/main" prst="roundRect">
            <a:avLst>
              <a:gd name="adj" fmla="val 19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746">
            <a:extLst xmlns:a="http://schemas.openxmlformats.org/drawingml/2006/main">
              <a:ext uri="{FF2B5EF4-FFF2-40B4-BE49-F238E27FC236}">
                <a16:creationId xmlns:a16="http://schemas.microsoft.com/office/drawing/2014/main" id="{EC22C1AE-FF9F-43C7-B9A7-9D58CA72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1125200" cy="3724275"/>
          </a:xfrm>
          <a:custGeom xmlns:a="http://schemas.openxmlformats.org/drawingml/2006/main"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AEE26-9EE8-4AE9-BB75-9C1F82F67D09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验证示例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访问目标 TCP 3306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连接结果、交易结果、规则命中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同一来源访问目标 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失败结果与预期阻断日志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新建会话并核对对应防护边界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实例、边界、源目的与时间一致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DNS、监控、备份与关键交易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关键依赖正常，回滚步骤已验证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3590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B368B17F-2516-40A9-99FD-35AEFF0D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F2007B6-9996-4EBB-9C5C-9A6FDB0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日志筛选与命中结果示意</a:t>
            </a:r>
          </a:p>
        </p:txBody>
      </p:sp>
      <p:sp>
        <p:nvSpPr>
          <p:cNvPr id="3" name="正文-虚构示例：访问控制查规则动作，攻击事件查 IPS，流量日志核对上报">
            <a:extLst xmlns:a="http://schemas.openxmlformats.org/drawingml/2006/main">
              <a:ext uri="{FF2B5EF4-FFF2-40B4-BE49-F238E27FC236}">
                <a16:creationId xmlns:a16="http://schemas.microsoft.com/office/drawing/2014/main" id="{F2BC4793-85A6-4DF5-A11C-E97FD61D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虚构示例：访问控制查规则动作，攻击事件查 IPS，流量日志核对上报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8F10ED4-E98A-4F57-9BA2-90890E3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流量日志存在会话结束上报等机制。暂未查到日志时先核对上报与筛选条件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36F730B-C007-4E24-B866-2970E4E4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2">
            <a:extLst xmlns:a="http://schemas.openxmlformats.org/drawingml/2006/main">
              <a:ext uri="{FF2B5EF4-FFF2-40B4-BE49-F238E27FC236}">
                <a16:creationId xmlns:a16="http://schemas.microsoft.com/office/drawing/2014/main" id="{B0F69299-47BF-4AF4-A78F-01FFC6D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71</ns0:t>
            </ns0:r>
          </ns0:p>
        </p:txBody>
      </p:sp>
      <p:sp>
        <p:nvSpPr>
          <p:cNvPr id="7" name="统一风格-official-log-saved 访问控制日志玻璃后沿-747">
            <a:extLst xmlns:a="http://schemas.openxmlformats.org/drawingml/2006/main">
              <a:ext uri="{FF2B5EF4-FFF2-40B4-BE49-F238E27FC236}">
                <a16:creationId xmlns:a16="http://schemas.microsoft.com/office/drawing/2014/main" id="{EB4DBF4E-88C6-41A6-B316-CBAB007C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2714625"/>
          </a:xfrm>
          <a:prstGeom xmlns:a="http://schemas.openxmlformats.org/drawingml/2006/main" prst="roundRect">
            <a:avLst>
              <a:gd name="adj" fmla="val 315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official-log-saved 访问控制日志-748">
            <a:extLst xmlns:a="http://schemas.openxmlformats.org/drawingml/2006/main">
              <a:ext uri="{FF2B5EF4-FFF2-40B4-BE49-F238E27FC236}">
                <a16:creationId xmlns:a16="http://schemas.microsoft.com/office/drawing/2014/main" id="{2DFA0C5B-8C10-4B86-AE04-D833811F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2714625"/>
          </a:xfrm>
          <a:prstGeom xmlns:a="http://schemas.openxmlformats.org/drawingml/2006/main" prst="roundRect">
            <a:avLst>
              <a:gd name="adj" fmla="val 315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official-log-saved 访问控制日志玻璃内沿-749">
            <a:extLst xmlns:a="http://schemas.openxmlformats.org/drawingml/2006/main">
              <a:ext uri="{FF2B5EF4-FFF2-40B4-BE49-F238E27FC236}">
                <a16:creationId xmlns:a16="http://schemas.microsoft.com/office/drawing/2014/main" id="{989169E4-457B-4524-8839-049C165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41684"/>
            <a:ext cx="10947083" cy="2688908"/>
          </a:xfrm>
          <a:prstGeom xmlns:a="http://schemas.openxmlformats.org/drawingml/2006/main" prst="roundRect">
            <a:avLst>
              <a:gd name="adj" fmla="val 272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official-log-saved 访问控制日志边缘高光-750">
            <a:extLst xmlns:a="http://schemas.openxmlformats.org/drawingml/2006/main">
              <a:ext uri="{FF2B5EF4-FFF2-40B4-BE49-F238E27FC236}">
                <a16:creationId xmlns:a16="http://schemas.microsoft.com/office/drawing/2014/main" id="{8421E14D-1E68-4A93-AE4A-7496A1A9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2714625"/>
          </a:xfrm>
          <a:custGeom xmlns:a="http://schemas.openxmlformats.org/drawingml/2006/main">
            <a:pathLst>
              <a:path w="10972800" h="27146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攻击事件日志-751">
            <a:extLst xmlns:a="http://schemas.openxmlformats.org/drawingml/2006/main">
              <a:ext uri="{FF2B5EF4-FFF2-40B4-BE49-F238E27FC236}">
                <a16:creationId xmlns:a16="http://schemas.microsoft.com/office/drawing/2014/main" id="{16A93B3C-CE17-4388-90ED-FF714025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83" y="2093459"/>
            <a:ext cx="2612571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攻击事件日志</a:t>
            </a:r>
          </a:p>
        </p:txBody>
      </p:sp>
      <p:sp>
        <p:nvSpPr>
          <p:cNvPr id="12" name="统一风格-文字 访问控制日志-752">
            <a:extLst xmlns:a="http://schemas.openxmlformats.org/drawingml/2006/main">
              <a:ext uri="{FF2B5EF4-FFF2-40B4-BE49-F238E27FC236}">
                <a16:creationId xmlns:a16="http://schemas.microsoft.com/office/drawing/2014/main" id="{84F7CCCC-7285-4042-9959-16A91416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891" y="2093459"/>
            <a:ext cx="2952206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访问控制日志</a:t>
            </a:r>
          </a:p>
        </p:txBody>
      </p:sp>
      <p:sp>
        <p:nvSpPr>
          <p:cNvPr id="13" name="统一风格-文字 流量日志-753">
            <a:extLst xmlns:a="http://schemas.openxmlformats.org/drawingml/2006/main">
              <a:ext uri="{FF2B5EF4-FFF2-40B4-BE49-F238E27FC236}">
                <a16:creationId xmlns:a16="http://schemas.microsoft.com/office/drawing/2014/main" id="{79918476-8110-4039-AEC3-A4F96D7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86" y="2093459"/>
            <a:ext cx="274320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流量日志</a:t>
            </a:r>
          </a:p>
        </p:txBody>
      </p:sp>
      <p:cxnSp>
        <p:nvCxnSpPr>
          <p:cNvPr id="14" name="统一拓扑-official-log-saved-连线-1">
            <a:extLst xmlns:a="http://schemas.openxmlformats.org/drawingml/2006/main">
              <a:ext uri="{FF2B5EF4-FFF2-40B4-BE49-F238E27FC236}">
                <a16:creationId xmlns:a16="http://schemas.microsoft.com/office/drawing/2014/main" id="{E0729643-1674-4AB4-BBB0-1B9B487DDE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28457" y="2384312"/>
            <a:ext cx="2717074" cy="0"/>
          </a:xfrm>
          <a:prstGeom xmlns:a="http://schemas.openxmlformats.org/drawingml/2006/main" prst="straightConnector1">
            <a:avLst/>
          </a:prstGeom>
          <a:ln xmlns:a="http://schemas.openxmlformats.org/drawingml/2006/main" w="9695">
            <a:solidFill>
              <a:srgbClr val="2053C3"/>
            </a:solidFill>
            <a:prstDash val="solid"/>
          </a:ln>
        </p:spPr>
      </p:cxnSp>
      <p:sp>
        <p:nvSpPr>
          <p:cNvPr id="15" name="统一风格-文字 VPC 边界-754">
            <a:extLst xmlns:a="http://schemas.openxmlformats.org/drawingml/2006/main">
              <a:ext uri="{FF2B5EF4-FFF2-40B4-BE49-F238E27FC236}">
                <a16:creationId xmlns:a16="http://schemas.microsoft.com/office/drawing/2014/main" id="{435809BE-053E-4CA7-8890-9F47B1B1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34" y="2468336"/>
            <a:ext cx="2286000" cy="245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 边界</a:t>
            </a:r>
          </a:p>
        </p:txBody>
      </p:sp>
      <p:sp>
        <p:nvSpPr>
          <p:cNvPr id="16" name="统一风格-文字 源 IP：10.20.10.15-755">
            <a:extLst xmlns:a="http://schemas.openxmlformats.org/drawingml/2006/main">
              <a:ext uri="{FF2B5EF4-FFF2-40B4-BE49-F238E27FC236}">
                <a16:creationId xmlns:a16="http://schemas.microsoft.com/office/drawing/2014/main" id="{AA706285-8CE1-4910-8966-2D2A0E3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34" y="2785042"/>
            <a:ext cx="4767943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IP：10.20.10.15</a:t>
            </a:r>
          </a:p>
        </p:txBody>
      </p:sp>
      <p:sp>
        <p:nvSpPr>
          <p:cNvPr id="17" name="统一风格-文字 目的 IP：10.30.20.10-756">
            <a:extLst xmlns:a="http://schemas.openxmlformats.org/drawingml/2006/main">
              <a:ext uri="{FF2B5EF4-FFF2-40B4-BE49-F238E27FC236}">
                <a16:creationId xmlns:a16="http://schemas.microsoft.com/office/drawing/2014/main" id="{10AF9AAF-2BA4-4CF5-B3BC-BF6D0E0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629" y="2785042"/>
            <a:ext cx="4963886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 IP：10.30.20.10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F73D2-28D1-4E6C-BDD5-7FF8E3C15C7B}"/>
              </a:ext>
            </a:extLst>
          </p:cNvPr>
          <p:cNvGraphicFramePr/>
          <p:nvPr/>
        </p:nvGraphicFramePr>
        <p:xfrm>
          <a:off xmlns:a="http://schemas.openxmlformats.org/drawingml/2006/main" x="870857" y="3243943"/>
          <a:ext xmlns:a="http://schemas.openxmlformats.org/drawingml/2006/main" cx="10450286" cy="133145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0057"/>
                <a:gridCol w="2090057"/>
                <a:gridCol w="1854926"/>
                <a:gridCol w="1254034"/>
                <a:gridCol w="3161211"/>
              </a:tblGrid>
              <a:tr h="44382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IP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IP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 / 端口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命中规则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</a:tr>
              <a:tr h="44382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</a:tr>
              <a:tr h="443820"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lIns="76200" tIns="76200" rIns="76200" bIns="76200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 SSH 访问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4FD3CDA1-C0C5-4049-B279-6AFF63B9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45D0431E-BC1E-43D5-9059-491A917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确认范围</a:t>
            </a:r>
          </a:p>
        </p:txBody>
      </p:sp>
      <p:sp>
        <p:nvSpPr>
          <p:cNvPr id="21" name="txt-19">
            <a:extLst xmlns:a="http://schemas.openxmlformats.org/drawingml/2006/main">
              <a:ext uri="{FF2B5EF4-FFF2-40B4-BE49-F238E27FC236}">
                <a16:creationId xmlns:a16="http://schemas.microsoft.com/office/drawing/2014/main" id="{5EA83E1F-752A-4140-B0F0-30C9606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实例、日志类型与防护边界</a:t>
            </a:r>
          </a:p>
        </p:txBody>
      </p:sp>
      <p:sp>
        <p:nvSpPr>
          <p:cNvPr id="22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08D6476B-6B1D-4250-BCB9-454ACF0C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23" name="txt-21">
            <a:extLst xmlns:a="http://schemas.openxmlformats.org/drawingml/2006/main">
              <a:ext uri="{FF2B5EF4-FFF2-40B4-BE49-F238E27FC236}">
                <a16:creationId xmlns:a16="http://schemas.microsoft.com/office/drawing/2014/main" id="{31025AE8-A964-435A-86E5-2BD2724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筛选业务流</a:t>
            </a:r>
          </a:p>
        </p:txBody>
      </p:sp>
      <p:sp>
        <p:nvSpPr>
          <p:cNvPr id="24" name="txt-22">
            <a:extLst xmlns:a="http://schemas.openxmlformats.org/drawingml/2006/main">
              <a:ext uri="{FF2B5EF4-FFF2-40B4-BE49-F238E27FC236}">
                <a16:creationId xmlns:a16="http://schemas.microsoft.com/office/drawing/2014/main" id="{020858A4-F7E9-4ACD-BE08-8ABD705D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62575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时间、源目的、协议与端口</a:t>
            </a:r>
          </a:p>
        </p:txBody>
      </p:sp>
      <p:sp>
        <p:nvSpPr>
          <p:cNvPr id="2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4FA3335C-28C1-4539-9241-8ABDBC5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67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26" name="txt-24">
            <a:extLst xmlns:a="http://schemas.openxmlformats.org/drawingml/2006/main">
              <a:ext uri="{FF2B5EF4-FFF2-40B4-BE49-F238E27FC236}">
                <a16:creationId xmlns:a16="http://schemas.microsoft.com/office/drawing/2014/main" id="{28DD3A5D-2E86-4E1C-912A-338F5001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关联结果</a:t>
            </a:r>
          </a:p>
        </p:txBody>
      </p:sp>
      <p:sp>
        <p:nvSpPr>
          <p:cNvPr id="27" name="txt-25">
            <a:extLst xmlns:a="http://schemas.openxmlformats.org/drawingml/2006/main">
              <a:ext uri="{FF2B5EF4-FFF2-40B4-BE49-F238E27FC236}">
                <a16:creationId xmlns:a16="http://schemas.microsoft.com/office/drawing/2014/main" id="{A4A8F51B-A7D0-438B-9115-1AB5F7C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6257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17234613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8AC8DFC5-94F7-44E1-924F-87477374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7D5AD90-A512-4AF8-86DC-21AF2BA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排障按证据分支推进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E17F15BD-DEC9-4521-B0D6-FFA13956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先确定检查点的观测结果，再定位具体控制层</a:t>
            </a:r>
          </a:p>
        </p:txBody>
      </p:sp>
      <p:sp>
        <p:nvSpPr>
          <p:cNvPr id="4" name="正文-逻辑架构示意，具体配置以实际区域、版本与网络路径为准">
            <a:extLst xmlns:a="http://schemas.openxmlformats.org/drawingml/2006/main">
              <a:ext uri="{FF2B5EF4-FFF2-40B4-BE49-F238E27FC236}">
                <a16:creationId xmlns:a16="http://schemas.microsoft.com/office/drawing/2014/main" id="{A8727658-834B-406D-9203-A314A3B8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逻辑架构示意，具体配置以实际区域、版本与网络路径为准</ns0:t>
            </ns0:r>
          </ns0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E8B39867-7276-49CD-A0F9-498AA5E5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3">
            <a:extLst xmlns:a="http://schemas.openxmlformats.org/drawingml/2006/main">
              <a:ext uri="{FF2B5EF4-FFF2-40B4-BE49-F238E27FC236}">
                <a16:creationId xmlns:a16="http://schemas.microsoft.com/office/drawing/2014/main" id="{074878A1-4317-4DE1-81BE-EA15C69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72</ns0:t>
            </ns0:r>
          </ns0:p>
        </p:txBody>
      </p:sp>
      <p:cxnSp>
        <p:nvCxnSpPr>
          <p:cNvPr id="7" name="统一拓扑-triage-连线-1">
            <a:extLst xmlns:a="http://schemas.openxmlformats.org/drawingml/2006/main">
              <a:ext uri="{FF2B5EF4-FFF2-40B4-BE49-F238E27FC236}">
                <a16:creationId xmlns:a16="http://schemas.microsoft.com/office/drawing/2014/main" id="{C3E37955-C17C-4CD6-B3C6-249C9536B8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2561771"/>
            <a:ext cx="0" cy="26162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" name="统一拓扑-triage-连线-2">
            <a:extLst xmlns:a="http://schemas.openxmlformats.org/drawingml/2006/main">
              <a:ext uri="{FF2B5EF4-FFF2-40B4-BE49-F238E27FC236}">
                <a16:creationId xmlns:a16="http://schemas.microsoft.com/office/drawing/2014/main" id="{CE74FEF6-70F8-4656-BC89-8C9C41BC50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3365319"/>
            <a:ext cx="0" cy="149497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9" name="统一拓扑-triage-连线-3">
            <a:extLst xmlns:a="http://schemas.openxmlformats.org/drawingml/2006/main">
              <a:ext uri="{FF2B5EF4-FFF2-40B4-BE49-F238E27FC236}">
                <a16:creationId xmlns:a16="http://schemas.microsoft.com/office/drawing/2014/main" id="{E35CEF5E-4E5B-4C10-94EC-1D7008FCBDF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525032" y="3514816"/>
            <a:ext cx="2008868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0" name="统一拓扑-triage-连线-4">
            <a:extLst xmlns:a="http://schemas.openxmlformats.org/drawingml/2006/main">
              <a:ext uri="{FF2B5EF4-FFF2-40B4-BE49-F238E27FC236}">
                <a16:creationId xmlns:a16="http://schemas.microsoft.com/office/drawing/2014/main" id="{D24930EA-5572-44D0-A0D2-A7B88DD345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5032" y="3514816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1" name="统一拓扑-triage-连线-5">
            <a:extLst xmlns:a="http://schemas.openxmlformats.org/drawingml/2006/main">
              <a:ext uri="{FF2B5EF4-FFF2-40B4-BE49-F238E27FC236}">
                <a16:creationId xmlns:a16="http://schemas.microsoft.com/office/drawing/2014/main" id="{11C356C9-006A-48FC-B858-8053B60EE8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3365319"/>
            <a:ext cx="0" cy="149497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2" name="统一拓扑-triage-连线-6">
            <a:extLst xmlns:a="http://schemas.openxmlformats.org/drawingml/2006/main">
              <a:ext uri="{FF2B5EF4-FFF2-40B4-BE49-F238E27FC236}">
                <a16:creationId xmlns:a16="http://schemas.microsoft.com/office/drawing/2014/main" id="{F197EACB-47DA-4578-9766-2246898BC0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3514816"/>
            <a:ext cx="2008868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3" name="统一拓扑-triage-连线-7">
            <a:extLst xmlns:a="http://schemas.openxmlformats.org/drawingml/2006/main">
              <a:ext uri="{FF2B5EF4-FFF2-40B4-BE49-F238E27FC236}">
                <a16:creationId xmlns:a16="http://schemas.microsoft.com/office/drawing/2014/main" id="{9CB1E696-C93A-4E78-9995-FEF9D1E4C2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42768" y="3514816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4" name="统一拓扑-triage-连线-8">
            <a:extLst xmlns:a="http://schemas.openxmlformats.org/drawingml/2006/main">
              <a:ext uri="{FF2B5EF4-FFF2-40B4-BE49-F238E27FC236}">
                <a16:creationId xmlns:a16="http://schemas.microsoft.com/office/drawing/2014/main" id="{17881721-9FCB-43DA-ADAD-118311C586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5032" y="4243614"/>
            <a:ext cx="0" cy="10277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5" name="统一拓扑-triage-连线-9">
            <a:extLst xmlns:a="http://schemas.openxmlformats.org/drawingml/2006/main">
              <a:ext uri="{FF2B5EF4-FFF2-40B4-BE49-F238E27FC236}">
                <a16:creationId xmlns:a16="http://schemas.microsoft.com/office/drawing/2014/main" id="{D5EFF9D2-322D-4A2A-8646-4F06CED6267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25270" y="4346394"/>
            <a:ext cx="999762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6" name="统一拓扑-triage-连线-10">
            <a:extLst xmlns:a="http://schemas.openxmlformats.org/drawingml/2006/main">
              <a:ext uri="{FF2B5EF4-FFF2-40B4-BE49-F238E27FC236}">
                <a16:creationId xmlns:a16="http://schemas.microsoft.com/office/drawing/2014/main" id="{2E1B0D13-4483-42C5-B984-13BE07242A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5270" y="4346394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7" name="统一拓扑-triage-连线-11">
            <a:extLst xmlns:a="http://schemas.openxmlformats.org/drawingml/2006/main">
              <a:ext uri="{FF2B5EF4-FFF2-40B4-BE49-F238E27FC236}">
                <a16:creationId xmlns:a16="http://schemas.microsoft.com/office/drawing/2014/main" id="{16C2B563-D562-4DFF-A432-CA74B0EB88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5032" y="4243614"/>
            <a:ext cx="0" cy="10277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8" name="统一拓扑-triage-连线-12">
            <a:extLst xmlns:a="http://schemas.openxmlformats.org/drawingml/2006/main">
              <a:ext uri="{FF2B5EF4-FFF2-40B4-BE49-F238E27FC236}">
                <a16:creationId xmlns:a16="http://schemas.microsoft.com/office/drawing/2014/main" id="{AE7DF3EC-9F34-4055-ACBC-E590E0F788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5032" y="4346394"/>
            <a:ext cx="962388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19" name="统一拓扑-triage-连线-13">
            <a:extLst xmlns:a="http://schemas.openxmlformats.org/drawingml/2006/main">
              <a:ext uri="{FF2B5EF4-FFF2-40B4-BE49-F238E27FC236}">
                <a16:creationId xmlns:a16="http://schemas.microsoft.com/office/drawing/2014/main" id="{94873733-8C8E-403C-BD57-CC44445D22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87420" y="4346394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0" name="统一拓扑-triage-连线-14">
            <a:extLst xmlns:a="http://schemas.openxmlformats.org/drawingml/2006/main">
              <a:ext uri="{FF2B5EF4-FFF2-40B4-BE49-F238E27FC236}">
                <a16:creationId xmlns:a16="http://schemas.microsoft.com/office/drawing/2014/main" id="{C5FA5EFF-DA61-4FDA-BC28-823EC467C5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42768" y="4243614"/>
            <a:ext cx="0" cy="10277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21" name="统一拓扑-triage-连线-15">
            <a:extLst xmlns:a="http://schemas.openxmlformats.org/drawingml/2006/main">
              <a:ext uri="{FF2B5EF4-FFF2-40B4-BE49-F238E27FC236}">
                <a16:creationId xmlns:a16="http://schemas.microsoft.com/office/drawing/2014/main" id="{3EB8E37A-1EBF-4363-80FA-12DBD31481D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580380" y="4346394"/>
            <a:ext cx="962388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22" name="统一拓扑-triage-连线-16">
            <a:extLst xmlns:a="http://schemas.openxmlformats.org/drawingml/2006/main">
              <a:ext uri="{FF2B5EF4-FFF2-40B4-BE49-F238E27FC236}">
                <a16:creationId xmlns:a16="http://schemas.microsoft.com/office/drawing/2014/main" id="{43F975C6-6640-485D-B14D-1B5099054A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80380" y="4346394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3" name="统一拓扑-triage-连线-17">
            <a:extLst xmlns:a="http://schemas.openxmlformats.org/drawingml/2006/main">
              <a:ext uri="{FF2B5EF4-FFF2-40B4-BE49-F238E27FC236}">
                <a16:creationId xmlns:a16="http://schemas.microsoft.com/office/drawing/2014/main" id="{C8BD4B6D-8AF6-48DA-8DC2-FC7387EF64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42768" y="4243614"/>
            <a:ext cx="0" cy="102779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24" name="统一拓扑-triage-连线-18">
            <a:extLst xmlns:a="http://schemas.openxmlformats.org/drawingml/2006/main">
              <a:ext uri="{FF2B5EF4-FFF2-40B4-BE49-F238E27FC236}">
                <a16:creationId xmlns:a16="http://schemas.microsoft.com/office/drawing/2014/main" id="{9CD92E5C-10E4-4964-893A-AD19F9C538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42768" y="4346394"/>
            <a:ext cx="999762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</a:ln>
        </p:spPr>
      </p:cxnSp>
      <p:cxnSp>
        <p:nvCxnSpPr>
          <p:cNvPr id="25" name="统一拓扑-triage-连线-19">
            <a:extLst xmlns:a="http://schemas.openxmlformats.org/drawingml/2006/main">
              <a:ext uri="{FF2B5EF4-FFF2-40B4-BE49-F238E27FC236}">
                <a16:creationId xmlns:a16="http://schemas.microsoft.com/office/drawing/2014/main" id="{5F7F8EE6-93F6-41C6-A835-4CFF14D957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42530" y="4346394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6" name="统一拓扑-triage-连线-20">
            <a:extLst xmlns:a="http://schemas.openxmlformats.org/drawingml/2006/main">
              <a:ext uri="{FF2B5EF4-FFF2-40B4-BE49-F238E27FC236}">
                <a16:creationId xmlns:a16="http://schemas.microsoft.com/office/drawing/2014/main" id="{E7CCAF10-5C41-4EDF-AD7F-B91F87CCF7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5270" y="5140597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triage-连线-21">
            <a:extLst xmlns:a="http://schemas.openxmlformats.org/drawingml/2006/main">
              <a:ext uri="{FF2B5EF4-FFF2-40B4-BE49-F238E27FC236}">
                <a16:creationId xmlns:a16="http://schemas.microsoft.com/office/drawing/2014/main" id="{4D203BFD-8497-46A4-97E0-B481D2EC71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5270" y="5327469"/>
            <a:ext cx="3008630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28" name="统一拓扑-triage-连线-22">
            <a:extLst xmlns:a="http://schemas.openxmlformats.org/drawingml/2006/main">
              <a:ext uri="{FF2B5EF4-FFF2-40B4-BE49-F238E27FC236}">
                <a16:creationId xmlns:a16="http://schemas.microsoft.com/office/drawing/2014/main" id="{E3285CD9-5881-47EE-9B05-DDD25BA599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87420" y="5140597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29" name="统一拓扑-triage-连线-23">
            <a:extLst xmlns:a="http://schemas.openxmlformats.org/drawingml/2006/main">
              <a:ext uri="{FF2B5EF4-FFF2-40B4-BE49-F238E27FC236}">
                <a16:creationId xmlns:a16="http://schemas.microsoft.com/office/drawing/2014/main" id="{98808CDB-9CAD-42FA-B400-93D04B86A7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87420" y="5327469"/>
            <a:ext cx="1046480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0" name="统一拓扑-triage-连线-24">
            <a:extLst xmlns:a="http://schemas.openxmlformats.org/drawingml/2006/main">
              <a:ext uri="{FF2B5EF4-FFF2-40B4-BE49-F238E27FC236}">
                <a16:creationId xmlns:a16="http://schemas.microsoft.com/office/drawing/2014/main" id="{96FC50A9-91FB-4B4E-A7B8-E720542F0E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80380" y="5140597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1" name="统一拓扑-triage-连线-25">
            <a:extLst xmlns:a="http://schemas.openxmlformats.org/drawingml/2006/main">
              <a:ext uri="{FF2B5EF4-FFF2-40B4-BE49-F238E27FC236}">
                <a16:creationId xmlns:a16="http://schemas.microsoft.com/office/drawing/2014/main" id="{5F165B11-3BD0-42B7-8C63-5205F72B7B6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33900" y="5327469"/>
            <a:ext cx="1046480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2" name="统一拓扑-triage-连线-26">
            <a:extLst xmlns:a="http://schemas.openxmlformats.org/drawingml/2006/main">
              <a:ext uri="{FF2B5EF4-FFF2-40B4-BE49-F238E27FC236}">
                <a16:creationId xmlns:a16="http://schemas.microsoft.com/office/drawing/2014/main" id="{9E58DB9D-36E5-4C8A-981E-A793604CE6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42530" y="5140597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3" name="统一拓扑-triage-连线-27">
            <a:extLst xmlns:a="http://schemas.openxmlformats.org/drawingml/2006/main">
              <a:ext uri="{FF2B5EF4-FFF2-40B4-BE49-F238E27FC236}">
                <a16:creationId xmlns:a16="http://schemas.microsoft.com/office/drawing/2014/main" id="{A8B3A87C-C842-49CD-BC05-7C5F7851B8B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33900" y="5327469"/>
            <a:ext cx="3008630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34" name="统一拓扑-triage-连线-28">
            <a:extLst xmlns:a="http://schemas.openxmlformats.org/drawingml/2006/main">
              <a:ext uri="{FF2B5EF4-FFF2-40B4-BE49-F238E27FC236}">
                <a16:creationId xmlns:a16="http://schemas.microsoft.com/office/drawing/2014/main" id="{BFA42E42-BCE9-4A51-BC4F-88092D666F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5327469"/>
            <a:ext cx="0" cy="140154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triage 业务访问失败玻璃后沿-757">
            <a:extLst xmlns:a="http://schemas.openxmlformats.org/drawingml/2006/main">
              <a:ext uri="{FF2B5EF4-FFF2-40B4-BE49-F238E27FC236}">
                <a16:creationId xmlns:a16="http://schemas.microsoft.com/office/drawing/2014/main" id="{47809BEF-5FA5-4501-922E-34D351D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047875"/>
            <a:ext cx="3176814" cy="513896"/>
          </a:xfrm>
          <a:prstGeom xmlns:a="http://schemas.openxmlformats.org/drawingml/2006/main" prst="roundRect">
            <a:avLst>
              <a:gd name="adj" fmla="val 1668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6" name="统一风格-triage 业务访问失败-758">
            <a:extLst xmlns:a="http://schemas.openxmlformats.org/drawingml/2006/main">
              <a:ext uri="{FF2B5EF4-FFF2-40B4-BE49-F238E27FC236}">
                <a16:creationId xmlns:a16="http://schemas.microsoft.com/office/drawing/2014/main" id="{B1A686AE-5279-4AFC-BFDA-5ECC9D0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047875"/>
            <a:ext cx="3176814" cy="513896"/>
          </a:xfrm>
          <a:prstGeom xmlns:a="http://schemas.openxmlformats.org/drawingml/2006/main" prst="roundRect">
            <a:avLst>
              <a:gd name="adj" fmla="val 1668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triage 业务访问失败玻璃内沿-759">
            <a:extLst xmlns:a="http://schemas.openxmlformats.org/drawingml/2006/main">
              <a:ext uri="{FF2B5EF4-FFF2-40B4-BE49-F238E27FC236}">
                <a16:creationId xmlns:a16="http://schemas.microsoft.com/office/drawing/2014/main" id="{5C28CAC5-99F5-4B96-BBF0-8BF347E2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52" y="2060734"/>
            <a:ext cx="3151097" cy="488179"/>
          </a:xfrm>
          <a:prstGeom xmlns:a="http://schemas.openxmlformats.org/drawingml/2006/main" prst="roundRect">
            <a:avLst>
              <a:gd name="adj" fmla="val 150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triage 业务访问失败边缘高光-760">
            <a:extLst xmlns:a="http://schemas.openxmlformats.org/drawingml/2006/main">
              <a:ext uri="{FF2B5EF4-FFF2-40B4-BE49-F238E27FC236}">
                <a16:creationId xmlns:a16="http://schemas.microsoft.com/office/drawing/2014/main" id="{68580D10-CC07-475B-A93A-5402B471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047875"/>
            <a:ext cx="3176814" cy="513896"/>
          </a:xfrm>
          <a:custGeom xmlns:a="http://schemas.openxmlformats.org/drawingml/2006/main">
            <a:pathLst>
              <a:path w="3176814" h="513896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文字 业务访问失败-761">
            <a:extLst xmlns:a="http://schemas.openxmlformats.org/drawingml/2006/main">
              <a:ext uri="{FF2B5EF4-FFF2-40B4-BE49-F238E27FC236}">
                <a16:creationId xmlns:a16="http://schemas.microsoft.com/office/drawing/2014/main" id="{ABA4558E-6918-4DCA-8E34-8E7408B7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2113280"/>
            <a:ext cx="2989943" cy="383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业务访问失败</a:t>
            </a:r>
          </a:p>
        </p:txBody>
      </p:sp>
      <p:sp>
        <p:nvSpPr>
          <p:cNvPr id="40" name="统一风格-triage 源、目的、时间确认玻璃后沿-762">
            <a:extLst xmlns:a="http://schemas.openxmlformats.org/drawingml/2006/main">
              <a:ext uri="{FF2B5EF4-FFF2-40B4-BE49-F238E27FC236}">
                <a16:creationId xmlns:a16="http://schemas.microsoft.com/office/drawing/2014/main" id="{C6B1A851-079B-484B-A3B5-721BB25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823391"/>
            <a:ext cx="3176814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1" name="统一风格-triage 源、目的、时间确认-763">
            <a:extLst xmlns:a="http://schemas.openxmlformats.org/drawingml/2006/main">
              <a:ext uri="{FF2B5EF4-FFF2-40B4-BE49-F238E27FC236}">
                <a16:creationId xmlns:a16="http://schemas.microsoft.com/office/drawing/2014/main" id="{4553EDB2-0F79-4B8F-ACBF-C1CC15C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823391"/>
            <a:ext cx="3176814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2" name="统一风格-triage 源、目的、时间确认玻璃内沿-764">
            <a:extLst xmlns:a="http://schemas.openxmlformats.org/drawingml/2006/main">
              <a:ext uri="{FF2B5EF4-FFF2-40B4-BE49-F238E27FC236}">
                <a16:creationId xmlns:a16="http://schemas.microsoft.com/office/drawing/2014/main" id="{5241682D-CDD4-42D2-9245-7534786C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52" y="2836250"/>
            <a:ext cx="3151097" cy="516210"/>
          </a:xfrm>
          <a:prstGeom xmlns:a="http://schemas.openxmlformats.org/drawingml/2006/main" prst="roundRect">
            <a:avLst>
              <a:gd name="adj" fmla="val 14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3" name="统一风格-triage 源、目的、时间确认边缘高光-765">
            <a:extLst xmlns:a="http://schemas.openxmlformats.org/drawingml/2006/main">
              <a:ext uri="{FF2B5EF4-FFF2-40B4-BE49-F238E27FC236}">
                <a16:creationId xmlns:a16="http://schemas.microsoft.com/office/drawing/2014/main" id="{5B34B5CF-AF45-4172-9552-8FFA36E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93" y="2823391"/>
            <a:ext cx="3176814" cy="541927"/>
          </a:xfrm>
          <a:custGeom xmlns:a="http://schemas.openxmlformats.org/drawingml/2006/main">
            <a:pathLst>
              <a:path w="3176814" h="541927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4" name="统一风格-文字 源、目的、时间确认-766">
            <a:extLst xmlns:a="http://schemas.openxmlformats.org/drawingml/2006/main">
              <a:ext uri="{FF2B5EF4-FFF2-40B4-BE49-F238E27FC236}">
                <a16:creationId xmlns:a16="http://schemas.microsoft.com/office/drawing/2014/main" id="{09F23C3C-19B6-4569-894E-6821056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2888796"/>
            <a:ext cx="2989943" cy="411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源、目的、时间确认</a:t>
            </a:r>
          </a:p>
        </p:txBody>
      </p:sp>
      <p:sp>
        <p:nvSpPr>
          <p:cNvPr id="45" name="统一风格-triage 有 CFW 日志玻璃后沿-767">
            <a:extLst xmlns:a="http://schemas.openxmlformats.org/drawingml/2006/main">
              <a:ext uri="{FF2B5EF4-FFF2-40B4-BE49-F238E27FC236}">
                <a16:creationId xmlns:a16="http://schemas.microsoft.com/office/drawing/2014/main" id="{5557049D-9E50-4E04-B06E-81A93F8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701687"/>
            <a:ext cx="2989943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6" name="统一风格-triage 有 CFW 日志-768">
            <a:extLst xmlns:a="http://schemas.openxmlformats.org/drawingml/2006/main">
              <a:ext uri="{FF2B5EF4-FFF2-40B4-BE49-F238E27FC236}">
                <a16:creationId xmlns:a16="http://schemas.microsoft.com/office/drawing/2014/main" id="{85A2C233-55D9-465E-9614-4B011E3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701687"/>
            <a:ext cx="2989943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7" name="统一风格-triage 有 CFW 日志玻璃内沿-769">
            <a:extLst xmlns:a="http://schemas.openxmlformats.org/drawingml/2006/main">
              <a:ext uri="{FF2B5EF4-FFF2-40B4-BE49-F238E27FC236}">
                <a16:creationId xmlns:a16="http://schemas.microsoft.com/office/drawing/2014/main" id="{36EADE7A-207A-446B-8195-7946DA8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19" y="3714546"/>
            <a:ext cx="2964225" cy="516210"/>
          </a:xfrm>
          <a:prstGeom xmlns:a="http://schemas.openxmlformats.org/drawingml/2006/main" prst="roundRect">
            <a:avLst>
              <a:gd name="adj" fmla="val 14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8" name="统一风格-triage 有 CFW 日志边缘高光-770">
            <a:extLst xmlns:a="http://schemas.openxmlformats.org/drawingml/2006/main">
              <a:ext uri="{FF2B5EF4-FFF2-40B4-BE49-F238E27FC236}">
                <a16:creationId xmlns:a16="http://schemas.microsoft.com/office/drawing/2014/main" id="{ECF2D295-E876-46CA-8AE6-E121315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701687"/>
            <a:ext cx="2989943" cy="541927"/>
          </a:xfrm>
          <a:custGeom xmlns:a="http://schemas.openxmlformats.org/drawingml/2006/main"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文字 有 CFW 日志-771">
            <a:extLst xmlns:a="http://schemas.openxmlformats.org/drawingml/2006/main">
              <a:ext uri="{FF2B5EF4-FFF2-40B4-BE49-F238E27FC236}">
                <a16:creationId xmlns:a16="http://schemas.microsoft.com/office/drawing/2014/main" id="{BA9E3AF2-293B-4B0F-BFBA-EE61D020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6" y="3767092"/>
            <a:ext cx="2803071" cy="411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有 CFW 日志</a:t>
            </a:r>
          </a:p>
        </p:txBody>
      </p:sp>
      <p:sp>
        <p:nvSpPr>
          <p:cNvPr id="50" name="统一风格-triage 暂未查到日志玻璃后沿-772">
            <a:extLst xmlns:a="http://schemas.openxmlformats.org/drawingml/2006/main">
              <a:ext uri="{FF2B5EF4-FFF2-40B4-BE49-F238E27FC236}">
                <a16:creationId xmlns:a16="http://schemas.microsoft.com/office/drawing/2014/main" id="{96D9DE65-99EA-4605-ADB0-B0B4B9A7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796" y="3701687"/>
            <a:ext cx="2989943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1" name="统一风格-triage 暂未查到日志-773">
            <a:extLst xmlns:a="http://schemas.openxmlformats.org/drawingml/2006/main">
              <a:ext uri="{FF2B5EF4-FFF2-40B4-BE49-F238E27FC236}">
                <a16:creationId xmlns:a16="http://schemas.microsoft.com/office/drawing/2014/main" id="{78A2C3E8-1719-4661-B6C3-EDF1C74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796" y="3701687"/>
            <a:ext cx="2989943" cy="541927"/>
          </a:xfrm>
          <a:prstGeom xmlns:a="http://schemas.openxmlformats.org/drawingml/2006/main" prst="roundRect">
            <a:avLst>
              <a:gd name="adj" fmla="val 1581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2" name="统一风格-triage 暂未查到日志玻璃内沿-774">
            <a:extLst xmlns:a="http://schemas.openxmlformats.org/drawingml/2006/main">
              <a:ext uri="{FF2B5EF4-FFF2-40B4-BE49-F238E27FC236}">
                <a16:creationId xmlns:a16="http://schemas.microsoft.com/office/drawing/2014/main" id="{31B816B9-F409-48FA-A8CD-F55537B2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55" y="3714546"/>
            <a:ext cx="2964225" cy="516210"/>
          </a:xfrm>
          <a:prstGeom xmlns:a="http://schemas.openxmlformats.org/drawingml/2006/main" prst="roundRect">
            <a:avLst>
              <a:gd name="adj" fmla="val 14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3" name="统一风格-triage 暂未查到日志边缘高光-775">
            <a:extLst xmlns:a="http://schemas.openxmlformats.org/drawingml/2006/main">
              <a:ext uri="{FF2B5EF4-FFF2-40B4-BE49-F238E27FC236}">
                <a16:creationId xmlns:a16="http://schemas.microsoft.com/office/drawing/2014/main" id="{E83BBE8B-00CF-40CB-BE0E-381550B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796" y="3701687"/>
            <a:ext cx="2989943" cy="541927"/>
          </a:xfrm>
          <a:custGeom xmlns:a="http://schemas.openxmlformats.org/drawingml/2006/main"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文字 暂未查到日志-776">
            <a:extLst xmlns:a="http://schemas.openxmlformats.org/drawingml/2006/main">
              <a:ext uri="{FF2B5EF4-FFF2-40B4-BE49-F238E27FC236}">
                <a16:creationId xmlns:a16="http://schemas.microsoft.com/office/drawing/2014/main" id="{9666F02D-44D2-4D20-B664-F28656E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232" y="3767092"/>
            <a:ext cx="2803071" cy="411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暂未查到日志</a:t>
            </a:r>
          </a:p>
        </p:txBody>
      </p:sp>
      <p:sp>
        <p:nvSpPr>
          <p:cNvPr id="55" name="统一风格-triage 访问控制动作&#10;与命中规则玻璃后沿-777">
            <a:extLst xmlns:a="http://schemas.openxmlformats.org/drawingml/2006/main">
              <a:ext uri="{FF2B5EF4-FFF2-40B4-BE49-F238E27FC236}">
                <a16:creationId xmlns:a16="http://schemas.microsoft.com/office/drawing/2014/main" id="{B7536D4D-9457-4F20-B876-B27BB64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7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6" name="统一风格-triage 访问控制动作&#10;与命中规则-778">
            <a:extLst xmlns:a="http://schemas.openxmlformats.org/drawingml/2006/main">
              <a:ext uri="{FF2B5EF4-FFF2-40B4-BE49-F238E27FC236}">
                <a16:creationId xmlns:a16="http://schemas.microsoft.com/office/drawing/2014/main" id="{233FC64F-9787-4F3C-90A4-AFA00E63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7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triage 访问控制动作&#10;与命中规则玻璃内沿-779">
            <a:extLst xmlns:a="http://schemas.openxmlformats.org/drawingml/2006/main">
              <a:ext uri="{FF2B5EF4-FFF2-40B4-BE49-F238E27FC236}">
                <a16:creationId xmlns:a16="http://schemas.microsoft.com/office/drawing/2014/main" id="{29584099-2C44-4FA9-84EB-B7B3953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3" y="4546124"/>
            <a:ext cx="1730874" cy="581615"/>
          </a:xfrm>
          <a:prstGeom xmlns:a="http://schemas.openxmlformats.org/drawingml/2006/main" prst="roundRect">
            <a:avLst>
              <a:gd name="adj" fmla="val 126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triage 访问控制动作&#10;与命中规则边缘高光-780">
            <a:extLst xmlns:a="http://schemas.openxmlformats.org/drawingml/2006/main">
              <a:ext uri="{FF2B5EF4-FFF2-40B4-BE49-F238E27FC236}">
                <a16:creationId xmlns:a16="http://schemas.microsoft.com/office/drawing/2014/main" id="{B5AA11ED-E304-449C-ADC5-5579CBC6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74" y="4533265"/>
            <a:ext cx="1756591" cy="607332"/>
          </a:xfrm>
          <a:custGeom xmlns:a="http://schemas.openxmlformats.org/drawingml/2006/main"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9" name="统一风格-文字 访问控制动作 与命中规则-781">
            <a:extLst xmlns:a="http://schemas.openxmlformats.org/drawingml/2006/main">
              <a:ext uri="{FF2B5EF4-FFF2-40B4-BE49-F238E27FC236}">
                <a16:creationId xmlns:a16="http://schemas.microsoft.com/office/drawing/2014/main" id="{DE037D23-632C-4ADB-AAF6-B05358F4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" y="4598670"/>
            <a:ext cx="1569720" cy="47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访问控制动作</a:t>
            </a:r>
          </a:p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与命中规则</a:t>
            </a:r>
          </a:p>
        </p:txBody>
      </p:sp>
      <p:sp>
        <p:nvSpPr>
          <p:cNvPr id="60" name="统一风格-triage 攻击事件&#10;与 IPS 规则玻璃后沿-782">
            <a:extLst xmlns:a="http://schemas.openxmlformats.org/drawingml/2006/main">
              <a:ext uri="{FF2B5EF4-FFF2-40B4-BE49-F238E27FC236}">
                <a16:creationId xmlns:a16="http://schemas.microsoft.com/office/drawing/2014/main" id="{35660B5E-7511-4AF1-B15D-FF74CFC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12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1" name="统一风格-triage 攻击事件&#10;与 IPS 规则-783">
            <a:extLst xmlns:a="http://schemas.openxmlformats.org/drawingml/2006/main">
              <a:ext uri="{FF2B5EF4-FFF2-40B4-BE49-F238E27FC236}">
                <a16:creationId xmlns:a16="http://schemas.microsoft.com/office/drawing/2014/main" id="{8D13C58F-FE9C-4785-A9E3-F568D04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12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2" name="统一风格-triage 攻击事件&#10;与 IPS 规则玻璃内沿-784">
            <a:extLst xmlns:a="http://schemas.openxmlformats.org/drawingml/2006/main">
              <a:ext uri="{FF2B5EF4-FFF2-40B4-BE49-F238E27FC236}">
                <a16:creationId xmlns:a16="http://schemas.microsoft.com/office/drawing/2014/main" id="{1B69582E-DF3D-4F85-8A08-189B8B2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83" y="4546124"/>
            <a:ext cx="1730874" cy="581615"/>
          </a:xfrm>
          <a:prstGeom xmlns:a="http://schemas.openxmlformats.org/drawingml/2006/main" prst="roundRect">
            <a:avLst>
              <a:gd name="adj" fmla="val 126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3" name="统一风格-triage 攻击事件&#10;与 IPS 规则边缘高光-785">
            <a:extLst xmlns:a="http://schemas.openxmlformats.org/drawingml/2006/main">
              <a:ext uri="{FF2B5EF4-FFF2-40B4-BE49-F238E27FC236}">
                <a16:creationId xmlns:a16="http://schemas.microsoft.com/office/drawing/2014/main" id="{DC8578F8-ED5D-44D7-966D-1592C39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124" y="4533265"/>
            <a:ext cx="1756591" cy="607332"/>
          </a:xfrm>
          <a:custGeom xmlns:a="http://schemas.openxmlformats.org/drawingml/2006/main"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4" name="统一风格-文字 攻击事件 与 IPS 规则-786">
            <a:extLst xmlns:a="http://schemas.openxmlformats.org/drawingml/2006/main">
              <a:ext uri="{FF2B5EF4-FFF2-40B4-BE49-F238E27FC236}">
                <a16:creationId xmlns:a16="http://schemas.microsoft.com/office/drawing/2014/main" id="{4E715D38-F8CD-439A-834E-A66E6F51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60" y="4598670"/>
            <a:ext cx="1569720" cy="47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攻击事件</a:t>
            </a:r>
          </a:p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 IPS 规则</a:t>
            </a:r>
          </a:p>
        </p:txBody>
      </p:sp>
      <p:sp>
        <p:nvSpPr>
          <p:cNvPr id="65" name="统一风格-triage 实例、边界&#10;与上报条件玻璃后沿-787">
            <a:extLst xmlns:a="http://schemas.openxmlformats.org/drawingml/2006/main">
              <a:ext uri="{FF2B5EF4-FFF2-40B4-BE49-F238E27FC236}">
                <a16:creationId xmlns:a16="http://schemas.microsoft.com/office/drawing/2014/main" id="{0D096202-EF0E-4187-B2C7-4BCC8BF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27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6" name="统一风格-triage 实例、边界&#10;与上报条件-788">
            <a:extLst xmlns:a="http://schemas.openxmlformats.org/drawingml/2006/main">
              <a:ext uri="{FF2B5EF4-FFF2-40B4-BE49-F238E27FC236}">
                <a16:creationId xmlns:a16="http://schemas.microsoft.com/office/drawing/2014/main" id="{74370252-1F54-4366-957F-F5DF21C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27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7" name="统一风格-triage 实例、边界&#10;与上报条件玻璃内沿-789">
            <a:extLst xmlns:a="http://schemas.openxmlformats.org/drawingml/2006/main">
              <a:ext uri="{FF2B5EF4-FFF2-40B4-BE49-F238E27FC236}">
                <a16:creationId xmlns:a16="http://schemas.microsoft.com/office/drawing/2014/main" id="{3861C3C9-3825-4B8D-8B9F-10DC537A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33" y="4546124"/>
            <a:ext cx="1730874" cy="581615"/>
          </a:xfrm>
          <a:prstGeom xmlns:a="http://schemas.openxmlformats.org/drawingml/2006/main" prst="roundRect">
            <a:avLst>
              <a:gd name="adj" fmla="val 126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8" name="统一风格-triage 实例、边界&#10;与上报条件边缘高光-790">
            <a:extLst xmlns:a="http://schemas.openxmlformats.org/drawingml/2006/main">
              <a:ext uri="{FF2B5EF4-FFF2-40B4-BE49-F238E27FC236}">
                <a16:creationId xmlns:a16="http://schemas.microsoft.com/office/drawing/2014/main" id="{17904F5C-9BEE-46B7-88C2-B03EF1DF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274" y="4533265"/>
            <a:ext cx="1756591" cy="607332"/>
          </a:xfrm>
          <a:custGeom xmlns:a="http://schemas.openxmlformats.org/drawingml/2006/main"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9" name="统一风格-文字 实例、边界 与上报条件-791">
            <a:extLst xmlns:a="http://schemas.openxmlformats.org/drawingml/2006/main">
              <a:ext uri="{FF2B5EF4-FFF2-40B4-BE49-F238E27FC236}">
                <a16:creationId xmlns:a16="http://schemas.microsoft.com/office/drawing/2014/main" id="{F4AF10B3-3609-4761-890F-2C7A66BA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710" y="4598670"/>
            <a:ext cx="1569720" cy="47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实例、边界</a:t>
            </a:r>
          </a:p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</a:t>
            </a:r>
          </a:p>
        </p:txBody>
      </p:sp>
      <p:sp>
        <p:nvSpPr>
          <p:cNvPr id="70" name="统一风格-triage 路由与引流&#10;覆盖玻璃后沿-792">
            <a:extLst xmlns:a="http://schemas.openxmlformats.org/drawingml/2006/main">
              <a:ext uri="{FF2B5EF4-FFF2-40B4-BE49-F238E27FC236}">
                <a16:creationId xmlns:a16="http://schemas.microsoft.com/office/drawing/2014/main" id="{B98F2582-7967-4944-8DBC-BC18C38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2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1" name="统一风格-triage 路由与引流&#10;覆盖-793">
            <a:extLst xmlns:a="http://schemas.openxmlformats.org/drawingml/2006/main">
              <a:ext uri="{FF2B5EF4-FFF2-40B4-BE49-F238E27FC236}">
                <a16:creationId xmlns:a16="http://schemas.microsoft.com/office/drawing/2014/main" id="{EC109E66-884E-4BE6-A63B-C4240AC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24" y="4533265"/>
            <a:ext cx="1756591" cy="607332"/>
          </a:xfrm>
          <a:prstGeom xmlns:a="http://schemas.openxmlformats.org/drawingml/2006/main" prst="roundRect">
            <a:avLst>
              <a:gd name="adj" fmla="val 1411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2" name="统一风格-triage 路由与引流&#10;覆盖玻璃内沿-794">
            <a:extLst xmlns:a="http://schemas.openxmlformats.org/drawingml/2006/main">
              <a:ext uri="{FF2B5EF4-FFF2-40B4-BE49-F238E27FC236}">
                <a16:creationId xmlns:a16="http://schemas.microsoft.com/office/drawing/2014/main" id="{C912C8BD-A2C3-4C2A-A906-B597078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283" y="4546124"/>
            <a:ext cx="1730874" cy="581615"/>
          </a:xfrm>
          <a:prstGeom xmlns:a="http://schemas.openxmlformats.org/drawingml/2006/main" prst="roundRect">
            <a:avLst>
              <a:gd name="adj" fmla="val 1261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3" name="统一风格-triage 路由与引流&#10;覆盖边缘高光-795">
            <a:extLst xmlns:a="http://schemas.openxmlformats.org/drawingml/2006/main">
              <a:ext uri="{FF2B5EF4-FFF2-40B4-BE49-F238E27FC236}">
                <a16:creationId xmlns:a16="http://schemas.microsoft.com/office/drawing/2014/main" id="{F1E779EE-7160-4B89-BF58-1986DCB9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24" y="4533265"/>
            <a:ext cx="1756591" cy="607332"/>
          </a:xfrm>
          <a:custGeom xmlns:a="http://schemas.openxmlformats.org/drawingml/2006/main"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4" name="统一风格-文字 路由与引流 覆盖-796">
            <a:extLst xmlns:a="http://schemas.openxmlformats.org/drawingml/2006/main">
              <a:ext uri="{FF2B5EF4-FFF2-40B4-BE49-F238E27FC236}">
                <a16:creationId xmlns:a16="http://schemas.microsoft.com/office/drawing/2014/main" id="{BD2365BD-0624-4D64-BD94-F55863E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860" y="4598670"/>
            <a:ext cx="1569720" cy="47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路由与引流</a:t>
            </a:r>
          </a:p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75" name="统一风格-triage 安全组、主机防火墙、服务监听玻璃后沿-797">
            <a:extLst xmlns:a="http://schemas.openxmlformats.org/drawingml/2006/main">
              <a:ext uri="{FF2B5EF4-FFF2-40B4-BE49-F238E27FC236}">
                <a16:creationId xmlns:a16="http://schemas.microsoft.com/office/drawing/2014/main" id="{9CA45A04-6F0D-46DD-9AC0-4B0F0FCA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6" y="5467622"/>
            <a:ext cx="5045529" cy="467179"/>
          </a:xfrm>
          <a:prstGeom xmlns:a="http://schemas.openxmlformats.org/drawingml/2006/main" prst="roundRect">
            <a:avLst>
              <a:gd name="adj" fmla="val 1835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6" name="统一风格-triage 安全组、主机防火墙、服务监听-798">
            <a:extLst xmlns:a="http://schemas.openxmlformats.org/drawingml/2006/main">
              <a:ext uri="{FF2B5EF4-FFF2-40B4-BE49-F238E27FC236}">
                <a16:creationId xmlns:a16="http://schemas.microsoft.com/office/drawing/2014/main" id="{D1BDD607-C9CB-4DDF-A37D-EFFD243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6" y="5467622"/>
            <a:ext cx="5045529" cy="467179"/>
          </a:xfrm>
          <a:prstGeom xmlns:a="http://schemas.openxmlformats.org/drawingml/2006/main" prst="roundRect">
            <a:avLst>
              <a:gd name="adj" fmla="val 1835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7" name="统一风格-triage 安全组、主机防火墙、服务监听玻璃内沿-799">
            <a:extLst xmlns:a="http://schemas.openxmlformats.org/drawingml/2006/main">
              <a:ext uri="{FF2B5EF4-FFF2-40B4-BE49-F238E27FC236}">
                <a16:creationId xmlns:a16="http://schemas.microsoft.com/office/drawing/2014/main" id="{2831C6DD-F100-486A-B15E-8B49026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994" y="5480481"/>
            <a:ext cx="5019811" cy="441461"/>
          </a:xfrm>
          <a:prstGeom xmlns:a="http://schemas.openxmlformats.org/drawingml/2006/main" prst="roundRect">
            <a:avLst>
              <a:gd name="adj" fmla="val 1661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8" name="统一风格-triage 安全组、主机防火墙、服务监听边缘高光-800">
            <a:extLst xmlns:a="http://schemas.openxmlformats.org/drawingml/2006/main">
              <a:ext uri="{FF2B5EF4-FFF2-40B4-BE49-F238E27FC236}">
                <a16:creationId xmlns:a16="http://schemas.microsoft.com/office/drawing/2014/main" id="{A3FDABD3-9D5D-497A-BD71-D3ED9438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6" y="5467622"/>
            <a:ext cx="5045529" cy="467179"/>
          </a:xfrm>
          <a:custGeom xmlns:a="http://schemas.openxmlformats.org/drawingml/2006/main">
            <a:pathLst>
              <a:path w="5045529" h="467179">
                <a:moveTo>
                  <a:pt x="95250" y="9525"/>
                </a:moveTo>
                <a:lnTo>
                  <a:pt x="4950279" y="9525"/>
                </a:lnTo>
                <a:cubicBezTo>
                  <a:pt x="4997904" y="9525"/>
                  <a:pt x="5036004" y="47625"/>
                  <a:pt x="503600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9" name="统一风格-文字 安全组、主机防火墙、服务监听-801">
            <a:extLst xmlns:a="http://schemas.openxmlformats.org/drawingml/2006/main">
              <a:ext uri="{FF2B5EF4-FFF2-40B4-BE49-F238E27FC236}">
                <a16:creationId xmlns:a16="http://schemas.microsoft.com/office/drawing/2014/main" id="{BBD2449B-9332-41DE-9D24-2FB321B0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571" y="5533027"/>
            <a:ext cx="4858657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安全组、主机防火墙、服务监听</a:t>
            </a:r>
          </a:p>
        </p:txBody>
      </p:sp>
      <p:sp>
        <p:nvSpPr>
          <p:cNvPr id="8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BC429696-861E-4F7E-891C-A2738F78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8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6C9F552-956C-4EF0-AEEC-4E4FF21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2" name="txt-81">
            <a:extLst xmlns:a="http://schemas.openxmlformats.org/drawingml/2006/main">
              <a:ext uri="{FF2B5EF4-FFF2-40B4-BE49-F238E27FC236}">
                <a16:creationId xmlns:a16="http://schemas.microsoft.com/office/drawing/2014/main" id="{1ED63414-9B24-44A2-BBED-A7E0C8DC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有日志</a:t>
            </a:r>
          </a:p>
        </p:txBody>
      </p:sp>
      <p:sp>
        <p:nvSpPr>
          <p:cNvPr id="83" name="txt-82">
            <a:extLst xmlns:a="http://schemas.openxmlformats.org/drawingml/2006/main">
              <a:ext uri="{FF2B5EF4-FFF2-40B4-BE49-F238E27FC236}">
                <a16:creationId xmlns:a16="http://schemas.microsoft.com/office/drawing/2014/main" id="{AEF8A369-144A-4811-894E-DA33721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看访问控制动作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再看攻击事件与 IPS</a:t>
            </a:r>
          </a:p>
        </p:txBody>
      </p:sp>
      <p:sp>
        <p:nvSpPr>
          <p:cNvPr id="8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76AB14F-7AB1-4082-B7EB-97647A4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5" name="txt-84">
            <a:extLst xmlns:a="http://schemas.openxmlformats.org/drawingml/2006/main">
              <a:ext uri="{FF2B5EF4-FFF2-40B4-BE49-F238E27FC236}">
                <a16:creationId xmlns:a16="http://schemas.microsoft.com/office/drawing/2014/main" id="{02C27D23-1224-4F71-ADCF-FD6357BE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无即时日志</a:t>
            </a:r>
          </a:p>
        </p:txBody>
      </p:sp>
      <p:sp>
        <p:nvSpPr>
          <p:cNvPr id="86" name="txt-85">
            <a:extLst xmlns:a="http://schemas.openxmlformats.org/drawingml/2006/main">
              <a:ext uri="{FF2B5EF4-FFF2-40B4-BE49-F238E27FC236}">
                <a16:creationId xmlns:a16="http://schemas.microsoft.com/office/drawing/2014/main" id="{E0E6FDC9-64BB-4E40-875B-5AC730C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核对筛选、上报和路径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避免直接增加 Any 放行</a:t>
            </a:r>
          </a:p>
        </p:txBody>
      </p:sp>
      <p:sp>
        <p:nvSpPr>
          <p:cNvPr id="8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FA86ADA-BF39-4FD3-B161-93389A2A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88" name="txt-87">
            <a:extLst xmlns:a="http://schemas.openxmlformats.org/drawingml/2006/main">
              <a:ext uri="{FF2B5EF4-FFF2-40B4-BE49-F238E27FC236}">
                <a16:creationId xmlns:a16="http://schemas.microsoft.com/office/drawing/2014/main" id="{98B77C79-9A52-48D3-A013-840496E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端到端</a:t>
            </a:r>
          </a:p>
        </p:txBody>
      </p:sp>
      <p:sp>
        <p:nvSpPr>
          <p:cNvPr id="89" name="txt-88">
            <a:extLst xmlns:a="http://schemas.openxmlformats.org/drawingml/2006/main">
              <a:ext uri="{FF2B5EF4-FFF2-40B4-BE49-F238E27FC236}">
                <a16:creationId xmlns:a16="http://schemas.microsoft.com/office/drawing/2014/main" id="{BED32468-4A51-4372-8217-D744304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57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源端确认是否发出，</ns0:t>
            </ns0:r>
          </ns0:p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目标端确认收到与监听。</ns1:t>
            </ns1:r>
          </ns1:p>
        </p:txBody>
      </p:sp>
    </p:spTree>
    <p:extLst>
      <p:ext uri="{BB962C8B-B14F-4D97-AF65-F5344CB8AC3E}">
        <p14:creationId xmlns:p14="http://schemas.microsoft.com/office/powerpoint/2010/main" val="12109602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7302153D-5156-4DDE-9B2A-468CF042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42D9513-0D3C-47C0-AB33-C534D88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案例一：CFW 放行后仍然连接超时</a:t>
            </a:r>
          </a:p>
        </p:txBody>
      </p:sp>
      <p:sp>
        <p:nvSpPr>
          <p:cNvPr id="3" name="正文-双向引流正常、CFW 已放行，目标服务已监听；继续检查目的端安全组">
            <a:extLst xmlns:a="http://schemas.openxmlformats.org/drawingml/2006/main">
              <a:ext uri="{FF2B5EF4-FFF2-40B4-BE49-F238E27FC236}">
                <a16:creationId xmlns:a16="http://schemas.microsoft.com/office/drawing/2014/main" id="{D129975E-E059-4F37-A49C-4D0BE7F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双向引流正常、CFW 已放行，目标服务已监听；继续检查目的端安全组</ns0:t>
            </ns0:r>
          </ns0:p>
        </p:txBody>
      </p:sp>
      <p:sp>
        <p:nvSpPr>
          <p:cNvPr id="4" name="正文-场景前提：无 NAT，源端出方向及其他控制层正常。">
            <a:extLst xmlns:a="http://schemas.openxmlformats.org/drawingml/2006/main">
              <a:ext uri="{FF2B5EF4-FFF2-40B4-BE49-F238E27FC236}">
                <a16:creationId xmlns:a16="http://schemas.microsoft.com/office/drawing/2014/main" id="{AC3BA2CB-825F-4AF6-9272-F31C0D5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场景前提：无 NAT，源端出方向及其他控制层正常。</ns1:t>
            </ns1:r>
          </ns1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711AD9B8-93BC-4E8A-A714-F1AC5CA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4">
            <a:extLst xmlns:a="http://schemas.openxmlformats.org/drawingml/2006/main">
              <a:ext uri="{FF2B5EF4-FFF2-40B4-BE49-F238E27FC236}">
                <a16:creationId xmlns:a16="http://schemas.microsoft.com/office/drawing/2014/main" id="{C31A2592-0FB4-442A-BF8E-4EB7E0CA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73</ns0:t>
            </ns0:r>
          </ns0:p>
        </p:txBody>
      </p:sp>
      <p:sp>
        <p:nvSpPr>
          <p:cNvPr id="7" name="统一风格-case-sg 应用服务器玻璃后沿-802">
            <a:extLst xmlns:a="http://schemas.openxmlformats.org/drawingml/2006/main">
              <a:ext uri="{FF2B5EF4-FFF2-40B4-BE49-F238E27FC236}">
                <a16:creationId xmlns:a16="http://schemas.microsoft.com/office/drawing/2014/main" id="{57272AD3-1341-4B1D-9EEB-5B898CA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case-sg 应用服务器-803">
            <a:extLst xmlns:a="http://schemas.openxmlformats.org/drawingml/2006/main">
              <a:ext uri="{FF2B5EF4-FFF2-40B4-BE49-F238E27FC236}">
                <a16:creationId xmlns:a16="http://schemas.microsoft.com/office/drawing/2014/main" id="{8F467E82-674B-4238-A273-FAB7C9E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case-sg 应用服务器玻璃内沿-804">
            <a:extLst xmlns:a="http://schemas.openxmlformats.org/drawingml/2006/main">
              <a:ext uri="{FF2B5EF4-FFF2-40B4-BE49-F238E27FC236}">
                <a16:creationId xmlns:a16="http://schemas.microsoft.com/office/drawing/2014/main" id="{78C25761-4167-423A-B951-844FD45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761502"/>
            <a:ext cx="1515972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case-sg 应用服务器透光反射面-805">
            <a:extLst xmlns:a="http://schemas.openxmlformats.org/drawingml/2006/main">
              <a:ext uri="{FF2B5EF4-FFF2-40B4-BE49-F238E27FC236}">
                <a16:creationId xmlns:a16="http://schemas.microsoft.com/office/drawing/2014/main" id="{6C656D01-4EA4-404E-BC86-332E685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7693"/>
            <a:ext cx="1503589" cy="1120503"/>
          </a:xfrm>
          <a:custGeom xmlns:a="http://schemas.openxmlformats.org/drawingml/2006/main"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case-sg 应用服务器边缘高光-806">
            <a:extLst xmlns:a="http://schemas.openxmlformats.org/drawingml/2006/main">
              <a:ext uri="{FF2B5EF4-FFF2-40B4-BE49-F238E27FC236}">
                <a16:creationId xmlns:a16="http://schemas.microsoft.com/office/drawing/2014/main" id="{E6B5AE69-42B0-4891-8B6A-7923C46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8643"/>
            <a:ext cx="1541689" cy="1158603"/>
          </a:xfrm>
          <a:custGeom xmlns:a="http://schemas.openxmlformats.org/drawingml/2006/main"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server 服务器机架-807">
            <a:extLst xmlns:a="http://schemas.openxmlformats.org/drawingml/2006/main">
              <a:ext uri="{FF2B5EF4-FFF2-40B4-BE49-F238E27FC236}">
                <a16:creationId xmlns:a16="http://schemas.microsoft.com/office/drawing/2014/main" id="{56819933-C711-49B0-B03B-76DAD0E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server 机架状态-808">
            <a:extLst xmlns:a="http://schemas.openxmlformats.org/drawingml/2006/main">
              <a:ext uri="{FF2B5EF4-FFF2-40B4-BE49-F238E27FC236}">
                <a16:creationId xmlns:a16="http://schemas.microsoft.com/office/drawing/2014/main" id="{08D864A9-F827-44FA-90A6-EFFE324D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server 指示灯-809">
            <a:extLst xmlns:a="http://schemas.openxmlformats.org/drawingml/2006/main">
              <a:ext uri="{FF2B5EF4-FFF2-40B4-BE49-F238E27FC236}">
                <a16:creationId xmlns:a16="http://schemas.microsoft.com/office/drawing/2014/main" id="{7DBAA0D1-7069-4047-925B-85246CB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" name="统一风格-server 服务器机架-810">
            <a:extLst xmlns:a="http://schemas.openxmlformats.org/drawingml/2006/main">
              <a:ext uri="{FF2B5EF4-FFF2-40B4-BE49-F238E27FC236}">
                <a16:creationId xmlns:a16="http://schemas.microsoft.com/office/drawing/2014/main" id="{2FFD240C-87EA-40E5-BD98-121B471E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6" name="统一风格-server 机架状态-811">
            <a:extLst xmlns:a="http://schemas.openxmlformats.org/drawingml/2006/main">
              <a:ext uri="{FF2B5EF4-FFF2-40B4-BE49-F238E27FC236}">
                <a16:creationId xmlns:a16="http://schemas.microsoft.com/office/drawing/2014/main" id="{C055EDF1-A53D-42E2-9D76-764F6972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7" name="统一风格-server 指示灯-812">
            <a:extLst xmlns:a="http://schemas.openxmlformats.org/drawingml/2006/main">
              <a:ext uri="{FF2B5EF4-FFF2-40B4-BE49-F238E27FC236}">
                <a16:creationId xmlns:a16="http://schemas.microsoft.com/office/drawing/2014/main" id="{62ADA3E6-9A3C-4CC5-8326-C6C29462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" name="统一风格-server 服务器机架-813">
            <a:extLst xmlns:a="http://schemas.openxmlformats.org/drawingml/2006/main">
              <a:ext uri="{FF2B5EF4-FFF2-40B4-BE49-F238E27FC236}">
                <a16:creationId xmlns:a16="http://schemas.microsoft.com/office/drawing/2014/main" id="{AAC7FAF5-B16D-4A75-A443-97308899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9" name="统一风格-server 机架状态-814">
            <a:extLst xmlns:a="http://schemas.openxmlformats.org/drawingml/2006/main">
              <a:ext uri="{FF2B5EF4-FFF2-40B4-BE49-F238E27FC236}">
                <a16:creationId xmlns:a16="http://schemas.microsoft.com/office/drawing/2014/main" id="{5458A929-00D1-4546-9402-AAE5A8B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0" name="统一风格-server 指示灯-815">
            <a:extLst xmlns:a="http://schemas.openxmlformats.org/drawingml/2006/main">
              <a:ext uri="{FF2B5EF4-FFF2-40B4-BE49-F238E27FC236}">
                <a16:creationId xmlns:a16="http://schemas.microsoft.com/office/drawing/2014/main" id="{953D0E64-21AD-40BD-8312-F9957ED2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99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" name="统一风格-文字 应用服务器-816">
            <a:extLst xmlns:a="http://schemas.openxmlformats.org/drawingml/2006/main">
              <a:ext uri="{FF2B5EF4-FFF2-40B4-BE49-F238E27FC236}">
                <a16:creationId xmlns:a16="http://schemas.microsoft.com/office/drawing/2014/main" id="{C434A81F-E9C6-4988-A3C0-50EB2664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339334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应用服务器</a:t>
            </a:r>
          </a:p>
        </p:txBody>
      </p:sp>
      <p:sp>
        <p:nvSpPr>
          <p:cNvPr id="22" name="统一风格-文字 10.20.10.15-817">
            <a:extLst xmlns:a="http://schemas.openxmlformats.org/drawingml/2006/main">
              <a:ext uri="{FF2B5EF4-FFF2-40B4-BE49-F238E27FC236}">
                <a16:creationId xmlns:a16="http://schemas.microsoft.com/office/drawing/2014/main" id="{F913E753-425A-457B-9AA3-8D55318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3981994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23" name="统一风格-case-sg CFW：放行玻璃后沿-818">
            <a:extLst xmlns:a="http://schemas.openxmlformats.org/drawingml/2006/main">
              <a:ext uri="{FF2B5EF4-FFF2-40B4-BE49-F238E27FC236}">
                <a16:creationId xmlns:a16="http://schemas.microsoft.com/office/drawing/2014/main" id="{1755FFF6-AB75-40C6-9CCF-9D425ED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统一风格-case-sg CFW：放行-819">
            <a:extLst xmlns:a="http://schemas.openxmlformats.org/drawingml/2006/main">
              <a:ext uri="{FF2B5EF4-FFF2-40B4-BE49-F238E27FC236}">
                <a16:creationId xmlns:a16="http://schemas.microsoft.com/office/drawing/2014/main" id="{75EA1E19-0862-434F-BFC9-1CACD4D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case-sg CFW：放行玻璃内沿-820">
            <a:extLst xmlns:a="http://schemas.openxmlformats.org/drawingml/2006/main">
              <a:ext uri="{FF2B5EF4-FFF2-40B4-BE49-F238E27FC236}">
                <a16:creationId xmlns:a16="http://schemas.microsoft.com/office/drawing/2014/main" id="{F0452C44-73F1-4826-8919-F5C64082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762" y="2761502"/>
            <a:ext cx="1515972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case-sg CFW：放行透光反射面-821">
            <a:extLst xmlns:a="http://schemas.openxmlformats.org/drawingml/2006/main">
              <a:ext uri="{FF2B5EF4-FFF2-40B4-BE49-F238E27FC236}">
                <a16:creationId xmlns:a16="http://schemas.microsoft.com/office/drawing/2014/main" id="{A62F8C77-3C64-420B-B8C8-DD2C1EE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954" y="2767693"/>
            <a:ext cx="1503589" cy="1120503"/>
          </a:xfrm>
          <a:custGeom xmlns:a="http://schemas.openxmlformats.org/drawingml/2006/main"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7" name="统一风格-case-sg CFW：放行边缘高光-822">
            <a:extLst xmlns:a="http://schemas.openxmlformats.org/drawingml/2006/main">
              <a:ext uri="{FF2B5EF4-FFF2-40B4-BE49-F238E27FC236}">
                <a16:creationId xmlns:a16="http://schemas.microsoft.com/office/drawing/2014/main" id="{76F07246-CB27-4EA2-ACAE-11EB8B02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4" y="2748643"/>
            <a:ext cx="1541689" cy="1158603"/>
          </a:xfrm>
          <a:custGeom xmlns:a="http://schemas.openxmlformats.org/drawingml/2006/main"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firewall CFW 砖墙-823">
            <a:extLst xmlns:a="http://schemas.openxmlformats.org/drawingml/2006/main">
              <a:ext uri="{FF2B5EF4-FFF2-40B4-BE49-F238E27FC236}">
                <a16:creationId xmlns:a16="http://schemas.microsoft.com/office/drawing/2014/main" id="{B03B37D6-9C62-4A0C-8A66-D5486FA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9" name="统一风格-firewall CFW 砖缝-824">
            <a:extLst xmlns:a="http://schemas.openxmlformats.org/drawingml/2006/main">
              <a:ext uri="{FF2B5EF4-FFF2-40B4-BE49-F238E27FC236}">
                <a16:creationId xmlns:a16="http://schemas.microsoft.com/office/drawing/2014/main" id="{081DFF4F-D62F-4781-A620-15F0291A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0" name="统一风格-firewall CFW 前景衬底-825">
            <a:extLst xmlns:a="http://schemas.openxmlformats.org/drawingml/2006/main">
              <a:ext uri="{FF2B5EF4-FFF2-40B4-BE49-F238E27FC236}">
                <a16:creationId xmlns:a16="http://schemas.microsoft.com/office/drawing/2014/main" id="{F7CC3CB8-8510-4545-B129-F0A47424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" name="统一风格-firewall CFW 简洁火焰-826">
            <a:extLst xmlns:a="http://schemas.openxmlformats.org/drawingml/2006/main">
              <a:ext uri="{FF2B5EF4-FFF2-40B4-BE49-F238E27FC236}">
                <a16:creationId xmlns:a16="http://schemas.microsoft.com/office/drawing/2014/main" id="{56E2E012-3EE8-4CE0-AA47-4FDCCE2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02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2" name="统一风格-文字 CFW：放行-827">
            <a:extLst xmlns:a="http://schemas.openxmlformats.org/drawingml/2006/main">
              <a:ext uri="{FF2B5EF4-FFF2-40B4-BE49-F238E27FC236}">
                <a16:creationId xmlns:a16="http://schemas.microsoft.com/office/drawing/2014/main" id="{0FA3E842-FCE7-4B4A-B8A9-4423D805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09" y="339334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CFW：放行</a:t>
            </a:r>
          </a:p>
        </p:txBody>
      </p:sp>
      <p:sp>
        <p:nvSpPr>
          <p:cNvPr id="33" name="统一风格-case-sg 数据安全组玻璃后沿-828">
            <a:extLst xmlns:a="http://schemas.openxmlformats.org/drawingml/2006/main">
              <a:ext uri="{FF2B5EF4-FFF2-40B4-BE49-F238E27FC236}">
                <a16:creationId xmlns:a16="http://schemas.microsoft.com/office/drawing/2014/main" id="{0F682039-998E-4CBE-ABE2-275F1A96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统一风格-case-sg 数据安全组-829">
            <a:extLst xmlns:a="http://schemas.openxmlformats.org/drawingml/2006/main">
              <a:ext uri="{FF2B5EF4-FFF2-40B4-BE49-F238E27FC236}">
                <a16:creationId xmlns:a16="http://schemas.microsoft.com/office/drawing/2014/main" id="{5BE51C6A-E4FF-4FC1-A049-0472F95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case-sg 数据安全组玻璃内沿-830">
            <a:extLst xmlns:a="http://schemas.openxmlformats.org/drawingml/2006/main">
              <a:ext uri="{FF2B5EF4-FFF2-40B4-BE49-F238E27FC236}">
                <a16:creationId xmlns:a16="http://schemas.microsoft.com/office/drawing/2014/main" id="{CF911ADA-69AD-4A65-B503-E21CBD8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66" y="2761502"/>
            <a:ext cx="1515972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case-sg 数据安全组透光反射面-831">
            <a:extLst xmlns:a="http://schemas.openxmlformats.org/drawingml/2006/main">
              <a:ext uri="{FF2B5EF4-FFF2-40B4-BE49-F238E27FC236}">
                <a16:creationId xmlns:a16="http://schemas.microsoft.com/office/drawing/2014/main" id="{15C9F246-36AB-4745-866D-E2BF184B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257" y="2767693"/>
            <a:ext cx="1503589" cy="1120503"/>
          </a:xfrm>
          <a:custGeom xmlns:a="http://schemas.openxmlformats.org/drawingml/2006/main"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7" name="统一风格-case-sg 数据安全组边缘高光-832">
            <a:extLst xmlns:a="http://schemas.openxmlformats.org/drawingml/2006/main">
              <a:ext uri="{FF2B5EF4-FFF2-40B4-BE49-F238E27FC236}">
                <a16:creationId xmlns:a16="http://schemas.microsoft.com/office/drawing/2014/main" id="{E7EBE6FB-C3CD-463B-8AD5-02DF0565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2748643"/>
            <a:ext cx="1541689" cy="1158603"/>
          </a:xfrm>
          <a:custGeom xmlns:a="http://schemas.openxmlformats.org/drawingml/2006/main"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8" name="统一风格-lock 安全盾-833">
            <a:extLst xmlns:a="http://schemas.openxmlformats.org/drawingml/2006/main">
              <a:ext uri="{FF2B5EF4-FFF2-40B4-BE49-F238E27FC236}">
                <a16:creationId xmlns:a16="http://schemas.microsoft.com/office/drawing/2014/main" id="{A8D0DE29-75CE-4FCD-A543-74F51B1E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39" name="统一风格-lock 锁梁-834">
            <a:extLst xmlns:a="http://schemas.openxmlformats.org/drawingml/2006/main">
              <a:ext uri="{FF2B5EF4-FFF2-40B4-BE49-F238E27FC236}">
                <a16:creationId xmlns:a16="http://schemas.microsoft.com/office/drawing/2014/main" id="{33382363-D9ED-41BC-953E-D04E11D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0" name="统一风格-lock 锁体-835">
            <a:extLst xmlns:a="http://schemas.openxmlformats.org/drawingml/2006/main">
              <a:ext uri="{FF2B5EF4-FFF2-40B4-BE49-F238E27FC236}">
                <a16:creationId xmlns:a16="http://schemas.microsoft.com/office/drawing/2014/main" id="{135DEBC1-DB45-4AB1-8A71-A8DA4DE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1" name="统一风格-lock 锁孔-836">
            <a:extLst xmlns:a="http://schemas.openxmlformats.org/drawingml/2006/main">
              <a:ext uri="{FF2B5EF4-FFF2-40B4-BE49-F238E27FC236}">
                <a16:creationId xmlns:a16="http://schemas.microsoft.com/office/drawing/2014/main" id="{F9A1A630-C6AF-4B90-9558-B75DFCB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06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2" name="统一风格-文字 数据安全组-837">
            <a:extLst xmlns:a="http://schemas.openxmlformats.org/drawingml/2006/main">
              <a:ext uri="{FF2B5EF4-FFF2-40B4-BE49-F238E27FC236}">
                <a16:creationId xmlns:a16="http://schemas.microsoft.com/office/drawing/2014/main" id="{DB3CCBB4-AF16-473A-9616-AD0D3B5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12" y="339334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数据安全组</a:t>
            </a:r>
          </a:p>
        </p:txBody>
      </p:sp>
      <p:sp>
        <p:nvSpPr>
          <p:cNvPr id="43" name="统一风格-case-sg 数据库玻璃后沿-838">
            <a:extLst xmlns:a="http://schemas.openxmlformats.org/drawingml/2006/main">
              <a:ext uri="{FF2B5EF4-FFF2-40B4-BE49-F238E27FC236}">
                <a16:creationId xmlns:a16="http://schemas.microsoft.com/office/drawing/2014/main" id="{442F10D1-A0F3-44F0-8143-CBC6D0CA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统一风格-case-sg 数据库-839">
            <a:extLst xmlns:a="http://schemas.openxmlformats.org/drawingml/2006/main">
              <a:ext uri="{FF2B5EF4-FFF2-40B4-BE49-F238E27FC236}">
                <a16:creationId xmlns:a16="http://schemas.microsoft.com/office/drawing/2014/main" id="{96005422-6569-4C02-834E-60102E9B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748643"/>
            <a:ext cx="1541689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5" name="统一风格-case-sg 数据库玻璃内沿-840">
            <a:extLst xmlns:a="http://schemas.openxmlformats.org/drawingml/2006/main">
              <a:ext uri="{FF2B5EF4-FFF2-40B4-BE49-F238E27FC236}">
                <a16:creationId xmlns:a16="http://schemas.microsoft.com/office/drawing/2014/main" id="{179799CD-0731-4828-B40D-15896EB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369" y="2761502"/>
            <a:ext cx="1515972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6" name="统一风格-case-sg 数据库透光反射面-841">
            <a:extLst xmlns:a="http://schemas.openxmlformats.org/drawingml/2006/main">
              <a:ext uri="{FF2B5EF4-FFF2-40B4-BE49-F238E27FC236}">
                <a16:creationId xmlns:a16="http://schemas.microsoft.com/office/drawing/2014/main" id="{448195D4-E4A2-475B-B939-0F587E3F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561" y="2767693"/>
            <a:ext cx="1503589" cy="1120503"/>
          </a:xfrm>
          <a:custGeom xmlns:a="http://schemas.openxmlformats.org/drawingml/2006/main"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7" name="统一风格-case-sg 数据库边缘高光-842">
            <a:extLst xmlns:a="http://schemas.openxmlformats.org/drawingml/2006/main">
              <a:ext uri="{FF2B5EF4-FFF2-40B4-BE49-F238E27FC236}">
                <a16:creationId xmlns:a16="http://schemas.microsoft.com/office/drawing/2014/main" id="{EB2F9C59-2278-4659-ABF4-B291D49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511" y="2748643"/>
            <a:ext cx="1541689" cy="1158603"/>
          </a:xfrm>
          <a:custGeom xmlns:a="http://schemas.openxmlformats.org/drawingml/2006/main"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8" name="统一风格-db 数据库柱体-843">
            <a:extLst xmlns:a="http://schemas.openxmlformats.org/drawingml/2006/main">
              <a:ext uri="{FF2B5EF4-FFF2-40B4-BE49-F238E27FC236}">
                <a16:creationId xmlns:a16="http://schemas.microsoft.com/office/drawing/2014/main" id="{EBA9DBC9-7A88-4CCE-92AC-FCD06D5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9" name="统一风格-db 数据库分层-844">
            <a:extLst xmlns:a="http://schemas.openxmlformats.org/drawingml/2006/main">
              <a:ext uri="{FF2B5EF4-FFF2-40B4-BE49-F238E27FC236}">
                <a16:creationId xmlns:a16="http://schemas.microsoft.com/office/drawing/2014/main" id="{F1F331EE-36B9-41AD-BE9E-8E53951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10" y="2860766"/>
            <a:ext cx="448491" cy="448491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50" name="统一风格-文字 数据库-845">
            <a:extLst xmlns:a="http://schemas.openxmlformats.org/drawingml/2006/main">
              <a:ext uri="{FF2B5EF4-FFF2-40B4-BE49-F238E27FC236}">
                <a16:creationId xmlns:a16="http://schemas.microsoft.com/office/drawing/2014/main" id="{38A2E154-83C3-43D7-B962-940DB01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916" y="3393349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51" name="统一风格-文字 10.30.20.10-846">
            <a:extLst xmlns:a="http://schemas.openxmlformats.org/drawingml/2006/main">
              <a:ext uri="{FF2B5EF4-FFF2-40B4-BE49-F238E27FC236}">
                <a16:creationId xmlns:a16="http://schemas.microsoft.com/office/drawing/2014/main" id="{AC827DE3-F7E6-4FF7-8F43-2C75648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916" y="3981994"/>
            <a:ext cx="1410879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52" name="统一拓扑-case-sg-连线-1">
            <a:extLst xmlns:a="http://schemas.openxmlformats.org/drawingml/2006/main">
              <a:ext uri="{FF2B5EF4-FFF2-40B4-BE49-F238E27FC236}">
                <a16:creationId xmlns:a16="http://schemas.microsoft.com/office/drawing/2014/main" id="{311049C5-E17F-4A08-800F-7ABCC1E662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51289" y="3327944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3" name="统一拓扑-case-sg-连线-2">
            <a:extLst xmlns:a="http://schemas.openxmlformats.org/drawingml/2006/main">
              <a:ext uri="{FF2B5EF4-FFF2-40B4-BE49-F238E27FC236}">
                <a16:creationId xmlns:a16="http://schemas.microsoft.com/office/drawing/2014/main" id="{DB95811F-7E4B-47FF-933F-04A2D87EBB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3593" y="3327944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4" name="统一拓扑-case-sg-连线-3">
            <a:extLst xmlns:a="http://schemas.openxmlformats.org/drawingml/2006/main">
              <a:ext uri="{FF2B5EF4-FFF2-40B4-BE49-F238E27FC236}">
                <a16:creationId xmlns:a16="http://schemas.microsoft.com/office/drawing/2014/main" id="{C909B903-5952-48A9-A9A5-7FF2720BFB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55896" y="3327944"/>
            <a:ext cx="56061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5" name="统一拓扑-case-sg-连线-4">
            <a:extLst xmlns:a="http://schemas.openxmlformats.org/drawingml/2006/main">
              <a:ext uri="{FF2B5EF4-FFF2-40B4-BE49-F238E27FC236}">
                <a16:creationId xmlns:a16="http://schemas.microsoft.com/office/drawing/2014/main" id="{C65615B6-2030-4934-9762-FE2E874F31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42768" y="3234509"/>
            <a:ext cx="186871" cy="186871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sg-连线-5">
            <a:extLst xmlns:a="http://schemas.openxmlformats.org/drawingml/2006/main">
              <a:ext uri="{FF2B5EF4-FFF2-40B4-BE49-F238E27FC236}">
                <a16:creationId xmlns:a16="http://schemas.microsoft.com/office/drawing/2014/main" id="{D94D5292-E96D-43B0-8FB0-FBA5C1E9A27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542768" y="3234509"/>
            <a:ext cx="186871" cy="186871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sp>
        <p:nvSpPr>
          <p:cNvPr id="57" name="统一风格-case-sg 关系文字衬底-847">
            <a:extLst xmlns:a="http://schemas.openxmlformats.org/drawingml/2006/main">
              <a:ext uri="{FF2B5EF4-FFF2-40B4-BE49-F238E27FC236}">
                <a16:creationId xmlns:a16="http://schemas.microsoft.com/office/drawing/2014/main" id="{BE2EF8EF-CD34-425F-BD6D-796FAD54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" y="2393587"/>
            <a:ext cx="1728561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58" name="统一风格-文字 TCP 3306-848">
            <a:extLst xmlns:a="http://schemas.openxmlformats.org/drawingml/2006/main">
              <a:ext uri="{FF2B5EF4-FFF2-40B4-BE49-F238E27FC236}">
                <a16:creationId xmlns:a16="http://schemas.microsoft.com/office/drawing/2014/main" id="{EBD97C1F-F6C2-4686-AB93-B24CAB4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479" y="2393587"/>
            <a:ext cx="1653812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sp>
        <p:nvSpPr>
          <p:cNvPr id="59" name="统一风格-case-sg 安全组条件玻璃后沿-849">
            <a:extLst xmlns:a="http://schemas.openxmlformats.org/drawingml/2006/main">
              <a:ext uri="{FF2B5EF4-FFF2-40B4-BE49-F238E27FC236}">
                <a16:creationId xmlns:a16="http://schemas.microsoft.com/office/drawing/2014/main" id="{7654C278-E3C7-4837-89EE-DF53249E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249" y="4692106"/>
            <a:ext cx="2429329" cy="906326"/>
          </a:xfrm>
          <a:prstGeom xmlns:a="http://schemas.openxmlformats.org/drawingml/2006/main" prst="roundRect">
            <a:avLst>
              <a:gd name="adj" fmla="val 94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统一风格-case-sg 安全组条件-850">
            <a:extLst xmlns:a="http://schemas.openxmlformats.org/drawingml/2006/main">
              <a:ext uri="{FF2B5EF4-FFF2-40B4-BE49-F238E27FC236}">
                <a16:creationId xmlns:a16="http://schemas.microsoft.com/office/drawing/2014/main" id="{62D2526E-7C75-48AE-935B-FD3704CD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249" y="4692106"/>
            <a:ext cx="2429329" cy="906326"/>
          </a:xfrm>
          <a:prstGeom xmlns:a="http://schemas.openxmlformats.org/drawingml/2006/main" prst="roundRect">
            <a:avLst>
              <a:gd name="adj" fmla="val 94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1" name="统一风格-case-sg 安全组条件玻璃内沿-851">
            <a:extLst xmlns:a="http://schemas.openxmlformats.org/drawingml/2006/main">
              <a:ext uri="{FF2B5EF4-FFF2-40B4-BE49-F238E27FC236}">
                <a16:creationId xmlns:a16="http://schemas.microsoft.com/office/drawing/2014/main" id="{6FD22F78-D309-44C9-84E8-DBE278CF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08" y="4704964"/>
            <a:ext cx="2403611" cy="880609"/>
          </a:xfrm>
          <a:prstGeom xmlns:a="http://schemas.openxmlformats.org/drawingml/2006/main" prst="roundRect">
            <a:avLst>
              <a:gd name="adj" fmla="val 832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2" name="统一风格-case-sg 安全组条件边缘高光-852">
            <a:extLst xmlns:a="http://schemas.openxmlformats.org/drawingml/2006/main">
              <a:ext uri="{FF2B5EF4-FFF2-40B4-BE49-F238E27FC236}">
                <a16:creationId xmlns:a16="http://schemas.microsoft.com/office/drawing/2014/main" id="{E53EAA8E-02AD-45F0-A7B4-2A13F56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249" y="4692106"/>
            <a:ext cx="2429329" cy="906326"/>
          </a:xfrm>
          <a:custGeom xmlns:a="http://schemas.openxmlformats.org/drawingml/2006/main">
            <a:pathLst>
              <a:path w="2429329" h="906326">
                <a:moveTo>
                  <a:pt x="95250" y="9525"/>
                </a:moveTo>
                <a:lnTo>
                  <a:pt x="2334079" y="9525"/>
                </a:lnTo>
                <a:cubicBezTo>
                  <a:pt x="2381704" y="9525"/>
                  <a:pt x="2419804" y="47625"/>
                  <a:pt x="241980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3" name="统一风格-文字 允许来源-853">
            <a:extLst xmlns:a="http://schemas.openxmlformats.org/drawingml/2006/main">
              <a:ext uri="{FF2B5EF4-FFF2-40B4-BE49-F238E27FC236}">
                <a16:creationId xmlns:a16="http://schemas.microsoft.com/office/drawing/2014/main" id="{214DDFA6-AE66-4350-A819-8B7145B2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029" y="4785541"/>
            <a:ext cx="2223770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允许来源</a:t>
            </a:r>
          </a:p>
        </p:txBody>
      </p:sp>
      <p:sp>
        <p:nvSpPr>
          <p:cNvPr id="64" name="统一风格-文字 10.20.20.0/24-854">
            <a:extLst xmlns:a="http://schemas.openxmlformats.org/drawingml/2006/main">
              <a:ext uri="{FF2B5EF4-FFF2-40B4-BE49-F238E27FC236}">
                <a16:creationId xmlns:a16="http://schemas.microsoft.com/office/drawing/2014/main" id="{2224B1F0-BA0C-4780-8A5D-A981DAB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029" y="5149941"/>
            <a:ext cx="2223770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10.20.20.0/24</a:t>
            </a:r>
          </a:p>
        </p:txBody>
      </p:sp>
      <p:sp>
        <p:nvSpPr>
          <p:cNvPr id="65" name="统一风格-文字 服务已监听 3306-855">
            <a:extLst xmlns:a="http://schemas.openxmlformats.org/drawingml/2006/main">
              <a:ext uri="{FF2B5EF4-FFF2-40B4-BE49-F238E27FC236}">
                <a16:creationId xmlns:a16="http://schemas.microsoft.com/office/drawing/2014/main" id="{3BEA238E-2AD8-4294-8C30-1C28082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75" y="4878977"/>
            <a:ext cx="1635125" cy="7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服务已监听 3306</a:t>
            </a:r>
          </a:p>
        </p:txBody>
      </p:sp>
      <p:sp>
        <p:nvSpPr>
          <p:cNvPr id="66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6FC66075-9CBE-45B9-8393-0EB6D30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6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0D01935-2655-4A16-96B4-B75DC94A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8" name="txt-67">
            <a:extLst xmlns:a="http://schemas.openxmlformats.org/drawingml/2006/main">
              <a:ext uri="{FF2B5EF4-FFF2-40B4-BE49-F238E27FC236}">
                <a16:creationId xmlns:a16="http://schemas.microsoft.com/office/drawing/2014/main" id="{7195ADC6-45FC-4890-9AA6-2579C60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9" name="txt-68">
            <a:extLst xmlns:a="http://schemas.openxmlformats.org/drawingml/2006/main">
              <a:ext uri="{FF2B5EF4-FFF2-40B4-BE49-F238E27FC236}">
                <a16:creationId xmlns:a16="http://schemas.microsoft.com/office/drawing/2014/main" id="{B13C0329-80FF-4B54-ACAF-8B424310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双向引流正常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数据库已监听 3306</a:t>
            </a:r>
          </a:p>
        </p:txBody>
      </p:sp>
      <p:sp>
        <p:nvSpPr>
          <p:cNvPr id="7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387048E-8242-4696-A168-6443100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1" name="正文-检查重点">
            <a:extLst xmlns:a="http://schemas.openxmlformats.org/drawingml/2006/main">
              <a:ext uri="{FF2B5EF4-FFF2-40B4-BE49-F238E27FC236}">
                <a16:creationId xmlns:a16="http://schemas.microsoft.com/office/drawing/2014/main" id="{FA21978A-B9C0-46E4-99CC-0C89D7E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 algn="l">
              <ns5:defRPr sz="1650" b="1">
                <ns5:solidFill>
                  <ns5:srgbClr val="002FA7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650" b="1">
                <ns5:solidFill>
                  <ns5:srgbClr val="002FA7"/>
                </ns5:solidFill>
                <ns5:latin typeface="Microsoft YaHei"/>
                <ns5:ea typeface="Microsoft YaHei"/>
                <ns5:cs typeface="Microsoft YaHei"/>
              </ns5:rPr>
              <ns5:t>检查重点</ns5:t>
            </ns5:r>
          </ns5:p>
        </p:txBody>
      </p:sp>
      <p:sp>
        <p:nvSpPr>
          <p:cNvPr id="72" name="正文-核对实际应用源 与安全组允许来源">
            <a:extLst xmlns:a="http://schemas.openxmlformats.org/drawingml/2006/main">
              <a:ext uri="{FF2B5EF4-FFF2-40B4-BE49-F238E27FC236}">
                <a16:creationId xmlns:a16="http://schemas.microsoft.com/office/drawing/2014/main" id="{8E7760BD-384E-4311-BE4E-16EA6B3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核对实际应用源</ns2:t>
            </ns2:r>
          </ns2:p>
          <ns3:p xmlns:ns3="http://schemas.openxmlformats.org/drawingml/2006/main">
            <ns3:pPr algn="l">
              <ns3:def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rPr>
              <ns3:t>与安全组允许来源</ns3:t>
            </ns3:r>
          </ns3:p>
        </p:txBody>
      </p:sp>
      <p:sp>
        <p:nvSpPr>
          <p:cNvPr id="7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989B493-F87F-48B6-A68C-D5C39244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74" name="正文-修复要求">
            <a:extLst xmlns:a="http://schemas.openxmlformats.org/drawingml/2006/main">
              <a:ext uri="{FF2B5EF4-FFF2-40B4-BE49-F238E27FC236}">
                <a16:creationId xmlns:a16="http://schemas.microsoft.com/office/drawing/2014/main" id="{236E1181-4A97-4A02-98BA-6E2124B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6:p xmlns:ns6="http://schemas.openxmlformats.org/drawingml/2006/main">
            <ns6:pPr algn="l">
              <ns6:defRPr sz="1650" b="1">
                <ns6:solidFill>
                  <ns6:srgbClr val="002FA7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650" b="1">
                <ns6:solidFill>
                  <ns6:srgbClr val="002FA7"/>
                </ns6:solidFill>
                <ns6:latin typeface="Microsoft YaHei"/>
                <ns6:ea typeface="Microsoft YaHei"/>
                <ns6:cs typeface="Microsoft YaHei"/>
              </ns6:rPr>
              <ns6:t>修复要求</ns6:t>
            </ns6:r>
          </ns6:p>
        </p:txBody>
      </p:sp>
      <p:sp>
        <p:nvSpPr>
          <p:cNvPr id="75" name="txt-74">
            <a:extLst xmlns:a="http://schemas.openxmlformats.org/drawingml/2006/main">
              <a:ext uri="{FF2B5EF4-FFF2-40B4-BE49-F238E27FC236}">
                <a16:creationId xmlns:a16="http://schemas.microsoft.com/office/drawing/2014/main" id="{28960234-8800-4798-8ED8-74C83BB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最小修改、正反用例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7165867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862DAE34-DE46-405A-AF71-B1997D4E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正文-案例一分析：数据安全组来源不匹配">
            <a:extLst xmlns:a="http://schemas.openxmlformats.org/drawingml/2006/main">
              <a:ext uri="{FF2B5EF4-FFF2-40B4-BE49-F238E27FC236}">
                <a16:creationId xmlns:a16="http://schemas.microsoft.com/office/drawing/2014/main" id="{57929E43-641D-49A5-985D-37AE3021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案例一分析：数据安全组来源不匹配</ns0:t>
            </ns0:r>
          </ns0:p>
        </p:txBody>
      </p:sp>
      <p:sp>
        <p:nvSpPr>
          <p:cNvPr id="3" name="正文-最小授权面向实际发起方，修改后同时验证业务与未授权访问。">
            <a:extLst xmlns:a="http://schemas.openxmlformats.org/drawingml/2006/main">
              <a:ext uri="{FF2B5EF4-FFF2-40B4-BE49-F238E27FC236}">
                <a16:creationId xmlns:a16="http://schemas.microsoft.com/office/drawing/2014/main" id="{93F7C46E-0604-4124-BAB3-550C783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最小授权面向实际发起方，修改后同时验证业务与未授权访问。</ns1:t>
            </ns1:r>
          </ns1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15310841-6E7D-4C31-A750-44728BC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55">
            <a:extLst xmlns:a="http://schemas.openxmlformats.org/drawingml/2006/main">
              <a:ext uri="{FF2B5EF4-FFF2-40B4-BE49-F238E27FC236}">
                <a16:creationId xmlns:a16="http://schemas.microsoft.com/office/drawing/2014/main" id="{A3E1EB81-A728-4289-B4D1-62B89C3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74</ns0:t>
            </ns0:r>
          </ns0:p>
        </p:txBody>
      </p:sp>
      <p:sp>
        <p:nvSpPr>
          <p:cNvPr id="6" name="统一风格-案例诊断与修复玻璃后沿-856">
            <a:extLst xmlns:a="http://schemas.openxmlformats.org/drawingml/2006/main">
              <a:ext uri="{FF2B5EF4-FFF2-40B4-BE49-F238E27FC236}">
                <a16:creationId xmlns:a16="http://schemas.microsoft.com/office/drawing/2014/main" id="{72F9C89A-3C15-44F8-BB1B-F1BC692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案例诊断与修复-857">
            <a:extLst xmlns:a="http://schemas.openxmlformats.org/drawingml/2006/main">
              <a:ext uri="{FF2B5EF4-FFF2-40B4-BE49-F238E27FC236}">
                <a16:creationId xmlns:a16="http://schemas.microsoft.com/office/drawing/2014/main" id="{EE7EE57D-FB28-4AD0-B3BC-1DA8957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案例诊断与修复玻璃内沿-858">
            <a:extLst xmlns:a="http://schemas.openxmlformats.org/drawingml/2006/main">
              <a:ext uri="{FF2B5EF4-FFF2-40B4-BE49-F238E27FC236}">
                <a16:creationId xmlns:a16="http://schemas.microsoft.com/office/drawing/2014/main" id="{425FBBF3-51F3-46FA-A0CC-943FF5D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13109"/>
            <a:ext cx="10947083" cy="1231583"/>
          </a:xfrm>
          <a:prstGeom xmlns:a="http://schemas.openxmlformats.org/drawingml/2006/main" prst="roundRect">
            <a:avLst>
              <a:gd name="adj" fmla="val 59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案例诊断与修复透光反射面-859">
            <a:extLst xmlns:a="http://schemas.openxmlformats.org/drawingml/2006/main">
              <a:ext uri="{FF2B5EF4-FFF2-40B4-BE49-F238E27FC236}">
                <a16:creationId xmlns:a16="http://schemas.microsoft.com/office/drawing/2014/main" id="{3DCE8A86-B6AB-47B4-9997-4E1078FB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1219200"/>
          </a:xfrm>
          <a:custGeom xmlns:a="http://schemas.openxmlformats.org/drawingml/2006/main"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案例诊断与修复边缘高光-860">
            <a:extLst xmlns:a="http://schemas.openxmlformats.org/drawingml/2006/main">
              <a:ext uri="{FF2B5EF4-FFF2-40B4-BE49-F238E27FC236}">
                <a16:creationId xmlns:a16="http://schemas.microsoft.com/office/drawing/2014/main" id="{E46EAF8C-4A8F-44D2-A26F-57B33B2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custGeom xmlns:a="http://schemas.openxmlformats.org/drawingml/2006/main"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39E859D3-4368-4B06-9843-69057086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10.20.10.15 不属于允许的 10.20.20.0/24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40D9B3F-C2BA-4168-9D9B-3E70C18E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3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经审批为实际应用来源增加 TCP 3306 的精确授权。</a:t>
            </a:r>
          </a:p>
        </p:txBody>
      </p:sp>
      <p:sp>
        <p:nvSpPr>
          <p:cNvPr id="13" name="统一风格-表格玻璃容器玻璃后沿-861">
            <a:extLst xmlns:a="http://schemas.openxmlformats.org/drawingml/2006/main">
              <a:ext uri="{FF2B5EF4-FFF2-40B4-BE49-F238E27FC236}">
                <a16:creationId xmlns:a16="http://schemas.microsoft.com/office/drawing/2014/main" id="{AE8E9D26-A052-48A8-AE5A-E6FB8D4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表格玻璃容器-862">
            <a:extLst xmlns:a="http://schemas.openxmlformats.org/drawingml/2006/main">
              <a:ext uri="{FF2B5EF4-FFF2-40B4-BE49-F238E27FC236}">
                <a16:creationId xmlns:a16="http://schemas.microsoft.com/office/drawing/2014/main" id="{D9B1B7DB-E147-4BC9-A38C-185A3B8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表格玻璃容器玻璃内沿-863">
            <a:extLst xmlns:a="http://schemas.openxmlformats.org/drawingml/2006/main">
              <a:ext uri="{FF2B5EF4-FFF2-40B4-BE49-F238E27FC236}">
                <a16:creationId xmlns:a16="http://schemas.microsoft.com/office/drawing/2014/main" id="{04CE3C4F-63ED-4CA3-9DEB-66410889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3508534"/>
            <a:ext cx="11099483" cy="2403158"/>
          </a:xfrm>
          <a:prstGeom xmlns:a="http://schemas.openxmlformats.org/drawingml/2006/main" prst="roundRect">
            <a:avLst>
              <a:gd name="adj" fmla="val 30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表格玻璃容器边缘高光-864">
            <a:extLst xmlns:a="http://schemas.openxmlformats.org/drawingml/2006/main">
              <a:ext uri="{FF2B5EF4-FFF2-40B4-BE49-F238E27FC236}">
                <a16:creationId xmlns:a16="http://schemas.microsoft.com/office/drawing/2014/main" id="{26C07045-F0A2-4F7D-9117-ADE4B36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custGeom xmlns:a="http://schemas.openxmlformats.org/drawingml/2006/main"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1DE43-3FAD-429B-8AE8-CFA47963B1D0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 10.30.20.10:3306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连接成功且业务回归通过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同源访问目标 TCP 22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按基线拒绝，关联阻断证据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留证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规则差异、测试时间与 CFW 命中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能够关联 CHG-DEMO-001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84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4259AF59-73C6-4A14-8D51-433BED55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D63F5AAE-48B6-4956-B920-BA57B08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案例二：SSH 阻断规则为何没有生效</a:t>
            </a:r>
          </a:p>
        </p:txBody>
      </p:sp>
      <p:sp>
        <p:nvSpPr>
          <p:cNvPr id="3" name="正文-新建 SSH 连接命中首条 Any 放行，后续 TCP 22 阻断未执行">
            <a:extLst xmlns:a="http://schemas.openxmlformats.org/drawingml/2006/main">
              <a:ext uri="{FF2B5EF4-FFF2-40B4-BE49-F238E27FC236}">
                <a16:creationId xmlns:a16="http://schemas.microsoft.com/office/drawing/2014/main" id="{4EF7CBF4-B5BF-459A-AC13-4AFC8448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新建 SSH 连接命中首条 Any 放行，后续 TCP 22 阻断未执行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1A26330-CF67-4363-AFA0-1A9FDC3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假设无白名单、黑名单或其他高优先级功能影响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070668D-2966-4094-AD7E-CF610355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6">
            <a:extLst xmlns:a="http://schemas.openxmlformats.org/drawingml/2006/main">
              <a:ext uri="{FF2B5EF4-FFF2-40B4-BE49-F238E27FC236}">
                <a16:creationId xmlns:a16="http://schemas.microsoft.com/office/drawing/2014/main" id="{A9B3D5D7-E096-4CD0-90DC-26DEE0CA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75</ns0:t>
            </ns0:r>
          </ns0:p>
        </p:txBody>
      </p:sp>
      <p:sp>
        <p:nvSpPr>
          <p:cNvPr id="7" name="统一风格-case-order 新建 SSH 连接玻璃后沿-865">
            <a:extLst xmlns:a="http://schemas.openxmlformats.org/drawingml/2006/main">
              <a:ext uri="{FF2B5EF4-FFF2-40B4-BE49-F238E27FC236}">
                <a16:creationId xmlns:a16="http://schemas.microsoft.com/office/drawing/2014/main" id="{B5D5E1AA-2C9A-4723-B167-89E32AB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9257"/>
            <a:ext cx="1308100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case-order 新建 SSH 连接-866">
            <a:extLst xmlns:a="http://schemas.openxmlformats.org/drawingml/2006/main">
              <a:ext uri="{FF2B5EF4-FFF2-40B4-BE49-F238E27FC236}">
                <a16:creationId xmlns:a16="http://schemas.microsoft.com/office/drawing/2014/main" id="{CE7780B2-6E33-40AA-9760-07A4A63C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9257"/>
            <a:ext cx="1308100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case-order 新建 SSH 连接玻璃内沿-867">
            <a:extLst xmlns:a="http://schemas.openxmlformats.org/drawingml/2006/main">
              <a:ext uri="{FF2B5EF4-FFF2-40B4-BE49-F238E27FC236}">
                <a16:creationId xmlns:a16="http://schemas.microsoft.com/office/drawing/2014/main" id="{068D1571-4F1A-4497-8A83-B8187C30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322116"/>
            <a:ext cx="1282383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case-order 新建 SSH 连接透光反射面-868">
            <a:extLst xmlns:a="http://schemas.openxmlformats.org/drawingml/2006/main">
              <a:ext uri="{FF2B5EF4-FFF2-40B4-BE49-F238E27FC236}">
                <a16:creationId xmlns:a16="http://schemas.microsoft.com/office/drawing/2014/main" id="{32A30342-EF71-4CDB-925B-EAF490E3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8307"/>
            <a:ext cx="1270000" cy="1120503"/>
          </a:xfrm>
          <a:custGeom xmlns:a="http://schemas.openxmlformats.org/drawingml/2006/main"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case-order 新建 SSH 连接边缘高光-869">
            <a:extLst xmlns:a="http://schemas.openxmlformats.org/drawingml/2006/main">
              <a:ext uri="{FF2B5EF4-FFF2-40B4-BE49-F238E27FC236}">
                <a16:creationId xmlns:a16="http://schemas.microsoft.com/office/drawing/2014/main" id="{A96F4A6A-5A4C-40F4-B505-A307329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9257"/>
            <a:ext cx="1308100" cy="1158603"/>
          </a:xfrm>
          <a:custGeom xmlns:a="http://schemas.openxmlformats.org/drawingml/2006/main"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870">
            <a:extLst xmlns:a="http://schemas.openxmlformats.org/drawingml/2006/main">
              <a:ext uri="{FF2B5EF4-FFF2-40B4-BE49-F238E27FC236}">
                <a16:creationId xmlns:a16="http://schemas.microsoft.com/office/drawing/2014/main" id="{60E23655-CDF6-4C93-8EC2-2035F2A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laptop 终端底座-871">
            <a:extLst xmlns:a="http://schemas.openxmlformats.org/drawingml/2006/main">
              <a:ext uri="{FF2B5EF4-FFF2-40B4-BE49-F238E27FC236}">
                <a16:creationId xmlns:a16="http://schemas.microsoft.com/office/drawing/2014/main" id="{1C5E90A4-8DF3-461E-A831-3ED120C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4" name="统一风格-laptop 终端内容-872">
            <a:extLst xmlns:a="http://schemas.openxmlformats.org/drawingml/2006/main">
              <a:ext uri="{FF2B5EF4-FFF2-40B4-BE49-F238E27FC236}">
                <a16:creationId xmlns:a16="http://schemas.microsoft.com/office/drawing/2014/main" id="{3B5FA3FA-18A2-488D-8BD9-3B9F354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5" name="统一风格-文字 新建 SSH 连接-873">
            <a:extLst xmlns:a="http://schemas.openxmlformats.org/drawingml/2006/main">
              <a:ext uri="{FF2B5EF4-FFF2-40B4-BE49-F238E27FC236}">
                <a16:creationId xmlns:a16="http://schemas.microsoft.com/office/drawing/2014/main" id="{E7134BB4-9FD1-472A-8F39-B7CEC04D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" y="3907246"/>
            <a:ext cx="1177290" cy="411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 SSH 连接</a:t>
            </a:r>
          </a:p>
        </p:txBody>
      </p:sp>
      <p:sp>
        <p:nvSpPr>
          <p:cNvPr id="16" name="统一风格-case-order SSH 建连成功玻璃后沿-874">
            <a:extLst xmlns:a="http://schemas.openxmlformats.org/drawingml/2006/main">
              <a:ext uri="{FF2B5EF4-FFF2-40B4-BE49-F238E27FC236}">
                <a16:creationId xmlns:a16="http://schemas.microsoft.com/office/drawing/2014/main" id="{28D29AEE-B13F-4BDB-9D27-5D9D2DF4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3309257"/>
            <a:ext cx="1308100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case-order SSH 建连成功-875">
            <a:extLst xmlns:a="http://schemas.openxmlformats.org/drawingml/2006/main">
              <a:ext uri="{FF2B5EF4-FFF2-40B4-BE49-F238E27FC236}">
                <a16:creationId xmlns:a16="http://schemas.microsoft.com/office/drawing/2014/main" id="{8CEACFF1-8604-4FAE-A6AA-49AFE5DB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3309257"/>
            <a:ext cx="1308100" cy="1158603"/>
          </a:xfrm>
          <a:prstGeom xmlns:a="http://schemas.openxmlformats.org/drawingml/2006/main" prst="roundRect">
            <a:avLst>
              <a:gd name="adj" fmla="val 739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case-order SSH 建连成功玻璃内沿-876">
            <a:extLst xmlns:a="http://schemas.openxmlformats.org/drawingml/2006/main">
              <a:ext uri="{FF2B5EF4-FFF2-40B4-BE49-F238E27FC236}">
                <a16:creationId xmlns:a16="http://schemas.microsoft.com/office/drawing/2014/main" id="{75524B08-5014-4C9B-80B5-1D4F6767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959" y="3322116"/>
            <a:ext cx="1282383" cy="1132885"/>
          </a:xfrm>
          <a:prstGeom xmlns:a="http://schemas.openxmlformats.org/drawingml/2006/main" prst="roundRect">
            <a:avLst>
              <a:gd name="adj" fmla="val 647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case-order SSH 建连成功透光反射面-877">
            <a:extLst xmlns:a="http://schemas.openxmlformats.org/drawingml/2006/main">
              <a:ext uri="{FF2B5EF4-FFF2-40B4-BE49-F238E27FC236}">
                <a16:creationId xmlns:a16="http://schemas.microsoft.com/office/drawing/2014/main" id="{20C15F2D-AB51-4999-A004-B112A574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3328307"/>
            <a:ext cx="1270000" cy="1120503"/>
          </a:xfrm>
          <a:custGeom xmlns:a="http://schemas.openxmlformats.org/drawingml/2006/main"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case-order SSH 建连成功边缘高光-878">
            <a:extLst xmlns:a="http://schemas.openxmlformats.org/drawingml/2006/main">
              <a:ext uri="{FF2B5EF4-FFF2-40B4-BE49-F238E27FC236}">
                <a16:creationId xmlns:a16="http://schemas.microsoft.com/office/drawing/2014/main" id="{4C7E22DF-F524-46A5-A388-F47F596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3309257"/>
            <a:ext cx="1308100" cy="1158603"/>
          </a:xfrm>
          <a:custGeom xmlns:a="http://schemas.openxmlformats.org/drawingml/2006/main"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server 服务器机架-879">
            <a:extLst xmlns:a="http://schemas.openxmlformats.org/drawingml/2006/main">
              <a:ext uri="{FF2B5EF4-FFF2-40B4-BE49-F238E27FC236}">
                <a16:creationId xmlns:a16="http://schemas.microsoft.com/office/drawing/2014/main" id="{C7953DDD-B279-4C71-A592-E71548E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2" name="统一风格-server 机架状态-880">
            <a:extLst xmlns:a="http://schemas.openxmlformats.org/drawingml/2006/main">
              <a:ext uri="{FF2B5EF4-FFF2-40B4-BE49-F238E27FC236}">
                <a16:creationId xmlns:a16="http://schemas.microsoft.com/office/drawing/2014/main" id="{F4C9F016-1BCF-486F-A43F-9CE616C7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3" name="统一风格-server 指示灯-881">
            <a:extLst xmlns:a="http://schemas.openxmlformats.org/drawingml/2006/main">
              <a:ext uri="{FF2B5EF4-FFF2-40B4-BE49-F238E27FC236}">
                <a16:creationId xmlns:a16="http://schemas.microsoft.com/office/drawing/2014/main" id="{6A382561-5A54-4CD2-B67C-5905B08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" name="统一风格-server 服务器机架-882">
            <a:extLst xmlns:a="http://schemas.openxmlformats.org/drawingml/2006/main">
              <a:ext uri="{FF2B5EF4-FFF2-40B4-BE49-F238E27FC236}">
                <a16:creationId xmlns:a16="http://schemas.microsoft.com/office/drawing/2014/main" id="{18A9C3A8-7AA4-410B-A819-CE3358B1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5" name="统一风格-server 机架状态-883">
            <a:extLst xmlns:a="http://schemas.openxmlformats.org/drawingml/2006/main">
              <a:ext uri="{FF2B5EF4-FFF2-40B4-BE49-F238E27FC236}">
                <a16:creationId xmlns:a16="http://schemas.microsoft.com/office/drawing/2014/main" id="{E1D3B0B4-3522-4F86-8E69-1D45F2F2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6" name="统一风格-server 指示灯-884">
            <a:extLst xmlns:a="http://schemas.openxmlformats.org/drawingml/2006/main">
              <a:ext uri="{FF2B5EF4-FFF2-40B4-BE49-F238E27FC236}">
                <a16:creationId xmlns:a16="http://schemas.microsoft.com/office/drawing/2014/main" id="{CDFBAD1C-3CDA-4D15-90E3-7152BE22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" name="统一风格-server 服务器机架-885">
            <a:extLst xmlns:a="http://schemas.openxmlformats.org/drawingml/2006/main">
              <a:ext uri="{FF2B5EF4-FFF2-40B4-BE49-F238E27FC236}">
                <a16:creationId xmlns:a16="http://schemas.microsoft.com/office/drawing/2014/main" id="{6EBBB5F7-EB77-4399-9CB0-56EEF94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8" name="统一风格-server 机架状态-886">
            <a:extLst xmlns:a="http://schemas.openxmlformats.org/drawingml/2006/main">
              <a:ext uri="{FF2B5EF4-FFF2-40B4-BE49-F238E27FC236}">
                <a16:creationId xmlns:a16="http://schemas.microsoft.com/office/drawing/2014/main" id="{C876FC7D-247C-416E-8689-5D95E5C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9" name="统一风格-server 指示灯-887">
            <a:extLst xmlns:a="http://schemas.openxmlformats.org/drawingml/2006/main">
              <a:ext uri="{FF2B5EF4-FFF2-40B4-BE49-F238E27FC236}">
                <a16:creationId xmlns:a16="http://schemas.microsoft.com/office/drawing/2014/main" id="{D857849F-2F54-4482-BEE7-4508D014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04" y="3421380"/>
            <a:ext cx="448491" cy="448491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" name="统一风格-文字 SSH 建连成功-888">
            <a:extLst xmlns:a="http://schemas.openxmlformats.org/drawingml/2006/main">
              <a:ext uri="{FF2B5EF4-FFF2-40B4-BE49-F238E27FC236}">
                <a16:creationId xmlns:a16="http://schemas.microsoft.com/office/drawing/2014/main" id="{53A8C5D1-16E2-45E5-9122-EFA91398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05" y="3907246"/>
            <a:ext cx="1177290" cy="411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SSH 建连成功</a:t>
            </a:r>
          </a:p>
        </p:txBody>
      </p:sp>
      <p:cxnSp>
        <p:nvCxnSpPr>
          <p:cNvPr id="31" name="统一拓扑-case-order-连线-1">
            <a:extLst xmlns:a="http://schemas.openxmlformats.org/drawingml/2006/main">
              <a:ext uri="{FF2B5EF4-FFF2-40B4-BE49-F238E27FC236}">
                <a16:creationId xmlns:a16="http://schemas.microsoft.com/office/drawing/2014/main" id="{7FEE47D6-0506-4699-A9B8-767A4ABF2F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17700" y="3888559"/>
            <a:ext cx="420461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case-order-连线-2">
            <a:extLst xmlns:a="http://schemas.openxmlformats.org/drawingml/2006/main">
              <a:ext uri="{FF2B5EF4-FFF2-40B4-BE49-F238E27FC236}">
                <a16:creationId xmlns:a16="http://schemas.microsoft.com/office/drawing/2014/main" id="{9792EB23-A732-46BB-A4E1-CE557CAC5E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29639" y="3888559"/>
            <a:ext cx="420461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case-order ACL 规则列表玻璃后沿-889">
            <a:extLst xmlns:a="http://schemas.openxmlformats.org/drawingml/2006/main">
              <a:ext uri="{FF2B5EF4-FFF2-40B4-BE49-F238E27FC236}">
                <a16:creationId xmlns:a16="http://schemas.microsoft.com/office/drawing/2014/main" id="{265EAB54-27C9-4252-8008-3D5D6F78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161" y="2169341"/>
            <a:ext cx="4391479" cy="3513183"/>
          </a:xfrm>
          <a:prstGeom xmlns:a="http://schemas.openxmlformats.org/drawingml/2006/main" prst="roundRect">
            <a:avLst>
              <a:gd name="adj" fmla="val 244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统一风格-case-order ACL 规则列表-890">
            <a:extLst xmlns:a="http://schemas.openxmlformats.org/drawingml/2006/main">
              <a:ext uri="{FF2B5EF4-FFF2-40B4-BE49-F238E27FC236}">
                <a16:creationId xmlns:a16="http://schemas.microsoft.com/office/drawing/2014/main" id="{992ADF84-4675-4F1C-A436-9EF675BD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161" y="2169341"/>
            <a:ext cx="4391479" cy="3513183"/>
          </a:xfrm>
          <a:prstGeom xmlns:a="http://schemas.openxmlformats.org/drawingml/2006/main" prst="roundRect">
            <a:avLst>
              <a:gd name="adj" fmla="val 244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case-order ACL 规则列表玻璃内沿-891">
            <a:extLst xmlns:a="http://schemas.openxmlformats.org/drawingml/2006/main">
              <a:ext uri="{FF2B5EF4-FFF2-40B4-BE49-F238E27FC236}">
                <a16:creationId xmlns:a16="http://schemas.microsoft.com/office/drawing/2014/main" id="{15CD800B-7A6B-403B-84DE-3B8BABA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019" y="2182200"/>
            <a:ext cx="4365761" cy="3487465"/>
          </a:xfrm>
          <a:prstGeom xmlns:a="http://schemas.openxmlformats.org/drawingml/2006/main" prst="roundRect">
            <a:avLst>
              <a:gd name="adj" fmla="val 210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case-order ACL 规则列表边缘高光-892">
            <a:extLst xmlns:a="http://schemas.openxmlformats.org/drawingml/2006/main">
              <a:ext uri="{FF2B5EF4-FFF2-40B4-BE49-F238E27FC236}">
                <a16:creationId xmlns:a16="http://schemas.microsoft.com/office/drawing/2014/main" id="{6D353D48-94D7-4F75-B70C-E43AD8F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161" y="2169341"/>
            <a:ext cx="4391479" cy="3513183"/>
          </a:xfrm>
          <a:custGeom xmlns:a="http://schemas.openxmlformats.org/drawingml/2006/main">
            <a:pathLst>
              <a:path w="4391479" h="3513183">
                <a:moveTo>
                  <a:pt x="95250" y="9525"/>
                </a:moveTo>
                <a:lnTo>
                  <a:pt x="4296229" y="9525"/>
                </a:lnTo>
                <a:cubicBezTo>
                  <a:pt x="4343854" y="9525"/>
                  <a:pt x="4381954" y="47625"/>
                  <a:pt x="4381954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文字 按顺序匹配 ACL-893">
            <a:extLst xmlns:a="http://schemas.openxmlformats.org/drawingml/2006/main">
              <a:ext uri="{FF2B5EF4-FFF2-40B4-BE49-F238E27FC236}">
                <a16:creationId xmlns:a16="http://schemas.microsoft.com/office/drawing/2014/main" id="{E4BBB884-35D1-4D7D-AD0E-1BDAA0B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689" y="2281464"/>
            <a:ext cx="4036423" cy="31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按顺序匹配 ACL</a:t>
            </a:r>
          </a:p>
        </p:txBody>
      </p:sp>
      <p:sp>
        <p:nvSpPr>
          <p:cNvPr id="38" name="统一风格-case-order 规则行-894">
            <a:extLst xmlns:a="http://schemas.openxmlformats.org/drawingml/2006/main">
              <a:ext uri="{FF2B5EF4-FFF2-40B4-BE49-F238E27FC236}">
                <a16:creationId xmlns:a16="http://schemas.microsoft.com/office/drawing/2014/main" id="{B2D14CCC-1AEC-4DC8-89AD-ACE2D34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40" y="2776674"/>
            <a:ext cx="4185920" cy="859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FF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统一风格-文字 1-895">
            <a:extLst xmlns:a="http://schemas.openxmlformats.org/drawingml/2006/main">
              <a:ext uri="{FF2B5EF4-FFF2-40B4-BE49-F238E27FC236}">
                <a16:creationId xmlns:a16="http://schemas.microsoft.com/office/drawing/2014/main" id="{2F4C61C0-1571-4395-8A9C-71551B4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32" y="2944858"/>
            <a:ext cx="420461" cy="485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统一风格-文字 应用 VPC 到数据 VPC-896">
            <a:extLst xmlns:a="http://schemas.openxmlformats.org/drawingml/2006/main">
              <a:ext uri="{FF2B5EF4-FFF2-40B4-BE49-F238E27FC236}">
                <a16:creationId xmlns:a16="http://schemas.microsoft.com/office/drawing/2014/main" id="{A6A8EB17-6574-4661-9E58-7F9767D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2842079"/>
            <a:ext cx="2476046" cy="32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 到数据 VPC</a:t>
            </a:r>
          </a:p>
        </p:txBody>
      </p:sp>
      <p:sp>
        <p:nvSpPr>
          <p:cNvPr id="41" name="统一风格-文字 Any 放行-897">
            <a:extLst xmlns:a="http://schemas.openxmlformats.org/drawingml/2006/main">
              <a:ext uri="{FF2B5EF4-FFF2-40B4-BE49-F238E27FC236}">
                <a16:creationId xmlns:a16="http://schemas.microsoft.com/office/drawing/2014/main" id="{D252B99D-75B8-4E23-A071-0730BA40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3215821"/>
            <a:ext cx="2429329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Any 放行</a:t>
            </a:r>
          </a:p>
        </p:txBody>
      </p:sp>
      <p:sp>
        <p:nvSpPr>
          <p:cNvPr id="42" name="统一风格-文字 已命中-898">
            <a:extLst xmlns:a="http://schemas.openxmlformats.org/drawingml/2006/main">
              <a:ext uri="{FF2B5EF4-FFF2-40B4-BE49-F238E27FC236}">
                <a16:creationId xmlns:a16="http://schemas.microsoft.com/office/drawing/2014/main" id="{CAE70F0E-4E09-448C-8B59-F986E11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80" y="2916827"/>
            <a:ext cx="981075" cy="588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已命中</a:t>
            </a:r>
          </a:p>
        </p:txBody>
      </p:sp>
      <p:sp>
        <p:nvSpPr>
          <p:cNvPr id="43" name="统一风格-case-order 规则行-899">
            <a:extLst xmlns:a="http://schemas.openxmlformats.org/drawingml/2006/main">
              <a:ext uri="{FF2B5EF4-FFF2-40B4-BE49-F238E27FC236}">
                <a16:creationId xmlns:a16="http://schemas.microsoft.com/office/drawing/2014/main" id="{61179F2B-6CE9-4A0A-8CA4-50F7DCC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40" y="3692344"/>
            <a:ext cx="4185920" cy="859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44" name="统一风格-文字 2-900">
            <a:extLst xmlns:a="http://schemas.openxmlformats.org/drawingml/2006/main">
              <a:ext uri="{FF2B5EF4-FFF2-40B4-BE49-F238E27FC236}">
                <a16:creationId xmlns:a16="http://schemas.microsoft.com/office/drawing/2014/main" id="{E1A55384-47DB-46B2-8F46-E25EDA2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32" y="3860528"/>
            <a:ext cx="420461" cy="485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5" name="统一风格-文字 10.20.10.15 到 10.30.20.10-901">
            <a:extLst xmlns:a="http://schemas.openxmlformats.org/drawingml/2006/main">
              <a:ext uri="{FF2B5EF4-FFF2-40B4-BE49-F238E27FC236}">
                <a16:creationId xmlns:a16="http://schemas.microsoft.com/office/drawing/2014/main" id="{6CEA5F39-51E9-4200-BEE2-CA06F65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3757749"/>
            <a:ext cx="2476046" cy="32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 到 10.30.20.10</a:t>
            </a:r>
          </a:p>
        </p:txBody>
      </p:sp>
      <p:sp>
        <p:nvSpPr>
          <p:cNvPr id="46" name="统一风格-文字 TCP 22 阻断-902">
            <a:extLst xmlns:a="http://schemas.openxmlformats.org/drawingml/2006/main">
              <a:ext uri="{FF2B5EF4-FFF2-40B4-BE49-F238E27FC236}">
                <a16:creationId xmlns:a16="http://schemas.microsoft.com/office/drawing/2014/main" id="{7024DD63-0E62-40A9-906D-1D81357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4131491"/>
            <a:ext cx="2429329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22 阻断</a:t>
            </a:r>
          </a:p>
        </p:txBody>
      </p:sp>
      <p:sp>
        <p:nvSpPr>
          <p:cNvPr id="47" name="统一风格-文字 未继续匹配-903">
            <a:extLst xmlns:a="http://schemas.openxmlformats.org/drawingml/2006/main">
              <a:ext uri="{FF2B5EF4-FFF2-40B4-BE49-F238E27FC236}">
                <a16:creationId xmlns:a16="http://schemas.microsoft.com/office/drawing/2014/main" id="{4707DA25-BEAA-4C48-AF16-96A2EF91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80" y="3832497"/>
            <a:ext cx="981075" cy="588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48" name="统一风格-case-order 规则行-904">
            <a:extLst xmlns:a="http://schemas.openxmlformats.org/drawingml/2006/main">
              <a:ext uri="{FF2B5EF4-FFF2-40B4-BE49-F238E27FC236}">
                <a16:creationId xmlns:a16="http://schemas.microsoft.com/office/drawing/2014/main" id="{A1931DE6-1A76-4D9F-B117-9CCFFB3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40" y="4608014"/>
            <a:ext cx="4185920" cy="859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49" name="统一风格-文字 3-905">
            <a:extLst xmlns:a="http://schemas.openxmlformats.org/drawingml/2006/main">
              <a:ext uri="{FF2B5EF4-FFF2-40B4-BE49-F238E27FC236}">
                <a16:creationId xmlns:a16="http://schemas.microsoft.com/office/drawing/2014/main" id="{554ECF66-C248-4CDD-9EF5-DE1F00A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32" y="4776198"/>
            <a:ext cx="420461" cy="485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0" name="统一风格-文字 其余流量阻断-906">
            <a:extLst xmlns:a="http://schemas.openxmlformats.org/drawingml/2006/main">
              <a:ext uri="{FF2B5EF4-FFF2-40B4-BE49-F238E27FC236}">
                <a16:creationId xmlns:a16="http://schemas.microsoft.com/office/drawing/2014/main" id="{0562940F-3223-4805-B60C-F042F99C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4673419"/>
            <a:ext cx="2476046" cy="32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其余流量阻断</a:t>
            </a:r>
          </a:p>
        </p:txBody>
      </p:sp>
      <p:sp>
        <p:nvSpPr>
          <p:cNvPr id="51" name="统一风格-文字 -907">
            <a:extLst xmlns:a="http://schemas.openxmlformats.org/drawingml/2006/main">
              <a:ext uri="{FF2B5EF4-FFF2-40B4-BE49-F238E27FC236}">
                <a16:creationId xmlns:a16="http://schemas.microsoft.com/office/drawing/2014/main" id="{F1C36788-C786-4D9E-B7C1-9BEAAEE8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29" y="5047161"/>
            <a:ext cx="2429329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统一风格-文字 未继续匹配-908">
            <a:extLst xmlns:a="http://schemas.openxmlformats.org/drawingml/2006/main">
              <a:ext uri="{FF2B5EF4-FFF2-40B4-BE49-F238E27FC236}">
                <a16:creationId xmlns:a16="http://schemas.microsoft.com/office/drawing/2014/main" id="{BDCB4993-18DC-4A5E-A45B-EC4BEEDA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80" y="4748167"/>
            <a:ext cx="981075" cy="588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5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0D61F59-8178-4BF1-9659-BC8D066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5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0D7ECE3-E314-441B-BA26-68F38D6B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5" name="txt-54">
            <a:extLst xmlns:a="http://schemas.openxmlformats.org/drawingml/2006/main">
              <a:ext uri="{FF2B5EF4-FFF2-40B4-BE49-F238E27FC236}">
                <a16:creationId xmlns:a16="http://schemas.microsoft.com/office/drawing/2014/main" id="{521A3319-7C62-41DC-B534-4797B41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56" name="txt-55">
            <a:extLst xmlns:a="http://schemas.openxmlformats.org/drawingml/2006/main">
              <a:ext uri="{FF2B5EF4-FFF2-40B4-BE49-F238E27FC236}">
                <a16:creationId xmlns:a16="http://schemas.microsoft.com/office/drawing/2014/main" id="{3E240F4A-14D9-48AC-8482-9540A659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新建连接命中首条规则</a:t>
            </a:r>
          </a:p>
        </p:txBody>
      </p:sp>
      <p:sp>
        <p:nvSpPr>
          <p:cNvPr id="5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7317B7F2-DEBF-42A9-9105-0D891428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8" name="正文-检查重点">
            <a:extLst xmlns:a="http://schemas.openxmlformats.org/drawingml/2006/main">
              <a:ext uri="{FF2B5EF4-FFF2-40B4-BE49-F238E27FC236}">
                <a16:creationId xmlns:a16="http://schemas.microsoft.com/office/drawing/2014/main" id="{7D28B572-E569-4C8C-BEA0-1E64A9C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6:p xmlns:ns6="http://schemas.openxmlformats.org/drawingml/2006/main">
            <ns6:pPr algn="l">
              <ns6:defRPr sz="1650" b="1">
                <ns6:solidFill>
                  <ns6:srgbClr val="002FA7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650" b="1">
                <ns6:solidFill>
                  <ns6:srgbClr val="002FA7"/>
                </ns6:solidFill>
                <ns6:latin typeface="Microsoft YaHei"/>
                <ns6:ea typeface="Microsoft YaHei"/>
                <ns6:cs typeface="Microsoft YaHei"/>
              </ns6:rPr>
              <ns6:t>检查重点</ns6:t>
            </ns6:r>
          </ns6:p>
        </p:txBody>
      </p:sp>
      <p:sp>
        <p:nvSpPr>
          <p:cNvPr id="59" name="正文-检查首条命中与规则顺序 审查整体授权范围">
            <a:extLst xmlns:a="http://schemas.openxmlformats.org/drawingml/2006/main">
              <a:ext uri="{FF2B5EF4-FFF2-40B4-BE49-F238E27FC236}">
                <a16:creationId xmlns:a16="http://schemas.microsoft.com/office/drawing/2014/main" id="{5C4ACAEC-934D-40F7-A697-816EB7A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检查首条命中与规则顺序</ns1:t>
            </ns1:r>
          </ns1:p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审查整体授权范围</ns2:t>
            </ns2:r>
          </ns2:p>
        </p:txBody>
      </p:sp>
      <p:sp>
        <p:nvSpPr>
          <p:cNvPr id="60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57009192-9DF0-4C79-B655-F875E7A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1" name="正文-修复要求">
            <a:extLst xmlns:a="http://schemas.openxmlformats.org/drawingml/2006/main">
              <a:ext uri="{FF2B5EF4-FFF2-40B4-BE49-F238E27FC236}">
                <a16:creationId xmlns:a16="http://schemas.microsoft.com/office/drawing/2014/main" id="{3347DBF7-D21E-4B8B-883C-5B487E73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7:p xmlns:ns7="http://schemas.openxmlformats.org/drawingml/2006/main">
            <ns7:pPr algn="l">
              <ns7:defRPr sz="1650" b="1">
                <ns7:solidFill>
                  <ns7:srgbClr val="002FA7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650" b="1">
                <ns7:solidFill>
                  <ns7:srgbClr val="002FA7"/>
                </ns7:solidFill>
                <ns7:latin typeface="Microsoft YaHei"/>
                <ns7:ea typeface="Microsoft YaHei"/>
                <ns7:cs typeface="Microsoft YaHei"/>
              </ns7:rPr>
              <ns7:t>修复要求</ns7:t>
            </ns7:r>
          </ns7:p>
        </p:txBody>
      </p:sp>
      <p:sp>
        <p:nvSpPr>
          <p:cNvPr id="62" name="正文-收敛过宽规则， 保留数据库业务。">
            <a:extLst xmlns:a="http://schemas.openxmlformats.org/drawingml/2006/main">
              <a:ext uri="{FF2B5EF4-FFF2-40B4-BE49-F238E27FC236}">
                <a16:creationId xmlns:a16="http://schemas.microsoft.com/office/drawing/2014/main" id="{6F8C1F09-FEBC-4F54-A9E4-7AF54C1A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3:p xmlns:ns3="http://schemas.openxmlformats.org/drawingml/2006/main">
            <ns3:pPr algn="l">
              <ns3:def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575" b="0">
                <ns3:solidFill>
                  <ns3:srgbClr val="16335F"/>
                </ns3:solidFill>
                <ns3:latin typeface="Microsoft YaHei"/>
                <ns3:ea typeface="Microsoft YaHei"/>
                <ns3:cs typeface="Microsoft YaHei"/>
              </ns3:rPr>
              <ns3:t>收敛过宽规则，</ns3:t>
            </ns3:r>
          </ns3:p>
          <ns4:p xmlns:ns4="http://schemas.openxmlformats.org/drawingml/2006/main">
            <ns4:pPr algn="l">
              <ns4:defRPr sz="157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575" b="0">
                <ns4:solidFill>
                  <ns4:srgbClr val="16335F"/>
                </ns4:solidFill>
                <ns4:latin typeface="Microsoft YaHei"/>
                <ns4:ea typeface="Microsoft YaHei"/>
                <ns4:cs typeface="Microsoft YaHei"/>
              </ns4:rPr>
              <ns4:t>保留数据库业务。</ns4:t>
            </ns4:r>
          </ns4:p>
        </p:txBody>
      </p:sp>
    </p:spTree>
    <p:extLst>
      <p:ext uri="{BB962C8B-B14F-4D97-AF65-F5344CB8AC3E}">
        <p14:creationId xmlns:p14="http://schemas.microsoft.com/office/powerpoint/2010/main" val="5416576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81B35F6D-A9F2-4220-A319-F341793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正文-案例二分析：首条 Any 放行遮蔽后续规则">
            <a:extLst xmlns:a="http://schemas.openxmlformats.org/drawingml/2006/main">
              <a:ext uri="{FF2B5EF4-FFF2-40B4-BE49-F238E27FC236}">
                <a16:creationId xmlns:a16="http://schemas.microsoft.com/office/drawing/2014/main" id="{44559EF5-F84F-44B7-A75F-799CC44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案例二分析：首条 Any 放行遮蔽后续规则</ns0:t>
            </ns0:r>
          </ns0:p>
        </p:txBody>
      </p:sp>
      <p:sp>
        <p:nvSpPr>
          <p:cNvPr id="3" name="正文-收敛宽泛授权后，以新建业务连接和未授权连接共同验收。">
            <a:extLst xmlns:a="http://schemas.openxmlformats.org/drawingml/2006/main">
              <a:ext uri="{FF2B5EF4-FFF2-40B4-BE49-F238E27FC236}">
                <a16:creationId xmlns:a16="http://schemas.microsoft.com/office/drawing/2014/main" id="{AD7A1EA4-AC10-41F2-8A40-5DDF5054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收敛宽泛授权后，以新建业务连接和未授权连接共同验收。</ns1:t>
            </ns1:r>
          </ns1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2E752498-499D-4998-A61E-2B1FB44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57">
            <a:extLst xmlns:a="http://schemas.openxmlformats.org/drawingml/2006/main">
              <a:ext uri="{FF2B5EF4-FFF2-40B4-BE49-F238E27FC236}">
                <a16:creationId xmlns:a16="http://schemas.microsoft.com/office/drawing/2014/main" id="{DF54BC4D-E3F4-4022-BB2C-34FFB22D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76</ns0:t>
            </ns0:r>
          </ns0:p>
        </p:txBody>
      </p:sp>
      <p:sp>
        <p:nvSpPr>
          <p:cNvPr id="6" name="统一风格-案例诊断与修复玻璃后沿-909">
            <a:extLst xmlns:a="http://schemas.openxmlformats.org/drawingml/2006/main">
              <a:ext uri="{FF2B5EF4-FFF2-40B4-BE49-F238E27FC236}">
                <a16:creationId xmlns:a16="http://schemas.microsoft.com/office/drawing/2014/main" id="{E2BAFCAF-09D7-4BF7-B990-5014987A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案例诊断与修复-910">
            <a:extLst xmlns:a="http://schemas.openxmlformats.org/drawingml/2006/main">
              <a:ext uri="{FF2B5EF4-FFF2-40B4-BE49-F238E27FC236}">
                <a16:creationId xmlns:a16="http://schemas.microsoft.com/office/drawing/2014/main" id="{B3CFAABC-5543-4B4D-8C1C-97FE3EBA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案例诊断与修复玻璃内沿-911">
            <a:extLst xmlns:a="http://schemas.openxmlformats.org/drawingml/2006/main">
              <a:ext uri="{FF2B5EF4-FFF2-40B4-BE49-F238E27FC236}">
                <a16:creationId xmlns:a16="http://schemas.microsoft.com/office/drawing/2014/main" id="{C51648DD-43AC-42E4-B574-8D7ADCD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13109"/>
            <a:ext cx="10947083" cy="1231583"/>
          </a:xfrm>
          <a:prstGeom xmlns:a="http://schemas.openxmlformats.org/drawingml/2006/main" prst="roundRect">
            <a:avLst>
              <a:gd name="adj" fmla="val 59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案例诊断与修复透光反射面-912">
            <a:extLst xmlns:a="http://schemas.openxmlformats.org/drawingml/2006/main">
              <a:ext uri="{FF2B5EF4-FFF2-40B4-BE49-F238E27FC236}">
                <a16:creationId xmlns:a16="http://schemas.microsoft.com/office/drawing/2014/main" id="{47FEFDD3-3A76-40C7-B65A-6E77032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1219200"/>
          </a:xfrm>
          <a:custGeom xmlns:a="http://schemas.openxmlformats.org/drawingml/2006/main"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案例诊断与修复边缘高光-913">
            <a:extLst xmlns:a="http://schemas.openxmlformats.org/drawingml/2006/main">
              <a:ext uri="{FF2B5EF4-FFF2-40B4-BE49-F238E27FC236}">
                <a16:creationId xmlns:a16="http://schemas.microsoft.com/office/drawing/2014/main" id="{9A6CC3E0-92C1-4545-A7B1-C702E3C9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custGeom xmlns:a="http://schemas.openxmlformats.org/drawingml/2006/main"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11BF688A-9ED3-443C-9D7D-84CAD94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ACL 在首条规则命中后停止继续匹配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7E174A22-54C3-46AF-AA82-88595FA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3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以已批准的源、目的与 TCP 3306 放行替换宽泛 Any 规则。</a:t>
            </a:r>
          </a:p>
        </p:txBody>
      </p:sp>
      <p:sp>
        <p:nvSpPr>
          <p:cNvPr id="13" name="统一风格-表格玻璃容器玻璃后沿-914">
            <a:extLst xmlns:a="http://schemas.openxmlformats.org/drawingml/2006/main">
              <a:ext uri="{FF2B5EF4-FFF2-40B4-BE49-F238E27FC236}">
                <a16:creationId xmlns:a16="http://schemas.microsoft.com/office/drawing/2014/main" id="{11AF2678-1247-4BF4-B545-8AD812F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表格玻璃容器-915">
            <a:extLst xmlns:a="http://schemas.openxmlformats.org/drawingml/2006/main">
              <a:ext uri="{FF2B5EF4-FFF2-40B4-BE49-F238E27FC236}">
                <a16:creationId xmlns:a16="http://schemas.microsoft.com/office/drawing/2014/main" id="{5F2E7AF0-6E08-4B48-A118-54BCA96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表格玻璃容器玻璃内沿-916">
            <a:extLst xmlns:a="http://schemas.openxmlformats.org/drawingml/2006/main">
              <a:ext uri="{FF2B5EF4-FFF2-40B4-BE49-F238E27FC236}">
                <a16:creationId xmlns:a16="http://schemas.microsoft.com/office/drawing/2014/main" id="{46EEF7F3-26AD-439D-9A04-DDE237D6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3508534"/>
            <a:ext cx="11099483" cy="2403158"/>
          </a:xfrm>
          <a:prstGeom xmlns:a="http://schemas.openxmlformats.org/drawingml/2006/main" prst="roundRect">
            <a:avLst>
              <a:gd name="adj" fmla="val 30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表格玻璃容器边缘高光-917">
            <a:extLst xmlns:a="http://schemas.openxmlformats.org/drawingml/2006/main">
              <a:ext uri="{FF2B5EF4-FFF2-40B4-BE49-F238E27FC236}">
                <a16:creationId xmlns:a16="http://schemas.microsoft.com/office/drawing/2014/main" id="{D8E3F3B4-496A-4E5B-8EFB-728E1141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custGeom xmlns:a="http://schemas.openxmlformats.org/drawingml/2006/main"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696B4-D776-4630-AFA4-9A9E00159023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精确业务放行、获批运维、范围内兜底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依赖梳理完成后启用阻断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新建数据库连接与业务交易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命中精确放行，业务正常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SSH 连接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命中预期阻断，拒绝成功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7778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3D7094E6-8082-4953-AC1B-A7C1C9F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86659BCA-C1CE-4422-A6D8-A5DE5485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案例三：业务正常却看不到 CFW 流量</a:t>
            </a:r>
          </a:p>
        </p:txBody>
      </p:sp>
      <p:sp>
        <p:nvSpPr>
          <p:cNvPr id="3" name="正文-目标网段命中旧对等连接，业务可达但未进入预期 ER / CFW 检查路径">
            <a:extLst xmlns:a="http://schemas.openxmlformats.org/drawingml/2006/main">
              <a:ext uri="{FF2B5EF4-FFF2-40B4-BE49-F238E27FC236}">
                <a16:creationId xmlns:a16="http://schemas.microsoft.com/office/drawing/2014/main" id="{E30B63B0-14E1-4331-AF4D-5479E12F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目标网段命中旧对等连接，业务可达但未进入预期 ER / CFW 检查路径</ns0:t>
            </ns0:r>
          </ns0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E6DC540-8748-450B-AB2E-2E593658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仅调整批准的业务范围，先评估旧互联是否还承载其他业务</a:t>
            </a:r>
          </a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AD6BE1C-F6C7-4A26-8FE9-8507E882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58">
            <a:extLst xmlns:a="http://schemas.openxmlformats.org/drawingml/2006/main">
              <a:ext uri="{FF2B5EF4-FFF2-40B4-BE49-F238E27FC236}">
                <a16:creationId xmlns:a16="http://schemas.microsoft.com/office/drawing/2014/main" id="{3B96E17A-B383-462F-B7A8-B8BA4E5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77</ns0:t>
            </ns0:r>
          </ns0:p>
        </p:txBody>
      </p:sp>
      <p:sp>
        <p:nvSpPr>
          <p:cNvPr id="7" name="统一风格-case-bypass 应用 VPC玻璃后沿-918">
            <a:extLst xmlns:a="http://schemas.openxmlformats.org/drawingml/2006/main">
              <a:ext uri="{FF2B5EF4-FFF2-40B4-BE49-F238E27FC236}">
                <a16:creationId xmlns:a16="http://schemas.microsoft.com/office/drawing/2014/main" id="{3032A6A4-D744-4CB2-BE44-220F81F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242457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case-bypass 应用 VPC-919">
            <a:extLst xmlns:a="http://schemas.openxmlformats.org/drawingml/2006/main">
              <a:ext uri="{FF2B5EF4-FFF2-40B4-BE49-F238E27FC236}">
                <a16:creationId xmlns:a16="http://schemas.microsoft.com/office/drawing/2014/main" id="{475EF53F-27F2-490B-BDC2-55BBE6C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242457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case-bypass 应用 VPC玻璃内沿-920">
            <a:extLst xmlns:a="http://schemas.openxmlformats.org/drawingml/2006/main">
              <a:ext uri="{FF2B5EF4-FFF2-40B4-BE49-F238E27FC236}">
                <a16:creationId xmlns:a16="http://schemas.microsoft.com/office/drawing/2014/main" id="{F1D626F3-D124-44A6-B593-E016907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98108"/>
            <a:ext cx="2216740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case-bypass 应用 VPC透光反射面-921">
            <a:extLst xmlns:a="http://schemas.openxmlformats.org/drawingml/2006/main">
              <a:ext uri="{FF2B5EF4-FFF2-40B4-BE49-F238E27FC236}">
                <a16:creationId xmlns:a16="http://schemas.microsoft.com/office/drawing/2014/main" id="{8597490A-9263-43AF-93BE-5332D771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4299"/>
            <a:ext cx="2204357" cy="877570"/>
          </a:xfrm>
          <a:custGeom xmlns:a="http://schemas.openxmlformats.org/drawingml/2006/main"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case-bypass 应用 VPC边缘高光-922">
            <a:extLst xmlns:a="http://schemas.openxmlformats.org/drawingml/2006/main">
              <a:ext uri="{FF2B5EF4-FFF2-40B4-BE49-F238E27FC236}">
                <a16:creationId xmlns:a16="http://schemas.microsoft.com/office/drawing/2014/main" id="{940AEDF7-F369-4849-9E00-3643563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249"/>
            <a:ext cx="2242457" cy="915670"/>
          </a:xfrm>
          <a:custGeom xmlns:a="http://schemas.openxmlformats.org/drawingml/2006/main"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923">
            <a:extLst xmlns:a="http://schemas.openxmlformats.org/drawingml/2006/main">
              <a:ext uri="{FF2B5EF4-FFF2-40B4-BE49-F238E27FC236}">
                <a16:creationId xmlns:a16="http://schemas.microsoft.com/office/drawing/2014/main" id="{77A2C495-FF66-4AD2-B615-A32F397F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1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13" name="统一风格-文字 应用 VPC-924">
            <a:extLst xmlns:a="http://schemas.openxmlformats.org/drawingml/2006/main">
              <a:ext uri="{FF2B5EF4-FFF2-40B4-BE49-F238E27FC236}">
                <a16:creationId xmlns:a16="http://schemas.microsoft.com/office/drawing/2014/main" id="{E4475498-F45E-45BF-8322-2FC2ABAB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244090"/>
            <a:ext cx="136416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925">
            <a:extLst xmlns:a="http://schemas.openxmlformats.org/drawingml/2006/main">
              <a:ext uri="{FF2B5EF4-FFF2-40B4-BE49-F238E27FC236}">
                <a16:creationId xmlns:a16="http://schemas.microsoft.com/office/drawing/2014/main" id="{F3421B03-4CA1-40CC-9B45-DE505F18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16" y="2571115"/>
            <a:ext cx="1364161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case-bypass 数据 VPC玻璃后沿-926">
            <a:extLst xmlns:a="http://schemas.openxmlformats.org/drawingml/2006/main">
              <a:ext uri="{FF2B5EF4-FFF2-40B4-BE49-F238E27FC236}">
                <a16:creationId xmlns:a16="http://schemas.microsoft.com/office/drawing/2014/main" id="{52A57566-B6E0-4F13-841F-631070E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43" y="2085249"/>
            <a:ext cx="2242457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case-bypass 数据 VPC-927">
            <a:extLst xmlns:a="http://schemas.openxmlformats.org/drawingml/2006/main">
              <a:ext uri="{FF2B5EF4-FFF2-40B4-BE49-F238E27FC236}">
                <a16:creationId xmlns:a16="http://schemas.microsoft.com/office/drawing/2014/main" id="{A613E765-2EE8-47CC-907A-5AD69FC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43" y="2085249"/>
            <a:ext cx="2242457" cy="915670"/>
          </a:xfrm>
          <a:prstGeom xmlns:a="http://schemas.openxmlformats.org/drawingml/2006/main" prst="roundRect">
            <a:avLst>
              <a:gd name="adj" fmla="val 93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case-bypass 数据 VPC玻璃内沿-928">
            <a:extLst xmlns:a="http://schemas.openxmlformats.org/drawingml/2006/main">
              <a:ext uri="{FF2B5EF4-FFF2-40B4-BE49-F238E27FC236}">
                <a16:creationId xmlns:a16="http://schemas.microsoft.com/office/drawing/2014/main" id="{D412918A-2E55-4AA0-97FD-2A0CDD24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602" y="2098108"/>
            <a:ext cx="2216740" cy="889952"/>
          </a:xfrm>
          <a:prstGeom xmlns:a="http://schemas.openxmlformats.org/drawingml/2006/main" prst="roundRect">
            <a:avLst>
              <a:gd name="adj" fmla="val 82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case-bypass 数据 VPC透光反射面-929">
            <a:extLst xmlns:a="http://schemas.openxmlformats.org/drawingml/2006/main">
              <a:ext uri="{FF2B5EF4-FFF2-40B4-BE49-F238E27FC236}">
                <a16:creationId xmlns:a16="http://schemas.microsoft.com/office/drawing/2014/main" id="{E7E6E7D5-2D94-43FB-82AC-5F4F81B2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793" y="2104299"/>
            <a:ext cx="2204357" cy="877570"/>
          </a:xfrm>
          <a:custGeom xmlns:a="http://schemas.openxmlformats.org/drawingml/2006/main"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case-bypass 数据 VPC边缘高光-930">
            <a:extLst xmlns:a="http://schemas.openxmlformats.org/drawingml/2006/main">
              <a:ext uri="{FF2B5EF4-FFF2-40B4-BE49-F238E27FC236}">
                <a16:creationId xmlns:a16="http://schemas.microsoft.com/office/drawing/2014/main" id="{8EDCFF65-F044-45B2-A93B-237F0136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43" y="2085249"/>
            <a:ext cx="2242457" cy="915670"/>
          </a:xfrm>
          <a:custGeom xmlns:a="http://schemas.openxmlformats.org/drawingml/2006/main"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cloud VPC 云轮廓-931">
            <a:extLst xmlns:a="http://schemas.openxmlformats.org/drawingml/2006/main">
              <a:ext uri="{FF2B5EF4-FFF2-40B4-BE49-F238E27FC236}">
                <a16:creationId xmlns:a16="http://schemas.microsoft.com/office/drawing/2014/main" id="{A23F58C9-4EA3-4836-93BC-229BB5B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584" y="2309495"/>
            <a:ext cx="448491" cy="448491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21" name="统一风格-文字 数据 VPC-932">
            <a:extLst xmlns:a="http://schemas.openxmlformats.org/drawingml/2006/main">
              <a:ext uri="{FF2B5EF4-FFF2-40B4-BE49-F238E27FC236}">
                <a16:creationId xmlns:a16="http://schemas.microsoft.com/office/drawing/2014/main" id="{2574BAAC-0593-48D5-B801-17D8F57D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259" y="2244090"/>
            <a:ext cx="136416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22" name="统一风格-文字 10.30.20.10-933">
            <a:extLst xmlns:a="http://schemas.openxmlformats.org/drawingml/2006/main">
              <a:ext uri="{FF2B5EF4-FFF2-40B4-BE49-F238E27FC236}">
                <a16:creationId xmlns:a16="http://schemas.microsoft.com/office/drawing/2014/main" id="{7F73F54E-BB39-4A4A-A300-AE67C3C0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259" y="2571115"/>
            <a:ext cx="1364161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23" name="统一拓扑-case-bypass-连线-1">
            <a:extLst xmlns:a="http://schemas.openxmlformats.org/drawingml/2006/main">
              <a:ext uri="{FF2B5EF4-FFF2-40B4-BE49-F238E27FC236}">
                <a16:creationId xmlns:a16="http://schemas.microsoft.com/office/drawing/2014/main" id="{827178AC-69CD-4277-A0A9-11C50A157C1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2057" y="2543084"/>
            <a:ext cx="3363686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647B9C"/>
            </a:solidFill>
            <a:prstDash val="dash"/>
            <a:tailEnd type="triangle" w="sm" len="sm"/>
          </a:ln>
        </p:spPr>
      </p:cxnSp>
      <p:sp>
        <p:nvSpPr>
          <p:cNvPr id="24" name="统一风格-case-bypass 关系文字衬底-934">
            <a:extLst xmlns:a="http://schemas.openxmlformats.org/drawingml/2006/main">
              <a:ext uri="{FF2B5EF4-FFF2-40B4-BE49-F238E27FC236}">
                <a16:creationId xmlns:a16="http://schemas.microsoft.com/office/drawing/2014/main" id="{86D18F13-A720-42AE-8F87-EADF2C3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806" y="2169341"/>
            <a:ext cx="3232876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0">
            <a:noFill/>
          </a:ln>
        </p:spPr>
      </p:sp>
      <p:sp>
        <p:nvSpPr>
          <p:cNvPr id="25" name="统一风格-文字 旧对等连接：实际命中-935">
            <a:extLst xmlns:a="http://schemas.openxmlformats.org/drawingml/2006/main">
              <a:ext uri="{FF2B5EF4-FFF2-40B4-BE49-F238E27FC236}">
                <a16:creationId xmlns:a16="http://schemas.microsoft.com/office/drawing/2014/main" id="{5104A53F-7DA5-4CAB-BE83-ADADF36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169341"/>
            <a:ext cx="3158127" cy="26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旧对等连接：实际命中</a:t>
            </a:r>
          </a:p>
        </p:txBody>
      </p:sp>
      <p:cxnSp>
        <p:nvCxnSpPr>
          <p:cNvPr id="26" name="统一拓扑-case-bypass-连线-2">
            <a:extLst xmlns:a="http://schemas.openxmlformats.org/drawingml/2006/main">
              <a:ext uri="{FF2B5EF4-FFF2-40B4-BE49-F238E27FC236}">
                <a16:creationId xmlns:a16="http://schemas.microsoft.com/office/drawing/2014/main" id="{93C61F79-5036-43F7-84DE-394DEE6562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30829" y="3000919"/>
            <a:ext cx="0" cy="672737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case-bypass-连线-3">
            <a:extLst xmlns:a="http://schemas.openxmlformats.org/drawingml/2006/main">
              <a:ext uri="{FF2B5EF4-FFF2-40B4-BE49-F238E27FC236}">
                <a16:creationId xmlns:a16="http://schemas.microsoft.com/office/drawing/2014/main" id="{1B0BBC53-74A8-4F1F-9EA8-03E1E26724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6971" y="3000919"/>
            <a:ext cx="0" cy="672737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B8CBE9"/>
            </a:solidFill>
            <a:prstDash val="solid"/>
          </a:ln>
        </p:spPr>
      </p:cxnSp>
      <p:sp>
        <p:nvSpPr>
          <p:cNvPr id="28" name="统一风格-case-bypass ER 单一共享路由域玻璃后沿-936">
            <a:extLst xmlns:a="http://schemas.openxmlformats.org/drawingml/2006/main">
              <a:ext uri="{FF2B5EF4-FFF2-40B4-BE49-F238E27FC236}">
                <a16:creationId xmlns:a16="http://schemas.microsoft.com/office/drawing/2014/main" id="{CA8AE101-5570-45CD-9694-E089416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14" y="3673656"/>
            <a:ext cx="6727371" cy="971731"/>
          </a:xfrm>
          <a:prstGeom xmlns:a="http://schemas.openxmlformats.org/drawingml/2006/main" prst="roundRect">
            <a:avLst>
              <a:gd name="adj" fmla="val 882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统一风格-case-bypass ER 单一共享路由域-937">
            <a:extLst xmlns:a="http://schemas.openxmlformats.org/drawingml/2006/main">
              <a:ext uri="{FF2B5EF4-FFF2-40B4-BE49-F238E27FC236}">
                <a16:creationId xmlns:a16="http://schemas.microsoft.com/office/drawing/2014/main" id="{B5168D43-4B9A-44D0-B708-15D32364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14" y="3673656"/>
            <a:ext cx="6727371" cy="971731"/>
          </a:xfrm>
          <a:prstGeom xmlns:a="http://schemas.openxmlformats.org/drawingml/2006/main" prst="roundRect">
            <a:avLst>
              <a:gd name="adj" fmla="val 882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case-bypass ER 单一共享路由域玻璃内沿-938">
            <a:extLst xmlns:a="http://schemas.openxmlformats.org/drawingml/2006/main">
              <a:ext uri="{FF2B5EF4-FFF2-40B4-BE49-F238E27FC236}">
                <a16:creationId xmlns:a16="http://schemas.microsoft.com/office/drawing/2014/main" id="{BBE756CB-CBF7-434A-A32E-192931A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73" y="3686515"/>
            <a:ext cx="6701654" cy="946014"/>
          </a:xfrm>
          <a:prstGeom xmlns:a="http://schemas.openxmlformats.org/drawingml/2006/main" prst="roundRect">
            <a:avLst>
              <a:gd name="adj" fmla="val 775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case-bypass ER 单一共享路由域透光反射面-939">
            <a:extLst xmlns:a="http://schemas.openxmlformats.org/drawingml/2006/main">
              <a:ext uri="{FF2B5EF4-FFF2-40B4-BE49-F238E27FC236}">
                <a16:creationId xmlns:a16="http://schemas.microsoft.com/office/drawing/2014/main" id="{EF28E4CE-B61D-47E2-B081-9C1141B0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64" y="3692706"/>
            <a:ext cx="6689271" cy="933631"/>
          </a:xfrm>
          <a:custGeom xmlns:a="http://schemas.openxmlformats.org/drawingml/2006/main">
            <a:pathLst>
              <a:path w="6689271" h="933631">
                <a:moveTo>
                  <a:pt x="76200" y="0"/>
                </a:moveTo>
                <a:lnTo>
                  <a:pt x="4281134" y="0"/>
                </a:lnTo>
                <a:lnTo>
                  <a:pt x="1739211" y="933631"/>
                </a:lnTo>
                <a:lnTo>
                  <a:pt x="76200" y="933631"/>
                </a:lnTo>
                <a:cubicBezTo>
                  <a:pt x="28575" y="933631"/>
                  <a:pt x="0" y="905056"/>
                  <a:pt x="0" y="85743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2" name="统一风格-case-bypass ER 单一共享路由域边缘高光-940">
            <a:extLst xmlns:a="http://schemas.openxmlformats.org/drawingml/2006/main">
              <a:ext uri="{FF2B5EF4-FFF2-40B4-BE49-F238E27FC236}">
                <a16:creationId xmlns:a16="http://schemas.microsoft.com/office/drawing/2014/main" id="{F88BF756-F3B5-48B6-B6AA-A0F47420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14" y="3673656"/>
            <a:ext cx="6727371" cy="971731"/>
          </a:xfrm>
          <a:custGeom xmlns:a="http://schemas.openxmlformats.org/drawingml/2006/main">
            <a:pathLst>
              <a:path w="6727371" h="971731">
                <a:moveTo>
                  <a:pt x="95250" y="9525"/>
                </a:moveTo>
                <a:lnTo>
                  <a:pt x="6632121" y="9525"/>
                </a:lnTo>
                <a:cubicBezTo>
                  <a:pt x="6679746" y="9525"/>
                  <a:pt x="6717846" y="47625"/>
                  <a:pt x="6717846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统一风格-router ER 路由器外形-941">
            <a:extLst xmlns:a="http://schemas.openxmlformats.org/drawingml/2006/main">
              <a:ext uri="{FF2B5EF4-FFF2-40B4-BE49-F238E27FC236}">
                <a16:creationId xmlns:a16="http://schemas.microsoft.com/office/drawing/2014/main" id="{B40B92B7-3464-46B4-91D8-015BCE83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99" y="3795123"/>
            <a:ext cx="429804" cy="429804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113" cap="rnd">
            <a:solidFill>
              <a:srgbClr val="2053C3"/>
            </a:solidFill>
            <a:round/>
          </a:ln>
        </p:spPr>
      </p:sp>
      <p:sp>
        <p:nvSpPr>
          <p:cNvPr id="34" name="统一风格-router ER 四向路由-942">
            <a:extLst xmlns:a="http://schemas.openxmlformats.org/drawingml/2006/main">
              <a:ext uri="{FF2B5EF4-FFF2-40B4-BE49-F238E27FC236}">
                <a16:creationId xmlns:a16="http://schemas.microsoft.com/office/drawing/2014/main" id="{2766BF96-E91F-44E7-ACC6-C03AAEC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99" y="3795123"/>
            <a:ext cx="429804" cy="429804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7113" cap="rnd">
            <a:solidFill>
              <a:srgbClr val="2053C3"/>
            </a:solidFill>
            <a:round/>
          </a:ln>
        </p:spPr>
      </p:sp>
      <p:sp>
        <p:nvSpPr>
          <p:cNvPr id="35" name="统一风格-文字 同一个 ER 实例-943">
            <a:extLst xmlns:a="http://schemas.openxmlformats.org/drawingml/2006/main">
              <a:ext uri="{FF2B5EF4-FFF2-40B4-BE49-F238E27FC236}">
                <a16:creationId xmlns:a16="http://schemas.microsoft.com/office/drawing/2014/main" id="{1A10BF53-6B6C-42C4-A200-DFB74A9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074" y="3785779"/>
            <a:ext cx="5793014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同一个 ER 实例</a:t>
            </a:r>
          </a:p>
        </p:txBody>
      </p:sp>
      <p:sp>
        <p:nvSpPr>
          <p:cNvPr id="36" name="统一风格-文字 er-RT1 送检-944">
            <a:extLst xmlns:a="http://schemas.openxmlformats.org/drawingml/2006/main">
              <a:ext uri="{FF2B5EF4-FFF2-40B4-BE49-F238E27FC236}">
                <a16:creationId xmlns:a16="http://schemas.microsoft.com/office/drawing/2014/main" id="{1C5E010D-0E2A-405B-94B0-32832AD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418" y="4215584"/>
            <a:ext cx="2429329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er-RT1 送检</a:t>
            </a:r>
          </a:p>
        </p:txBody>
      </p:sp>
      <p:sp>
        <p:nvSpPr>
          <p:cNvPr id="37" name="统一风格-文字 er-RT2 转发至目标 VPC-945">
            <a:extLst xmlns:a="http://schemas.openxmlformats.org/drawingml/2006/main">
              <a:ext uri="{FF2B5EF4-FFF2-40B4-BE49-F238E27FC236}">
                <a16:creationId xmlns:a16="http://schemas.microsoft.com/office/drawing/2014/main" id="{31EA1F87-C6BA-4CBF-AD7D-63D6DBA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992" y="4215584"/>
            <a:ext cx="3036661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er-RT2 转发至目标 VPC</a:t>
            </a:r>
          </a:p>
        </p:txBody>
      </p:sp>
      <p:sp>
        <p:nvSpPr>
          <p:cNvPr id="38" name="统一风格-case-bypass CFW玻璃后沿-946">
            <a:extLst xmlns:a="http://schemas.openxmlformats.org/drawingml/2006/main">
              <a:ext uri="{FF2B5EF4-FFF2-40B4-BE49-F238E27FC236}">
                <a16:creationId xmlns:a16="http://schemas.microsoft.com/office/drawing/2014/main" id="{7C317E06-6BAB-4A8C-A028-A469C2B6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47161"/>
            <a:ext cx="2242457" cy="859609"/>
          </a:xfrm>
          <a:prstGeom xmlns:a="http://schemas.openxmlformats.org/drawingml/2006/main" prst="roundRect">
            <a:avLst>
              <a:gd name="adj" fmla="val 997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统一风格-case-bypass CFW-947">
            <a:extLst xmlns:a="http://schemas.openxmlformats.org/drawingml/2006/main">
              <a:ext uri="{FF2B5EF4-FFF2-40B4-BE49-F238E27FC236}">
                <a16:creationId xmlns:a16="http://schemas.microsoft.com/office/drawing/2014/main" id="{6B8FBA8F-9E32-4A77-92E0-FC2483A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47161"/>
            <a:ext cx="2242457" cy="859609"/>
          </a:xfrm>
          <a:prstGeom xmlns:a="http://schemas.openxmlformats.org/drawingml/2006/main" prst="roundRect">
            <a:avLst>
              <a:gd name="adj" fmla="val 997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0" name="统一风格-case-bypass CFW玻璃内沿-948">
            <a:extLst xmlns:a="http://schemas.openxmlformats.org/drawingml/2006/main">
              <a:ext uri="{FF2B5EF4-FFF2-40B4-BE49-F238E27FC236}">
                <a16:creationId xmlns:a16="http://schemas.microsoft.com/office/drawing/2014/main" id="{DF7EDA62-B138-4F40-881E-CE33DF8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530" y="5060020"/>
            <a:ext cx="2216740" cy="833891"/>
          </a:xfrm>
          <a:prstGeom xmlns:a="http://schemas.openxmlformats.org/drawingml/2006/main" prst="roundRect">
            <a:avLst>
              <a:gd name="adj" fmla="val 879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1" name="统一风格-case-bypass CFW透光反射面-949">
            <a:extLst xmlns:a="http://schemas.openxmlformats.org/drawingml/2006/main">
              <a:ext uri="{FF2B5EF4-FFF2-40B4-BE49-F238E27FC236}">
                <a16:creationId xmlns:a16="http://schemas.microsoft.com/office/drawing/2014/main" id="{17D09776-3859-4FEC-BECA-97FFCDCA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721" y="5066211"/>
            <a:ext cx="2204357" cy="821509"/>
          </a:xfrm>
          <a:custGeom xmlns:a="http://schemas.openxmlformats.org/drawingml/2006/main">
            <a:pathLst>
              <a:path w="2204357" h="821509">
                <a:moveTo>
                  <a:pt x="76200" y="0"/>
                </a:moveTo>
                <a:lnTo>
                  <a:pt x="1410789" y="0"/>
                </a:lnTo>
                <a:lnTo>
                  <a:pt x="573133" y="821509"/>
                </a:lnTo>
                <a:lnTo>
                  <a:pt x="76200" y="821509"/>
                </a:lnTo>
                <a:cubicBezTo>
                  <a:pt x="28575" y="821509"/>
                  <a:pt x="0" y="792934"/>
                  <a:pt x="0" y="74530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2" name="统一风格-case-bypass CFW边缘高光-950">
            <a:extLst xmlns:a="http://schemas.openxmlformats.org/drawingml/2006/main">
              <a:ext uri="{FF2B5EF4-FFF2-40B4-BE49-F238E27FC236}">
                <a16:creationId xmlns:a16="http://schemas.microsoft.com/office/drawing/2014/main" id="{6BB1B71C-DC98-4037-8335-402E31B1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71" y="5047161"/>
            <a:ext cx="2242457" cy="859609"/>
          </a:xfrm>
          <a:custGeom xmlns:a="http://schemas.openxmlformats.org/drawingml/2006/main">
            <a:pathLst>
              <a:path w="2242457" h="859609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firewall CFW 砖墙-951">
            <a:extLst xmlns:a="http://schemas.openxmlformats.org/drawingml/2006/main">
              <a:ext uri="{FF2B5EF4-FFF2-40B4-BE49-F238E27FC236}">
                <a16:creationId xmlns:a16="http://schemas.microsoft.com/office/drawing/2014/main" id="{8CAF190F-7A04-41CA-B2B3-F501DE7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7140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4" name="统一风格-firewall CFW 砖缝-952">
            <a:extLst xmlns:a="http://schemas.openxmlformats.org/drawingml/2006/main">
              <a:ext uri="{FF2B5EF4-FFF2-40B4-BE49-F238E27FC236}">
                <a16:creationId xmlns:a16="http://schemas.microsoft.com/office/drawing/2014/main" id="{4D92BB1B-2F56-4737-9D43-08CEDCC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7140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5" name="统一风格-firewall CFW 前景衬底-953">
            <a:extLst xmlns:a="http://schemas.openxmlformats.org/drawingml/2006/main">
              <a:ext uri="{FF2B5EF4-FFF2-40B4-BE49-F238E27FC236}">
                <a16:creationId xmlns:a16="http://schemas.microsoft.com/office/drawing/2014/main" id="{68C4DF8D-FD2F-460D-82B8-BA58FF2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7140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6" name="统一风格-firewall CFW 简洁火焰-954">
            <a:extLst xmlns:a="http://schemas.openxmlformats.org/drawingml/2006/main">
              <a:ext uri="{FF2B5EF4-FFF2-40B4-BE49-F238E27FC236}">
                <a16:creationId xmlns:a16="http://schemas.microsoft.com/office/drawing/2014/main" id="{EBB0B6DB-5077-46C2-9D80-F185337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2" y="5271407"/>
            <a:ext cx="448491" cy="448491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7857" cap="rnd">
            <a:solidFill>
              <a:srgbClr val="2053C3"/>
            </a:solidFill>
            <a:round/>
          </a:ln>
        </p:spPr>
      </p:sp>
      <p:sp>
        <p:nvSpPr>
          <p:cNvPr id="47" name="统一风格-文字 CFW-955">
            <a:extLst xmlns:a="http://schemas.openxmlformats.org/drawingml/2006/main">
              <a:ext uri="{FF2B5EF4-FFF2-40B4-BE49-F238E27FC236}">
                <a16:creationId xmlns:a16="http://schemas.microsoft.com/office/drawing/2014/main" id="{FDABB301-975B-4A39-9560-F3E1BD8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188" y="5206002"/>
            <a:ext cx="136416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48" name="统一风格-文字 预期检查路径-956">
            <a:extLst xmlns:a="http://schemas.openxmlformats.org/drawingml/2006/main">
              <a:ext uri="{FF2B5EF4-FFF2-40B4-BE49-F238E27FC236}">
                <a16:creationId xmlns:a16="http://schemas.microsoft.com/office/drawing/2014/main" id="{206977AF-707F-463B-83A7-ED4E706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188" y="5533027"/>
            <a:ext cx="1364161" cy="298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预期检查路径</a:t>
            </a:r>
          </a:p>
        </p:txBody>
      </p:sp>
      <p:cxnSp>
        <p:nvCxnSpPr>
          <p:cNvPr id="49" name="统一拓扑-case-bypass-连线-4">
            <a:extLst xmlns:a="http://schemas.openxmlformats.org/drawingml/2006/main">
              <a:ext uri="{FF2B5EF4-FFF2-40B4-BE49-F238E27FC236}">
                <a16:creationId xmlns:a16="http://schemas.microsoft.com/office/drawing/2014/main" id="{4D98894D-DCBA-4258-BBAA-81989ABFF7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36149" y="4645388"/>
            <a:ext cx="0" cy="186871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</a:ln>
        </p:spPr>
      </p:cxnSp>
      <p:cxnSp>
        <p:nvCxnSpPr>
          <p:cNvPr id="50" name="统一拓扑-case-bypass-连线-5">
            <a:extLst xmlns:a="http://schemas.openxmlformats.org/drawingml/2006/main">
              <a:ext uri="{FF2B5EF4-FFF2-40B4-BE49-F238E27FC236}">
                <a16:creationId xmlns:a16="http://schemas.microsoft.com/office/drawing/2014/main" id="{6B59001C-02A0-4A64-8F3B-6A038B5554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36149" y="4832259"/>
            <a:ext cx="822234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</a:ln>
        </p:spPr>
      </p:cxnSp>
      <p:cxnSp>
        <p:nvCxnSpPr>
          <p:cNvPr id="51" name="统一拓扑-case-bypass-连线-6">
            <a:extLst xmlns:a="http://schemas.openxmlformats.org/drawingml/2006/main">
              <a:ext uri="{FF2B5EF4-FFF2-40B4-BE49-F238E27FC236}">
                <a16:creationId xmlns:a16="http://schemas.microsoft.com/office/drawing/2014/main" id="{E0C5C7F5-602B-4205-AA43-B7EE5F616F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58384" y="4832259"/>
            <a:ext cx="0" cy="214902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  <a:tailEnd type="triangle" w="sm" len="sm"/>
          </a:ln>
        </p:spPr>
      </p:cxnSp>
      <p:cxnSp>
        <p:nvCxnSpPr>
          <p:cNvPr id="52" name="统一拓扑-case-bypass-连线-7">
            <a:extLst xmlns:a="http://schemas.openxmlformats.org/drawingml/2006/main">
              <a:ext uri="{FF2B5EF4-FFF2-40B4-BE49-F238E27FC236}">
                <a16:creationId xmlns:a16="http://schemas.microsoft.com/office/drawing/2014/main" id="{902804B6-16F2-4833-B60E-D600D8FCC5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55129" y="5476966"/>
            <a:ext cx="1037136" cy="0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</a:ln>
        </p:spPr>
      </p:cxnSp>
      <p:cxnSp>
        <p:nvCxnSpPr>
          <p:cNvPr id="53" name="统一拓扑-case-bypass-连线-8">
            <a:extLst xmlns:a="http://schemas.openxmlformats.org/drawingml/2006/main">
              <a:ext uri="{FF2B5EF4-FFF2-40B4-BE49-F238E27FC236}">
                <a16:creationId xmlns:a16="http://schemas.microsoft.com/office/drawing/2014/main" id="{39F32997-6C37-4EBA-BB09-4DEF0696164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92265" y="4645388"/>
            <a:ext cx="0" cy="831578"/>
          </a:xfrm>
          <a:prstGeom xmlns:a="http://schemas.openxmlformats.org/drawingml/2006/main" prst="straightConnector1">
            <a:avLst/>
          </a:prstGeom>
          <a:ln xmlns:a="http://schemas.openxmlformats.org/drawingml/2006/main" w="15417">
            <a:solidFill>
              <a:srgbClr val="7293CE"/>
            </a:solidFill>
            <a:prstDash val="solid"/>
            <a:tailEnd type="triangle" w="sm" len="sm"/>
          </a:ln>
        </p:spPr>
      </p:cxnSp>
      <p:sp>
        <p:nvSpPr>
          <p:cNvPr id="54" name="统一风格-文字 未看到该业务流-957">
            <a:extLst xmlns:a="http://schemas.openxmlformats.org/drawingml/2006/main">
              <a:ext uri="{FF2B5EF4-FFF2-40B4-BE49-F238E27FC236}">
                <a16:creationId xmlns:a16="http://schemas.microsoft.com/office/drawing/2014/main" id="{153728C7-9161-4702-AD30-2790FAB0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179" y="5589089"/>
            <a:ext cx="2055586" cy="28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未看到该业务流</a:t>
            </a:r>
          </a:p>
        </p:txBody>
      </p:sp>
      <p:cxnSp>
        <p:nvCxnSpPr>
          <p:cNvPr id="55" name="统一拓扑-case-bypass-连线-9">
            <a:extLst xmlns:a="http://schemas.openxmlformats.org/drawingml/2006/main">
              <a:ext uri="{FF2B5EF4-FFF2-40B4-BE49-F238E27FC236}">
                <a16:creationId xmlns:a16="http://schemas.microsoft.com/office/drawing/2014/main" id="{C15A0DEF-7006-4794-8E22-2D92E01589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4276" y="5654494"/>
            <a:ext cx="130810" cy="130810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bypass-连线-10">
            <a:extLst xmlns:a="http://schemas.openxmlformats.org/drawingml/2006/main">
              <a:ext uri="{FF2B5EF4-FFF2-40B4-BE49-F238E27FC236}">
                <a16:creationId xmlns:a16="http://schemas.microsoft.com/office/drawing/2014/main" id="{AD7890E4-0677-44CA-9810-74D2CF84697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94276" y="5654494"/>
            <a:ext cx="130810" cy="130810"/>
          </a:xfrm>
          <a:prstGeom xmlns:a="http://schemas.openxmlformats.org/drawingml/2006/main" prst="straightConnector1">
            <a:avLst/>
          </a:prstGeom>
          <a:ln xmlns:a="http://schemas.openxmlformats.org/drawingml/2006/main" w="23359">
            <a:solidFill>
              <a:srgbClr val="16335F"/>
            </a:solidFill>
            <a:prstDash val="solid"/>
          </a:ln>
        </p:spPr>
      </p:cxnSp>
      <p:sp>
        <p:nvSpPr>
          <p:cNvPr id="57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56001BA-591B-4961-A64F-76F42ED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FE8F5"/>
            </a:solidFill>
          </a:ln>
        </p:spPr>
      </p:sp>
      <p:sp>
        <p:nvSpPr>
          <p:cNvPr id="58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DF9EADA-92BA-4F87-9372-09E5243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59" name="txt-58">
            <a:extLst xmlns:a="http://schemas.openxmlformats.org/drawingml/2006/main">
              <a:ext uri="{FF2B5EF4-FFF2-40B4-BE49-F238E27FC236}">
                <a16:creationId xmlns:a16="http://schemas.microsoft.com/office/drawing/2014/main" id="{FCF847CE-607B-49CD-9822-E4E47AC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已排除</a:t>
            </a:r>
          </a:p>
        </p:txBody>
      </p:sp>
      <p:sp>
        <p:nvSpPr>
          <p:cNvPr id="60" name="txt-59">
            <a:extLst xmlns:a="http://schemas.openxmlformats.org/drawingml/2006/main">
              <a:ext uri="{FF2B5EF4-FFF2-40B4-BE49-F238E27FC236}">
                <a16:creationId xmlns:a16="http://schemas.microsoft.com/office/drawing/2014/main" id="{F63BFF9F-F954-4DAB-BE87-FC55BAE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边界、实例、筛选时间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与上报条件问题</a:t>
            </a:r>
          </a:p>
        </p:txBody>
      </p:sp>
      <p:sp>
        <p:nvSpPr>
          <p:cNvPr id="61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A3E3C527-8371-4340-9821-F93D023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2" name="txt-61">
            <a:extLst xmlns:a="http://schemas.openxmlformats.org/drawingml/2006/main">
              <a:ext uri="{FF2B5EF4-FFF2-40B4-BE49-F238E27FC236}">
                <a16:creationId xmlns:a16="http://schemas.microsoft.com/office/drawing/2014/main" id="{E9FA2B12-FF37-42CD-8129-33B4D037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已观测</a:t>
            </a:r>
          </a:p>
        </p:txBody>
      </p:sp>
      <p:sp>
        <p:nvSpPr>
          <p:cNvPr id="63" name="txt-62">
            <a:extLst xmlns:a="http://schemas.openxmlformats.org/drawingml/2006/main">
              <a:ext uri="{FF2B5EF4-FFF2-40B4-BE49-F238E27FC236}">
                <a16:creationId xmlns:a16="http://schemas.microsoft.com/office/drawing/2014/main" id="{8388DE0A-CF2B-42E1-B4FC-EE6C93D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目标网段实际命中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旧对等连接路径</a:t>
            </a:r>
          </a:p>
        </p:txBody>
      </p:sp>
      <p:sp>
        <p:nvSpPr>
          <p:cNvPr id="6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EA7D206-DAF1-4EAD-BEAE-A83D080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B6CBEF"/>
            </a:solidFill>
          </a:ln>
        </p:spPr>
      </p:sp>
      <p:sp>
        <p:nvSpPr>
          <p:cNvPr id="65" name="正文-检查重点">
            <a:extLst xmlns:a="http://schemas.openxmlformats.org/drawingml/2006/main">
              <a:ext uri="{FF2B5EF4-FFF2-40B4-BE49-F238E27FC236}">
                <a16:creationId xmlns:a16="http://schemas.microsoft.com/office/drawing/2014/main" id="{CA8FB6EF-936F-4692-99A3-F9F4596F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52975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4:p xmlns:ns4="http://schemas.openxmlformats.org/drawingml/2006/main">
            <ns4:pPr algn="l">
              <ns4:defRPr sz="1650" b="1">
                <ns4:solidFill>
                  <ns4:srgbClr val="002FA7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650" b="1">
                <ns4:solidFill>
                  <ns4:srgbClr val="002FA7"/>
                </ns4:solidFill>
                <ns4:latin typeface="Microsoft YaHei"/>
                <ns4:ea typeface="Microsoft YaHei"/>
                <ns4:cs typeface="Microsoft YaHei"/>
              </ns4:rPr>
              <ns4:t>检查重点</ns4:t>
            </ns4:r>
          </ns4:p>
        </p:txBody>
      </p:sp>
      <p:sp>
        <p:nvSpPr>
          <p:cNvPr id="66" name="正文-调整批准范围内的路径， 核验覆盖与回滚前态。">
            <a:extLst xmlns:a="http://schemas.openxmlformats.org/drawingml/2006/main">
              <a:ext uri="{FF2B5EF4-FFF2-40B4-BE49-F238E27FC236}">
                <a16:creationId xmlns:a16="http://schemas.microsoft.com/office/drawing/2014/main" id="{9DF8ACE9-4001-4080-967A-7FCECF6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调整批准范围内的路径，</ns1:t>
            </ns1:r>
          </ns1:p>
          <ns2:p xmlns:ns2="http://schemas.openxmlformats.org/drawingml/2006/main">
            <ns2:pPr algn="l">
              <ns2:def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75" b="0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核验覆盖与回滚前态。</ns2:t>
            </ns2:r>
          </ns2:p>
        </p:txBody>
      </p:sp>
    </p:spTree>
    <p:extLst>
      <p:ext uri="{BB962C8B-B14F-4D97-AF65-F5344CB8AC3E}">
        <p14:creationId xmlns:p14="http://schemas.microsoft.com/office/powerpoint/2010/main" val="775563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5  典型故障分析">
            <a:extLst xmlns:a="http://schemas.openxmlformats.org/drawingml/2006/main">
              <a:ext uri="{FF2B5EF4-FFF2-40B4-BE49-F238E27FC236}">
                <a16:creationId xmlns:a16="http://schemas.microsoft.com/office/drawing/2014/main" id="{C6690542-2862-427D-9AC9-D25396D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05  典型故障分析</ns0:t>
            </ns0:r>
          </ns0:p>
        </p:txBody>
      </p:sp>
      <p:sp>
        <p:nvSpPr>
          <p:cNvPr id="2" name="正文-案例三分析：实际流量绕过预期检查路径">
            <a:extLst xmlns:a="http://schemas.openxmlformats.org/drawingml/2006/main">
              <a:ext uri="{FF2B5EF4-FFF2-40B4-BE49-F238E27FC236}">
                <a16:creationId xmlns:a16="http://schemas.microsoft.com/office/drawing/2014/main" id="{EFB7F388-22E9-460B-BEBC-79429A8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案例三分析：实际流量绕过预期检查路径</ns0:t>
            </ns0:r>
          </ns0:p>
        </p:txBody>
      </p:sp>
      <p:sp>
        <p:nvSpPr>
          <p:cNvPr id="3" name="正文-路径变更前评估旧互联承载的其他业务，验收需证明流量经过 CFW。">
            <a:extLst xmlns:a="http://schemas.openxmlformats.org/drawingml/2006/main">
              <a:ext uri="{FF2B5EF4-FFF2-40B4-BE49-F238E27FC236}">
                <a16:creationId xmlns:a16="http://schemas.microsoft.com/office/drawing/2014/main" id="{96134169-DD1B-4075-BBC0-E63331F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路径变更前评估旧互联承载的其他业务，验收需证明流量经过 CFW。</ns1:t>
            </ns1:r>
          </ns1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744A7872-7EC0-4913-A38E-30538AA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59">
            <a:extLst xmlns:a="http://schemas.openxmlformats.org/drawingml/2006/main">
              <a:ext uri="{FF2B5EF4-FFF2-40B4-BE49-F238E27FC236}">
                <a16:creationId xmlns:a16="http://schemas.microsoft.com/office/drawing/2014/main" id="{9BB97BE4-B552-4A4A-BA0E-DA40DA0A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78</ns0:t>
            </ns0:r>
          </ns0:p>
        </p:txBody>
      </p:sp>
      <p:sp>
        <p:nvSpPr>
          <p:cNvPr id="6" name="统一风格-案例诊断与修复玻璃后沿-958">
            <a:extLst xmlns:a="http://schemas.openxmlformats.org/drawingml/2006/main">
              <a:ext uri="{FF2B5EF4-FFF2-40B4-BE49-F238E27FC236}">
                <a16:creationId xmlns:a16="http://schemas.microsoft.com/office/drawing/2014/main" id="{BDDDE08B-2D3A-4552-8FEB-7DDFD9B3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案例诊断与修复-959">
            <a:extLst xmlns:a="http://schemas.openxmlformats.org/drawingml/2006/main">
              <a:ext uri="{FF2B5EF4-FFF2-40B4-BE49-F238E27FC236}">
                <a16:creationId xmlns:a16="http://schemas.microsoft.com/office/drawing/2014/main" id="{294F0BA0-67CD-45AF-AEF3-B679C501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案例诊断与修复玻璃内沿-960">
            <a:extLst xmlns:a="http://schemas.openxmlformats.org/drawingml/2006/main">
              <a:ext uri="{FF2B5EF4-FFF2-40B4-BE49-F238E27FC236}">
                <a16:creationId xmlns:a16="http://schemas.microsoft.com/office/drawing/2014/main" id="{C1AE2F11-B7E2-4BA1-8030-889D491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13109"/>
            <a:ext cx="10947083" cy="1231583"/>
          </a:xfrm>
          <a:prstGeom xmlns:a="http://schemas.openxmlformats.org/drawingml/2006/main" prst="roundRect">
            <a:avLst>
              <a:gd name="adj" fmla="val 59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案例诊断与修复透光反射面-961">
            <a:extLst xmlns:a="http://schemas.openxmlformats.org/drawingml/2006/main">
              <a:ext uri="{FF2B5EF4-FFF2-40B4-BE49-F238E27FC236}">
                <a16:creationId xmlns:a16="http://schemas.microsoft.com/office/drawing/2014/main" id="{B6138CD2-AD01-458C-A6FF-A829D0A6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1219200"/>
          </a:xfrm>
          <a:custGeom xmlns:a="http://schemas.openxmlformats.org/drawingml/2006/main"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案例诊断与修复边缘高光-962">
            <a:extLst xmlns:a="http://schemas.openxmlformats.org/drawingml/2006/main">
              <a:ext uri="{FF2B5EF4-FFF2-40B4-BE49-F238E27FC236}">
                <a16:creationId xmlns:a16="http://schemas.microsoft.com/office/drawing/2014/main" id="{3962F7B2-A3A8-4455-A609-5FA4373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257300"/>
          </a:xfrm>
          <a:custGeom xmlns:a="http://schemas.openxmlformats.org/drawingml/2006/main"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654E441C-4DEA-477A-80CE-F05DF741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业务访问成功，但 CFW 未覆盖实际命中的路径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2713EF5-DF42-4C41-A463-0E61E891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3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87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75" b="0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批准窗口内分范围调整去回程，保留旧互联上的其他业务与可回滚前态。</ns0:t>
            </ns0:r>
          </ns0:p>
        </p:txBody>
      </p:sp>
      <p:sp>
        <p:nvSpPr>
          <p:cNvPr id="13" name="统一风格-表格玻璃容器玻璃后沿-963">
            <a:extLst xmlns:a="http://schemas.openxmlformats.org/drawingml/2006/main">
              <a:ext uri="{FF2B5EF4-FFF2-40B4-BE49-F238E27FC236}">
                <a16:creationId xmlns:a16="http://schemas.microsoft.com/office/drawing/2014/main" id="{6F3B29EC-BBC8-4FB4-9791-6233F153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表格玻璃容器-964">
            <a:extLst xmlns:a="http://schemas.openxmlformats.org/drawingml/2006/main">
              <a:ext uri="{FF2B5EF4-FFF2-40B4-BE49-F238E27FC236}">
                <a16:creationId xmlns:a16="http://schemas.microsoft.com/office/drawing/2014/main" id="{E83C5DAD-8DDD-4826-A135-08A29C46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prstGeom xmlns:a="http://schemas.openxmlformats.org/drawingml/2006/main" prst="roundRect">
            <a:avLst>
              <a:gd name="adj" fmla="val 352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表格玻璃容器玻璃内沿-965">
            <a:extLst xmlns:a="http://schemas.openxmlformats.org/drawingml/2006/main">
              <a:ext uri="{FF2B5EF4-FFF2-40B4-BE49-F238E27FC236}">
                <a16:creationId xmlns:a16="http://schemas.microsoft.com/office/drawing/2014/main" id="{EA3666BB-FAB9-478D-B19B-386CCA6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3508534"/>
            <a:ext cx="11099483" cy="2403158"/>
          </a:xfrm>
          <a:prstGeom xmlns:a="http://schemas.openxmlformats.org/drawingml/2006/main" prst="roundRect">
            <a:avLst>
              <a:gd name="adj" fmla="val 305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表格玻璃容器边缘高光-966">
            <a:extLst xmlns:a="http://schemas.openxmlformats.org/drawingml/2006/main">
              <a:ext uri="{FF2B5EF4-FFF2-40B4-BE49-F238E27FC236}">
                <a16:creationId xmlns:a16="http://schemas.microsoft.com/office/drawing/2014/main" id="{C0E05B3D-6594-44AA-A831-18754E4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1125200" cy="2428875"/>
          </a:xfrm>
          <a:custGeom xmlns:a="http://schemas.openxmlformats.org/drawingml/2006/main"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C2E1F-6FAC-467C-9323-3C6415AD5022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旧路由、对象、业务基线快照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具备可执行的恢复步骤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受控新连接完成，日志记录该业务流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业务回归通过且规则命中正确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69119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发起范围内禁止连接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看到预期阻断并排除旁路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058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正文-06  配置核验与巡检">
            <a:extLst xmlns:a="http://schemas.openxmlformats.org/drawingml/2006/main">
              <a:ext uri="{FF2B5EF4-FFF2-40B4-BE49-F238E27FC236}">
                <a16:creationId xmlns:a16="http://schemas.microsoft.com/office/drawing/2014/main" id="{B3462A7B-40FF-436A-AD22-CCFBEC5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06  配置核验与巡检</ns0:t>
            </ns0:r>
          </ns0:p>
        </p:txBody>
      </p:sp>
      <p:sp>
        <p:nvSpPr>
          <p:cNvPr id="2" name="正文-配置核验的五个关键问题">
            <a:extLst xmlns:a="http://schemas.openxmlformats.org/drawingml/2006/main">
              <a:ext uri="{FF2B5EF4-FFF2-40B4-BE49-F238E27FC236}">
                <a16:creationId xmlns:a16="http://schemas.microsoft.com/office/drawing/2014/main" id="{FC826CC0-553D-43FB-A9D3-A01E36CA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配置核验的五个关键问题</ns0:t>
            </ns0:r>
          </ns0:p>
        </p:txBody>
      </p:sp>
      <p:sp>
        <p:nvSpPr>
          <p:cNvPr id="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34F80A2A-DE23-48FD-8586-172D17DA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4" name="正文-60">
            <a:extLst xmlns:a="http://schemas.openxmlformats.org/drawingml/2006/main">
              <a:ext uri="{FF2B5EF4-FFF2-40B4-BE49-F238E27FC236}">
                <a16:creationId xmlns:a16="http://schemas.microsoft.com/office/drawing/2014/main" id="{EF58B02A-7C2D-4653-B1BA-BB6593FC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79</ns0:t>
            </ns0:r>
          </ns0:p>
        </p:txBody>
      </p:sp>
      <p:sp>
        <p:nvSpPr>
          <p:cNvPr id="5" name="统一风格-课堂判断题模块玻璃后沿-967">
            <a:extLst xmlns:a="http://schemas.openxmlformats.org/drawingml/2006/main">
              <a:ext uri="{FF2B5EF4-FFF2-40B4-BE49-F238E27FC236}">
                <a16:creationId xmlns:a16="http://schemas.microsoft.com/office/drawing/2014/main" id="{6F96B5D8-D889-4885-8806-CA685A6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" name="统一风格-课堂判断题模块-968">
            <a:extLst xmlns:a="http://schemas.openxmlformats.org/drawingml/2006/main">
              <a:ext uri="{FF2B5EF4-FFF2-40B4-BE49-F238E27FC236}">
                <a16:creationId xmlns:a16="http://schemas.microsoft.com/office/drawing/2014/main" id="{3EC0657B-3BB0-413D-87F6-891A800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" name="统一风格-课堂判断题模块玻璃内沿-969">
            <a:extLst xmlns:a="http://schemas.openxmlformats.org/drawingml/2006/main">
              <a:ext uri="{FF2B5EF4-FFF2-40B4-BE49-F238E27FC236}">
                <a16:creationId xmlns:a16="http://schemas.microsoft.com/office/drawing/2014/main" id="{D55B5B31-EB50-4571-8813-19FAE00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89309"/>
            <a:ext cx="10947083" cy="602933"/>
          </a:xfrm>
          <a:prstGeom xmlns:a="http://schemas.openxmlformats.org/drawingml/2006/main" prst="roundRect">
            <a:avLst>
              <a:gd name="adj" fmla="val 121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" name="统一风格-课堂判断题模块边缘高光-970">
            <a:extLst xmlns:a="http://schemas.openxmlformats.org/drawingml/2006/main">
              <a:ext uri="{FF2B5EF4-FFF2-40B4-BE49-F238E27FC236}">
                <a16:creationId xmlns:a16="http://schemas.microsoft.com/office/drawing/2014/main" id="{07FE6425-58F6-435B-B32D-A7B973DA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628650"/>
          </a:xfrm>
          <a:custGeom xmlns:a="http://schemas.openxmlformats.org/drawingml/2006/main"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B0C5825A-1937-409D-A3C0-1F98202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9623EBF2-CF36-43C5-9A43-BDAFBA5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098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 划出应用和数据子网，是否已经完成访问隔离？</a:t>
            </a:r>
          </a:p>
        </p:txBody>
      </p:sp>
      <p:sp>
        <p:nvSpPr>
          <p:cNvPr id="11" name="统一风格-课堂判断题模块玻璃后沿-971">
            <a:extLst xmlns:a="http://schemas.openxmlformats.org/drawingml/2006/main">
              <a:ext uri="{FF2B5EF4-FFF2-40B4-BE49-F238E27FC236}">
                <a16:creationId xmlns:a16="http://schemas.microsoft.com/office/drawing/2014/main" id="{0D78A030-7E45-43A6-B9AA-C8A2B3E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2" name="统一风格-课堂判断题模块-972">
            <a:extLst xmlns:a="http://schemas.openxmlformats.org/drawingml/2006/main">
              <a:ext uri="{FF2B5EF4-FFF2-40B4-BE49-F238E27FC236}">
                <a16:creationId xmlns:a16="http://schemas.microsoft.com/office/drawing/2014/main" id="{A8C2C8AF-7DD4-4236-8D0B-C8288DFA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课堂判断题模块玻璃内沿-973">
            <a:extLst xmlns:a="http://schemas.openxmlformats.org/drawingml/2006/main">
              <a:ext uri="{FF2B5EF4-FFF2-40B4-BE49-F238E27FC236}">
                <a16:creationId xmlns:a16="http://schemas.microsoft.com/office/drawing/2014/main" id="{CB26F564-4305-4F5A-9124-229F928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860834"/>
            <a:ext cx="10947083" cy="602933"/>
          </a:xfrm>
          <a:prstGeom xmlns:a="http://schemas.openxmlformats.org/drawingml/2006/main" prst="roundRect">
            <a:avLst>
              <a:gd name="adj" fmla="val 121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课堂判断题模块边缘高光-974">
            <a:extLst xmlns:a="http://schemas.openxmlformats.org/drawingml/2006/main">
              <a:ext uri="{FF2B5EF4-FFF2-40B4-BE49-F238E27FC236}">
                <a16:creationId xmlns:a16="http://schemas.microsoft.com/office/drawing/2014/main" id="{6F91739A-E806-402F-9B02-548D8B7D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628650"/>
          </a:xfrm>
          <a:custGeom xmlns:a="http://schemas.openxmlformats.org/drawingml/2006/main"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03E0EBCB-4CF6-42D9-AB86-BE7736D3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50FF8378-8F63-493A-B248-D74A33E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81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 CFW 接入后，是否自动拒绝未配置的业务流量？</a:t>
            </a:r>
          </a:p>
        </p:txBody>
      </p:sp>
      <p:sp>
        <p:nvSpPr>
          <p:cNvPr id="17" name="统一风格-课堂判断题模块玻璃后沿-975">
            <a:extLst xmlns:a="http://schemas.openxmlformats.org/drawingml/2006/main">
              <a:ext uri="{FF2B5EF4-FFF2-40B4-BE49-F238E27FC236}">
                <a16:creationId xmlns:a16="http://schemas.microsoft.com/office/drawing/2014/main" id="{1ADEA93C-1691-4F3D-AE5F-F56E081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8" name="统一风格-课堂判断题模块-976">
            <a:extLst xmlns:a="http://schemas.openxmlformats.org/drawingml/2006/main">
              <a:ext uri="{FF2B5EF4-FFF2-40B4-BE49-F238E27FC236}">
                <a16:creationId xmlns:a16="http://schemas.microsoft.com/office/drawing/2014/main" id="{836ABDE9-F974-43DA-80DA-EBA01E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9" name="统一风格-课堂判断题模块玻璃内沿-977">
            <a:extLst xmlns:a="http://schemas.openxmlformats.org/drawingml/2006/main">
              <a:ext uri="{FF2B5EF4-FFF2-40B4-BE49-F238E27FC236}">
                <a16:creationId xmlns:a16="http://schemas.microsoft.com/office/drawing/2014/main" id="{88F4E512-AFE0-4A84-B2CA-E2B9888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632359"/>
            <a:ext cx="10947083" cy="602933"/>
          </a:xfrm>
          <a:prstGeom xmlns:a="http://schemas.openxmlformats.org/drawingml/2006/main" prst="roundRect">
            <a:avLst>
              <a:gd name="adj" fmla="val 121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0" name="统一风格-课堂判断题模块边缘高光-978">
            <a:extLst xmlns:a="http://schemas.openxmlformats.org/drawingml/2006/main">
              <a:ext uri="{FF2B5EF4-FFF2-40B4-BE49-F238E27FC236}">
                <a16:creationId xmlns:a16="http://schemas.microsoft.com/office/drawing/2014/main" id="{70B160F5-2723-417B-B7FB-C50404C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28650"/>
          </a:xfrm>
          <a:custGeom xmlns:a="http://schemas.openxmlformats.org/drawingml/2006/main"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BF379B3A-AB75-4A52-9C6E-24DA34B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F0D1EBB2-BAC1-4352-B0C4-9B773B4B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 ACL 放行，是否代表端到端业务必定可用？</a:t>
            </a:r>
          </a:p>
        </p:txBody>
      </p:sp>
      <p:sp>
        <p:nvSpPr>
          <p:cNvPr id="23" name="统一风格-课堂判断题模块玻璃后沿-979">
            <a:extLst xmlns:a="http://schemas.openxmlformats.org/drawingml/2006/main">
              <a:ext uri="{FF2B5EF4-FFF2-40B4-BE49-F238E27FC236}">
                <a16:creationId xmlns:a16="http://schemas.microsoft.com/office/drawing/2014/main" id="{55517529-D6C1-4BF5-B61C-6DB1A52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4" name="统一风格-课堂判断题模块-980">
            <a:extLst xmlns:a="http://schemas.openxmlformats.org/drawingml/2006/main">
              <a:ext uri="{FF2B5EF4-FFF2-40B4-BE49-F238E27FC236}">
                <a16:creationId xmlns:a16="http://schemas.microsoft.com/office/drawing/2014/main" id="{95130589-BA75-42F4-A916-045C36C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课堂判断题模块玻璃内沿-981">
            <a:extLst xmlns:a="http://schemas.openxmlformats.org/drawingml/2006/main">
              <a:ext uri="{FF2B5EF4-FFF2-40B4-BE49-F238E27FC236}">
                <a16:creationId xmlns:a16="http://schemas.microsoft.com/office/drawing/2014/main" id="{878B4477-76CC-44CE-B051-4F8E632C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403884"/>
            <a:ext cx="10947083" cy="602933"/>
          </a:xfrm>
          <a:prstGeom xmlns:a="http://schemas.openxmlformats.org/drawingml/2006/main" prst="roundRect">
            <a:avLst>
              <a:gd name="adj" fmla="val 121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课堂判断题模块边缘高光-982">
            <a:extLst xmlns:a="http://schemas.openxmlformats.org/drawingml/2006/main">
              <a:ext uri="{FF2B5EF4-FFF2-40B4-BE49-F238E27FC236}">
                <a16:creationId xmlns:a16="http://schemas.microsoft.com/office/drawing/2014/main" id="{41B041B2-77DC-447A-A904-90997B7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628650"/>
          </a:xfrm>
          <a:custGeom xmlns:a="http://schemas.openxmlformats.org/drawingml/2006/main"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C60BA9EC-4AF0-4090-8627-B1F3CF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6291F9C8-68E0-40C1-A581-38B0AC6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243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普通业务长期使用白名单，是否等同于 ACL 精确放行？</a:t>
            </a:r>
          </a:p>
        </p:txBody>
      </p:sp>
      <p:sp>
        <p:nvSpPr>
          <p:cNvPr id="29" name="统一风格-课堂判断题模块玻璃后沿-983">
            <a:extLst xmlns:a="http://schemas.openxmlformats.org/drawingml/2006/main">
              <a:ext uri="{FF2B5EF4-FFF2-40B4-BE49-F238E27FC236}">
                <a16:creationId xmlns:a16="http://schemas.microsoft.com/office/drawing/2014/main" id="{378A05D2-5B35-414C-BFFE-C2327B9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0" name="统一风格-课堂判断题模块-984">
            <a:extLst xmlns:a="http://schemas.openxmlformats.org/drawingml/2006/main">
              <a:ext uri="{FF2B5EF4-FFF2-40B4-BE49-F238E27FC236}">
                <a16:creationId xmlns:a16="http://schemas.microsoft.com/office/drawing/2014/main" id="{F0CDDF32-42DB-41E9-809B-A06095B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2865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1" name="统一风格-课堂判断题模块玻璃内沿-985">
            <a:extLst xmlns:a="http://schemas.openxmlformats.org/drawingml/2006/main">
              <a:ext uri="{FF2B5EF4-FFF2-40B4-BE49-F238E27FC236}">
                <a16:creationId xmlns:a16="http://schemas.microsoft.com/office/drawing/2014/main" id="{B792C81F-4313-40B1-B67C-348061ED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175409"/>
            <a:ext cx="10947083" cy="602933"/>
          </a:xfrm>
          <a:prstGeom xmlns:a="http://schemas.openxmlformats.org/drawingml/2006/main" prst="roundRect">
            <a:avLst>
              <a:gd name="adj" fmla="val 121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2" name="统一风格-课堂判断题模块边缘高光-986">
            <a:extLst xmlns:a="http://schemas.openxmlformats.org/drawingml/2006/main">
              <a:ext uri="{FF2B5EF4-FFF2-40B4-BE49-F238E27FC236}">
                <a16:creationId xmlns:a16="http://schemas.microsoft.com/office/drawing/2014/main" id="{6B5E191B-41BE-4588-810F-4A2D0997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28650"/>
          </a:xfrm>
          <a:custGeom xmlns:a="http://schemas.openxmlformats.org/drawingml/2006/main"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D2FB3396-F6AA-46D2-9D75-0220504B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txt-33">
            <a:extLst xmlns:a="http://schemas.openxmlformats.org/drawingml/2006/main">
              <a:ext uri="{FF2B5EF4-FFF2-40B4-BE49-F238E27FC236}">
                <a16:creationId xmlns:a16="http://schemas.microsoft.com/office/drawing/2014/main" id="{F8CF6FEA-B8AE-4075-B26A-5F48AE32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8787317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文-06  配置核验与巡检">
            <a:extLst xmlns:a="http://schemas.openxmlformats.org/drawingml/2006/main">
              <a:ext uri="{FF2B5EF4-FFF2-40B4-BE49-F238E27FC236}">
                <a16:creationId xmlns:a16="http://schemas.microsoft.com/office/drawing/2014/main" id="{5A869226-6967-482A-A0E6-86277E60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06  配置核验与巡检</ns0:t>
            </ns0:r>
          </ns0:p>
        </p:txBody>
      </p:sp>
      <p:sp>
        <p:nvSpPr>
          <p:cNvPr id="2" name="正文-配置结论与判断依据">
            <a:extLst xmlns:a="http://schemas.openxmlformats.org/drawingml/2006/main">
              <a:ext uri="{FF2B5EF4-FFF2-40B4-BE49-F238E27FC236}">
                <a16:creationId xmlns:a16="http://schemas.microsoft.com/office/drawing/2014/main" id="{33F1D273-7BF5-4BDE-97D7-08DF6506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850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配置结论与判断依据</ns0:t>
            </ns0:r>
          </ns0:p>
        </p:txBody>
      </p:sp>
      <p:sp>
        <p:nvSpPr>
          <p:cNvPr id="3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9FEE6785-DA8E-4E46-A18B-465A166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4" name="正文-61">
            <a:extLst xmlns:a="http://schemas.openxmlformats.org/drawingml/2006/main">
              <a:ext uri="{FF2B5EF4-FFF2-40B4-BE49-F238E27FC236}">
                <a16:creationId xmlns:a16="http://schemas.microsoft.com/office/drawing/2014/main" id="{E597B97F-2719-412E-8BAB-3109D1E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80</ns0:t>
            </ns0:r>
          </ns0:p>
        </p:txBody>
      </p:sp>
      <p:sp>
        <p:nvSpPr>
          <p:cNvPr id="5" name="统一风格-表格玻璃容器玻璃后沿-987">
            <a:extLst xmlns:a="http://schemas.openxmlformats.org/drawingml/2006/main">
              <a:ext uri="{FF2B5EF4-FFF2-40B4-BE49-F238E27FC236}">
                <a16:creationId xmlns:a16="http://schemas.microsoft.com/office/drawing/2014/main" id="{685EB331-378A-44E8-9A9F-FD3818A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4019550"/>
          </a:xfrm>
          <a:prstGeom xmlns:a="http://schemas.openxmlformats.org/drawingml/2006/main" prst="roundRect">
            <a:avLst>
              <a:gd name="adj" fmla="val 213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" name="统一风格-表格玻璃容器-988">
            <a:extLst xmlns:a="http://schemas.openxmlformats.org/drawingml/2006/main">
              <a:ext uri="{FF2B5EF4-FFF2-40B4-BE49-F238E27FC236}">
                <a16:creationId xmlns:a16="http://schemas.microsoft.com/office/drawing/2014/main" id="{80D23A02-718F-4BC3-85F4-7D32A51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4019550"/>
          </a:xfrm>
          <a:prstGeom xmlns:a="http://schemas.openxmlformats.org/drawingml/2006/main" prst="roundRect">
            <a:avLst>
              <a:gd name="adj" fmla="val 213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" name="统一风格-表格玻璃容器玻璃内沿-989">
            <a:extLst xmlns:a="http://schemas.openxmlformats.org/drawingml/2006/main">
              <a:ext uri="{FF2B5EF4-FFF2-40B4-BE49-F238E27FC236}">
                <a16:creationId xmlns:a16="http://schemas.microsoft.com/office/drawing/2014/main" id="{08F3F7C5-E419-4F16-A672-6B0FD2A1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1975009"/>
            <a:ext cx="11099483" cy="3993833"/>
          </a:xfrm>
          <a:prstGeom xmlns:a="http://schemas.openxmlformats.org/drawingml/2006/main" prst="roundRect">
            <a:avLst>
              <a:gd name="adj" fmla="val 183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" name="统一风格-表格玻璃容器边缘高光-990">
            <a:extLst xmlns:a="http://schemas.openxmlformats.org/drawingml/2006/main">
              <a:ext uri="{FF2B5EF4-FFF2-40B4-BE49-F238E27FC236}">
                <a16:creationId xmlns:a16="http://schemas.microsoft.com/office/drawing/2014/main" id="{F554995D-6AF7-4913-BC0A-12A1FDDE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4019550"/>
          </a:xfrm>
          <a:custGeom xmlns:a="http://schemas.openxmlformats.org/drawingml/2006/main">
            <a:pathLst>
              <a:path w="11125200" h="40195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C2325-70D6-44D8-8818-E86977207622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343900"/>
              </a:tblGrid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子网划分需要配合安全策略实现隔离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文档说明 VPC 边界接入后默认放行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其他安全层、路由或服务仍可影响业务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白名单可跳过后续检测，需按例外管理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45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正反用例与日志共同验证策略和覆盖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43156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正文-06  配置核验与巡检">
            <a:extLst xmlns:a="http://schemas.openxmlformats.org/drawingml/2006/main">
              <a:ext uri="{FF2B5EF4-FFF2-40B4-BE49-F238E27FC236}">
                <a16:creationId xmlns:a16="http://schemas.microsoft.com/office/drawing/2014/main" id="{7FF563F4-E07E-4B8B-92F0-CD747C8F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06  配置核验与巡检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2ED48D5-2659-4C66-A62F-BC6CBD68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上线前与日常复核</a:t>
            </a:r>
          </a:p>
        </p:txBody>
      </p:sp>
      <p:sp>
        <p:nvSpPr>
          <p:cNvPr id="3" name="正文-实施建议：统一申请模板、明确复核责任人，并选择业务完成端到端验证">
            <a:extLst xmlns:a="http://schemas.openxmlformats.org/drawingml/2006/main">
              <a:ext uri="{FF2B5EF4-FFF2-40B4-BE49-F238E27FC236}">
                <a16:creationId xmlns:a16="http://schemas.microsoft.com/office/drawing/2014/main" id="{F9BE7955-0AEC-4303-B61D-25B75DB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实施建议：统一申请模板、明确复核责任人，并选择业务完成端到端验证</ns0:t>
            </ns0:r>
          </ns0:p>
        </p:txBody>
      </p:sp>
      <p:sp>
        <p:nvSpPr>
          <p:cNvPr id="4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D71E90C2-1786-415E-B1B2-B646C40D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正文-62">
            <a:extLst xmlns:a="http://schemas.openxmlformats.org/drawingml/2006/main">
              <a:ext uri="{FF2B5EF4-FFF2-40B4-BE49-F238E27FC236}">
                <a16:creationId xmlns:a16="http://schemas.microsoft.com/office/drawing/2014/main" id="{99275402-4D46-4C26-81DC-ACBBA73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81</ns0:t>
            </ns0:r>
          </ns0:p>
        </p:txBody>
      </p:sp>
      <p:sp>
        <p:nvSpPr>
          <p:cNvPr id="6" name="统一风格-上线前检查模块玻璃后沿-991">
            <a:extLst xmlns:a="http://schemas.openxmlformats.org/drawingml/2006/main">
              <a:ext uri="{FF2B5EF4-FFF2-40B4-BE49-F238E27FC236}">
                <a16:creationId xmlns:a16="http://schemas.microsoft.com/office/drawing/2014/main" id="{F9DD9CF3-EA56-4F38-A74C-69036AB9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57800" cy="3790950"/>
          </a:xfrm>
          <a:prstGeom xmlns:a="http://schemas.openxmlformats.org/drawingml/2006/main" prst="roundRect">
            <a:avLst>
              <a:gd name="adj" fmla="val 226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统一风格-上线前检查模块-992">
            <a:extLst xmlns:a="http://schemas.openxmlformats.org/drawingml/2006/main">
              <a:ext uri="{FF2B5EF4-FFF2-40B4-BE49-F238E27FC236}">
                <a16:creationId xmlns:a16="http://schemas.microsoft.com/office/drawing/2014/main" id="{C0EA3416-285D-46E3-A449-0502A909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57800" cy="3790950"/>
          </a:xfrm>
          <a:prstGeom xmlns:a="http://schemas.openxmlformats.org/drawingml/2006/main" prst="roundRect">
            <a:avLst>
              <a:gd name="adj" fmla="val 226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" name="统一风格-上线前检查模块玻璃内沿-993">
            <a:extLst xmlns:a="http://schemas.openxmlformats.org/drawingml/2006/main">
              <a:ext uri="{FF2B5EF4-FFF2-40B4-BE49-F238E27FC236}">
                <a16:creationId xmlns:a16="http://schemas.microsoft.com/office/drawing/2014/main" id="{F65C725D-9595-407C-A676-8F01816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060734"/>
            <a:ext cx="5232083" cy="3765233"/>
          </a:xfrm>
          <a:prstGeom xmlns:a="http://schemas.openxmlformats.org/drawingml/2006/main" prst="roundRect">
            <a:avLst>
              <a:gd name="adj" fmla="val 194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" name="统一风格-上线前检查模块透光反射面-994">
            <a:extLst xmlns:a="http://schemas.openxmlformats.org/drawingml/2006/main">
              <a:ext uri="{FF2B5EF4-FFF2-40B4-BE49-F238E27FC236}">
                <a16:creationId xmlns:a16="http://schemas.microsoft.com/office/drawing/2014/main" id="{5942F2A8-FAE1-4FF5-A5A6-DD4C042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5219700" cy="3752850"/>
          </a:xfrm>
          <a:custGeom xmlns:a="http://schemas.openxmlformats.org/drawingml/2006/main"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0" name="统一风格-上线前检查模块边缘高光-995">
            <a:extLst xmlns:a="http://schemas.openxmlformats.org/drawingml/2006/main">
              <a:ext uri="{FF2B5EF4-FFF2-40B4-BE49-F238E27FC236}">
                <a16:creationId xmlns:a16="http://schemas.microsoft.com/office/drawing/2014/main" id="{9FE6B2B7-D0B4-45D7-8E43-25006B4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57800" cy="3790950"/>
          </a:xfrm>
          <a:custGeom xmlns:a="http://schemas.openxmlformats.org/drawingml/2006/main"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日常检查模块玻璃后沿-996">
            <a:extLst xmlns:a="http://schemas.openxmlformats.org/drawingml/2006/main">
              <a:ext uri="{FF2B5EF4-FFF2-40B4-BE49-F238E27FC236}">
                <a16:creationId xmlns:a16="http://schemas.microsoft.com/office/drawing/2014/main" id="{F481E2A0-832E-42C0-B235-4118C70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57800" cy="3790950"/>
          </a:xfrm>
          <a:prstGeom xmlns:a="http://schemas.openxmlformats.org/drawingml/2006/main" prst="roundRect">
            <a:avLst>
              <a:gd name="adj" fmla="val 226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统一风格-日常检查模块-997">
            <a:extLst xmlns:a="http://schemas.openxmlformats.org/drawingml/2006/main">
              <a:ext uri="{FF2B5EF4-FFF2-40B4-BE49-F238E27FC236}">
                <a16:creationId xmlns:a16="http://schemas.microsoft.com/office/drawing/2014/main" id="{1D0440B9-44A3-4D23-88F4-C376F31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57800" cy="3790950"/>
          </a:xfrm>
          <a:prstGeom xmlns:a="http://schemas.openxmlformats.org/drawingml/2006/main" prst="roundRect">
            <a:avLst>
              <a:gd name="adj" fmla="val 226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日常检查模块玻璃内沿-998">
            <a:extLst xmlns:a="http://schemas.openxmlformats.org/drawingml/2006/main">
              <a:ext uri="{FF2B5EF4-FFF2-40B4-BE49-F238E27FC236}">
                <a16:creationId xmlns:a16="http://schemas.microsoft.com/office/drawing/2014/main" id="{31B0A6C7-42AC-4179-AB1F-91821970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2060734"/>
            <a:ext cx="5232083" cy="3765233"/>
          </a:xfrm>
          <a:prstGeom xmlns:a="http://schemas.openxmlformats.org/drawingml/2006/main" prst="roundRect">
            <a:avLst>
              <a:gd name="adj" fmla="val 194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日常检查模块透光反射面-999">
            <a:extLst xmlns:a="http://schemas.openxmlformats.org/drawingml/2006/main">
              <a:ext uri="{FF2B5EF4-FFF2-40B4-BE49-F238E27FC236}">
                <a16:creationId xmlns:a16="http://schemas.microsoft.com/office/drawing/2014/main" id="{F9560D9F-481A-42E2-A95C-25FF737C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66925"/>
            <a:ext cx="5219700" cy="3752850"/>
          </a:xfrm>
          <a:custGeom xmlns:a="http://schemas.openxmlformats.org/drawingml/2006/main"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5" name="统一风格-日常检查模块边缘高光-1000">
            <a:extLst xmlns:a="http://schemas.openxmlformats.org/drawingml/2006/main">
              <a:ext uri="{FF2B5EF4-FFF2-40B4-BE49-F238E27FC236}">
                <a16:creationId xmlns:a16="http://schemas.microsoft.com/office/drawing/2014/main" id="{E5C5A3B8-BA95-433E-A4BE-2F14C82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57800" cy="3790950"/>
          </a:xfrm>
          <a:custGeom xmlns:a="http://schemas.openxmlformats.org/drawingml/2006/main"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A087B097-F3A0-4462-8B1E-CDB6B4D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每次上线前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513CCB7A-2558-47ED-A8E1-F2EDB9DB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57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日常持续维护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3F218240-3CB2-41E8-8290-74443B6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地址、环境与业务 Owner 明确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50031973-040C-48DE-A326-D40E110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去回程和 CFW 覆盖已核验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29F4267F-2CB5-41C8-BF21-175B418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端口、顺序与例外经复核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670DE0DB-9600-4CB7-AE5B-86025F4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正反用例与回滚门槛已准备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2C4952BD-A017-430B-ADC7-CCBDA9CC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新增资产同步检查纳管状态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22244E68-187A-4A69-B0FA-4F8B5D04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909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到期临时规则与白名单及时清理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B1F89A83-22CA-4EFC-B448-F1E6D7D8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周期复核对象组与低频依赖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20F1FA28-3460-4631-9C96-A48ABD5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1105885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正文-06  配置核验与巡检">
            <a:extLst xmlns:a="http://schemas.openxmlformats.org/drawingml/2006/main">
              <a:ext uri="{FF2B5EF4-FFF2-40B4-BE49-F238E27FC236}">
                <a16:creationId xmlns:a16="http://schemas.microsoft.com/office/drawing/2014/main" id="{A1886C94-7DEF-40D8-8897-774172F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06  配置核验与巡检</ns0:t>
            </ns0:r>
          </ns0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6446F36-CB25-4F3B-8874-EE68B64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日常巡检与规则清理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FB2AF29-7F44-4246-A29C-079AF85F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每项检查都应落实到责任人、处理动作与证据</a:t>
            </a:r>
          </a:p>
        </p:txBody>
      </p:sp>
      <p:sp>
        <p:nvSpPr>
          <p:cNvPr id="4" name="正文-频率与职责为管理建议，正式采用前需纳入企业制度。未命中不能单独作为删除依据">
            <a:extLst xmlns:a="http://schemas.openxmlformats.org/drawingml/2006/main">
              <a:ext uri="{FF2B5EF4-FFF2-40B4-BE49-F238E27FC236}">
                <a16:creationId xmlns:a16="http://schemas.microsoft.com/office/drawing/2014/main" id="{97F9B6AD-9B7E-4030-B9CE-375344EB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 algn="l">
              <ns1:def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627695"/>
                </ns1:solidFill>
                <ns1:latin typeface="Microsoft YaHei"/>
                <ns1:ea typeface="Microsoft YaHei"/>
                <ns1:cs typeface="Microsoft YaHei"/>
              </ns1:rPr>
              <ns1:t>频率与职责为管理建议，正式采用前需纳入企业制度。未命中不能单独作为删除依据</ns1:t>
            </ns1:r>
          </ns1:p>
        </p:txBody>
      </p:sp>
      <p:sp>
        <p:nvSpPr>
          <p:cNvPr id="5" name="版式分隔线">
            <a:extLst xmlns:a="http://schemas.openxmlformats.org/drawingml/2006/main">
              <a:ext uri="{FF2B5EF4-FFF2-40B4-BE49-F238E27FC236}">
                <a16:creationId xmlns:a16="http://schemas.microsoft.com/office/drawing/2014/main" id="{8B1DBA8B-2145-435F-BDED-0CCAEFBC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6" name="正文-63">
            <a:extLst xmlns:a="http://schemas.openxmlformats.org/drawingml/2006/main">
              <a:ext uri="{FF2B5EF4-FFF2-40B4-BE49-F238E27FC236}">
                <a16:creationId xmlns:a16="http://schemas.microsoft.com/office/drawing/2014/main" id="{D599B71A-3B3E-416C-A259-B77B1D5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 algn="r">
              <ns0:def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27695"/>
                </ns0:solidFill>
                <ns0:latin typeface="Microsoft YaHei"/>
                <ns0:ea typeface="Microsoft YaHei"/>
                <ns0:cs typeface="Microsoft YaHei"/>
              </ns0:rPr>
              <ns0:t>82</ns0:t>
            </ns0:r>
          </ns0:p>
        </p:txBody>
      </p:sp>
      <p:sp>
        <p:nvSpPr>
          <p:cNvPr id="7" name="统一风格-表格玻璃容器玻璃后沿-1001">
            <a:extLst xmlns:a="http://schemas.openxmlformats.org/drawingml/2006/main">
              <a:ext uri="{FF2B5EF4-FFF2-40B4-BE49-F238E27FC236}">
                <a16:creationId xmlns:a16="http://schemas.microsoft.com/office/drawing/2014/main" id="{2CA97D28-8FBA-47A6-9C8F-D79EDDCF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486150"/>
          </a:xfrm>
          <a:prstGeom xmlns:a="http://schemas.openxmlformats.org/drawingml/2006/main" prst="roundRect">
            <a:avLst>
              <a:gd name="adj" fmla="val 24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表格玻璃容器-1002">
            <a:extLst xmlns:a="http://schemas.openxmlformats.org/drawingml/2006/main">
              <a:ext uri="{FF2B5EF4-FFF2-40B4-BE49-F238E27FC236}">
                <a16:creationId xmlns:a16="http://schemas.microsoft.com/office/drawing/2014/main" id="{AE1EF63F-506D-4DAA-8D76-F2655F24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486150"/>
          </a:xfrm>
          <a:prstGeom xmlns:a="http://schemas.openxmlformats.org/drawingml/2006/main" prst="roundRect">
            <a:avLst>
              <a:gd name="adj" fmla="val 24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表格玻璃容器玻璃内沿-1003">
            <a:extLst xmlns:a="http://schemas.openxmlformats.org/drawingml/2006/main">
              <a:ext uri="{FF2B5EF4-FFF2-40B4-BE49-F238E27FC236}">
                <a16:creationId xmlns:a16="http://schemas.microsoft.com/office/drawing/2014/main" id="{9B37C946-457B-4679-9B9B-EB811DF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9" y="2098834"/>
            <a:ext cx="11099483" cy="3460433"/>
          </a:xfrm>
          <a:prstGeom xmlns:a="http://schemas.openxmlformats.org/drawingml/2006/main" prst="roundRect">
            <a:avLst>
              <a:gd name="adj" fmla="val 21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表格玻璃容器边缘高光-1004">
            <a:extLst xmlns:a="http://schemas.openxmlformats.org/drawingml/2006/main">
              <a:ext uri="{FF2B5EF4-FFF2-40B4-BE49-F238E27FC236}">
                <a16:creationId xmlns:a16="http://schemas.microsoft.com/office/drawing/2014/main" id="{8F9B208C-4EF1-4580-A4E8-69A86D23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1125200" cy="3486150"/>
          </a:xfrm>
          <a:custGeom xmlns:a="http://schemas.openxmlformats.org/drawingml/2006/main">
            <a:pathLst>
              <a:path w="11125200" h="3486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13242-0FD2-4DB2-82EE-994CB210AFCE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286000"/>
                <a:gridCol w="4000500"/>
                <a:gridCol w="3067050"/>
              </a:tblGrid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触发时机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责任角色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检查重点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值班运维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覆盖变化、异常阻断、告警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责任人、影响与处理记录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临时规则到期、宽泛授权、例外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 复核、审批与差异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/ 网络 / 安全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周期依赖、引流路径、必要性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复核结论与恢复记录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发生变更时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/ 平台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新资产、路由、NAT 与边界覆盖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工单与正反验证结果</a:t>
                      </a:r>
                    </a:p>
                  </a:txBody>
                  <a:tcPr marL="91440" marR="91440" marT="45720" marB="45720"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E4FF0834-AD54-4E41-8B38-2A0FAA7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资产、路由或出口变化时，立即补做覆盖和正反验证。</a:t>
            </a:r>
          </a:p>
        </p:txBody>
      </p:sp>
    </p:spTree>
    <p:extLst>
      <p:ext uri="{BB962C8B-B14F-4D97-AF65-F5344CB8AC3E}">
        <p14:creationId xmlns:p14="http://schemas.microsoft.com/office/powerpoint/2010/main" val="3110126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统一风格-文字 附录-1">
            <a:extLst xmlns:a="http://schemas.openxmlformats.org/drawingml/2006/main">
              <a:ext uri="{FF2B5EF4-FFF2-40B4-BE49-F238E27FC236}">
                <a16:creationId xmlns:a16="http://schemas.microsoft.com/office/drawing/2014/main" id="{7EE1BAA2-B2F7-469B-B16B-8628288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统一风格-文字 华为云官方文档索引-2">
            <a:extLst xmlns:a="http://schemas.openxmlformats.org/drawingml/2006/main">
              <a:ext uri="{FF2B5EF4-FFF2-40B4-BE49-F238E27FC236}">
                <a16:creationId xmlns:a16="http://schemas.microsoft.com/office/drawing/2014/main" id="{1EE7113B-AFF1-438C-B300-D1967478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华为云官方文档索引</a:t>
            </a:r>
          </a:p>
        </p:txBody>
      </p:sp>
      <p:sp>
        <p:nvSpPr>
          <p:cNvPr id="3" name="统一风格-文字 覆盖 VPC、网络互联、OBS / SWR 加固与 CFW，点击条目查看对应官方文档-3">
            <a:extLst xmlns:a="http://schemas.openxmlformats.org/drawingml/2006/main">
              <a:ext uri="{FF2B5EF4-FFF2-40B4-BE49-F238E27FC236}">
                <a16:creationId xmlns:a16="http://schemas.microsoft.com/office/drawing/2014/main" id="{5C610A78-8B6A-4299-A05F-4DBFCAAA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覆盖 VPC、网络互联、OBS / SWR 加固与 CFW，点击条目查看对应官方文档</a:t>
            </a:r>
          </a:p>
        </p:txBody>
      </p:sp>
      <p:sp>
        <p:nvSpPr>
          <p:cNvPr id="4" name="统一风格-官方文档分类玻璃后沿-4">
            <a:extLst xmlns:a="http://schemas.openxmlformats.org/drawingml/2006/main">
              <a:ext uri="{FF2B5EF4-FFF2-40B4-BE49-F238E27FC236}">
                <a16:creationId xmlns:a16="http://schemas.microsoft.com/office/drawing/2014/main" id="{10458934-A2BC-4C12-97D8-2F759F64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" name="统一风格-官方文档分类-5">
            <a:extLst xmlns:a="http://schemas.openxmlformats.org/drawingml/2006/main">
              <a:ext uri="{FF2B5EF4-FFF2-40B4-BE49-F238E27FC236}">
                <a16:creationId xmlns:a16="http://schemas.microsoft.com/office/drawing/2014/main" id="{62821115-3748-4AEC-BF0C-EF651A20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官方文档分类玻璃内沿-6">
            <a:extLst xmlns:a="http://schemas.openxmlformats.org/drawingml/2006/main">
              <a:ext uri="{FF2B5EF4-FFF2-40B4-BE49-F238E27FC236}">
                <a16:creationId xmlns:a16="http://schemas.microsoft.com/office/drawing/2014/main" id="{47776606-254C-486C-8DC4-300929B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8359"/>
            <a:ext cx="3403283" cy="3746183"/>
          </a:xfrm>
          <a:prstGeom xmlns:a="http://schemas.openxmlformats.org/drawingml/2006/main" prst="roundRect">
            <a:avLst>
              <a:gd name="adj" fmla="val 21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官方文档分类边缘高光-7">
            <a:extLst xmlns:a="http://schemas.openxmlformats.org/drawingml/2006/main">
              <a:ext uri="{FF2B5EF4-FFF2-40B4-BE49-F238E27FC236}">
                <a16:creationId xmlns:a16="http://schemas.microsoft.com/office/drawing/2014/main" id="{B8E2EEA7-827D-4560-BD40-422E21B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3771900"/>
          </a:xfrm>
          <a:custGeom xmlns:a="http://schemas.openxmlformats.org/drawingml/2006/main"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" name="统一风格-doc 规则文档-8">
            <a:extLst xmlns:a="http://schemas.openxmlformats.org/drawingml/2006/main">
              <a:ext uri="{FF2B5EF4-FFF2-40B4-BE49-F238E27FC236}">
                <a16:creationId xmlns:a16="http://schemas.microsoft.com/office/drawing/2014/main" id="{D75120A9-9084-472E-9FA5-0F8AAE85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9" name="统一风格-doc 文档折角-9">
            <a:extLst xmlns:a="http://schemas.openxmlformats.org/drawingml/2006/main">
              <a:ext uri="{FF2B5EF4-FFF2-40B4-BE49-F238E27FC236}">
                <a16:creationId xmlns:a16="http://schemas.microsoft.com/office/drawing/2014/main" id="{5EFE62C7-B350-41FA-91AE-58D8D72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10" name="统一风格-doc 规则条目-10">
            <a:extLst xmlns:a="http://schemas.openxmlformats.org/drawingml/2006/main">
              <a:ext uri="{FF2B5EF4-FFF2-40B4-BE49-F238E27FC236}">
                <a16:creationId xmlns:a16="http://schemas.microsoft.com/office/drawing/2014/main" id="{DD4484A3-18DC-41B0-AFDB-98E004A6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11" name="统一风格-文字 VPC 与网络互联-11">
            <a:extLst xmlns:a="http://schemas.openxmlformats.org/drawingml/2006/main">
              <a:ext uri="{FF2B5EF4-FFF2-40B4-BE49-F238E27FC236}">
                <a16:creationId xmlns:a16="http://schemas.microsoft.com/office/drawing/2014/main" id="{A8A00F38-1FAB-4CDF-B5FF-EC8A953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955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与网络互联</a:t>
            </a:r>
          </a:p>
        </p:txBody>
      </p:sp>
      <p:sp>
        <p:nvSpPr>
          <p:cNvPr id="12" name="统一风格-分类标题分隔线-12">
            <a:extLst xmlns:a="http://schemas.openxmlformats.org/drawingml/2006/main">
              <a:ext uri="{FF2B5EF4-FFF2-40B4-BE49-F238E27FC236}">
                <a16:creationId xmlns:a16="http://schemas.microsoft.com/office/drawing/2014/main" id="{C6BE6BF2-31EC-416A-823B-68EB56EA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C8D9F2"/>
            </a:solidFill>
          </a:ln>
        </p:spPr>
      </p:sp>
      <p:sp>
        <p:nvSpPr>
          <p:cNvPr id="13" name="统一风格-文字 VPC 网络规划-13">
            <a:extLst xmlns:a="http://schemas.openxmlformats.org/drawingml/2006/main">
              <a:ext uri="{FF2B5EF4-FFF2-40B4-BE49-F238E27FC236}">
                <a16:creationId xmlns:a16="http://schemas.microsoft.com/office/drawing/2014/main" id="{CA11E8EF-9E33-48DE-86DD-BACD659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FDoc1"/>
              </a:rPr>
              <a:t>VPC 网络规划</a:t>
            </a:r>
          </a:p>
        </p:txBody>
      </p:sp>
      <p:sp>
        <p:nvSpPr>
          <p:cNvPr id="14" name="统一风格-文字 对等连接与传递路由-14">
            <a:extLst xmlns:a="http://schemas.openxmlformats.org/drawingml/2006/main">
              <a:ext uri="{FF2B5EF4-FFF2-40B4-BE49-F238E27FC236}">
                <a16:creationId xmlns:a16="http://schemas.microsoft.com/office/drawing/2014/main" id="{133AB04E-5D4A-434B-A310-124ED23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="http://schemas.openxmlformats.org/officeDocument/2006/relationships" ns1:id="RFDoc2"/>
              </a:rPr>
              <a:t>对等连接与传递路由</a:t>
            </a:r>
          </a:p>
        </p:txBody>
      </p:sp>
      <p:sp>
        <p:nvSpPr>
          <p:cNvPr id="15" name="统一风格-文字 ER 共享与跨账号接入-15">
            <a:extLst xmlns:a="http://schemas.openxmlformats.org/drawingml/2006/main">
              <a:ext uri="{FF2B5EF4-FFF2-40B4-BE49-F238E27FC236}">
                <a16:creationId xmlns:a16="http://schemas.microsoft.com/office/drawing/2014/main" id="{31D765A5-3026-4BEE-84CA-C3533D56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2="http://schemas.openxmlformats.org/officeDocument/2006/relationships" ns2:id="RFDoc3"/>
              </a:rPr>
              <a:t>ER 共享与跨账号接入</a:t>
            </a:r>
          </a:p>
        </p:txBody>
      </p:sp>
      <p:sp>
        <p:nvSpPr>
          <p:cNvPr id="16" name="统一风格-文字 CC 中心网络与区域限制-16">
            <a:extLst xmlns:a="http://schemas.openxmlformats.org/drawingml/2006/main">
              <a:ext uri="{FF2B5EF4-FFF2-40B4-BE49-F238E27FC236}">
                <a16:creationId xmlns:a16="http://schemas.microsoft.com/office/drawing/2014/main" id="{C8B27FD0-4C42-4043-AB86-6FF02A8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3="http://schemas.openxmlformats.org/officeDocument/2006/relationships" ns3:id="RFDoc4"/>
              </a:rPr>
              <a:t>CC 中心网络与区域限制</a:t>
            </a:r>
          </a:p>
        </p:txBody>
      </p:sp>
      <p:sp>
        <p:nvSpPr>
          <p:cNvPr id="17" name="统一风格-文字 私网 NAT 使用说明-17">
            <a:extLst xmlns:a="http://schemas.openxmlformats.org/drawingml/2006/main">
              <a:ext uri="{FF2B5EF4-FFF2-40B4-BE49-F238E27FC236}">
                <a16:creationId xmlns:a16="http://schemas.microsoft.com/office/drawing/2014/main" id="{4946E2BE-54A4-4364-A94B-8BDD4135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4="http://schemas.openxmlformats.org/officeDocument/2006/relationships" ns4:id="RFDoc5"/>
              </a:rPr>
              <a:t>私网 NAT 使用说明</a:t>
            </a:r>
          </a:p>
        </p:txBody>
      </p:sp>
      <p:sp>
        <p:nvSpPr>
          <p:cNvPr id="18" name="统一风格-文字 VPCEP 规格与限制-18">
            <a:extLst xmlns:a="http://schemas.openxmlformats.org/drawingml/2006/main">
              <a:ext uri="{FF2B5EF4-FFF2-40B4-BE49-F238E27FC236}">
                <a16:creationId xmlns:a16="http://schemas.microsoft.com/office/drawing/2014/main" id="{119D1023-5842-437D-83B9-99880DA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5="http://schemas.openxmlformats.org/officeDocument/2006/relationships" ns5:id="RFDoc6"/>
              </a:rPr>
              <a:t>VPCEP 规格与限制</a:t>
            </a:r>
          </a:p>
        </p:txBody>
      </p:sp>
      <p:sp>
        <p:nvSpPr>
          <p:cNvPr id="19" name="统一风格-官方文档分类玻璃后沿-19">
            <a:extLst xmlns:a="http://schemas.openxmlformats.org/drawingml/2006/main">
              <a:ext uri="{FF2B5EF4-FFF2-40B4-BE49-F238E27FC236}">
                <a16:creationId xmlns:a16="http://schemas.microsoft.com/office/drawing/2014/main" id="{B5446E9B-C580-4DA8-BF4A-2E383E0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0" name="统一风格-官方文档分类-20">
            <a:extLst xmlns:a="http://schemas.openxmlformats.org/drawingml/2006/main">
              <a:ext uri="{FF2B5EF4-FFF2-40B4-BE49-F238E27FC236}">
                <a16:creationId xmlns:a16="http://schemas.microsoft.com/office/drawing/2014/main" id="{B47B2DBE-8159-4253-A331-6FD1984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1" name="统一风格-官方文档分类玻璃内沿-21">
            <a:extLst xmlns:a="http://schemas.openxmlformats.org/drawingml/2006/main">
              <a:ext uri="{FF2B5EF4-FFF2-40B4-BE49-F238E27FC236}">
                <a16:creationId xmlns:a16="http://schemas.microsoft.com/office/drawing/2014/main" id="{1B9157E6-204A-41DD-A773-8307FEA8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359" y="2108359"/>
            <a:ext cx="3403283" cy="3746183"/>
          </a:xfrm>
          <a:prstGeom xmlns:a="http://schemas.openxmlformats.org/drawingml/2006/main" prst="roundRect">
            <a:avLst>
              <a:gd name="adj" fmla="val 21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2" name="统一风格-官方文档分类边缘高光-22">
            <a:extLst xmlns:a="http://schemas.openxmlformats.org/drawingml/2006/main">
              <a:ext uri="{FF2B5EF4-FFF2-40B4-BE49-F238E27FC236}">
                <a16:creationId xmlns:a16="http://schemas.microsoft.com/office/drawing/2014/main" id="{8CF9B85F-639A-4430-B73A-A94B8B7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771900"/>
          </a:xfrm>
          <a:custGeom xmlns:a="http://schemas.openxmlformats.org/drawingml/2006/main"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doc 规则文档-23">
            <a:extLst xmlns:a="http://schemas.openxmlformats.org/drawingml/2006/main">
              <a:ext uri="{FF2B5EF4-FFF2-40B4-BE49-F238E27FC236}">
                <a16:creationId xmlns:a16="http://schemas.microsoft.com/office/drawing/2014/main" id="{F492A761-4D18-48CA-99CE-F0B7584C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4" name="统一风格-doc 文档折角-24">
            <a:extLst xmlns:a="http://schemas.openxmlformats.org/drawingml/2006/main">
              <a:ext uri="{FF2B5EF4-FFF2-40B4-BE49-F238E27FC236}">
                <a16:creationId xmlns:a16="http://schemas.microsoft.com/office/drawing/2014/main" id="{7BF2D940-3BE8-4750-845E-3F7F246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5" name="统一风格-doc 规则条目-25">
            <a:extLst xmlns:a="http://schemas.openxmlformats.org/drawingml/2006/main">
              <a:ext uri="{FF2B5EF4-FFF2-40B4-BE49-F238E27FC236}">
                <a16:creationId xmlns:a16="http://schemas.microsoft.com/office/drawing/2014/main" id="{B03BAFA6-FEF7-4771-9EEF-78A6C64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6" name="统一风格-文字 OBS / SWR 安全加固-26">
            <a:extLst xmlns:a="http://schemas.openxmlformats.org/drawingml/2006/main">
              <a:ext uri="{FF2B5EF4-FFF2-40B4-BE49-F238E27FC236}">
                <a16:creationId xmlns:a16="http://schemas.microsoft.com/office/drawing/2014/main" id="{2EA7C1BC-573F-40BC-B6BD-D2DB8A4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955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/ SWR 安全加固</a:t>
            </a:r>
          </a:p>
        </p:txBody>
      </p:sp>
      <p:sp>
        <p:nvSpPr>
          <p:cNvPr id="27" name="统一风格-分类标题分隔线-27">
            <a:extLst xmlns:a="http://schemas.openxmlformats.org/drawingml/2006/main">
              <a:ext uri="{FF2B5EF4-FFF2-40B4-BE49-F238E27FC236}">
                <a16:creationId xmlns:a16="http://schemas.microsoft.com/office/drawing/2014/main" id="{364AD941-265F-4475-A656-0C7E15E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C8D9F2"/>
            </a:solidFill>
          </a:ln>
        </p:spPr>
      </p:sp>
      <p:sp>
        <p:nvSpPr>
          <p:cNvPr id="28" name="统一风格-文字 OBS 双端固定-28">
            <a:extLst xmlns:a="http://schemas.openxmlformats.org/drawingml/2006/main">
              <a:ext uri="{FF2B5EF4-FFF2-40B4-BE49-F238E27FC236}">
                <a16:creationId xmlns:a16="http://schemas.microsoft.com/office/drawing/2014/main" id="{51E1EC09-B996-43D9-838D-4154B4B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6="http://schemas.openxmlformats.org/officeDocument/2006/relationships" ns6:id="RFDoc7"/>
              </a:rPr>
              <a:t>OBS 双端固定</a:t>
            </a:r>
          </a:p>
        </p:txBody>
      </p:sp>
      <p:sp>
        <p:nvSpPr>
          <p:cNvPr id="29" name="统一风格-文字 OBS 桶策略与 HTTPS-29">
            <a:extLst xmlns:a="http://schemas.openxmlformats.org/drawingml/2006/main">
              <a:ext uri="{FF2B5EF4-FFF2-40B4-BE49-F238E27FC236}">
                <a16:creationId xmlns:a16="http://schemas.microsoft.com/office/drawing/2014/main" id="{F8052323-466F-4D74-A207-FE5BACC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7="http://schemas.openxmlformats.org/officeDocument/2006/relationships" ns7:id="RFDoc8"/>
              </a:rPr>
              <a:t>OBS 桶策略与 HTTPS</a:t>
            </a:r>
          </a:p>
        </p:txBody>
      </p:sp>
      <p:sp>
        <p:nvSpPr>
          <p:cNvPr id="30" name="统一风格-文字 SWR 基础版内网访问-30">
            <a:extLst xmlns:a="http://schemas.openxmlformats.org/drawingml/2006/main">
              <a:ext uri="{FF2B5EF4-FFF2-40B4-BE49-F238E27FC236}">
                <a16:creationId xmlns:a16="http://schemas.microsoft.com/office/drawing/2014/main" id="{1829BE13-88C4-458F-96B0-042CBBD6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8="http://schemas.openxmlformats.org/officeDocument/2006/relationships" ns8:id="RFDoc9"/>
              </a:rPr>
              <a:t>SWR 基础版内网访问</a:t>
            </a:r>
          </a:p>
        </p:txBody>
      </p:sp>
      <p:sp>
        <p:nvSpPr>
          <p:cNvPr id="31" name="统一风格-文字 SWR 企业版内网访问-31">
            <a:extLst xmlns:a="http://schemas.openxmlformats.org/drawingml/2006/main">
              <a:ext uri="{FF2B5EF4-FFF2-40B4-BE49-F238E27FC236}">
                <a16:creationId xmlns:a16="http://schemas.microsoft.com/office/drawing/2014/main" id="{61A01F65-2EA8-40DD-A1BD-4A96B1F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9="http://schemas.openxmlformats.org/officeDocument/2006/relationships" ns9:id="RFDoc10"/>
              </a:rPr>
              <a:t>SWR 企业版内网访问</a:t>
            </a:r>
          </a:p>
        </p:txBody>
      </p:sp>
      <p:sp>
        <p:nvSpPr>
          <p:cNvPr id="32" name="统一风格-文字 SWR 登录与凭证-32">
            <a:extLst xmlns:a="http://schemas.openxmlformats.org/drawingml/2006/main">
              <a:ext uri="{FF2B5EF4-FFF2-40B4-BE49-F238E27FC236}">
                <a16:creationId xmlns:a16="http://schemas.microsoft.com/office/drawing/2014/main" id="{361A230E-6D8A-42A5-950E-F1EBB6D7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0="http://schemas.openxmlformats.org/officeDocument/2006/relationships" ns10:id="RFDoc11"/>
              </a:rPr>
              <a:t>SWR 登录与凭证</a:t>
            </a:r>
          </a:p>
        </p:txBody>
      </p:sp>
      <p:sp>
        <p:nvSpPr>
          <p:cNvPr id="33" name="统一风格-文字 CCE 委托拉取镜像-33">
            <a:extLst xmlns:a="http://schemas.openxmlformats.org/drawingml/2006/main">
              <a:ext uri="{FF2B5EF4-FFF2-40B4-BE49-F238E27FC236}">
                <a16:creationId xmlns:a16="http://schemas.microsoft.com/office/drawing/2014/main" id="{8A4D71A1-E08B-4EEA-A66D-974C62F5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1="http://schemas.openxmlformats.org/officeDocument/2006/relationships" ns11:id="RFDoc12"/>
              </a:rPr>
              <a:t>CCE 委托拉取镜像</a:t>
            </a:r>
          </a:p>
        </p:txBody>
      </p:sp>
      <p:sp>
        <p:nvSpPr>
          <p:cNvPr id="34" name="统一风格-官方文档分类玻璃后沿-34">
            <a:extLst xmlns:a="http://schemas.openxmlformats.org/drawingml/2006/main">
              <a:ext uri="{FF2B5EF4-FFF2-40B4-BE49-F238E27FC236}">
                <a16:creationId xmlns:a16="http://schemas.microsoft.com/office/drawing/2014/main" id="{1F419704-4C61-47AC-AC60-E57DB130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5" name="统一风格-官方文档分类-35">
            <a:extLst xmlns:a="http://schemas.openxmlformats.org/drawingml/2006/main">
              <a:ext uri="{FF2B5EF4-FFF2-40B4-BE49-F238E27FC236}">
                <a16:creationId xmlns:a16="http://schemas.microsoft.com/office/drawing/2014/main" id="{0B82B34F-F6FE-4D8A-9DB8-65D9EA2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29000" cy="3771900"/>
          </a:xfrm>
          <a:prstGeom xmlns:a="http://schemas.openxmlformats.org/drawingml/2006/main" prst="roundRect">
            <a:avLst>
              <a:gd name="adj" fmla="val 2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官方文档分类玻璃内沿-36">
            <a:extLst xmlns:a="http://schemas.openxmlformats.org/drawingml/2006/main">
              <a:ext uri="{FF2B5EF4-FFF2-40B4-BE49-F238E27FC236}">
                <a16:creationId xmlns:a16="http://schemas.microsoft.com/office/drawing/2014/main" id="{F513B048-D401-46C6-95B3-2CC1CAA9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259" y="2108359"/>
            <a:ext cx="3403283" cy="3746183"/>
          </a:xfrm>
          <a:prstGeom xmlns:a="http://schemas.openxmlformats.org/drawingml/2006/main" prst="roundRect">
            <a:avLst>
              <a:gd name="adj" fmla="val 21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官方文档分类边缘高光-37">
            <a:extLst xmlns:a="http://schemas.openxmlformats.org/drawingml/2006/main">
              <a:ext uri="{FF2B5EF4-FFF2-40B4-BE49-F238E27FC236}">
                <a16:creationId xmlns:a16="http://schemas.microsoft.com/office/drawing/2014/main" id="{B1A21C1A-A50D-435A-AF00-739C5527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29000" cy="3771900"/>
          </a:xfrm>
          <a:custGeom xmlns:a="http://schemas.openxmlformats.org/drawingml/2006/main"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8" name="统一风格-doc 规则文档-38">
            <a:extLst xmlns:a="http://schemas.openxmlformats.org/drawingml/2006/main">
              <a:ext uri="{FF2B5EF4-FFF2-40B4-BE49-F238E27FC236}">
                <a16:creationId xmlns:a16="http://schemas.microsoft.com/office/drawing/2014/main" id="{F6E231E7-E7EF-4BE6-9DCA-411EFB69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9" name="统一风格-doc 文档折角-39">
            <a:extLst xmlns:a="http://schemas.openxmlformats.org/drawingml/2006/main">
              <a:ext uri="{FF2B5EF4-FFF2-40B4-BE49-F238E27FC236}">
                <a16:creationId xmlns:a16="http://schemas.microsoft.com/office/drawing/2014/main" id="{4CA4DFD7-12EB-4BE5-818D-6DC5076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0" name="统一风格-doc 规则条目-40">
            <a:extLst xmlns:a="http://schemas.openxmlformats.org/drawingml/2006/main">
              <a:ext uri="{FF2B5EF4-FFF2-40B4-BE49-F238E27FC236}">
                <a16:creationId xmlns:a16="http://schemas.microsoft.com/office/drawing/2014/main" id="{E6B8F454-7B04-4155-8C6D-A3BBA25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1" name="统一风格-文字 CFW 策略与运维-41">
            <a:extLst xmlns:a="http://schemas.openxmlformats.org/drawingml/2006/main">
              <a:ext uri="{FF2B5EF4-FFF2-40B4-BE49-F238E27FC236}">
                <a16:creationId xmlns:a16="http://schemas.microsoft.com/office/drawing/2014/main" id="{693BE90F-3206-4E7B-80CB-25D926F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955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策略与运维</a:t>
            </a:r>
          </a:p>
        </p:txBody>
      </p:sp>
      <p:sp>
        <p:nvSpPr>
          <p:cNvPr id="42" name="统一风格-分类标题分隔线-42">
            <a:extLst xmlns:a="http://schemas.openxmlformats.org/drawingml/2006/main">
              <a:ext uri="{FF2B5EF4-FFF2-40B4-BE49-F238E27FC236}">
                <a16:creationId xmlns:a16="http://schemas.microsoft.com/office/drawing/2014/main" id="{3176954E-897D-4BFA-8521-5FD4149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C8D9F2"/>
            </a:solidFill>
          </a:ln>
        </p:spPr>
      </p:sp>
      <p:sp>
        <p:nvSpPr>
          <p:cNvPr id="43" name="统一风格-文字 VPC 边界防火墙-43">
            <a:extLst xmlns:a="http://schemas.openxmlformats.org/drawingml/2006/main">
              <a:ext uri="{FF2B5EF4-FFF2-40B4-BE49-F238E27FC236}">
                <a16:creationId xmlns:a16="http://schemas.microsoft.com/office/drawing/2014/main" id="{046A3B69-EDB9-47DE-8383-70A0222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2="http://schemas.openxmlformats.org/officeDocument/2006/relationships" ns12:id="RFDoc13"/>
              </a:rPr>
              <a:t>VPC 边界防火墙</a:t>
            </a:r>
          </a:p>
        </p:txBody>
      </p:sp>
      <p:sp>
        <p:nvSpPr>
          <p:cNvPr id="44" name="统一风格-文字 ER 引流配置（新版）-44">
            <a:extLst xmlns:a="http://schemas.openxmlformats.org/drawingml/2006/main">
              <a:ext uri="{FF2B5EF4-FFF2-40B4-BE49-F238E27FC236}">
                <a16:creationId xmlns:a16="http://schemas.microsoft.com/office/drawing/2014/main" id="{9B02CCDD-F71C-4F7A-AAB3-900CC0D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3="http://schemas.openxmlformats.org/officeDocument/2006/relationships" ns13:id="RFDoc14"/>
              </a:rPr>
              <a:t>ER 引流配置（新版）</a:t>
            </a:r>
          </a:p>
        </p:txBody>
      </p:sp>
      <p:sp>
        <p:nvSpPr>
          <p:cNvPr id="45" name="统一风格-文字 访问控制策略概述-45">
            <a:extLst xmlns:a="http://schemas.openxmlformats.org/drawingml/2006/main">
              <a:ext uri="{FF2B5EF4-FFF2-40B4-BE49-F238E27FC236}">
                <a16:creationId xmlns:a16="http://schemas.microsoft.com/office/drawing/2014/main" id="{1539E53D-32FE-49D4-BE19-8947E17A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4="http://schemas.openxmlformats.org/officeDocument/2006/relationships" ns14:id="RFDoc15"/>
              </a:rPr>
              <a:t>访问控制策略概述</a:t>
            </a:r>
          </a:p>
        </p:txBody>
      </p:sp>
      <p:sp>
        <p:nvSpPr>
          <p:cNvPr id="46" name="统一风格-文字 IPS 入侵防御概述-46">
            <a:extLst xmlns:a="http://schemas.openxmlformats.org/drawingml/2006/main">
              <a:ext uri="{FF2B5EF4-FFF2-40B4-BE49-F238E27FC236}">
                <a16:creationId xmlns:a16="http://schemas.microsoft.com/office/drawing/2014/main" id="{FDC8EAAC-FFA9-4ACF-B485-CBD8FAC0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5="http://schemas.openxmlformats.org/officeDocument/2006/relationships" ns15:id="RFDoc16"/>
              </a:rPr>
              <a:t>IPS 入侵防御概述</a:t>
            </a:r>
          </a:p>
        </p:txBody>
      </p:sp>
      <p:sp>
        <p:nvSpPr>
          <p:cNvPr id="47" name="统一风格-文字 日志查询与筛选-47">
            <a:extLst xmlns:a="http://schemas.openxmlformats.org/drawingml/2006/main">
              <a:ext uri="{FF2B5EF4-FFF2-40B4-BE49-F238E27FC236}">
                <a16:creationId xmlns:a16="http://schemas.microsoft.com/office/drawing/2014/main" id="{7099A201-9403-4CC4-92D9-FF6CDE9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6="http://schemas.openxmlformats.org/officeDocument/2006/relationships" ns16:id="RFDoc17"/>
              </a:rPr>
              <a:t>日志查询与筛选</a:t>
            </a:r>
          </a:p>
        </p:txBody>
      </p:sp>
      <p:sp>
        <p:nvSpPr>
          <p:cNvPr id="48" name="统一风格-文字 常见故障排查索引-48">
            <a:extLst xmlns:a="http://schemas.openxmlformats.org/drawingml/2006/main">
              <a:ext uri="{FF2B5EF4-FFF2-40B4-BE49-F238E27FC236}">
                <a16:creationId xmlns:a16="http://schemas.microsoft.com/office/drawing/2014/main" id="{C7ED2092-8BC3-4E5C-9F28-106BE82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48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xmlns:ns17="http://schemas.openxmlformats.org/officeDocument/2006/relationships" ns17:id="RFDoc18"/>
              </a:rPr>
              <a:t>常见故障排查索引</a:t>
            </a:r>
          </a:p>
        </p:txBody>
      </p:sp>
      <p:sp>
        <p:nvSpPr>
          <p:cNvPr id="49" name="统一风格-页脚分隔线-49">
            <a:extLst xmlns:a="http://schemas.openxmlformats.org/drawingml/2006/main">
              <a:ext uri="{FF2B5EF4-FFF2-40B4-BE49-F238E27FC236}">
                <a16:creationId xmlns:a16="http://schemas.microsoft.com/office/drawing/2014/main" id="{16B424BA-3727-489C-8D10-CE2D6BD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0" name="统一风格-文字 配置能力、区域支持与产品版本以当前官方文档及控制台为准，管理流程按企业制度执行。-50">
            <a:extLst xmlns:a="http://schemas.openxmlformats.org/drawingml/2006/main">
              <a:ext uri="{FF2B5EF4-FFF2-40B4-BE49-F238E27FC236}">
                <a16:creationId xmlns:a16="http://schemas.microsoft.com/office/drawing/2014/main" id="{337D2AEE-9F68-4133-9661-C2887C3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配置能力、区域支持与产品版本以当前官方文档及控制台为准，管理流程按企业制度执行。</a:t>
            </a:r>
          </a:p>
        </p:txBody>
      </p:sp>
      <p:sp>
        <p:nvSpPr>
          <p:cNvPr id="51" name="统一风格-文字 83-51">
            <a:extLst xmlns:a="http://schemas.openxmlformats.org/drawingml/2006/main">
              <a:ext uri="{FF2B5EF4-FFF2-40B4-BE49-F238E27FC236}">
                <a16:creationId xmlns:a16="http://schemas.microsoft.com/office/drawing/2014/main" id="{5C394EDD-B997-4430-954E-E8F2863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42529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统一风格-文字 01  VPC 基础与规范-1">
            <a:extLst xmlns:a="http://schemas.openxmlformats.org/drawingml/2006/main">
              <a:ext uri="{FF2B5EF4-FFF2-40B4-BE49-F238E27FC236}">
                <a16:creationId xmlns:a16="http://schemas.microsoft.com/office/drawing/2014/main" id="{CEB29573-FFEE-4F57-8195-0D445F5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：虚拟私有云-2">
            <a:extLst xmlns:a="http://schemas.openxmlformats.org/drawingml/2006/main">
              <a:ext uri="{FF2B5EF4-FFF2-40B4-BE49-F238E27FC236}">
                <a16:creationId xmlns:a16="http://schemas.microsoft.com/office/drawing/2014/main" id="{7EE99318-0A88-44EC-9614-798308E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VPC：虚拟私有云</a:t>
            </a:r>
          </a:p>
        </p:txBody>
      </p:sp>
      <p:sp>
        <p:nvSpPr>
          <p:cNvPr id="3" name="统一风格-文字 云上业务的网络基础，支撑资源通信、逻辑隔离与按需互联-3">
            <a:extLst xmlns:a="http://schemas.openxmlformats.org/drawingml/2006/main">
              <a:ext uri="{FF2B5EF4-FFF2-40B4-BE49-F238E27FC236}">
                <a16:creationId xmlns:a16="http://schemas.microsoft.com/office/drawing/2014/main" id="{61AE8559-CF5F-4E1A-9D83-C2BD495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云上业务的网络基础，支撑资源通信、逻辑隔离与按需互联</a:t>
            </a:r>
          </a:p>
        </p:txBody>
      </p:sp>
      <p:sp>
        <p:nvSpPr>
          <p:cNvPr id="4" name="统一风格-页脚分隔线-4">
            <a:extLst xmlns:a="http://schemas.openxmlformats.org/drawingml/2006/main">
              <a:ext uri="{FF2B5EF4-FFF2-40B4-BE49-F238E27FC236}">
                <a16:creationId xmlns:a16="http://schemas.microsoft.com/office/drawing/2014/main" id="{5240B764-9196-415E-9A1E-660C2559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VPC 支持网络规划、逻辑隔离与按需互联，实际访问仍需满足路由和安全策略要求。-5">
            <a:extLst xmlns:a="http://schemas.openxmlformats.org/drawingml/2006/main">
              <a:ext uri="{FF2B5EF4-FFF2-40B4-BE49-F238E27FC236}">
                <a16:creationId xmlns:a16="http://schemas.microsoft.com/office/drawing/2014/main" id="{5D98B7EE-04A3-423A-8E81-CB8F3BF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支持网络规划、逻辑隔离与按需互联，实际访问仍需满足路由和安全策略要求。</a:t>
            </a:r>
          </a:p>
        </p:txBody>
      </p:sp>
      <p:sp>
        <p:nvSpPr>
          <p:cNvPr id="6" name="统一风格-文字 03-6">
            <a:extLst xmlns:a="http://schemas.openxmlformats.org/drawingml/2006/main">
              <a:ext uri="{FF2B5EF4-FFF2-40B4-BE49-F238E27FC236}">
                <a16:creationId xmlns:a16="http://schemas.microsoft.com/office/drawing/2014/main" id="{4630B125-7B98-4293-A09A-F52B72C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VPC 概念玻璃后沿-7">
            <a:extLst xmlns:a="http://schemas.openxmlformats.org/drawingml/2006/main">
              <a:ext uri="{FF2B5EF4-FFF2-40B4-BE49-F238E27FC236}">
                <a16:creationId xmlns:a16="http://schemas.microsoft.com/office/drawing/2014/main" id="{9A2380D8-2540-4457-B6BC-1F3D9AB0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prstGeom xmlns:a="http://schemas.openxmlformats.org/drawingml/2006/main" prst="roundRect">
            <a:avLst>
              <a:gd name="adj" fmla="val 53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VPC 概念-8">
            <a:extLst xmlns:a="http://schemas.openxmlformats.org/drawingml/2006/main">
              <a:ext uri="{FF2B5EF4-FFF2-40B4-BE49-F238E27FC236}">
                <a16:creationId xmlns:a16="http://schemas.microsoft.com/office/drawing/2014/main" id="{110E1EB6-57D2-414E-8CBE-ABB64AA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prstGeom xmlns:a="http://schemas.openxmlformats.org/drawingml/2006/main" prst="roundRect">
            <a:avLst>
              <a:gd name="adj" fmla="val 53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VPC 概念玻璃内沿-9">
            <a:extLst xmlns:a="http://schemas.openxmlformats.org/drawingml/2006/main">
              <a:ext uri="{FF2B5EF4-FFF2-40B4-BE49-F238E27FC236}">
                <a16:creationId xmlns:a16="http://schemas.microsoft.com/office/drawing/2014/main" id="{9C220DF0-DBF6-4DB2-B6F8-9088CC81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8359"/>
            <a:ext cx="10947083" cy="1574483"/>
          </a:xfrm>
          <a:prstGeom xmlns:a="http://schemas.openxmlformats.org/drawingml/2006/main" prst="roundRect">
            <a:avLst>
              <a:gd name="adj" fmla="val 465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VPC 概念透光反射面-10">
            <a:extLst xmlns:a="http://schemas.openxmlformats.org/drawingml/2006/main">
              <a:ext uri="{FF2B5EF4-FFF2-40B4-BE49-F238E27FC236}">
                <a16:creationId xmlns:a16="http://schemas.microsoft.com/office/drawing/2014/main" id="{A6972CF4-1514-4F8B-B01B-A837FC78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934700" cy="1562100"/>
          </a:xfrm>
          <a:custGeom xmlns:a="http://schemas.openxmlformats.org/drawingml/2006/main"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VPC 概念边缘高光-11">
            <a:extLst xmlns:a="http://schemas.openxmlformats.org/drawingml/2006/main">
              <a:ext uri="{FF2B5EF4-FFF2-40B4-BE49-F238E27FC236}">
                <a16:creationId xmlns:a16="http://schemas.microsoft.com/office/drawing/2014/main" id="{316F531B-93AA-4325-89D3-8A93B72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custGeom xmlns:a="http://schemas.openxmlformats.org/drawingml/2006/main"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12">
            <a:extLst xmlns:a="http://schemas.openxmlformats.org/drawingml/2006/main">
              <a:ext uri="{FF2B5EF4-FFF2-40B4-BE49-F238E27FC236}">
                <a16:creationId xmlns:a16="http://schemas.microsoft.com/office/drawing/2014/main" id="{B78A113F-1ECF-4EE4-BCB2-06756B30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790575" cy="79057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31477" cap="rnd">
            <a:solidFill>
              <a:srgbClr val="2053C3"/>
            </a:solidFill>
            <a:round/>
          </a:ln>
        </p:spPr>
      </p:sp>
      <p:sp>
        <p:nvSpPr>
          <p:cNvPr id="13" name="统一风格-文字 概念-13">
            <a:extLst xmlns:a="http://schemas.openxmlformats.org/drawingml/2006/main">
              <a:ext uri="{FF2B5EF4-FFF2-40B4-BE49-F238E27FC236}">
                <a16:creationId xmlns:a16="http://schemas.microsoft.com/office/drawing/2014/main" id="{15D450A1-FB08-4002-82DB-559AF6AD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57425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4" name="统一风格-文字 VPC（Virtual Private Cloud）是华为云上可配置的私有逻辑网络， 用于承载 ECS、RDS、CCE 等云资源，并提供逻辑隔离。-14">
            <a:extLst xmlns:a="http://schemas.openxmlformats.org/drawingml/2006/main">
              <a:ext uri="{FF2B5EF4-FFF2-40B4-BE49-F238E27FC236}">
                <a16:creationId xmlns:a16="http://schemas.microsoft.com/office/drawing/2014/main" id="{009E052A-FCC2-4110-900D-B1AF692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33675"/>
            <a:ext cx="930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VPC（Virtual Private Cloud）是华为云上可配置的私有逻辑网络，</a:t>
            </a:r>
          </a:p>
          <a:p xmlns:a="http://schemas.openxmlformats.org/drawingml/2006/main"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用于承载 ECS、RDS、CCE 等云资源，并提供逻辑隔离。</a:t>
            </a:r>
          </a:p>
        </p:txBody>
      </p:sp>
      <p:sp>
        <p:nvSpPr>
          <p:cNvPr id="15" name="统一风格-网络规划玻璃后沿-15">
            <a:extLst xmlns:a="http://schemas.openxmlformats.org/drawingml/2006/main">
              <a:ext uri="{FF2B5EF4-FFF2-40B4-BE49-F238E27FC236}">
                <a16:creationId xmlns:a16="http://schemas.microsoft.com/office/drawing/2014/main" id="{E36AA030-18F9-4DD2-99DE-AD33789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6" name="统一风格-网络规划-16">
            <a:extLst xmlns:a="http://schemas.openxmlformats.org/drawingml/2006/main">
              <a:ext uri="{FF2B5EF4-FFF2-40B4-BE49-F238E27FC236}">
                <a16:creationId xmlns:a16="http://schemas.microsoft.com/office/drawing/2014/main" id="{34283C2E-D783-4F9A-BA10-0280CF6F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网络规划玻璃内沿-17">
            <a:extLst xmlns:a="http://schemas.openxmlformats.org/drawingml/2006/main">
              <a:ext uri="{FF2B5EF4-FFF2-40B4-BE49-F238E27FC236}">
                <a16:creationId xmlns:a16="http://schemas.microsoft.com/office/drawing/2014/main" id="{A4D5DD7B-F727-47DA-94E8-F28775F5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013359"/>
            <a:ext cx="3479483" cy="1736408"/>
          </a:xfrm>
          <a:prstGeom xmlns:a="http://schemas.openxmlformats.org/drawingml/2006/main" prst="roundRect">
            <a:avLst>
              <a:gd name="adj" fmla="val 42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网络规划透光反射面-18">
            <a:extLst xmlns:a="http://schemas.openxmlformats.org/drawingml/2006/main">
              <a:ext uri="{FF2B5EF4-FFF2-40B4-BE49-F238E27FC236}">
                <a16:creationId xmlns:a16="http://schemas.microsoft.com/office/drawing/2014/main" id="{02CB78C1-AC60-45D5-A4B7-3222F2A4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3467100" cy="1724025"/>
          </a:xfrm>
          <a:custGeom xmlns:a="http://schemas.openxmlformats.org/drawingml/2006/main"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网络规划边缘高光-19">
            <a:extLst xmlns:a="http://schemas.openxmlformats.org/drawingml/2006/main">
              <a:ext uri="{FF2B5EF4-FFF2-40B4-BE49-F238E27FC236}">
                <a16:creationId xmlns:a16="http://schemas.microsoft.com/office/drawing/2014/main" id="{0E9D8C79-37F3-486B-B5F5-9660296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505200" cy="1762125"/>
          </a:xfrm>
          <a:custGeom xmlns:a="http://schemas.openxmlformats.org/drawingml/2006/main"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route-table VPC 路由表外框-20">
            <a:extLst xmlns:a="http://schemas.openxmlformats.org/drawingml/2006/main">
              <a:ext uri="{FF2B5EF4-FFF2-40B4-BE49-F238E27FC236}">
                <a16:creationId xmlns:a16="http://schemas.microsoft.com/office/drawing/2014/main" id="{8507D560-3937-4891-98A4-B625C49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1" name="统一风格-route-table 路由表列与表头-21">
            <a:extLst xmlns:a="http://schemas.openxmlformats.org/drawingml/2006/main">
              <a:ext uri="{FF2B5EF4-FFF2-40B4-BE49-F238E27FC236}">
                <a16:creationId xmlns:a16="http://schemas.microsoft.com/office/drawing/2014/main" id="{A7661D6C-7239-4B83-9C35-824399A5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2" name="统一风格-route-table 目的网段条目-22">
            <a:extLst xmlns:a="http://schemas.openxmlformats.org/drawingml/2006/main">
              <a:ext uri="{FF2B5EF4-FFF2-40B4-BE49-F238E27FC236}">
                <a16:creationId xmlns:a16="http://schemas.microsoft.com/office/drawing/2014/main" id="{11633976-8DA3-4EE5-BDAE-8C52D92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3" name="统一风格-route-table 下一跳箭头-23">
            <a:extLst xmlns:a="http://schemas.openxmlformats.org/drawingml/2006/main">
              <a:ext uri="{FF2B5EF4-FFF2-40B4-BE49-F238E27FC236}">
                <a16:creationId xmlns:a16="http://schemas.microsoft.com/office/drawing/2014/main" id="{8F595B3A-5181-47C1-A569-D719D11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4" name="统一风格-文字 网络规划-24">
            <a:extLst xmlns:a="http://schemas.openxmlformats.org/drawingml/2006/main">
              <a:ext uri="{FF2B5EF4-FFF2-40B4-BE49-F238E27FC236}">
                <a16:creationId xmlns:a16="http://schemas.microsoft.com/office/drawing/2014/main" id="{380579D1-89B2-4DCB-AD4D-F94022B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8147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网络规划</a:t>
            </a:r>
          </a:p>
        </p:txBody>
      </p:sp>
      <p:sp>
        <p:nvSpPr>
          <p:cNvPr id="25" name="统一风格-文字 规划地址空间与子网， 按业务需要配置路由， 明确资源地址和转发路径。-25">
            <a:extLst xmlns:a="http://schemas.openxmlformats.org/drawingml/2006/main">
              <a:ext uri="{FF2B5EF4-FFF2-40B4-BE49-F238E27FC236}">
                <a16:creationId xmlns:a16="http://schemas.microsoft.com/office/drawing/2014/main" id="{0F404985-3BD8-44B2-ABB4-37CFDFF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规划地址空间与子网，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按业务需要配置路由，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明确资源地址和转发路径。</a:t>
            </a:r>
          </a:p>
        </p:txBody>
      </p:sp>
      <p:sp>
        <p:nvSpPr>
          <p:cNvPr id="26" name="统一风格-逻辑隔离玻璃后沿-26">
            <a:extLst xmlns:a="http://schemas.openxmlformats.org/drawingml/2006/main">
              <a:ext uri="{FF2B5EF4-FFF2-40B4-BE49-F238E27FC236}">
                <a16:creationId xmlns:a16="http://schemas.microsoft.com/office/drawing/2014/main" id="{3D07F4CC-743C-4DF9-992B-732C135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7" name="统一风格-逻辑隔离-27">
            <a:extLst xmlns:a="http://schemas.openxmlformats.org/drawingml/2006/main">
              <a:ext uri="{FF2B5EF4-FFF2-40B4-BE49-F238E27FC236}">
                <a16:creationId xmlns:a16="http://schemas.microsoft.com/office/drawing/2014/main" id="{75418ADB-BFBE-436F-A496-A18D83F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逻辑隔离玻璃内沿-28">
            <a:extLst xmlns:a="http://schemas.openxmlformats.org/drawingml/2006/main">
              <a:ext uri="{FF2B5EF4-FFF2-40B4-BE49-F238E27FC236}">
                <a16:creationId xmlns:a16="http://schemas.microsoft.com/office/drawing/2014/main" id="{EFC7C857-A02A-4B5A-BAF9-B0CEC2D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259" y="4013359"/>
            <a:ext cx="3479483" cy="1736408"/>
          </a:xfrm>
          <a:prstGeom xmlns:a="http://schemas.openxmlformats.org/drawingml/2006/main" prst="roundRect">
            <a:avLst>
              <a:gd name="adj" fmla="val 42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逻辑隔离透光反射面-29">
            <a:extLst xmlns:a="http://schemas.openxmlformats.org/drawingml/2006/main">
              <a:ext uri="{FF2B5EF4-FFF2-40B4-BE49-F238E27FC236}">
                <a16:creationId xmlns:a16="http://schemas.microsoft.com/office/drawing/2014/main" id="{C3A2B0F3-1D96-46FE-97EC-F15458C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9550"/>
            <a:ext cx="3467100" cy="1724025"/>
          </a:xfrm>
          <a:custGeom xmlns:a="http://schemas.openxmlformats.org/drawingml/2006/main"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0" name="统一风格-逻辑隔离边缘高光-30">
            <a:extLst xmlns:a="http://schemas.openxmlformats.org/drawingml/2006/main">
              <a:ext uri="{FF2B5EF4-FFF2-40B4-BE49-F238E27FC236}">
                <a16:creationId xmlns:a16="http://schemas.microsoft.com/office/drawing/2014/main" id="{883E0CB1-1679-4456-B672-792254AE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3505200" cy="1762125"/>
          </a:xfrm>
          <a:custGeom xmlns:a="http://schemas.openxmlformats.org/drawingml/2006/main"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shield 安全盾-31">
            <a:extLst xmlns:a="http://schemas.openxmlformats.org/drawingml/2006/main">
              <a:ext uri="{FF2B5EF4-FFF2-40B4-BE49-F238E27FC236}">
                <a16:creationId xmlns:a16="http://schemas.microsoft.com/office/drawing/2014/main" id="{66D556F0-AFED-4A55-BC11-E99C12C2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2" name="统一风格-shield 核验标记-32">
            <a:extLst xmlns:a="http://schemas.openxmlformats.org/drawingml/2006/main">
              <a:ext uri="{FF2B5EF4-FFF2-40B4-BE49-F238E27FC236}">
                <a16:creationId xmlns:a16="http://schemas.microsoft.com/office/drawing/2014/main" id="{CD5D7636-0B0E-4420-A8F5-CD7FEDB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3" name="统一风格-文字 逻辑隔离-33">
            <a:extLst xmlns:a="http://schemas.openxmlformats.org/drawingml/2006/main">
              <a:ext uri="{FF2B5EF4-FFF2-40B4-BE49-F238E27FC236}">
                <a16:creationId xmlns:a16="http://schemas.microsoft.com/office/drawing/2014/main" id="{A742A319-E0AF-4270-AFEA-AFEE65E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8147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逻辑隔离</a:t>
            </a:r>
          </a:p>
        </p:txBody>
      </p:sp>
      <p:sp>
        <p:nvSpPr>
          <p:cNvPr id="34" name="统一风格-文字 不同 VPC 默认不互通。 VPC 内部访问仍需满足 安全组等策略要求。-34">
            <a:extLst xmlns:a="http://schemas.openxmlformats.org/drawingml/2006/main">
              <a:ext uri="{FF2B5EF4-FFF2-40B4-BE49-F238E27FC236}">
                <a16:creationId xmlns:a16="http://schemas.microsoft.com/office/drawing/2014/main" id="{D29DCDC0-DB8D-4499-950A-3DC2CC2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2440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VPC 默认不互通。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内部访问仍需满足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安全组等策略要求。</a:t>
            </a:r>
          </a:p>
        </p:txBody>
      </p:sp>
      <p:sp>
        <p:nvSpPr>
          <p:cNvPr id="35" name="统一风格-网络互联玻璃后沿-35">
            <a:extLst xmlns:a="http://schemas.openxmlformats.org/drawingml/2006/main">
              <a:ext uri="{FF2B5EF4-FFF2-40B4-BE49-F238E27FC236}">
                <a16:creationId xmlns:a16="http://schemas.microsoft.com/office/drawing/2014/main" id="{A850BCDE-5EA0-4D25-BBEF-CB94D748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6" name="统一风格-网络互联-36">
            <a:extLst xmlns:a="http://schemas.openxmlformats.org/drawingml/2006/main">
              <a:ext uri="{FF2B5EF4-FFF2-40B4-BE49-F238E27FC236}">
                <a16:creationId xmlns:a16="http://schemas.microsoft.com/office/drawing/2014/main" id="{5A6EDDE1-8A56-433C-8209-17F3BAD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5052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网络互联玻璃内沿-37">
            <a:extLst xmlns:a="http://schemas.openxmlformats.org/drawingml/2006/main">
              <a:ext uri="{FF2B5EF4-FFF2-40B4-BE49-F238E27FC236}">
                <a16:creationId xmlns:a16="http://schemas.microsoft.com/office/drawing/2014/main" id="{9508E326-332E-414A-A238-578D28F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059" y="4013359"/>
            <a:ext cx="3479483" cy="1736408"/>
          </a:xfrm>
          <a:prstGeom xmlns:a="http://schemas.openxmlformats.org/drawingml/2006/main" prst="roundRect">
            <a:avLst>
              <a:gd name="adj" fmla="val 42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网络互联透光反射面-38">
            <a:extLst xmlns:a="http://schemas.openxmlformats.org/drawingml/2006/main">
              <a:ext uri="{FF2B5EF4-FFF2-40B4-BE49-F238E27FC236}">
                <a16:creationId xmlns:a16="http://schemas.microsoft.com/office/drawing/2014/main" id="{365BF600-A29C-4CD9-817E-63AE6A53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67100" cy="1724025"/>
          </a:xfrm>
          <a:custGeom xmlns:a="http://schemas.openxmlformats.org/drawingml/2006/main"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9" name="统一风格-网络互联边缘高光-39">
            <a:extLst xmlns:a="http://schemas.openxmlformats.org/drawingml/2006/main">
              <a:ext uri="{FF2B5EF4-FFF2-40B4-BE49-F238E27FC236}">
                <a16:creationId xmlns:a16="http://schemas.microsoft.com/office/drawing/2014/main" id="{ED90B6DF-C769-4530-9A9E-91911512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505200" cy="1762125"/>
          </a:xfrm>
          <a:custGeom xmlns:a="http://schemas.openxmlformats.org/drawingml/2006/main"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0" name="统一风格-网络互联 双向连接-40">
            <a:extLst xmlns:a="http://schemas.openxmlformats.org/drawingml/2006/main">
              <a:ext uri="{FF2B5EF4-FFF2-40B4-BE49-F238E27FC236}">
                <a16:creationId xmlns:a16="http://schemas.microsoft.com/office/drawing/2014/main" id="{C836E95C-0FBF-47F1-8410-4E4027DA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41" name="统一风格-文字 网络互联-41">
            <a:extLst xmlns:a="http://schemas.openxmlformats.org/drawingml/2006/main">
              <a:ext uri="{FF2B5EF4-FFF2-40B4-BE49-F238E27FC236}">
                <a16:creationId xmlns:a16="http://schemas.microsoft.com/office/drawing/2014/main" id="{FF3BF2B8-708B-4189-BA94-BB6176AC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8147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网络互联</a:t>
            </a:r>
          </a:p>
        </p:txBody>
      </p:sp>
      <p:sp>
        <p:nvSpPr>
          <p:cNvPr id="42" name="统一风格-文字 按需建立跨 VPC、跨区域 及云上云下的网络连接， 核验双向路由与访问权限。-42">
            <a:extLst xmlns:a="http://schemas.openxmlformats.org/drawingml/2006/main">
              <a:ext uri="{FF2B5EF4-FFF2-40B4-BE49-F238E27FC236}">
                <a16:creationId xmlns:a16="http://schemas.microsoft.com/office/drawing/2014/main" id="{84666442-A43A-4EE3-9C7D-0C8E8DCD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2440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按需建立跨 VPC、跨区域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及云上云下的网络连接，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核验双向路由与访问权限。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124324235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统一风格-文字 01  VPC 基础与规范-1">
            <a:extLst xmlns:a="http://schemas.openxmlformats.org/drawingml/2006/main">
              <a:ext uri="{FF2B5EF4-FFF2-40B4-BE49-F238E27FC236}">
                <a16:creationId xmlns:a16="http://schemas.microsoft.com/office/drawing/2014/main" id="{ED65CC89-8520-40BA-BB74-D56624A6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在云计算中的位置-2">
            <a:extLst xmlns:a="http://schemas.openxmlformats.org/drawingml/2006/main">
              <a:ext uri="{FF2B5EF4-FFF2-40B4-BE49-F238E27FC236}">
                <a16:creationId xmlns:a16="http://schemas.microsoft.com/office/drawing/2014/main" id="{94ED113C-E609-4BAB-BEF1-DF9369D3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在云计算中的位置</a:t>
            </a:r>
          </a:p>
        </p:txBody>
      </p:sp>
      <p:sp>
        <p:nvSpPr>
          <p:cNvPr id="3" name="统一风格-文字 VPC 位于 IaaS 网络基础层，与计算、存储共同支撑平台和软件服务-3">
            <a:extLst xmlns:a="http://schemas.openxmlformats.org/drawingml/2006/main">
              <a:ext uri="{FF2B5EF4-FFF2-40B4-BE49-F238E27FC236}">
                <a16:creationId xmlns:a16="http://schemas.microsoft.com/office/drawing/2014/main" id="{0350E629-B3BB-4FF3-92E9-638082F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位于 IaaS 网络基础层，与计算、存储共同支撑平台和软件服务</a:t>
            </a:r>
          </a:p>
        </p:txBody>
      </p:sp>
      <p:sp>
        <p:nvSpPr>
          <p:cNvPr id="4" name="统一风格-整层支撑向上箭头-4">
            <a:extLst xmlns:a="http://schemas.openxmlformats.org/drawingml/2006/main">
              <a:ext uri="{FF2B5EF4-FFF2-40B4-BE49-F238E27FC236}">
                <a16:creationId xmlns:a16="http://schemas.microsoft.com/office/drawing/2014/main" id="{11921D38-783E-4D20-9BD8-63D8DDC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95250" cy="247650"/>
          </a:xfrm>
          <a:custGeom xmlns:a="http://schemas.openxmlformats.org/drawingml/2006/main"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 cap="rnd">
            <a:solidFill>
              <a:srgbClr val="2053C3"/>
            </a:solidFill>
            <a:round/>
          </a:ln>
        </p:spPr>
      </p:sp>
      <p:sp>
        <p:nvSpPr>
          <p:cNvPr id="5" name="统一风格-整层支撑向上箭头-5">
            <a:extLst xmlns:a="http://schemas.openxmlformats.org/drawingml/2006/main">
              <a:ext uri="{FF2B5EF4-FFF2-40B4-BE49-F238E27FC236}">
                <a16:creationId xmlns:a16="http://schemas.microsoft.com/office/drawing/2014/main" id="{E3DA7D47-57DB-47EC-BBE8-AF24448F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95250" cy="247650"/>
          </a:xfrm>
          <a:custGeom xmlns:a="http://schemas.openxmlformats.org/drawingml/2006/main"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 cap="rnd">
            <a:solidFill>
              <a:srgbClr val="2053C3"/>
            </a:solidFill>
            <a:round/>
          </a:ln>
        </p:spPr>
      </p:sp>
      <p:sp>
        <p:nvSpPr>
          <p:cNvPr id="6" name="统一风格-整层支撑向上箭头-6">
            <a:extLst xmlns:a="http://schemas.openxmlformats.org/drawingml/2006/main">
              <a:ext uri="{FF2B5EF4-FFF2-40B4-BE49-F238E27FC236}">
                <a16:creationId xmlns:a16="http://schemas.microsoft.com/office/drawing/2014/main" id="{5B90BA18-ACDD-47E1-ADA5-D25A9FF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91100"/>
            <a:ext cx="95250" cy="247650"/>
          </a:xfrm>
          <a:custGeom xmlns:a="http://schemas.openxmlformats.org/drawingml/2006/main"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 cap="rnd">
            <a:solidFill>
              <a:srgbClr val="2053C3"/>
            </a:solidFill>
            <a:round/>
          </a:ln>
        </p:spPr>
      </p:sp>
      <p:sp>
        <p:nvSpPr>
          <p:cNvPr id="7" name="统一风格-文字 软件服务-7">
            <a:extLst xmlns:a="http://schemas.openxmlformats.org/drawingml/2006/main">
              <a:ext uri="{FF2B5EF4-FFF2-40B4-BE49-F238E27FC236}">
                <a16:creationId xmlns:a16="http://schemas.microsoft.com/office/drawing/2014/main" id="{03DA86A6-5CF9-4BB5-A7C3-05743C25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软件服务</a:t>
            </a:r>
          </a:p>
        </p:txBody>
      </p:sp>
      <p:sp>
        <p:nvSpPr>
          <p:cNvPr id="8" name="统一风格-文字 SaaS-8">
            <a:extLst xmlns:a="http://schemas.openxmlformats.org/drawingml/2006/main">
              <a:ext uri="{FF2B5EF4-FFF2-40B4-BE49-F238E27FC236}">
                <a16:creationId xmlns:a16="http://schemas.microsoft.com/office/drawing/2014/main" id="{0FCF7C5A-E016-4615-8F4E-3843935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SaaS</a:t>
            </a:r>
          </a:p>
        </p:txBody>
      </p:sp>
      <p:sp>
        <p:nvSpPr>
          <p:cNvPr id="9" name="统一风格-SaaS 软件服务玻璃后沿-9">
            <a:extLst xmlns:a="http://schemas.openxmlformats.org/drawingml/2006/main">
              <a:ext uri="{FF2B5EF4-FFF2-40B4-BE49-F238E27FC236}">
                <a16:creationId xmlns:a16="http://schemas.microsoft.com/office/drawing/2014/main" id="{76C4B70F-AE15-4D6E-91EC-506D812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28825"/>
            <a:ext cx="946785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0" name="统一风格-SaaS 软件服务-10">
            <a:extLst xmlns:a="http://schemas.openxmlformats.org/drawingml/2006/main">
              <a:ext uri="{FF2B5EF4-FFF2-40B4-BE49-F238E27FC236}">
                <a16:creationId xmlns:a16="http://schemas.microsoft.com/office/drawing/2014/main" id="{04E330ED-3923-4BBC-865A-EF0343C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28825"/>
            <a:ext cx="946785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1" name="统一风格-SaaS 软件服务玻璃内沿-11">
            <a:extLst xmlns:a="http://schemas.openxmlformats.org/drawingml/2006/main">
              <a:ext uri="{FF2B5EF4-FFF2-40B4-BE49-F238E27FC236}">
                <a16:creationId xmlns:a16="http://schemas.microsoft.com/office/drawing/2014/main" id="{1C0AD374-F3A9-44C9-B4F0-0BAB784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09" y="2041684"/>
            <a:ext cx="9442133" cy="545783"/>
          </a:xfrm>
          <a:prstGeom xmlns:a="http://schemas.openxmlformats.org/drawingml/2006/main" prst="roundRect">
            <a:avLst>
              <a:gd name="adj" fmla="val 134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2" name="统一风格-SaaS 软件服务边缘高光-12">
            <a:extLst xmlns:a="http://schemas.openxmlformats.org/drawingml/2006/main">
              <a:ext uri="{FF2B5EF4-FFF2-40B4-BE49-F238E27FC236}">
                <a16:creationId xmlns:a16="http://schemas.microsoft.com/office/drawing/2014/main" id="{26B83722-6961-4992-8558-48EDB2B3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28825"/>
            <a:ext cx="9467850" cy="571500"/>
          </a:xfrm>
          <a:custGeom xmlns:a="http://schemas.openxmlformats.org/drawingml/2006/main">
            <a:pathLst>
              <a:path w="9467850" h="5715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" name="统一风格-文字 云会议 / 在线办公 / CRM 等软件服务-13">
            <a:extLst xmlns:a="http://schemas.openxmlformats.org/drawingml/2006/main">
              <a:ext uri="{FF2B5EF4-FFF2-40B4-BE49-F238E27FC236}">
                <a16:creationId xmlns:a16="http://schemas.microsoft.com/office/drawing/2014/main" id="{E394A15A-960E-4E0B-B713-7803F76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764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云会议 / 在线办公 / CRM 等软件服务</a:t>
            </a:r>
          </a:p>
        </p:txBody>
      </p:sp>
      <p:sp>
        <p:nvSpPr>
          <p:cNvPr id="14" name="统一风格-文字 用户直接使用完整应用，服务方维护应用及底层环境-14">
            <a:extLst xmlns:a="http://schemas.openxmlformats.org/drawingml/2006/main">
              <a:ext uri="{FF2B5EF4-FFF2-40B4-BE49-F238E27FC236}">
                <a16:creationId xmlns:a16="http://schemas.microsoft.com/office/drawing/2014/main" id="{4415A939-2955-4654-9313-2E8B12A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52675"/>
            <a:ext cx="899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用户直接使用完整应用，服务方维护应用及底层环境</a:t>
            </a:r>
          </a:p>
        </p:txBody>
      </p:sp>
      <p:sp>
        <p:nvSpPr>
          <p:cNvPr id="15" name="统一风格-文字 平台服务-15">
            <a:extLst xmlns:a="http://schemas.openxmlformats.org/drawingml/2006/main">
              <a:ext uri="{FF2B5EF4-FFF2-40B4-BE49-F238E27FC236}">
                <a16:creationId xmlns:a16="http://schemas.microsoft.com/office/drawing/2014/main" id="{8D140EE6-4D74-48CF-B121-B4BFC0F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平台服务</a:t>
            </a:r>
          </a:p>
        </p:txBody>
      </p:sp>
      <p:sp>
        <p:nvSpPr>
          <p:cNvPr id="16" name="统一风格-文字 PaaS-16">
            <a:extLst xmlns:a="http://schemas.openxmlformats.org/drawingml/2006/main">
              <a:ext uri="{FF2B5EF4-FFF2-40B4-BE49-F238E27FC236}">
                <a16:creationId xmlns:a16="http://schemas.microsoft.com/office/drawing/2014/main" id="{9FC68B45-C9B5-4EF8-B7C3-424F3FF7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PaaS</a:t>
            </a:r>
          </a:p>
        </p:txBody>
      </p:sp>
      <p:sp>
        <p:nvSpPr>
          <p:cNvPr id="17" name="统一风格-PaaS 整层平台能力玻璃后沿-17">
            <a:extLst xmlns:a="http://schemas.openxmlformats.org/drawingml/2006/main">
              <a:ext uri="{FF2B5EF4-FFF2-40B4-BE49-F238E27FC236}">
                <a16:creationId xmlns:a16="http://schemas.microsoft.com/office/drawing/2014/main" id="{1D4998CE-9346-47B4-A62C-7B1E628A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946785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8" name="统一风格-PaaS 整层平台能力-18">
            <a:extLst xmlns:a="http://schemas.openxmlformats.org/drawingml/2006/main">
              <a:ext uri="{FF2B5EF4-FFF2-40B4-BE49-F238E27FC236}">
                <a16:creationId xmlns:a16="http://schemas.microsoft.com/office/drawing/2014/main" id="{5D82B025-8C7A-48F7-A4AD-969DC10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946785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9" name="统一风格-PaaS 整层平台能力玻璃内沿-19">
            <a:extLst xmlns:a="http://schemas.openxmlformats.org/drawingml/2006/main">
              <a:ext uri="{FF2B5EF4-FFF2-40B4-BE49-F238E27FC236}">
                <a16:creationId xmlns:a16="http://schemas.microsoft.com/office/drawing/2014/main" id="{0FF3D63F-A22A-4232-B635-2B1356C6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09" y="2917984"/>
            <a:ext cx="9442133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0" name="统一风格-PaaS 整层平台能力边缘高光-20">
            <a:extLst xmlns:a="http://schemas.openxmlformats.org/drawingml/2006/main">
              <a:ext uri="{FF2B5EF4-FFF2-40B4-BE49-F238E27FC236}">
                <a16:creationId xmlns:a16="http://schemas.microsoft.com/office/drawing/2014/main" id="{E0DC02F9-77CA-4429-A23E-4D1D1FF3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9467850" cy="876300"/>
          </a:xfrm>
          <a:custGeom xmlns:a="http://schemas.openxmlformats.org/drawingml/2006/main"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平台列分隔-21">
            <a:extLst xmlns:a="http://schemas.openxmlformats.org/drawingml/2006/main">
              <a:ext uri="{FF2B5EF4-FFF2-40B4-BE49-F238E27FC236}">
                <a16:creationId xmlns:a16="http://schemas.microsoft.com/office/drawing/2014/main" id="{B6B3A9CD-0C26-4320-9E25-9509BCF7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480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CBE9"/>
            </a:solidFill>
          </a:ln>
        </p:spPr>
      </p:sp>
      <p:sp>
        <p:nvSpPr>
          <p:cNvPr id="22" name="统一风格-平台列分隔-22">
            <a:extLst xmlns:a="http://schemas.openxmlformats.org/drawingml/2006/main">
              <a:ext uri="{FF2B5EF4-FFF2-40B4-BE49-F238E27FC236}">
                <a16:creationId xmlns:a16="http://schemas.microsoft.com/office/drawing/2014/main" id="{8862BAC2-ACAB-425F-8AF8-47541E8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480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CBE9"/>
            </a:solidFill>
          </a:ln>
        </p:spPr>
      </p:sp>
      <p:sp>
        <p:nvSpPr>
          <p:cNvPr id="23" name="统一风格-容器集群图标-23">
            <a:extLst xmlns:a="http://schemas.openxmlformats.org/drawingml/2006/main">
              <a:ext uri="{FF2B5EF4-FFF2-40B4-BE49-F238E27FC236}">
                <a16:creationId xmlns:a16="http://schemas.microsoft.com/office/drawing/2014/main" id="{EF46138D-29AD-4607-9548-6644D15F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337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66675" y="66675"/>
                </a:moveTo>
                <a:lnTo>
                  <a:pt x="257175" y="66675"/>
                </a:lnTo>
                <a:lnTo>
                  <a:pt x="257175" y="257175"/>
                </a:lnTo>
                <a:lnTo>
                  <a:pt x="66675" y="257175"/>
                </a:lnTo>
                <a:close/>
                <a:moveTo>
                  <a:pt x="352425" y="66675"/>
                </a:moveTo>
                <a:lnTo>
                  <a:pt x="542925" y="66675"/>
                </a:lnTo>
                <a:lnTo>
                  <a:pt x="542925" y="257175"/>
                </a:lnTo>
                <a:lnTo>
                  <a:pt x="352425" y="257175"/>
                </a:lnTo>
                <a:close/>
                <a:moveTo>
                  <a:pt x="66675" y="352425"/>
                </a:moveTo>
                <a:lnTo>
                  <a:pt x="257175" y="352425"/>
                </a:lnTo>
                <a:lnTo>
                  <a:pt x="257175" y="542925"/>
                </a:lnTo>
                <a:lnTo>
                  <a:pt x="66675" y="542925"/>
                </a:lnTo>
                <a:close/>
                <a:moveTo>
                  <a:pt x="352425" y="352425"/>
                </a:moveTo>
                <a:lnTo>
                  <a:pt x="542925" y="352425"/>
                </a:lnTo>
                <a:lnTo>
                  <a:pt x="542925" y="542925"/>
                </a:lnTo>
                <a:lnTo>
                  <a:pt x="352425" y="5429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4" name="统一风格-文字 CCE 容器平台-24">
            <a:extLst xmlns:a="http://schemas.openxmlformats.org/drawingml/2006/main">
              <a:ext uri="{FF2B5EF4-FFF2-40B4-BE49-F238E27FC236}">
                <a16:creationId xmlns:a16="http://schemas.microsoft.com/office/drawing/2014/main" id="{0179C5DB-45D7-46F6-BF39-2AD9C52E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CCE 容器平台</a:t>
            </a:r>
          </a:p>
        </p:txBody>
      </p:sp>
      <p:sp>
        <p:nvSpPr>
          <p:cNvPr id="25" name="统一风格-文字 容器编排与集群管理-25">
            <a:extLst xmlns:a="http://schemas.openxmlformats.org/drawingml/2006/main">
              <a:ext uri="{FF2B5EF4-FFF2-40B4-BE49-F238E27FC236}">
                <a16:creationId xmlns:a16="http://schemas.microsoft.com/office/drawing/2014/main" id="{B31711A8-DB76-4518-820B-5BC323B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容器编排与集群管理</a:t>
            </a:r>
          </a:p>
        </p:txBody>
      </p:sp>
      <p:sp>
        <p:nvSpPr>
          <p:cNvPr id="26" name="统一风格-db 数据库柱体-26">
            <a:extLst xmlns:a="http://schemas.openxmlformats.org/drawingml/2006/main">
              <a:ext uri="{FF2B5EF4-FFF2-40B4-BE49-F238E27FC236}">
                <a16:creationId xmlns:a16="http://schemas.microsoft.com/office/drawing/2014/main" id="{311C910D-BC0D-4D38-B7A7-C339C86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337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7" name="统一风格-db 数据库分层-27">
            <a:extLst xmlns:a="http://schemas.openxmlformats.org/drawingml/2006/main">
              <a:ext uri="{FF2B5EF4-FFF2-40B4-BE49-F238E27FC236}">
                <a16:creationId xmlns:a16="http://schemas.microsoft.com/office/drawing/2014/main" id="{8F616C2E-A1BF-47C6-A024-BB9B90C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337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8" name="统一风格-文字 RDS 托管数据库-28">
            <a:extLst xmlns:a="http://schemas.openxmlformats.org/drawingml/2006/main">
              <a:ext uri="{FF2B5EF4-FFF2-40B4-BE49-F238E27FC236}">
                <a16:creationId xmlns:a16="http://schemas.microsoft.com/office/drawing/2014/main" id="{DC5F651A-7B41-40DF-BCF6-453A08CB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RDS 托管数据库</a:t>
            </a:r>
          </a:p>
        </p:txBody>
      </p:sp>
      <p:sp>
        <p:nvSpPr>
          <p:cNvPr id="29" name="统一风格-文字 提供托管关系型数据库-29">
            <a:extLst xmlns:a="http://schemas.openxmlformats.org/drawingml/2006/main">
              <a:ext uri="{FF2B5EF4-FFF2-40B4-BE49-F238E27FC236}">
                <a16:creationId xmlns:a16="http://schemas.microsoft.com/office/drawing/2014/main" id="{AEDCDB78-8F76-4E3C-A49E-4F6BA04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提供托管关系型数据库</a:t>
            </a:r>
          </a:p>
        </p:txBody>
      </p:sp>
      <p:sp>
        <p:nvSpPr>
          <p:cNvPr id="30" name="统一风格-模型服务芯片-30">
            <a:extLst xmlns:a="http://schemas.openxmlformats.org/drawingml/2006/main">
              <a:ext uri="{FF2B5EF4-FFF2-40B4-BE49-F238E27FC236}">
                <a16:creationId xmlns:a16="http://schemas.microsoft.com/office/drawing/2014/main" id="{9A726C00-AD9F-4B88-9071-68C6A808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71450" y="114300"/>
                </a:moveTo>
                <a:lnTo>
                  <a:pt x="438150" y="114300"/>
                </a:lnTo>
                <a:cubicBezTo>
                  <a:pt x="466725" y="114300"/>
                  <a:pt x="495300" y="142875"/>
                  <a:pt x="495300" y="171450"/>
                </a:cubicBezTo>
                <a:lnTo>
                  <a:pt x="495300" y="438150"/>
                </a:lnTo>
                <a:cubicBezTo>
                  <a:pt x="495300" y="466725"/>
                  <a:pt x="466725" y="495300"/>
                  <a:pt x="438150" y="495300"/>
                </a:cubicBezTo>
                <a:lnTo>
                  <a:pt x="171450" y="495300"/>
                </a:lnTo>
                <a:cubicBezTo>
                  <a:pt x="142875" y="495300"/>
                  <a:pt x="114300" y="466725"/>
                  <a:pt x="114300" y="438150"/>
                </a:cubicBezTo>
                <a:lnTo>
                  <a:pt x="114300" y="171450"/>
                </a:lnTo>
                <a:cubicBezTo>
                  <a:pt x="114300" y="142875"/>
                  <a:pt x="142875" y="114300"/>
                  <a:pt x="171450" y="1143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1" name="统一风格-模型服务连接-31">
            <a:extLst xmlns:a="http://schemas.openxmlformats.org/drawingml/2006/main">
              <a:ext uri="{FF2B5EF4-FFF2-40B4-BE49-F238E27FC236}">
                <a16:creationId xmlns:a16="http://schemas.microsoft.com/office/drawing/2014/main" id="{B119404F-D5C4-486C-B4DD-756BF81F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28600" y="38100"/>
                </a:moveTo>
                <a:lnTo>
                  <a:pt x="228600" y="114300"/>
                </a:lnTo>
                <a:moveTo>
                  <a:pt x="381000" y="38100"/>
                </a:moveTo>
                <a:lnTo>
                  <a:pt x="381000" y="114300"/>
                </a:lnTo>
                <a:moveTo>
                  <a:pt x="228600" y="495300"/>
                </a:moveTo>
                <a:lnTo>
                  <a:pt x="228600" y="571500"/>
                </a:lnTo>
                <a:moveTo>
                  <a:pt x="381000" y="495300"/>
                </a:moveTo>
                <a:lnTo>
                  <a:pt x="381000" y="571500"/>
                </a:lnTo>
                <a:moveTo>
                  <a:pt x="38100" y="228600"/>
                </a:moveTo>
                <a:lnTo>
                  <a:pt x="114300" y="228600"/>
                </a:lnTo>
                <a:moveTo>
                  <a:pt x="38100" y="381000"/>
                </a:moveTo>
                <a:lnTo>
                  <a:pt x="114300" y="381000"/>
                </a:lnTo>
                <a:moveTo>
                  <a:pt x="495300" y="228600"/>
                </a:moveTo>
                <a:lnTo>
                  <a:pt x="571500" y="228600"/>
                </a:lnTo>
                <a:moveTo>
                  <a:pt x="495300" y="381000"/>
                </a:moveTo>
                <a:lnTo>
                  <a:pt x="571500" y="381000"/>
                </a:lnTo>
                <a:moveTo>
                  <a:pt x="228600" y="228600"/>
                </a:moveTo>
                <a:lnTo>
                  <a:pt x="381000" y="304800"/>
                </a:lnTo>
                <a:lnTo>
                  <a:pt x="2286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2" name="统一风格-模型节点-32">
            <a:extLst xmlns:a="http://schemas.openxmlformats.org/drawingml/2006/main">
              <a:ext uri="{FF2B5EF4-FFF2-40B4-BE49-F238E27FC236}">
                <a16:creationId xmlns:a16="http://schemas.microsoft.com/office/drawing/2014/main" id="{ABB997C7-09AB-44CB-BAAA-D2EE3E6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517" y="3271242"/>
            <a:ext cx="39291" cy="39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F"/>
          </a:solidFill>
          <a:ln xmlns:a="http://schemas.openxmlformats.org/drawingml/2006/main" w="11642">
            <a:solidFill>
              <a:srgbClr val="2053C3"/>
            </a:solidFill>
          </a:ln>
        </p:spPr>
      </p:sp>
      <p:sp>
        <p:nvSpPr>
          <p:cNvPr id="33" name="统一风格-模型节点-33">
            <a:extLst xmlns:a="http://schemas.openxmlformats.org/drawingml/2006/main">
              <a:ext uri="{FF2B5EF4-FFF2-40B4-BE49-F238E27FC236}">
                <a16:creationId xmlns:a16="http://schemas.microsoft.com/office/drawing/2014/main" id="{44A218F4-3AFB-42D3-87B8-87B458F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292" y="3323630"/>
            <a:ext cx="39291" cy="39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F"/>
          </a:solidFill>
          <a:ln xmlns:a="http://schemas.openxmlformats.org/drawingml/2006/main" w="11642">
            <a:solidFill>
              <a:srgbClr val="2053C3"/>
            </a:solidFill>
          </a:ln>
        </p:spPr>
      </p:sp>
      <p:sp>
        <p:nvSpPr>
          <p:cNvPr id="34" name="统一风格-模型节点-34">
            <a:extLst xmlns:a="http://schemas.openxmlformats.org/drawingml/2006/main">
              <a:ext uri="{FF2B5EF4-FFF2-40B4-BE49-F238E27FC236}">
                <a16:creationId xmlns:a16="http://schemas.microsoft.com/office/drawing/2014/main" id="{7FBF1834-3D1C-49B6-8CD1-BAF0A77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517" y="3376017"/>
            <a:ext cx="39291" cy="39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F"/>
          </a:solidFill>
          <a:ln xmlns:a="http://schemas.openxmlformats.org/drawingml/2006/main" w="11642">
            <a:solidFill>
              <a:srgbClr val="2053C3"/>
            </a:solidFill>
          </a:ln>
        </p:spPr>
      </p:sp>
      <p:sp>
        <p:nvSpPr>
          <p:cNvPr id="35" name="统一风格-文字 MaaS 模型即服务-35">
            <a:extLst xmlns:a="http://schemas.openxmlformats.org/drawingml/2006/main">
              <a:ext uri="{FF2B5EF4-FFF2-40B4-BE49-F238E27FC236}">
                <a16:creationId xmlns:a16="http://schemas.microsoft.com/office/drawing/2014/main" id="{9A24AA05-7317-44E2-AC8D-A091CAD3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MaaS 模型即服务</a:t>
            </a:r>
          </a:p>
        </p:txBody>
      </p:sp>
      <p:sp>
        <p:nvSpPr>
          <p:cNvPr id="36" name="统一风格-文字 通过 API 调用大模型能力-36">
            <a:extLst xmlns:a="http://schemas.openxmlformats.org/drawingml/2006/main">
              <a:ext uri="{FF2B5EF4-FFF2-40B4-BE49-F238E27FC236}">
                <a16:creationId xmlns:a16="http://schemas.microsoft.com/office/drawing/2014/main" id="{B38599E2-55D9-4B9E-8CB9-1F4025F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0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API 调用大模型能力</a:t>
            </a:r>
          </a:p>
        </p:txBody>
      </p:sp>
      <p:sp>
        <p:nvSpPr>
          <p:cNvPr id="37" name="统一风格-文字 基础资源-37">
            <a:extLst xmlns:a="http://schemas.openxmlformats.org/drawingml/2006/main">
              <a:ext uri="{FF2B5EF4-FFF2-40B4-BE49-F238E27FC236}">
                <a16:creationId xmlns:a16="http://schemas.microsoft.com/office/drawing/2014/main" id="{41BB10B4-0A26-4F46-8C66-754D2CE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基础资源</a:t>
            </a:r>
          </a:p>
        </p:txBody>
      </p:sp>
      <p:sp>
        <p:nvSpPr>
          <p:cNvPr id="38" name="统一风格-文字 IaaS-38">
            <a:extLst xmlns:a="http://schemas.openxmlformats.org/drawingml/2006/main">
              <a:ext uri="{FF2B5EF4-FFF2-40B4-BE49-F238E27FC236}">
                <a16:creationId xmlns:a16="http://schemas.microsoft.com/office/drawing/2014/main" id="{ECE99EA2-E928-4205-8A00-9FAAD78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</a:t>
            </a:r>
          </a:p>
        </p:txBody>
      </p:sp>
      <p:sp>
        <p:nvSpPr>
          <p:cNvPr id="39" name="统一风格-IaaS 整层基础资源玻璃后沿-39">
            <a:extLst xmlns:a="http://schemas.openxmlformats.org/drawingml/2006/main">
              <a:ext uri="{FF2B5EF4-FFF2-40B4-BE49-F238E27FC236}">
                <a16:creationId xmlns:a16="http://schemas.microsoft.com/office/drawing/2014/main" id="{7384C255-4675-4DA7-9BB8-9FBD36E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86225"/>
            <a:ext cx="946785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0" name="统一风格-IaaS 整层基础资源-40">
            <a:extLst xmlns:a="http://schemas.openxmlformats.org/drawingml/2006/main">
              <a:ext uri="{FF2B5EF4-FFF2-40B4-BE49-F238E27FC236}">
                <a16:creationId xmlns:a16="http://schemas.microsoft.com/office/drawing/2014/main" id="{99CF0AC4-874C-4494-86F6-06F56A5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86225"/>
            <a:ext cx="946785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1" name="统一风格-IaaS 整层基础资源玻璃内沿-41">
            <a:extLst xmlns:a="http://schemas.openxmlformats.org/drawingml/2006/main">
              <a:ext uri="{FF2B5EF4-FFF2-40B4-BE49-F238E27FC236}">
                <a16:creationId xmlns:a16="http://schemas.microsoft.com/office/drawing/2014/main" id="{2D645349-1058-458C-9509-0BB37684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09" y="4099084"/>
            <a:ext cx="9442133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2" name="统一风格-IaaS 整层基础资源边缘高光-42">
            <a:extLst xmlns:a="http://schemas.openxmlformats.org/drawingml/2006/main">
              <a:ext uri="{FF2B5EF4-FFF2-40B4-BE49-F238E27FC236}">
                <a16:creationId xmlns:a16="http://schemas.microsoft.com/office/drawing/2014/main" id="{A44A5B57-DF25-41F0-B579-27A7B394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86225"/>
            <a:ext cx="9467850" cy="876300"/>
          </a:xfrm>
          <a:custGeom xmlns:a="http://schemas.openxmlformats.org/drawingml/2006/main"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基础资源列分隔-43">
            <a:extLst xmlns:a="http://schemas.openxmlformats.org/drawingml/2006/main">
              <a:ext uri="{FF2B5EF4-FFF2-40B4-BE49-F238E27FC236}">
                <a16:creationId xmlns:a16="http://schemas.microsoft.com/office/drawing/2014/main" id="{1FCAE439-EF2B-46D8-8580-7AD5D484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291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CBE9"/>
            </a:solidFill>
          </a:ln>
        </p:spPr>
      </p:sp>
      <p:sp>
        <p:nvSpPr>
          <p:cNvPr id="44" name="统一风格-基础资源列分隔-44">
            <a:extLst xmlns:a="http://schemas.openxmlformats.org/drawingml/2006/main">
              <a:ext uri="{FF2B5EF4-FFF2-40B4-BE49-F238E27FC236}">
                <a16:creationId xmlns:a16="http://schemas.microsoft.com/office/drawing/2014/main" id="{A5169EF7-B460-4A3A-9320-FF186824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291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CBE9"/>
            </a:solidFill>
          </a:ln>
        </p:spPr>
      </p:sp>
      <p:sp>
        <p:nvSpPr>
          <p:cNvPr id="45" name="统一风格-server 服务器机架-45">
            <a:extLst xmlns:a="http://schemas.openxmlformats.org/drawingml/2006/main">
              <a:ext uri="{FF2B5EF4-FFF2-40B4-BE49-F238E27FC236}">
                <a16:creationId xmlns:a16="http://schemas.microsoft.com/office/drawing/2014/main" id="{154FAF78-E9F6-417C-A9F0-107B750F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6" name="统一风格-server 机架状态-46">
            <a:extLst xmlns:a="http://schemas.openxmlformats.org/drawingml/2006/main">
              <a:ext uri="{FF2B5EF4-FFF2-40B4-BE49-F238E27FC236}">
                <a16:creationId xmlns:a16="http://schemas.microsoft.com/office/drawing/2014/main" id="{F601C777-250D-4FFA-911A-FD20BC29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7" name="统一风格-server 指示灯-47">
            <a:extLst xmlns:a="http://schemas.openxmlformats.org/drawingml/2006/main">
              <a:ext uri="{FF2B5EF4-FFF2-40B4-BE49-F238E27FC236}">
                <a16:creationId xmlns:a16="http://schemas.microsoft.com/office/drawing/2014/main" id="{9D106669-46DD-4757-8EBA-5292FCA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8" name="统一风格-server 服务器机架-48">
            <a:extLst xmlns:a="http://schemas.openxmlformats.org/drawingml/2006/main">
              <a:ext uri="{FF2B5EF4-FFF2-40B4-BE49-F238E27FC236}">
                <a16:creationId xmlns:a16="http://schemas.microsoft.com/office/drawing/2014/main" id="{7CEE537C-1230-4E34-AEDC-AED57C0A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9" name="统一风格-server 机架状态-49">
            <a:extLst xmlns:a="http://schemas.openxmlformats.org/drawingml/2006/main">
              <a:ext uri="{FF2B5EF4-FFF2-40B4-BE49-F238E27FC236}">
                <a16:creationId xmlns:a16="http://schemas.microsoft.com/office/drawing/2014/main" id="{F9996F67-F4CE-4979-BB7A-BCA671E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0" name="统一风格-server 指示灯-50">
            <a:extLst xmlns:a="http://schemas.openxmlformats.org/drawingml/2006/main">
              <a:ext uri="{FF2B5EF4-FFF2-40B4-BE49-F238E27FC236}">
                <a16:creationId xmlns:a16="http://schemas.microsoft.com/office/drawing/2014/main" id="{CCFF4A90-6A4B-40B0-B2C8-E10A51F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1" name="统一风格-server 服务器机架-51">
            <a:extLst xmlns:a="http://schemas.openxmlformats.org/drawingml/2006/main">
              <a:ext uri="{FF2B5EF4-FFF2-40B4-BE49-F238E27FC236}">
                <a16:creationId xmlns:a16="http://schemas.microsoft.com/office/drawing/2014/main" id="{41D81355-0ED8-4098-BB05-D75AA33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2" name="统一风格-server 机架状态-52">
            <a:extLst xmlns:a="http://schemas.openxmlformats.org/drawingml/2006/main">
              <a:ext uri="{FF2B5EF4-FFF2-40B4-BE49-F238E27FC236}">
                <a16:creationId xmlns:a16="http://schemas.microsoft.com/office/drawing/2014/main" id="{FF09D8DD-0CDB-4B8A-BD7D-5A98F25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3" name="统一风格-server 指示灯-53">
            <a:extLst xmlns:a="http://schemas.openxmlformats.org/drawingml/2006/main">
              <a:ext uri="{FF2B5EF4-FFF2-40B4-BE49-F238E27FC236}">
                <a16:creationId xmlns:a16="http://schemas.microsoft.com/office/drawing/2014/main" id="{375FCAF0-E302-411D-A9C8-87BC6D7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4" name="统一风格-文字 计算资源-54">
            <a:extLst xmlns:a="http://schemas.openxmlformats.org/drawingml/2006/main">
              <a:ext uri="{FF2B5EF4-FFF2-40B4-BE49-F238E27FC236}">
                <a16:creationId xmlns:a16="http://schemas.microsoft.com/office/drawing/2014/main" id="{39D4EDA1-01C9-4AF3-AD8C-FED6DB0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55" name="统一风格-文字 ECS 提供 vCPU 与内存 运行操作系统与应用-55">
            <a:extLst xmlns:a="http://schemas.openxmlformats.org/drawingml/2006/main">
              <a:ext uri="{FF2B5EF4-FFF2-40B4-BE49-F238E27FC236}">
                <a16:creationId xmlns:a16="http://schemas.microsoft.com/office/drawing/2014/main" id="{8B5582D4-D320-4916-B966-35E0019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提供 vCPU 与内存</a:t>
            </a:r>
          </a:p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运行操作系统与应用</a:t>
            </a:r>
          </a:p>
        </p:txBody>
      </p:sp>
      <p:sp>
        <p:nvSpPr>
          <p:cNvPr id="56" name="统一风格-cloud VPC 云轮廓-56">
            <a:extLst xmlns:a="http://schemas.openxmlformats.org/drawingml/2006/main">
              <a:ext uri="{FF2B5EF4-FFF2-40B4-BE49-F238E27FC236}">
                <a16:creationId xmlns:a16="http://schemas.microsoft.com/office/drawing/2014/main" id="{B7F8E256-1C7F-4D21-B4BF-BCA9179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7" name="统一风格-文字 网络 VPC-57">
            <a:extLst xmlns:a="http://schemas.openxmlformats.org/drawingml/2006/main">
              <a:ext uri="{FF2B5EF4-FFF2-40B4-BE49-F238E27FC236}">
                <a16:creationId xmlns:a16="http://schemas.microsoft.com/office/drawing/2014/main" id="{8A75D898-F6C4-4B99-A7E3-77377DB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 VPC</a:t>
            </a:r>
          </a:p>
        </p:txBody>
      </p:sp>
      <p:sp>
        <p:nvSpPr>
          <p:cNvPr id="58" name="统一风格-文字 连接同区域多 AZ 资源 配置地址、子网与路由-58">
            <a:extLst xmlns:a="http://schemas.openxmlformats.org/drawingml/2006/main">
              <a:ext uri="{FF2B5EF4-FFF2-40B4-BE49-F238E27FC236}">
                <a16:creationId xmlns:a16="http://schemas.microsoft.com/office/drawing/2014/main" id="{0A9860E2-A9E7-4147-8E85-467A71E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连接同区域多 AZ 资源</a:t>
            </a:r>
          </a:p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配置地址、子网与路由</a:t>
            </a:r>
          </a:p>
        </p:txBody>
      </p:sp>
      <p:sp>
        <p:nvSpPr>
          <p:cNvPr id="59" name="统一风格-db 数据库柱体-59">
            <a:extLst xmlns:a="http://schemas.openxmlformats.org/drawingml/2006/main">
              <a:ext uri="{FF2B5EF4-FFF2-40B4-BE49-F238E27FC236}">
                <a16:creationId xmlns:a16="http://schemas.microsoft.com/office/drawing/2014/main" id="{AD3D305A-7C9A-4E9D-80B2-2DEE390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0" name="统一风格-db 数据库分层-60">
            <a:extLst xmlns:a="http://schemas.openxmlformats.org/drawingml/2006/main">
              <a:ext uri="{FF2B5EF4-FFF2-40B4-BE49-F238E27FC236}">
                <a16:creationId xmlns:a16="http://schemas.microsoft.com/office/drawing/2014/main" id="{CCADB910-EEE9-44F8-BC6B-8FA3C98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1" name="统一风格-文字 存储服务-61">
            <a:extLst xmlns:a="http://schemas.openxmlformats.org/drawingml/2006/main">
              <a:ext uri="{FF2B5EF4-FFF2-40B4-BE49-F238E27FC236}">
                <a16:creationId xmlns:a16="http://schemas.microsoft.com/office/drawing/2014/main" id="{95288611-C53F-4E2C-9374-4082901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存储服务</a:t>
            </a:r>
          </a:p>
        </p:txBody>
      </p:sp>
      <p:sp>
        <p:nvSpPr>
          <p:cNvPr id="62" name="统一风格-文字 EVS：挂载式块存储 OBS：接口访问对象存储-62">
            <a:extLst xmlns:a="http://schemas.openxmlformats.org/drawingml/2006/main">
              <a:ext uri="{FF2B5EF4-FFF2-40B4-BE49-F238E27FC236}">
                <a16:creationId xmlns:a16="http://schemas.microsoft.com/office/drawing/2014/main" id="{425C90E2-8A6B-4D5C-91BB-2C8C60E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958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EVS：挂载式块存储</a:t>
            </a:r>
          </a:p>
          <a:p xmlns:a="http://schemas.openxmlformats.org/drawingml/2006/main"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OBS：接口访问对象存储</a:t>
            </a:r>
          </a:p>
        </p:txBody>
      </p:sp>
      <p:sp>
        <p:nvSpPr>
          <p:cNvPr id="63" name="统一风格-文字 物理资源 与部署-63">
            <a:extLst xmlns:a="http://schemas.openxmlformats.org/drawingml/2006/main">
              <a:ext uri="{FF2B5EF4-FFF2-40B4-BE49-F238E27FC236}">
                <a16:creationId xmlns:a16="http://schemas.microsoft.com/office/drawing/2014/main" id="{48DC2023-42FD-466C-B3DE-2618F4A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与部署</a:t>
            </a:r>
          </a:p>
        </p:txBody>
      </p:sp>
      <p:sp>
        <p:nvSpPr>
          <p:cNvPr id="64" name="统一风格-物理资源与部署 整层承载玻璃后沿-64">
            <a:extLst xmlns:a="http://schemas.openxmlformats.org/drawingml/2006/main">
              <a:ext uri="{FF2B5EF4-FFF2-40B4-BE49-F238E27FC236}">
                <a16:creationId xmlns:a16="http://schemas.microsoft.com/office/drawing/2014/main" id="{285F0BBE-C9AE-4C6B-862C-4016B0D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67325"/>
            <a:ext cx="9467850" cy="685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5" name="统一风格-物理资源与部署 整层承载-65">
            <a:extLst xmlns:a="http://schemas.openxmlformats.org/drawingml/2006/main">
              <a:ext uri="{FF2B5EF4-FFF2-40B4-BE49-F238E27FC236}">
                <a16:creationId xmlns:a16="http://schemas.microsoft.com/office/drawing/2014/main" id="{4BB3832E-6793-4396-9D2D-9872F149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67325"/>
            <a:ext cx="9467850" cy="685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6" name="统一风格-物理资源与部署 整层承载玻璃内沿-66">
            <a:extLst xmlns:a="http://schemas.openxmlformats.org/drawingml/2006/main">
              <a:ext uri="{FF2B5EF4-FFF2-40B4-BE49-F238E27FC236}">
                <a16:creationId xmlns:a16="http://schemas.microsoft.com/office/drawing/2014/main" id="{12592B69-80B1-4647-8F1B-27C0FFC7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09" y="5280184"/>
            <a:ext cx="9442133" cy="660083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7" name="统一风格-物理资源与部署 整层承载边缘高光-67">
            <a:extLst xmlns:a="http://schemas.openxmlformats.org/drawingml/2006/main">
              <a:ext uri="{FF2B5EF4-FFF2-40B4-BE49-F238E27FC236}">
                <a16:creationId xmlns:a16="http://schemas.microsoft.com/office/drawing/2014/main" id="{DF2880E5-C0AB-4757-9CCD-8B167ED4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67325"/>
            <a:ext cx="9467850" cy="685800"/>
          </a:xfrm>
          <a:custGeom xmlns:a="http://schemas.openxmlformats.org/drawingml/2006/main">
            <a:pathLst>
              <a:path w="9467850" h="6858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8" name="统一风格-物理层列分隔-68">
            <a:extLst xmlns:a="http://schemas.openxmlformats.org/drawingml/2006/main">
              <a:ext uri="{FF2B5EF4-FFF2-40B4-BE49-F238E27FC236}">
                <a16:creationId xmlns:a16="http://schemas.microsoft.com/office/drawing/2014/main" id="{2D17304B-7F59-4207-A480-B126BB1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3816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8CBE9"/>
            </a:solidFill>
          </a:ln>
        </p:spPr>
      </p:sp>
      <p:sp>
        <p:nvSpPr>
          <p:cNvPr id="69" name="统一风格-building IDC 楼宇-69">
            <a:extLst xmlns:a="http://schemas.openxmlformats.org/drawingml/2006/main">
              <a:ext uri="{FF2B5EF4-FFF2-40B4-BE49-F238E27FC236}">
                <a16:creationId xmlns:a16="http://schemas.microsoft.com/office/drawing/2014/main" id="{BF357988-E16E-4CEF-B9A9-7F8B184B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70" name="统一风格-building IDC 窗口-70">
            <a:extLst xmlns:a="http://schemas.openxmlformats.org/drawingml/2006/main">
              <a:ext uri="{FF2B5EF4-FFF2-40B4-BE49-F238E27FC236}">
                <a16:creationId xmlns:a16="http://schemas.microsoft.com/office/drawing/2014/main" id="{7C4583B5-AED2-4693-BD3C-6285D87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1" name="统一风格-文字 物理资源-71">
            <a:extLst xmlns:a="http://schemas.openxmlformats.org/drawingml/2006/main">
              <a:ext uri="{FF2B5EF4-FFF2-40B4-BE49-F238E27FC236}">
                <a16:creationId xmlns:a16="http://schemas.microsoft.com/office/drawing/2014/main" id="{EA03E7C8-E81B-4CB9-8DDB-E5B41F60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05425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</p:txBody>
      </p:sp>
      <p:sp>
        <p:nvSpPr>
          <p:cNvPr id="72" name="统一风格-文字 服务器 / 存储设备 / 交换机与链路-72">
            <a:extLst xmlns:a="http://schemas.openxmlformats.org/drawingml/2006/main">
              <a:ext uri="{FF2B5EF4-FFF2-40B4-BE49-F238E27FC236}">
                <a16:creationId xmlns:a16="http://schemas.microsoft.com/office/drawing/2014/main" id="{5AF7EB48-7B73-4891-B6CD-94F0A3AD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377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服务器 / 存储设备 / 交换机与链路</a:t>
            </a:r>
          </a:p>
        </p:txBody>
      </p:sp>
      <p:sp>
        <p:nvSpPr>
          <p:cNvPr id="73" name="统一风格-globe 互联网外形-73">
            <a:extLst xmlns:a="http://schemas.openxmlformats.org/drawingml/2006/main">
              <a:ext uri="{FF2B5EF4-FFF2-40B4-BE49-F238E27FC236}">
                <a16:creationId xmlns:a16="http://schemas.microsoft.com/office/drawing/2014/main" id="{9ADA25C0-F3EC-49A6-953C-AD848F6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1020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74" name="统一风格-globe 经纬线-74">
            <a:extLst xmlns:a="http://schemas.openxmlformats.org/drawingml/2006/main">
              <a:ext uri="{FF2B5EF4-FFF2-40B4-BE49-F238E27FC236}">
                <a16:creationId xmlns:a16="http://schemas.microsoft.com/office/drawing/2014/main" id="{F37AAC5F-B1B1-4183-8AE5-FDB536FE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1020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75" name="统一风格-文字 部署组织-75">
            <a:extLst xmlns:a="http://schemas.openxmlformats.org/drawingml/2006/main">
              <a:ext uri="{FF2B5EF4-FFF2-40B4-BE49-F238E27FC236}">
                <a16:creationId xmlns:a16="http://schemas.microsoft.com/office/drawing/2014/main" id="{8FFB7E2F-3312-40F7-8285-E2841AAB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05425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部署组织</a:t>
            </a:r>
          </a:p>
        </p:txBody>
      </p:sp>
      <p:sp>
        <p:nvSpPr>
          <p:cNvPr id="76" name="统一风格-文字 Region 地理区域 / AZ 资源故障域-76">
            <a:extLst xmlns:a="http://schemas.openxmlformats.org/drawingml/2006/main">
              <a:ext uri="{FF2B5EF4-FFF2-40B4-BE49-F238E27FC236}">
                <a16:creationId xmlns:a16="http://schemas.microsoft.com/office/drawing/2014/main" id="{1975B2F0-BD41-4583-B05D-1C1AC640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733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地理区域 / AZ 资源故障域</a:t>
            </a:r>
          </a:p>
        </p:txBody>
      </p:sp>
      <p:sp>
        <p:nvSpPr>
          <p:cNvPr id="77" name="统一风格-页脚分隔线-77">
            <a:extLst xmlns:a="http://schemas.openxmlformats.org/drawingml/2006/main">
              <a:ext uri="{FF2B5EF4-FFF2-40B4-BE49-F238E27FC236}">
                <a16:creationId xmlns:a16="http://schemas.microsoft.com/office/drawing/2014/main" id="{6DAEE09E-DE52-4BFA-8100-12B0F6F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78" name="统一风格-文字 底部为物理承载与部署组织，箭头表示向上支撑。MaaS 与平台能力并列示意，接入方式按实际服务确认。-78">
            <a:extLst xmlns:a="http://schemas.openxmlformats.org/drawingml/2006/main">
              <a:ext uri="{FF2B5EF4-FFF2-40B4-BE49-F238E27FC236}">
                <a16:creationId xmlns:a16="http://schemas.microsoft.com/office/drawing/2014/main" id="{C8D1DE9E-975A-4F3F-8DE0-F6FCDF9B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底部为物理承载与部署组织，箭头表示向上支撑。MaaS 与平台能力并列示意，接入方式按实际服务确认。</a:t>
            </a:r>
          </a:p>
        </p:txBody>
      </p:sp>
      <p:sp>
        <p:nvSpPr>
          <p:cNvPr id="79" name="统一风格-文字 04-79">
            <a:extLst xmlns:a="http://schemas.openxmlformats.org/drawingml/2006/main">
              <a:ext uri="{FF2B5EF4-FFF2-40B4-BE49-F238E27FC236}">
                <a16:creationId xmlns:a16="http://schemas.microsoft.com/office/drawing/2014/main" id="{3ADDE81D-979F-437F-B9CD-804E63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708586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49ED803C-FA4B-4C47-B3DC-55B64F2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统一风格-文字 VPC 如何实现逻辑网络-95">
            <a:extLst xmlns:a="http://schemas.openxmlformats.org/drawingml/2006/main">
              <a:ext uri="{FF2B5EF4-FFF2-40B4-BE49-F238E27FC236}">
                <a16:creationId xmlns:a16="http://schemas.microsoft.com/office/drawing/2014/main" id="{34148957-64EC-4AA9-A29C-A5C7688A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如何实现逻辑网络</a:t>
            </a:r>
          </a:p>
        </p:txBody>
      </p:sp>
      <p:sp>
        <p:nvSpPr>
          <p:cNvPr id="3" name="统一风格-文字 网络虚拟化与 SDN 思路：控制面管理逻辑配置，数据面执行隔离与转发-96">
            <a:extLst xmlns:a="http://schemas.openxmlformats.org/drawingml/2006/main">
              <a:ext uri="{FF2B5EF4-FFF2-40B4-BE49-F238E27FC236}">
                <a16:creationId xmlns:a16="http://schemas.microsoft.com/office/drawing/2014/main" id="{334260AA-7B80-43BD-B7FB-6E50159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网络虚拟化与 SDN 思路：控制面管理逻辑配置，数据面执行隔离与转发</a:t>
            </a:r>
          </a:p>
        </p:txBody>
      </p:sp>
      <p:cxnSp>
        <p:nvCxnSpPr>
          <p:cNvPr id="4" name="网络连接-12">
            <a:extLst xmlns:a="http://schemas.openxmlformats.org/drawingml/2006/main">
              <a:ext uri="{FF2B5EF4-FFF2-40B4-BE49-F238E27FC236}">
                <a16:creationId xmlns:a16="http://schemas.microsoft.com/office/drawing/2014/main" id="{0CE3527D-0B96-4C13-8F34-34BE3A0B00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正文-原理示意：华为云公开说明使用隧道技术隔离 VPC。图中控制面与数据面为通用原理模型。">
            <a:extLst xmlns:a="http://schemas.openxmlformats.org/drawingml/2006/main">
              <a:ext uri="{FF2B5EF4-FFF2-40B4-BE49-F238E27FC236}">
                <a16:creationId xmlns:a16="http://schemas.microsoft.com/office/drawing/2014/main" id="{0DD3099B-3CF1-4EA9-9B29-91D5AF45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原理示意：华为云公开说明使用隧道技术隔离 VPC。图中控制面与数据面为通用原理模型。</ns0:t>
            </ns0:r>
          </ns0:p>
        </p:txBody>
      </p:sp>
      <p:sp>
        <p:nvSpPr>
          <p:cNvPr id="6" name="正文-06">
            <a:extLst xmlns:a="http://schemas.openxmlformats.org/drawingml/2006/main">
              <a:ext uri="{FF2B5EF4-FFF2-40B4-BE49-F238E27FC236}">
                <a16:creationId xmlns:a16="http://schemas.microsoft.com/office/drawing/2014/main" id="{B9FE951F-9D82-4486-9048-629AD71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06</ns1:t>
            </ns1:r>
          </ns1:p>
        </p:txBody>
      </p:sp>
      <p:sp>
        <p:nvSpPr>
          <p:cNvPr id="7" name="统一风格-配置入口玻璃后沿-99">
            <a:extLst xmlns:a="http://schemas.openxmlformats.org/drawingml/2006/main">
              <a:ext uri="{FF2B5EF4-FFF2-40B4-BE49-F238E27FC236}">
                <a16:creationId xmlns:a16="http://schemas.microsoft.com/office/drawing/2014/main" id="{C36A821A-E3C7-413F-A6A7-FDF7F7EA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71750" cy="1000125"/>
          </a:xfrm>
          <a:prstGeom xmlns:a="http://schemas.openxmlformats.org/drawingml/2006/main" prst="roundRect">
            <a:avLst>
              <a:gd name="adj" fmla="val 857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配置入口-100">
            <a:extLst xmlns:a="http://schemas.openxmlformats.org/drawingml/2006/main">
              <a:ext uri="{FF2B5EF4-FFF2-40B4-BE49-F238E27FC236}">
                <a16:creationId xmlns:a16="http://schemas.microsoft.com/office/drawing/2014/main" id="{0C30E289-C9AA-4A5C-8344-19C5FE9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71750" cy="1000125"/>
          </a:xfrm>
          <a:prstGeom xmlns:a="http://schemas.openxmlformats.org/drawingml/2006/main" prst="roundRect">
            <a:avLst>
              <a:gd name="adj" fmla="val 857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配置入口玻璃内沿-101">
            <a:extLst xmlns:a="http://schemas.openxmlformats.org/drawingml/2006/main">
              <a:ext uri="{FF2B5EF4-FFF2-40B4-BE49-F238E27FC236}">
                <a16:creationId xmlns:a16="http://schemas.microsoft.com/office/drawing/2014/main" id="{09903FF8-325E-4122-9DC9-55D4657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94084"/>
            <a:ext cx="2546033" cy="974408"/>
          </a:xfrm>
          <a:prstGeom xmlns:a="http://schemas.openxmlformats.org/drawingml/2006/main" prst="roundRect">
            <a:avLst>
              <a:gd name="adj" fmla="val 752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配置入口透光反射面-102">
            <a:extLst xmlns:a="http://schemas.openxmlformats.org/drawingml/2006/main">
              <a:ext uri="{FF2B5EF4-FFF2-40B4-BE49-F238E27FC236}">
                <a16:creationId xmlns:a16="http://schemas.microsoft.com/office/drawing/2014/main" id="{ED801575-A8B0-4977-942C-CE47F6D9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533650" cy="962025"/>
          </a:xfrm>
          <a:custGeom xmlns:a="http://schemas.openxmlformats.org/drawingml/2006/main">
            <a:pathLst>
              <a:path w="2533650" h="962025">
                <a:moveTo>
                  <a:pt x="76200" y="0"/>
                </a:moveTo>
                <a:lnTo>
                  <a:pt x="1621536" y="0"/>
                </a:lnTo>
                <a:lnTo>
                  <a:pt x="658749" y="962025"/>
                </a:lnTo>
                <a:lnTo>
                  <a:pt x="76200" y="962025"/>
                </a:lnTo>
                <a:cubicBezTo>
                  <a:pt x="28575" y="962025"/>
                  <a:pt x="0" y="933450"/>
                  <a:pt x="0" y="885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配置入口边缘高光-103">
            <a:extLst xmlns:a="http://schemas.openxmlformats.org/drawingml/2006/main">
              <a:ext uri="{FF2B5EF4-FFF2-40B4-BE49-F238E27FC236}">
                <a16:creationId xmlns:a16="http://schemas.microsoft.com/office/drawing/2014/main" id="{5EA37A7E-113B-4B46-AAE4-5E9E3CE4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71750" cy="1000125"/>
          </a:xfrm>
          <a:custGeom xmlns:a="http://schemas.openxmlformats.org/drawingml/2006/main">
            <a:pathLst>
              <a:path w="2571750" h="1000125">
                <a:moveTo>
                  <a:pt x="95250" y="9525"/>
                </a:moveTo>
                <a:lnTo>
                  <a:pt x="2476500" y="9525"/>
                </a:lnTo>
                <a:cubicBezTo>
                  <a:pt x="2524125" y="9525"/>
                  <a:pt x="2562225" y="47625"/>
                  <a:pt x="25622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laptop 终端屏幕-104">
            <a:extLst xmlns:a="http://schemas.openxmlformats.org/drawingml/2006/main">
              <a:ext uri="{FF2B5EF4-FFF2-40B4-BE49-F238E27FC236}">
                <a16:creationId xmlns:a16="http://schemas.microsoft.com/office/drawing/2014/main" id="{634411AA-84E6-41E7-9DEF-030D255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7675" cy="447675"/>
          </a:xfrm>
          <a:custGeom xmlns:a="http://schemas.openxmlformats.org/drawingml/2006/main"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24" cap="rnd">
            <a:solidFill>
              <a:srgbClr val="2053C3"/>
            </a:solidFill>
            <a:round/>
          </a:ln>
        </p:spPr>
      </p:sp>
      <p:sp>
        <p:nvSpPr>
          <p:cNvPr id="13" name="统一风格-laptop 终端底座-105">
            <a:extLst xmlns:a="http://schemas.openxmlformats.org/drawingml/2006/main">
              <a:ext uri="{FF2B5EF4-FFF2-40B4-BE49-F238E27FC236}">
                <a16:creationId xmlns:a16="http://schemas.microsoft.com/office/drawing/2014/main" id="{6A033D2B-42BD-4535-8332-8D84F9FB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7675" cy="447675"/>
          </a:xfrm>
          <a:custGeom xmlns:a="http://schemas.openxmlformats.org/drawingml/2006/main"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824" cap="rnd">
            <a:solidFill>
              <a:srgbClr val="2053C3"/>
            </a:solidFill>
            <a:round/>
          </a:ln>
        </p:spPr>
      </p:sp>
      <p:sp>
        <p:nvSpPr>
          <p:cNvPr id="14" name="统一风格-laptop 终端内容-106">
            <a:extLst xmlns:a="http://schemas.openxmlformats.org/drawingml/2006/main">
              <a:ext uri="{FF2B5EF4-FFF2-40B4-BE49-F238E27FC236}">
                <a16:creationId xmlns:a16="http://schemas.microsoft.com/office/drawing/2014/main" id="{DD9A89AD-C997-4BE5-A127-C4DFBCB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7675" cy="447675"/>
          </a:xfrm>
          <a:custGeom xmlns:a="http://schemas.openxmlformats.org/drawingml/2006/main"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824" cap="rnd">
            <a:solidFill>
              <a:srgbClr val="2053C3"/>
            </a:solidFill>
            <a:round/>
          </a:ln>
        </p:spPr>
      </p:sp>
      <p:sp>
        <p:nvSpPr>
          <p:cNvPr id="15" name="统一风格-文字 配置入口-107">
            <a:extLst xmlns:a="http://schemas.openxmlformats.org/drawingml/2006/main">
              <a:ext uri="{FF2B5EF4-FFF2-40B4-BE49-F238E27FC236}">
                <a16:creationId xmlns:a16="http://schemas.microsoft.com/office/drawing/2014/main" id="{47EFE3FA-7DA5-421D-914A-7A83BB3D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配置入口</a:t>
            </a:r>
          </a:p>
        </p:txBody>
      </p:sp>
      <p:sp>
        <p:nvSpPr>
          <p:cNvPr id="16" name="统一风格-文字 控制台 / API-108">
            <a:extLst xmlns:a="http://schemas.openxmlformats.org/drawingml/2006/main">
              <a:ext uri="{FF2B5EF4-FFF2-40B4-BE49-F238E27FC236}">
                <a16:creationId xmlns:a16="http://schemas.microsoft.com/office/drawing/2014/main" id="{31DAED3E-0DD8-4086-AC8D-CE49EE4F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765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控制台 / API</a:t>
            </a:r>
          </a:p>
        </p:txBody>
      </p:sp>
      <p:cxnSp>
        <p:nvCxnSpPr>
          <p:cNvPr id="17" name="网络连接-13">
            <a:extLst xmlns:a="http://schemas.openxmlformats.org/drawingml/2006/main">
              <a:ext uri="{FF2B5EF4-FFF2-40B4-BE49-F238E27FC236}">
                <a16:creationId xmlns:a16="http://schemas.microsoft.com/office/drawing/2014/main" id="{15CC5CC1-8318-40F6-B2B2-A66512A946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81350" y="26765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8" name="统一风格-网络控制面玻璃后沿-109">
            <a:extLst xmlns:a="http://schemas.openxmlformats.org/drawingml/2006/main">
              <a:ext uri="{FF2B5EF4-FFF2-40B4-BE49-F238E27FC236}">
                <a16:creationId xmlns:a16="http://schemas.microsoft.com/office/drawing/2014/main" id="{5DB24154-EC99-42B9-9F6C-30B3BA49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867650" cy="1171575"/>
          </a:xfrm>
          <a:prstGeom xmlns:a="http://schemas.openxmlformats.org/drawingml/2006/main" prst="roundRect">
            <a:avLst>
              <a:gd name="adj" fmla="val 73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统一风格-网络控制面-110">
            <a:extLst xmlns:a="http://schemas.openxmlformats.org/drawingml/2006/main">
              <a:ext uri="{FF2B5EF4-FFF2-40B4-BE49-F238E27FC236}">
                <a16:creationId xmlns:a16="http://schemas.microsoft.com/office/drawing/2014/main" id="{2A934220-20D3-4558-8F90-01B08AA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867650" cy="1171575"/>
          </a:xfrm>
          <a:prstGeom xmlns:a="http://schemas.openxmlformats.org/drawingml/2006/main" prst="roundRect">
            <a:avLst>
              <a:gd name="adj" fmla="val 73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网络控制面玻璃内沿-111">
            <a:extLst xmlns:a="http://schemas.openxmlformats.org/drawingml/2006/main">
              <a:ext uri="{FF2B5EF4-FFF2-40B4-BE49-F238E27FC236}">
                <a16:creationId xmlns:a16="http://schemas.microsoft.com/office/drawing/2014/main" id="{647E2378-E605-4BC5-817A-1D3EC38B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609" y="2108359"/>
            <a:ext cx="7841933" cy="1145858"/>
          </a:xfrm>
          <a:prstGeom xmlns:a="http://schemas.openxmlformats.org/drawingml/2006/main" prst="roundRect">
            <a:avLst>
              <a:gd name="adj" fmla="val 640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网络控制面透光反射面-112">
            <a:extLst xmlns:a="http://schemas.openxmlformats.org/drawingml/2006/main">
              <a:ext uri="{FF2B5EF4-FFF2-40B4-BE49-F238E27FC236}">
                <a16:creationId xmlns:a16="http://schemas.microsoft.com/office/drawing/2014/main" id="{793749A3-F9FD-4503-B969-801FC71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7829550" cy="1133475"/>
          </a:xfrm>
          <a:custGeom xmlns:a="http://schemas.openxmlformats.org/drawingml/2006/main">
            <a:pathLst>
              <a:path w="7829550" h="1133475">
                <a:moveTo>
                  <a:pt x="76200" y="0"/>
                </a:moveTo>
                <a:lnTo>
                  <a:pt x="5010912" y="0"/>
                </a:lnTo>
                <a:lnTo>
                  <a:pt x="2035683" y="1133475"/>
                </a:lnTo>
                <a:lnTo>
                  <a:pt x="76200" y="1133475"/>
                </a:lnTo>
                <a:cubicBezTo>
                  <a:pt x="28575" y="1133475"/>
                  <a:pt x="0" y="1104900"/>
                  <a:pt x="0" y="10572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2" name="统一风格-网络控制面边缘高光-113">
            <a:extLst xmlns:a="http://schemas.openxmlformats.org/drawingml/2006/main">
              <a:ext uri="{FF2B5EF4-FFF2-40B4-BE49-F238E27FC236}">
                <a16:creationId xmlns:a16="http://schemas.microsoft.com/office/drawing/2014/main" id="{D7FCEC28-9488-4673-976E-AA0D3FD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867650" cy="1171575"/>
          </a:xfrm>
          <a:custGeom xmlns:a="http://schemas.openxmlformats.org/drawingml/2006/main">
            <a:pathLst>
              <a:path w="7867650" h="1171575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文字 控制面-114">
            <a:extLst xmlns:a="http://schemas.openxmlformats.org/drawingml/2006/main">
              <a:ext uri="{FF2B5EF4-FFF2-40B4-BE49-F238E27FC236}">
                <a16:creationId xmlns:a16="http://schemas.microsoft.com/office/drawing/2014/main" id="{03658053-29AA-494C-B068-9C472B6E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288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24" name="统一风格-文字 维护逻辑对象，计算并分发转发与隔离策略-115">
            <a:extLst xmlns:a="http://schemas.openxmlformats.org/drawingml/2006/main">
              <a:ext uri="{FF2B5EF4-FFF2-40B4-BE49-F238E27FC236}">
                <a16:creationId xmlns:a16="http://schemas.microsoft.com/office/drawing/2014/main" id="{7D47C5CB-CFEA-4C69-A2F4-DF31F71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2885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维护逻辑对象，计算并分发转发与隔离策略</a:t>
            </a:r>
          </a:p>
        </p:txBody>
      </p:sp>
      <p:sp>
        <p:nvSpPr>
          <p:cNvPr id="25" name="统一风格-文字 VPC / 子网 / 网卡 / 路由表 / 访问控制-116">
            <a:extLst xmlns:a="http://schemas.openxmlformats.org/drawingml/2006/main">
              <a:ext uri="{FF2B5EF4-FFF2-40B4-BE49-F238E27FC236}">
                <a16:creationId xmlns:a16="http://schemas.microsoft.com/office/drawing/2014/main" id="{858314A6-F286-4B35-BD2E-45EEF90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1462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/ 子网 / 网卡 / 路由表 / 访问控制</a:t>
            </a:r>
          </a:p>
        </p:txBody>
      </p:sp>
      <p:cxnSp>
        <p:nvCxnSpPr>
          <p:cNvPr id="26" name="网络连接-14">
            <a:extLst xmlns:a="http://schemas.openxmlformats.org/drawingml/2006/main">
              <a:ext uri="{FF2B5EF4-FFF2-40B4-BE49-F238E27FC236}">
                <a16:creationId xmlns:a16="http://schemas.microsoft.com/office/drawing/2014/main" id="{79875D49-23E6-4375-84FD-79437D1618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9525" y="32670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27" name="统一风格-业务数据面玻璃后沿-117">
            <a:extLst xmlns:a="http://schemas.openxmlformats.org/drawingml/2006/main">
              <a:ext uri="{FF2B5EF4-FFF2-40B4-BE49-F238E27FC236}">
                <a16:creationId xmlns:a16="http://schemas.microsoft.com/office/drawing/2014/main" id="{534E0BF2-2985-4FA5-A582-A34FC5AD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786765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统一风格-业务数据面-118">
            <a:extLst xmlns:a="http://schemas.openxmlformats.org/drawingml/2006/main">
              <a:ext uri="{FF2B5EF4-FFF2-40B4-BE49-F238E27FC236}">
                <a16:creationId xmlns:a16="http://schemas.microsoft.com/office/drawing/2014/main" id="{F36CEA92-1D49-4C6C-99A7-4D63B41A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786765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9" name="统一风格-业务数据面玻璃内沿-119">
            <a:extLst xmlns:a="http://schemas.openxmlformats.org/drawingml/2006/main">
              <a:ext uri="{FF2B5EF4-FFF2-40B4-BE49-F238E27FC236}">
                <a16:creationId xmlns:a16="http://schemas.microsoft.com/office/drawing/2014/main" id="{E2B0B14A-8F43-4DEA-8988-94C56511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609" y="3756184"/>
            <a:ext cx="7841933" cy="1307783"/>
          </a:xfrm>
          <a:prstGeom xmlns:a="http://schemas.openxmlformats.org/drawingml/2006/main" prst="roundRect">
            <a:avLst>
              <a:gd name="adj" fmla="val 56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0" name="统一风格-业务数据面透光反射面-120">
            <a:extLst xmlns:a="http://schemas.openxmlformats.org/drawingml/2006/main">
              <a:ext uri="{FF2B5EF4-FFF2-40B4-BE49-F238E27FC236}">
                <a16:creationId xmlns:a16="http://schemas.microsoft.com/office/drawing/2014/main" id="{86FB8606-0869-4A87-AD0E-BDC3BC0F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62375"/>
            <a:ext cx="7829550" cy="1295400"/>
          </a:xfrm>
          <a:custGeom xmlns:a="http://schemas.openxmlformats.org/drawingml/2006/main">
            <a:pathLst>
              <a:path w="7829550" h="1295400">
                <a:moveTo>
                  <a:pt x="76200" y="0"/>
                </a:moveTo>
                <a:lnTo>
                  <a:pt x="5010912" y="0"/>
                </a:lnTo>
                <a:lnTo>
                  <a:pt x="2035683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1" name="统一风格-业务数据面边缘高光-121">
            <a:extLst xmlns:a="http://schemas.openxmlformats.org/drawingml/2006/main">
              <a:ext uri="{FF2B5EF4-FFF2-40B4-BE49-F238E27FC236}">
                <a16:creationId xmlns:a16="http://schemas.microsoft.com/office/drawing/2014/main" id="{959FA70A-F55C-4855-868E-59E3F79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7867650" cy="1333500"/>
          </a:xfrm>
          <a:custGeom xmlns:a="http://schemas.openxmlformats.org/drawingml/2006/main">
            <a:pathLst>
              <a:path w="7867650" h="1333500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2" name="统一风格-文字 数据面-122">
            <a:extLst xmlns:a="http://schemas.openxmlformats.org/drawingml/2006/main">
              <a:ext uri="{FF2B5EF4-FFF2-40B4-BE49-F238E27FC236}">
                <a16:creationId xmlns:a16="http://schemas.microsoft.com/office/drawing/2014/main" id="{8544EF4C-84F7-4718-A092-ACA7C9CB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766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33" name="统一风格-文字 执行隔离与转发，承载真实业务流量-123">
            <a:extLst xmlns:a="http://schemas.openxmlformats.org/drawingml/2006/main">
              <a:ext uri="{FF2B5EF4-FFF2-40B4-BE49-F238E27FC236}">
                <a16:creationId xmlns:a16="http://schemas.microsoft.com/office/drawing/2014/main" id="{78A3C4E9-513C-4F1E-8E7E-1251AFAC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76675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执行隔离与转发，承载真实业务流量</a:t>
            </a:r>
          </a:p>
        </p:txBody>
      </p:sp>
      <p:sp>
        <p:nvSpPr>
          <p:cNvPr id="34" name="统一风格-server 服务器机架-124">
            <a:extLst xmlns:a="http://schemas.openxmlformats.org/drawingml/2006/main">
              <a:ext uri="{FF2B5EF4-FFF2-40B4-BE49-F238E27FC236}">
                <a16:creationId xmlns:a16="http://schemas.microsoft.com/office/drawing/2014/main" id="{2F17BA4F-E264-4749-8488-6EE1A4C3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5" name="统一风格-server 机架状态-125">
            <a:extLst xmlns:a="http://schemas.openxmlformats.org/drawingml/2006/main">
              <a:ext uri="{FF2B5EF4-FFF2-40B4-BE49-F238E27FC236}">
                <a16:creationId xmlns:a16="http://schemas.microsoft.com/office/drawing/2014/main" id="{D79AD0F5-7B7F-44BA-9C73-A6C3462A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6" name="统一风格-server 指示灯-126">
            <a:extLst xmlns:a="http://schemas.openxmlformats.org/drawingml/2006/main">
              <a:ext uri="{FF2B5EF4-FFF2-40B4-BE49-F238E27FC236}">
                <a16:creationId xmlns:a16="http://schemas.microsoft.com/office/drawing/2014/main" id="{73E5AFD0-391D-42B3-8808-E8D4DD9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" name="统一风格-server 服务器机架-127">
            <a:extLst xmlns:a="http://schemas.openxmlformats.org/drawingml/2006/main">
              <a:ext uri="{FF2B5EF4-FFF2-40B4-BE49-F238E27FC236}">
                <a16:creationId xmlns:a16="http://schemas.microsoft.com/office/drawing/2014/main" id="{590DBB89-0549-4859-8E2E-F758A4A2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8" name="统一风格-server 机架状态-128">
            <a:extLst xmlns:a="http://schemas.openxmlformats.org/drawingml/2006/main">
              <a:ext uri="{FF2B5EF4-FFF2-40B4-BE49-F238E27FC236}">
                <a16:creationId xmlns:a16="http://schemas.microsoft.com/office/drawing/2014/main" id="{0A9B3378-4BBB-4B86-B004-DA80EB61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9" name="统一风格-server 指示灯-129">
            <a:extLst xmlns:a="http://schemas.openxmlformats.org/drawingml/2006/main">
              <a:ext uri="{FF2B5EF4-FFF2-40B4-BE49-F238E27FC236}">
                <a16:creationId xmlns:a16="http://schemas.microsoft.com/office/drawing/2014/main" id="{6E516B25-22BD-4BCB-BF0F-3AFE65F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" name="统一风格-server 服务器机架-130">
            <a:extLst xmlns:a="http://schemas.openxmlformats.org/drawingml/2006/main">
              <a:ext uri="{FF2B5EF4-FFF2-40B4-BE49-F238E27FC236}">
                <a16:creationId xmlns:a16="http://schemas.microsoft.com/office/drawing/2014/main" id="{F08119CC-8E4E-422A-A07D-417108E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1" name="统一风格-server 机架状态-131">
            <a:extLst xmlns:a="http://schemas.openxmlformats.org/drawingml/2006/main">
              <a:ext uri="{FF2B5EF4-FFF2-40B4-BE49-F238E27FC236}">
                <a16:creationId xmlns:a16="http://schemas.microsoft.com/office/drawing/2014/main" id="{7B723C2A-A114-43F4-A2E5-4B37766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2" name="统一风格-server 指示灯-132">
            <a:extLst xmlns:a="http://schemas.openxmlformats.org/drawingml/2006/main">
              <a:ext uri="{FF2B5EF4-FFF2-40B4-BE49-F238E27FC236}">
                <a16:creationId xmlns:a16="http://schemas.microsoft.com/office/drawing/2014/main" id="{58CB9BB7-13F9-461C-804F-AE157D7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3" name="统一风格-文字 源实例-133">
            <a:extLst xmlns:a="http://schemas.openxmlformats.org/drawingml/2006/main">
              <a:ext uri="{FF2B5EF4-FFF2-40B4-BE49-F238E27FC236}">
                <a16:creationId xmlns:a16="http://schemas.microsoft.com/office/drawing/2014/main" id="{F6E895DE-59FC-4776-ABD6-83BEC54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9102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源实例</a:t>
            </a:r>
          </a:p>
        </p:txBody>
      </p:sp>
      <p:cxnSp>
        <p:nvCxnSpPr>
          <p:cNvPr id="44" name="网络连接-15">
            <a:extLst xmlns:a="http://schemas.openxmlformats.org/drawingml/2006/main">
              <a:ext uri="{FF2B5EF4-FFF2-40B4-BE49-F238E27FC236}">
                <a16:creationId xmlns:a16="http://schemas.microsoft.com/office/drawing/2014/main" id="{1F5CE67A-1C71-4636-86CA-5FE90054E4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00725" y="4591050"/>
            <a:ext cx="3600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5" name="统一风格-文字 逻辑网络内的受控转发-134">
            <a:extLst xmlns:a="http://schemas.openxmlformats.org/drawingml/2006/main">
              <a:ext uri="{FF2B5EF4-FFF2-40B4-BE49-F238E27FC236}">
                <a16:creationId xmlns:a16="http://schemas.microsoft.com/office/drawing/2014/main" id="{B63A8516-7391-42B4-997D-0BBBDE60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逻辑网络内的受控转发</a:t>
            </a:r>
          </a:p>
        </p:txBody>
      </p:sp>
      <p:sp>
        <p:nvSpPr>
          <p:cNvPr id="46" name="统一风格-server 服务器机架-135">
            <a:extLst xmlns:a="http://schemas.openxmlformats.org/drawingml/2006/main">
              <a:ext uri="{FF2B5EF4-FFF2-40B4-BE49-F238E27FC236}">
                <a16:creationId xmlns:a16="http://schemas.microsoft.com/office/drawing/2014/main" id="{4954622D-35EE-457C-809D-6129647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7" name="统一风格-server 机架状态-136">
            <a:extLst xmlns:a="http://schemas.openxmlformats.org/drawingml/2006/main">
              <a:ext uri="{FF2B5EF4-FFF2-40B4-BE49-F238E27FC236}">
                <a16:creationId xmlns:a16="http://schemas.microsoft.com/office/drawing/2014/main" id="{956E459F-E46B-462D-8720-024BCD81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8" name="统一风格-server 指示灯-137">
            <a:extLst xmlns:a="http://schemas.openxmlformats.org/drawingml/2006/main">
              <a:ext uri="{FF2B5EF4-FFF2-40B4-BE49-F238E27FC236}">
                <a16:creationId xmlns:a16="http://schemas.microsoft.com/office/drawing/2014/main" id="{3FC89CAA-07D8-4F9A-A258-54725778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9" name="统一风格-server 服务器机架-138">
            <a:extLst xmlns:a="http://schemas.openxmlformats.org/drawingml/2006/main">
              <a:ext uri="{FF2B5EF4-FFF2-40B4-BE49-F238E27FC236}">
                <a16:creationId xmlns:a16="http://schemas.microsoft.com/office/drawing/2014/main" id="{1F29F81D-A628-4F3C-B18D-258A8BA5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50" name="统一风格-server 机架状态-139">
            <a:extLst xmlns:a="http://schemas.openxmlformats.org/drawingml/2006/main">
              <a:ext uri="{FF2B5EF4-FFF2-40B4-BE49-F238E27FC236}">
                <a16:creationId xmlns:a16="http://schemas.microsoft.com/office/drawing/2014/main" id="{D0B549F1-FF72-4C50-9E70-658B8E6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51" name="统一风格-server 指示灯-140">
            <a:extLst xmlns:a="http://schemas.openxmlformats.org/drawingml/2006/main">
              <a:ext uri="{FF2B5EF4-FFF2-40B4-BE49-F238E27FC236}">
                <a16:creationId xmlns:a16="http://schemas.microsoft.com/office/drawing/2014/main" id="{52265AD5-61FC-44E3-AAF6-9DCCF8F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2" name="统一风格-server 服务器机架-141">
            <a:extLst xmlns:a="http://schemas.openxmlformats.org/drawingml/2006/main">
              <a:ext uri="{FF2B5EF4-FFF2-40B4-BE49-F238E27FC236}">
                <a16:creationId xmlns:a16="http://schemas.microsoft.com/office/drawing/2014/main" id="{C7C77F44-5EF5-4ACE-A5CF-43C6C7F9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53" name="统一风格-server 机架状态-142">
            <a:extLst xmlns:a="http://schemas.openxmlformats.org/drawingml/2006/main">
              <a:ext uri="{FF2B5EF4-FFF2-40B4-BE49-F238E27FC236}">
                <a16:creationId xmlns:a16="http://schemas.microsoft.com/office/drawing/2014/main" id="{EB13FCFB-50EF-41F3-8340-692FD07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54" name="统一风格-server 指示灯-143">
            <a:extLst xmlns:a="http://schemas.openxmlformats.org/drawingml/2006/main">
              <a:ext uri="{FF2B5EF4-FFF2-40B4-BE49-F238E27FC236}">
                <a16:creationId xmlns:a16="http://schemas.microsoft.com/office/drawing/2014/main" id="{250EE8CA-6425-4A92-BBE5-BB84E236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55" name="统一风格-文字 目标实例-144">
            <a:extLst xmlns:a="http://schemas.openxmlformats.org/drawingml/2006/main">
              <a:ext uri="{FF2B5EF4-FFF2-40B4-BE49-F238E27FC236}">
                <a16:creationId xmlns:a16="http://schemas.microsoft.com/office/drawing/2014/main" id="{F8C1D430-69D1-4259-9D50-A09CC0C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91025"/>
            <a:ext cx="126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目标实例</a:t>
            </a:r>
          </a:p>
        </p:txBody>
      </p:sp>
      <p:cxnSp>
        <p:nvCxnSpPr>
          <p:cNvPr id="56" name="网络连接-16">
            <a:extLst xmlns:a="http://schemas.openxmlformats.org/drawingml/2006/main">
              <a:ext uri="{FF2B5EF4-FFF2-40B4-BE49-F238E27FC236}">
                <a16:creationId xmlns:a16="http://schemas.microsoft.com/office/drawing/2014/main" id="{30D05EDA-D177-4BED-8698-F6FD3918DE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3686175"/>
            <a:ext cx="262890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5D6F0"/>
            </a:solidFill>
            <a:prstDash val="solid"/>
          </a:ln>
        </p:spPr>
      </p:cxnSp>
      <p:sp>
        <p:nvSpPr>
          <p:cNvPr id="57" name="统一风格-文字 共享底座-145">
            <a:extLst xmlns:a="http://schemas.openxmlformats.org/drawingml/2006/main">
              <a:ext uri="{FF2B5EF4-FFF2-40B4-BE49-F238E27FC236}">
                <a16:creationId xmlns:a16="http://schemas.microsoft.com/office/drawing/2014/main" id="{6215DC5D-236A-4BEB-AA8B-35313C22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共享底座</a:t>
            </a:r>
          </a:p>
        </p:txBody>
      </p:sp>
      <p:sp>
        <p:nvSpPr>
          <p:cNvPr id="58" name="统一风格-文字 物理网络和虚拟化设施 支撑多个隔离的 VPC。-146">
            <a:extLst xmlns:a="http://schemas.openxmlformats.org/drawingml/2006/main">
              <a:ext uri="{FF2B5EF4-FFF2-40B4-BE49-F238E27FC236}">
                <a16:creationId xmlns:a16="http://schemas.microsoft.com/office/drawing/2014/main" id="{20659AA1-7808-42D6-B889-2C94329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628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物理网络和虚拟化设施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支撑多个隔离的 VPC。</a:t>
            </a:r>
          </a:p>
        </p:txBody>
      </p:sp>
      <p:sp>
        <p:nvSpPr>
          <p:cNvPr id="59" name="统一风格-运维关注玻璃后沿-147">
            <a:extLst xmlns:a="http://schemas.openxmlformats.org/drawingml/2006/main">
              <a:ext uri="{FF2B5EF4-FFF2-40B4-BE49-F238E27FC236}">
                <a16:creationId xmlns:a16="http://schemas.microsoft.com/office/drawing/2014/main" id="{3DA9662D-DB69-4796-A2E7-A30D04D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0" name="统一风格-运维关注-148">
            <a:extLst xmlns:a="http://schemas.openxmlformats.org/drawingml/2006/main">
              <a:ext uri="{FF2B5EF4-FFF2-40B4-BE49-F238E27FC236}">
                <a16:creationId xmlns:a16="http://schemas.microsoft.com/office/drawing/2014/main" id="{5523F4B6-02A1-4DF7-8DD2-4BEE78B0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1" name="统一风格-运维关注玻璃内沿-149">
            <a:extLst xmlns:a="http://schemas.openxmlformats.org/drawingml/2006/main">
              <a:ext uri="{FF2B5EF4-FFF2-40B4-BE49-F238E27FC236}">
                <a16:creationId xmlns:a16="http://schemas.microsoft.com/office/drawing/2014/main" id="{C4D4C96F-C545-482A-ABF6-0C5F6655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373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2" name="统一风格-运维关注边缘高光-150">
            <a:extLst xmlns:a="http://schemas.openxmlformats.org/drawingml/2006/main">
              <a:ext uri="{FF2B5EF4-FFF2-40B4-BE49-F238E27FC236}">
                <a16:creationId xmlns:a16="http://schemas.microsoft.com/office/drawing/2014/main" id="{0C131869-95D6-4338-AFDF-3CB1CF70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3" name="统一风格-文字 运维关注-151">
            <a:extLst xmlns:a="http://schemas.openxmlformats.org/drawingml/2006/main">
              <a:ext uri="{FF2B5EF4-FFF2-40B4-BE49-F238E27FC236}">
                <a16:creationId xmlns:a16="http://schemas.microsoft.com/office/drawing/2014/main" id="{B9714C21-7557-403F-9E78-7D287D6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575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隔离与加密</ns0:t>
            </ns0:r>
          </ns0:p>
        </p:txBody>
      </p:sp>
      <p:sp>
        <p:nvSpPr>
          <p:cNvPr id="64" name="统一风格-文字 配置对象是否正确、策略是否生效、业务包是否经过预期路径。-152">
            <a:extLst xmlns:a="http://schemas.openxmlformats.org/drawingml/2006/main">
              <a:ext uri="{FF2B5EF4-FFF2-40B4-BE49-F238E27FC236}">
                <a16:creationId xmlns:a16="http://schemas.microsoft.com/office/drawing/2014/main" id="{8EB41EC0-6A8E-4D72-9CC8-95A2C05E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29250"/>
            <a:ext cx="884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1500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逻辑隔离依赖隧道与转发策略；敏感业务仍需 TLS 等加密。</ns1:t>
            </ns1:r>
          </ns1:p>
        </p:txBody>
      </p:sp>
    </p:spTree>
    <p:extLst>
      <p:ext uri="{BB962C8B-B14F-4D97-AF65-F5344CB8AC3E}">
        <p14:creationId xmlns:p14="http://schemas.microsoft.com/office/powerpoint/2010/main" val="18506115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F5D261A1-1B07-411A-B30E-CFC6961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统一风格-文字 Overlay 与 Underlay：逻辑网络与承载网络-154">
            <a:extLst xmlns:a="http://schemas.openxmlformats.org/drawingml/2006/main">
              <a:ext uri="{FF2B5EF4-FFF2-40B4-BE49-F238E27FC236}">
                <a16:creationId xmlns:a16="http://schemas.microsoft.com/office/drawing/2014/main" id="{7210DCF0-548F-4FF9-B0A5-2A27FCE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Overlay 与 Underlay：逻辑网络与承载网络</a:t>
            </a:r>
          </a:p>
        </p:txBody>
      </p:sp>
      <p:sp>
        <p:nvSpPr>
          <p:cNvPr id="3" name="统一风格-文字 封装把租户报文放入隧道，底层 IP 网络负责送达隧道对端-155">
            <a:extLst xmlns:a="http://schemas.openxmlformats.org/drawingml/2006/main">
              <a:ext uri="{FF2B5EF4-FFF2-40B4-BE49-F238E27FC236}">
                <a16:creationId xmlns:a16="http://schemas.microsoft.com/office/drawing/2014/main" id="{EFA3B7C1-1C10-48E8-BE05-7BE44A12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封装把租户报文放入隧道，底层 IP 网络负责送达隧道对端</a:t>
            </a:r>
          </a:p>
        </p:txBody>
      </p:sp>
      <p:cxnSp>
        <p:nvCxnSpPr>
          <p:cNvPr id="4" name="网络连接-17">
            <a:extLst xmlns:a="http://schemas.openxmlformats.org/drawingml/2006/main">
              <a:ext uri="{FF2B5EF4-FFF2-40B4-BE49-F238E27FC236}">
                <a16:creationId xmlns:a16="http://schemas.microsoft.com/office/drawing/2014/main" id="{941E4058-AEC3-4A8A-8850-C8FC9F53CC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VXLAN 为 RFC 7348 标准技术示例，用于解释原理，不指认华为云具体区域的内部封装。-156">
            <a:extLst xmlns:a="http://schemas.openxmlformats.org/drawingml/2006/main">
              <a:ext uri="{FF2B5EF4-FFF2-40B4-BE49-F238E27FC236}">
                <a16:creationId xmlns:a16="http://schemas.microsoft.com/office/drawing/2014/main" id="{138380E5-42A4-4D74-8931-9376F5BB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VXLAN 为 RFC 7348 标准技术示例，用于解释原理，不指认华为云具体区域的内部封装。</a:t>
            </a:r>
          </a:p>
        </p:txBody>
      </p:sp>
      <p:sp>
        <p:nvSpPr>
          <p:cNvPr id="6" name="正文-07">
            <a:extLst xmlns:a="http://schemas.openxmlformats.org/drawingml/2006/main">
              <a:ext uri="{FF2B5EF4-FFF2-40B4-BE49-F238E27FC236}">
                <a16:creationId xmlns:a16="http://schemas.microsoft.com/office/drawing/2014/main" id="{715DAD4B-F0B4-4712-9280-356B396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07</ns1:t>
            </ns1:r>
          </ns1:p>
        </p:txBody>
      </p:sp>
      <p:sp>
        <p:nvSpPr>
          <p:cNvPr id="7" name="统一风格-租户源实例玻璃后沿-158">
            <a:extLst xmlns:a="http://schemas.openxmlformats.org/drawingml/2006/main">
              <a:ext uri="{FF2B5EF4-FFF2-40B4-BE49-F238E27FC236}">
                <a16:creationId xmlns:a16="http://schemas.microsoft.com/office/drawing/2014/main" id="{9372D1FD-BE44-4F1F-91D1-6842F4B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90800" cy="933450"/>
          </a:xfrm>
          <a:prstGeom xmlns:a="http://schemas.openxmlformats.org/drawingml/2006/main" prst="roundRect">
            <a:avLst>
              <a:gd name="adj" fmla="val 918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租户源实例-159">
            <a:extLst xmlns:a="http://schemas.openxmlformats.org/drawingml/2006/main">
              <a:ext uri="{FF2B5EF4-FFF2-40B4-BE49-F238E27FC236}">
                <a16:creationId xmlns:a16="http://schemas.microsoft.com/office/drawing/2014/main" id="{55DF5B58-0253-42B9-9F41-D79289EB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90800" cy="933450"/>
          </a:xfrm>
          <a:prstGeom xmlns:a="http://schemas.openxmlformats.org/drawingml/2006/main" prst="roundRect">
            <a:avLst>
              <a:gd name="adj" fmla="val 918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租户源实例玻璃内沿-160">
            <a:extLst xmlns:a="http://schemas.openxmlformats.org/drawingml/2006/main">
              <a:ext uri="{FF2B5EF4-FFF2-40B4-BE49-F238E27FC236}">
                <a16:creationId xmlns:a16="http://schemas.microsoft.com/office/drawing/2014/main" id="{98EF2974-91A4-43E1-87A0-A8A564E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94084"/>
            <a:ext cx="2565083" cy="907733"/>
          </a:xfrm>
          <a:prstGeom xmlns:a="http://schemas.openxmlformats.org/drawingml/2006/main" prst="roundRect">
            <a:avLst>
              <a:gd name="adj" fmla="val 808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租户源实例透光反射面-161">
            <a:extLst xmlns:a="http://schemas.openxmlformats.org/drawingml/2006/main">
              <a:ext uri="{FF2B5EF4-FFF2-40B4-BE49-F238E27FC236}">
                <a16:creationId xmlns:a16="http://schemas.microsoft.com/office/drawing/2014/main" id="{91FF176A-AD4D-4D90-93E0-962A7E0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552700" cy="895350"/>
          </a:xfrm>
          <a:custGeom xmlns:a="http://schemas.openxmlformats.org/drawingml/2006/main"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租户源实例边缘高光-162">
            <a:extLst xmlns:a="http://schemas.openxmlformats.org/drawingml/2006/main">
              <a:ext uri="{FF2B5EF4-FFF2-40B4-BE49-F238E27FC236}">
                <a16:creationId xmlns:a16="http://schemas.microsoft.com/office/drawing/2014/main" id="{FE26C93C-DB98-4D20-A223-5ACB75CC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590800" cy="933450"/>
          </a:xfrm>
          <a:custGeom xmlns:a="http://schemas.openxmlformats.org/drawingml/2006/main"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server 服务器机架-163">
            <a:extLst xmlns:a="http://schemas.openxmlformats.org/drawingml/2006/main">
              <a:ext uri="{FF2B5EF4-FFF2-40B4-BE49-F238E27FC236}">
                <a16:creationId xmlns:a16="http://schemas.microsoft.com/office/drawing/2014/main" id="{833B7053-1AFB-4D46-B774-243F47B9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3" name="统一风格-server 机架状态-164">
            <a:extLst xmlns:a="http://schemas.openxmlformats.org/drawingml/2006/main">
              <a:ext uri="{FF2B5EF4-FFF2-40B4-BE49-F238E27FC236}">
                <a16:creationId xmlns:a16="http://schemas.microsoft.com/office/drawing/2014/main" id="{73BAFB50-4E5C-4547-94CE-1273B290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4" name="统一风格-server 指示灯-165">
            <a:extLst xmlns:a="http://schemas.openxmlformats.org/drawingml/2006/main">
              <a:ext uri="{FF2B5EF4-FFF2-40B4-BE49-F238E27FC236}">
                <a16:creationId xmlns:a16="http://schemas.microsoft.com/office/drawing/2014/main" id="{B26E8903-6C59-4887-AF66-4AF563B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" name="统一风格-server 服务器机架-166">
            <a:extLst xmlns:a="http://schemas.openxmlformats.org/drawingml/2006/main">
              <a:ext uri="{FF2B5EF4-FFF2-40B4-BE49-F238E27FC236}">
                <a16:creationId xmlns:a16="http://schemas.microsoft.com/office/drawing/2014/main" id="{16A666E4-5494-4EC2-9A34-C9899A9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6" name="统一风格-server 机架状态-167">
            <a:extLst xmlns:a="http://schemas.openxmlformats.org/drawingml/2006/main">
              <a:ext uri="{FF2B5EF4-FFF2-40B4-BE49-F238E27FC236}">
                <a16:creationId xmlns:a16="http://schemas.microsoft.com/office/drawing/2014/main" id="{BF2F55DF-628A-425D-A153-2E7C644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7" name="统一风格-server 指示灯-168">
            <a:extLst xmlns:a="http://schemas.openxmlformats.org/drawingml/2006/main">
              <a:ext uri="{FF2B5EF4-FFF2-40B4-BE49-F238E27FC236}">
                <a16:creationId xmlns:a16="http://schemas.microsoft.com/office/drawing/2014/main" id="{2B1E87E7-70F0-412E-8324-94DA8691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" name="统一风格-server 服务器机架-169">
            <a:extLst xmlns:a="http://schemas.openxmlformats.org/drawingml/2006/main">
              <a:ext uri="{FF2B5EF4-FFF2-40B4-BE49-F238E27FC236}">
                <a16:creationId xmlns:a16="http://schemas.microsoft.com/office/drawing/2014/main" id="{1844C867-AD1E-40B9-B2ED-A06E787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9" name="统一风格-server 机架状态-170">
            <a:extLst xmlns:a="http://schemas.openxmlformats.org/drawingml/2006/main">
              <a:ext uri="{FF2B5EF4-FFF2-40B4-BE49-F238E27FC236}">
                <a16:creationId xmlns:a16="http://schemas.microsoft.com/office/drawing/2014/main" id="{0F4554E5-235B-4DEE-A041-08F56E05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0" name="统一风格-server 指示灯-171">
            <a:extLst xmlns:a="http://schemas.openxmlformats.org/drawingml/2006/main">
              <a:ext uri="{FF2B5EF4-FFF2-40B4-BE49-F238E27FC236}">
                <a16:creationId xmlns:a16="http://schemas.microsoft.com/office/drawing/2014/main" id="{B11670CD-C1CD-44B6-95E9-25E0DEB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" name="统一风格-文字 租户源实例-172">
            <a:extLst xmlns:a="http://schemas.openxmlformats.org/drawingml/2006/main">
              <a:ext uri="{FF2B5EF4-FFF2-40B4-BE49-F238E27FC236}">
                <a16:creationId xmlns:a16="http://schemas.microsoft.com/office/drawing/2014/main" id="{E4DAA55C-29DF-4E76-A0F3-ECC24C2F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24100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租户源实例</a:t>
            </a:r>
          </a:p>
        </p:txBody>
      </p:sp>
      <p:sp>
        <p:nvSpPr>
          <p:cNvPr id="22" name="统一风格-文字 内层私网报文-173">
            <a:extLst xmlns:a="http://schemas.openxmlformats.org/drawingml/2006/main">
              <a:ext uri="{FF2B5EF4-FFF2-40B4-BE49-F238E27FC236}">
                <a16:creationId xmlns:a16="http://schemas.microsoft.com/office/drawing/2014/main" id="{1959130E-C14D-46E0-88AE-353C8E83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76525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内层私网报文</a:t>
            </a:r>
          </a:p>
        </p:txBody>
      </p:sp>
      <p:sp>
        <p:nvSpPr>
          <p:cNvPr id="23" name="统一风格-租户目标实例玻璃后沿-174">
            <a:extLst xmlns:a="http://schemas.openxmlformats.org/drawingml/2006/main">
              <a:ext uri="{FF2B5EF4-FFF2-40B4-BE49-F238E27FC236}">
                <a16:creationId xmlns:a16="http://schemas.microsoft.com/office/drawing/2014/main" id="{A8FBAFF0-2DF8-41B9-99BF-81005531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2590800" cy="933450"/>
          </a:xfrm>
          <a:prstGeom xmlns:a="http://schemas.openxmlformats.org/drawingml/2006/main" prst="roundRect">
            <a:avLst>
              <a:gd name="adj" fmla="val 918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统一风格-租户目标实例-175">
            <a:extLst xmlns:a="http://schemas.openxmlformats.org/drawingml/2006/main">
              <a:ext uri="{FF2B5EF4-FFF2-40B4-BE49-F238E27FC236}">
                <a16:creationId xmlns:a16="http://schemas.microsoft.com/office/drawing/2014/main" id="{D50BF091-03E7-4BD1-9A96-34A0E44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2590800" cy="933450"/>
          </a:xfrm>
          <a:prstGeom xmlns:a="http://schemas.openxmlformats.org/drawingml/2006/main" prst="roundRect">
            <a:avLst>
              <a:gd name="adj" fmla="val 918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租户目标实例玻璃内沿-176">
            <a:extLst xmlns:a="http://schemas.openxmlformats.org/drawingml/2006/main">
              <a:ext uri="{FF2B5EF4-FFF2-40B4-BE49-F238E27FC236}">
                <a16:creationId xmlns:a16="http://schemas.microsoft.com/office/drawing/2014/main" id="{479D387C-41FB-447F-83E0-22AD7E70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459" y="2194084"/>
            <a:ext cx="2565083" cy="907733"/>
          </a:xfrm>
          <a:prstGeom xmlns:a="http://schemas.openxmlformats.org/drawingml/2006/main" prst="roundRect">
            <a:avLst>
              <a:gd name="adj" fmla="val 808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租户目标实例透光反射面-177">
            <a:extLst xmlns:a="http://schemas.openxmlformats.org/drawingml/2006/main">
              <a:ext uri="{FF2B5EF4-FFF2-40B4-BE49-F238E27FC236}">
                <a16:creationId xmlns:a16="http://schemas.microsoft.com/office/drawing/2014/main" id="{6CD855AF-0F00-454E-BA42-DE779598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0275"/>
            <a:ext cx="2552700" cy="895350"/>
          </a:xfrm>
          <a:custGeom xmlns:a="http://schemas.openxmlformats.org/drawingml/2006/main"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7" name="统一风格-租户目标实例边缘高光-178">
            <a:extLst xmlns:a="http://schemas.openxmlformats.org/drawingml/2006/main">
              <a:ext uri="{FF2B5EF4-FFF2-40B4-BE49-F238E27FC236}">
                <a16:creationId xmlns:a16="http://schemas.microsoft.com/office/drawing/2014/main" id="{2145A06A-8FEC-4517-9DB3-BEF9D8B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2590800" cy="933450"/>
          </a:xfrm>
          <a:custGeom xmlns:a="http://schemas.openxmlformats.org/drawingml/2006/main"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server 服务器机架-179">
            <a:extLst xmlns:a="http://schemas.openxmlformats.org/drawingml/2006/main">
              <a:ext uri="{FF2B5EF4-FFF2-40B4-BE49-F238E27FC236}">
                <a16:creationId xmlns:a16="http://schemas.microsoft.com/office/drawing/2014/main" id="{A567DD19-23B1-491A-A3F5-97C3699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9" name="统一风格-server 机架状态-180">
            <a:extLst xmlns:a="http://schemas.openxmlformats.org/drawingml/2006/main">
              <a:ext uri="{FF2B5EF4-FFF2-40B4-BE49-F238E27FC236}">
                <a16:creationId xmlns:a16="http://schemas.microsoft.com/office/drawing/2014/main" id="{164EB970-3B61-43DF-89E4-16DA46C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0" name="统一风格-server 指示灯-181">
            <a:extLst xmlns:a="http://schemas.openxmlformats.org/drawingml/2006/main">
              <a:ext uri="{FF2B5EF4-FFF2-40B4-BE49-F238E27FC236}">
                <a16:creationId xmlns:a16="http://schemas.microsoft.com/office/drawing/2014/main" id="{64C7A813-BEED-4A2E-9ADC-0F5E5358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" name="统一风格-server 服务器机架-182">
            <a:extLst xmlns:a="http://schemas.openxmlformats.org/drawingml/2006/main">
              <a:ext uri="{FF2B5EF4-FFF2-40B4-BE49-F238E27FC236}">
                <a16:creationId xmlns:a16="http://schemas.microsoft.com/office/drawing/2014/main" id="{054C7198-B471-4953-8B23-BDBCFFD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2" name="统一风格-server 机架状态-183">
            <a:extLst xmlns:a="http://schemas.openxmlformats.org/drawingml/2006/main">
              <a:ext uri="{FF2B5EF4-FFF2-40B4-BE49-F238E27FC236}">
                <a16:creationId xmlns:a16="http://schemas.microsoft.com/office/drawing/2014/main" id="{A7AEBABF-841F-4900-9C64-C3C74F31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3" name="统一风格-server 指示灯-184">
            <a:extLst xmlns:a="http://schemas.openxmlformats.org/drawingml/2006/main">
              <a:ext uri="{FF2B5EF4-FFF2-40B4-BE49-F238E27FC236}">
                <a16:creationId xmlns:a16="http://schemas.microsoft.com/office/drawing/2014/main" id="{E5457675-6E0D-460D-BF68-E305A08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" name="统一风格-server 服务器机架-185">
            <a:extLst xmlns:a="http://schemas.openxmlformats.org/drawingml/2006/main">
              <a:ext uri="{FF2B5EF4-FFF2-40B4-BE49-F238E27FC236}">
                <a16:creationId xmlns:a16="http://schemas.microsoft.com/office/drawing/2014/main" id="{90F227C2-1F3F-403F-A7CF-F0F9D75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5" name="统一风格-server 机架状态-186">
            <a:extLst xmlns:a="http://schemas.openxmlformats.org/drawingml/2006/main">
              <a:ext uri="{FF2B5EF4-FFF2-40B4-BE49-F238E27FC236}">
                <a16:creationId xmlns:a16="http://schemas.microsoft.com/office/drawing/2014/main" id="{AFFDEC4C-E694-4B86-9917-7204471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6" name="统一风格-server 指示灯-187">
            <a:extLst xmlns:a="http://schemas.openxmlformats.org/drawingml/2006/main">
              <a:ext uri="{FF2B5EF4-FFF2-40B4-BE49-F238E27FC236}">
                <a16:creationId xmlns:a16="http://schemas.microsoft.com/office/drawing/2014/main" id="{047AF263-1BC8-4612-A791-4DB496A8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" name="统一风格-文字 租户目标实例-188">
            <a:extLst xmlns:a="http://schemas.openxmlformats.org/drawingml/2006/main">
              <a:ext uri="{FF2B5EF4-FFF2-40B4-BE49-F238E27FC236}">
                <a16:creationId xmlns:a16="http://schemas.microsoft.com/office/drawing/2014/main" id="{F24D87B1-DEF2-4532-AAC2-0712E77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24100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租户目标实例</a:t>
            </a:r>
          </a:p>
        </p:txBody>
      </p:sp>
      <p:sp>
        <p:nvSpPr>
          <p:cNvPr id="38" name="统一风格-文字 解封装后交付-189">
            <a:extLst xmlns:a="http://schemas.openxmlformats.org/drawingml/2006/main">
              <a:ext uri="{FF2B5EF4-FFF2-40B4-BE49-F238E27FC236}">
                <a16:creationId xmlns:a16="http://schemas.microsoft.com/office/drawing/2014/main" id="{EC846A98-FBB5-440F-A595-3913ABA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76525"/>
            <a:ext cx="170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解封装后交付</a:t>
            </a:r>
          </a:p>
        </p:txBody>
      </p:sp>
      <p:cxnSp>
        <p:nvCxnSpPr>
          <p:cNvPr id="39" name="网络连接-18">
            <a:extLst xmlns:a="http://schemas.openxmlformats.org/drawingml/2006/main">
              <a:ext uri="{FF2B5EF4-FFF2-40B4-BE49-F238E27FC236}">
                <a16:creationId xmlns:a16="http://schemas.microsoft.com/office/drawing/2014/main" id="{BAC9CFF9-7CD6-451F-B49F-5A32F3EDF0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2647950"/>
            <a:ext cx="5791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0" name="统一风格-文字 Overlay：租户逻辑网络-190">
            <a:extLst xmlns:a="http://schemas.openxmlformats.org/drawingml/2006/main">
              <a:ext uri="{FF2B5EF4-FFF2-40B4-BE49-F238E27FC236}">
                <a16:creationId xmlns:a16="http://schemas.microsoft.com/office/drawing/2014/main" id="{DD994374-812A-4412-AD0D-593108D3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383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Overlay：租户逻辑网络</a:t>
            </a:r>
          </a:p>
        </p:txBody>
      </p:sp>
      <p:sp>
        <p:nvSpPr>
          <p:cNvPr id="41" name="统一风格-标准隧道封装示意玻璃后沿-191">
            <a:extLst xmlns:a="http://schemas.openxmlformats.org/drawingml/2006/main">
              <a:ext uri="{FF2B5EF4-FFF2-40B4-BE49-F238E27FC236}">
                <a16:creationId xmlns:a16="http://schemas.microsoft.com/office/drawing/2014/main" id="{BBAAB8DB-F064-49D9-B7C5-D363FB35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19475"/>
            <a:ext cx="8020050" cy="1200150"/>
          </a:xfrm>
          <a:prstGeom xmlns:a="http://schemas.openxmlformats.org/drawingml/2006/main" prst="roundRect">
            <a:avLst>
              <a:gd name="adj" fmla="val 7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2" name="统一风格-标准隧道封装示意-192">
            <a:extLst xmlns:a="http://schemas.openxmlformats.org/drawingml/2006/main">
              <a:ext uri="{FF2B5EF4-FFF2-40B4-BE49-F238E27FC236}">
                <a16:creationId xmlns:a16="http://schemas.microsoft.com/office/drawing/2014/main" id="{56B1DDB3-3D8E-4DFD-8ADA-00FEE60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19475"/>
            <a:ext cx="8020050" cy="1200150"/>
          </a:xfrm>
          <a:prstGeom xmlns:a="http://schemas.openxmlformats.org/drawingml/2006/main" prst="roundRect">
            <a:avLst>
              <a:gd name="adj" fmla="val 7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标准隧道封装示意玻璃内沿-193">
            <a:extLst xmlns:a="http://schemas.openxmlformats.org/drawingml/2006/main">
              <a:ext uri="{FF2B5EF4-FFF2-40B4-BE49-F238E27FC236}">
                <a16:creationId xmlns:a16="http://schemas.microsoft.com/office/drawing/2014/main" id="{F72BF628-99E1-4113-B6FA-0DCF12EF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34" y="3432334"/>
            <a:ext cx="7994333" cy="1174433"/>
          </a:xfrm>
          <a:prstGeom xmlns:a="http://schemas.openxmlformats.org/drawingml/2006/main" prst="roundRect">
            <a:avLst>
              <a:gd name="adj" fmla="val 624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标准隧道封装示意边缘高光-194">
            <a:extLst xmlns:a="http://schemas.openxmlformats.org/drawingml/2006/main">
              <a:ext uri="{FF2B5EF4-FFF2-40B4-BE49-F238E27FC236}">
                <a16:creationId xmlns:a16="http://schemas.microsoft.com/office/drawing/2014/main" id="{94178391-D6E4-4FA5-BF86-72D70C1E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19475"/>
            <a:ext cx="8020050" cy="1200150"/>
          </a:xfrm>
          <a:custGeom xmlns:a="http://schemas.openxmlformats.org/drawingml/2006/main">
            <a:pathLst>
              <a:path w="8020050" h="1200150">
                <a:moveTo>
                  <a:pt x="95250" y="9525"/>
                </a:moveTo>
                <a:lnTo>
                  <a:pt x="7924800" y="9525"/>
                </a:lnTo>
                <a:cubicBezTo>
                  <a:pt x="7972425" y="9525"/>
                  <a:pt x="8010525" y="47625"/>
                  <a:pt x="8010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5" name="统一风格-文字 标准隧道封装示意-195">
            <a:extLst xmlns:a="http://schemas.openxmlformats.org/drawingml/2006/main">
              <a:ext uri="{FF2B5EF4-FFF2-40B4-BE49-F238E27FC236}">
                <a16:creationId xmlns:a16="http://schemas.microsoft.com/office/drawing/2014/main" id="{F5E7C6E7-86D5-4DB7-BEDF-928EEBB2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552825"/>
            <a:ext cx="752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标准隧道封装示意</a:t>
            </a:r>
          </a:p>
        </p:txBody>
      </p:sp>
      <p:sp>
        <p:nvSpPr>
          <p:cNvPr id="46" name="统一风格-外层隧道地址-196">
            <a:extLst xmlns:a="http://schemas.openxmlformats.org/drawingml/2006/main">
              <a:ext uri="{FF2B5EF4-FFF2-40B4-BE49-F238E27FC236}">
                <a16:creationId xmlns:a16="http://schemas.microsoft.com/office/drawing/2014/main" id="{F08519D8-559F-48F1-8176-B4166664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>
              <a:alpha val="95000"/>
            </a:srgbClr>
          </a:solidFill>
          <a:ln xmlns:a="http://schemas.openxmlformats.org/drawingml/2006/main" w="7620">
            <a:solidFill>
              <a:srgbClr val="C1D3ED"/>
            </a:solidFill>
          </a:ln>
        </p:spPr>
      </p:sp>
      <p:sp>
        <p:nvSpPr>
          <p:cNvPr id="47" name="统一风格-文字 外层隧道地址-197">
            <a:extLst xmlns:a="http://schemas.openxmlformats.org/drawingml/2006/main">
              <a:ext uri="{FF2B5EF4-FFF2-40B4-BE49-F238E27FC236}">
                <a16:creationId xmlns:a16="http://schemas.microsoft.com/office/drawing/2014/main" id="{47CA49CC-6973-4D72-9B1F-28779C6A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9550"/>
            <a:ext cx="2295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外层隧道地址</a:t>
            </a:r>
          </a:p>
        </p:txBody>
      </p:sp>
      <p:sp>
        <p:nvSpPr>
          <p:cNvPr id="48" name="统一风格-逻辑网络标识-198">
            <a:extLst xmlns:a="http://schemas.openxmlformats.org/drawingml/2006/main">
              <a:ext uri="{FF2B5EF4-FFF2-40B4-BE49-F238E27FC236}">
                <a16:creationId xmlns:a16="http://schemas.microsoft.com/office/drawing/2014/main" id="{78F940D9-7924-41C3-A166-22751665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6240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>
              <a:alpha val="95000"/>
            </a:srgbClr>
          </a:solidFill>
          <a:ln xmlns:a="http://schemas.openxmlformats.org/drawingml/2006/main" w="7620">
            <a:solidFill>
              <a:srgbClr val="C1D3ED"/>
            </a:solidFill>
          </a:ln>
        </p:spPr>
      </p:sp>
      <p:sp>
        <p:nvSpPr>
          <p:cNvPr id="49" name="统一风格-文字 逻辑网络标识-199">
            <a:extLst xmlns:a="http://schemas.openxmlformats.org/drawingml/2006/main">
              <a:ext uri="{FF2B5EF4-FFF2-40B4-BE49-F238E27FC236}">
                <a16:creationId xmlns:a16="http://schemas.microsoft.com/office/drawing/2014/main" id="{7D3082C0-C0E2-46A9-A6A8-DBDC2C0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1955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逻辑网络标识</a:t>
            </a:r>
          </a:p>
        </p:txBody>
      </p:sp>
      <p:sp>
        <p:nvSpPr>
          <p:cNvPr id="50" name="统一风格-原始租户报文-200">
            <a:extLst xmlns:a="http://schemas.openxmlformats.org/drawingml/2006/main">
              <a:ext uri="{FF2B5EF4-FFF2-40B4-BE49-F238E27FC236}">
                <a16:creationId xmlns:a16="http://schemas.microsoft.com/office/drawing/2014/main" id="{38D8F91B-8F85-4653-BA91-92AD705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62400"/>
            <a:ext cx="29241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D">
              <a:alpha val="95000"/>
            </a:srgbClr>
          </a:solidFill>
          <a:ln xmlns:a="http://schemas.openxmlformats.org/drawingml/2006/main" w="7620">
            <a:solidFill>
              <a:srgbClr val="C1D3ED"/>
            </a:solidFill>
          </a:ln>
        </p:spPr>
      </p:sp>
      <p:sp>
        <p:nvSpPr>
          <p:cNvPr id="51" name="统一风格-文字 原始租户报文-201">
            <a:extLst xmlns:a="http://schemas.openxmlformats.org/drawingml/2006/main">
              <a:ext uri="{FF2B5EF4-FFF2-40B4-BE49-F238E27FC236}">
                <a16:creationId xmlns:a16="http://schemas.microsoft.com/office/drawing/2014/main" id="{DEE0EC3A-606D-4A67-8926-B087270A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9550"/>
            <a:ext cx="2771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原始租户报文</a:t>
            </a:r>
          </a:p>
        </p:txBody>
      </p:sp>
      <p:cxnSp>
        <p:nvCxnSpPr>
          <p:cNvPr id="52" name="网络连接-19">
            <a:extLst xmlns:a="http://schemas.openxmlformats.org/drawingml/2006/main">
              <a:ext uri="{FF2B5EF4-FFF2-40B4-BE49-F238E27FC236}">
                <a16:creationId xmlns:a16="http://schemas.microsoft.com/office/drawing/2014/main" id="{0D52FD2E-0B91-4D44-A278-DE2D059A6A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3114675"/>
            <a:ext cx="0" cy="2009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8D2"/>
            </a:solidFill>
            <a:prstDash val="solid"/>
          </a:ln>
        </p:spPr>
      </p:cxnSp>
      <p:cxnSp>
        <p:nvCxnSpPr>
          <p:cNvPr id="53" name="网络连接-20">
            <a:extLst xmlns:a="http://schemas.openxmlformats.org/drawingml/2006/main">
              <a:ext uri="{FF2B5EF4-FFF2-40B4-BE49-F238E27FC236}">
                <a16:creationId xmlns:a16="http://schemas.microsoft.com/office/drawing/2014/main" id="{6EA8D2CC-98F0-48E8-AA72-88CEE2CD05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512445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8D2"/>
            </a:solidFill>
            <a:prstDash val="solid"/>
          </a:ln>
        </p:spPr>
      </p:cxnSp>
      <p:cxnSp>
        <p:nvCxnSpPr>
          <p:cNvPr id="54" name="网络连接-21">
            <a:extLst xmlns:a="http://schemas.openxmlformats.org/drawingml/2006/main">
              <a:ext uri="{FF2B5EF4-FFF2-40B4-BE49-F238E27FC236}">
                <a16:creationId xmlns:a16="http://schemas.microsoft.com/office/drawing/2014/main" id="{BFB76460-8903-4EE5-9AE1-6E6EEAA4BB4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287000" y="3114675"/>
            <a:ext cx="0" cy="2009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8D2"/>
            </a:solidFill>
            <a:prstDash val="solid"/>
            <a:tailEnd type="triangle" w="sm" len="sm"/>
          </a:ln>
        </p:spPr>
      </p:cxnSp>
      <p:sp>
        <p:nvSpPr>
          <p:cNvPr id="55" name="统一风格-文字 Underlay：共享的物理 / IP 承载网络-202">
            <a:extLst xmlns:a="http://schemas.openxmlformats.org/drawingml/2006/main">
              <a:ext uri="{FF2B5EF4-FFF2-40B4-BE49-F238E27FC236}">
                <a16:creationId xmlns:a16="http://schemas.microsoft.com/office/drawing/2014/main" id="{7649035B-F92F-4A96-A995-757C7709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434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Underlay：共享的物理 / IP 承载网络</a:t>
            </a:r>
          </a:p>
        </p:txBody>
      </p:sp>
      <p:sp>
        <p:nvSpPr>
          <p:cNvPr id="56" name="统一风格-运维区分玻璃后沿-203">
            <a:extLst xmlns:a="http://schemas.openxmlformats.org/drawingml/2006/main">
              <a:ext uri="{FF2B5EF4-FFF2-40B4-BE49-F238E27FC236}">
                <a16:creationId xmlns:a16="http://schemas.microsoft.com/office/drawing/2014/main" id="{8C1216CF-35E5-44D4-84F6-5EA164D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7" name="统一风格-运维区分-204">
            <a:extLst xmlns:a="http://schemas.openxmlformats.org/drawingml/2006/main">
              <a:ext uri="{FF2B5EF4-FFF2-40B4-BE49-F238E27FC236}">
                <a16:creationId xmlns:a16="http://schemas.microsoft.com/office/drawing/2014/main" id="{3A0536C3-B88E-4306-B79C-080C3C89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8" name="统一风格-运维区分玻璃内沿-205">
            <a:extLst xmlns:a="http://schemas.openxmlformats.org/drawingml/2006/main">
              <a:ext uri="{FF2B5EF4-FFF2-40B4-BE49-F238E27FC236}">
                <a16:creationId xmlns:a16="http://schemas.microsoft.com/office/drawing/2014/main" id="{BEE898AC-9FCE-4C71-AA8C-41076579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373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9" name="统一风格-运维区分边缘高光-206">
            <a:extLst xmlns:a="http://schemas.openxmlformats.org/drawingml/2006/main">
              <a:ext uri="{FF2B5EF4-FFF2-40B4-BE49-F238E27FC236}">
                <a16:creationId xmlns:a16="http://schemas.microsoft.com/office/drawing/2014/main" id="{FC674A5A-52C8-4826-BCAA-0BB9C9DC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文字 运维区分-207">
            <a:extLst xmlns:a="http://schemas.openxmlformats.org/drawingml/2006/main">
              <a:ext uri="{FF2B5EF4-FFF2-40B4-BE49-F238E27FC236}">
                <a16:creationId xmlns:a16="http://schemas.microsoft.com/office/drawing/2014/main" id="{D077A628-0487-4CCE-8134-0712F13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575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1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排障范围</ns0:t>
            </ns0:r>
          </ns0:p>
        </p:txBody>
      </p:sp>
      <p:sp>
        <p:nvSpPr>
          <p:cNvPr id="61" name="统一风格-文字 租户私网地址与外层隧道地址分别承担业务寻址和底层运输。-208">
            <a:extLst xmlns:a="http://schemas.openxmlformats.org/drawingml/2006/main">
              <a:ext uri="{FF2B5EF4-FFF2-40B4-BE49-F238E27FC236}">
                <a16:creationId xmlns:a16="http://schemas.microsoft.com/office/drawing/2014/main" id="{41B4AB83-E948-42B3-93E6-6902A8F1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29250"/>
            <a:ext cx="884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1500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先查 VPC 路由、安全组和服务日志；底层承载异常联系云侧支持。</ns1:t>
            </ns1:r>
          </ns1:p>
        </p:txBody>
      </p:sp>
    </p:spTree>
    <p:extLst>
      <p:ext uri="{BB962C8B-B14F-4D97-AF65-F5344CB8AC3E}">
        <p14:creationId xmlns:p14="http://schemas.microsoft.com/office/powerpoint/2010/main" val="196443129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C5BADE16-1B8D-4529-872E-0AF69215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统一风格-文字 VPC 约束：区域、地址与子网容量-210">
            <a:extLst xmlns:a="http://schemas.openxmlformats.org/drawingml/2006/main">
              <a:ext uri="{FF2B5EF4-FFF2-40B4-BE49-F238E27FC236}">
                <a16:creationId xmlns:a16="http://schemas.microsoft.com/office/drawing/2014/main" id="{D02B1959-5F79-4E69-BAD6-AA4845B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约束：区域、地址与子网容量</a:t>
            </a:r>
          </a:p>
        </p:txBody>
      </p:sp>
      <p:sp>
        <p:nvSpPr>
          <p:cNvPr id="3" name="统一风格-文字 先确定互联边界和容量，再创建长期使用的网络资源-211">
            <a:extLst xmlns:a="http://schemas.openxmlformats.org/drawingml/2006/main">
              <a:ext uri="{FF2B5EF4-FFF2-40B4-BE49-F238E27FC236}">
                <a16:creationId xmlns:a16="http://schemas.microsoft.com/office/drawing/2014/main" id="{9D521DE0-C979-4CE1-AAFA-A34322E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先确定互联边界和容量，再创建长期使用的网络资源</a:t>
            </a:r>
          </a:p>
        </p:txBody>
      </p:sp>
      <p:cxnSp>
        <p:nvCxnSpPr>
          <p:cNvPr id="4" name="网络连接-22">
            <a:extLst xmlns:a="http://schemas.openxmlformats.org/drawingml/2006/main">
              <a:ext uri="{FF2B5EF4-FFF2-40B4-BE49-F238E27FC236}">
                <a16:creationId xmlns:a16="http://schemas.microsoft.com/office/drawing/2014/main" id="{F016052F-F5A8-420E-B5C6-87769868B6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主网段变更存在区域与 API 条件差异，扩容应先评估扩展网段和关联资源。-212">
            <a:extLst xmlns:a="http://schemas.openxmlformats.org/drawingml/2006/main">
              <a:ext uri="{FF2B5EF4-FFF2-40B4-BE49-F238E27FC236}">
                <a16:creationId xmlns:a16="http://schemas.microsoft.com/office/drawing/2014/main" id="{4D60035F-7FCE-4857-8A73-6C128497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主网段变更存在区域与 API 条件差异，扩容应先评估扩展网段和关联资源。</a:t>
            </a:r>
          </a:p>
        </p:txBody>
      </p:sp>
      <p:sp>
        <p:nvSpPr>
          <p:cNvPr id="6" name="正文-10">
            <a:extLst xmlns:a="http://schemas.openxmlformats.org/drawingml/2006/main">
              <a:ext uri="{FF2B5EF4-FFF2-40B4-BE49-F238E27FC236}">
                <a16:creationId xmlns:a16="http://schemas.microsoft.com/office/drawing/2014/main" id="{21ED917C-44DD-455C-8605-934CA15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10</ns1:t>
            </ns1:r>
          </ns1:p>
        </p:txBody>
      </p:sp>
      <p:sp>
        <p:nvSpPr>
          <p:cNvPr id="7" name="统一风格-路由与配置表玻璃后沿-214">
            <a:extLst xmlns:a="http://schemas.openxmlformats.org/drawingml/2006/main">
              <a:ext uri="{FF2B5EF4-FFF2-40B4-BE49-F238E27FC236}">
                <a16:creationId xmlns:a16="http://schemas.microsoft.com/office/drawing/2014/main" id="{632931F9-1666-4C67-9DE3-8FE0B1B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66925"/>
            <a:ext cx="11106150" cy="3609975"/>
          </a:xfrm>
          <a:prstGeom xmlns:a="http://schemas.openxmlformats.org/drawingml/2006/main" prst="roundRect">
            <a:avLst>
              <a:gd name="adj" fmla="val 237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路由与配置表-215">
            <a:extLst xmlns:a="http://schemas.openxmlformats.org/drawingml/2006/main">
              <a:ext uri="{FF2B5EF4-FFF2-40B4-BE49-F238E27FC236}">
                <a16:creationId xmlns:a16="http://schemas.microsoft.com/office/drawing/2014/main" id="{650BBE8A-2E04-4B2B-A6FC-21C3892D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66925"/>
            <a:ext cx="11106150" cy="3609975"/>
          </a:xfrm>
          <a:prstGeom xmlns:a="http://schemas.openxmlformats.org/drawingml/2006/main" prst="roundRect">
            <a:avLst>
              <a:gd name="adj" fmla="val 237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路由与配置表玻璃内沿-216">
            <a:extLst xmlns:a="http://schemas.openxmlformats.org/drawingml/2006/main">
              <a:ext uri="{FF2B5EF4-FFF2-40B4-BE49-F238E27FC236}">
                <a16:creationId xmlns:a16="http://schemas.microsoft.com/office/drawing/2014/main" id="{0291F000-3DCC-4443-A4D7-DAEE6B2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79784"/>
            <a:ext cx="11080433" cy="3584258"/>
          </a:xfrm>
          <a:prstGeom xmlns:a="http://schemas.openxmlformats.org/drawingml/2006/main" prst="roundRect">
            <a:avLst>
              <a:gd name="adj" fmla="val 204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路由与配置表边缘高光-217">
            <a:extLst xmlns:a="http://schemas.openxmlformats.org/drawingml/2006/main">
              <a:ext uri="{FF2B5EF4-FFF2-40B4-BE49-F238E27FC236}">
                <a16:creationId xmlns:a16="http://schemas.microsoft.com/office/drawing/2014/main" id="{C40227D9-EBA4-4083-81FC-A368C8B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66925"/>
            <a:ext cx="11106150" cy="3609975"/>
          </a:xfrm>
          <a:custGeom xmlns:a="http://schemas.openxmlformats.org/drawingml/2006/main">
            <a:pathLst>
              <a:path w="11106150" h="36099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192AD-499A-49E5-B4DF-87638F0236F2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62475"/>
                <a:gridCol w="4695825"/>
              </a:tblGrid>
              <a:tr h="53530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服务约束 / 注意事项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规划动作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3530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Region 分别建立 VPC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 单独设计 CC / ER 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3530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主网段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变更受支持条件与资源依赖约束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先查当前能力，扩容评估扩展网段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3530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互联地址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整网对等连接两端网段不能重叠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统一管理未来互联的地址池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3530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 VPC 地址空间，子网间不重叠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预留后续业务与服务地址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 IP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192.168.0.0/24 示例预留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.0、.1、.253、.254、.255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 251 个可分配地址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仍以实际子网可分配数为准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779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31159412-869D-4194-97CC-7F847CA3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01  VPC 基础与规范</ns0:t>
            </ns0:r>
          </ns0:p>
        </p:txBody>
      </p:sp>
      <p:sp>
        <p:nvSpPr>
          <p:cNvPr id="2" name="统一风格-文字 VPC 使用注意事项：配额、依赖与变更-219">
            <a:extLst xmlns:a="http://schemas.openxmlformats.org/drawingml/2006/main">
              <a:ext uri="{FF2B5EF4-FFF2-40B4-BE49-F238E27FC236}">
                <a16:creationId xmlns:a16="http://schemas.microsoft.com/office/drawing/2014/main" id="{82F9A8C8-8D72-40E8-B94B-7D3A12E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使用注意事项：配额、依赖与变更</a:t>
            </a:r>
          </a:p>
        </p:txBody>
      </p:sp>
      <p:sp>
        <p:nvSpPr>
          <p:cNvPr id="3" name="统一风格-文字 把服务约束转成发布前的检查动作-220">
            <a:extLst xmlns:a="http://schemas.openxmlformats.org/drawingml/2006/main">
              <a:ext uri="{FF2B5EF4-FFF2-40B4-BE49-F238E27FC236}">
                <a16:creationId xmlns:a16="http://schemas.microsoft.com/office/drawing/2014/main" id="{7607AF7A-4BE8-485B-B714-2E7F0A4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把服务约束转成发布前的检查动作</a:t>
            </a:r>
          </a:p>
        </p:txBody>
      </p:sp>
      <p:cxnSp>
        <p:nvCxnSpPr>
          <p:cNvPr id="4" name="网络连接-23">
            <a:extLst xmlns:a="http://schemas.openxmlformats.org/drawingml/2006/main">
              <a:ext uri="{FF2B5EF4-FFF2-40B4-BE49-F238E27FC236}">
                <a16:creationId xmlns:a16="http://schemas.microsoft.com/office/drawing/2014/main" id="{3C074186-624D-4630-B3D6-52571CCF5A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配额与服务支持能力以实际账号、Region 和控制台为准。删除资源前先解除关联依赖。-221">
            <a:extLst xmlns:a="http://schemas.openxmlformats.org/drawingml/2006/main">
              <a:ext uri="{FF2B5EF4-FFF2-40B4-BE49-F238E27FC236}">
                <a16:creationId xmlns:a16="http://schemas.microsoft.com/office/drawing/2014/main" id="{ADEE0C36-44D5-4FBA-B3D2-FE25E28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配额与服务支持能力以实际账号、Region 和控制台为准。删除资源前先解除关联依赖。</a:t>
            </a:r>
          </a:p>
        </p:txBody>
      </p:sp>
      <p:sp>
        <p:nvSpPr>
          <p:cNvPr id="6" name="正文-11">
            <a:extLst xmlns:a="http://schemas.openxmlformats.org/drawingml/2006/main">
              <a:ext uri="{FF2B5EF4-FFF2-40B4-BE49-F238E27FC236}">
                <a16:creationId xmlns:a16="http://schemas.microsoft.com/office/drawing/2014/main" id="{43AA2751-F0A7-4CCA-8C5E-21DBB13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11</ns1:t>
            </ns1:r>
          </ns1:p>
        </p:txBody>
      </p:sp>
      <p:sp>
        <p:nvSpPr>
          <p:cNvPr id="7" name="统一风格-资源配额玻璃后沿-223">
            <a:extLst xmlns:a="http://schemas.openxmlformats.org/drawingml/2006/main">
              <a:ext uri="{FF2B5EF4-FFF2-40B4-BE49-F238E27FC236}">
                <a16:creationId xmlns:a16="http://schemas.microsoft.com/office/drawing/2014/main" id="{B7FBCFB0-C68E-41F1-9C05-D7AF65BC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资源配额-224">
            <a:extLst xmlns:a="http://schemas.openxmlformats.org/drawingml/2006/main">
              <a:ext uri="{FF2B5EF4-FFF2-40B4-BE49-F238E27FC236}">
                <a16:creationId xmlns:a16="http://schemas.microsoft.com/office/drawing/2014/main" id="{53DD3444-355D-440F-A659-1ED9AF8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资源配额玻璃内沿-225">
            <a:extLst xmlns:a="http://schemas.openxmlformats.org/drawingml/2006/main">
              <a:ext uri="{FF2B5EF4-FFF2-40B4-BE49-F238E27FC236}">
                <a16:creationId xmlns:a16="http://schemas.microsoft.com/office/drawing/2014/main" id="{70FA1D8E-4BBE-45E3-A127-9DCACCC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10947083" cy="726758"/>
          </a:xfrm>
          <a:prstGeom xmlns:a="http://schemas.openxmlformats.org/drawingml/2006/main" prst="roundRect">
            <a:avLst>
              <a:gd name="adj" fmla="val 1009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资源配额透光反射面-226">
            <a:extLst xmlns:a="http://schemas.openxmlformats.org/drawingml/2006/main">
              <a:ext uri="{FF2B5EF4-FFF2-40B4-BE49-F238E27FC236}">
                <a16:creationId xmlns:a16="http://schemas.microsoft.com/office/drawing/2014/main" id="{EF105B71-E422-421B-8C94-F9E3744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934700" cy="714375"/>
          </a:xfrm>
          <a:custGeom xmlns:a="http://schemas.openxmlformats.org/drawingml/2006/main">
            <a:pathLst>
              <a:path w="10934700" h="714375">
                <a:moveTo>
                  <a:pt x="76200" y="0"/>
                </a:moveTo>
                <a:lnTo>
                  <a:pt x="6998208" y="0"/>
                </a:lnTo>
                <a:lnTo>
                  <a:pt x="2843022" y="714375"/>
                </a:lnTo>
                <a:lnTo>
                  <a:pt x="76200" y="714375"/>
                </a:lnTo>
                <a:cubicBezTo>
                  <a:pt x="28575" y="714375"/>
                  <a:pt x="0" y="685800"/>
                  <a:pt x="0" y="6381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资源配额边缘高光-227">
            <a:extLst xmlns:a="http://schemas.openxmlformats.org/drawingml/2006/main">
              <a:ext uri="{FF2B5EF4-FFF2-40B4-BE49-F238E27FC236}">
                <a16:creationId xmlns:a16="http://schemas.microsoft.com/office/drawing/2014/main" id="{AEDB3C97-8CB5-4B1D-A47F-EE4434F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752475"/>
          </a:xfrm>
          <a:custGeom xmlns:a="http://schemas.openxmlformats.org/drawingml/2006/main">
            <a:pathLst>
              <a:path w="10972800" h="7524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doc 规则文档-228">
            <a:extLst xmlns:a="http://schemas.openxmlformats.org/drawingml/2006/main">
              <a:ext uri="{FF2B5EF4-FFF2-40B4-BE49-F238E27FC236}">
                <a16:creationId xmlns:a16="http://schemas.microsoft.com/office/drawing/2014/main" id="{1512D83D-C179-4699-948E-F3799228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3" name="统一风格-doc 文档折角-229">
            <a:extLst xmlns:a="http://schemas.openxmlformats.org/drawingml/2006/main">
              <a:ext uri="{FF2B5EF4-FFF2-40B4-BE49-F238E27FC236}">
                <a16:creationId xmlns:a16="http://schemas.microsoft.com/office/drawing/2014/main" id="{6B3C03BD-65AB-4439-B4EE-26A6033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4" name="统一风格-doc 规则条目-230">
            <a:extLst xmlns:a="http://schemas.openxmlformats.org/drawingml/2006/main">
              <a:ext uri="{FF2B5EF4-FFF2-40B4-BE49-F238E27FC236}">
                <a16:creationId xmlns:a16="http://schemas.microsoft.com/office/drawing/2014/main" id="{7523A5DA-289C-4BFB-BB2F-8125C1D6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5" name="统一风格-文字 资源配额-231">
            <a:extLst xmlns:a="http://schemas.openxmlformats.org/drawingml/2006/main">
              <a:ext uri="{FF2B5EF4-FFF2-40B4-BE49-F238E27FC236}">
                <a16:creationId xmlns:a16="http://schemas.microsoft.com/office/drawing/2014/main" id="{5299AFED-6706-4793-B51C-8B57E12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86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资源配额</a:t>
            </a:r>
          </a:p>
        </p:txBody>
      </p:sp>
      <p:sp>
        <p:nvSpPr>
          <p:cNvPr id="16" name="统一风格-文字 创建前检查 VPC、子网和自定义路由表额度。-232">
            <a:extLst xmlns:a="http://schemas.openxmlformats.org/drawingml/2006/main">
              <a:ext uri="{FF2B5EF4-FFF2-40B4-BE49-F238E27FC236}">
                <a16:creationId xmlns:a16="http://schemas.microsoft.com/office/drawing/2014/main" id="{430A0E65-02AE-4F85-8CC7-69856F1B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95525"/>
            <a:ext cx="7753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创建前检查 VPC、子网和自定义路由表额度。</a:t>
            </a:r>
          </a:p>
        </p:txBody>
      </p:sp>
      <p:sp>
        <p:nvSpPr>
          <p:cNvPr id="17" name="统一风格-地址余量玻璃后沿-233">
            <a:extLst xmlns:a="http://schemas.openxmlformats.org/drawingml/2006/main">
              <a:ext uri="{FF2B5EF4-FFF2-40B4-BE49-F238E27FC236}">
                <a16:creationId xmlns:a16="http://schemas.microsoft.com/office/drawing/2014/main" id="{67BFC305-10E8-4AF5-AB2A-6B358634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8" name="统一风格-地址余量-234">
            <a:extLst xmlns:a="http://schemas.openxmlformats.org/drawingml/2006/main">
              <a:ext uri="{FF2B5EF4-FFF2-40B4-BE49-F238E27FC236}">
                <a16:creationId xmlns:a16="http://schemas.microsoft.com/office/drawing/2014/main" id="{60F78DEC-FDC2-47C3-B50E-E651E56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9" name="统一风格-地址余量玻璃内沿-235">
            <a:extLst xmlns:a="http://schemas.openxmlformats.org/drawingml/2006/main">
              <a:ext uri="{FF2B5EF4-FFF2-40B4-BE49-F238E27FC236}">
                <a16:creationId xmlns:a16="http://schemas.microsoft.com/office/drawing/2014/main" id="{B34AF3F3-ACA2-4AE1-BDDF-16C9B5B5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051334"/>
            <a:ext cx="10947083" cy="726758"/>
          </a:xfrm>
          <a:prstGeom xmlns:a="http://schemas.openxmlformats.org/drawingml/2006/main" prst="roundRect">
            <a:avLst>
              <a:gd name="adj" fmla="val 1009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0" name="统一风格-地址余量边缘高光-236">
            <a:extLst xmlns:a="http://schemas.openxmlformats.org/drawingml/2006/main">
              <a:ext uri="{FF2B5EF4-FFF2-40B4-BE49-F238E27FC236}">
                <a16:creationId xmlns:a16="http://schemas.microsoft.com/office/drawing/2014/main" id="{409002E2-EADC-466F-80A9-80889D7C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752475"/>
          </a:xfrm>
          <a:custGeom xmlns:a="http://schemas.openxmlformats.org/drawingml/2006/main">
            <a:pathLst>
              <a:path w="10972800" h="7524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cloud VPC 云轮廓-237">
            <a:extLst xmlns:a="http://schemas.openxmlformats.org/drawingml/2006/main">
              <a:ext uri="{FF2B5EF4-FFF2-40B4-BE49-F238E27FC236}">
                <a16:creationId xmlns:a16="http://schemas.microsoft.com/office/drawing/2014/main" id="{3FB7B3B1-AAF0-4DA7-9260-6EBC5C0D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22" name="统一风格-文字 地址余量-238">
            <a:extLst xmlns:a="http://schemas.openxmlformats.org/drawingml/2006/main">
              <a:ext uri="{FF2B5EF4-FFF2-40B4-BE49-F238E27FC236}">
                <a16:creationId xmlns:a16="http://schemas.microsoft.com/office/drawing/2014/main" id="{40F7C1CA-8D1C-4AB3-B37F-97B3F9FD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099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地址余量</a:t>
            </a:r>
          </a:p>
        </p:txBody>
      </p:sp>
      <p:sp>
        <p:nvSpPr>
          <p:cNvPr id="23" name="统一风格-文字 按网卡、云服务与扩容需求监控可用 IP。-239">
            <a:extLst xmlns:a="http://schemas.openxmlformats.org/drawingml/2006/main">
              <a:ext uri="{FF2B5EF4-FFF2-40B4-BE49-F238E27FC236}">
                <a16:creationId xmlns:a16="http://schemas.microsoft.com/office/drawing/2014/main" id="{A35A5A03-BC4A-4C6A-93ED-904F9355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7753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按网卡、云服务与扩容需求监控可用 IP。</a:t>
            </a:r>
          </a:p>
        </p:txBody>
      </p:sp>
      <p:sp>
        <p:nvSpPr>
          <p:cNvPr id="24" name="统一风格-关联依赖玻璃后沿-240">
            <a:extLst xmlns:a="http://schemas.openxmlformats.org/drawingml/2006/main">
              <a:ext uri="{FF2B5EF4-FFF2-40B4-BE49-F238E27FC236}">
                <a16:creationId xmlns:a16="http://schemas.microsoft.com/office/drawing/2014/main" id="{941E14E8-F83D-4944-97EC-8B01527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5" name="统一风格-关联依赖-241">
            <a:extLst xmlns:a="http://schemas.openxmlformats.org/drawingml/2006/main">
              <a:ext uri="{FF2B5EF4-FFF2-40B4-BE49-F238E27FC236}">
                <a16:creationId xmlns:a16="http://schemas.microsoft.com/office/drawing/2014/main" id="{53478D5F-CF94-41DA-881A-572B33B6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6" name="统一风格-关联依赖玻璃内沿-242">
            <a:extLst xmlns:a="http://schemas.openxmlformats.org/drawingml/2006/main">
              <a:ext uri="{FF2B5EF4-FFF2-40B4-BE49-F238E27FC236}">
                <a16:creationId xmlns:a16="http://schemas.microsoft.com/office/drawing/2014/main" id="{D7712902-954B-4D02-AFE9-EC38957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975259"/>
            <a:ext cx="10947083" cy="726758"/>
          </a:xfrm>
          <a:prstGeom xmlns:a="http://schemas.openxmlformats.org/drawingml/2006/main" prst="roundRect">
            <a:avLst>
              <a:gd name="adj" fmla="val 1009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7" name="统一风格-关联依赖透光反射面-243">
            <a:extLst xmlns:a="http://schemas.openxmlformats.org/drawingml/2006/main">
              <a:ext uri="{FF2B5EF4-FFF2-40B4-BE49-F238E27FC236}">
                <a16:creationId xmlns:a16="http://schemas.microsoft.com/office/drawing/2014/main" id="{39C75722-59E9-4478-9E78-A7AA921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10934700" cy="714375"/>
          </a:xfrm>
          <a:custGeom xmlns:a="http://schemas.openxmlformats.org/drawingml/2006/main">
            <a:pathLst>
              <a:path w="10934700" h="714375">
                <a:moveTo>
                  <a:pt x="76200" y="0"/>
                </a:moveTo>
                <a:lnTo>
                  <a:pt x="6998208" y="0"/>
                </a:lnTo>
                <a:lnTo>
                  <a:pt x="2843022" y="714375"/>
                </a:lnTo>
                <a:lnTo>
                  <a:pt x="76200" y="714375"/>
                </a:lnTo>
                <a:cubicBezTo>
                  <a:pt x="28575" y="714375"/>
                  <a:pt x="0" y="685800"/>
                  <a:pt x="0" y="6381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8" name="统一风格-关联依赖边缘高光-244">
            <a:extLst xmlns:a="http://schemas.openxmlformats.org/drawingml/2006/main">
              <a:ext uri="{FF2B5EF4-FFF2-40B4-BE49-F238E27FC236}">
                <a16:creationId xmlns:a16="http://schemas.microsoft.com/office/drawing/2014/main" id="{203AFDEB-2A79-43E9-AE80-AC5A033F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52475"/>
          </a:xfrm>
          <a:custGeom xmlns:a="http://schemas.openxmlformats.org/drawingml/2006/main">
            <a:pathLst>
              <a:path w="10972800" h="7524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9" name="统一风格-route-table VPC 路由表外框-245">
            <a:extLst xmlns:a="http://schemas.openxmlformats.org/drawingml/2006/main">
              <a:ext uri="{FF2B5EF4-FFF2-40B4-BE49-F238E27FC236}">
                <a16:creationId xmlns:a16="http://schemas.microsoft.com/office/drawing/2014/main" id="{46BD6DE9-CFEE-44A1-B329-B3AC60E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0" name="统一风格-route-table 路由表列与表头-246">
            <a:extLst xmlns:a="http://schemas.openxmlformats.org/drawingml/2006/main">
              <a:ext uri="{FF2B5EF4-FFF2-40B4-BE49-F238E27FC236}">
                <a16:creationId xmlns:a16="http://schemas.microsoft.com/office/drawing/2014/main" id="{DCBA6DAF-2E8F-45BA-A016-4498F0E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1" name="统一风格-route-table 目的网段条目-247">
            <a:extLst xmlns:a="http://schemas.openxmlformats.org/drawingml/2006/main">
              <a:ext uri="{FF2B5EF4-FFF2-40B4-BE49-F238E27FC236}">
                <a16:creationId xmlns:a16="http://schemas.microsoft.com/office/drawing/2014/main" id="{3D404F15-80BA-4F16-987C-CA64FE5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2" name="统一风格-route-table 下一跳箭头-248">
            <a:extLst xmlns:a="http://schemas.openxmlformats.org/drawingml/2006/main">
              <a:ext uri="{FF2B5EF4-FFF2-40B4-BE49-F238E27FC236}">
                <a16:creationId xmlns:a16="http://schemas.microsoft.com/office/drawing/2014/main" id="{ABED5619-A888-42EA-8574-2B165D1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33" name="统一风格-文字 关联依赖-249">
            <a:extLst xmlns:a="http://schemas.openxmlformats.org/drawingml/2006/main">
              <a:ext uri="{FF2B5EF4-FFF2-40B4-BE49-F238E27FC236}">
                <a16:creationId xmlns:a16="http://schemas.microsoft.com/office/drawing/2014/main" id="{865B3D97-644E-479F-8AF3-667296A9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33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关联依赖</a:t>
            </a:r>
          </a:p>
        </p:txBody>
      </p:sp>
      <p:sp>
        <p:nvSpPr>
          <p:cNvPr id="34" name="统一风格-文字 删除前检查网卡、子网、路由与服务连接。-250">
            <a:extLst xmlns:a="http://schemas.openxmlformats.org/drawingml/2006/main">
              <a:ext uri="{FF2B5EF4-FFF2-40B4-BE49-F238E27FC236}">
                <a16:creationId xmlns:a16="http://schemas.microsoft.com/office/drawing/2014/main" id="{55416C1F-B4C4-4402-81FD-F703D1B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43375"/>
            <a:ext cx="7753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删除前检查网卡、子网、路由与服务连接。</a:t>
            </a:r>
          </a:p>
        </p:txBody>
      </p:sp>
      <p:sp>
        <p:nvSpPr>
          <p:cNvPr id="35" name="统一风格-发布回滚玻璃后沿-251">
            <a:extLst xmlns:a="http://schemas.openxmlformats.org/drawingml/2006/main">
              <a:ext uri="{FF2B5EF4-FFF2-40B4-BE49-F238E27FC236}">
                <a16:creationId xmlns:a16="http://schemas.microsoft.com/office/drawing/2014/main" id="{3BF0B57B-9A48-45D3-BED7-A2DAC40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6" name="统一风格-发布回滚-252">
            <a:extLst xmlns:a="http://schemas.openxmlformats.org/drawingml/2006/main">
              <a:ext uri="{FF2B5EF4-FFF2-40B4-BE49-F238E27FC236}">
                <a16:creationId xmlns:a16="http://schemas.microsoft.com/office/drawing/2014/main" id="{B0FDA6BC-22CF-44EB-8264-2B7FB21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752475"/>
          </a:xfrm>
          <a:prstGeom xmlns:a="http://schemas.openxmlformats.org/drawingml/2006/main" prst="roundRect">
            <a:avLst>
              <a:gd name="adj" fmla="val 1139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发布回滚玻璃内沿-253">
            <a:extLst xmlns:a="http://schemas.openxmlformats.org/drawingml/2006/main">
              <a:ext uri="{FF2B5EF4-FFF2-40B4-BE49-F238E27FC236}">
                <a16:creationId xmlns:a16="http://schemas.microsoft.com/office/drawing/2014/main" id="{FF717ABB-9139-4EA3-BEB8-D7D84882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899184"/>
            <a:ext cx="10947083" cy="726758"/>
          </a:xfrm>
          <a:prstGeom xmlns:a="http://schemas.openxmlformats.org/drawingml/2006/main" prst="roundRect">
            <a:avLst>
              <a:gd name="adj" fmla="val 1009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发布回滚边缘高光-254">
            <a:extLst xmlns:a="http://schemas.openxmlformats.org/drawingml/2006/main">
              <a:ext uri="{FF2B5EF4-FFF2-40B4-BE49-F238E27FC236}">
                <a16:creationId xmlns:a16="http://schemas.microsoft.com/office/drawing/2014/main" id="{AA104DFD-00D9-47EA-AA81-7016AAA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752475"/>
          </a:xfrm>
          <a:custGeom xmlns:a="http://schemas.openxmlformats.org/drawingml/2006/main">
            <a:pathLst>
              <a:path w="10972800" h="7524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shield 安全盾-255">
            <a:extLst xmlns:a="http://schemas.openxmlformats.org/drawingml/2006/main">
              <a:ext uri="{FF2B5EF4-FFF2-40B4-BE49-F238E27FC236}">
                <a16:creationId xmlns:a16="http://schemas.microsoft.com/office/drawing/2014/main" id="{22DB604A-2517-43D4-BE78-0C50241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09575" cy="409575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0" name="统一风格-shield 核验标记-256">
            <a:extLst xmlns:a="http://schemas.openxmlformats.org/drawingml/2006/main">
              <a:ext uri="{FF2B5EF4-FFF2-40B4-BE49-F238E27FC236}">
                <a16:creationId xmlns:a16="http://schemas.microsoft.com/office/drawing/2014/main" id="{F6D5EBA5-9558-4DDF-B23E-DB06409A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09575" cy="409575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1" name="统一风格-文字 发布回滚-257">
            <a:extLst xmlns:a="http://schemas.openxmlformats.org/drawingml/2006/main">
              <a:ext uri="{FF2B5EF4-FFF2-40B4-BE49-F238E27FC236}">
                <a16:creationId xmlns:a16="http://schemas.microsoft.com/office/drawing/2014/main" id="{D137E74E-6A09-4B88-8BC4-F00EBB28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577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875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75" b="1">
                <ns0:solidFill>
                  <ns0:srgbClr val="16335F"/>
                </ns0:solidFill>
                <ns0:latin typeface="Microsoft YaHei"/>
                <ns0:ea typeface="Microsoft YaHei"/>
                <ns0:cs typeface="Microsoft YaHei"/>
              </ns0:rPr>
              <ns0:t>双栈检查</ns0:t>
            </ns0:r>
          </ns0:p>
        </p:txBody>
      </p:sp>
      <p:sp>
        <p:nvSpPr>
          <p:cNvPr id="42" name="统一风格-文字 路由与安全策略联审，保留前态并验证回程。-258">
            <a:extLst xmlns:a="http://schemas.openxmlformats.org/drawingml/2006/main">
              <a:ext uri="{FF2B5EF4-FFF2-40B4-BE49-F238E27FC236}">
                <a16:creationId xmlns:a16="http://schemas.microsoft.com/office/drawing/2014/main" id="{4A0A4F6C-5461-4C86-B9C7-DDDF97A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67300"/>
            <a:ext cx="7753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172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IPv4 / IPv6 的服务支持、路由和安全策略一起验证。</ns1:t>
            </ns1:r>
          </ns1:p>
        </p:txBody>
      </p:sp>
    </p:spTree>
    <p:extLst>
      <p:ext uri="{BB962C8B-B14F-4D97-AF65-F5344CB8AC3E}">
        <p14:creationId xmlns:p14="http://schemas.microsoft.com/office/powerpoint/2010/main" val="82104871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2D97EF87-2C0B-46B9-A96F-C663848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VPC 网络连接方式总览-260">
            <a:extLst xmlns:a="http://schemas.openxmlformats.org/drawingml/2006/main">
              <a:ext uri="{FF2B5EF4-FFF2-40B4-BE49-F238E27FC236}">
                <a16:creationId xmlns:a16="http://schemas.microsoft.com/office/drawing/2014/main" id="{3D1EC5E4-51DF-4C1B-B8F6-845EEE7D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网络连接方式总览</a:t>
            </a:r>
          </a:p>
        </p:txBody>
      </p:sp>
      <p:sp>
        <p:nvSpPr>
          <p:cNvPr id="3" name="统一风格-文字 先区分整网互联、服务访问、云下接入与公网访问-261">
            <a:extLst xmlns:a="http://schemas.openxmlformats.org/drawingml/2006/main">
              <a:ext uri="{FF2B5EF4-FFF2-40B4-BE49-F238E27FC236}">
                <a16:creationId xmlns:a16="http://schemas.microsoft.com/office/drawing/2014/main" id="{01F050DE-C822-4301-BA06-2BA3D43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先区分整网互联、服务访问、云下接入与公网访问</a:t>
            </a:r>
          </a:p>
        </p:txBody>
      </p:sp>
      <p:cxnSp>
        <p:nvCxnSpPr>
          <p:cNvPr id="4" name="网络连接-24">
            <a:extLst xmlns:a="http://schemas.openxmlformats.org/drawingml/2006/main">
              <a:ext uri="{FF2B5EF4-FFF2-40B4-BE49-F238E27FC236}">
                <a16:creationId xmlns:a16="http://schemas.microsoft.com/office/drawing/2014/main" id="{A50A4FF8-AB25-4FE5-A225-A7CE0419E1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连接服务解决可达路径。源端、目的端安全策略以及 CFW 覆盖需要另外验证。-262">
            <a:extLst xmlns:a="http://schemas.openxmlformats.org/drawingml/2006/main">
              <a:ext uri="{FF2B5EF4-FFF2-40B4-BE49-F238E27FC236}">
                <a16:creationId xmlns:a16="http://schemas.microsoft.com/office/drawing/2014/main" id="{6AEC3439-B9C1-4522-9DD4-DA46DC1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连接服务解决可达路径。源端、目的端安全策略以及 CFW 覆盖需要另外验证。</a:t>
            </a:r>
          </a:p>
        </p:txBody>
      </p:sp>
      <p:sp>
        <p:nvSpPr>
          <p:cNvPr id="6" name="正文-17">
            <a:extLst xmlns:a="http://schemas.openxmlformats.org/drawingml/2006/main">
              <a:ext uri="{FF2B5EF4-FFF2-40B4-BE49-F238E27FC236}">
                <a16:creationId xmlns:a16="http://schemas.microsoft.com/office/drawing/2014/main" id="{31F355FB-74CF-4848-BC1C-4BF77DA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17</ns1:t>
            </ns1:r>
          </ns1:p>
        </p:txBody>
      </p:sp>
      <p:sp>
        <p:nvSpPr>
          <p:cNvPr id="7" name="统一风格-路由与配置表玻璃后沿-264">
            <a:extLst xmlns:a="http://schemas.openxmlformats.org/drawingml/2006/main">
              <a:ext uri="{FF2B5EF4-FFF2-40B4-BE49-F238E27FC236}">
                <a16:creationId xmlns:a16="http://schemas.microsoft.com/office/drawing/2014/main" id="{F50CFF0F-367A-4AC6-B670-38E26E47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57400"/>
            <a:ext cx="11106150" cy="3771900"/>
          </a:xfrm>
          <a:prstGeom xmlns:a="http://schemas.openxmlformats.org/drawingml/2006/main" prst="roundRect">
            <a:avLst>
              <a:gd name="adj" fmla="val 227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路由与配置表-265">
            <a:extLst xmlns:a="http://schemas.openxmlformats.org/drawingml/2006/main">
              <a:ext uri="{FF2B5EF4-FFF2-40B4-BE49-F238E27FC236}">
                <a16:creationId xmlns:a16="http://schemas.microsoft.com/office/drawing/2014/main" id="{7FEFD7A1-EDEE-4A7F-A957-661F694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57400"/>
            <a:ext cx="11106150" cy="3771900"/>
          </a:xfrm>
          <a:prstGeom xmlns:a="http://schemas.openxmlformats.org/drawingml/2006/main" prst="roundRect">
            <a:avLst>
              <a:gd name="adj" fmla="val 227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路由与配置表玻璃内沿-266">
            <a:extLst xmlns:a="http://schemas.openxmlformats.org/drawingml/2006/main">
              <a:ext uri="{FF2B5EF4-FFF2-40B4-BE49-F238E27FC236}">
                <a16:creationId xmlns:a16="http://schemas.microsoft.com/office/drawing/2014/main" id="{DD475305-74EB-483B-9F1B-C64C0B88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70259"/>
            <a:ext cx="11080433" cy="3746183"/>
          </a:xfrm>
          <a:prstGeom xmlns:a="http://schemas.openxmlformats.org/drawingml/2006/main" prst="roundRect">
            <a:avLst>
              <a:gd name="adj" fmla="val 195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路由与配置表边缘高光-267">
            <a:extLst xmlns:a="http://schemas.openxmlformats.org/drawingml/2006/main">
              <a:ext uri="{FF2B5EF4-FFF2-40B4-BE49-F238E27FC236}">
                <a16:creationId xmlns:a16="http://schemas.microsoft.com/office/drawing/2014/main" id="{4283911B-F31E-4762-BD59-D1212EB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57400"/>
            <a:ext cx="11106150" cy="3771900"/>
          </a:xfrm>
          <a:custGeom xmlns:a="http://schemas.openxmlformats.org/drawingml/2006/main">
            <a:pathLst>
              <a:path w="11106150" h="37719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E059D-03DC-45DC-93AC-6402804F2117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333750"/>
                <a:gridCol w="5114925"/>
              </a:tblGrid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主要连接方式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VPC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子网与本地路由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检查子网关联路由和访问控制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 / ER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分别管理直连关系或集中路由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私网服务访问 / 地址转换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 / 私网 NAT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终端节点访问服务，或中转 IP 地址映射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中心网络 + ER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ER 接入中心网络并分配带宽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IDC / 分支接入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VPN / 云专线 DC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规划云下路由、地址与接入冗余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19793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公网访问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 / 公网 NAT 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核对公网暴露面与转换后的地址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6848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统一风格-文字 02  网络互联方案-11">
            <a:extLst xmlns:a="http://schemas.openxmlformats.org/drawingml/2006/main">
              <a:ext uri="{FF2B5EF4-FFF2-40B4-BE49-F238E27FC236}">
                <a16:creationId xmlns:a16="http://schemas.microsoft.com/office/drawing/2014/main" id="{ADBC00F3-057F-4CB3-B86D-FC388D9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互联选型：按访问范围和管理方式判断-12">
            <a:extLst xmlns:a="http://schemas.openxmlformats.org/drawingml/2006/main">
              <a:ext uri="{FF2B5EF4-FFF2-40B4-BE49-F238E27FC236}">
                <a16:creationId xmlns:a16="http://schemas.microsoft.com/office/drawing/2014/main" id="{89EE631C-FDEC-4773-85D8-58C2E73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互联选型：按访问范围和管理方式判断</a:t>
            </a:r>
          </a:p>
        </p:txBody>
      </p:sp>
      <p:sp>
        <p:nvSpPr>
          <p:cNvPr id="3" name="统一风格-文字 同 Region 跨 VPC 访问，先判断需要路由互通还是地址映射-13">
            <a:extLst xmlns:a="http://schemas.openxmlformats.org/drawingml/2006/main">
              <a:ext uri="{FF2B5EF4-FFF2-40B4-BE49-F238E27FC236}">
                <a16:creationId xmlns:a16="http://schemas.microsoft.com/office/drawing/2014/main" id="{4A951D33-1450-43D5-91DA-4A9A8709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跨 VPC 访问，先判断需要路由互通还是地址映射</a:t>
            </a:r>
          </a:p>
        </p:txBody>
      </p:sp>
      <p:sp>
        <p:nvSpPr>
          <p:cNvPr id="4" name="统一风格-页脚分隔线-14">
            <a:extLst xmlns:a="http://schemas.openxmlformats.org/drawingml/2006/main">
              <a:ext uri="{FF2B5EF4-FFF2-40B4-BE49-F238E27FC236}">
                <a16:creationId xmlns:a16="http://schemas.microsoft.com/office/drawing/2014/main" id="{3C51E685-E49B-4C03-BA80-0202D405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私网 NAT 选型需细分：ELB 服务映射用 DNAT，指定源 IP 访问用 SNAT，重叠网段另行设计。-15">
            <a:extLst xmlns:a="http://schemas.openxmlformats.org/drawingml/2006/main">
              <a:ext uri="{FF2B5EF4-FFF2-40B4-BE49-F238E27FC236}">
                <a16:creationId xmlns:a16="http://schemas.microsoft.com/office/drawing/2014/main" id="{F99086D9-84AC-410D-9DB8-BB4708C3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选型需细分：ELB 服务映射用 DNAT，指定源 IP 访问用 SNAT，重叠网段另行设计。</a:t>
            </a:r>
          </a:p>
        </p:txBody>
      </p:sp>
      <p:sp>
        <p:nvSpPr>
          <p:cNvPr id="6" name="统一风格-文字 19-16">
            <a:extLst xmlns:a="http://schemas.openxmlformats.org/drawingml/2006/main">
              <a:ext uri="{FF2B5EF4-FFF2-40B4-BE49-F238E27FC236}">
                <a16:creationId xmlns:a16="http://schemas.microsoft.com/office/drawing/2014/main" id="{DEDF308B-92AC-490F-A96B-A80671F7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统一风格-文字 只访问已发布的服务-17">
            <a:extLst xmlns:a="http://schemas.openxmlformats.org/drawingml/2006/main">
              <a:ext uri="{FF2B5EF4-FFF2-40B4-BE49-F238E27FC236}">
                <a16:creationId xmlns:a16="http://schemas.microsoft.com/office/drawing/2014/main" id="{176ED1D4-076A-44B6-8C99-CA91AD32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只访问已发布的服务</a:t>
            </a:r>
          </a:p>
        </p:txBody>
      </p:sp>
      <p:cxnSp>
        <p:nvCxnSpPr>
          <p:cNvPr id="8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1CD62963-90B5-4102-B642-76D03708B1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2428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9" name="统一风格-VPCEP玻璃后沿-18">
            <a:extLst xmlns:a="http://schemas.openxmlformats.org/drawingml/2006/main">
              <a:ext uri="{FF2B5EF4-FFF2-40B4-BE49-F238E27FC236}">
                <a16:creationId xmlns:a16="http://schemas.microsoft.com/office/drawing/2014/main" id="{53334E57-92A0-4ABA-AA72-4D85C462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0" name="统一风格-VPCEP-19">
            <a:extLst xmlns:a="http://schemas.openxmlformats.org/drawingml/2006/main">
              <a:ext uri="{FF2B5EF4-FFF2-40B4-BE49-F238E27FC236}">
                <a16:creationId xmlns:a16="http://schemas.microsoft.com/office/drawing/2014/main" id="{E7820DDF-05E9-40F7-B327-31D8DCB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1" name="统一风格-VPCEP玻璃内沿-20">
            <a:extLst xmlns:a="http://schemas.openxmlformats.org/drawingml/2006/main">
              <a:ext uri="{FF2B5EF4-FFF2-40B4-BE49-F238E27FC236}">
                <a16:creationId xmlns:a16="http://schemas.microsoft.com/office/drawing/2014/main" id="{7D509DAB-83E5-4588-B75B-D399EB20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2108359"/>
            <a:ext cx="6089333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2" name="统一风格-VPCEP边缘高光-21">
            <a:extLst xmlns:a="http://schemas.openxmlformats.org/drawingml/2006/main">
              <a:ext uri="{FF2B5EF4-FFF2-40B4-BE49-F238E27FC236}">
                <a16:creationId xmlns:a16="http://schemas.microsoft.com/office/drawing/2014/main" id="{6DFB729D-4EAC-42EF-8934-563C207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6115050" cy="666750"/>
          </a:xfrm>
          <a:custGeom xmlns:a="http://schemas.openxmlformats.org/drawingml/2006/main"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" name="统一风格-终端节点图标-22">
            <a:extLst xmlns:a="http://schemas.openxmlformats.org/drawingml/2006/main">
              <a:ext uri="{FF2B5EF4-FFF2-40B4-BE49-F238E27FC236}">
                <a16:creationId xmlns:a16="http://schemas.microsoft.com/office/drawing/2014/main" id="{0F3A7AC1-6A7C-4F5C-9A33-EB61585E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4" name="统一风格-终端节点服务端口-23">
            <a:extLst xmlns:a="http://schemas.openxmlformats.org/drawingml/2006/main">
              <a:ext uri="{FF2B5EF4-FFF2-40B4-BE49-F238E27FC236}">
                <a16:creationId xmlns:a16="http://schemas.microsoft.com/office/drawing/2014/main" id="{7A469B77-1BE7-499E-9EDD-B542899B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5" name="统一风格-文字 VPCEP-24">
            <a:extLst xmlns:a="http://schemas.openxmlformats.org/drawingml/2006/main">
              <a:ext uri="{FF2B5EF4-FFF2-40B4-BE49-F238E27FC236}">
                <a16:creationId xmlns:a16="http://schemas.microsoft.com/office/drawing/2014/main" id="{860920D8-6FD3-4D12-A69A-2C748C3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62175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16" name="统一风格-文字 通过终端节点接入服务入口-25">
            <a:extLst xmlns:a="http://schemas.openxmlformats.org/drawingml/2006/main">
              <a:ext uri="{FF2B5EF4-FFF2-40B4-BE49-F238E27FC236}">
                <a16:creationId xmlns:a16="http://schemas.microsoft.com/office/drawing/2014/main" id="{D286D76C-C89C-4CC4-A313-28D91907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669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通过终端节点接入服务入口</a:t>
            </a:r>
          </a:p>
        </p:txBody>
      </p:sp>
      <p:sp>
        <p:nvSpPr>
          <p:cNvPr id="17" name="统一风格-文字 同 Region 跨 VPC 地址转换-26">
            <a:extLst xmlns:a="http://schemas.openxmlformats.org/drawingml/2006/main">
              <a:ext uri="{FF2B5EF4-FFF2-40B4-BE49-F238E27FC236}">
                <a16:creationId xmlns:a16="http://schemas.microsoft.com/office/drawing/2014/main" id="{368E62A8-482D-4C13-B923-D9BF617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跨 VPC 地址转换</a:t>
            </a:r>
          </a:p>
        </p:txBody>
      </p:sp>
      <p:cxnSp>
        <p:nvCxnSpPr>
          <p:cNvPr id="18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90C3A48F-51B5-476D-893A-9DFFC665EB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3190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19" name="统一风格-私网 NAT玻璃后沿-27">
            <a:extLst xmlns:a="http://schemas.openxmlformats.org/drawingml/2006/main">
              <a:ext uri="{FF2B5EF4-FFF2-40B4-BE49-F238E27FC236}">
                <a16:creationId xmlns:a16="http://schemas.microsoft.com/office/drawing/2014/main" id="{BBE132AF-B108-48C5-8E93-F659029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0" name="统一风格-私网 NAT-28">
            <a:extLst xmlns:a="http://schemas.openxmlformats.org/drawingml/2006/main">
              <a:ext uri="{FF2B5EF4-FFF2-40B4-BE49-F238E27FC236}">
                <a16:creationId xmlns:a16="http://schemas.microsoft.com/office/drawing/2014/main" id="{963CBD0B-6227-4674-843E-62C81109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1" name="统一风格-私网 NAT玻璃内沿-29">
            <a:extLst xmlns:a="http://schemas.openxmlformats.org/drawingml/2006/main">
              <a:ext uri="{FF2B5EF4-FFF2-40B4-BE49-F238E27FC236}">
                <a16:creationId xmlns:a16="http://schemas.microsoft.com/office/drawing/2014/main" id="{06DE6B12-3837-4E1A-98F4-7209BC5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2870359"/>
            <a:ext cx="6089333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2" name="统一风格-私网 NAT边缘高光-30">
            <a:extLst xmlns:a="http://schemas.openxmlformats.org/drawingml/2006/main">
              <a:ext uri="{FF2B5EF4-FFF2-40B4-BE49-F238E27FC236}">
                <a16:creationId xmlns:a16="http://schemas.microsoft.com/office/drawing/2014/main" id="{0E94DC26-6052-4D64-9345-B2623AB3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6115050" cy="666750"/>
          </a:xfrm>
          <a:custGeom xmlns:a="http://schemas.openxmlformats.org/drawingml/2006/main"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nat NAT 网关-31">
            <a:extLst xmlns:a="http://schemas.openxmlformats.org/drawingml/2006/main">
              <a:ext uri="{FF2B5EF4-FFF2-40B4-BE49-F238E27FC236}">
                <a16:creationId xmlns:a16="http://schemas.microsoft.com/office/drawing/2014/main" id="{388D610F-A0D0-4F69-9389-402561A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0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4" name="统一风格-nat 地址转换-32">
            <a:extLst xmlns:a="http://schemas.openxmlformats.org/drawingml/2006/main">
              <a:ext uri="{FF2B5EF4-FFF2-40B4-BE49-F238E27FC236}">
                <a16:creationId xmlns:a16="http://schemas.microsoft.com/office/drawing/2014/main" id="{E5A664F6-C738-48F5-B021-24EA304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0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5" name="统一风格-文字 私网 NAT-33">
            <a:extLst xmlns:a="http://schemas.openxmlformats.org/drawingml/2006/main">
              <a:ext uri="{FF2B5EF4-FFF2-40B4-BE49-F238E27FC236}">
                <a16:creationId xmlns:a16="http://schemas.microsoft.com/office/drawing/2014/main" id="{B2BB6702-72EC-4D0B-B245-21DC6981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6" name="统一风格-文字 DNAT 映射 ELB，SNAT 统一访问源 IP-34">
            <a:extLst xmlns:a="http://schemas.openxmlformats.org/drawingml/2006/main">
              <a:ext uri="{FF2B5EF4-FFF2-40B4-BE49-F238E27FC236}">
                <a16:creationId xmlns:a16="http://schemas.microsoft.com/office/drawing/2014/main" id="{5D2C3C5C-A166-45BF-873B-D255BD0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289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 映射 ELB，SNAT 统一访问源 IP</a:t>
            </a:r>
          </a:p>
        </p:txBody>
      </p:sp>
      <p:sp>
        <p:nvSpPr>
          <p:cNvPr id="27" name="统一风格-文字 同 Region 少量 VPC 互访-35">
            <a:extLst xmlns:a="http://schemas.openxmlformats.org/drawingml/2006/main">
              <a:ext uri="{FF2B5EF4-FFF2-40B4-BE49-F238E27FC236}">
                <a16:creationId xmlns:a16="http://schemas.microsoft.com/office/drawing/2014/main" id="{D30B171F-97BE-43ED-998D-F7DEB0A2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少量 VPC 互访</a:t>
            </a:r>
          </a:p>
        </p:txBody>
      </p:sp>
      <p:cxnSp>
        <p:nvCxnSpPr>
          <p:cNvPr id="28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FCC8A564-9D16-41D6-9652-186D846010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3952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29" name="统一风格-对等连接玻璃后沿-36">
            <a:extLst xmlns:a="http://schemas.openxmlformats.org/drawingml/2006/main">
              <a:ext uri="{FF2B5EF4-FFF2-40B4-BE49-F238E27FC236}">
                <a16:creationId xmlns:a16="http://schemas.microsoft.com/office/drawing/2014/main" id="{1EB37383-884D-4EA7-9137-F65C4867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0" name="统一风格-对等连接-37">
            <a:extLst xmlns:a="http://schemas.openxmlformats.org/drawingml/2006/main">
              <a:ext uri="{FF2B5EF4-FFF2-40B4-BE49-F238E27FC236}">
                <a16:creationId xmlns:a16="http://schemas.microsoft.com/office/drawing/2014/main" id="{BCEF0454-B5E1-487E-867D-CA318F5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1" name="统一风格-对等连接玻璃内沿-38">
            <a:extLst xmlns:a="http://schemas.openxmlformats.org/drawingml/2006/main">
              <a:ext uri="{FF2B5EF4-FFF2-40B4-BE49-F238E27FC236}">
                <a16:creationId xmlns:a16="http://schemas.microsoft.com/office/drawing/2014/main" id="{243720AB-D556-48EE-862C-075FACA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3632359"/>
            <a:ext cx="6089333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2" name="统一风格-对等连接边缘高光-39">
            <a:extLst xmlns:a="http://schemas.openxmlformats.org/drawingml/2006/main">
              <a:ext uri="{FF2B5EF4-FFF2-40B4-BE49-F238E27FC236}">
                <a16:creationId xmlns:a16="http://schemas.microsoft.com/office/drawing/2014/main" id="{6256F9BB-ACE9-4046-9015-9475B4F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6115050" cy="666750"/>
          </a:xfrm>
          <a:custGeom xmlns:a="http://schemas.openxmlformats.org/drawingml/2006/main"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统一风格-对等连接图标-40">
            <a:extLst xmlns:a="http://schemas.openxmlformats.org/drawingml/2006/main">
              <a:ext uri="{FF2B5EF4-FFF2-40B4-BE49-F238E27FC236}">
                <a16:creationId xmlns:a16="http://schemas.microsoft.com/office/drawing/2014/main" id="{45808E98-7149-4356-966B-5C03B63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52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4" name="统一风格-文字 对等连接-41">
            <a:extLst xmlns:a="http://schemas.openxmlformats.org/drawingml/2006/main">
              <a:ext uri="{FF2B5EF4-FFF2-40B4-BE49-F238E27FC236}">
                <a16:creationId xmlns:a16="http://schemas.microsoft.com/office/drawing/2014/main" id="{457B3B77-CE70-44EB-A49E-4EE9F5B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6175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35" name="统一风格-文字 维护两端路由与连接关系-42">
            <a:extLst xmlns:a="http://schemas.openxmlformats.org/drawingml/2006/main">
              <a:ext uri="{FF2B5EF4-FFF2-40B4-BE49-F238E27FC236}">
                <a16:creationId xmlns:a16="http://schemas.microsoft.com/office/drawing/2014/main" id="{5DF3F2BD-3654-4565-8B06-96625BC9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909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维护两端路由与连接关系</a:t>
            </a:r>
          </a:p>
        </p:txBody>
      </p:sp>
      <p:sp>
        <p:nvSpPr>
          <p:cNvPr id="36" name="统一风格-文字 同 Region 多 VPC 集中组网-43">
            <a:extLst xmlns:a="http://schemas.openxmlformats.org/drawingml/2006/main">
              <a:ext uri="{FF2B5EF4-FFF2-40B4-BE49-F238E27FC236}">
                <a16:creationId xmlns:a16="http://schemas.microsoft.com/office/drawing/2014/main" id="{9F5609AE-8B6E-46F2-BE68-EF52DAF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多 VPC 集中组网</a:t>
            </a:r>
          </a:p>
        </p:txBody>
      </p:sp>
      <p:cxnSp>
        <p:nvCxnSpPr>
          <p:cNvPr id="37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97440076-EBE2-4C79-A2F5-7D7F1D3CDC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4714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38" name="统一风格-ER玻璃后沿-44">
            <a:extLst xmlns:a="http://schemas.openxmlformats.org/drawingml/2006/main">
              <a:ext uri="{FF2B5EF4-FFF2-40B4-BE49-F238E27FC236}">
                <a16:creationId xmlns:a16="http://schemas.microsoft.com/office/drawing/2014/main" id="{7626332B-E41F-498E-8AD7-BB1D2D9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9" name="统一风格-ER-45">
            <a:extLst xmlns:a="http://schemas.openxmlformats.org/drawingml/2006/main">
              <a:ext uri="{FF2B5EF4-FFF2-40B4-BE49-F238E27FC236}">
                <a16:creationId xmlns:a16="http://schemas.microsoft.com/office/drawing/2014/main" id="{A512D225-4CD2-4B7A-B84B-487A8CA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0" name="统一风格-ER玻璃内沿-46">
            <a:extLst xmlns:a="http://schemas.openxmlformats.org/drawingml/2006/main">
              <a:ext uri="{FF2B5EF4-FFF2-40B4-BE49-F238E27FC236}">
                <a16:creationId xmlns:a16="http://schemas.microsoft.com/office/drawing/2014/main" id="{BAC68A4A-BFFA-43FD-A926-5F49144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4394359"/>
            <a:ext cx="6089333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1" name="统一风格-ER边缘高光-47">
            <a:extLst xmlns:a="http://schemas.openxmlformats.org/drawingml/2006/main">
              <a:ext uri="{FF2B5EF4-FFF2-40B4-BE49-F238E27FC236}">
                <a16:creationId xmlns:a16="http://schemas.microsoft.com/office/drawing/2014/main" id="{C205E81B-FAED-426D-ADBD-B3CE0099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6115050" cy="666750"/>
          </a:xfrm>
          <a:custGeom xmlns:a="http://schemas.openxmlformats.org/drawingml/2006/main"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2" name="统一风格-router ER 路由器外形-48">
            <a:extLst xmlns:a="http://schemas.openxmlformats.org/drawingml/2006/main">
              <a:ext uri="{FF2B5EF4-FFF2-40B4-BE49-F238E27FC236}">
                <a16:creationId xmlns:a16="http://schemas.microsoft.com/office/drawing/2014/main" id="{E4609621-186F-46CA-8047-7600672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43" name="统一风格-router ER 四向路由-49">
            <a:extLst xmlns:a="http://schemas.openxmlformats.org/drawingml/2006/main">
              <a:ext uri="{FF2B5EF4-FFF2-40B4-BE49-F238E27FC236}">
                <a16:creationId xmlns:a16="http://schemas.microsoft.com/office/drawing/2014/main" id="{912279C7-48B7-467F-8EC9-7CD51E5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44" name="统一风格-文字 ER-50">
            <a:extLst xmlns:a="http://schemas.openxmlformats.org/drawingml/2006/main">
              <a:ext uri="{FF2B5EF4-FFF2-40B4-BE49-F238E27FC236}">
                <a16:creationId xmlns:a16="http://schemas.microsoft.com/office/drawing/2014/main" id="{A1BB3A7C-D3DD-4B3B-893A-8AF2DFF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48175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45" name="统一风格-文字 集中管理路由域和连接-51">
            <a:extLst xmlns:a="http://schemas.openxmlformats.org/drawingml/2006/main">
              <a:ext uri="{FF2B5EF4-FFF2-40B4-BE49-F238E27FC236}">
                <a16:creationId xmlns:a16="http://schemas.microsoft.com/office/drawing/2014/main" id="{293BE825-D426-4DAA-98E6-0D8A54E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集中管理路由域和连接</a:t>
            </a:r>
          </a:p>
        </p:txBody>
      </p:sp>
      <p:sp>
        <p:nvSpPr>
          <p:cNvPr id="46" name="统一风格-文字 不同 Region 的 VPC 互访-52">
            <a:extLst xmlns:a="http://schemas.openxmlformats.org/drawingml/2006/main">
              <a:ext uri="{FF2B5EF4-FFF2-40B4-BE49-F238E27FC236}">
                <a16:creationId xmlns:a16="http://schemas.microsoft.com/office/drawing/2014/main" id="{D190B4E2-D19C-4E59-9CD3-94D7EF8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Region 的 VPC 互访</a:t>
            </a:r>
          </a:p>
        </p:txBody>
      </p:sp>
      <p:cxnSp>
        <p:nvCxnSpPr>
          <p:cNvPr id="47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69F491A9-CD23-462D-B3EB-E8F80B6C16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5476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48" name="统一风格-CC 中心网络 + ER玻璃后沿-53">
            <a:extLst xmlns:a="http://schemas.openxmlformats.org/drawingml/2006/main">
              <a:ext uri="{FF2B5EF4-FFF2-40B4-BE49-F238E27FC236}">
                <a16:creationId xmlns:a16="http://schemas.microsoft.com/office/drawing/2014/main" id="{9BFE96E1-8E4A-430A-964A-9C5FCFE4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43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9" name="统一风格-CC 中心网络 + ER-54">
            <a:extLst xmlns:a="http://schemas.openxmlformats.org/drawingml/2006/main">
              <a:ext uri="{FF2B5EF4-FFF2-40B4-BE49-F238E27FC236}">
                <a16:creationId xmlns:a16="http://schemas.microsoft.com/office/drawing/2014/main" id="{69772538-E599-4D16-93D3-F660B9B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43500"/>
            <a:ext cx="6115050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0" name="统一风格-CC 中心网络 + ER玻璃内沿-55">
            <a:extLst xmlns:a="http://schemas.openxmlformats.org/drawingml/2006/main">
              <a:ext uri="{FF2B5EF4-FFF2-40B4-BE49-F238E27FC236}">
                <a16:creationId xmlns:a16="http://schemas.microsoft.com/office/drawing/2014/main" id="{A9FCB72B-1327-4513-92A9-FE222429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09" y="5156359"/>
            <a:ext cx="6089333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1" name="统一风格-CC 中心网络 + ER边缘高光-56">
            <a:extLst xmlns:a="http://schemas.openxmlformats.org/drawingml/2006/main">
              <a:ext uri="{FF2B5EF4-FFF2-40B4-BE49-F238E27FC236}">
                <a16:creationId xmlns:a16="http://schemas.microsoft.com/office/drawing/2014/main" id="{229930C3-A6B7-46B1-A689-70BADA9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43500"/>
            <a:ext cx="6115050" cy="666750"/>
          </a:xfrm>
          <a:custGeom xmlns:a="http://schemas.openxmlformats.org/drawingml/2006/main"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2" name="统一风格-中心网络枢纽-57">
            <a:extLst xmlns:a="http://schemas.openxmlformats.org/drawingml/2006/main">
              <a:ext uri="{FF2B5EF4-FFF2-40B4-BE49-F238E27FC236}">
                <a16:creationId xmlns:a16="http://schemas.microsoft.com/office/drawing/2014/main" id="{CD7DEF0E-0172-4C6C-A2EB-C1CFD23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3" name="统一风格-区域连接点-58">
            <a:extLst xmlns:a="http://schemas.openxmlformats.org/drawingml/2006/main">
              <a:ext uri="{FF2B5EF4-FFF2-40B4-BE49-F238E27FC236}">
                <a16:creationId xmlns:a16="http://schemas.microsoft.com/office/drawing/2014/main" id="{FF8DD533-92B4-4D8A-BA62-85C3EDE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4" name="统一风格-区域连接点-59">
            <a:extLst xmlns:a="http://schemas.openxmlformats.org/drawingml/2006/main">
              <a:ext uri="{FF2B5EF4-FFF2-40B4-BE49-F238E27FC236}">
                <a16:creationId xmlns:a16="http://schemas.microsoft.com/office/drawing/2014/main" id="{174689F8-EEFC-40C6-9380-205880BD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5" name="统一风格-区域连接点-60">
            <a:extLst xmlns:a="http://schemas.openxmlformats.org/drawingml/2006/main">
              <a:ext uri="{FF2B5EF4-FFF2-40B4-BE49-F238E27FC236}">
                <a16:creationId xmlns:a16="http://schemas.microsoft.com/office/drawing/2014/main" id="{963AA177-FC30-4770-8C27-A6F1A85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6" name="统一风格-区域连接点-61">
            <a:extLst xmlns:a="http://schemas.openxmlformats.org/drawingml/2006/main">
              <a:ext uri="{FF2B5EF4-FFF2-40B4-BE49-F238E27FC236}">
                <a16:creationId xmlns:a16="http://schemas.microsoft.com/office/drawing/2014/main" id="{309A3364-009F-4E45-8217-14BA492F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57" name="统一风格-文字 CC 中心网络 + ER-62">
            <a:extLst xmlns:a="http://schemas.openxmlformats.org/drawingml/2006/main">
              <a:ext uri="{FF2B5EF4-FFF2-40B4-BE49-F238E27FC236}">
                <a16:creationId xmlns:a16="http://schemas.microsoft.com/office/drawing/2014/main" id="{67ACCF73-12BB-41FF-9E39-EE631B4B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0175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CC 中心网络 + ER</a:t>
            </a:r>
          </a:p>
        </p:txBody>
      </p:sp>
      <p:sp>
        <p:nvSpPr>
          <p:cNvPr id="58" name="统一风格-文字 规划区域互联策略与带宽-63">
            <a:extLst xmlns:a="http://schemas.openxmlformats.org/drawingml/2006/main">
              <a:ext uri="{FF2B5EF4-FFF2-40B4-BE49-F238E27FC236}">
                <a16:creationId xmlns:a16="http://schemas.microsoft.com/office/drawing/2014/main" id="{12E97074-35B0-4A99-B486-A9B119BC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14975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规划区域互联策略与带宽</a:t>
            </a:r>
          </a:p>
        </p:txBody>
      </p:sp>
    </p:spTree>
    <p:extLst>
      <p:ext uri="{BB962C8B-B14F-4D97-AF65-F5344CB8AC3E}">
        <p14:creationId xmlns:p14="http://schemas.microsoft.com/office/powerpoint/2010/main" val="20548235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985F930E-E6B4-4760-8049-9ACC4E4F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对等连接案例：同 Region 的应用访问数据库-317">
            <a:extLst xmlns:a="http://schemas.openxmlformats.org/drawingml/2006/main">
              <a:ext uri="{FF2B5EF4-FFF2-40B4-BE49-F238E27FC236}">
                <a16:creationId xmlns:a16="http://schemas.microsoft.com/office/drawing/2014/main" id="{121F5265-BA74-4D4E-8660-8C235244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对等连接案例：同 Region 的应用访问数据库</a:t>
            </a:r>
          </a:p>
        </p:txBody>
      </p:sp>
      <p:sp>
        <p:nvSpPr>
          <p:cNvPr id="3" name="统一风格-文字 应用 VPC 与数据 VPC 建立 Peering-AB，两端路由分别指向该连接-318">
            <a:extLst xmlns:a="http://schemas.openxmlformats.org/drawingml/2006/main">
              <a:ext uri="{FF2B5EF4-FFF2-40B4-BE49-F238E27FC236}">
                <a16:creationId xmlns:a16="http://schemas.microsoft.com/office/drawing/2014/main" id="{BC46A29A-8226-47E7-B017-F8E192C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Peering-AB 承载双向路由；仅授权 10.50.1.10/32 访问目标的 TCP 3306</ns0:t>
            </ns0:r>
          </ns0:p>
        </p:txBody>
      </p:sp>
      <p:cxnSp>
        <p:nvCxnSpPr>
          <p:cNvPr id="4" name="网络连接-30">
            <a:extLst xmlns:a="http://schemas.openxmlformats.org/drawingml/2006/main">
              <a:ext uri="{FF2B5EF4-FFF2-40B4-BE49-F238E27FC236}">
                <a16:creationId xmlns:a16="http://schemas.microsoft.com/office/drawing/2014/main" id="{F65C8172-493B-4490-B956-2C97230274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正文-配置示例：仅批准应用主机访问数据库 TCP 3306，路由可达范围与业务授权范围分别管理。">
            <a:extLst xmlns:a="http://schemas.openxmlformats.org/drawingml/2006/main">
              <a:ext uri="{FF2B5EF4-FFF2-40B4-BE49-F238E27FC236}">
                <a16:creationId xmlns:a16="http://schemas.microsoft.com/office/drawing/2014/main" id="{BC0D345B-108D-4DBB-AF5C-66DC6C8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配置示例：仅批准应用主机访问数据库 TCP 3306，路由可达范围与业务授权范围分别管理。</ns0:t>
            </ns0:r>
          </ns0:p>
        </p:txBody>
      </p:sp>
      <p:sp>
        <p:nvSpPr>
          <p:cNvPr id="6" name="正文-21">
            <a:extLst xmlns:a="http://schemas.openxmlformats.org/drawingml/2006/main">
              <a:ext uri="{FF2B5EF4-FFF2-40B4-BE49-F238E27FC236}">
                <a16:creationId xmlns:a16="http://schemas.microsoft.com/office/drawing/2014/main" id="{55CC967E-49AC-4F8A-8EE6-39115625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21</ns1:t>
            </ns1:r>
          </ns1:p>
        </p:txBody>
      </p:sp>
      <p:sp>
        <p:nvSpPr>
          <p:cNvPr id="7" name="统一风格-应用VPC玻璃后沿-321">
            <a:extLst xmlns:a="http://schemas.openxmlformats.org/drawingml/2006/main">
              <a:ext uri="{FF2B5EF4-FFF2-40B4-BE49-F238E27FC236}">
                <a16:creationId xmlns:a16="http://schemas.microsoft.com/office/drawing/2014/main" id="{2CA8B482-A594-459E-8935-338CD45D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133850" cy="2076450"/>
          </a:xfrm>
          <a:prstGeom xmlns:a="http://schemas.openxmlformats.org/drawingml/2006/main" prst="roundRect">
            <a:avLst>
              <a:gd name="adj" fmla="val 412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应用VPC-322">
            <a:extLst xmlns:a="http://schemas.openxmlformats.org/drawingml/2006/main">
              <a:ext uri="{FF2B5EF4-FFF2-40B4-BE49-F238E27FC236}">
                <a16:creationId xmlns:a16="http://schemas.microsoft.com/office/drawing/2014/main" id="{2E73EB68-321E-4772-9B0B-3F03666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133850" cy="2076450"/>
          </a:xfrm>
          <a:prstGeom xmlns:a="http://schemas.openxmlformats.org/drawingml/2006/main" prst="roundRect">
            <a:avLst>
              <a:gd name="adj" fmla="val 412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应用VPC玻璃内沿-323">
            <a:extLst xmlns:a="http://schemas.openxmlformats.org/drawingml/2006/main">
              <a:ext uri="{FF2B5EF4-FFF2-40B4-BE49-F238E27FC236}">
                <a16:creationId xmlns:a16="http://schemas.microsoft.com/office/drawing/2014/main" id="{C61659A0-E904-465D-B556-216D74AC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55984"/>
            <a:ext cx="4108133" cy="2050733"/>
          </a:xfrm>
          <a:prstGeom xmlns:a="http://schemas.openxmlformats.org/drawingml/2006/main" prst="roundRect">
            <a:avLst>
              <a:gd name="adj" fmla="val 35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应用VPC边缘高光-324">
            <a:extLst xmlns:a="http://schemas.openxmlformats.org/drawingml/2006/main">
              <a:ext uri="{FF2B5EF4-FFF2-40B4-BE49-F238E27FC236}">
                <a16:creationId xmlns:a16="http://schemas.microsoft.com/office/drawing/2014/main" id="{C1F12628-0221-4D45-8157-18A41C4F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133850" cy="2076450"/>
          </a:xfrm>
          <a:custGeom xmlns:a="http://schemas.openxmlformats.org/drawingml/2006/main"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325">
            <a:extLst xmlns:a="http://schemas.openxmlformats.org/drawingml/2006/main">
              <a:ext uri="{FF2B5EF4-FFF2-40B4-BE49-F238E27FC236}">
                <a16:creationId xmlns:a16="http://schemas.microsoft.com/office/drawing/2014/main" id="{0856DEFD-EB47-4D26-A4AC-F233CF8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12" name="统一风格-文字 应用 VPC-326">
            <a:extLst xmlns:a="http://schemas.openxmlformats.org/drawingml/2006/main">
              <a:ext uri="{FF2B5EF4-FFF2-40B4-BE49-F238E27FC236}">
                <a16:creationId xmlns:a16="http://schemas.microsoft.com/office/drawing/2014/main" id="{263E76E8-70C5-4195-A29B-D96E8FA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43150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3" name="统一风格-文字 10.50.0.0/16-327">
            <a:extLst xmlns:a="http://schemas.openxmlformats.org/drawingml/2006/main">
              <a:ext uri="{FF2B5EF4-FFF2-40B4-BE49-F238E27FC236}">
                <a16:creationId xmlns:a16="http://schemas.microsoft.com/office/drawing/2014/main" id="{2438B54D-C03C-46A6-933A-E308BB34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765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10.50.0.0/16</a:t>
            </a:r>
          </a:p>
        </p:txBody>
      </p:sp>
      <p:sp>
        <p:nvSpPr>
          <p:cNvPr id="14" name="统一风格-应用 ECS玻璃后沿-328">
            <a:extLst xmlns:a="http://schemas.openxmlformats.org/drawingml/2006/main">
              <a:ext uri="{FF2B5EF4-FFF2-40B4-BE49-F238E27FC236}">
                <a16:creationId xmlns:a16="http://schemas.microsoft.com/office/drawing/2014/main" id="{EFB8FD71-694F-4FDF-A06A-92347B57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3743325" cy="885825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统一风格-应用 ECS-329">
            <a:extLst xmlns:a="http://schemas.openxmlformats.org/drawingml/2006/main">
              <a:ext uri="{FF2B5EF4-FFF2-40B4-BE49-F238E27FC236}">
                <a16:creationId xmlns:a16="http://schemas.microsoft.com/office/drawing/2014/main" id="{3A3C27B4-6074-4D16-BB5F-3C22EAB1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3743325" cy="885825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" name="统一风格-应用 ECS玻璃内沿-330">
            <a:extLst xmlns:a="http://schemas.openxmlformats.org/drawingml/2006/main">
              <a:ext uri="{FF2B5EF4-FFF2-40B4-BE49-F238E27FC236}">
                <a16:creationId xmlns:a16="http://schemas.microsoft.com/office/drawing/2014/main" id="{9550F238-4F72-4FCF-8C61-BDCBB07F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3127534"/>
            <a:ext cx="3717608" cy="860108"/>
          </a:xfrm>
          <a:prstGeom xmlns:a="http://schemas.openxmlformats.org/drawingml/2006/main" prst="roundRect">
            <a:avLst>
              <a:gd name="adj" fmla="val 852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7" name="统一风格-应用 ECS透光反射面-331">
            <a:extLst xmlns:a="http://schemas.openxmlformats.org/drawingml/2006/main">
              <a:ext uri="{FF2B5EF4-FFF2-40B4-BE49-F238E27FC236}">
                <a16:creationId xmlns:a16="http://schemas.microsoft.com/office/drawing/2014/main" id="{CA47F779-B85D-4269-9E63-E6258A4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705225" cy="847725"/>
          </a:xfrm>
          <a:custGeom xmlns:a="http://schemas.openxmlformats.org/drawingml/2006/main"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8" name="统一风格-应用 ECS边缘高光-332">
            <a:extLst xmlns:a="http://schemas.openxmlformats.org/drawingml/2006/main">
              <a:ext uri="{FF2B5EF4-FFF2-40B4-BE49-F238E27FC236}">
                <a16:creationId xmlns:a16="http://schemas.microsoft.com/office/drawing/2014/main" id="{4ECD747F-D881-4CA2-89D8-E8B45561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3743325" cy="885825"/>
          </a:xfrm>
          <a:custGeom xmlns:a="http://schemas.openxmlformats.org/drawingml/2006/main"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" name="统一风格-server 服务器机架-333">
            <a:extLst xmlns:a="http://schemas.openxmlformats.org/drawingml/2006/main">
              <a:ext uri="{FF2B5EF4-FFF2-40B4-BE49-F238E27FC236}">
                <a16:creationId xmlns:a16="http://schemas.microsoft.com/office/drawing/2014/main" id="{5C0744AE-61FC-4197-B8AF-3D57E76E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0" name="统一风格-server 机架状态-334">
            <a:extLst xmlns:a="http://schemas.openxmlformats.org/drawingml/2006/main">
              <a:ext uri="{FF2B5EF4-FFF2-40B4-BE49-F238E27FC236}">
                <a16:creationId xmlns:a16="http://schemas.microsoft.com/office/drawing/2014/main" id="{EFC2F82F-A058-4B23-9493-767E960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1" name="统一风格-server 指示灯-335">
            <a:extLst xmlns:a="http://schemas.openxmlformats.org/drawingml/2006/main">
              <a:ext uri="{FF2B5EF4-FFF2-40B4-BE49-F238E27FC236}">
                <a16:creationId xmlns:a16="http://schemas.microsoft.com/office/drawing/2014/main" id="{B4F7CD35-2276-40D4-9571-B478EC6D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" name="统一风格-server 服务器机架-336">
            <a:extLst xmlns:a="http://schemas.openxmlformats.org/drawingml/2006/main">
              <a:ext uri="{FF2B5EF4-FFF2-40B4-BE49-F238E27FC236}">
                <a16:creationId xmlns:a16="http://schemas.microsoft.com/office/drawing/2014/main" id="{24CE7B08-8F14-4FF0-9220-6FBF51E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3" name="统一风格-server 机架状态-337">
            <a:extLst xmlns:a="http://schemas.openxmlformats.org/drawingml/2006/main">
              <a:ext uri="{FF2B5EF4-FFF2-40B4-BE49-F238E27FC236}">
                <a16:creationId xmlns:a16="http://schemas.microsoft.com/office/drawing/2014/main" id="{A5FAAA82-36B6-44B9-9EA4-3E52641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4" name="统一风格-server 指示灯-338">
            <a:extLst xmlns:a="http://schemas.openxmlformats.org/drawingml/2006/main">
              <a:ext uri="{FF2B5EF4-FFF2-40B4-BE49-F238E27FC236}">
                <a16:creationId xmlns:a16="http://schemas.microsoft.com/office/drawing/2014/main" id="{36909545-AFD8-4B87-889C-6107C01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" name="统一风格-server 服务器机架-339">
            <a:extLst xmlns:a="http://schemas.openxmlformats.org/drawingml/2006/main">
              <a:ext uri="{FF2B5EF4-FFF2-40B4-BE49-F238E27FC236}">
                <a16:creationId xmlns:a16="http://schemas.microsoft.com/office/drawing/2014/main" id="{83A4C2F3-21E6-4C69-8893-4D4C18C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6" name="统一风格-server 机架状态-340">
            <a:extLst xmlns:a="http://schemas.openxmlformats.org/drawingml/2006/main">
              <a:ext uri="{FF2B5EF4-FFF2-40B4-BE49-F238E27FC236}">
                <a16:creationId xmlns:a16="http://schemas.microsoft.com/office/drawing/2014/main" id="{26FE5958-F1FE-444C-BB47-A58788DD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7" name="统一风格-server 指示灯-341">
            <a:extLst xmlns:a="http://schemas.openxmlformats.org/drawingml/2006/main">
              <a:ext uri="{FF2B5EF4-FFF2-40B4-BE49-F238E27FC236}">
                <a16:creationId xmlns:a16="http://schemas.microsoft.com/office/drawing/2014/main" id="{1CEFDA76-39DF-4753-9617-9AB5F61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" name="统一风格-文字 应用 ECS-342">
            <a:extLst xmlns:a="http://schemas.openxmlformats.org/drawingml/2006/main">
              <a:ext uri="{FF2B5EF4-FFF2-40B4-BE49-F238E27FC236}">
                <a16:creationId xmlns:a16="http://schemas.microsoft.com/office/drawing/2014/main" id="{3A4FEC7E-C771-4E5C-AE44-2E0DBC40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575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</a:t>
            </a:r>
          </a:p>
        </p:txBody>
      </p:sp>
      <p:sp>
        <p:nvSpPr>
          <p:cNvPr id="29" name="统一风格-文字 10.50.1.10-343">
            <a:extLst xmlns:a="http://schemas.openxmlformats.org/drawingml/2006/main">
              <a:ext uri="{FF2B5EF4-FFF2-40B4-BE49-F238E27FC236}">
                <a16:creationId xmlns:a16="http://schemas.microsoft.com/office/drawing/2014/main" id="{8066CC4A-154C-42E1-B7A5-C6D501C8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9975"/>
            <a:ext cx="2895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10.50.1.10</a:t>
            </a:r>
          </a:p>
        </p:txBody>
      </p:sp>
      <p:sp>
        <p:nvSpPr>
          <p:cNvPr id="30" name="统一风格-数据VPC玻璃后沿-344">
            <a:extLst xmlns:a="http://schemas.openxmlformats.org/drawingml/2006/main">
              <a:ext uri="{FF2B5EF4-FFF2-40B4-BE49-F238E27FC236}">
                <a16:creationId xmlns:a16="http://schemas.microsoft.com/office/drawing/2014/main" id="{D1B810FB-E1C7-4097-B2B1-6934AF96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4133850" cy="2076450"/>
          </a:xfrm>
          <a:prstGeom xmlns:a="http://schemas.openxmlformats.org/drawingml/2006/main" prst="roundRect">
            <a:avLst>
              <a:gd name="adj" fmla="val 412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数据VPC-345">
            <a:extLst xmlns:a="http://schemas.openxmlformats.org/drawingml/2006/main">
              <a:ext uri="{FF2B5EF4-FFF2-40B4-BE49-F238E27FC236}">
                <a16:creationId xmlns:a16="http://schemas.microsoft.com/office/drawing/2014/main" id="{99F0D73E-7768-4801-B68C-D931187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4133850" cy="2076450"/>
          </a:xfrm>
          <a:prstGeom xmlns:a="http://schemas.openxmlformats.org/drawingml/2006/main" prst="roundRect">
            <a:avLst>
              <a:gd name="adj" fmla="val 412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数据VPC玻璃内沿-346">
            <a:extLst xmlns:a="http://schemas.openxmlformats.org/drawingml/2006/main">
              <a:ext uri="{FF2B5EF4-FFF2-40B4-BE49-F238E27FC236}">
                <a16:creationId xmlns:a16="http://schemas.microsoft.com/office/drawing/2014/main" id="{FB823831-0CEC-4EF8-88F1-AA9E0DD8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09" y="2155984"/>
            <a:ext cx="4108133" cy="2050733"/>
          </a:xfrm>
          <a:prstGeom xmlns:a="http://schemas.openxmlformats.org/drawingml/2006/main" prst="roundRect">
            <a:avLst>
              <a:gd name="adj" fmla="val 35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数据VPC边缘高光-347">
            <a:extLst xmlns:a="http://schemas.openxmlformats.org/drawingml/2006/main">
              <a:ext uri="{FF2B5EF4-FFF2-40B4-BE49-F238E27FC236}">
                <a16:creationId xmlns:a16="http://schemas.microsoft.com/office/drawing/2014/main" id="{1132F3F2-2068-4B8B-ACF5-A4EC3F2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4133850" cy="2076450"/>
          </a:xfrm>
          <a:custGeom xmlns:a="http://schemas.openxmlformats.org/drawingml/2006/main"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cloud VPC 云轮廓-348">
            <a:extLst xmlns:a="http://schemas.openxmlformats.org/drawingml/2006/main">
              <a:ext uri="{FF2B5EF4-FFF2-40B4-BE49-F238E27FC236}">
                <a16:creationId xmlns:a16="http://schemas.microsoft.com/office/drawing/2014/main" id="{BAC12216-2CD9-4424-9E17-7D5916FF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76475"/>
            <a:ext cx="457200" cy="4572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203" cap="rnd">
            <a:solidFill>
              <a:srgbClr val="2053C3"/>
            </a:solidFill>
            <a:round/>
          </a:ln>
        </p:spPr>
      </p:sp>
      <p:sp>
        <p:nvSpPr>
          <p:cNvPr id="35" name="统一风格-文字 数据 VPC-349">
            <a:extLst xmlns:a="http://schemas.openxmlformats.org/drawingml/2006/main">
              <a:ext uri="{FF2B5EF4-FFF2-40B4-BE49-F238E27FC236}">
                <a16:creationId xmlns:a16="http://schemas.microsoft.com/office/drawing/2014/main" id="{91A1D782-F11B-4CD0-8336-DF53B3E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43150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36" name="统一风格-文字 10.60.0.0/16-350">
            <a:extLst xmlns:a="http://schemas.openxmlformats.org/drawingml/2006/main">
              <a:ext uri="{FF2B5EF4-FFF2-40B4-BE49-F238E27FC236}">
                <a16:creationId xmlns:a16="http://schemas.microsoft.com/office/drawing/2014/main" id="{10E76EC1-0DE0-41A0-B621-47C898A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765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10.60.0.0/16</a:t>
            </a:r>
          </a:p>
        </p:txBody>
      </p:sp>
      <p:sp>
        <p:nvSpPr>
          <p:cNvPr id="37" name="统一风格-数据库 ECS玻璃后沿-351">
            <a:extLst xmlns:a="http://schemas.openxmlformats.org/drawingml/2006/main">
              <a:ext uri="{FF2B5EF4-FFF2-40B4-BE49-F238E27FC236}">
                <a16:creationId xmlns:a16="http://schemas.microsoft.com/office/drawing/2014/main" id="{6CE46455-CA07-4E90-AE30-0BA3C59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14675"/>
            <a:ext cx="3743325" cy="885825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统一风格-数据库 ECS-352">
            <a:extLst xmlns:a="http://schemas.openxmlformats.org/drawingml/2006/main">
              <a:ext uri="{FF2B5EF4-FFF2-40B4-BE49-F238E27FC236}">
                <a16:creationId xmlns:a16="http://schemas.microsoft.com/office/drawing/2014/main" id="{83F2F768-4B14-4C0E-AE9B-C0689B1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14675"/>
            <a:ext cx="3743325" cy="885825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数据库 ECS玻璃内沿-353">
            <a:extLst xmlns:a="http://schemas.openxmlformats.org/drawingml/2006/main">
              <a:ext uri="{FF2B5EF4-FFF2-40B4-BE49-F238E27FC236}">
                <a16:creationId xmlns:a16="http://schemas.microsoft.com/office/drawing/2014/main" id="{F20481EC-02D2-4ED1-AE52-263027D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09" y="3127534"/>
            <a:ext cx="3717608" cy="860108"/>
          </a:xfrm>
          <a:prstGeom xmlns:a="http://schemas.openxmlformats.org/drawingml/2006/main" prst="roundRect">
            <a:avLst>
              <a:gd name="adj" fmla="val 852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数据库 ECS透光反射面-354">
            <a:extLst xmlns:a="http://schemas.openxmlformats.org/drawingml/2006/main">
              <a:ext uri="{FF2B5EF4-FFF2-40B4-BE49-F238E27FC236}">
                <a16:creationId xmlns:a16="http://schemas.microsoft.com/office/drawing/2014/main" id="{27D94AE4-B5CF-4B42-AB24-C9EE6878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33725"/>
            <a:ext cx="3705225" cy="847725"/>
          </a:xfrm>
          <a:custGeom xmlns:a="http://schemas.openxmlformats.org/drawingml/2006/main"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1" name="统一风格-数据库 ECS边缘高光-355">
            <a:extLst xmlns:a="http://schemas.openxmlformats.org/drawingml/2006/main">
              <a:ext uri="{FF2B5EF4-FFF2-40B4-BE49-F238E27FC236}">
                <a16:creationId xmlns:a16="http://schemas.microsoft.com/office/drawing/2014/main" id="{B9D8C861-1150-4450-92AE-BDC06C9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14675"/>
            <a:ext cx="3743325" cy="885825"/>
          </a:xfrm>
          <a:custGeom xmlns:a="http://schemas.openxmlformats.org/drawingml/2006/main"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2" name="统一风格-db 数据库柱体-356">
            <a:extLst xmlns:a="http://schemas.openxmlformats.org/drawingml/2006/main">
              <a:ext uri="{FF2B5EF4-FFF2-40B4-BE49-F238E27FC236}">
                <a16:creationId xmlns:a16="http://schemas.microsoft.com/office/drawing/2014/main" id="{26844050-FD1A-49CD-B9C3-F48BD62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43" name="统一风格-db 数据库分层-357">
            <a:extLst xmlns:a="http://schemas.openxmlformats.org/drawingml/2006/main">
              <a:ext uri="{FF2B5EF4-FFF2-40B4-BE49-F238E27FC236}">
                <a16:creationId xmlns:a16="http://schemas.microsoft.com/office/drawing/2014/main" id="{92A3C8C0-9359-4654-8ED6-DF56812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57563"/>
            <a:ext cx="400050" cy="400050"/>
          </a:xfrm>
          <a:custGeom xmlns:a="http://schemas.openxmlformats.org/drawingml/2006/main"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44" name="统一风格-文字 数据库 ECS-358">
            <a:extLst xmlns:a="http://schemas.openxmlformats.org/drawingml/2006/main">
              <a:ext uri="{FF2B5EF4-FFF2-40B4-BE49-F238E27FC236}">
                <a16:creationId xmlns:a16="http://schemas.microsoft.com/office/drawing/2014/main" id="{FDB6A05E-88D2-400A-8E12-30D5AC0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575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 ECS</a:t>
            </a:r>
          </a:p>
        </p:txBody>
      </p:sp>
      <p:sp>
        <p:nvSpPr>
          <p:cNvPr id="45" name="统一风格-文字 10.60.2.20 : 3306-359">
            <a:extLst xmlns:a="http://schemas.openxmlformats.org/drawingml/2006/main">
              <a:ext uri="{FF2B5EF4-FFF2-40B4-BE49-F238E27FC236}">
                <a16:creationId xmlns:a16="http://schemas.microsoft.com/office/drawing/2014/main" id="{A79B5DB4-4D93-442B-B347-5F01A21B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9975"/>
            <a:ext cx="2895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10.60.2.20 : 3306</a:t>
            </a:r>
          </a:p>
        </p:txBody>
      </p:sp>
      <p:cxnSp>
        <p:nvCxnSpPr>
          <p:cNvPr id="46" name="网络连接-31">
            <a:extLst xmlns:a="http://schemas.openxmlformats.org/drawingml/2006/main">
              <a:ext uri="{FF2B5EF4-FFF2-40B4-BE49-F238E27FC236}">
                <a16:creationId xmlns:a16="http://schemas.microsoft.com/office/drawing/2014/main" id="{DEC521A7-546F-41DC-80FE-ABBCF96741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3450" y="31527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3C3"/>
            </a:solidFill>
            <a:prstDash val="solid"/>
          </a:ln>
        </p:spPr>
      </p:cxnSp>
      <p:cxnSp>
        <p:nvCxnSpPr>
          <p:cNvPr id="47" name="网络连接-32">
            <a:extLst xmlns:a="http://schemas.openxmlformats.org/drawingml/2006/main">
              <a:ext uri="{FF2B5EF4-FFF2-40B4-BE49-F238E27FC236}">
                <a16:creationId xmlns:a16="http://schemas.microsoft.com/office/drawing/2014/main" id="{A2888B58-79C3-4574-8CF4-827DECE44A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10425" y="31527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3C3"/>
            </a:solidFill>
            <a:prstDash val="solid"/>
          </a:ln>
        </p:spPr>
      </p:cxnSp>
      <p:sp>
        <p:nvSpPr>
          <p:cNvPr id="48" name="统一风格-Peering-AB玻璃后沿-360">
            <a:extLst xmlns:a="http://schemas.openxmlformats.org/drawingml/2006/main">
              <a:ext uri="{FF2B5EF4-FFF2-40B4-BE49-F238E27FC236}">
                <a16:creationId xmlns:a16="http://schemas.microsoft.com/office/drawing/2014/main" id="{40AFDDAA-7D4D-4A9B-AAE9-E9095F7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24125"/>
            <a:ext cx="222885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9" name="统一风格-Peering-AB-361">
            <a:extLst xmlns:a="http://schemas.openxmlformats.org/drawingml/2006/main">
              <a:ext uri="{FF2B5EF4-FFF2-40B4-BE49-F238E27FC236}">
                <a16:creationId xmlns:a16="http://schemas.microsoft.com/office/drawing/2014/main" id="{78BAB14C-3F6C-45F0-A201-76F5845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24125"/>
            <a:ext cx="2228850" cy="12573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0" name="统一风格-Peering-AB玻璃内沿-362">
            <a:extLst xmlns:a="http://schemas.openxmlformats.org/drawingml/2006/main">
              <a:ext uri="{FF2B5EF4-FFF2-40B4-BE49-F238E27FC236}">
                <a16:creationId xmlns:a16="http://schemas.microsoft.com/office/drawing/2014/main" id="{C8A37F08-4A3A-4E83-B8A8-1971527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434" y="2536984"/>
            <a:ext cx="2203133" cy="1231583"/>
          </a:xfrm>
          <a:prstGeom xmlns:a="http://schemas.openxmlformats.org/drawingml/2006/main" prst="roundRect">
            <a:avLst>
              <a:gd name="adj" fmla="val 595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1" name="统一风格-Peering-AB透光反射面-363">
            <a:extLst xmlns:a="http://schemas.openxmlformats.org/drawingml/2006/main">
              <a:ext uri="{FF2B5EF4-FFF2-40B4-BE49-F238E27FC236}">
                <a16:creationId xmlns:a16="http://schemas.microsoft.com/office/drawing/2014/main" id="{10D02C49-31E3-4515-B467-68FBCA5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43175"/>
            <a:ext cx="2190750" cy="1219200"/>
          </a:xfrm>
          <a:custGeom xmlns:a="http://schemas.openxmlformats.org/drawingml/2006/main">
            <a:pathLst>
              <a:path w="2190750" h="1219200">
                <a:moveTo>
                  <a:pt x="76200" y="0"/>
                </a:moveTo>
                <a:lnTo>
                  <a:pt x="1402080" y="0"/>
                </a:lnTo>
                <a:lnTo>
                  <a:pt x="569595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2" name="统一风格-Peering-AB边缘高光-364">
            <a:extLst xmlns:a="http://schemas.openxmlformats.org/drawingml/2006/main">
              <a:ext uri="{FF2B5EF4-FFF2-40B4-BE49-F238E27FC236}">
                <a16:creationId xmlns:a16="http://schemas.microsoft.com/office/drawing/2014/main" id="{21382E3D-904F-4161-8FC1-4F1DF65E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24125"/>
            <a:ext cx="2228850" cy="1257300"/>
          </a:xfrm>
          <a:custGeom xmlns:a="http://schemas.openxmlformats.org/drawingml/2006/main">
            <a:pathLst>
              <a:path w="2228850" h="1257300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3" name="统一风格-统一互联图标 双向连接-365">
            <a:extLst xmlns:a="http://schemas.openxmlformats.org/drawingml/2006/main">
              <a:ext uri="{FF2B5EF4-FFF2-40B4-BE49-F238E27FC236}">
                <a16:creationId xmlns:a16="http://schemas.microsoft.com/office/drawing/2014/main" id="{1EB2936E-FCE0-424E-A6AB-29B06214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860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4" name="统一风格-文字 Peering-AB-366">
            <a:extLst xmlns:a="http://schemas.openxmlformats.org/drawingml/2006/main">
              <a:ext uri="{FF2B5EF4-FFF2-40B4-BE49-F238E27FC236}">
                <a16:creationId xmlns:a16="http://schemas.microsoft.com/office/drawing/2014/main" id="{29A831A4-2151-407C-9029-126EBF9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3842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55" name="统一风格-文字 双向网络路径-367">
            <a:extLst xmlns:a="http://schemas.openxmlformats.org/drawingml/2006/main">
              <a:ext uri="{FF2B5EF4-FFF2-40B4-BE49-F238E27FC236}">
                <a16:creationId xmlns:a16="http://schemas.microsoft.com/office/drawing/2014/main" id="{FE7CEC68-9836-454B-856A-618BA20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143250"/>
            <a:ext cx="1924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双向网络路径</a:t>
            </a:r>
          </a:p>
        </p:txBody>
      </p:sp>
      <p:sp>
        <p:nvSpPr>
          <p:cNvPr id="56" name="统一风格-路由与配置表玻璃后沿-368">
            <a:extLst xmlns:a="http://schemas.openxmlformats.org/drawingml/2006/main">
              <a:ext uri="{FF2B5EF4-FFF2-40B4-BE49-F238E27FC236}">
                <a16:creationId xmlns:a16="http://schemas.microsoft.com/office/drawing/2014/main" id="{7D41789C-850A-4647-AE67-75843D1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29125"/>
            <a:ext cx="11106150" cy="1447800"/>
          </a:xfrm>
          <a:prstGeom xmlns:a="http://schemas.openxmlformats.org/drawingml/2006/main" prst="roundRect">
            <a:avLst>
              <a:gd name="adj" fmla="val 592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7" name="统一风格-路由与配置表-369">
            <a:extLst xmlns:a="http://schemas.openxmlformats.org/drawingml/2006/main">
              <a:ext uri="{FF2B5EF4-FFF2-40B4-BE49-F238E27FC236}">
                <a16:creationId xmlns:a16="http://schemas.microsoft.com/office/drawing/2014/main" id="{A7CEE5E7-0EC3-4B5A-996D-3B8B0782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29125"/>
            <a:ext cx="11106150" cy="1447800"/>
          </a:xfrm>
          <a:prstGeom xmlns:a="http://schemas.openxmlformats.org/drawingml/2006/main" prst="roundRect">
            <a:avLst>
              <a:gd name="adj" fmla="val 592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8" name="统一风格-路由与配置表玻璃内沿-370">
            <a:extLst xmlns:a="http://schemas.openxmlformats.org/drawingml/2006/main">
              <a:ext uri="{FF2B5EF4-FFF2-40B4-BE49-F238E27FC236}">
                <a16:creationId xmlns:a16="http://schemas.microsoft.com/office/drawing/2014/main" id="{A7E2DD91-EDE1-43AE-858E-32674EC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4441984"/>
            <a:ext cx="11080433" cy="1422083"/>
          </a:xfrm>
          <a:prstGeom xmlns:a="http://schemas.openxmlformats.org/drawingml/2006/main" prst="roundRect">
            <a:avLst>
              <a:gd name="adj" fmla="val 515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9" name="统一风格-路由与配置表边缘高光-371">
            <a:extLst xmlns:a="http://schemas.openxmlformats.org/drawingml/2006/main">
              <a:ext uri="{FF2B5EF4-FFF2-40B4-BE49-F238E27FC236}">
                <a16:creationId xmlns:a16="http://schemas.microsoft.com/office/drawing/2014/main" id="{D71D16E6-724B-4DA8-9462-7B109A66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29125"/>
            <a:ext cx="11106150" cy="1447800"/>
          </a:xfrm>
          <a:custGeom xmlns:a="http://schemas.openxmlformats.org/drawingml/2006/main">
            <a:pathLst>
              <a:path w="11106150" h="14478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0FBB8C-BE20-42D0-9309-41EF525ADB95}"/>
              </a:ext>
            </a:extLst>
          </p:cNvPr>
          <p:cNvGraphicFramePr/>
          <p:nvPr/>
        </p:nvGraphicFramePr>
        <p:xfrm>
          <a:off xmlns:a="http://schemas.openxmlformats.org/drawingml/2006/main" x="609600" y="4495800"/>
          <a:ext xmlns:a="http://schemas.openxmlformats.org/drawingml/2006/main" cx="10972800" cy="1314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10000"/>
                <a:gridCol w="3924300"/>
              </a:tblGrid>
              <a:tr h="4381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实际关联路由表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4381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应用子网路由表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10.60.0.0/16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4381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数据子网路由表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10.50.0.0/16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40150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5F99C3BF-B31D-4FE6-A717-B4195A99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对等连接：配置顺序与验收证据-373">
            <a:extLst xmlns:a="http://schemas.openxmlformats.org/drawingml/2006/main">
              <a:ext uri="{FF2B5EF4-FFF2-40B4-BE49-F238E27FC236}">
                <a16:creationId xmlns:a16="http://schemas.microsoft.com/office/drawing/2014/main" id="{9AD1E9F1-39CC-455F-A648-5F537AB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对等连接：配置顺序与验收证据</a:t>
            </a:r>
          </a:p>
        </p:txBody>
      </p:sp>
      <p:sp>
        <p:nvSpPr>
          <p:cNvPr id="3" name="统一风格-文字 创建连接后，继续完成路由、权限和业务测试-374">
            <a:extLst xmlns:a="http://schemas.openxmlformats.org/drawingml/2006/main">
              <a:ext uri="{FF2B5EF4-FFF2-40B4-BE49-F238E27FC236}">
                <a16:creationId xmlns:a16="http://schemas.microsoft.com/office/drawing/2014/main" id="{AD23425F-F0F1-46C9-836B-F108674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创建连接后，继续完成路由、权限和业务测试</a:t>
            </a:r>
          </a:p>
        </p:txBody>
      </p:sp>
      <p:cxnSp>
        <p:nvCxnSpPr>
          <p:cNvPr id="4" name="网络连接-33">
            <a:extLst xmlns:a="http://schemas.openxmlformats.org/drawingml/2006/main">
              <a:ext uri="{FF2B5EF4-FFF2-40B4-BE49-F238E27FC236}">
                <a16:creationId xmlns:a16="http://schemas.microsoft.com/office/drawing/2014/main" id="{517FF470-DFE1-44F1-8FA2-0F407AFB37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华为云支持按路由配置的对等传递组网。不要把创建连接等同于自动形成全部访问路径。-375">
            <a:extLst xmlns:a="http://schemas.openxmlformats.org/drawingml/2006/main">
              <a:ext uri="{FF2B5EF4-FFF2-40B4-BE49-F238E27FC236}">
                <a16:creationId xmlns:a16="http://schemas.microsoft.com/office/drawing/2014/main" id="{A77B3430-1D89-4252-BC98-C4F52896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华为云支持按路由配置的对等传递组网。不要把创建连接等同于自动形成全部访问路径。</a:t>
            </a:r>
          </a:p>
        </p:txBody>
      </p:sp>
      <p:sp>
        <p:nvSpPr>
          <p:cNvPr id="6" name="正文-22">
            <a:extLst xmlns:a="http://schemas.openxmlformats.org/drawingml/2006/main">
              <a:ext uri="{FF2B5EF4-FFF2-40B4-BE49-F238E27FC236}">
                <a16:creationId xmlns:a16="http://schemas.microsoft.com/office/drawing/2014/main" id="{D30FAC29-BE4D-43AB-81F1-A53F8AD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22</ns1:t>
            </ns1:r>
          </ns1:p>
        </p:txBody>
      </p:sp>
      <p:sp>
        <p:nvSpPr>
          <p:cNvPr id="7" name="统一风格-路由与配置表玻璃后沿-377">
            <a:extLst xmlns:a="http://schemas.openxmlformats.org/drawingml/2006/main">
              <a:ext uri="{FF2B5EF4-FFF2-40B4-BE49-F238E27FC236}">
                <a16:creationId xmlns:a16="http://schemas.microsoft.com/office/drawing/2014/main" id="{236E23D0-5053-42A0-98E7-C4E1284B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019425"/>
          </a:xfrm>
          <a:prstGeom xmlns:a="http://schemas.openxmlformats.org/drawingml/2006/main" prst="roundRect">
            <a:avLst>
              <a:gd name="adj" fmla="val 283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路由与配置表-378">
            <a:extLst xmlns:a="http://schemas.openxmlformats.org/drawingml/2006/main">
              <a:ext uri="{FF2B5EF4-FFF2-40B4-BE49-F238E27FC236}">
                <a16:creationId xmlns:a16="http://schemas.microsoft.com/office/drawing/2014/main" id="{78A130C4-48AF-49D6-9C4B-ED0D476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019425"/>
          </a:xfrm>
          <a:prstGeom xmlns:a="http://schemas.openxmlformats.org/drawingml/2006/main" prst="roundRect">
            <a:avLst>
              <a:gd name="adj" fmla="val 283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路由与配置表玻璃内沿-379">
            <a:extLst xmlns:a="http://schemas.openxmlformats.org/drawingml/2006/main">
              <a:ext uri="{FF2B5EF4-FFF2-40B4-BE49-F238E27FC236}">
                <a16:creationId xmlns:a16="http://schemas.microsoft.com/office/drawing/2014/main" id="{B0C1BE8F-4F92-4659-B886-7CCC1ADC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993708"/>
          </a:xfrm>
          <a:prstGeom xmlns:a="http://schemas.openxmlformats.org/drawingml/2006/main" prst="roundRect">
            <a:avLst>
              <a:gd name="adj" fmla="val 245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路由与配置表边缘高光-380">
            <a:extLst xmlns:a="http://schemas.openxmlformats.org/drawingml/2006/main">
              <a:ext uri="{FF2B5EF4-FFF2-40B4-BE49-F238E27FC236}">
                <a16:creationId xmlns:a16="http://schemas.microsoft.com/office/drawing/2014/main" id="{745E25B1-31C1-458A-AD6E-8C726D8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019425"/>
          </a:xfrm>
          <a:custGeom xmlns:a="http://schemas.openxmlformats.org/drawingml/2006/main">
            <a:pathLst>
              <a:path w="11106150" h="30194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189FF-0C73-434B-9D19-411095AA2DBB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886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019675"/>
                <a:gridCol w="4286250"/>
              </a:tblGrid>
              <a:tr h="57721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实施与检查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7721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连接状态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 Peering-AB，按账号关系完成接受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连接可用，两端 VPC 选择正确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7721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双向路由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核对两端子网关联表及目的 / 下一跳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到对端的实际命中均为 Peering-AB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7721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业务权限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核对源出方向、目的入方向与监听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仅批准的源主机访问 TCP 3306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7721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验收留证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3306 / 22 连接并做业务查询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3306 与查询成功，22 不获额外放行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传递组网玻璃后沿-381">
            <a:extLst xmlns:a="http://schemas.openxmlformats.org/drawingml/2006/main">
              <a:ext uri="{FF2B5EF4-FFF2-40B4-BE49-F238E27FC236}">
                <a16:creationId xmlns:a16="http://schemas.microsoft.com/office/drawing/2014/main" id="{57CC7862-696D-4A35-ADFB-61FC8774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" name="统一风格-传递组网-382">
            <a:extLst xmlns:a="http://schemas.openxmlformats.org/drawingml/2006/main">
              <a:ext uri="{FF2B5EF4-FFF2-40B4-BE49-F238E27FC236}">
                <a16:creationId xmlns:a16="http://schemas.microsoft.com/office/drawing/2014/main" id="{3ABE8C74-661E-4429-B60E-6BCAB13A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传递组网玻璃内沿-383">
            <a:extLst xmlns:a="http://schemas.openxmlformats.org/drawingml/2006/main">
              <a:ext uri="{FF2B5EF4-FFF2-40B4-BE49-F238E27FC236}">
                <a16:creationId xmlns:a16="http://schemas.microsoft.com/office/drawing/2014/main" id="{AF7160D8-177A-46E1-83EA-231D8C11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2992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传递组网边缘高光-384">
            <a:extLst xmlns:a="http://schemas.openxmlformats.org/drawingml/2006/main">
              <a:ext uri="{FF2B5EF4-FFF2-40B4-BE49-F238E27FC236}">
                <a16:creationId xmlns:a16="http://schemas.microsoft.com/office/drawing/2014/main" id="{1079E2A3-4A49-412D-AD6B-E44626D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传递组网-385">
            <a:extLst xmlns:a="http://schemas.openxmlformats.org/drawingml/2006/main">
              <a:ext uri="{FF2B5EF4-FFF2-40B4-BE49-F238E27FC236}">
                <a16:creationId xmlns:a16="http://schemas.microsoft.com/office/drawing/2014/main" id="{899710B8-A2F2-43FF-88B5-E1AB7B3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102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传递组网</a:t>
            </a:r>
          </a:p>
        </p:txBody>
      </p:sp>
      <p:sp>
        <p:nvSpPr>
          <p:cNvPr id="17" name="统一风格-文字 另行配置中转路由并审查安全边界，不能仅凭两条对等连接判断可达。-386">
            <a:extLst xmlns:a="http://schemas.openxmlformats.org/drawingml/2006/main">
              <a:ext uri="{FF2B5EF4-FFF2-40B4-BE49-F238E27FC236}">
                <a16:creationId xmlns:a16="http://schemas.microsoft.com/office/drawing/2014/main" id="{74E69F44-00D3-4D18-A14B-899B9CA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91150"/>
            <a:ext cx="884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另行配置中转路由并审查安全边界，不能仅凭两条对等连接判断可达。</a:t>
            </a:r>
          </a:p>
        </p:txBody>
      </p:sp>
    </p:spTree>
    <p:extLst>
      <p:ext uri="{BB962C8B-B14F-4D97-AF65-F5344CB8AC3E}">
        <p14:creationId xmlns:p14="http://schemas.microsoft.com/office/powerpoint/2010/main" val="152495427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CE9B5C4A-8630-4403-8869-840BCDD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VPCEP 案例：私网消费另一个 VPC 的 API-388">
            <a:extLst xmlns:a="http://schemas.openxmlformats.org/drawingml/2006/main">
              <a:ext uri="{FF2B5EF4-FFF2-40B4-BE49-F238E27FC236}">
                <a16:creationId xmlns:a16="http://schemas.microsoft.com/office/drawing/2014/main" id="{8EC70EB1-8739-4E7F-A62A-0D783713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案例：私网消费另一个 VPC 的 API</a:t>
            </a:r>
          </a:p>
        </p:txBody>
      </p:sp>
      <p:sp>
        <p:nvSpPr>
          <p:cNvPr id="3" name="统一风格-文字 通过终端节点访问服务方发布的私网 ELB，只开放批准的服务入口-389">
            <a:extLst xmlns:a="http://schemas.openxmlformats.org/drawingml/2006/main">
              <a:ext uri="{FF2B5EF4-FFF2-40B4-BE49-F238E27FC236}">
                <a16:creationId xmlns:a16="http://schemas.microsoft.com/office/drawing/2014/main" id="{8100C8B5-2526-47CF-AE4C-EC86053A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消费端主动访问已发布服务，响应返回；VPCEP 不提供两端任意地址互访</ns0:t>
            </ns0:r>
          </ns0:p>
        </p:txBody>
      </p:sp>
      <p:cxnSp>
        <p:nvCxnSpPr>
          <p:cNvPr id="4" name="网络连接-34">
            <a:extLst xmlns:a="http://schemas.openxmlformats.org/drawingml/2006/main">
              <a:ext uri="{FF2B5EF4-FFF2-40B4-BE49-F238E27FC236}">
                <a16:creationId xmlns:a16="http://schemas.microsoft.com/office/drawing/2014/main" id="{179358CE-7129-42DA-AB3B-E635F49416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正文-同账号、同 Region 连接示例。消费者发起到服务端的访问，响应沿该连接返回。">
            <a:extLst xmlns:a="http://schemas.openxmlformats.org/drawingml/2006/main">
              <a:ext uri="{FF2B5EF4-FFF2-40B4-BE49-F238E27FC236}">
                <a16:creationId xmlns:a16="http://schemas.microsoft.com/office/drawing/2014/main" id="{70F692BA-817A-45E8-8FC4-4B9A854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同账号、同 Region 连接示例。消费者发起到服务端的访问，响应沿该连接返回。</ns0:t>
            </ns0:r>
          </ns0:p>
        </p:txBody>
      </p:sp>
      <p:sp>
        <p:nvSpPr>
          <p:cNvPr id="6" name="正文-24">
            <a:extLst xmlns:a="http://schemas.openxmlformats.org/drawingml/2006/main">
              <a:ext uri="{FF2B5EF4-FFF2-40B4-BE49-F238E27FC236}">
                <a16:creationId xmlns:a16="http://schemas.microsoft.com/office/drawing/2014/main" id="{CCA8B134-A99B-40D6-8E01-66A8B883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31</ns0:t>
            </ns0:r>
          </ns0:p>
        </p:txBody>
      </p:sp>
      <p:sp>
        <p:nvSpPr>
          <p:cNvPr id="7" name="统一风格-消费VPC玻璃后沿-392">
            <a:extLst xmlns:a="http://schemas.openxmlformats.org/drawingml/2006/main">
              <a:ext uri="{FF2B5EF4-FFF2-40B4-BE49-F238E27FC236}">
                <a16:creationId xmlns:a16="http://schemas.microsoft.com/office/drawing/2014/main" id="{5D259BB7-DEAA-4CEE-9E62-8BB0BB4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010025" cy="3067050"/>
          </a:xfrm>
          <a:prstGeom xmlns:a="http://schemas.openxmlformats.org/drawingml/2006/main" prst="roundRect">
            <a:avLst>
              <a:gd name="adj" fmla="val 279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消费VPC-393">
            <a:extLst xmlns:a="http://schemas.openxmlformats.org/drawingml/2006/main">
              <a:ext uri="{FF2B5EF4-FFF2-40B4-BE49-F238E27FC236}">
                <a16:creationId xmlns:a16="http://schemas.microsoft.com/office/drawing/2014/main" id="{9D7274B0-5B45-44A0-AA69-EBDCF40C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010025" cy="3067050"/>
          </a:xfrm>
          <a:prstGeom xmlns:a="http://schemas.openxmlformats.org/drawingml/2006/main" prst="roundRect">
            <a:avLst>
              <a:gd name="adj" fmla="val 279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消费VPC玻璃内沿-394">
            <a:extLst xmlns:a="http://schemas.openxmlformats.org/drawingml/2006/main">
              <a:ext uri="{FF2B5EF4-FFF2-40B4-BE49-F238E27FC236}">
                <a16:creationId xmlns:a16="http://schemas.microsoft.com/office/drawing/2014/main" id="{FBC2BB79-1A95-4338-BEF7-AFCA1379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3984308" cy="3041333"/>
          </a:xfrm>
          <a:prstGeom xmlns:a="http://schemas.openxmlformats.org/drawingml/2006/main" prst="roundRect">
            <a:avLst>
              <a:gd name="adj" fmla="val 241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消费VPC边缘高光-395">
            <a:extLst xmlns:a="http://schemas.openxmlformats.org/drawingml/2006/main">
              <a:ext uri="{FF2B5EF4-FFF2-40B4-BE49-F238E27FC236}">
                <a16:creationId xmlns:a16="http://schemas.microsoft.com/office/drawing/2014/main" id="{09387D84-EA70-4414-8C1C-B710586F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010025" cy="3067050"/>
          </a:xfrm>
          <a:custGeom xmlns:a="http://schemas.openxmlformats.org/drawingml/2006/main">
            <a:pathLst>
              <a:path w="4010025" h="3067050">
                <a:moveTo>
                  <a:pt x="95250" y="9525"/>
                </a:moveTo>
                <a:lnTo>
                  <a:pt x="3914775" y="9525"/>
                </a:lnTo>
                <a:cubicBezTo>
                  <a:pt x="3962400" y="9525"/>
                  <a:pt x="4000500" y="47625"/>
                  <a:pt x="40005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396">
            <a:extLst xmlns:a="http://schemas.openxmlformats.org/drawingml/2006/main">
              <a:ext uri="{FF2B5EF4-FFF2-40B4-BE49-F238E27FC236}">
                <a16:creationId xmlns:a16="http://schemas.microsoft.com/office/drawing/2014/main" id="{90CB22D1-649B-4507-B23C-12BB145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66725" cy="4667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583" cap="rnd">
            <a:solidFill>
              <a:srgbClr val="2053C3"/>
            </a:solidFill>
            <a:round/>
          </a:ln>
        </p:spPr>
      </p:sp>
      <p:sp>
        <p:nvSpPr>
          <p:cNvPr id="12" name="统一风格-文字 消费 VPC-397">
            <a:extLst xmlns:a="http://schemas.openxmlformats.org/drawingml/2006/main">
              <a:ext uri="{FF2B5EF4-FFF2-40B4-BE49-F238E27FC236}">
                <a16:creationId xmlns:a16="http://schemas.microsoft.com/office/drawing/2014/main" id="{C938C27C-B599-46E8-8C39-35ED1343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05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 VPC</a:t>
            </a:r>
          </a:p>
        </p:txBody>
      </p:sp>
      <p:sp>
        <p:nvSpPr>
          <p:cNvPr id="13" name="统一风格-文字 10.70.0.0/16-398">
            <a:extLst xmlns:a="http://schemas.openxmlformats.org/drawingml/2006/main">
              <a:ext uri="{FF2B5EF4-FFF2-40B4-BE49-F238E27FC236}">
                <a16:creationId xmlns:a16="http://schemas.microsoft.com/office/drawing/2014/main" id="{5D29EFE0-79CA-4BED-A4D2-D79FDF19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765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10.70.0.0/16</a:t>
            </a:r>
          </a:p>
        </p:txBody>
      </p:sp>
      <p:sp>
        <p:nvSpPr>
          <p:cNvPr id="14" name="统一风格-业务 ECS玻璃后沿-399">
            <a:extLst xmlns:a="http://schemas.openxmlformats.org/drawingml/2006/main">
              <a:ext uri="{FF2B5EF4-FFF2-40B4-BE49-F238E27FC236}">
                <a16:creationId xmlns:a16="http://schemas.microsoft.com/office/drawing/2014/main" id="{8E03FFDB-EB5B-418F-A5C6-D515B11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629025" cy="809625"/>
          </a:xfrm>
          <a:prstGeom xmlns:a="http://schemas.openxmlformats.org/drawingml/2006/main" prst="roundRect">
            <a:avLst>
              <a:gd name="adj" fmla="val 1058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统一风格-业务 ECS-400">
            <a:extLst xmlns:a="http://schemas.openxmlformats.org/drawingml/2006/main">
              <a:ext uri="{FF2B5EF4-FFF2-40B4-BE49-F238E27FC236}">
                <a16:creationId xmlns:a16="http://schemas.microsoft.com/office/drawing/2014/main" id="{DD2C44B1-17D5-409F-8CC6-051E6C77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629025" cy="809625"/>
          </a:xfrm>
          <a:prstGeom xmlns:a="http://schemas.openxmlformats.org/drawingml/2006/main" prst="roundRect">
            <a:avLst>
              <a:gd name="adj" fmla="val 1058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" name="统一风格-业务 ECS玻璃内沿-401">
            <a:extLst xmlns:a="http://schemas.openxmlformats.org/drawingml/2006/main">
              <a:ext uri="{FF2B5EF4-FFF2-40B4-BE49-F238E27FC236}">
                <a16:creationId xmlns:a16="http://schemas.microsoft.com/office/drawing/2014/main" id="{D939EFBF-983D-43F7-966F-5ACC1392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3098959"/>
            <a:ext cx="3603308" cy="783908"/>
          </a:xfrm>
          <a:prstGeom xmlns:a="http://schemas.openxmlformats.org/drawingml/2006/main" prst="roundRect">
            <a:avLst>
              <a:gd name="adj" fmla="val 935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7" name="统一风格-业务 ECS透光反射面-402">
            <a:extLst xmlns:a="http://schemas.openxmlformats.org/drawingml/2006/main">
              <a:ext uri="{FF2B5EF4-FFF2-40B4-BE49-F238E27FC236}">
                <a16:creationId xmlns:a16="http://schemas.microsoft.com/office/drawing/2014/main" id="{6979E178-2871-43CD-A68F-2248B8D8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3590925" cy="771525"/>
          </a:xfrm>
          <a:custGeom xmlns:a="http://schemas.openxmlformats.org/drawingml/2006/main">
            <a:pathLst>
              <a:path w="3590925" h="771525">
                <a:moveTo>
                  <a:pt x="76200" y="0"/>
                </a:moveTo>
                <a:lnTo>
                  <a:pt x="2298192" y="0"/>
                </a:lnTo>
                <a:lnTo>
                  <a:pt x="933641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8" name="统一风格-业务 ECS边缘高光-403">
            <a:extLst xmlns:a="http://schemas.openxmlformats.org/drawingml/2006/main">
              <a:ext uri="{FF2B5EF4-FFF2-40B4-BE49-F238E27FC236}">
                <a16:creationId xmlns:a16="http://schemas.microsoft.com/office/drawing/2014/main" id="{366754BA-2E5A-4B04-AE01-3497E16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629025" cy="809625"/>
          </a:xfrm>
          <a:custGeom xmlns:a="http://schemas.openxmlformats.org/drawingml/2006/main">
            <a:pathLst>
              <a:path w="3629025" h="80962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" name="统一风格-server 服务器机架-404">
            <a:extLst xmlns:a="http://schemas.openxmlformats.org/drawingml/2006/main">
              <a:ext uri="{FF2B5EF4-FFF2-40B4-BE49-F238E27FC236}">
                <a16:creationId xmlns:a16="http://schemas.microsoft.com/office/drawing/2014/main" id="{C9419D91-0BAB-4A6E-A8DF-6AD6484B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0" name="统一风格-server 机架状态-405">
            <a:extLst xmlns:a="http://schemas.openxmlformats.org/drawingml/2006/main">
              <a:ext uri="{FF2B5EF4-FFF2-40B4-BE49-F238E27FC236}">
                <a16:creationId xmlns:a16="http://schemas.microsoft.com/office/drawing/2014/main" id="{952669A9-CA1F-460C-8DBB-8499C5A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1" name="统一风格-server 指示灯-406">
            <a:extLst xmlns:a="http://schemas.openxmlformats.org/drawingml/2006/main">
              <a:ext uri="{FF2B5EF4-FFF2-40B4-BE49-F238E27FC236}">
                <a16:creationId xmlns:a16="http://schemas.microsoft.com/office/drawing/2014/main" id="{F8002825-3A90-4463-8846-814DEA00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" name="统一风格-server 服务器机架-407">
            <a:extLst xmlns:a="http://schemas.openxmlformats.org/drawingml/2006/main">
              <a:ext uri="{FF2B5EF4-FFF2-40B4-BE49-F238E27FC236}">
                <a16:creationId xmlns:a16="http://schemas.microsoft.com/office/drawing/2014/main" id="{F9681D09-AF82-4BF3-9794-FAC0462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3" name="统一风格-server 机架状态-408">
            <a:extLst xmlns:a="http://schemas.openxmlformats.org/drawingml/2006/main">
              <a:ext uri="{FF2B5EF4-FFF2-40B4-BE49-F238E27FC236}">
                <a16:creationId xmlns:a16="http://schemas.microsoft.com/office/drawing/2014/main" id="{F17A263B-23E7-48BA-B8E4-3229B71B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4" name="统一风格-server 指示灯-409">
            <a:extLst xmlns:a="http://schemas.openxmlformats.org/drawingml/2006/main">
              <a:ext uri="{FF2B5EF4-FFF2-40B4-BE49-F238E27FC236}">
                <a16:creationId xmlns:a16="http://schemas.microsoft.com/office/drawing/2014/main" id="{6B6B02C9-F2B9-47FC-8435-51D3BB4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" name="统一风格-server 服务器机架-410">
            <a:extLst xmlns:a="http://schemas.openxmlformats.org/drawingml/2006/main">
              <a:ext uri="{FF2B5EF4-FFF2-40B4-BE49-F238E27FC236}">
                <a16:creationId xmlns:a16="http://schemas.microsoft.com/office/drawing/2014/main" id="{383564E0-FE3E-4DF4-BB49-343E061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6" name="统一风格-server 机架状态-411">
            <a:extLst xmlns:a="http://schemas.openxmlformats.org/drawingml/2006/main">
              <a:ext uri="{FF2B5EF4-FFF2-40B4-BE49-F238E27FC236}">
                <a16:creationId xmlns:a16="http://schemas.microsoft.com/office/drawing/2014/main" id="{AA1E3C5D-0136-4F5C-9598-46EE39A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27" name="统一风格-server 指示灯-412">
            <a:extLst xmlns:a="http://schemas.openxmlformats.org/drawingml/2006/main">
              <a:ext uri="{FF2B5EF4-FFF2-40B4-BE49-F238E27FC236}">
                <a16:creationId xmlns:a16="http://schemas.microsoft.com/office/drawing/2014/main" id="{DAB8B2EF-6C49-4A1B-934E-9A15CF7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04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" name="统一风格-文字 业务 ECS-413">
            <a:extLst xmlns:a="http://schemas.openxmlformats.org/drawingml/2006/main">
              <a:ext uri="{FF2B5EF4-FFF2-40B4-BE49-F238E27FC236}">
                <a16:creationId xmlns:a16="http://schemas.microsoft.com/office/drawing/2014/main" id="{EA4CC6EB-13C8-49BA-BE51-5E1462BD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ECS</a:t>
            </a:r>
          </a:p>
        </p:txBody>
      </p:sp>
      <p:sp>
        <p:nvSpPr>
          <p:cNvPr id="29" name="统一风格-文字 发起 HTTPS 请求-414">
            <a:extLst xmlns:a="http://schemas.openxmlformats.org/drawingml/2006/main">
              <a:ext uri="{FF2B5EF4-FFF2-40B4-BE49-F238E27FC236}">
                <a16:creationId xmlns:a16="http://schemas.microsoft.com/office/drawing/2014/main" id="{37FAF5DB-215E-4BC4-A194-B14CDCD8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81400"/>
            <a:ext cx="280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发起 HTTPS 请求</a:t>
            </a:r>
          </a:p>
        </p:txBody>
      </p:sp>
      <p:sp>
        <p:nvSpPr>
          <p:cNvPr id="30" name="统一风格-接口型终端节点玻璃后沿-415">
            <a:extLst xmlns:a="http://schemas.openxmlformats.org/drawingml/2006/main">
              <a:ext uri="{FF2B5EF4-FFF2-40B4-BE49-F238E27FC236}">
                <a16:creationId xmlns:a16="http://schemas.microsoft.com/office/drawing/2014/main" id="{D69C73CC-A8DE-48D4-8F74-30A18437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629025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统一风格-接口型终端节点-416">
            <a:extLst xmlns:a="http://schemas.openxmlformats.org/drawingml/2006/main">
              <a:ext uri="{FF2B5EF4-FFF2-40B4-BE49-F238E27FC236}">
                <a16:creationId xmlns:a16="http://schemas.microsoft.com/office/drawing/2014/main" id="{A23A4B8F-EE0F-41B8-AAD0-3E49C79E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629025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接口型终端节点玻璃内沿-417">
            <a:extLst xmlns:a="http://schemas.openxmlformats.org/drawingml/2006/main">
              <a:ext uri="{FF2B5EF4-FFF2-40B4-BE49-F238E27FC236}">
                <a16:creationId xmlns:a16="http://schemas.microsoft.com/office/drawing/2014/main" id="{3F109432-6250-4E0A-B136-3EE7A64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4156234"/>
            <a:ext cx="3603308" cy="802958"/>
          </a:xfrm>
          <a:prstGeom xmlns:a="http://schemas.openxmlformats.org/drawingml/2006/main" prst="roundRect">
            <a:avLst>
              <a:gd name="adj" fmla="val 913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接口型终端节点透光反射面-418">
            <a:extLst xmlns:a="http://schemas.openxmlformats.org/drawingml/2006/main">
              <a:ext uri="{FF2B5EF4-FFF2-40B4-BE49-F238E27FC236}">
                <a16:creationId xmlns:a16="http://schemas.microsoft.com/office/drawing/2014/main" id="{B4D2A5B0-037F-4EAC-B3E1-387223A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3590925" cy="790575"/>
          </a:xfrm>
          <a:custGeom xmlns:a="http://schemas.openxmlformats.org/drawingml/2006/main">
            <a:pathLst>
              <a:path w="3590925" h="790575">
                <a:moveTo>
                  <a:pt x="76200" y="0"/>
                </a:moveTo>
                <a:lnTo>
                  <a:pt x="2298192" y="0"/>
                </a:lnTo>
                <a:lnTo>
                  <a:pt x="933641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4" name="统一风格-接口型终端节点边缘高光-419">
            <a:extLst xmlns:a="http://schemas.openxmlformats.org/drawingml/2006/main">
              <a:ext uri="{FF2B5EF4-FFF2-40B4-BE49-F238E27FC236}">
                <a16:creationId xmlns:a16="http://schemas.microsoft.com/office/drawing/2014/main" id="{E29EEC3D-6F6D-46B4-A023-F5B7ACE1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629025" cy="828675"/>
          </a:xfrm>
          <a:custGeom xmlns:a="http://schemas.openxmlformats.org/drawingml/2006/main">
            <a:pathLst>
              <a:path w="3629025" h="82867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5" name="统一风格-统一互联图标 终端节点-420">
            <a:extLst xmlns:a="http://schemas.openxmlformats.org/drawingml/2006/main">
              <a:ext uri="{FF2B5EF4-FFF2-40B4-BE49-F238E27FC236}">
                <a16:creationId xmlns:a16="http://schemas.microsoft.com/office/drawing/2014/main" id="{E675E107-9F66-4596-9A80-22DC4822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6" name="统一风格-统一互联图标 服务端口-421">
            <a:extLst xmlns:a="http://schemas.openxmlformats.org/drawingml/2006/main">
              <a:ext uri="{FF2B5EF4-FFF2-40B4-BE49-F238E27FC236}">
                <a16:creationId xmlns:a16="http://schemas.microsoft.com/office/drawing/2014/main" id="{CCDD97DD-F7FD-4C0B-B12F-C6F79D2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7" name="统一风格-文字 接口型终端节点-422">
            <a:extLst xmlns:a="http://schemas.openxmlformats.org/drawingml/2006/main">
              <a:ext uri="{FF2B5EF4-FFF2-40B4-BE49-F238E27FC236}">
                <a16:creationId xmlns:a16="http://schemas.microsoft.com/office/drawing/2014/main" id="{E823162E-622F-4714-95F9-615476B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接口型终端节点</a:t>
            </a:r>
          </a:p>
        </p:txBody>
      </p:sp>
      <p:sp>
        <p:nvSpPr>
          <p:cNvPr id="38" name="统一风格-文字 私网 IP 10.70.1.10-423">
            <a:extLst xmlns:a="http://schemas.openxmlformats.org/drawingml/2006/main">
              <a:ext uri="{FF2B5EF4-FFF2-40B4-BE49-F238E27FC236}">
                <a16:creationId xmlns:a16="http://schemas.microsoft.com/office/drawing/2014/main" id="{43487A18-8007-4BD5-8328-76AEE45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IP 10.70.1.10</a:t>
            </a:r>
          </a:p>
        </p:txBody>
      </p:sp>
      <p:cxnSp>
        <p:nvCxnSpPr>
          <p:cNvPr id="39" name="网络连接-35">
            <a:extLst xmlns:a="http://schemas.openxmlformats.org/drawingml/2006/main">
              <a:ext uri="{FF2B5EF4-FFF2-40B4-BE49-F238E27FC236}">
                <a16:creationId xmlns:a16="http://schemas.microsoft.com/office/drawing/2014/main" id="{47951910-4278-4E24-90A1-148A992BFF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09850" y="3895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0" name="网络连接-36">
            <a:extLst xmlns:a="http://schemas.openxmlformats.org/drawingml/2006/main">
              <a:ext uri="{FF2B5EF4-FFF2-40B4-BE49-F238E27FC236}">
                <a16:creationId xmlns:a16="http://schemas.microsoft.com/office/drawing/2014/main" id="{A42ED2AC-D74C-4F01-82A2-E2AD90B300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4572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1" name="统一风格-终端节点服务玻璃后沿-424">
            <a:extLst xmlns:a="http://schemas.openxmlformats.org/drawingml/2006/main">
              <a:ext uri="{FF2B5EF4-FFF2-40B4-BE49-F238E27FC236}">
                <a16:creationId xmlns:a16="http://schemas.microsoft.com/office/drawing/2014/main" id="{2E1EE21F-423D-4204-9A63-3EE93F5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2390775" cy="1181100"/>
          </a:xfrm>
          <a:prstGeom xmlns:a="http://schemas.openxmlformats.org/drawingml/2006/main" prst="roundRect">
            <a:avLst>
              <a:gd name="adj" fmla="val 725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统一风格-终端节点服务-425">
            <a:extLst xmlns:a="http://schemas.openxmlformats.org/drawingml/2006/main">
              <a:ext uri="{FF2B5EF4-FFF2-40B4-BE49-F238E27FC236}">
                <a16:creationId xmlns:a16="http://schemas.microsoft.com/office/drawing/2014/main" id="{CA741FAF-154A-41D3-BC30-AADC083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2390775" cy="1181100"/>
          </a:xfrm>
          <a:prstGeom xmlns:a="http://schemas.openxmlformats.org/drawingml/2006/main" prst="roundRect">
            <a:avLst>
              <a:gd name="adj" fmla="val 725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终端节点服务玻璃内沿-426">
            <a:extLst xmlns:a="http://schemas.openxmlformats.org/drawingml/2006/main">
              <a:ext uri="{FF2B5EF4-FFF2-40B4-BE49-F238E27FC236}">
                <a16:creationId xmlns:a16="http://schemas.microsoft.com/office/drawing/2014/main" id="{EEB6F168-4BE6-4FF9-B278-2C1770E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734" y="3813334"/>
            <a:ext cx="2365058" cy="1155383"/>
          </a:xfrm>
          <a:prstGeom xmlns:a="http://schemas.openxmlformats.org/drawingml/2006/main" prst="roundRect">
            <a:avLst>
              <a:gd name="adj" fmla="val 634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终端节点服务透光反射面-427">
            <a:extLst xmlns:a="http://schemas.openxmlformats.org/drawingml/2006/main">
              <a:ext uri="{FF2B5EF4-FFF2-40B4-BE49-F238E27FC236}">
                <a16:creationId xmlns:a16="http://schemas.microsoft.com/office/drawing/2014/main" id="{0C5D95CC-1E0C-4ABF-A026-E1D0CFBB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19525"/>
            <a:ext cx="2352675" cy="1143000"/>
          </a:xfrm>
          <a:custGeom xmlns:a="http://schemas.openxmlformats.org/drawingml/2006/main">
            <a:pathLst>
              <a:path w="2352675" h="1143000">
                <a:moveTo>
                  <a:pt x="76200" y="0"/>
                </a:moveTo>
                <a:lnTo>
                  <a:pt x="1505712" y="0"/>
                </a:lnTo>
                <a:lnTo>
                  <a:pt x="611696" y="1143000"/>
                </a:lnTo>
                <a:lnTo>
                  <a:pt x="76200" y="1143000"/>
                </a:lnTo>
                <a:cubicBezTo>
                  <a:pt x="28575" y="1143000"/>
                  <a:pt x="0" y="1114425"/>
                  <a:pt x="0" y="10668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5" name="统一风格-终端节点服务边缘高光-428">
            <a:extLst xmlns:a="http://schemas.openxmlformats.org/drawingml/2006/main">
              <a:ext uri="{FF2B5EF4-FFF2-40B4-BE49-F238E27FC236}">
                <a16:creationId xmlns:a16="http://schemas.microsoft.com/office/drawing/2014/main" id="{BDD0F4F5-BC98-47AE-A246-37D7E54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2390775" cy="1181100"/>
          </a:xfrm>
          <a:custGeom xmlns:a="http://schemas.openxmlformats.org/drawingml/2006/main">
            <a:pathLst>
              <a:path w="2390775" h="1181100">
                <a:moveTo>
                  <a:pt x="95250" y="9525"/>
                </a:moveTo>
                <a:lnTo>
                  <a:pt x="2295525" y="9525"/>
                </a:lnTo>
                <a:cubicBezTo>
                  <a:pt x="2343150" y="9525"/>
                  <a:pt x="2381250" y="47625"/>
                  <a:pt x="23812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6" name="统一风格-统一互联图标 终端节点-429">
            <a:extLst xmlns:a="http://schemas.openxmlformats.org/drawingml/2006/main">
              <a:ext uri="{FF2B5EF4-FFF2-40B4-BE49-F238E27FC236}">
                <a16:creationId xmlns:a16="http://schemas.microsoft.com/office/drawing/2014/main" id="{04D4B58D-0EDC-45B2-AC01-4A15A31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624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7" name="统一风格-统一互联图标 服务端口-430">
            <a:extLst xmlns:a="http://schemas.openxmlformats.org/drawingml/2006/main">
              <a:ext uri="{FF2B5EF4-FFF2-40B4-BE49-F238E27FC236}">
                <a16:creationId xmlns:a16="http://schemas.microsoft.com/office/drawing/2014/main" id="{8519A431-7FB0-4546-BEE1-FAE777AA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624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8" name="统一风格-文字 终端节点服务-431">
            <a:extLst xmlns:a="http://schemas.openxmlformats.org/drawingml/2006/main">
              <a:ext uri="{FF2B5EF4-FFF2-40B4-BE49-F238E27FC236}">
                <a16:creationId xmlns:a16="http://schemas.microsoft.com/office/drawing/2014/main" id="{E6271BAF-1AF9-4B5D-B6A7-D6A8C53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14775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终端节点服务</a:t>
            </a:r>
          </a:p>
        </p:txBody>
      </p:sp>
      <p:sp>
        <p:nvSpPr>
          <p:cNvPr id="49" name="统一风格-文字 TCP 443 映射至服务入口-432">
            <a:extLst xmlns:a="http://schemas.openxmlformats.org/drawingml/2006/main">
              <a:ext uri="{FF2B5EF4-FFF2-40B4-BE49-F238E27FC236}">
                <a16:creationId xmlns:a16="http://schemas.microsoft.com/office/drawing/2014/main" id="{DEE410A8-98DB-4582-B7B7-C8F7532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19600"/>
            <a:ext cx="2085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443 映射至服务入口</a:t>
            </a:r>
          </a:p>
        </p:txBody>
      </p:sp>
      <p:sp>
        <p:nvSpPr>
          <p:cNvPr id="50" name="统一风格-服务VPC玻璃后沿-433">
            <a:extLst xmlns:a="http://schemas.openxmlformats.org/drawingml/2006/main">
              <a:ext uri="{FF2B5EF4-FFF2-40B4-BE49-F238E27FC236}">
                <a16:creationId xmlns:a16="http://schemas.microsoft.com/office/drawing/2014/main" id="{178D123A-0841-410B-8035-2AE15A8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3619500" cy="3067050"/>
          </a:xfrm>
          <a:prstGeom xmlns:a="http://schemas.openxmlformats.org/drawingml/2006/main" prst="roundRect">
            <a:avLst>
              <a:gd name="adj" fmla="val 279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1" name="统一风格-服务VPC-434">
            <a:extLst xmlns:a="http://schemas.openxmlformats.org/drawingml/2006/main">
              <a:ext uri="{FF2B5EF4-FFF2-40B4-BE49-F238E27FC236}">
                <a16:creationId xmlns:a16="http://schemas.microsoft.com/office/drawing/2014/main" id="{B5F2365C-0FC1-44FA-A527-37978691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3619500" cy="3067050"/>
          </a:xfrm>
          <a:prstGeom xmlns:a="http://schemas.openxmlformats.org/drawingml/2006/main" prst="roundRect">
            <a:avLst>
              <a:gd name="adj" fmla="val 279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2" name="统一风格-服务VPC玻璃内沿-435">
            <a:extLst xmlns:a="http://schemas.openxmlformats.org/drawingml/2006/main">
              <a:ext uri="{FF2B5EF4-FFF2-40B4-BE49-F238E27FC236}">
                <a16:creationId xmlns:a16="http://schemas.microsoft.com/office/drawing/2014/main" id="{90D02CD7-F287-4DA5-80FA-AA74D27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759" y="2127409"/>
            <a:ext cx="3593783" cy="3041333"/>
          </a:xfrm>
          <a:prstGeom xmlns:a="http://schemas.openxmlformats.org/drawingml/2006/main" prst="roundRect">
            <a:avLst>
              <a:gd name="adj" fmla="val 241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3" name="统一风格-服务VPC边缘高光-436">
            <a:extLst xmlns:a="http://schemas.openxmlformats.org/drawingml/2006/main">
              <a:ext uri="{FF2B5EF4-FFF2-40B4-BE49-F238E27FC236}">
                <a16:creationId xmlns:a16="http://schemas.microsoft.com/office/drawing/2014/main" id="{754A68B9-1C45-4C42-937B-9488973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3619500" cy="3067050"/>
          </a:xfrm>
          <a:custGeom xmlns:a="http://schemas.openxmlformats.org/drawingml/2006/main">
            <a:pathLst>
              <a:path w="3619500" h="3067050">
                <a:moveTo>
                  <a:pt x="95250" y="9525"/>
                </a:moveTo>
                <a:lnTo>
                  <a:pt x="3524250" y="9525"/>
                </a:lnTo>
                <a:cubicBezTo>
                  <a:pt x="3571875" y="9525"/>
                  <a:pt x="3609975" y="47625"/>
                  <a:pt x="3609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cloud VPC 云轮廓-437">
            <a:extLst xmlns:a="http://schemas.openxmlformats.org/drawingml/2006/main">
              <a:ext uri="{FF2B5EF4-FFF2-40B4-BE49-F238E27FC236}">
                <a16:creationId xmlns:a16="http://schemas.microsoft.com/office/drawing/2014/main" id="{DF225A6C-0D59-4833-A8E2-477EC33C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47900"/>
            <a:ext cx="466725" cy="4667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583" cap="rnd">
            <a:solidFill>
              <a:srgbClr val="2053C3"/>
            </a:solidFill>
            <a:round/>
          </a:ln>
        </p:spPr>
      </p:sp>
      <p:sp>
        <p:nvSpPr>
          <p:cNvPr id="55" name="统一风格-文字 服务 VPC-438">
            <a:extLst xmlns:a="http://schemas.openxmlformats.org/drawingml/2006/main">
              <a:ext uri="{FF2B5EF4-FFF2-40B4-BE49-F238E27FC236}">
                <a16:creationId xmlns:a16="http://schemas.microsoft.com/office/drawing/2014/main" id="{0A695426-2E81-4EB9-A8EB-7B93D1F2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05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 VPC</a:t>
            </a:r>
          </a:p>
        </p:txBody>
      </p:sp>
      <p:sp>
        <p:nvSpPr>
          <p:cNvPr id="56" name="统一风格-文字 10.80.0.0/16-439">
            <a:extLst xmlns:a="http://schemas.openxmlformats.org/drawingml/2006/main">
              <a:ext uri="{FF2B5EF4-FFF2-40B4-BE49-F238E27FC236}">
                <a16:creationId xmlns:a16="http://schemas.microsoft.com/office/drawing/2014/main" id="{45068910-0E3E-48AE-9548-F664770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765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10.80.0.0/16</a:t>
            </a:r>
          </a:p>
        </p:txBody>
      </p:sp>
      <p:sp>
        <p:nvSpPr>
          <p:cNvPr id="57" name="统一风格-私网 ELB玻璃后沿-440">
            <a:extLst xmlns:a="http://schemas.openxmlformats.org/drawingml/2006/main">
              <a:ext uri="{FF2B5EF4-FFF2-40B4-BE49-F238E27FC236}">
                <a16:creationId xmlns:a16="http://schemas.microsoft.com/office/drawing/2014/main" id="{F2D1480E-16D0-4EBA-9478-92A9A538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238500" cy="809625"/>
          </a:xfrm>
          <a:prstGeom xmlns:a="http://schemas.openxmlformats.org/drawingml/2006/main" prst="roundRect">
            <a:avLst>
              <a:gd name="adj" fmla="val 1058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统一风格-私网 ELB-441">
            <a:extLst xmlns:a="http://schemas.openxmlformats.org/drawingml/2006/main">
              <a:ext uri="{FF2B5EF4-FFF2-40B4-BE49-F238E27FC236}">
                <a16:creationId xmlns:a16="http://schemas.microsoft.com/office/drawing/2014/main" id="{57C69C57-B9C7-43E4-B4F5-C6E0349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238500" cy="809625"/>
          </a:xfrm>
          <a:prstGeom xmlns:a="http://schemas.openxmlformats.org/drawingml/2006/main" prst="roundRect">
            <a:avLst>
              <a:gd name="adj" fmla="val 1058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9" name="统一风格-私网 ELB玻璃内沿-442">
            <a:extLst xmlns:a="http://schemas.openxmlformats.org/drawingml/2006/main">
              <a:ext uri="{FF2B5EF4-FFF2-40B4-BE49-F238E27FC236}">
                <a16:creationId xmlns:a16="http://schemas.microsoft.com/office/drawing/2014/main" id="{516B3C4C-B750-490F-9A37-8B6C41A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259" y="3098959"/>
            <a:ext cx="3212783" cy="783908"/>
          </a:xfrm>
          <a:prstGeom xmlns:a="http://schemas.openxmlformats.org/drawingml/2006/main" prst="roundRect">
            <a:avLst>
              <a:gd name="adj" fmla="val 935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0" name="统一风格-私网 ELB透光反射面-443">
            <a:extLst xmlns:a="http://schemas.openxmlformats.org/drawingml/2006/main">
              <a:ext uri="{FF2B5EF4-FFF2-40B4-BE49-F238E27FC236}">
                <a16:creationId xmlns:a16="http://schemas.microsoft.com/office/drawing/2014/main" id="{DA40ADDA-0685-4CDF-B83C-EC5EB96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200400" cy="771525"/>
          </a:xfrm>
          <a:custGeom xmlns:a="http://schemas.openxmlformats.org/drawingml/2006/main">
            <a:pathLst>
              <a:path w="3200400" h="771525">
                <a:moveTo>
                  <a:pt x="76200" y="0"/>
                </a:moveTo>
                <a:lnTo>
                  <a:pt x="2048256" y="0"/>
                </a:lnTo>
                <a:lnTo>
                  <a:pt x="832104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61" name="统一风格-私网 ELB边缘高光-444">
            <a:extLst xmlns:a="http://schemas.openxmlformats.org/drawingml/2006/main">
              <a:ext uri="{FF2B5EF4-FFF2-40B4-BE49-F238E27FC236}">
                <a16:creationId xmlns:a16="http://schemas.microsoft.com/office/drawing/2014/main" id="{27F696D5-5866-4345-863B-718C8CA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238500" cy="809625"/>
          </a:xfrm>
          <a:custGeom xmlns:a="http://schemas.openxmlformats.org/drawingml/2006/main">
            <a:pathLst>
              <a:path w="3238500" h="80962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2" name="统一风格-统一互联图标 负载均衡-445">
            <a:extLst xmlns:a="http://schemas.openxmlformats.org/drawingml/2006/main">
              <a:ext uri="{FF2B5EF4-FFF2-40B4-BE49-F238E27FC236}">
                <a16:creationId xmlns:a16="http://schemas.microsoft.com/office/drawing/2014/main" id="{440D45B9-FB36-4DD9-B0F3-2AEAFF8B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3" name="统一风格-统一互联图标 分发路径-446">
            <a:extLst xmlns:a="http://schemas.openxmlformats.org/drawingml/2006/main">
              <a:ext uri="{FF2B5EF4-FFF2-40B4-BE49-F238E27FC236}">
                <a16:creationId xmlns:a16="http://schemas.microsoft.com/office/drawing/2014/main" id="{8A01F0CC-C01D-4BCF-97CF-94683FC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4" name="统一风格-统一互联图标 后端节点-447">
            <a:extLst xmlns:a="http://schemas.openxmlformats.org/drawingml/2006/main">
              <a:ext uri="{FF2B5EF4-FFF2-40B4-BE49-F238E27FC236}">
                <a16:creationId xmlns:a16="http://schemas.microsoft.com/office/drawing/2014/main" id="{686F798F-3887-47D3-8391-470A4DD4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5" name="统一风格-统一互联图标 后端节点-448">
            <a:extLst xmlns:a="http://schemas.openxmlformats.org/drawingml/2006/main">
              <a:ext uri="{FF2B5EF4-FFF2-40B4-BE49-F238E27FC236}">
                <a16:creationId xmlns:a16="http://schemas.microsoft.com/office/drawing/2014/main" id="{D9391EFA-8BBE-4827-B714-C6D6EB3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6" name="统一风格-统一互联图标 后端节点-449">
            <a:extLst xmlns:a="http://schemas.openxmlformats.org/drawingml/2006/main">
              <a:ext uri="{FF2B5EF4-FFF2-40B4-BE49-F238E27FC236}">
                <a16:creationId xmlns:a16="http://schemas.microsoft.com/office/drawing/2014/main" id="{71B31395-A4CA-45B6-A9E2-1D51C6B4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480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7" name="统一风格-文字 私网 ELB-450">
            <a:extLst xmlns:a="http://schemas.openxmlformats.org/drawingml/2006/main">
              <a:ext uri="{FF2B5EF4-FFF2-40B4-BE49-F238E27FC236}">
                <a16:creationId xmlns:a16="http://schemas.microsoft.com/office/drawing/2014/main" id="{4000E262-C875-4F3A-904D-BC143461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8" name="统一风格-文字 监听 TCP 443-451">
            <a:extLst xmlns:a="http://schemas.openxmlformats.org/drawingml/2006/main">
              <a:ext uri="{FF2B5EF4-FFF2-40B4-BE49-F238E27FC236}">
                <a16:creationId xmlns:a16="http://schemas.microsoft.com/office/drawing/2014/main" id="{3A7051CA-4137-4277-88EA-DB557719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52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监听 TCP 443</a:t>
            </a:r>
          </a:p>
        </p:txBody>
      </p:sp>
      <p:sp>
        <p:nvSpPr>
          <p:cNvPr id="69" name="统一风格-后端 ECS玻璃后沿-452">
            <a:extLst xmlns:a="http://schemas.openxmlformats.org/drawingml/2006/main">
              <a:ext uri="{FF2B5EF4-FFF2-40B4-BE49-F238E27FC236}">
                <a16:creationId xmlns:a16="http://schemas.microsoft.com/office/drawing/2014/main" id="{4CF62F7E-191B-421E-BED7-BA75D661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3238500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0" name="统一风格-后端 ECS-453">
            <a:extLst xmlns:a="http://schemas.openxmlformats.org/drawingml/2006/main">
              <a:ext uri="{FF2B5EF4-FFF2-40B4-BE49-F238E27FC236}">
                <a16:creationId xmlns:a16="http://schemas.microsoft.com/office/drawing/2014/main" id="{B1A582D0-A87C-4FCF-A515-E01B7B53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3238500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1" name="统一风格-后端 ECS玻璃内沿-454">
            <a:extLst xmlns:a="http://schemas.openxmlformats.org/drawingml/2006/main">
              <a:ext uri="{FF2B5EF4-FFF2-40B4-BE49-F238E27FC236}">
                <a16:creationId xmlns:a16="http://schemas.microsoft.com/office/drawing/2014/main" id="{C6679591-2B8F-4014-AF6D-6394C04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259" y="4156234"/>
            <a:ext cx="3212783" cy="802958"/>
          </a:xfrm>
          <a:prstGeom xmlns:a="http://schemas.openxmlformats.org/drawingml/2006/main" prst="roundRect">
            <a:avLst>
              <a:gd name="adj" fmla="val 913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2" name="统一风格-后端 ECS透光反射面-455">
            <a:extLst xmlns:a="http://schemas.openxmlformats.org/drawingml/2006/main">
              <a:ext uri="{FF2B5EF4-FFF2-40B4-BE49-F238E27FC236}">
                <a16:creationId xmlns:a16="http://schemas.microsoft.com/office/drawing/2014/main" id="{1FC3A04B-868B-4EFE-9518-630D2E1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62425"/>
            <a:ext cx="3200400" cy="790575"/>
          </a:xfrm>
          <a:custGeom xmlns:a="http://schemas.openxmlformats.org/drawingml/2006/main">
            <a:pathLst>
              <a:path w="3200400" h="790575">
                <a:moveTo>
                  <a:pt x="76200" y="0"/>
                </a:moveTo>
                <a:lnTo>
                  <a:pt x="2048256" y="0"/>
                </a:lnTo>
                <a:lnTo>
                  <a:pt x="832104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73" name="统一风格-后端 ECS边缘高光-456">
            <a:extLst xmlns:a="http://schemas.openxmlformats.org/drawingml/2006/main">
              <a:ext uri="{FF2B5EF4-FFF2-40B4-BE49-F238E27FC236}">
                <a16:creationId xmlns:a16="http://schemas.microsoft.com/office/drawing/2014/main" id="{AC356E61-3771-44B5-BE86-94D35FE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3238500" cy="828675"/>
          </a:xfrm>
          <a:custGeom xmlns:a="http://schemas.openxmlformats.org/drawingml/2006/main">
            <a:pathLst>
              <a:path w="3238500" h="82867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4" name="统一风格-server 服务器机架-457">
            <a:extLst xmlns:a="http://schemas.openxmlformats.org/drawingml/2006/main">
              <a:ext uri="{FF2B5EF4-FFF2-40B4-BE49-F238E27FC236}">
                <a16:creationId xmlns:a16="http://schemas.microsoft.com/office/drawing/2014/main" id="{D23403CE-E9CA-4D2A-851C-36CD3D2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75" name="统一风格-server 机架状态-458">
            <a:extLst xmlns:a="http://schemas.openxmlformats.org/drawingml/2006/main">
              <a:ext uri="{FF2B5EF4-FFF2-40B4-BE49-F238E27FC236}">
                <a16:creationId xmlns:a16="http://schemas.microsoft.com/office/drawing/2014/main" id="{BBB5E4CD-C95C-44BC-B9C4-587D3339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76" name="统一风格-server 指示灯-459">
            <a:extLst xmlns:a="http://schemas.openxmlformats.org/drawingml/2006/main">
              <a:ext uri="{FF2B5EF4-FFF2-40B4-BE49-F238E27FC236}">
                <a16:creationId xmlns:a16="http://schemas.microsoft.com/office/drawing/2014/main" id="{96050B7E-DA5F-4103-AF64-13FE242D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7" name="统一风格-server 服务器机架-460">
            <a:extLst xmlns:a="http://schemas.openxmlformats.org/drawingml/2006/main">
              <a:ext uri="{FF2B5EF4-FFF2-40B4-BE49-F238E27FC236}">
                <a16:creationId xmlns:a16="http://schemas.microsoft.com/office/drawing/2014/main" id="{4D056A4B-6197-435F-91B2-8FEB288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78" name="统一风格-server 机架状态-461">
            <a:extLst xmlns:a="http://schemas.openxmlformats.org/drawingml/2006/main">
              <a:ext uri="{FF2B5EF4-FFF2-40B4-BE49-F238E27FC236}">
                <a16:creationId xmlns:a16="http://schemas.microsoft.com/office/drawing/2014/main" id="{2DD1C577-68AD-46CF-9688-740DEBA6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79" name="统一风格-server 指示灯-462">
            <a:extLst xmlns:a="http://schemas.openxmlformats.org/drawingml/2006/main">
              <a:ext uri="{FF2B5EF4-FFF2-40B4-BE49-F238E27FC236}">
                <a16:creationId xmlns:a16="http://schemas.microsoft.com/office/drawing/2014/main" id="{C9E69083-FF31-4F74-B76F-CCCFE71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80" name="统一风格-server 服务器机架-463">
            <a:extLst xmlns:a="http://schemas.openxmlformats.org/drawingml/2006/main">
              <a:ext uri="{FF2B5EF4-FFF2-40B4-BE49-F238E27FC236}">
                <a16:creationId xmlns:a16="http://schemas.microsoft.com/office/drawing/2014/main" id="{CE163476-F11C-4A07-8B9F-B03ED89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81" name="统一风格-server 机架状态-464">
            <a:extLst xmlns:a="http://schemas.openxmlformats.org/drawingml/2006/main">
              <a:ext uri="{FF2B5EF4-FFF2-40B4-BE49-F238E27FC236}">
                <a16:creationId xmlns:a16="http://schemas.microsoft.com/office/drawing/2014/main" id="{13310863-8DD3-46BA-9CAB-FF9C0E8C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5169" cap="rnd">
            <a:solidFill>
              <a:srgbClr val="2053C3"/>
            </a:solidFill>
            <a:round/>
          </a:ln>
        </p:spPr>
      </p:sp>
      <p:sp>
        <p:nvSpPr>
          <p:cNvPr id="82" name="统一风格-server 指示灯-465">
            <a:extLst xmlns:a="http://schemas.openxmlformats.org/drawingml/2006/main">
              <a:ext uri="{FF2B5EF4-FFF2-40B4-BE49-F238E27FC236}">
                <a16:creationId xmlns:a16="http://schemas.microsoft.com/office/drawing/2014/main" id="{E2FBD2A4-C0FA-4278-AE64-51F89A5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7213"/>
            <a:ext cx="381000" cy="3810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83" name="统一风格-文字 后端 ECS-466">
            <a:extLst xmlns:a="http://schemas.openxmlformats.org/drawingml/2006/main">
              <a:ext uri="{FF2B5EF4-FFF2-40B4-BE49-F238E27FC236}">
                <a16:creationId xmlns:a16="http://schemas.microsoft.com/office/drawing/2014/main" id="{D057C92D-F415-487A-B2E6-F9238354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86250"/>
            <a:ext cx="2409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</a:t>
            </a:r>
          </a:p>
        </p:txBody>
      </p:sp>
      <p:sp>
        <p:nvSpPr>
          <p:cNvPr id="84" name="统一风格-文字 API 应用服务-467">
            <a:extLst xmlns:a="http://schemas.openxmlformats.org/drawingml/2006/main">
              <a:ext uri="{FF2B5EF4-FFF2-40B4-BE49-F238E27FC236}">
                <a16:creationId xmlns:a16="http://schemas.microsoft.com/office/drawing/2014/main" id="{F6F99C27-C704-4DCF-B759-33096E74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38675"/>
            <a:ext cx="2409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API 应用服务</a:t>
            </a:r>
          </a:p>
        </p:txBody>
      </p:sp>
      <p:cxnSp>
        <p:nvCxnSpPr>
          <p:cNvPr id="85" name="网络连接-37">
            <a:extLst xmlns:a="http://schemas.openxmlformats.org/drawingml/2006/main">
              <a:ext uri="{FF2B5EF4-FFF2-40B4-BE49-F238E27FC236}">
                <a16:creationId xmlns:a16="http://schemas.microsoft.com/office/drawing/2014/main" id="{9345F486-80CB-4780-A6EC-EBD8BA7A40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72650" y="3895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6" name="网络连接-38">
            <a:extLst xmlns:a="http://schemas.openxmlformats.org/drawingml/2006/main">
              <a:ext uri="{FF2B5EF4-FFF2-40B4-BE49-F238E27FC236}">
                <a16:creationId xmlns:a16="http://schemas.microsoft.com/office/drawing/2014/main" id="{7D1C12C4-C423-45F8-AD40-0B00E99B0D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86650" y="43910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</a:ln>
        </p:spPr>
      </p:cxnSp>
      <p:cxnSp>
        <p:nvCxnSpPr>
          <p:cNvPr id="87" name="网络连接-39">
            <a:extLst xmlns:a="http://schemas.openxmlformats.org/drawingml/2006/main">
              <a:ext uri="{FF2B5EF4-FFF2-40B4-BE49-F238E27FC236}">
                <a16:creationId xmlns:a16="http://schemas.microsoft.com/office/drawing/2014/main" id="{108DF0CC-2C3B-4B05-923A-865105AC3E6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715250" y="34861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</a:ln>
        </p:spPr>
      </p:cxnSp>
      <p:cxnSp>
        <p:nvCxnSpPr>
          <p:cNvPr id="88" name="网络连接-40">
            <a:extLst xmlns:a="http://schemas.openxmlformats.org/drawingml/2006/main">
              <a:ext uri="{FF2B5EF4-FFF2-40B4-BE49-F238E27FC236}">
                <a16:creationId xmlns:a16="http://schemas.microsoft.com/office/drawing/2014/main" id="{14E8FF91-F326-4F21-B765-A24CD2140B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15250" y="34861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9" name="统一风格-访问范围玻璃后沿-468">
            <a:extLst xmlns:a="http://schemas.openxmlformats.org/drawingml/2006/main">
              <a:ext uri="{FF2B5EF4-FFF2-40B4-BE49-F238E27FC236}">
                <a16:creationId xmlns:a16="http://schemas.microsoft.com/office/drawing/2014/main" id="{CA2C9146-9AD3-478F-AD7F-582A214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90" name="统一风格-访问范围-469">
            <a:extLst xmlns:a="http://schemas.openxmlformats.org/drawingml/2006/main">
              <a:ext uri="{FF2B5EF4-FFF2-40B4-BE49-F238E27FC236}">
                <a16:creationId xmlns:a16="http://schemas.microsoft.com/office/drawing/2014/main" id="{40720D1A-5580-4FEF-8382-A7342A01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1" name="统一风格-访问范围玻璃内沿-470">
            <a:extLst xmlns:a="http://schemas.openxmlformats.org/drawingml/2006/main">
              <a:ext uri="{FF2B5EF4-FFF2-40B4-BE49-F238E27FC236}">
                <a16:creationId xmlns:a16="http://schemas.microsoft.com/office/drawing/2014/main" id="{341244E3-09F7-4AE9-8C5B-8E7B9A9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373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2" name="统一风格-访问范围边缘高光-471">
            <a:extLst xmlns:a="http://schemas.openxmlformats.org/drawingml/2006/main">
              <a:ext uri="{FF2B5EF4-FFF2-40B4-BE49-F238E27FC236}">
                <a16:creationId xmlns:a16="http://schemas.microsoft.com/office/drawing/2014/main" id="{A28E0606-7F36-4EE7-B4DD-E7222A6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3" name="统一风格-文字 访问范围-472">
            <a:extLst xmlns:a="http://schemas.openxmlformats.org/drawingml/2006/main">
              <a:ext uri="{FF2B5EF4-FFF2-40B4-BE49-F238E27FC236}">
                <a16:creationId xmlns:a16="http://schemas.microsoft.com/office/drawing/2014/main" id="{5346DCB9-8D39-407F-9818-23F5CE9C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访问范围</a:t>
            </a:r>
          </a:p>
        </p:txBody>
      </p:sp>
      <p:sp>
        <p:nvSpPr>
          <p:cNvPr id="94" name="统一风格-文字 终端节点暴露指定服务和端口，消费者无需获得服务 VPC 的整网路由。-473">
            <a:extLst xmlns:a="http://schemas.openxmlformats.org/drawingml/2006/main">
              <a:ext uri="{FF2B5EF4-FFF2-40B4-BE49-F238E27FC236}">
                <a16:creationId xmlns:a16="http://schemas.microsoft.com/office/drawing/2014/main" id="{17686157-5DAC-4300-8A01-0E61DE8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29250"/>
            <a:ext cx="884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终端节点暴露指定服务和端口，消费者无需获得服务 VPC 的整网路由。</a:t>
            </a:r>
          </a:p>
        </p:txBody>
      </p:sp>
    </p:spTree>
    <p:extLst>
      <p:ext uri="{BB962C8B-B14F-4D97-AF65-F5344CB8AC3E}">
        <p14:creationId xmlns:p14="http://schemas.microsoft.com/office/powerpoint/2010/main" val="82421928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3AE678B2-BCF3-4EFC-91A8-1822DFDC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VPCEP：授权、端口映射与后端放行-475">
            <a:extLst xmlns:a="http://schemas.openxmlformats.org/drawingml/2006/main">
              <a:ext uri="{FF2B5EF4-FFF2-40B4-BE49-F238E27FC236}">
                <a16:creationId xmlns:a16="http://schemas.microsoft.com/office/drawing/2014/main" id="{CB8A7579-F61F-4DA5-BAE8-09BBCB8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VPCEP：授权、端口映射与后端放行</a:t>
            </a:r>
          </a:p>
        </p:txBody>
      </p:sp>
      <p:sp>
        <p:nvSpPr>
          <p:cNvPr id="3" name="统一风格-文字 服务能被发现、连接能被接受、后端能接收转发流量，分别核验-476">
            <a:extLst xmlns:a="http://schemas.openxmlformats.org/drawingml/2006/main">
              <a:ext uri="{FF2B5EF4-FFF2-40B4-BE49-F238E27FC236}">
                <a16:creationId xmlns:a16="http://schemas.microsoft.com/office/drawing/2014/main" id="{E2F42D05-7B0C-4FE2-9223-99F3F008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服务能被发现、连接能被接受、后端能接收转发流量，分别核验</a:t>
            </a:r>
          </a:p>
        </p:txBody>
      </p:sp>
      <p:cxnSp>
        <p:nvCxnSpPr>
          <p:cNvPr id="4" name="网络连接-41">
            <a:extLst xmlns:a="http://schemas.openxmlformats.org/drawingml/2006/main">
              <a:ext uri="{FF2B5EF4-FFF2-40B4-BE49-F238E27FC236}">
                <a16:creationId xmlns:a16="http://schemas.microsoft.com/office/drawing/2014/main" id="{3C31F0A3-19DE-4F86-AE82-8B5C9F8836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正文-本例采用 ELB 后端。其他后端需按对应文档确认源地址及安全策略。">
            <a:extLst xmlns:a="http://schemas.openxmlformats.org/drawingml/2006/main">
              <a:ext uri="{FF2B5EF4-FFF2-40B4-BE49-F238E27FC236}">
                <a16:creationId xmlns:a16="http://schemas.microsoft.com/office/drawing/2014/main" id="{CC5326B1-8B7E-46E9-8D08-4E47685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本例采用 ELB 后端。其他后端需按对应文档确认源地址及安全策略。</ns0:t>
            </ns0:r>
          </ns0:p>
        </p:txBody>
      </p:sp>
      <p:sp>
        <p:nvSpPr>
          <p:cNvPr id="6" name="正文-26">
            <a:extLst xmlns:a="http://schemas.openxmlformats.org/drawingml/2006/main">
              <a:ext uri="{FF2B5EF4-FFF2-40B4-BE49-F238E27FC236}">
                <a16:creationId xmlns:a16="http://schemas.microsoft.com/office/drawing/2014/main" id="{E4884AE3-3518-49C3-BF73-A6D4873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33</ns0:t>
            </ns0:r>
          </ns0:p>
        </p:txBody>
      </p:sp>
      <p:sp>
        <p:nvSpPr>
          <p:cNvPr id="7" name="统一风格-路由与配置表玻璃后沿-479">
            <a:extLst xmlns:a="http://schemas.openxmlformats.org/drawingml/2006/main">
              <a:ext uri="{FF2B5EF4-FFF2-40B4-BE49-F238E27FC236}">
                <a16:creationId xmlns:a16="http://schemas.microsoft.com/office/drawing/2014/main" id="{E5D894BD-A6F1-4C38-B61A-E06195A5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prstGeom xmlns:a="http://schemas.openxmlformats.org/drawingml/2006/main" prst="roundRect">
            <a:avLst>
              <a:gd name="adj" fmla="val 230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路由与配置表-480">
            <a:extLst xmlns:a="http://schemas.openxmlformats.org/drawingml/2006/main">
              <a:ext uri="{FF2B5EF4-FFF2-40B4-BE49-F238E27FC236}">
                <a16:creationId xmlns:a16="http://schemas.microsoft.com/office/drawing/2014/main" id="{B6AF8C16-8B93-4614-A9C3-71E14D8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prstGeom xmlns:a="http://schemas.openxmlformats.org/drawingml/2006/main" prst="roundRect">
            <a:avLst>
              <a:gd name="adj" fmla="val 230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路由与配置表玻璃内沿-481">
            <a:extLst xmlns:a="http://schemas.openxmlformats.org/drawingml/2006/main">
              <a:ext uri="{FF2B5EF4-FFF2-40B4-BE49-F238E27FC236}">
                <a16:creationId xmlns:a16="http://schemas.microsoft.com/office/drawing/2014/main" id="{4BA61CEA-5067-44E5-BADB-0FDD14D4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689033"/>
          </a:xfrm>
          <a:prstGeom xmlns:a="http://schemas.openxmlformats.org/drawingml/2006/main" prst="roundRect">
            <a:avLst>
              <a:gd name="adj" fmla="val 198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路由与配置表边缘高光-482">
            <a:extLst xmlns:a="http://schemas.openxmlformats.org/drawingml/2006/main">
              <a:ext uri="{FF2B5EF4-FFF2-40B4-BE49-F238E27FC236}">
                <a16:creationId xmlns:a16="http://schemas.microsoft.com/office/drawing/2014/main" id="{990D1AEE-523D-4E75-8E88-B340AF6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custGeom xmlns:a="http://schemas.openxmlformats.org/drawingml/2006/main"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27E84-B70D-4C4F-BF02-C3B3F0FF23B4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057775"/>
                <a:gridCol w="4200525"/>
              </a:tblGrid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 / 操作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服务发布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ELB，TCP 443 映射至 443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服务对象、映射与监听一致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连接授权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/ 项目，按需审批连接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跨账号另配服务账号白名单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消费端访问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仅允许批准的消费源 CIDR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放通 198.19.128.0/17 的必要业务端口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访问控制开启时同步核验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访问终端节点 IP / 内网域名的 443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应通、应拒绝与后端健康均通过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4759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EE9D6F3F-53E7-4B90-B8E1-F0B6707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CC 中心网络案例：跨 Region 的 VPC 互联-484">
            <a:extLst xmlns:a="http://schemas.openxmlformats.org/drawingml/2006/main">
              <a:ext uri="{FF2B5EF4-FFF2-40B4-BE49-F238E27FC236}">
                <a16:creationId xmlns:a16="http://schemas.microsoft.com/office/drawing/2014/main" id="{42FCCCAB-DEA9-4C41-B667-335D49B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中心网络案例：跨 Region 的 VPC 互联</a:t>
            </a:r>
          </a:p>
        </p:txBody>
      </p:sp>
      <p:sp>
        <p:nvSpPr>
          <p:cNvPr id="3" name="统一风格-文字 各区域的 VPC 接入本地 ER，中心网络连接这些 ER-485">
            <a:extLst xmlns:a="http://schemas.openxmlformats.org/drawingml/2006/main">
              <a:ext uri="{FF2B5EF4-FFF2-40B4-BE49-F238E27FC236}">
                <a16:creationId xmlns:a16="http://schemas.microsoft.com/office/drawing/2014/main" id="{F701D587-8205-40BA-BC97-905703E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各区域的 VPC 接入本地 ER，中心网络连接这些 ER</a:t>
            </a:r>
          </a:p>
        </p:txBody>
      </p:sp>
      <p:cxnSp>
        <p:nvCxnSpPr>
          <p:cNvPr id="4" name="网络连接-42">
            <a:extLst xmlns:a="http://schemas.openxmlformats.org/drawingml/2006/main">
              <a:ext uri="{FF2B5EF4-FFF2-40B4-BE49-F238E27FC236}">
                <a16:creationId xmlns:a16="http://schemas.microsoft.com/office/drawing/2014/main" id="{3700E356-6189-4CFB-B6BD-CA2379AA6D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本例使用中心网络模式。它与云连接实例直接加载 VPC 的模式不同。-486">
            <a:extLst xmlns:a="http://schemas.openxmlformats.org/drawingml/2006/main">
              <a:ext uri="{FF2B5EF4-FFF2-40B4-BE49-F238E27FC236}">
                <a16:creationId xmlns:a16="http://schemas.microsoft.com/office/drawing/2014/main" id="{71B08EC7-E56A-4C8A-BB37-E3CEE7B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本例使用中心网络模式。它与云连接实例直接加载 VPC 的模式不同。</a:t>
            </a:r>
          </a:p>
        </p:txBody>
      </p:sp>
      <p:sp>
        <p:nvSpPr>
          <p:cNvPr id="6" name="正文-27">
            <a:extLst xmlns:a="http://schemas.openxmlformats.org/drawingml/2006/main">
              <a:ext uri="{FF2B5EF4-FFF2-40B4-BE49-F238E27FC236}">
                <a16:creationId xmlns:a16="http://schemas.microsoft.com/office/drawing/2014/main" id="{FF0EAE09-DEFA-47CC-AA2C-AE9470B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44</ns1:t>
            </ns1:r>
          </ns1:p>
        </p:txBody>
      </p:sp>
      <p:sp>
        <p:nvSpPr>
          <p:cNvPr id="7" name="统一风格-Region A玻璃后沿-488">
            <a:extLst xmlns:a="http://schemas.openxmlformats.org/drawingml/2006/main">
              <a:ext uri="{FF2B5EF4-FFF2-40B4-BE49-F238E27FC236}">
                <a16:creationId xmlns:a16="http://schemas.microsoft.com/office/drawing/2014/main" id="{40D23C19-62C6-499F-9566-ABD025D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3552825" cy="3076575"/>
          </a:xfrm>
          <a:prstGeom xmlns:a="http://schemas.openxmlformats.org/drawingml/2006/main" prst="roundRect">
            <a:avLst>
              <a:gd name="adj" fmla="val 278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Region A-489">
            <a:extLst xmlns:a="http://schemas.openxmlformats.org/drawingml/2006/main">
              <a:ext uri="{FF2B5EF4-FFF2-40B4-BE49-F238E27FC236}">
                <a16:creationId xmlns:a16="http://schemas.microsoft.com/office/drawing/2014/main" id="{21412901-4798-4DE5-A542-42D3C62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3552825" cy="3076575"/>
          </a:xfrm>
          <a:prstGeom xmlns:a="http://schemas.openxmlformats.org/drawingml/2006/main" prst="roundRect">
            <a:avLst>
              <a:gd name="adj" fmla="val 278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Region A玻璃内沿-490">
            <a:extLst xmlns:a="http://schemas.openxmlformats.org/drawingml/2006/main">
              <a:ext uri="{FF2B5EF4-FFF2-40B4-BE49-F238E27FC236}">
                <a16:creationId xmlns:a16="http://schemas.microsoft.com/office/drawing/2014/main" id="{F61FC51D-CD5C-45A9-B178-A97BB79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36934"/>
            <a:ext cx="3527108" cy="3050858"/>
          </a:xfrm>
          <a:prstGeom xmlns:a="http://schemas.openxmlformats.org/drawingml/2006/main" prst="roundRect">
            <a:avLst>
              <a:gd name="adj" fmla="val 240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Region A边缘高光-491">
            <a:extLst xmlns:a="http://schemas.openxmlformats.org/drawingml/2006/main">
              <a:ext uri="{FF2B5EF4-FFF2-40B4-BE49-F238E27FC236}">
                <a16:creationId xmlns:a16="http://schemas.microsoft.com/office/drawing/2014/main" id="{45858E0D-02FC-4EFC-8230-FFECC71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3552825" cy="3076575"/>
          </a:xfrm>
          <a:custGeom xmlns:a="http://schemas.openxmlformats.org/drawingml/2006/main"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Region A-492">
            <a:extLst xmlns:a="http://schemas.openxmlformats.org/drawingml/2006/main">
              <a:ext uri="{FF2B5EF4-FFF2-40B4-BE49-F238E27FC236}">
                <a16:creationId xmlns:a16="http://schemas.microsoft.com/office/drawing/2014/main" id="{4B3A9CB4-F29D-4493-BB87-9E0CB3B9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Region A</a:t>
            </a:r>
          </a:p>
        </p:txBody>
      </p:sp>
      <p:sp>
        <p:nvSpPr>
          <p:cNvPr id="12" name="统一风格-业务 VPC玻璃后沿-493">
            <a:extLst xmlns:a="http://schemas.openxmlformats.org/drawingml/2006/main">
              <a:ext uri="{FF2B5EF4-FFF2-40B4-BE49-F238E27FC236}">
                <a16:creationId xmlns:a16="http://schemas.microsoft.com/office/drawing/2014/main" id="{6218D1A6-7E95-4792-A80D-F0F873B1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统一风格-业务 VPC-494">
            <a:extLst xmlns:a="http://schemas.openxmlformats.org/drawingml/2006/main">
              <a:ext uri="{FF2B5EF4-FFF2-40B4-BE49-F238E27FC236}">
                <a16:creationId xmlns:a16="http://schemas.microsoft.com/office/drawing/2014/main" id="{0023C179-22FE-4DF7-B4F6-A7DA4D7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业务 VPC玻璃内沿-495">
            <a:extLst xmlns:a="http://schemas.openxmlformats.org/drawingml/2006/main">
              <a:ext uri="{FF2B5EF4-FFF2-40B4-BE49-F238E27FC236}">
                <a16:creationId xmlns:a16="http://schemas.microsoft.com/office/drawing/2014/main" id="{CA160DA3-5008-411A-8952-F2AE4F4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2832259"/>
            <a:ext cx="3146108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业务 VPC透光反射面-496">
            <a:extLst xmlns:a="http://schemas.openxmlformats.org/drawingml/2006/main">
              <a:ext uri="{FF2B5EF4-FFF2-40B4-BE49-F238E27FC236}">
                <a16:creationId xmlns:a16="http://schemas.microsoft.com/office/drawing/2014/main" id="{33678017-3E75-4525-ABCD-E2A97A4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3133725" cy="838200"/>
          </a:xfrm>
          <a:custGeom xmlns:a="http://schemas.openxmlformats.org/drawingml/2006/main"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6" name="统一风格-业务 VPC边缘高光-497">
            <a:extLst xmlns:a="http://schemas.openxmlformats.org/drawingml/2006/main">
              <a:ext uri="{FF2B5EF4-FFF2-40B4-BE49-F238E27FC236}">
                <a16:creationId xmlns:a16="http://schemas.microsoft.com/office/drawing/2014/main" id="{3C222CB9-4D88-46ED-AE64-0C40225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171825" cy="876300"/>
          </a:xfrm>
          <a:custGeom xmlns:a="http://schemas.openxmlformats.org/drawingml/2006/main"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cloud VPC 云轮廓-498">
            <a:extLst xmlns:a="http://schemas.openxmlformats.org/drawingml/2006/main">
              <a:ext uri="{FF2B5EF4-FFF2-40B4-BE49-F238E27FC236}">
                <a16:creationId xmlns:a16="http://schemas.microsoft.com/office/drawing/2014/main" id="{4818EC08-DB6A-4A4B-ABB7-0455BB27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32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18" name="统一风格-文字 业务 VPC-499">
            <a:extLst xmlns:a="http://schemas.openxmlformats.org/drawingml/2006/main">
              <a:ext uri="{FF2B5EF4-FFF2-40B4-BE49-F238E27FC236}">
                <a16:creationId xmlns:a16="http://schemas.microsoft.com/office/drawing/2014/main" id="{6A1B37F8-FEA9-48D0-AF06-92CEA24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19" name="统一风格-文字 10.90.0.0/16-500">
            <a:extLst xmlns:a="http://schemas.openxmlformats.org/drawingml/2006/main">
              <a:ext uri="{FF2B5EF4-FFF2-40B4-BE49-F238E27FC236}">
                <a16:creationId xmlns:a16="http://schemas.microsoft.com/office/drawing/2014/main" id="{44B8D1AB-6796-40B3-8EEC-BC4FD2F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10.90.0.0/16</a:t>
            </a:r>
          </a:p>
        </p:txBody>
      </p:sp>
      <p:sp>
        <p:nvSpPr>
          <p:cNvPr id="20" name="统一风格-ER-A玻璃后沿-501">
            <a:extLst xmlns:a="http://schemas.openxmlformats.org/drawingml/2006/main">
              <a:ext uri="{FF2B5EF4-FFF2-40B4-BE49-F238E27FC236}">
                <a16:creationId xmlns:a16="http://schemas.microsoft.com/office/drawing/2014/main" id="{908F6F75-5D0D-4313-B8BB-DA4A89D9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统一风格-ER-A-502">
            <a:extLst xmlns:a="http://schemas.openxmlformats.org/drawingml/2006/main">
              <a:ext uri="{FF2B5EF4-FFF2-40B4-BE49-F238E27FC236}">
                <a16:creationId xmlns:a16="http://schemas.microsoft.com/office/drawing/2014/main" id="{58ACE5AF-408D-4DC8-B23F-09C9DBA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2" name="统一风格-ER-A玻璃内沿-503">
            <a:extLst xmlns:a="http://schemas.openxmlformats.org/drawingml/2006/main">
              <a:ext uri="{FF2B5EF4-FFF2-40B4-BE49-F238E27FC236}">
                <a16:creationId xmlns:a16="http://schemas.microsoft.com/office/drawing/2014/main" id="{DA466403-40FE-43E2-B99D-540EBFFB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4127659"/>
            <a:ext cx="3146108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3" name="统一风格-ER-A透光反射面-504">
            <a:extLst xmlns:a="http://schemas.openxmlformats.org/drawingml/2006/main">
              <a:ext uri="{FF2B5EF4-FFF2-40B4-BE49-F238E27FC236}">
                <a16:creationId xmlns:a16="http://schemas.microsoft.com/office/drawing/2014/main" id="{2635C7A4-03A9-4DFE-BD83-662E297C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3133725" cy="838200"/>
          </a:xfrm>
          <a:custGeom xmlns:a="http://schemas.openxmlformats.org/drawingml/2006/main"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4" name="统一风格-ER-A边缘高光-505">
            <a:extLst xmlns:a="http://schemas.openxmlformats.org/drawingml/2006/main">
              <a:ext uri="{FF2B5EF4-FFF2-40B4-BE49-F238E27FC236}">
                <a16:creationId xmlns:a16="http://schemas.microsoft.com/office/drawing/2014/main" id="{44E3AB35-7F50-4B68-B12D-3E5C46F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171825" cy="876300"/>
          </a:xfrm>
          <a:custGeom xmlns:a="http://schemas.openxmlformats.org/drawingml/2006/main"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统一风格-router ER 路由器外形-506">
            <a:extLst xmlns:a="http://schemas.openxmlformats.org/drawingml/2006/main">
              <a:ext uri="{FF2B5EF4-FFF2-40B4-BE49-F238E27FC236}">
                <a16:creationId xmlns:a16="http://schemas.microsoft.com/office/drawing/2014/main" id="{90DFA13F-DA71-408E-A61A-A88C383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86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26" name="统一风格-router ER 四向路由-507">
            <a:extLst xmlns:a="http://schemas.openxmlformats.org/drawingml/2006/main">
              <a:ext uri="{FF2B5EF4-FFF2-40B4-BE49-F238E27FC236}">
                <a16:creationId xmlns:a16="http://schemas.microsoft.com/office/drawing/2014/main" id="{EC6014C7-0855-436C-9E50-CC040DA7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86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27" name="统一风格-文字 ER-A-508">
            <a:extLst xmlns:a="http://schemas.openxmlformats.org/drawingml/2006/main">
              <a:ext uri="{FF2B5EF4-FFF2-40B4-BE49-F238E27FC236}">
                <a16:creationId xmlns:a16="http://schemas.microsoft.com/office/drawing/2014/main" id="{7282DE31-AF86-441F-AEB3-535AAD4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ER-A</a:t>
            </a:r>
          </a:p>
        </p:txBody>
      </p:sp>
      <p:sp>
        <p:nvSpPr>
          <p:cNvPr id="28" name="统一风格-文字 本区域企业路由器-509">
            <a:extLst xmlns:a="http://schemas.openxmlformats.org/drawingml/2006/main">
              <a:ext uri="{FF2B5EF4-FFF2-40B4-BE49-F238E27FC236}">
                <a16:creationId xmlns:a16="http://schemas.microsoft.com/office/drawing/2014/main" id="{5095690D-AA7D-4A0D-A090-EC346A6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29" name="网络连接-43">
            <a:extLst xmlns:a="http://schemas.openxmlformats.org/drawingml/2006/main">
              <a:ext uri="{FF2B5EF4-FFF2-40B4-BE49-F238E27FC236}">
                <a16:creationId xmlns:a16="http://schemas.microsoft.com/office/drawing/2014/main" id="{B8BDF1F8-C37C-4892-AE6B-05EE49DFD4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90775" y="36957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</a:ln>
        </p:spPr>
      </p:cxnSp>
      <p:sp>
        <p:nvSpPr>
          <p:cNvPr id="30" name="统一风格-Region B玻璃后沿-510">
            <a:extLst xmlns:a="http://schemas.openxmlformats.org/drawingml/2006/main">
              <a:ext uri="{FF2B5EF4-FFF2-40B4-BE49-F238E27FC236}">
                <a16:creationId xmlns:a16="http://schemas.microsoft.com/office/drawing/2014/main" id="{39875DD5-3216-4975-A1B9-01CDFFA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24075"/>
            <a:ext cx="3552825" cy="3076575"/>
          </a:xfrm>
          <a:prstGeom xmlns:a="http://schemas.openxmlformats.org/drawingml/2006/main" prst="roundRect">
            <a:avLst>
              <a:gd name="adj" fmla="val 278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Region B-511">
            <a:extLst xmlns:a="http://schemas.openxmlformats.org/drawingml/2006/main">
              <a:ext uri="{FF2B5EF4-FFF2-40B4-BE49-F238E27FC236}">
                <a16:creationId xmlns:a16="http://schemas.microsoft.com/office/drawing/2014/main" id="{FF42A471-2EBA-45A9-A4B3-1FAAAE3B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24075"/>
            <a:ext cx="3552825" cy="3076575"/>
          </a:xfrm>
          <a:prstGeom xmlns:a="http://schemas.openxmlformats.org/drawingml/2006/main" prst="roundRect">
            <a:avLst>
              <a:gd name="adj" fmla="val 278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Region B玻璃内沿-512">
            <a:extLst xmlns:a="http://schemas.openxmlformats.org/drawingml/2006/main">
              <a:ext uri="{FF2B5EF4-FFF2-40B4-BE49-F238E27FC236}">
                <a16:creationId xmlns:a16="http://schemas.microsoft.com/office/drawing/2014/main" id="{130E98D8-A4EC-43C7-B3F9-4A4409F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34" y="2136934"/>
            <a:ext cx="3527108" cy="3050858"/>
          </a:xfrm>
          <a:prstGeom xmlns:a="http://schemas.openxmlformats.org/drawingml/2006/main" prst="roundRect">
            <a:avLst>
              <a:gd name="adj" fmla="val 240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Region B边缘高光-513">
            <a:extLst xmlns:a="http://schemas.openxmlformats.org/drawingml/2006/main">
              <a:ext uri="{FF2B5EF4-FFF2-40B4-BE49-F238E27FC236}">
                <a16:creationId xmlns:a16="http://schemas.microsoft.com/office/drawing/2014/main" id="{77FF3B26-4866-4617-A97D-5496299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24075"/>
            <a:ext cx="3552825" cy="3076575"/>
          </a:xfrm>
          <a:custGeom xmlns:a="http://schemas.openxmlformats.org/drawingml/2006/main"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文字 Region B-514">
            <a:extLst xmlns:a="http://schemas.openxmlformats.org/drawingml/2006/main">
              <a:ext uri="{FF2B5EF4-FFF2-40B4-BE49-F238E27FC236}">
                <a16:creationId xmlns:a16="http://schemas.microsoft.com/office/drawing/2014/main" id="{7F272A5D-0579-40AF-83C7-8759548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669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Region B</a:t>
            </a:r>
          </a:p>
        </p:txBody>
      </p:sp>
      <p:sp>
        <p:nvSpPr>
          <p:cNvPr id="35" name="统一风格-业务 VPC玻璃后沿-515">
            <a:extLst xmlns:a="http://schemas.openxmlformats.org/drawingml/2006/main">
              <a:ext uri="{FF2B5EF4-FFF2-40B4-BE49-F238E27FC236}">
                <a16:creationId xmlns:a16="http://schemas.microsoft.com/office/drawing/2014/main" id="{BDB2B044-C4A4-4F38-85F6-255C8EE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194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统一风格-业务 VPC-516">
            <a:extLst xmlns:a="http://schemas.openxmlformats.org/drawingml/2006/main">
              <a:ext uri="{FF2B5EF4-FFF2-40B4-BE49-F238E27FC236}">
                <a16:creationId xmlns:a16="http://schemas.microsoft.com/office/drawing/2014/main" id="{6940FC14-38C6-40BD-9EB9-954E65E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194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业务 VPC玻璃内沿-517">
            <a:extLst xmlns:a="http://schemas.openxmlformats.org/drawingml/2006/main">
              <a:ext uri="{FF2B5EF4-FFF2-40B4-BE49-F238E27FC236}">
                <a16:creationId xmlns:a16="http://schemas.microsoft.com/office/drawing/2014/main" id="{4DD082BD-987E-4457-AAB2-DFD5B59A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934" y="2832259"/>
            <a:ext cx="3146108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业务 VPC透光反射面-518">
            <a:extLst xmlns:a="http://schemas.openxmlformats.org/drawingml/2006/main">
              <a:ext uri="{FF2B5EF4-FFF2-40B4-BE49-F238E27FC236}">
                <a16:creationId xmlns:a16="http://schemas.microsoft.com/office/drawing/2014/main" id="{4EE8AB66-871F-4B59-837B-C4CADD4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38450"/>
            <a:ext cx="3133725" cy="838200"/>
          </a:xfrm>
          <a:custGeom xmlns:a="http://schemas.openxmlformats.org/drawingml/2006/main"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9" name="统一风格-业务 VPC边缘高光-519">
            <a:extLst xmlns:a="http://schemas.openxmlformats.org/drawingml/2006/main">
              <a:ext uri="{FF2B5EF4-FFF2-40B4-BE49-F238E27FC236}">
                <a16:creationId xmlns:a16="http://schemas.microsoft.com/office/drawing/2014/main" id="{3872BB40-C128-4932-9AC8-251B2713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19400"/>
            <a:ext cx="3171825" cy="876300"/>
          </a:xfrm>
          <a:custGeom xmlns:a="http://schemas.openxmlformats.org/drawingml/2006/main"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0" name="统一风格-cloud VPC 云轮廓-520">
            <a:extLst xmlns:a="http://schemas.openxmlformats.org/drawingml/2006/main">
              <a:ext uri="{FF2B5EF4-FFF2-40B4-BE49-F238E27FC236}">
                <a16:creationId xmlns:a16="http://schemas.microsoft.com/office/drawing/2014/main" id="{D793DCFE-14D9-4C54-B014-F786A030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432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41" name="统一风格-文字 业务 VPC-521">
            <a:extLst xmlns:a="http://schemas.openxmlformats.org/drawingml/2006/main">
              <a:ext uri="{FF2B5EF4-FFF2-40B4-BE49-F238E27FC236}">
                <a16:creationId xmlns:a16="http://schemas.microsoft.com/office/drawing/2014/main" id="{2B34C154-26AD-4C93-B4D8-357E10F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6227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42" name="统一风格-文字 10.100.0.0/16-522">
            <a:extLst xmlns:a="http://schemas.openxmlformats.org/drawingml/2006/main">
              <a:ext uri="{FF2B5EF4-FFF2-40B4-BE49-F238E27FC236}">
                <a16:creationId xmlns:a16="http://schemas.microsoft.com/office/drawing/2014/main" id="{19B568CA-3D38-4C75-B775-50718E6F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14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10.100.0.0/16</a:t>
            </a:r>
          </a:p>
        </p:txBody>
      </p:sp>
      <p:sp>
        <p:nvSpPr>
          <p:cNvPr id="43" name="统一风格-ER-B玻璃后沿-523">
            <a:extLst xmlns:a="http://schemas.openxmlformats.org/drawingml/2006/main">
              <a:ext uri="{FF2B5EF4-FFF2-40B4-BE49-F238E27FC236}">
                <a16:creationId xmlns:a16="http://schemas.microsoft.com/office/drawing/2014/main" id="{202D2F2E-E45F-449F-88DF-D2E10E3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148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统一风格-ER-B-524">
            <a:extLst xmlns:a="http://schemas.openxmlformats.org/drawingml/2006/main">
              <a:ext uri="{FF2B5EF4-FFF2-40B4-BE49-F238E27FC236}">
                <a16:creationId xmlns:a16="http://schemas.microsoft.com/office/drawing/2014/main" id="{BB2DA553-87C2-4AC9-A63E-109A2306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14800"/>
            <a:ext cx="3171825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5" name="统一风格-ER-B玻璃内沿-525">
            <a:extLst xmlns:a="http://schemas.openxmlformats.org/drawingml/2006/main">
              <a:ext uri="{FF2B5EF4-FFF2-40B4-BE49-F238E27FC236}">
                <a16:creationId xmlns:a16="http://schemas.microsoft.com/office/drawing/2014/main" id="{B30DC168-8395-4924-B5F8-AECF5A0E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934" y="4127659"/>
            <a:ext cx="3146108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6" name="统一风格-ER-B透光反射面-526">
            <a:extLst xmlns:a="http://schemas.openxmlformats.org/drawingml/2006/main">
              <a:ext uri="{FF2B5EF4-FFF2-40B4-BE49-F238E27FC236}">
                <a16:creationId xmlns:a16="http://schemas.microsoft.com/office/drawing/2014/main" id="{C908430C-BAAB-45E2-9447-72EBA69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33850"/>
            <a:ext cx="3133725" cy="838200"/>
          </a:xfrm>
          <a:custGeom xmlns:a="http://schemas.openxmlformats.org/drawingml/2006/main"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47" name="统一风格-ER-B边缘高光-527">
            <a:extLst xmlns:a="http://schemas.openxmlformats.org/drawingml/2006/main">
              <a:ext uri="{FF2B5EF4-FFF2-40B4-BE49-F238E27FC236}">
                <a16:creationId xmlns:a16="http://schemas.microsoft.com/office/drawing/2014/main" id="{A9BE19CE-593B-4120-B40D-F6A57435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14800"/>
            <a:ext cx="3171825" cy="876300"/>
          </a:xfrm>
          <a:custGeom xmlns:a="http://schemas.openxmlformats.org/drawingml/2006/main"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8" name="统一风格-router ER 路由器外形-528">
            <a:extLst xmlns:a="http://schemas.openxmlformats.org/drawingml/2006/main">
              <a:ext uri="{FF2B5EF4-FFF2-40B4-BE49-F238E27FC236}">
                <a16:creationId xmlns:a16="http://schemas.microsoft.com/office/drawing/2014/main" id="{B185210A-6BA0-417D-99D5-2259255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386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49" name="统一风格-router ER 四向路由-529">
            <a:extLst xmlns:a="http://schemas.openxmlformats.org/drawingml/2006/main">
              <a:ext uri="{FF2B5EF4-FFF2-40B4-BE49-F238E27FC236}">
                <a16:creationId xmlns:a16="http://schemas.microsoft.com/office/drawing/2014/main" id="{74CFB09D-194B-4F1A-A465-4D34DCB5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38638"/>
            <a:ext cx="428625" cy="428625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rnd">
            <a:solidFill>
              <a:srgbClr val="2053C3"/>
            </a:solidFill>
            <a:round/>
          </a:ln>
        </p:spPr>
      </p:sp>
      <p:sp>
        <p:nvSpPr>
          <p:cNvPr id="50" name="统一风格-文字 ER-B-530">
            <a:extLst xmlns:a="http://schemas.openxmlformats.org/drawingml/2006/main">
              <a:ext uri="{FF2B5EF4-FFF2-40B4-BE49-F238E27FC236}">
                <a16:creationId xmlns:a16="http://schemas.microsoft.com/office/drawing/2014/main" id="{DE4AD6A2-55B4-48FC-BD95-20D80523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5767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ER-B</a:t>
            </a:r>
          </a:p>
        </p:txBody>
      </p:sp>
      <p:sp>
        <p:nvSpPr>
          <p:cNvPr id="51" name="统一风格-文字 本区域企业路由器-531">
            <a:extLst xmlns:a="http://schemas.openxmlformats.org/drawingml/2006/main">
              <a:ext uri="{FF2B5EF4-FFF2-40B4-BE49-F238E27FC236}">
                <a16:creationId xmlns:a16="http://schemas.microsoft.com/office/drawing/2014/main" id="{0BAAA01A-52E4-4C9C-8CE8-4288EB9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101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52" name="网络连接-44">
            <a:extLst xmlns:a="http://schemas.openxmlformats.org/drawingml/2006/main">
              <a:ext uri="{FF2B5EF4-FFF2-40B4-BE49-F238E27FC236}">
                <a16:creationId xmlns:a16="http://schemas.microsoft.com/office/drawing/2014/main" id="{3C197AA3-81FB-4451-87F5-65E735D69F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10750" y="36957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prstDash val="solid"/>
          </a:ln>
        </p:spPr>
      </p:cxnSp>
      <p:cxnSp>
        <p:nvCxnSpPr>
          <p:cNvPr id="53" name="网络连接-45">
            <a:extLst xmlns:a="http://schemas.openxmlformats.org/drawingml/2006/main">
              <a:ext uri="{FF2B5EF4-FFF2-40B4-BE49-F238E27FC236}">
                <a16:creationId xmlns:a16="http://schemas.microsoft.com/office/drawing/2014/main" id="{00D1AA4D-4811-4B0F-9DC9-81C0C9D820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71925" y="45529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3C3"/>
            </a:solidFill>
            <a:prstDash val="solid"/>
          </a:ln>
        </p:spPr>
      </p:cxnSp>
      <p:cxnSp>
        <p:nvCxnSpPr>
          <p:cNvPr id="54" name="网络连接-46">
            <a:extLst xmlns:a="http://schemas.openxmlformats.org/drawingml/2006/main">
              <a:ext uri="{FF2B5EF4-FFF2-40B4-BE49-F238E27FC236}">
                <a16:creationId xmlns:a16="http://schemas.microsoft.com/office/drawing/2014/main" id="{781BA72C-09A9-4B1D-8504-FCC21D849B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00925" y="45529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3C3"/>
            </a:solidFill>
            <a:prstDash val="solid"/>
          </a:ln>
        </p:spPr>
      </p:cxnSp>
      <p:sp>
        <p:nvSpPr>
          <p:cNvPr id="55" name="统一风格-CC 中心网络玻璃后沿-532">
            <a:extLst xmlns:a="http://schemas.openxmlformats.org/drawingml/2006/main">
              <a:ext uri="{FF2B5EF4-FFF2-40B4-BE49-F238E27FC236}">
                <a16:creationId xmlns:a16="http://schemas.microsoft.com/office/drawing/2014/main" id="{296C864F-BE3D-4B2F-A273-8C5818A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05225"/>
            <a:ext cx="2609850" cy="1285875"/>
          </a:xfrm>
          <a:prstGeom xmlns:a="http://schemas.openxmlformats.org/drawingml/2006/main" prst="roundRect">
            <a:avLst>
              <a:gd name="adj" fmla="val 666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" name="统一风格-CC 中心网络-533">
            <a:extLst xmlns:a="http://schemas.openxmlformats.org/drawingml/2006/main">
              <a:ext uri="{FF2B5EF4-FFF2-40B4-BE49-F238E27FC236}">
                <a16:creationId xmlns:a16="http://schemas.microsoft.com/office/drawing/2014/main" id="{FFF307F0-81C0-4E36-96C4-BEF8671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05225"/>
            <a:ext cx="2609850" cy="1285875"/>
          </a:xfrm>
          <a:prstGeom xmlns:a="http://schemas.openxmlformats.org/drawingml/2006/main" prst="roundRect">
            <a:avLst>
              <a:gd name="adj" fmla="val 666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CC 中心网络玻璃内沿-534">
            <a:extLst xmlns:a="http://schemas.openxmlformats.org/drawingml/2006/main">
              <a:ext uri="{FF2B5EF4-FFF2-40B4-BE49-F238E27FC236}">
                <a16:creationId xmlns:a16="http://schemas.microsoft.com/office/drawing/2014/main" id="{D6F6F4F6-B760-4E81-9F08-30F8AA1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934" y="3718084"/>
            <a:ext cx="2584133" cy="1260158"/>
          </a:xfrm>
          <a:prstGeom xmlns:a="http://schemas.openxmlformats.org/drawingml/2006/main" prst="roundRect">
            <a:avLst>
              <a:gd name="adj" fmla="val 582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CC 中心网络透光反射面-535">
            <a:extLst xmlns:a="http://schemas.openxmlformats.org/drawingml/2006/main">
              <a:ext uri="{FF2B5EF4-FFF2-40B4-BE49-F238E27FC236}">
                <a16:creationId xmlns:a16="http://schemas.microsoft.com/office/drawing/2014/main" id="{53F27860-2007-41A5-92D7-7E1B5BD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24275"/>
            <a:ext cx="2571750" cy="1247775"/>
          </a:xfrm>
          <a:custGeom xmlns:a="http://schemas.openxmlformats.org/drawingml/2006/main">
            <a:pathLst>
              <a:path w="2571750" h="1247775">
                <a:moveTo>
                  <a:pt x="76200" y="0"/>
                </a:moveTo>
                <a:lnTo>
                  <a:pt x="1645920" y="0"/>
                </a:lnTo>
                <a:lnTo>
                  <a:pt x="668655" y="1247775"/>
                </a:lnTo>
                <a:lnTo>
                  <a:pt x="76200" y="1247775"/>
                </a:lnTo>
                <a:cubicBezTo>
                  <a:pt x="28575" y="1247775"/>
                  <a:pt x="0" y="1219200"/>
                  <a:pt x="0" y="1171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59" name="统一风格-CC 中心网络边缘高光-536">
            <a:extLst xmlns:a="http://schemas.openxmlformats.org/drawingml/2006/main">
              <a:ext uri="{FF2B5EF4-FFF2-40B4-BE49-F238E27FC236}">
                <a16:creationId xmlns:a16="http://schemas.microsoft.com/office/drawing/2014/main" id="{41B89DB8-B9BC-41AB-8AED-C8E7E686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05225"/>
            <a:ext cx="2609850" cy="1285875"/>
          </a:xfrm>
          <a:custGeom xmlns:a="http://schemas.openxmlformats.org/drawingml/2006/main">
            <a:pathLst>
              <a:path w="2609850" h="1285875">
                <a:moveTo>
                  <a:pt x="95250" y="9525"/>
                </a:moveTo>
                <a:lnTo>
                  <a:pt x="2514600" y="9525"/>
                </a:lnTo>
                <a:cubicBezTo>
                  <a:pt x="2562225" y="9525"/>
                  <a:pt x="2600325" y="47625"/>
                  <a:pt x="2600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统一互联图标 中心网络-537">
            <a:extLst xmlns:a="http://schemas.openxmlformats.org/drawingml/2006/main">
              <a:ext uri="{FF2B5EF4-FFF2-40B4-BE49-F238E27FC236}">
                <a16:creationId xmlns:a16="http://schemas.microsoft.com/office/drawing/2014/main" id="{5B57DA4B-B4EA-4FA4-8D40-555F3839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1" name="统一风格-统一互联图标 区域互联-538">
            <a:extLst xmlns:a="http://schemas.openxmlformats.org/drawingml/2006/main">
              <a:ext uri="{FF2B5EF4-FFF2-40B4-BE49-F238E27FC236}">
                <a16:creationId xmlns:a16="http://schemas.microsoft.com/office/drawing/2014/main" id="{D8A1C2AD-8B7A-43EB-B7C2-B8170ECC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2" name="统一风格-统一互联图标 区域节点-539">
            <a:extLst xmlns:a="http://schemas.openxmlformats.org/drawingml/2006/main">
              <a:ext uri="{FF2B5EF4-FFF2-40B4-BE49-F238E27FC236}">
                <a16:creationId xmlns:a16="http://schemas.microsoft.com/office/drawing/2014/main" id="{24FE935F-5E56-4378-A6F6-BC6CD52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3" name="统一风格-统一互联图标 区域节点-540">
            <a:extLst xmlns:a="http://schemas.openxmlformats.org/drawingml/2006/main">
              <a:ext uri="{FF2B5EF4-FFF2-40B4-BE49-F238E27FC236}">
                <a16:creationId xmlns:a16="http://schemas.microsoft.com/office/drawing/2014/main" id="{9D26928B-5ECB-4E07-9A85-5790FC41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4" name="统一风格-统一互联图标 区域节点-541">
            <a:extLst xmlns:a="http://schemas.openxmlformats.org/drawingml/2006/main">
              <a:ext uri="{FF2B5EF4-FFF2-40B4-BE49-F238E27FC236}">
                <a16:creationId xmlns:a16="http://schemas.microsoft.com/office/drawing/2014/main" id="{60611345-123C-4F62-98DC-E481A72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5" name="统一风格-统一互联图标 区域节点-542">
            <a:extLst xmlns:a="http://schemas.openxmlformats.org/drawingml/2006/main">
              <a:ext uri="{FF2B5EF4-FFF2-40B4-BE49-F238E27FC236}">
                <a16:creationId xmlns:a16="http://schemas.microsoft.com/office/drawing/2014/main" id="{0304E249-2954-4F2E-8B4E-C2AC41D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6715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6" name="统一风格-文字 CC 中心网络-543">
            <a:extLst xmlns:a="http://schemas.openxmlformats.org/drawingml/2006/main">
              <a:ext uri="{FF2B5EF4-FFF2-40B4-BE49-F238E27FC236}">
                <a16:creationId xmlns:a16="http://schemas.microsoft.com/office/drawing/2014/main" id="{F8E442AB-86C4-464D-AA1C-240D550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195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67" name="统一风格-文字 ER 互联策略 华为云骨干网络-544">
            <a:extLst xmlns:a="http://schemas.openxmlformats.org/drawingml/2006/main">
              <a:ext uri="{FF2B5EF4-FFF2-40B4-BE49-F238E27FC236}">
                <a16:creationId xmlns:a16="http://schemas.microsoft.com/office/drawing/2014/main" id="{B806CF16-9969-4EAB-910E-1D8B9FA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243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 互联策略</a:t>
            </a:r>
          </a:p>
          <a:p xmlns:a="http://schemas.openxmlformats.org/drawingml/2006/main"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华为云骨干网络</a:t>
            </a:r>
          </a:p>
        </p:txBody>
      </p:sp>
      <p:sp>
        <p:nvSpPr>
          <p:cNvPr id="68" name="统一风格-文字 跨 Region 互联-545">
            <a:extLst xmlns:a="http://schemas.openxmlformats.org/drawingml/2006/main">
              <a:ext uri="{FF2B5EF4-FFF2-40B4-BE49-F238E27FC236}">
                <a16:creationId xmlns:a16="http://schemas.microsoft.com/office/drawing/2014/main" id="{00DCECAD-6D76-40A2-8774-0175537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57475"/>
            <a:ext cx="2724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跨 Region 互联</a:t>
            </a:r>
          </a:p>
        </p:txBody>
      </p:sp>
      <p:sp>
        <p:nvSpPr>
          <p:cNvPr id="69" name="统一风格-文字 全域互联带宽 跨区域连接带宽-546">
            <a:extLst xmlns:a="http://schemas.openxmlformats.org/drawingml/2006/main">
              <a:ext uri="{FF2B5EF4-FFF2-40B4-BE49-F238E27FC236}">
                <a16:creationId xmlns:a16="http://schemas.microsoft.com/office/drawing/2014/main" id="{87463C0B-0756-4054-9229-9DDD25A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3372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全域互联带宽</a:t>
            </a:r>
          </a:p>
          <a:p xmlns:a="http://schemas.openxmlformats.org/drawingml/2006/main"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跨区域连接带宽</a:t>
            </a:r>
          </a:p>
        </p:txBody>
      </p:sp>
      <p:sp>
        <p:nvSpPr>
          <p:cNvPr id="70" name="统一风格-端到端路径玻璃后沿-547">
            <a:extLst xmlns:a="http://schemas.openxmlformats.org/drawingml/2006/main">
              <a:ext uri="{FF2B5EF4-FFF2-40B4-BE49-F238E27FC236}">
                <a16:creationId xmlns:a16="http://schemas.microsoft.com/office/drawing/2014/main" id="{19B0DD61-1407-42FE-8054-32B32C7B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1" name="统一风格-端到端路径-548">
            <a:extLst xmlns:a="http://schemas.openxmlformats.org/drawingml/2006/main">
              <a:ext uri="{FF2B5EF4-FFF2-40B4-BE49-F238E27FC236}">
                <a16:creationId xmlns:a16="http://schemas.microsoft.com/office/drawing/2014/main" id="{61676F54-AB4B-492A-BD4B-6E862AFA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2" name="统一风格-端到端路径玻璃内沿-549">
            <a:extLst xmlns:a="http://schemas.openxmlformats.org/drawingml/2006/main">
              <a:ext uri="{FF2B5EF4-FFF2-40B4-BE49-F238E27FC236}">
                <a16:creationId xmlns:a16="http://schemas.microsoft.com/office/drawing/2014/main" id="{D62D20F0-57AC-44FF-8440-2808466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373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3" name="统一风格-端到端路径边缘高光-550">
            <a:extLst xmlns:a="http://schemas.openxmlformats.org/drawingml/2006/main">
              <a:ext uri="{FF2B5EF4-FFF2-40B4-BE49-F238E27FC236}">
                <a16:creationId xmlns:a16="http://schemas.microsoft.com/office/drawing/2014/main" id="{3502069F-D77E-4150-B2A7-94301AA0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4" name="统一风格-文字 端到端路径-551">
            <a:extLst xmlns:a="http://schemas.openxmlformats.org/drawingml/2006/main">
              <a:ext uri="{FF2B5EF4-FFF2-40B4-BE49-F238E27FC236}">
                <a16:creationId xmlns:a16="http://schemas.microsoft.com/office/drawing/2014/main" id="{7129F4E8-5D39-4278-A928-74FB961F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端到端路径</a:t>
            </a:r>
          </a:p>
        </p:txBody>
      </p:sp>
      <p:sp>
        <p:nvSpPr>
          <p:cNvPr id="75" name="统一风格-文字 VPC-A 接入 ER-A，经中心网络到 ER-B，再转发至 VPC-B。-552">
            <a:extLst xmlns:a="http://schemas.openxmlformats.org/drawingml/2006/main">
              <a:ext uri="{FF2B5EF4-FFF2-40B4-BE49-F238E27FC236}">
                <a16:creationId xmlns:a16="http://schemas.microsoft.com/office/drawing/2014/main" id="{21BB4EA9-7899-4B06-839E-065F55E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29250"/>
            <a:ext cx="884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接入 ER-A，经中心网络到 ER-B，再转发至 VPC-B。</a:t>
            </a:r>
          </a:p>
        </p:txBody>
      </p:sp>
    </p:spTree>
    <p:extLst>
      <p:ext uri="{BB962C8B-B14F-4D97-AF65-F5344CB8AC3E}">
        <p14:creationId xmlns:p14="http://schemas.microsoft.com/office/powerpoint/2010/main" val="41562753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7C0AAAAF-AE89-4438-812B-A83B568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CC 中心网络：路由与带宽一起验收-554">
            <a:extLst xmlns:a="http://schemas.openxmlformats.org/drawingml/2006/main">
              <a:ext uri="{FF2B5EF4-FFF2-40B4-BE49-F238E27FC236}">
                <a16:creationId xmlns:a16="http://schemas.microsoft.com/office/drawing/2014/main" id="{A806289D-B420-4A45-9775-E76432F5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中心网络：路由与带宽一起验收</a:t>
            </a:r>
          </a:p>
        </p:txBody>
      </p:sp>
      <p:sp>
        <p:nvSpPr>
          <p:cNvPr id="3" name="统一风格-文字 带宽已购买、ER 已接入，都需要继续确认真实业务可达-555">
            <a:extLst xmlns:a="http://schemas.openxmlformats.org/drawingml/2006/main">
              <a:ext uri="{FF2B5EF4-FFF2-40B4-BE49-F238E27FC236}">
                <a16:creationId xmlns:a16="http://schemas.microsoft.com/office/drawing/2014/main" id="{026C04E4-DDB3-482E-AB1C-110CFFFF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带宽已购买、ER 已接入，都需要继续确认真实业务可达</a:t>
            </a:r>
          </a:p>
        </p:txBody>
      </p:sp>
      <p:cxnSp>
        <p:nvCxnSpPr>
          <p:cNvPr id="4" name="网络连接-47">
            <a:extLst xmlns:a="http://schemas.openxmlformats.org/drawingml/2006/main">
              <a:ext uri="{FF2B5EF4-FFF2-40B4-BE49-F238E27FC236}">
                <a16:creationId xmlns:a16="http://schemas.microsoft.com/office/drawing/2014/main" id="{917A6D09-03C9-4740-AC92-C8FA485F6C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基础连通场景按官方快速入门启用 ER 默认路由表关联与传播。叠加 CFW 时另行设计路由域。-556">
            <a:extLst xmlns:a="http://schemas.openxmlformats.org/drawingml/2006/main">
              <a:ext uri="{FF2B5EF4-FFF2-40B4-BE49-F238E27FC236}">
                <a16:creationId xmlns:a16="http://schemas.microsoft.com/office/drawing/2014/main" id="{ECF6D060-24F9-4DEB-8F6D-F28959E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基础连通场景按官方快速入门启用 ER 默认路由表关联与传播。叠加 CFW 时另行设计路由域。</a:t>
            </a:r>
          </a:p>
        </p:txBody>
      </p:sp>
      <p:sp>
        <p:nvSpPr>
          <p:cNvPr id="6" name="正文-29">
            <a:extLst xmlns:a="http://schemas.openxmlformats.org/drawingml/2006/main">
              <a:ext uri="{FF2B5EF4-FFF2-40B4-BE49-F238E27FC236}">
                <a16:creationId xmlns:a16="http://schemas.microsoft.com/office/drawing/2014/main" id="{6BA3759B-CD17-4C04-8B7B-302D623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46</ns1:t>
            </ns1:r>
          </ns1:p>
        </p:txBody>
      </p:sp>
      <p:sp>
        <p:nvSpPr>
          <p:cNvPr id="7" name="统一风格-路由与配置表玻璃后沿-558">
            <a:extLst xmlns:a="http://schemas.openxmlformats.org/drawingml/2006/main">
              <a:ext uri="{FF2B5EF4-FFF2-40B4-BE49-F238E27FC236}">
                <a16:creationId xmlns:a16="http://schemas.microsoft.com/office/drawing/2014/main" id="{FEECB9E5-8AA9-40E8-A9FC-3624B10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prstGeom xmlns:a="http://schemas.openxmlformats.org/drawingml/2006/main" prst="roundRect">
            <a:avLst>
              <a:gd name="adj" fmla="val 230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路由与配置表-559">
            <a:extLst xmlns:a="http://schemas.openxmlformats.org/drawingml/2006/main">
              <a:ext uri="{FF2B5EF4-FFF2-40B4-BE49-F238E27FC236}">
                <a16:creationId xmlns:a16="http://schemas.microsoft.com/office/drawing/2014/main" id="{A6D67EA5-E6A5-423A-B70C-137DBA2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prstGeom xmlns:a="http://schemas.openxmlformats.org/drawingml/2006/main" prst="roundRect">
            <a:avLst>
              <a:gd name="adj" fmla="val 230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路由与配置表玻璃内沿-560">
            <a:extLst xmlns:a="http://schemas.openxmlformats.org/drawingml/2006/main">
              <a:ext uri="{FF2B5EF4-FFF2-40B4-BE49-F238E27FC236}">
                <a16:creationId xmlns:a16="http://schemas.microsoft.com/office/drawing/2014/main" id="{C1285D51-2102-4925-A7F1-3D7F9591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689033"/>
          </a:xfrm>
          <a:prstGeom xmlns:a="http://schemas.openxmlformats.org/drawingml/2006/main" prst="roundRect">
            <a:avLst>
              <a:gd name="adj" fmla="val 198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路由与配置表边缘高光-561">
            <a:extLst xmlns:a="http://schemas.openxmlformats.org/drawingml/2006/main">
              <a:ext uri="{FF2B5EF4-FFF2-40B4-BE49-F238E27FC236}">
                <a16:creationId xmlns:a16="http://schemas.microsoft.com/office/drawing/2014/main" id="{C86FFEE1-885F-4FDD-8812-042237C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14750"/>
          </a:xfrm>
          <a:custGeom xmlns:a="http://schemas.openxmlformats.org/drawingml/2006/main"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9B934-2AAD-4317-A642-F0BD014E1B97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91025"/>
                <a:gridCol w="4391025"/>
              </a:tblGrid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实际路由表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10.100.0.0/16，下一跳 ER-A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10.90.0.0/16，下一跳 ER-B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VPC-B 的有效跨区域路由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VPC-A 的有效跨区域路由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ER-A，允许目标互通关系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ER-B，与区域 A 建立连接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带宽与安全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分配跨区域带宽，核对源安全组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核对目的安全组与服务监听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596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443 访问、应拒绝测试与交易结果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回程完整，采集时延和吞吐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6813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统一风格-文字 02  网络互联方案-64">
            <a:extLst xmlns:a="http://schemas.openxmlformats.org/drawingml/2006/main">
              <a:ext uri="{FF2B5EF4-FFF2-40B4-BE49-F238E27FC236}">
                <a16:creationId xmlns:a16="http://schemas.microsoft.com/office/drawing/2014/main" id="{F4961283-718C-4F36-8578-C070ADB2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互联已建立，CFW 检查仍需独立证明-65">
            <a:extLst xmlns:a="http://schemas.openxmlformats.org/drawingml/2006/main">
              <a:ext uri="{FF2B5EF4-FFF2-40B4-BE49-F238E27FC236}">
                <a16:creationId xmlns:a16="http://schemas.microsoft.com/office/drawing/2014/main" id="{F8BC3360-4FBD-4B7F-8B1D-CDEAB59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互联已建立，CFW 检查仍需独立证明</a:t>
            </a:r>
          </a:p>
        </p:txBody>
      </p:sp>
      <p:sp>
        <p:nvSpPr>
          <p:cNvPr id="3" name="统一风格-文字 按业务实际路径、转换前后地址和日志证据确认防护范围-66">
            <a:extLst xmlns:a="http://schemas.openxmlformats.org/drawingml/2006/main">
              <a:ext uri="{FF2B5EF4-FFF2-40B4-BE49-F238E27FC236}">
                <a16:creationId xmlns:a16="http://schemas.microsoft.com/office/drawing/2014/main" id="{AE43D5BF-9B2A-440B-AF42-611768B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按业务实际路径、转换前后地址和日志证据确认防护范围</a:t>
            </a:r>
          </a:p>
        </p:txBody>
      </p:sp>
      <p:sp>
        <p:nvSpPr>
          <p:cNvPr id="4" name="统一风格-页脚分隔线-67">
            <a:extLst xmlns:a="http://schemas.openxmlformats.org/drawingml/2006/main">
              <a:ext uri="{FF2B5EF4-FFF2-40B4-BE49-F238E27FC236}">
                <a16:creationId xmlns:a16="http://schemas.microsoft.com/office/drawing/2014/main" id="{23BE12DE-71B8-406D-85CF-5E5589B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连接可达与 CFW 检查分别验收。私网 NAT 映射成功，也不能单独证明流量经过 CFW。-68">
            <a:extLst xmlns:a="http://schemas.openxmlformats.org/drawingml/2006/main">
              <a:ext uri="{FF2B5EF4-FFF2-40B4-BE49-F238E27FC236}">
                <a16:creationId xmlns:a16="http://schemas.microsoft.com/office/drawing/2014/main" id="{4296E159-452C-4B76-A705-DCCF048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连接可达与 CFW 检查分别验收。私网 NAT 映射成功，也不能单独证明流量经过 CFW。</a:t>
            </a:r>
          </a:p>
        </p:txBody>
      </p:sp>
      <p:sp>
        <p:nvSpPr>
          <p:cNvPr id="6" name="统一风格-文字 20-69">
            <a:extLst xmlns:a="http://schemas.openxmlformats.org/drawingml/2006/main">
              <a:ext uri="{FF2B5EF4-FFF2-40B4-BE49-F238E27FC236}">
                <a16:creationId xmlns:a16="http://schemas.microsoft.com/office/drawing/2014/main" id="{DD9DB8CC-6801-4BE7-B363-D87FB02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统一风格-对等连接玻璃后沿-70">
            <a:extLst xmlns:a="http://schemas.openxmlformats.org/drawingml/2006/main">
              <a:ext uri="{FF2B5EF4-FFF2-40B4-BE49-F238E27FC236}">
                <a16:creationId xmlns:a16="http://schemas.microsoft.com/office/drawing/2014/main" id="{2F489565-F085-4DEF-AF2D-29A33A5C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对等连接-71">
            <a:extLst xmlns:a="http://schemas.openxmlformats.org/drawingml/2006/main">
              <a:ext uri="{FF2B5EF4-FFF2-40B4-BE49-F238E27FC236}">
                <a16:creationId xmlns:a16="http://schemas.microsoft.com/office/drawing/2014/main" id="{3CC78C02-8F97-4690-8E2F-7058E71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对等连接玻璃内沿-72">
            <a:extLst xmlns:a="http://schemas.openxmlformats.org/drawingml/2006/main">
              <a:ext uri="{FF2B5EF4-FFF2-40B4-BE49-F238E27FC236}">
                <a16:creationId xmlns:a16="http://schemas.microsoft.com/office/drawing/2014/main" id="{F64628FE-7534-4620-855F-95F6D18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8359"/>
            <a:ext cx="7927658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对等连接边缘高光-73">
            <a:extLst xmlns:a="http://schemas.openxmlformats.org/drawingml/2006/main">
              <a:ext uri="{FF2B5EF4-FFF2-40B4-BE49-F238E27FC236}">
                <a16:creationId xmlns:a16="http://schemas.microsoft.com/office/drawing/2014/main" id="{5A14FDBD-BE0D-4205-8530-5B54676A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953375" cy="666750"/>
          </a:xfrm>
          <a:custGeom xmlns:a="http://schemas.openxmlformats.org/drawingml/2006/main"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对等连接图标-74">
            <a:extLst xmlns:a="http://schemas.openxmlformats.org/drawingml/2006/main">
              <a:ext uri="{FF2B5EF4-FFF2-40B4-BE49-F238E27FC236}">
                <a16:creationId xmlns:a16="http://schemas.microsoft.com/office/drawing/2014/main" id="{75874C8F-2573-4F4E-BF68-76F1C9AE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28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2" name="统一风格-文字 对等连接-75">
            <a:extLst xmlns:a="http://schemas.openxmlformats.org/drawingml/2006/main">
              <a:ext uri="{FF2B5EF4-FFF2-40B4-BE49-F238E27FC236}">
                <a16:creationId xmlns:a16="http://schemas.microsoft.com/office/drawing/2014/main" id="{EA4D4D4E-86BB-4CDF-87C7-171BC729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669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13" name="统一风格-文字 核对更具体路由是否改变实际下一跳。-76">
            <a:extLst xmlns:a="http://schemas.openxmlformats.org/drawingml/2006/main">
              <a:ext uri="{FF2B5EF4-FFF2-40B4-BE49-F238E27FC236}">
                <a16:creationId xmlns:a16="http://schemas.microsoft.com/office/drawing/2014/main" id="{0D570B0B-4392-4DB4-987D-761ECFE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193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核对更具体路由是否改变实际下一跳。</a:t>
            </a:r>
          </a:p>
        </p:txBody>
      </p:sp>
      <p:sp>
        <p:nvSpPr>
          <p:cNvPr id="14" name="统一风格-私网 NAT玻璃后沿-77">
            <a:extLst xmlns:a="http://schemas.openxmlformats.org/drawingml/2006/main">
              <a:ext uri="{FF2B5EF4-FFF2-40B4-BE49-F238E27FC236}">
                <a16:creationId xmlns:a16="http://schemas.microsoft.com/office/drawing/2014/main" id="{84CF09C2-35FD-44ED-9C61-FC73381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5" name="统一风格-私网 NAT-78">
            <a:extLst xmlns:a="http://schemas.openxmlformats.org/drawingml/2006/main">
              <a:ext uri="{FF2B5EF4-FFF2-40B4-BE49-F238E27FC236}">
                <a16:creationId xmlns:a16="http://schemas.microsoft.com/office/drawing/2014/main" id="{95978A5F-F253-4E4B-860A-CAFE9E0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" name="统一风格-私网 NAT玻璃内沿-79">
            <a:extLst xmlns:a="http://schemas.openxmlformats.org/drawingml/2006/main">
              <a:ext uri="{FF2B5EF4-FFF2-40B4-BE49-F238E27FC236}">
                <a16:creationId xmlns:a16="http://schemas.microsoft.com/office/drawing/2014/main" id="{CAD4CD94-48C9-4877-A74E-C007DB22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870359"/>
            <a:ext cx="7927658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7" name="统一风格-私网 NAT边缘高光-80">
            <a:extLst xmlns:a="http://schemas.openxmlformats.org/drawingml/2006/main">
              <a:ext uri="{FF2B5EF4-FFF2-40B4-BE49-F238E27FC236}">
                <a16:creationId xmlns:a16="http://schemas.microsoft.com/office/drawing/2014/main" id="{18F67067-9BC3-460D-8324-CEABE3C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53375" cy="666750"/>
          </a:xfrm>
          <a:custGeom xmlns:a="http://schemas.openxmlformats.org/drawingml/2006/main"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统一风格-nat NAT 网关-81">
            <a:extLst xmlns:a="http://schemas.openxmlformats.org/drawingml/2006/main">
              <a:ext uri="{FF2B5EF4-FFF2-40B4-BE49-F238E27FC236}">
                <a16:creationId xmlns:a16="http://schemas.microsoft.com/office/drawing/2014/main" id="{F9306610-C59E-471A-BE12-9318D03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9" name="统一风格-nat 地址转换-82">
            <a:extLst xmlns:a="http://schemas.openxmlformats.org/drawingml/2006/main">
              <a:ext uri="{FF2B5EF4-FFF2-40B4-BE49-F238E27FC236}">
                <a16:creationId xmlns:a16="http://schemas.microsoft.com/office/drawing/2014/main" id="{39839353-A1B1-4D8F-954D-DBD50EA6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0" name="统一风格-文字 私网 NAT-83">
            <a:extLst xmlns:a="http://schemas.openxmlformats.org/drawingml/2006/main">
              <a:ext uri="{FF2B5EF4-FFF2-40B4-BE49-F238E27FC236}">
                <a16:creationId xmlns:a16="http://schemas.microsoft.com/office/drawing/2014/main" id="{F23FBC94-261D-494E-A3CB-690CE0A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289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1" name="统一风格-文字 记录转换前后地址，复核安全控制与日志。-84">
            <a:extLst xmlns:a="http://schemas.openxmlformats.org/drawingml/2006/main">
              <a:ext uri="{FF2B5EF4-FFF2-40B4-BE49-F238E27FC236}">
                <a16:creationId xmlns:a16="http://schemas.microsoft.com/office/drawing/2014/main" id="{FA303FCD-AA1F-41A8-8141-57396BA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813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记录转换前后地址，复核安全控制与日志。</a:t>
            </a:r>
          </a:p>
        </p:txBody>
      </p:sp>
      <p:sp>
        <p:nvSpPr>
          <p:cNvPr id="22" name="统一风格-VPCEP玻璃后沿-85">
            <a:extLst xmlns:a="http://schemas.openxmlformats.org/drawingml/2006/main">
              <a:ext uri="{FF2B5EF4-FFF2-40B4-BE49-F238E27FC236}">
                <a16:creationId xmlns:a16="http://schemas.microsoft.com/office/drawing/2014/main" id="{852AF9A8-7269-47A1-89CB-FBF5713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3" name="统一风格-VPCEP-86">
            <a:extLst xmlns:a="http://schemas.openxmlformats.org/drawingml/2006/main">
              <a:ext uri="{FF2B5EF4-FFF2-40B4-BE49-F238E27FC236}">
                <a16:creationId xmlns:a16="http://schemas.microsoft.com/office/drawing/2014/main" id="{FDD69CFE-2DF6-46B1-B14B-3E56F3D7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VPCEP玻璃内沿-87">
            <a:extLst xmlns:a="http://schemas.openxmlformats.org/drawingml/2006/main">
              <a:ext uri="{FF2B5EF4-FFF2-40B4-BE49-F238E27FC236}">
                <a16:creationId xmlns:a16="http://schemas.microsoft.com/office/drawing/2014/main" id="{465BA235-E8DC-405D-9C2D-4C487BE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632359"/>
            <a:ext cx="7927658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VPCEP边缘高光-88">
            <a:extLst xmlns:a="http://schemas.openxmlformats.org/drawingml/2006/main">
              <a:ext uri="{FF2B5EF4-FFF2-40B4-BE49-F238E27FC236}">
                <a16:creationId xmlns:a16="http://schemas.microsoft.com/office/drawing/2014/main" id="{024CF53F-A1A0-4FD5-9314-2146BDA9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953375" cy="666750"/>
          </a:xfrm>
          <a:custGeom xmlns:a="http://schemas.openxmlformats.org/drawingml/2006/main"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终端节点图标-89">
            <a:extLst xmlns:a="http://schemas.openxmlformats.org/drawingml/2006/main">
              <a:ext uri="{FF2B5EF4-FFF2-40B4-BE49-F238E27FC236}">
                <a16:creationId xmlns:a16="http://schemas.microsoft.com/office/drawing/2014/main" id="{27C466A2-ADDA-4700-8256-8559AF4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52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7" name="统一风格-终端节点服务端口-90">
            <a:extLst xmlns:a="http://schemas.openxmlformats.org/drawingml/2006/main">
              <a:ext uri="{FF2B5EF4-FFF2-40B4-BE49-F238E27FC236}">
                <a16:creationId xmlns:a16="http://schemas.microsoft.com/office/drawing/2014/main" id="{D70866CF-D067-41A1-9003-7428E01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52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8" name="统一风格-文字 VPCEP-91">
            <a:extLst xmlns:a="http://schemas.openxmlformats.org/drawingml/2006/main">
              <a:ext uri="{FF2B5EF4-FFF2-40B4-BE49-F238E27FC236}">
                <a16:creationId xmlns:a16="http://schemas.microsoft.com/office/drawing/2014/main" id="{8FE2B19C-CCEB-4C33-8017-0F8C8B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909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29" name="统一风格-文字 核对服务授权、消费源与后端可见地址。-92">
            <a:extLst xmlns:a="http://schemas.openxmlformats.org/drawingml/2006/main">
              <a:ext uri="{FF2B5EF4-FFF2-40B4-BE49-F238E27FC236}">
                <a16:creationId xmlns:a16="http://schemas.microsoft.com/office/drawing/2014/main" id="{61709BCD-4DA3-4675-B0E1-35B7B2D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433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核对服务授权、消费源与后端可见地址。</a:t>
            </a:r>
          </a:p>
        </p:txBody>
      </p:sp>
      <p:sp>
        <p:nvSpPr>
          <p:cNvPr id="30" name="统一风格-CC + ER玻璃后沿-93">
            <a:extLst xmlns:a="http://schemas.openxmlformats.org/drawingml/2006/main">
              <a:ext uri="{FF2B5EF4-FFF2-40B4-BE49-F238E27FC236}">
                <a16:creationId xmlns:a16="http://schemas.microsoft.com/office/drawing/2014/main" id="{CD283327-FAE1-46DD-93C5-9688441B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CC + ER-94">
            <a:extLst xmlns:a="http://schemas.openxmlformats.org/drawingml/2006/main">
              <a:ext uri="{FF2B5EF4-FFF2-40B4-BE49-F238E27FC236}">
                <a16:creationId xmlns:a16="http://schemas.microsoft.com/office/drawing/2014/main" id="{6319DF91-1D0A-4C7E-BACD-68D15D1A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953375" cy="666750"/>
          </a:xfrm>
          <a:prstGeom xmlns:a="http://schemas.openxmlformats.org/drawingml/2006/main" prst="roundRect">
            <a:avLst>
              <a:gd name="adj" fmla="val 128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CC + ER玻璃内沿-95">
            <a:extLst xmlns:a="http://schemas.openxmlformats.org/drawingml/2006/main">
              <a:ext uri="{FF2B5EF4-FFF2-40B4-BE49-F238E27FC236}">
                <a16:creationId xmlns:a16="http://schemas.microsoft.com/office/drawing/2014/main" id="{E76E7F1B-FAED-44B9-868C-BC31DEF5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394359"/>
            <a:ext cx="7927658" cy="641033"/>
          </a:xfrm>
          <a:prstGeom xmlns:a="http://schemas.openxmlformats.org/drawingml/2006/main" prst="roundRect">
            <a:avLst>
              <a:gd name="adj" fmla="val 1144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CC + ER边缘高光-96">
            <a:extLst xmlns:a="http://schemas.openxmlformats.org/drawingml/2006/main">
              <a:ext uri="{FF2B5EF4-FFF2-40B4-BE49-F238E27FC236}">
                <a16:creationId xmlns:a16="http://schemas.microsoft.com/office/drawing/2014/main" id="{87446AA3-98A0-4FE2-BA29-09C5D19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953375" cy="666750"/>
          </a:xfrm>
          <a:custGeom xmlns:a="http://schemas.openxmlformats.org/drawingml/2006/main"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中心网络枢纽-97">
            <a:extLst xmlns:a="http://schemas.openxmlformats.org/drawingml/2006/main">
              <a:ext uri="{FF2B5EF4-FFF2-40B4-BE49-F238E27FC236}">
                <a16:creationId xmlns:a16="http://schemas.microsoft.com/office/drawing/2014/main" id="{C7F1CCCB-554E-48D6-8C17-186F4BF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5" name="统一风格-区域连接点-98">
            <a:extLst xmlns:a="http://schemas.openxmlformats.org/drawingml/2006/main">
              <a:ext uri="{FF2B5EF4-FFF2-40B4-BE49-F238E27FC236}">
                <a16:creationId xmlns:a16="http://schemas.microsoft.com/office/drawing/2014/main" id="{3DEED9AE-1755-454A-944A-77E9AE5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6" name="统一风格-区域连接点-99">
            <a:extLst xmlns:a="http://schemas.openxmlformats.org/drawingml/2006/main">
              <a:ext uri="{FF2B5EF4-FFF2-40B4-BE49-F238E27FC236}">
                <a16:creationId xmlns:a16="http://schemas.microsoft.com/office/drawing/2014/main" id="{B2890218-95F3-4265-B105-3A47A5F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7" name="统一风格-区域连接点-100">
            <a:extLst xmlns:a="http://schemas.openxmlformats.org/drawingml/2006/main">
              <a:ext uri="{FF2B5EF4-FFF2-40B4-BE49-F238E27FC236}">
                <a16:creationId xmlns:a16="http://schemas.microsoft.com/office/drawing/2014/main" id="{F7ECD54F-1584-4CF9-9277-26D21D3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8" name="统一风格-区域连接点-101">
            <a:extLst xmlns:a="http://schemas.openxmlformats.org/drawingml/2006/main">
              <a:ext uri="{FF2B5EF4-FFF2-40B4-BE49-F238E27FC236}">
                <a16:creationId xmlns:a16="http://schemas.microsoft.com/office/drawing/2014/main" id="{5DF8688F-A14A-4440-954F-614E18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400050" cy="400050"/>
          </a:xfrm>
          <a:custGeom xmlns:a="http://schemas.openxmlformats.org/drawingml/2006/main"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39" name="统一风格-文字 CC + ER-102">
            <a:extLst xmlns:a="http://schemas.openxmlformats.org/drawingml/2006/main">
              <a:ext uri="{FF2B5EF4-FFF2-40B4-BE49-F238E27FC236}">
                <a16:creationId xmlns:a16="http://schemas.microsoft.com/office/drawing/2014/main" id="{66504E68-1A11-45C4-BB08-9B783F9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529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+ ER</a:t>
            </a:r>
          </a:p>
        </p:txBody>
      </p:sp>
      <p:sp>
        <p:nvSpPr>
          <p:cNvPr id="40" name="统一风格-文字 核对区域路由域与跨区域返回路径。-103">
            <a:extLst xmlns:a="http://schemas.openxmlformats.org/drawingml/2006/main">
              <a:ext uri="{FF2B5EF4-FFF2-40B4-BE49-F238E27FC236}">
                <a16:creationId xmlns:a16="http://schemas.microsoft.com/office/drawing/2014/main" id="{EB698245-8BA1-4E88-87C1-0821C05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053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核对区域路由域与跨区域返回路径。</a:t>
            </a:r>
          </a:p>
        </p:txBody>
      </p:sp>
      <p:sp>
        <p:nvSpPr>
          <p:cNvPr id="41" name="统一风格-CFW 覆盖核验玻璃后沿-104">
            <a:extLst xmlns:a="http://schemas.openxmlformats.org/drawingml/2006/main">
              <a:ext uri="{FF2B5EF4-FFF2-40B4-BE49-F238E27FC236}">
                <a16:creationId xmlns:a16="http://schemas.microsoft.com/office/drawing/2014/main" id="{93A37A16-A916-4603-AACB-ED5DD72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628900" cy="2952750"/>
          </a:xfrm>
          <a:prstGeom xmlns:a="http://schemas.openxmlformats.org/drawingml/2006/main" prst="roundRect">
            <a:avLst>
              <a:gd name="adj" fmla="val 326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2" name="统一风格-CFW 覆盖核验-105">
            <a:extLst xmlns:a="http://schemas.openxmlformats.org/drawingml/2006/main">
              <a:ext uri="{FF2B5EF4-FFF2-40B4-BE49-F238E27FC236}">
                <a16:creationId xmlns:a16="http://schemas.microsoft.com/office/drawing/2014/main" id="{DE63592A-5E42-412C-8B14-D48A13D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628900" cy="2952750"/>
          </a:xfrm>
          <a:prstGeom xmlns:a="http://schemas.openxmlformats.org/drawingml/2006/main" prst="roundRect">
            <a:avLst>
              <a:gd name="adj" fmla="val 326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3" name="统一风格-CFW 覆盖核验玻璃内沿-106">
            <a:extLst xmlns:a="http://schemas.openxmlformats.org/drawingml/2006/main">
              <a:ext uri="{FF2B5EF4-FFF2-40B4-BE49-F238E27FC236}">
                <a16:creationId xmlns:a16="http://schemas.microsoft.com/office/drawing/2014/main" id="{214363DF-9025-43A8-90DD-974E973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359" y="2108359"/>
            <a:ext cx="2603183" cy="2927033"/>
          </a:xfrm>
          <a:prstGeom xmlns:a="http://schemas.openxmlformats.org/drawingml/2006/main" prst="roundRect">
            <a:avLst>
              <a:gd name="adj" fmla="val 281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4" name="统一风格-CFW 覆盖核验边缘高光-107">
            <a:extLst xmlns:a="http://schemas.openxmlformats.org/drawingml/2006/main">
              <a:ext uri="{FF2B5EF4-FFF2-40B4-BE49-F238E27FC236}">
                <a16:creationId xmlns:a16="http://schemas.microsoft.com/office/drawing/2014/main" id="{70B6DAD8-80CF-410E-8830-AEBFEDA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628900" cy="2952750"/>
          </a:xfrm>
          <a:custGeom xmlns:a="http://schemas.openxmlformats.org/drawingml/2006/main">
            <a:pathLst>
              <a:path w="2628900" h="2952750">
                <a:moveTo>
                  <a:pt x="95250" y="9525"/>
                </a:moveTo>
                <a:lnTo>
                  <a:pt x="2533650" y="9525"/>
                </a:lnTo>
                <a:cubicBezTo>
                  <a:pt x="2581275" y="9525"/>
                  <a:pt x="2619375" y="47625"/>
                  <a:pt x="26193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5" name="统一风格-firewall CFW 砖墙-108">
            <a:extLst xmlns:a="http://schemas.openxmlformats.org/drawingml/2006/main">
              <a:ext uri="{FF2B5EF4-FFF2-40B4-BE49-F238E27FC236}">
                <a16:creationId xmlns:a16="http://schemas.microsoft.com/office/drawing/2014/main" id="{960BD415-2D3D-4C8B-98EE-FA97B64F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838200" cy="838200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33373" cap="rnd">
            <a:solidFill>
              <a:srgbClr val="2053C3"/>
            </a:solidFill>
            <a:round/>
          </a:ln>
        </p:spPr>
      </p:sp>
      <p:sp>
        <p:nvSpPr>
          <p:cNvPr id="46" name="统一风格-firewall CFW 砖缝-109">
            <a:extLst xmlns:a="http://schemas.openxmlformats.org/drawingml/2006/main">
              <a:ext uri="{FF2B5EF4-FFF2-40B4-BE49-F238E27FC236}">
                <a16:creationId xmlns:a16="http://schemas.microsoft.com/office/drawing/2014/main" id="{7DDAF771-05F8-4B5C-97FB-F09689D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838200" cy="838200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33373" cap="rnd">
            <a:solidFill>
              <a:srgbClr val="2053C3"/>
            </a:solidFill>
            <a:round/>
          </a:ln>
        </p:spPr>
      </p:sp>
      <p:sp>
        <p:nvSpPr>
          <p:cNvPr id="47" name="统一风格-firewall CFW 前景衬底-110">
            <a:extLst xmlns:a="http://schemas.openxmlformats.org/drawingml/2006/main">
              <a:ext uri="{FF2B5EF4-FFF2-40B4-BE49-F238E27FC236}">
                <a16:creationId xmlns:a16="http://schemas.microsoft.com/office/drawing/2014/main" id="{54F6C9A1-02C3-4689-B0FF-D7D49A7B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838200" cy="838200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8" name="统一风格-firewall CFW 简洁火焰-111">
            <a:extLst xmlns:a="http://schemas.openxmlformats.org/drawingml/2006/main">
              <a:ext uri="{FF2B5EF4-FFF2-40B4-BE49-F238E27FC236}">
                <a16:creationId xmlns:a16="http://schemas.microsoft.com/office/drawing/2014/main" id="{C82741CD-4738-4A0E-878E-5B17983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838200" cy="838200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33373" cap="rnd">
            <a:solidFill>
              <a:srgbClr val="2053C3"/>
            </a:solidFill>
            <a:round/>
          </a:ln>
        </p:spPr>
      </p:sp>
      <p:sp>
        <p:nvSpPr>
          <p:cNvPr id="49" name="统一风格-文字 CFW 覆盖核验-112">
            <a:extLst xmlns:a="http://schemas.openxmlformats.org/drawingml/2006/main">
              <a:ext uri="{FF2B5EF4-FFF2-40B4-BE49-F238E27FC236}">
                <a16:creationId xmlns:a16="http://schemas.microsoft.com/office/drawing/2014/main" id="{FC115F8B-9D85-47C2-9DEA-B1FEA91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956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CFW 覆盖核验</a:t>
            </a:r>
          </a:p>
        </p:txBody>
      </p:sp>
      <p:sp>
        <p:nvSpPr>
          <p:cNvPr id="50" name="统一风格-文字 实际路径 转换地址 新会话与对应日志-113">
            <a:extLst xmlns:a="http://schemas.openxmlformats.org/drawingml/2006/main">
              <a:ext uri="{FF2B5EF4-FFF2-40B4-BE49-F238E27FC236}">
                <a16:creationId xmlns:a16="http://schemas.microsoft.com/office/drawing/2014/main" id="{8FA3564B-23EF-4C3F-92A5-B4FD8C73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781425"/>
            <a:ext cx="22669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实际路径</a:t>
            </a:r>
          </a:p>
          <a:p xmlns:a="http://schemas.openxmlformats.org/drawingml/2006/main"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转换地址</a:t>
            </a:r>
          </a:p>
          <a:p xmlns:a="http://schemas.openxmlformats.org/drawingml/2006/main"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新会话与对应日志</a:t>
            </a:r>
          </a:p>
        </p:txBody>
      </p:sp>
      <p:sp>
        <p:nvSpPr>
          <p:cNvPr id="51" name="统一风格-变更验收玻璃后沿-114">
            <a:extLst xmlns:a="http://schemas.openxmlformats.org/drawingml/2006/main">
              <a:ext uri="{FF2B5EF4-FFF2-40B4-BE49-F238E27FC236}">
                <a16:creationId xmlns:a16="http://schemas.microsoft.com/office/drawing/2014/main" id="{A5D6A8D4-654C-4575-8599-199B62A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2" name="统一风格-变更验收-115">
            <a:extLst xmlns:a="http://schemas.openxmlformats.org/drawingml/2006/main">
              <a:ext uri="{FF2B5EF4-FFF2-40B4-BE49-F238E27FC236}">
                <a16:creationId xmlns:a16="http://schemas.microsoft.com/office/drawing/2014/main" id="{DFF0705B-7A67-40AF-8ED5-9313399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3" name="统一风格-变更验收玻璃内沿-116">
            <a:extLst xmlns:a="http://schemas.openxmlformats.org/drawingml/2006/main">
              <a:ext uri="{FF2B5EF4-FFF2-40B4-BE49-F238E27FC236}">
                <a16:creationId xmlns:a16="http://schemas.microsoft.com/office/drawing/2014/main" id="{BF76A10A-AAA9-4443-ADA9-72FD634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289709"/>
            <a:ext cx="10947083" cy="583883"/>
          </a:xfrm>
          <a:prstGeom xmlns:a="http://schemas.openxmlformats.org/drawingml/2006/main" prst="roundRect">
            <a:avLst>
              <a:gd name="adj" fmla="val 1256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4" name="统一风格-变更验收边缘高光-117">
            <a:extLst xmlns:a="http://schemas.openxmlformats.org/drawingml/2006/main">
              <a:ext uri="{FF2B5EF4-FFF2-40B4-BE49-F238E27FC236}">
                <a16:creationId xmlns:a16="http://schemas.microsoft.com/office/drawing/2014/main" id="{25F73C17-816B-4944-84F9-716B3AF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custGeom xmlns:a="http://schemas.openxmlformats.org/drawingml/2006/main"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5" name="统一风格-文字 变更验收-118">
            <a:extLst xmlns:a="http://schemas.openxmlformats.org/drawingml/2006/main">
              <a:ext uri="{FF2B5EF4-FFF2-40B4-BE49-F238E27FC236}">
                <a16:creationId xmlns:a16="http://schemas.microsoft.com/office/drawing/2014/main" id="{675CB016-CCC0-4517-9C65-D4398346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变更验收</a:t>
            </a:r>
          </a:p>
        </p:txBody>
      </p:sp>
      <p:sp>
        <p:nvSpPr>
          <p:cNvPr id="56" name="统一风格-文字 各案例独立选型，主路径和故障切换路径都需验证路由、防护与日志。-119">
            <a:extLst xmlns:a="http://schemas.openxmlformats.org/drawingml/2006/main">
              <a:ext uri="{FF2B5EF4-FFF2-40B4-BE49-F238E27FC236}">
                <a16:creationId xmlns:a16="http://schemas.microsoft.com/office/drawing/2014/main" id="{E6499164-F05B-4818-859D-FCEF69FF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911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各案例独立选型，主路径和故障切换路径都需验证路由、防护与日志。</a:t>
            </a:r>
          </a:p>
        </p:txBody>
      </p:sp>
    </p:spTree>
    <p:extLst>
      <p:ext uri="{BB962C8B-B14F-4D97-AF65-F5344CB8AC3E}">
        <p14:creationId xmlns:p14="http://schemas.microsoft.com/office/powerpoint/2010/main" val="214700054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1">
            <a:extLst xmlns:a="http://schemas.openxmlformats.org/drawingml/2006/main">
              <a:ext uri="{FF2B5EF4-FFF2-40B4-BE49-F238E27FC236}">
                <a16:creationId xmlns:a16="http://schemas.microsoft.com/office/drawing/2014/main" id="{8053680A-93E2-409D-A9BD-8DFE706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跨 VPC 连接产品的概念与分工-2">
            <a:extLst xmlns:a="http://schemas.openxmlformats.org/drawingml/2006/main">
              <a:ext uri="{FF2B5EF4-FFF2-40B4-BE49-F238E27FC236}">
                <a16:creationId xmlns:a16="http://schemas.microsoft.com/office/drawing/2014/main" id="{9922A807-B044-4317-BCE8-A337884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连接产品的概念与分工</a:t>
            </a:r>
          </a:p>
        </p:txBody>
      </p:sp>
      <p:sp>
        <p:nvSpPr>
          <p:cNvPr id="3" name="统一风格-文字 先区分网络互通、服务接入与私网地址转换，再设计路由和授权-3">
            <a:extLst xmlns:a="http://schemas.openxmlformats.org/drawingml/2006/main">
              <a:ext uri="{FF2B5EF4-FFF2-40B4-BE49-F238E27FC236}">
                <a16:creationId xmlns:a16="http://schemas.microsoft.com/office/drawing/2014/main" id="{5AB372DB-70E2-482E-946D-2879C85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先区分网络互通、服务接入与私网地址转换，再设计路由和授权</a:t>
            </a:r>
          </a:p>
        </p:txBody>
      </p:sp>
      <p:sp>
        <p:nvSpPr>
          <p:cNvPr id="4" name="统一风格-页脚分隔线-4">
            <a:extLst xmlns:a="http://schemas.openxmlformats.org/drawingml/2006/main">
              <a:ext uri="{FF2B5EF4-FFF2-40B4-BE49-F238E27FC236}">
                <a16:creationId xmlns:a16="http://schemas.microsoft.com/office/drawing/2014/main" id="{2A5DDB2E-B57E-4136-B19B-BD930A4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私网 NAT 用中转 IP 完成地址映射，路由要求按具体方案判断，安全与 CFW 覆盖仍需验证。-5">
            <a:extLst xmlns:a="http://schemas.openxmlformats.org/drawingml/2006/main">
              <a:ext uri="{FF2B5EF4-FFF2-40B4-BE49-F238E27FC236}">
                <a16:creationId xmlns:a16="http://schemas.microsoft.com/office/drawing/2014/main" id="{F3F26C3D-AFAF-45D3-BD06-F99BB950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用中转 IP 完成地址映射，路由要求按具体方案判断，安全与 CFW 覆盖仍需验证。</a:t>
            </a:r>
          </a:p>
        </p:txBody>
      </p:sp>
      <p:sp>
        <p:nvSpPr>
          <p:cNvPr id="6" name="统一风格-文字 18-6">
            <a:extLst xmlns:a="http://schemas.openxmlformats.org/drawingml/2006/main">
              <a:ext uri="{FF2B5EF4-FFF2-40B4-BE49-F238E27FC236}">
                <a16:creationId xmlns:a16="http://schemas.microsoft.com/office/drawing/2014/main" id="{9423E4E5-C894-4D4A-8123-33FBC8D4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统一风格-可编辑配置表玻璃后沿-7">
            <a:extLst xmlns:a="http://schemas.openxmlformats.org/drawingml/2006/main">
              <a:ext uri="{FF2B5EF4-FFF2-40B4-BE49-F238E27FC236}">
                <a16:creationId xmlns:a16="http://schemas.microsoft.com/office/drawing/2014/main" id="{C88F64CC-4F36-4934-9055-D19450A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8">
            <a:extLst xmlns:a="http://schemas.openxmlformats.org/drawingml/2006/main">
              <a:ext uri="{FF2B5EF4-FFF2-40B4-BE49-F238E27FC236}">
                <a16:creationId xmlns:a16="http://schemas.microsoft.com/office/drawing/2014/main" id="{21065AA7-6B0B-4829-BB59-0224B6F6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9">
            <a:extLst xmlns:a="http://schemas.openxmlformats.org/drawingml/2006/main">
              <a:ext uri="{FF2B5EF4-FFF2-40B4-BE49-F238E27FC236}">
                <a16:creationId xmlns:a16="http://schemas.microsoft.com/office/drawing/2014/main" id="{2C66FD2F-7576-43B7-ACAB-24499F7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10">
            <a:extLst xmlns:a="http://schemas.openxmlformats.org/drawingml/2006/main">
              <a:ext uri="{FF2B5EF4-FFF2-40B4-BE49-F238E27FC236}">
                <a16:creationId xmlns:a16="http://schemas.microsoft.com/office/drawing/2014/main" id="{73CCCE12-483B-4F02-A823-46A1DD0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F2804-9AF3-4BC6-96D2-8F0E24BC2FBE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905250"/>
                <a:gridCol w="47339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核心概念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作用范围与配置重点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Peering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的 VPC 之间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建立私网连接关系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核验两端实际路由表与访问权限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企业路由器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 VPC 或本地网络的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集中路由枢纽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通过连接接入网络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使用关联与传播组织路由表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NAT 网关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Private NAT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 私网地址转换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转换源，DNAT 映射服务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规划中转 IP、转换规则与安全策略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 DNAT ELB 与 SNAT 中转组网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消费端通过终端节点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私网访问已发布的服务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按服务授权与端口映射接入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用于指定服务访问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云连接中心网络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+ 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连接不同 Region 的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实现跨区域网络互通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VPC 接入本地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中心网络配置连接策略与带宽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876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正文-01  VPC 基础与规范">
            <a:extLst xmlns:a="http://schemas.openxmlformats.org/drawingml/2006/main">
              <a:ext uri="{FF2B5EF4-FFF2-40B4-BE49-F238E27FC236}">
                <a16:creationId xmlns:a16="http://schemas.microsoft.com/office/drawing/2014/main" id="{062FE273-7586-4398-B2D8-BB26C80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002FA7"/>
                </ns1:solidFill>
                <ns1:latin typeface="Microsoft YaHei"/>
                <ns1:ea typeface="Microsoft YaHei"/>
                <ns1:cs typeface="Microsoft YaHei"/>
              </ns1:rPr>
              <ns1:t>01  VPC 基础与规范</ns1:t>
            </ns1:r>
          </ns1:p>
        </p:txBody>
      </p:sp>
      <p:sp>
        <p:nvSpPr>
          <p:cNvPr id="2" name="统一风格-文字 VPC 的通信条件与默认连通行为-2">
            <a:extLst xmlns:a="http://schemas.openxmlformats.org/drawingml/2006/main">
              <a:ext uri="{FF2B5EF4-FFF2-40B4-BE49-F238E27FC236}">
                <a16:creationId xmlns:a16="http://schemas.microsoft.com/office/drawing/2014/main" id="{914BB594-150F-4128-9F66-A456DBBD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的通信条件与默认连通行为</a:t>
            </a:r>
          </a:p>
        </p:txBody>
      </p:sp>
      <p:sp>
        <p:nvSpPr>
          <p:cNvPr id="3" name="正文-地址、双向路由与安全策略共同决定连通性，应用还需正常监听">
            <a:extLst xmlns:a="http://schemas.openxmlformats.org/drawingml/2006/main">
              <a:ext uri="{FF2B5EF4-FFF2-40B4-BE49-F238E27FC236}">
                <a16:creationId xmlns:a16="http://schemas.microsoft.com/office/drawing/2014/main" id="{FFB20E80-2041-4771-B0BB-C4E33DC1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地址、双向路由与安全策略共同决定连通性，应用还需正常监听</ns0:t>
            </ns0:r>
          </ns0:p>
        </p:txBody>
      </p:sp>
      <p:cxnSp>
        <p:nvCxnSpPr>
          <p:cNvPr id="4" name="知识图示连接-1">
            <a:extLst xmlns:a="http://schemas.openxmlformats.org/drawingml/2006/main">
              <a:ext uri="{FF2B5EF4-FFF2-40B4-BE49-F238E27FC236}">
                <a16:creationId xmlns:a16="http://schemas.microsoft.com/office/drawing/2014/main" id="{A30B961A-E65B-415C-83E3-F08DC1EE9F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统一风格-文字 三项基础检查分别核验，端到端还需服务监听正常并完成真实业务测试。-4">
            <a:extLst xmlns:a="http://schemas.openxmlformats.org/drawingml/2006/main">
              <a:ext uri="{FF2B5EF4-FFF2-40B4-BE49-F238E27FC236}">
                <a16:creationId xmlns:a16="http://schemas.microsoft.com/office/drawing/2014/main" id="{4712D8C2-0817-48C9-A39B-C7395E0E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三项基础检查分别核验，端到端还需服务监听正常并完成真实业务测试。</a:t>
            </a:r>
          </a:p>
        </p:txBody>
      </p:sp>
      <p:sp>
        <p:nvSpPr>
          <p:cNvPr id="6" name="正文-08">
            <a:extLst xmlns:a="http://schemas.openxmlformats.org/drawingml/2006/main">
              <a:ext uri="{FF2B5EF4-FFF2-40B4-BE49-F238E27FC236}">
                <a16:creationId xmlns:a16="http://schemas.microsoft.com/office/drawing/2014/main" id="{63941B22-8AF9-4D01-866B-7C21E6C9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2:p xmlns:ns2="http://schemas.openxmlformats.org/drawingml/2006/main">
            <ns2:pPr algn="r">
              <ns2:defRPr sz="1200" b="0">
                <ns2:solidFill>
                  <ns2:srgbClr val="647B9C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200" b="0">
                <ns2:solidFill>
                  <ns2:srgbClr val="647B9C"/>
                </ns2:solidFill>
                <ns2:latin typeface="Microsoft YaHei"/>
                <ns2:ea typeface="Microsoft YaHei"/>
                <ns2:cs typeface="Microsoft YaHei"/>
              </ns2:rPr>
              <ns2:t>08</ns2:t>
            </ns2:r>
          </ns2:p>
        </p:txBody>
      </p:sp>
      <p:sp>
        <p:nvSpPr>
          <p:cNvPr id="7" name="统一风格-地址正确玻璃后沿-6">
            <a:extLst xmlns:a="http://schemas.openxmlformats.org/drawingml/2006/main">
              <a:ext uri="{FF2B5EF4-FFF2-40B4-BE49-F238E27FC236}">
                <a16:creationId xmlns:a16="http://schemas.microsoft.com/office/drawing/2014/main" id="{DD2DE489-34F6-492D-A652-48CB7F34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地址正确-7">
            <a:extLst xmlns:a="http://schemas.openxmlformats.org/drawingml/2006/main">
              <a:ext uri="{FF2B5EF4-FFF2-40B4-BE49-F238E27FC236}">
                <a16:creationId xmlns:a16="http://schemas.microsoft.com/office/drawing/2014/main" id="{E12C29F7-14D5-45E2-B603-BD38D89F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地址正确玻璃内沿-8">
            <a:extLst xmlns:a="http://schemas.openxmlformats.org/drawingml/2006/main">
              <a:ext uri="{FF2B5EF4-FFF2-40B4-BE49-F238E27FC236}">
                <a16:creationId xmlns:a16="http://schemas.microsoft.com/office/drawing/2014/main" id="{BD721D56-5C6E-4C94-8379-7D8C4182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55984"/>
            <a:ext cx="3384233" cy="1545908"/>
          </a:xfrm>
          <a:prstGeom xmlns:a="http://schemas.openxmlformats.org/drawingml/2006/main" prst="roundRect">
            <a:avLst>
              <a:gd name="adj" fmla="val 474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地址正确透光反射面-9">
            <a:extLst xmlns:a="http://schemas.openxmlformats.org/drawingml/2006/main">
              <a:ext uri="{FF2B5EF4-FFF2-40B4-BE49-F238E27FC236}">
                <a16:creationId xmlns:a16="http://schemas.microsoft.com/office/drawing/2014/main" id="{71A925FA-A54F-4418-9A06-F7489C9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3371850" cy="1533525"/>
          </a:xfrm>
          <a:custGeom xmlns:a="http://schemas.openxmlformats.org/drawingml/2006/main"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地址正确边缘高光-10">
            <a:extLst xmlns:a="http://schemas.openxmlformats.org/drawingml/2006/main">
              <a:ext uri="{FF2B5EF4-FFF2-40B4-BE49-F238E27FC236}">
                <a16:creationId xmlns:a16="http://schemas.microsoft.com/office/drawing/2014/main" id="{CDFFAF51-BD2A-4979-8DA6-34347EB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09950" cy="1571625"/>
          </a:xfrm>
          <a:custGeom xmlns:a="http://schemas.openxmlformats.org/drawingml/2006/main"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11">
            <a:extLst xmlns:a="http://schemas.openxmlformats.org/drawingml/2006/main">
              <a:ext uri="{FF2B5EF4-FFF2-40B4-BE49-F238E27FC236}">
                <a16:creationId xmlns:a16="http://schemas.microsoft.com/office/drawing/2014/main" id="{580356D4-8A02-4F92-BD56-55CC50B6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3" name="统一风格-文字 地址正确-12">
            <a:extLst xmlns:a="http://schemas.openxmlformats.org/drawingml/2006/main">
              <a:ext uri="{FF2B5EF4-FFF2-40B4-BE49-F238E27FC236}">
                <a16:creationId xmlns:a16="http://schemas.microsoft.com/office/drawing/2014/main" id="{F593C334-59C8-41F6-A1B3-B2C8B73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地址正确</a:t>
            </a:r>
          </a:p>
        </p:txBody>
      </p:sp>
      <p:sp>
        <p:nvSpPr>
          <p:cNvPr id="14" name="统一风格-文字 确认目标 IP、VPC 与子网， 排除地址冲突或访问错对象。-13">
            <a:extLst xmlns:a="http://schemas.openxmlformats.org/drawingml/2006/main">
              <a:ext uri="{FF2B5EF4-FFF2-40B4-BE49-F238E27FC236}">
                <a16:creationId xmlns:a16="http://schemas.microsoft.com/office/drawing/2014/main" id="{0D8CB36F-30EB-4F30-A120-3FF9477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32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确认目标 IP、VPC 与子网，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排除地址冲突或访问错对象。</a:t>
            </a:r>
          </a:p>
        </p:txBody>
      </p:sp>
      <p:cxnSp>
        <p:nvCxnSpPr>
          <p:cNvPr id="15" name="知识图示连接-2">
            <a:extLst xmlns:a="http://schemas.openxmlformats.org/drawingml/2006/main">
              <a:ext uri="{FF2B5EF4-FFF2-40B4-BE49-F238E27FC236}">
                <a16:creationId xmlns:a16="http://schemas.microsoft.com/office/drawing/2014/main" id="{EFE3A1A1-A305-40AA-BCD4-72AD9051B5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19550" y="29241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16" name="统一风格-路由可达玻璃后沿-14">
            <a:extLst xmlns:a="http://schemas.openxmlformats.org/drawingml/2006/main">
              <a:ext uri="{FF2B5EF4-FFF2-40B4-BE49-F238E27FC236}">
                <a16:creationId xmlns:a16="http://schemas.microsoft.com/office/drawing/2014/main" id="{AAE79D20-FD49-4088-A6C0-8A022C2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统一风格-路由可达-15">
            <a:extLst xmlns:a="http://schemas.openxmlformats.org/drawingml/2006/main">
              <a:ext uri="{FF2B5EF4-FFF2-40B4-BE49-F238E27FC236}">
                <a16:creationId xmlns:a16="http://schemas.microsoft.com/office/drawing/2014/main" id="{65811BFB-F40B-44A2-BD29-5011715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8" name="统一风格-路由可达玻璃内沿-16">
            <a:extLst xmlns:a="http://schemas.openxmlformats.org/drawingml/2006/main">
              <a:ext uri="{FF2B5EF4-FFF2-40B4-BE49-F238E27FC236}">
                <a16:creationId xmlns:a16="http://schemas.microsoft.com/office/drawing/2014/main" id="{109AAE4F-B220-488F-AF69-73AB396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84" y="2155984"/>
            <a:ext cx="3384233" cy="1545908"/>
          </a:xfrm>
          <a:prstGeom xmlns:a="http://schemas.openxmlformats.org/drawingml/2006/main" prst="roundRect">
            <a:avLst>
              <a:gd name="adj" fmla="val 474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9" name="统一风格-路由可达透光反射面-17">
            <a:extLst xmlns:a="http://schemas.openxmlformats.org/drawingml/2006/main">
              <a:ext uri="{FF2B5EF4-FFF2-40B4-BE49-F238E27FC236}">
                <a16:creationId xmlns:a16="http://schemas.microsoft.com/office/drawing/2014/main" id="{E6410BA0-4089-4E90-AEB4-E19D92B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62175"/>
            <a:ext cx="3371850" cy="1533525"/>
          </a:xfrm>
          <a:custGeom xmlns:a="http://schemas.openxmlformats.org/drawingml/2006/main"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0" name="统一风格-路由可达边缘高光-18">
            <a:extLst xmlns:a="http://schemas.openxmlformats.org/drawingml/2006/main">
              <a:ext uri="{FF2B5EF4-FFF2-40B4-BE49-F238E27FC236}">
                <a16:creationId xmlns:a16="http://schemas.microsoft.com/office/drawing/2014/main" id="{ECEAB584-20A6-4548-BE95-F7A55036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43125"/>
            <a:ext cx="3409950" cy="1571625"/>
          </a:xfrm>
          <a:custGeom xmlns:a="http://schemas.openxmlformats.org/drawingml/2006/main"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1" name="统一风格-route-table VPC 路由表外框-19">
            <a:extLst xmlns:a="http://schemas.openxmlformats.org/drawingml/2006/main">
              <a:ext uri="{FF2B5EF4-FFF2-40B4-BE49-F238E27FC236}">
                <a16:creationId xmlns:a16="http://schemas.microsoft.com/office/drawing/2014/main" id="{043BAE05-F232-4958-87DB-B6828474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2" name="统一风格-route-table 路由表列与表头-20">
            <a:extLst xmlns:a="http://schemas.openxmlformats.org/drawingml/2006/main">
              <a:ext uri="{FF2B5EF4-FFF2-40B4-BE49-F238E27FC236}">
                <a16:creationId xmlns:a16="http://schemas.microsoft.com/office/drawing/2014/main" id="{E9E3EDA4-2FA9-4C68-96AD-522B7524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3" name="统一风格-route-table 目的网段条目-21">
            <a:extLst xmlns:a="http://schemas.openxmlformats.org/drawingml/2006/main">
              <a:ext uri="{FF2B5EF4-FFF2-40B4-BE49-F238E27FC236}">
                <a16:creationId xmlns:a16="http://schemas.microsoft.com/office/drawing/2014/main" id="{80F5D534-9BD1-4061-943F-24B034C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4" name="统一风格-route-table 下一跳箭头-22">
            <a:extLst xmlns:a="http://schemas.openxmlformats.org/drawingml/2006/main">
              <a:ext uri="{FF2B5EF4-FFF2-40B4-BE49-F238E27FC236}">
                <a16:creationId xmlns:a16="http://schemas.microsoft.com/office/drawing/2014/main" id="{315CB0E5-E975-409E-B8A3-13780FB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5" name="统一风格-文字 路由可达-23">
            <a:extLst xmlns:a="http://schemas.openxmlformats.org/drawingml/2006/main">
              <a:ext uri="{FF2B5EF4-FFF2-40B4-BE49-F238E27FC236}">
                <a16:creationId xmlns:a16="http://schemas.microsoft.com/office/drawing/2014/main" id="{3E5CAB81-A2CE-420A-BA90-E76CA6C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43150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路由可达</a:t>
            </a:r>
          </a:p>
        </p:txBody>
      </p:sp>
      <p:sp>
        <p:nvSpPr>
          <p:cNvPr id="26" name="统一风格-文字 核对子网实际关联路由表， 检查去程与回程的下一跳。-24">
            <a:extLst xmlns:a="http://schemas.openxmlformats.org/drawingml/2006/main">
              <a:ext uri="{FF2B5EF4-FFF2-40B4-BE49-F238E27FC236}">
                <a16:creationId xmlns:a16="http://schemas.microsoft.com/office/drawing/2014/main" id="{4CE2E80B-BF6D-4E6A-8B89-AE75FD7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核对子网实际关联路由表，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检查去程与回程的下一跳。</a:t>
            </a:r>
          </a:p>
        </p:txBody>
      </p:sp>
      <p:cxnSp>
        <p:nvCxnSpPr>
          <p:cNvPr id="27" name="知识图示连接-3">
            <a:extLst xmlns:a="http://schemas.openxmlformats.org/drawingml/2006/main">
              <a:ext uri="{FF2B5EF4-FFF2-40B4-BE49-F238E27FC236}">
                <a16:creationId xmlns:a16="http://schemas.microsoft.com/office/drawing/2014/main" id="{8A62DCF4-0F0A-4EA7-A392-883F677B74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0975" y="29241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28" name="统一风格-策略允许玻璃后沿-25">
            <a:extLst xmlns:a="http://schemas.openxmlformats.org/drawingml/2006/main">
              <a:ext uri="{FF2B5EF4-FFF2-40B4-BE49-F238E27FC236}">
                <a16:creationId xmlns:a16="http://schemas.microsoft.com/office/drawing/2014/main" id="{694BE0AA-D37B-4C90-BFD4-FE8845C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统一风格-策略允许-26">
            <a:extLst xmlns:a="http://schemas.openxmlformats.org/drawingml/2006/main">
              <a:ext uri="{FF2B5EF4-FFF2-40B4-BE49-F238E27FC236}">
                <a16:creationId xmlns:a16="http://schemas.microsoft.com/office/drawing/2014/main" id="{BC1C9DA7-9DD6-416F-9CDB-1CEB26A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3409950" cy="1571625"/>
          </a:xfrm>
          <a:prstGeom xmlns:a="http://schemas.openxmlformats.org/drawingml/2006/main" prst="roundRect">
            <a:avLst>
              <a:gd name="adj" fmla="val 545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策略允许玻璃内沿-27">
            <a:extLst xmlns:a="http://schemas.openxmlformats.org/drawingml/2006/main">
              <a:ext uri="{FF2B5EF4-FFF2-40B4-BE49-F238E27FC236}">
                <a16:creationId xmlns:a16="http://schemas.microsoft.com/office/drawing/2014/main" id="{F0D3753D-189E-4B84-BEAF-95ABDBD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309" y="2155984"/>
            <a:ext cx="3384233" cy="1545908"/>
          </a:xfrm>
          <a:prstGeom xmlns:a="http://schemas.openxmlformats.org/drawingml/2006/main" prst="roundRect">
            <a:avLst>
              <a:gd name="adj" fmla="val 474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策略允许透光反射面-28">
            <a:extLst xmlns:a="http://schemas.openxmlformats.org/drawingml/2006/main">
              <a:ext uri="{FF2B5EF4-FFF2-40B4-BE49-F238E27FC236}">
                <a16:creationId xmlns:a16="http://schemas.microsoft.com/office/drawing/2014/main" id="{26A103C9-DB30-4CE3-8A30-7087E19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62175"/>
            <a:ext cx="3371850" cy="1533525"/>
          </a:xfrm>
          <a:custGeom xmlns:a="http://schemas.openxmlformats.org/drawingml/2006/main"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2" name="统一风格-策略允许边缘高光-29">
            <a:extLst xmlns:a="http://schemas.openxmlformats.org/drawingml/2006/main">
              <a:ext uri="{FF2B5EF4-FFF2-40B4-BE49-F238E27FC236}">
                <a16:creationId xmlns:a16="http://schemas.microsoft.com/office/drawing/2014/main" id="{E5F7BB14-0A56-4386-BC23-D46CFF3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3409950" cy="1571625"/>
          </a:xfrm>
          <a:custGeom xmlns:a="http://schemas.openxmlformats.org/drawingml/2006/main"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统一风格-shield 安全盾-30">
            <a:extLst xmlns:a="http://schemas.openxmlformats.org/drawingml/2006/main">
              <a:ext uri="{FF2B5EF4-FFF2-40B4-BE49-F238E27FC236}">
                <a16:creationId xmlns:a16="http://schemas.microsoft.com/office/drawing/2014/main" id="{5F4DF0DB-B1B3-4959-913A-9F3D4FD1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4" name="统一风格-shield 核验标记-31">
            <a:extLst xmlns:a="http://schemas.openxmlformats.org/drawingml/2006/main">
              <a:ext uri="{FF2B5EF4-FFF2-40B4-BE49-F238E27FC236}">
                <a16:creationId xmlns:a16="http://schemas.microsoft.com/office/drawing/2014/main" id="{336A3B27-8892-47FC-9AB1-7A46196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241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5" name="统一风格-文字 策略允许-32">
            <a:extLst xmlns:a="http://schemas.openxmlformats.org/drawingml/2006/main">
              <a:ext uri="{FF2B5EF4-FFF2-40B4-BE49-F238E27FC236}">
                <a16:creationId xmlns:a16="http://schemas.microsoft.com/office/drawing/2014/main" id="{1DCCE35B-65E6-45A4-BEEA-00E71BE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策略允许</a:t>
            </a:r>
          </a:p>
        </p:txBody>
      </p:sp>
      <p:sp>
        <p:nvSpPr>
          <p:cNvPr id="36" name="统一风格-文字 核验源出方向、目的入方向， 以及实际经过的其他控制层。-33">
            <a:extLst xmlns:a="http://schemas.openxmlformats.org/drawingml/2006/main">
              <a:ext uri="{FF2B5EF4-FFF2-40B4-BE49-F238E27FC236}">
                <a16:creationId xmlns:a16="http://schemas.microsoft.com/office/drawing/2014/main" id="{13829ABE-5DC1-4CBD-88C7-46FF8C9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432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核验源出方向、目的入方向，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以及实际经过的其他控制层。</a:t>
            </a:r>
          </a:p>
        </p:txBody>
      </p:sp>
      <p:sp>
        <p:nvSpPr>
          <p:cNvPr id="37" name="统一风格-默认行为玻璃后沿-34">
            <a:extLst xmlns:a="http://schemas.openxmlformats.org/drawingml/2006/main">
              <a:ext uri="{FF2B5EF4-FFF2-40B4-BE49-F238E27FC236}">
                <a16:creationId xmlns:a16="http://schemas.microsoft.com/office/drawing/2014/main" id="{91B5DC59-99E8-4607-BD5D-265E9588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1847850"/>
          </a:xfrm>
          <a:prstGeom xmlns:a="http://schemas.openxmlformats.org/drawingml/2006/main" prst="roundRect">
            <a:avLst>
              <a:gd name="adj" fmla="val 463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8" name="统一风格-默认行为-35">
            <a:extLst xmlns:a="http://schemas.openxmlformats.org/drawingml/2006/main">
              <a:ext uri="{FF2B5EF4-FFF2-40B4-BE49-F238E27FC236}">
                <a16:creationId xmlns:a16="http://schemas.microsoft.com/office/drawing/2014/main" id="{64369438-AF5A-48A4-8B6F-32484BF6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1847850"/>
          </a:xfrm>
          <a:prstGeom xmlns:a="http://schemas.openxmlformats.org/drawingml/2006/main" prst="roundRect">
            <a:avLst>
              <a:gd name="adj" fmla="val 463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默认行为玻璃内沿-36">
            <a:extLst xmlns:a="http://schemas.openxmlformats.org/drawingml/2006/main">
              <a:ext uri="{FF2B5EF4-FFF2-40B4-BE49-F238E27FC236}">
                <a16:creationId xmlns:a16="http://schemas.microsoft.com/office/drawing/2014/main" id="{0972E44B-C947-449A-8E59-A99F5EE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032409"/>
            <a:ext cx="10947083" cy="1822133"/>
          </a:xfrm>
          <a:prstGeom xmlns:a="http://schemas.openxmlformats.org/drawingml/2006/main" prst="roundRect">
            <a:avLst>
              <a:gd name="adj" fmla="val 402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默认行为边缘高光-37">
            <a:extLst xmlns:a="http://schemas.openxmlformats.org/drawingml/2006/main">
              <a:ext uri="{FF2B5EF4-FFF2-40B4-BE49-F238E27FC236}">
                <a16:creationId xmlns:a16="http://schemas.microsoft.com/office/drawing/2014/main" id="{E96271A2-7670-415D-BBE0-F5633B03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1847850"/>
          </a:xfrm>
          <a:custGeom xmlns:a="http://schemas.openxmlformats.org/drawingml/2006/main">
            <a:pathLst>
              <a:path w="10972800" h="18478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1" name="统一风格-文字 同一 VPC-38">
            <a:extLst xmlns:a="http://schemas.openxmlformats.org/drawingml/2006/main">
              <a:ext uri="{FF2B5EF4-FFF2-40B4-BE49-F238E27FC236}">
                <a16:creationId xmlns:a16="http://schemas.microsoft.com/office/drawing/2014/main" id="{1C941147-AD93-458E-ADB8-23A282E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同一 VPC</a:t>
            </a:r>
          </a:p>
        </p:txBody>
      </p:sp>
      <p:sp>
        <p:nvSpPr>
          <p:cNvPr id="42" name="统一风格-文字 不同子网默认网络互通，仍需安全策略允许并验证服务监听。-39">
            <a:extLst xmlns:a="http://schemas.openxmlformats.org/drawingml/2006/main">
              <a:ext uri="{FF2B5EF4-FFF2-40B4-BE49-F238E27FC236}">
                <a16:creationId xmlns:a16="http://schemas.microsoft.com/office/drawing/2014/main" id="{47EC968F-3EE5-4DB2-8FFF-2C277BCB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81475"/>
            <a:ext cx="8410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不同子网默认网络互通，仍需安全策略允许并验证服务监听。</a:t>
            </a:r>
          </a:p>
        </p:txBody>
      </p:sp>
      <p:cxnSp>
        <p:nvCxnSpPr>
          <p:cNvPr id="43" name="知识图示连接-4">
            <a:extLst xmlns:a="http://schemas.openxmlformats.org/drawingml/2006/main">
              <a:ext uri="{FF2B5EF4-FFF2-40B4-BE49-F238E27FC236}">
                <a16:creationId xmlns:a16="http://schemas.microsoft.com/office/drawing/2014/main" id="{189181CA-3236-451B-9B3F-DC8FEF90EB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9625" y="481012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CBE9"/>
            </a:solidFill>
          </a:ln>
        </p:spPr>
      </p:cxnSp>
      <p:sp>
        <p:nvSpPr>
          <p:cNvPr id="44" name="统一风格-文字 不同 VPC-40">
            <a:extLst xmlns:a="http://schemas.openxmlformats.org/drawingml/2006/main">
              <a:ext uri="{FF2B5EF4-FFF2-40B4-BE49-F238E27FC236}">
                <a16:creationId xmlns:a16="http://schemas.microsoft.com/office/drawing/2014/main" id="{2EFC3F81-C99E-4EA9-B90F-C5AC5EC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不同 VPC</a:t>
            </a:r>
          </a:p>
        </p:txBody>
      </p:sp>
      <p:sp>
        <p:nvSpPr>
          <p:cNvPr id="45" name="统一风格-文字 默认不互通，需选择对等连接、ER 或 VPCEP 等适合的连接方式。-41">
            <a:extLst xmlns:a="http://schemas.openxmlformats.org/drawingml/2006/main">
              <a:ext uri="{FF2B5EF4-FFF2-40B4-BE49-F238E27FC236}">
                <a16:creationId xmlns:a16="http://schemas.microsoft.com/office/drawing/2014/main" id="{00707D3E-68F0-4C50-90A4-BC17DB5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57775"/>
            <a:ext cx="8410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默认不互通，需选择对等连接、ER 或 VPCEP 等适合的连接方式。</a:t>
            </a:r>
          </a:p>
        </p:txBody>
      </p:sp>
    </p:spTree>
    <p:extLst>
      <p:ext uri="{BB962C8B-B14F-4D97-AF65-F5344CB8AC3E}">
        <p14:creationId xmlns:p14="http://schemas.microsoft.com/office/powerpoint/2010/main" val="12516005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53124B72-2230-4235-B40B-2FEE63B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对等连接的传递路由示例-43">
            <a:extLst xmlns:a="http://schemas.openxmlformats.org/drawingml/2006/main">
              <a:ext uri="{FF2B5EF4-FFF2-40B4-BE49-F238E27FC236}">
                <a16:creationId xmlns:a16="http://schemas.microsoft.com/office/drawing/2014/main" id="{927C2995-C3DF-498D-8DA7-0C419BAE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对等连接的传递路由示例</a:t>
            </a:r>
          </a:p>
        </p:txBody>
      </p:sp>
      <p:sp>
        <p:nvSpPr>
          <p:cNvPr id="3" name="统一风格-文字 华为云支持显式配置传递路由。本例 B 经 A 访问 C，需核对三端路由。-44">
            <a:extLst xmlns:a="http://schemas.openxmlformats.org/drawingml/2006/main">
              <a:ext uri="{FF2B5EF4-FFF2-40B4-BE49-F238E27FC236}">
                <a16:creationId xmlns:a16="http://schemas.microsoft.com/office/drawing/2014/main" id="{E1136238-31DE-4548-A9BD-228ACC9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华为云支持显式配置传递路由。本例 B 经 A 访问 C，需核对三端路由。</a:t>
            </a:r>
          </a:p>
        </p:txBody>
      </p:sp>
      <p:cxnSp>
        <p:nvCxnSpPr>
          <p:cNvPr id="4" name="知识图示连接-5">
            <a:extLst xmlns:a="http://schemas.openxmlformats.org/drawingml/2006/main">
              <a:ext uri="{FF2B5EF4-FFF2-40B4-BE49-F238E27FC236}">
                <a16:creationId xmlns:a16="http://schemas.microsoft.com/office/drawing/2014/main" id="{8E4BE14C-F2F9-4850-A99E-39AF73AA39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正文-独立 IPv4 组网示例。整网互联要求网段不重叠，访问权限与 CFW 覆盖另行核验。">
            <a:extLst xmlns:a="http://schemas.openxmlformats.org/drawingml/2006/main">
              <a:ext uri="{FF2B5EF4-FFF2-40B4-BE49-F238E27FC236}">
                <a16:creationId xmlns:a16="http://schemas.microsoft.com/office/drawing/2014/main" id="{B1F81234-451E-41BF-8B0C-BE921F8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独立 IPv4 组网示例。整网互联要求网段不重叠，访问权限与 CFW 覆盖另行核验。</ns0:t>
            </ns0:r>
          </ns0:p>
        </p:txBody>
      </p:sp>
      <p:sp>
        <p:nvSpPr>
          <p:cNvPr id="6" name="正文-23">
            <a:extLst xmlns:a="http://schemas.openxmlformats.org/drawingml/2006/main">
              <a:ext uri="{FF2B5EF4-FFF2-40B4-BE49-F238E27FC236}">
                <a16:creationId xmlns:a16="http://schemas.microsoft.com/office/drawing/2014/main" id="{3A70E705-DDCC-42C2-AD6F-01C2B1E5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23</ns1:t>
            </ns1:r>
          </ns1:p>
        </p:txBody>
      </p:sp>
      <p:sp>
        <p:nvSpPr>
          <p:cNvPr id="7" name="统一风格-VPC-B玻璃后沿-47">
            <a:extLst xmlns:a="http://schemas.openxmlformats.org/drawingml/2006/main">
              <a:ext uri="{FF2B5EF4-FFF2-40B4-BE49-F238E27FC236}">
                <a16:creationId xmlns:a16="http://schemas.microsoft.com/office/drawing/2014/main" id="{16A8088B-0D97-427D-B643-B6AB0BB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VPC-B-48">
            <a:extLst xmlns:a="http://schemas.openxmlformats.org/drawingml/2006/main">
              <a:ext uri="{FF2B5EF4-FFF2-40B4-BE49-F238E27FC236}">
                <a16:creationId xmlns:a16="http://schemas.microsoft.com/office/drawing/2014/main" id="{7B97E462-4470-44AB-9592-6E1F4B0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VPC-B玻璃内沿-49">
            <a:extLst xmlns:a="http://schemas.openxmlformats.org/drawingml/2006/main">
              <a:ext uri="{FF2B5EF4-FFF2-40B4-BE49-F238E27FC236}">
                <a16:creationId xmlns:a16="http://schemas.microsoft.com/office/drawing/2014/main" id="{B0B7A39A-862D-4BE0-A573-86D641BA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260759"/>
            <a:ext cx="2831783" cy="993458"/>
          </a:xfrm>
          <a:prstGeom xmlns:a="http://schemas.openxmlformats.org/drawingml/2006/main" prst="roundRect">
            <a:avLst>
              <a:gd name="adj" fmla="val 73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VPC-B透光反射面-50">
            <a:extLst xmlns:a="http://schemas.openxmlformats.org/drawingml/2006/main">
              <a:ext uri="{FF2B5EF4-FFF2-40B4-BE49-F238E27FC236}">
                <a16:creationId xmlns:a16="http://schemas.microsoft.com/office/drawing/2014/main" id="{8961AD4E-3DB2-4F73-92EC-01DFB317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819400" cy="981075"/>
          </a:xfrm>
          <a:custGeom xmlns:a="http://schemas.openxmlformats.org/drawingml/2006/main"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VPC-B边缘高光-51">
            <a:extLst xmlns:a="http://schemas.openxmlformats.org/drawingml/2006/main">
              <a:ext uri="{FF2B5EF4-FFF2-40B4-BE49-F238E27FC236}">
                <a16:creationId xmlns:a16="http://schemas.microsoft.com/office/drawing/2014/main" id="{52834064-5790-4330-8E11-DE8A39FC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857500" cy="1019175"/>
          </a:xfrm>
          <a:custGeom xmlns:a="http://schemas.openxmlformats.org/drawingml/2006/main"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52">
            <a:extLst xmlns:a="http://schemas.openxmlformats.org/drawingml/2006/main">
              <a:ext uri="{FF2B5EF4-FFF2-40B4-BE49-F238E27FC236}">
                <a16:creationId xmlns:a16="http://schemas.microsoft.com/office/drawing/2014/main" id="{ABC31064-E4AE-4972-956E-E44E2281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466725" cy="4667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583" cap="rnd">
            <a:solidFill>
              <a:srgbClr val="2053C3"/>
            </a:solidFill>
            <a:round/>
          </a:ln>
        </p:spPr>
      </p:sp>
      <p:sp>
        <p:nvSpPr>
          <p:cNvPr id="13" name="统一风格-文字 VPC-B-53">
            <a:extLst xmlns:a="http://schemas.openxmlformats.org/drawingml/2006/main">
              <a:ext uri="{FF2B5EF4-FFF2-40B4-BE49-F238E27FC236}">
                <a16:creationId xmlns:a16="http://schemas.microsoft.com/office/drawing/2014/main" id="{4BA50204-4C37-492F-9467-F2C8973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7172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</a:t>
            </a:r>
          </a:p>
        </p:txBody>
      </p:sp>
      <p:sp>
        <p:nvSpPr>
          <p:cNvPr id="14" name="统一风格-文字 10.52.0.0/16-54">
            <a:extLst xmlns:a="http://schemas.openxmlformats.org/drawingml/2006/main">
              <a:ext uri="{FF2B5EF4-FFF2-40B4-BE49-F238E27FC236}">
                <a16:creationId xmlns:a16="http://schemas.microsoft.com/office/drawing/2014/main" id="{605CB84B-4E1C-47E2-B026-A619BD9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10.52.0.0/16</a:t>
            </a:r>
          </a:p>
        </p:txBody>
      </p:sp>
      <p:sp>
        <p:nvSpPr>
          <p:cNvPr id="15" name="统一风格-VPC-A玻璃后沿-55">
            <a:extLst xmlns:a="http://schemas.openxmlformats.org/drawingml/2006/main">
              <a:ext uri="{FF2B5EF4-FFF2-40B4-BE49-F238E27FC236}">
                <a16:creationId xmlns:a16="http://schemas.microsoft.com/office/drawing/2014/main" id="{04880165-FA85-4430-B2BA-1944F51C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统一风格-VPC-A-56">
            <a:extLst xmlns:a="http://schemas.openxmlformats.org/drawingml/2006/main">
              <a:ext uri="{FF2B5EF4-FFF2-40B4-BE49-F238E27FC236}">
                <a16:creationId xmlns:a16="http://schemas.microsoft.com/office/drawing/2014/main" id="{D30149BB-3283-4EA3-8540-DAD11596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VPC-A玻璃内沿-57">
            <a:extLst xmlns:a="http://schemas.openxmlformats.org/drawingml/2006/main">
              <a:ext uri="{FF2B5EF4-FFF2-40B4-BE49-F238E27FC236}">
                <a16:creationId xmlns:a16="http://schemas.microsoft.com/office/drawing/2014/main" id="{D04C95DB-C86F-4CC5-BB37-D3D9EA5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109" y="2260759"/>
            <a:ext cx="2831783" cy="993458"/>
          </a:xfrm>
          <a:prstGeom xmlns:a="http://schemas.openxmlformats.org/drawingml/2006/main" prst="roundRect">
            <a:avLst>
              <a:gd name="adj" fmla="val 73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VPC-A透光反射面-58">
            <a:extLst xmlns:a="http://schemas.openxmlformats.org/drawingml/2006/main">
              <a:ext uri="{FF2B5EF4-FFF2-40B4-BE49-F238E27FC236}">
                <a16:creationId xmlns:a16="http://schemas.microsoft.com/office/drawing/2014/main" id="{C353B3EB-815A-4100-BF50-69B752EA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981075"/>
          </a:xfrm>
          <a:custGeom xmlns:a="http://schemas.openxmlformats.org/drawingml/2006/main"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9" name="统一风格-VPC-A边缘高光-59">
            <a:extLst xmlns:a="http://schemas.openxmlformats.org/drawingml/2006/main">
              <a:ext uri="{FF2B5EF4-FFF2-40B4-BE49-F238E27FC236}">
                <a16:creationId xmlns:a16="http://schemas.microsoft.com/office/drawing/2014/main" id="{A49F9581-5DD7-48F7-8E7F-50EB7A4C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019175"/>
          </a:xfrm>
          <a:custGeom xmlns:a="http://schemas.openxmlformats.org/drawingml/2006/main"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0" name="统一风格-cloud VPC 云轮廓-60">
            <a:extLst xmlns:a="http://schemas.openxmlformats.org/drawingml/2006/main">
              <a:ext uri="{FF2B5EF4-FFF2-40B4-BE49-F238E27FC236}">
                <a16:creationId xmlns:a16="http://schemas.microsoft.com/office/drawing/2014/main" id="{A5C9FB68-F758-4BE9-9508-CC0D3A9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466725" cy="4667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583" cap="rnd">
            <a:solidFill>
              <a:srgbClr val="2053C3"/>
            </a:solidFill>
            <a:round/>
          </a:ln>
        </p:spPr>
      </p:sp>
      <p:sp>
        <p:nvSpPr>
          <p:cNvPr id="21" name="统一风格-文字 VPC-A-61">
            <a:extLst xmlns:a="http://schemas.openxmlformats.org/drawingml/2006/main">
              <a:ext uri="{FF2B5EF4-FFF2-40B4-BE49-F238E27FC236}">
                <a16:creationId xmlns:a16="http://schemas.microsoft.com/office/drawing/2014/main" id="{40FE2C85-C218-4E9B-9211-F090336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7172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</a:t>
            </a:r>
          </a:p>
        </p:txBody>
      </p:sp>
      <p:sp>
        <p:nvSpPr>
          <p:cNvPr id="22" name="统一风格-文字 10.51.0.0/16-62">
            <a:extLst xmlns:a="http://schemas.openxmlformats.org/drawingml/2006/main">
              <a:ext uri="{FF2B5EF4-FFF2-40B4-BE49-F238E27FC236}">
                <a16:creationId xmlns:a16="http://schemas.microsoft.com/office/drawing/2014/main" id="{61F7C564-616A-4FF4-BFF7-2F468C3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0987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10.51.0.0/16</a:t>
            </a:r>
          </a:p>
        </p:txBody>
      </p:sp>
      <p:sp>
        <p:nvSpPr>
          <p:cNvPr id="23" name="统一风格-VPC-C玻璃后沿-63">
            <a:extLst xmlns:a="http://schemas.openxmlformats.org/drawingml/2006/main">
              <a:ext uri="{FF2B5EF4-FFF2-40B4-BE49-F238E27FC236}">
                <a16:creationId xmlns:a16="http://schemas.microsoft.com/office/drawing/2014/main" id="{37B71210-4EA6-4DB8-BE97-A710F09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统一风格-VPC-C-64">
            <a:extLst xmlns:a="http://schemas.openxmlformats.org/drawingml/2006/main">
              <a:ext uri="{FF2B5EF4-FFF2-40B4-BE49-F238E27FC236}">
                <a16:creationId xmlns:a16="http://schemas.microsoft.com/office/drawing/2014/main" id="{ED943F7C-48EC-4136-936E-49226F68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8575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VPC-C玻璃内沿-65">
            <a:extLst xmlns:a="http://schemas.openxmlformats.org/drawingml/2006/main">
              <a:ext uri="{FF2B5EF4-FFF2-40B4-BE49-F238E27FC236}">
                <a16:creationId xmlns:a16="http://schemas.microsoft.com/office/drawing/2014/main" id="{BE2D7417-82D8-4A10-ABFA-05B047A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759" y="2260759"/>
            <a:ext cx="2831783" cy="993458"/>
          </a:xfrm>
          <a:prstGeom xmlns:a="http://schemas.openxmlformats.org/drawingml/2006/main" prst="roundRect">
            <a:avLst>
              <a:gd name="adj" fmla="val 73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VPC-C透光反射面-66">
            <a:extLst xmlns:a="http://schemas.openxmlformats.org/drawingml/2006/main">
              <a:ext uri="{FF2B5EF4-FFF2-40B4-BE49-F238E27FC236}">
                <a16:creationId xmlns:a16="http://schemas.microsoft.com/office/drawing/2014/main" id="{6FAD0F4C-93C3-4A94-84CE-74E24B1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819400" cy="981075"/>
          </a:xfrm>
          <a:custGeom xmlns:a="http://schemas.openxmlformats.org/drawingml/2006/main"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7" name="统一风格-VPC-C边缘高光-67">
            <a:extLst xmlns:a="http://schemas.openxmlformats.org/drawingml/2006/main">
              <a:ext uri="{FF2B5EF4-FFF2-40B4-BE49-F238E27FC236}">
                <a16:creationId xmlns:a16="http://schemas.microsoft.com/office/drawing/2014/main" id="{C22BB5FD-B0E6-4643-BF8E-06536A95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857500" cy="1019175"/>
          </a:xfrm>
          <a:custGeom xmlns:a="http://schemas.openxmlformats.org/drawingml/2006/main"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8" name="统一风格-cloud VPC 云轮廓-68">
            <a:extLst xmlns:a="http://schemas.openxmlformats.org/drawingml/2006/main">
              <a:ext uri="{FF2B5EF4-FFF2-40B4-BE49-F238E27FC236}">
                <a16:creationId xmlns:a16="http://schemas.microsoft.com/office/drawing/2014/main" id="{9F11B04D-EB11-45DC-AD6D-4D7EAF8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05075"/>
            <a:ext cx="466725" cy="46672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8583" cap="rnd">
            <a:solidFill>
              <a:srgbClr val="2053C3"/>
            </a:solidFill>
            <a:round/>
          </a:ln>
        </p:spPr>
      </p:sp>
      <p:sp>
        <p:nvSpPr>
          <p:cNvPr id="29" name="统一风格-文字 VPC-C-69">
            <a:extLst xmlns:a="http://schemas.openxmlformats.org/drawingml/2006/main">
              <a:ext uri="{FF2B5EF4-FFF2-40B4-BE49-F238E27FC236}">
                <a16:creationId xmlns:a16="http://schemas.microsoft.com/office/drawing/2014/main" id="{5258559E-85C2-4E70-BB22-8512F14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7172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VPC-C</a:t>
            </a:r>
          </a:p>
        </p:txBody>
      </p:sp>
      <p:sp>
        <p:nvSpPr>
          <p:cNvPr id="30" name="统一风格-文字 10.53.0.0/16-70">
            <a:extLst xmlns:a="http://schemas.openxmlformats.org/drawingml/2006/main">
              <a:ext uri="{FF2B5EF4-FFF2-40B4-BE49-F238E27FC236}">
                <a16:creationId xmlns:a16="http://schemas.microsoft.com/office/drawing/2014/main" id="{7B6FA1B0-C6C8-4D27-A7BD-A73D1860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987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10.53.0.0/16</a:t>
            </a:r>
          </a:p>
        </p:txBody>
      </p:sp>
      <p:cxnSp>
        <p:nvCxnSpPr>
          <p:cNvPr id="31" name="知识图示连接-6">
            <a:extLst xmlns:a="http://schemas.openxmlformats.org/drawingml/2006/main">
              <a:ext uri="{FF2B5EF4-FFF2-40B4-BE49-F238E27FC236}">
                <a16:creationId xmlns:a16="http://schemas.microsoft.com/office/drawing/2014/main" id="{FCA5A7CE-77B9-483D-8486-19A083D7F9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67100" y="27717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32" name="知识图示连接-7">
            <a:extLst xmlns:a="http://schemas.openxmlformats.org/drawingml/2006/main">
              <a:ext uri="{FF2B5EF4-FFF2-40B4-BE49-F238E27FC236}">
                <a16:creationId xmlns:a16="http://schemas.microsoft.com/office/drawing/2014/main" id="{C9DEA376-9734-41BF-986D-33B5B78559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24750" y="27717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sp>
        <p:nvSpPr>
          <p:cNvPr id="33" name="统一风格-文字 Peering-AB-71">
            <a:extLst xmlns:a="http://schemas.openxmlformats.org/drawingml/2006/main">
              <a:ext uri="{FF2B5EF4-FFF2-40B4-BE49-F238E27FC236}">
                <a16:creationId xmlns:a16="http://schemas.microsoft.com/office/drawing/2014/main" id="{89FA1751-E039-4455-B8C7-3BAF5E5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34" name="统一风格-文字 Peering-AC-72">
            <a:extLst xmlns:a="http://schemas.openxmlformats.org/drawingml/2006/main">
              <a:ext uri="{FF2B5EF4-FFF2-40B4-BE49-F238E27FC236}">
                <a16:creationId xmlns:a16="http://schemas.microsoft.com/office/drawing/2014/main" id="{92D4649F-05AC-4438-9A35-724093AC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Peering-AC</a:t>
            </a:r>
          </a:p>
        </p:txBody>
      </p:sp>
      <p:sp>
        <p:nvSpPr>
          <p:cNvPr id="35" name="统一风格-知识重点表玻璃后沿-73">
            <a:extLst xmlns:a="http://schemas.openxmlformats.org/drawingml/2006/main">
              <a:ext uri="{FF2B5EF4-FFF2-40B4-BE49-F238E27FC236}">
                <a16:creationId xmlns:a16="http://schemas.microsoft.com/office/drawing/2014/main" id="{A8B3536E-3730-47D5-9D39-F97BE693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1106150" cy="2190750"/>
          </a:xfrm>
          <a:prstGeom xmlns:a="http://schemas.openxmlformats.org/drawingml/2006/main" prst="roundRect">
            <a:avLst>
              <a:gd name="adj" fmla="val 391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6" name="统一风格-知识重点表-74">
            <a:extLst xmlns:a="http://schemas.openxmlformats.org/drawingml/2006/main">
              <a:ext uri="{FF2B5EF4-FFF2-40B4-BE49-F238E27FC236}">
                <a16:creationId xmlns:a16="http://schemas.microsoft.com/office/drawing/2014/main" id="{A2493D05-6C4C-4E95-8ACD-E8D564F3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1106150" cy="2190750"/>
          </a:xfrm>
          <a:prstGeom xmlns:a="http://schemas.openxmlformats.org/drawingml/2006/main" prst="roundRect">
            <a:avLst>
              <a:gd name="adj" fmla="val 391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7" name="统一风格-知识重点表玻璃内沿-75">
            <a:extLst xmlns:a="http://schemas.openxmlformats.org/drawingml/2006/main">
              <a:ext uri="{FF2B5EF4-FFF2-40B4-BE49-F238E27FC236}">
                <a16:creationId xmlns:a16="http://schemas.microsoft.com/office/drawing/2014/main" id="{9F77B5AC-757F-4C0A-99A4-08903CD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3689509"/>
            <a:ext cx="11080433" cy="2165033"/>
          </a:xfrm>
          <a:prstGeom xmlns:a="http://schemas.openxmlformats.org/drawingml/2006/main" prst="roundRect">
            <a:avLst>
              <a:gd name="adj" fmla="val 338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8" name="统一风格-知识重点表边缘高光-76">
            <a:extLst xmlns:a="http://schemas.openxmlformats.org/drawingml/2006/main">
              <a:ext uri="{FF2B5EF4-FFF2-40B4-BE49-F238E27FC236}">
                <a16:creationId xmlns:a16="http://schemas.microsoft.com/office/drawing/2014/main" id="{F0212023-72C7-4EA4-B95B-3D9E0F9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1106150" cy="2190750"/>
          </a:xfrm>
          <a:custGeom xmlns:a="http://schemas.openxmlformats.org/drawingml/2006/main">
            <a:pathLst>
              <a:path w="11106150" h="2190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38444B-2EB3-43B5-AAFF-EEAE2E253552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52875"/>
                <a:gridCol w="4638675"/>
              </a:tblGrid>
              <a:tr h="41148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41148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41148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41148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41148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8257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77FF9D91-557C-47DC-88D8-32BC8BCD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VPCEP 的授权层次与后端源地址-78">
            <a:extLst xmlns:a="http://schemas.openxmlformats.org/drawingml/2006/main">
              <a:ext uri="{FF2B5EF4-FFF2-40B4-BE49-F238E27FC236}">
                <a16:creationId xmlns:a16="http://schemas.microsoft.com/office/drawing/2014/main" id="{6B8BCBBD-49CC-480B-B0F7-1B1926EB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的授权层次与后端源地址</a:t>
            </a:r>
          </a:p>
        </p:txBody>
      </p:sp>
      <p:sp>
        <p:nvSpPr>
          <p:cNvPr id="3" name="统一风格-文字 同一个访问请求，在服务接入、消费源控制和后端接收三个层次分别核验-79">
            <a:extLst xmlns:a="http://schemas.openxmlformats.org/drawingml/2006/main">
              <a:ext uri="{FF2B5EF4-FFF2-40B4-BE49-F238E27FC236}">
                <a16:creationId xmlns:a16="http://schemas.microsoft.com/office/drawing/2014/main" id="{7111A466-427A-4189-A15A-1E1DF3C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同一个访问请求，在服务接入、消费源控制和后端接收三个层次分别核验</a:t>
            </a:r>
          </a:p>
        </p:txBody>
      </p:sp>
      <p:cxnSp>
        <p:nvCxnSpPr>
          <p:cNvPr id="4" name="知识图示连接-8">
            <a:extLst xmlns:a="http://schemas.openxmlformats.org/drawingml/2006/main">
              <a:ext uri="{FF2B5EF4-FFF2-40B4-BE49-F238E27FC236}">
                <a16:creationId xmlns:a16="http://schemas.microsoft.com/office/drawing/2014/main" id="{BA62CC71-019A-42EF-896A-A7BD1ED0D7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正文-本例采用 ELB 后端，端口映射为 TCP 443 到 443；其他后端按对应文档确认。">
            <a:extLst xmlns:a="http://schemas.openxmlformats.org/drawingml/2006/main">
              <a:ext uri="{FF2B5EF4-FFF2-40B4-BE49-F238E27FC236}">
                <a16:creationId xmlns:a16="http://schemas.microsoft.com/office/drawing/2014/main" id="{D51E9614-D962-4D40-BF48-F6F7733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本例采用 ELB 后端，端口映射为 TCP 443 到 443；其他后端按对应文档确认。</ns0:t>
            </ns0:r>
          </ns0:p>
        </p:txBody>
      </p:sp>
      <p:sp>
        <p:nvSpPr>
          <p:cNvPr id="6" name="正文-25">
            <a:extLst xmlns:a="http://schemas.openxmlformats.org/drawingml/2006/main">
              <a:ext uri="{FF2B5EF4-FFF2-40B4-BE49-F238E27FC236}">
                <a16:creationId xmlns:a16="http://schemas.microsoft.com/office/drawing/2014/main" id="{DB2E259B-31AE-4984-8D08-EB0568B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32</ns0:t>
            </ns0:r>
          </ns0:p>
        </p:txBody>
      </p:sp>
      <p:sp>
        <p:nvSpPr>
          <p:cNvPr id="7" name="统一风格-知识重点表玻璃后沿-82">
            <a:extLst xmlns:a="http://schemas.openxmlformats.org/drawingml/2006/main">
              <a:ext uri="{FF2B5EF4-FFF2-40B4-BE49-F238E27FC236}">
                <a16:creationId xmlns:a16="http://schemas.microsoft.com/office/drawing/2014/main" id="{5B6C1E63-521A-47C8-A1BD-C62F61B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知识重点表-83">
            <a:extLst xmlns:a="http://schemas.openxmlformats.org/drawingml/2006/main">
              <a:ext uri="{FF2B5EF4-FFF2-40B4-BE49-F238E27FC236}">
                <a16:creationId xmlns:a16="http://schemas.microsoft.com/office/drawing/2014/main" id="{A8DA43C3-5879-418A-8386-C7556B94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知识重点表玻璃内沿-84">
            <a:extLst xmlns:a="http://schemas.openxmlformats.org/drawingml/2006/main">
              <a:ext uri="{FF2B5EF4-FFF2-40B4-BE49-F238E27FC236}">
                <a16:creationId xmlns:a16="http://schemas.microsoft.com/office/drawing/2014/main" id="{A293143B-7934-4586-924C-6A43B22C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650808"/>
          </a:xfrm>
          <a:prstGeom xmlns:a="http://schemas.openxmlformats.org/drawingml/2006/main" prst="roundRect">
            <a:avLst>
              <a:gd name="adj" fmla="val 276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知识重点表边缘高光-85">
            <a:extLst xmlns:a="http://schemas.openxmlformats.org/drawingml/2006/main">
              <a:ext uri="{FF2B5EF4-FFF2-40B4-BE49-F238E27FC236}">
                <a16:creationId xmlns:a16="http://schemas.microsoft.com/office/drawing/2014/main" id="{2363CFF8-3859-41E6-9A83-EAB17FD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custGeom xmlns:a="http://schemas.openxmlformats.org/drawingml/2006/main"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C80A9-4FA7-4A08-A231-41C74A7EC2EB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6925"/>
                <a:gridCol w="3333750"/>
                <a:gridCol w="5572125"/>
              </a:tblGrid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控制什么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本例检查重点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服务接入授权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谁能建立终端节点连接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跨账号服务账号白名单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开启连接审批时，由服务方接受连接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消费源控制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哪些消费源可访问终端节点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填写批准的消费端 CIDR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后端接收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后端是否接收转发的业务流量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 198.19.128.0/17 的必要端口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访问控制开启时同步放通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真实源地址玻璃后沿-86">
            <a:extLst xmlns:a="http://schemas.openxmlformats.org/drawingml/2006/main">
              <a:ext uri="{FF2B5EF4-FFF2-40B4-BE49-F238E27FC236}">
                <a16:creationId xmlns:a16="http://schemas.microsoft.com/office/drawing/2014/main" id="{8EE0F829-A9AE-4329-BD94-62BA01F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" name="统一风格-真实源地址-87">
            <a:extLst xmlns:a="http://schemas.openxmlformats.org/drawingml/2006/main">
              <a:ext uri="{FF2B5EF4-FFF2-40B4-BE49-F238E27FC236}">
                <a16:creationId xmlns:a16="http://schemas.microsoft.com/office/drawing/2014/main" id="{2601F4E7-9EC4-4C18-90B1-A3DD16C7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876300"/>
          </a:xfrm>
          <a:prstGeom xmlns:a="http://schemas.openxmlformats.org/drawingml/2006/main" prst="roundRect">
            <a:avLst>
              <a:gd name="adj" fmla="val 978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真实源地址玻璃内沿-88">
            <a:extLst xmlns:a="http://schemas.openxmlformats.org/drawingml/2006/main">
              <a:ext uri="{FF2B5EF4-FFF2-40B4-BE49-F238E27FC236}">
                <a16:creationId xmlns:a16="http://schemas.microsoft.com/office/drawing/2014/main" id="{473B5A7D-46EB-4277-A37F-56FA85F3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003959"/>
            <a:ext cx="10947083" cy="850583"/>
          </a:xfrm>
          <a:prstGeom xmlns:a="http://schemas.openxmlformats.org/drawingml/2006/main" prst="roundRect">
            <a:avLst>
              <a:gd name="adj" fmla="val 86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真实源地址边缘高光-89">
            <a:extLst xmlns:a="http://schemas.openxmlformats.org/drawingml/2006/main">
              <a:ext uri="{FF2B5EF4-FFF2-40B4-BE49-F238E27FC236}">
                <a16:creationId xmlns:a16="http://schemas.microsoft.com/office/drawing/2014/main" id="{22211FC9-A72C-42B1-94FD-E87A9F1B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876300"/>
          </a:xfrm>
          <a:custGeom xmlns:a="http://schemas.openxmlformats.org/drawingml/2006/main">
            <a:pathLst>
              <a:path w="10972800" h="876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真实客户端 IP-90">
            <a:extLst xmlns:a="http://schemas.openxmlformats.org/drawingml/2006/main">
              <a:ext uri="{FF2B5EF4-FFF2-40B4-BE49-F238E27FC236}">
                <a16:creationId xmlns:a16="http://schemas.microsoft.com/office/drawing/2014/main" id="{B930D8C3-D85B-4867-9D65-3BB23DA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真实客户端 IP</a:t>
            </a:r>
          </a:p>
        </p:txBody>
      </p:sp>
      <p:sp>
        <p:nvSpPr>
          <p:cNvPr id="17" name="统一风格-文字 ELB 作为终端节点服务后端时，不支持获取真实客户端地址。 按该场景的转发源地址配置后端规则，消费源限制放在终端节点侧核验。-91">
            <a:extLst xmlns:a="http://schemas.openxmlformats.org/drawingml/2006/main">
              <a:ext uri="{FF2B5EF4-FFF2-40B4-BE49-F238E27FC236}">
                <a16:creationId xmlns:a16="http://schemas.microsoft.com/office/drawing/2014/main" id="{A3F4DD16-5489-47B6-BDCD-9DBD0977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86350"/>
            <a:ext cx="8201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ELB 作为终端节点服务后端时，不支持获取真实客户端地址。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按该场景的转发源地址配置后端规则，消费源限制放在终端节点侧核验。</a:t>
            </a:r>
          </a:p>
        </p:txBody>
      </p:sp>
    </p:spTree>
    <p:extLst>
      <p:ext uri="{BB962C8B-B14F-4D97-AF65-F5344CB8AC3E}">
        <p14:creationId xmlns:p14="http://schemas.microsoft.com/office/powerpoint/2010/main" val="97039337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正文-02  网络互联方案">
            <a:extLst xmlns:a="http://schemas.openxmlformats.org/drawingml/2006/main">
              <a:ext uri="{FF2B5EF4-FFF2-40B4-BE49-F238E27FC236}">
                <a16:creationId xmlns:a16="http://schemas.microsoft.com/office/drawing/2014/main" id="{D0B1E020-B444-4251-A2F2-C7A9FA6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CC 中心网络的配置顺序-93">
            <a:extLst xmlns:a="http://schemas.openxmlformats.org/drawingml/2006/main">
              <a:ext uri="{FF2B5EF4-FFF2-40B4-BE49-F238E27FC236}">
                <a16:creationId xmlns:a16="http://schemas.microsoft.com/office/drawing/2014/main" id="{02417E48-B69C-491A-B845-7EC248C4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中心网络的配置顺序</a:t>
            </a:r>
          </a:p>
        </p:txBody>
      </p:sp>
      <p:sp>
        <p:nvSpPr>
          <p:cNvPr id="3" name="统一风格-文字 基础连通配置与叠加 CFW 的送检设计分开审核-94">
            <a:extLst xmlns:a="http://schemas.openxmlformats.org/drawingml/2006/main">
              <a:ext uri="{FF2B5EF4-FFF2-40B4-BE49-F238E27FC236}">
                <a16:creationId xmlns:a16="http://schemas.microsoft.com/office/drawing/2014/main" id="{DB3FBB5C-E9A2-4CC1-9266-6D79A92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基础连通配置与叠加 CFW 的送检设计分开审核</a:t>
            </a:r>
          </a:p>
        </p:txBody>
      </p:sp>
      <p:cxnSp>
        <p:nvCxnSpPr>
          <p:cNvPr id="4" name="知识图示连接-9">
            <a:extLst xmlns:a="http://schemas.openxmlformats.org/drawingml/2006/main">
              <a:ext uri="{FF2B5EF4-FFF2-40B4-BE49-F238E27FC236}">
                <a16:creationId xmlns:a16="http://schemas.microsoft.com/office/drawing/2014/main" id="{C1E18FB6-3959-4AD8-8A90-9113E94086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统一风格-文字 中心网络通过区域 ER 建立跨 Region 连接，不能直接套用云连接实例加载 VPC 的步骤。-95">
            <a:extLst xmlns:a="http://schemas.openxmlformats.org/drawingml/2006/main">
              <a:ext uri="{FF2B5EF4-FFF2-40B4-BE49-F238E27FC236}">
                <a16:creationId xmlns:a16="http://schemas.microsoft.com/office/drawing/2014/main" id="{F3BF8A38-4AED-43CC-8C0B-38F9E48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中心网络通过区域 ER 建立跨 Region 连接，不能直接套用云连接实例加载 VPC 的步骤。</a:t>
            </a:r>
          </a:p>
        </p:txBody>
      </p:sp>
      <p:sp>
        <p:nvSpPr>
          <p:cNvPr id="6" name="正文-28">
            <a:extLst xmlns:a="http://schemas.openxmlformats.org/drawingml/2006/main">
              <a:ext uri="{FF2B5EF4-FFF2-40B4-BE49-F238E27FC236}">
                <a16:creationId xmlns:a16="http://schemas.microsoft.com/office/drawing/2014/main" id="{8DD3ACD9-44F6-41D9-A84B-E8761FF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45</ns1:t>
            </ns1:r>
          </ns1:p>
        </p:txBody>
      </p:sp>
      <p:sp>
        <p:nvSpPr>
          <p:cNvPr id="7" name="统一风格-资源与接入玻璃后沿-97">
            <a:extLst xmlns:a="http://schemas.openxmlformats.org/drawingml/2006/main">
              <a:ext uri="{FF2B5EF4-FFF2-40B4-BE49-F238E27FC236}">
                <a16:creationId xmlns:a16="http://schemas.microsoft.com/office/drawing/2014/main" id="{9F16B884-0C62-40DC-A4BA-98E22977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资源与接入-98">
            <a:extLst xmlns:a="http://schemas.openxmlformats.org/drawingml/2006/main">
              <a:ext uri="{FF2B5EF4-FFF2-40B4-BE49-F238E27FC236}">
                <a16:creationId xmlns:a16="http://schemas.microsoft.com/office/drawing/2014/main" id="{EDA2C462-2666-4DB9-BF73-63E2323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资源与接入玻璃内沿-99">
            <a:extLst xmlns:a="http://schemas.openxmlformats.org/drawingml/2006/main">
              <a:ext uri="{FF2B5EF4-FFF2-40B4-BE49-F238E27FC236}">
                <a16:creationId xmlns:a16="http://schemas.microsoft.com/office/drawing/2014/main" id="{5E249F0E-3597-44E8-8FA5-EF3D140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10947083" cy="593408"/>
          </a:xfrm>
          <a:prstGeom xmlns:a="http://schemas.openxmlformats.org/drawingml/2006/main" prst="roundRect">
            <a:avLst>
              <a:gd name="adj" fmla="val 1236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资源与接入透光反射面-100">
            <a:extLst xmlns:a="http://schemas.openxmlformats.org/drawingml/2006/main">
              <a:ext uri="{FF2B5EF4-FFF2-40B4-BE49-F238E27FC236}">
                <a16:creationId xmlns:a16="http://schemas.microsoft.com/office/drawing/2014/main" id="{CC2A0F29-602F-4F96-8A2A-044C06F4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934700" cy="581025"/>
          </a:xfrm>
          <a:custGeom xmlns:a="http://schemas.openxmlformats.org/drawingml/2006/main"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资源与接入边缘高光-101">
            <a:extLst xmlns:a="http://schemas.openxmlformats.org/drawingml/2006/main">
              <a:ext uri="{FF2B5EF4-FFF2-40B4-BE49-F238E27FC236}">
                <a16:creationId xmlns:a16="http://schemas.microsoft.com/office/drawing/2014/main" id="{1E273A3A-7711-4782-9DE6-4F0BFE8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619125"/>
          </a:xfrm>
          <a:custGeom xmlns:a="http://schemas.openxmlformats.org/drawingml/2006/main"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文字 01-102">
            <a:extLst xmlns:a="http://schemas.openxmlformats.org/drawingml/2006/main">
              <a:ext uri="{FF2B5EF4-FFF2-40B4-BE49-F238E27FC236}">
                <a16:creationId xmlns:a16="http://schemas.microsoft.com/office/drawing/2014/main" id="{A5241138-799F-4C69-9256-3BEE02C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统一风格-文字 资源与接入-103">
            <a:extLst xmlns:a="http://schemas.openxmlformats.org/drawingml/2006/main">
              <a:ext uri="{FF2B5EF4-FFF2-40B4-BE49-F238E27FC236}">
                <a16:creationId xmlns:a16="http://schemas.microsoft.com/office/drawing/2014/main" id="{C6B2A506-641B-4691-B5EF-29822E3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19325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资源与接入</a:t>
            </a:r>
          </a:p>
        </p:txBody>
      </p:sp>
      <p:sp>
        <p:nvSpPr>
          <p:cNvPr id="14" name="统一风格-文字 两端创建 VPC、ECS 和 ER，VPC 连接接入本区域 ER。-104">
            <a:extLst xmlns:a="http://schemas.openxmlformats.org/drawingml/2006/main">
              <a:ext uri="{FF2B5EF4-FFF2-40B4-BE49-F238E27FC236}">
                <a16:creationId xmlns:a16="http://schemas.microsoft.com/office/drawing/2014/main" id="{0ECE4819-259A-42D0-9E52-6CDBE86F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907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两端创建 VPC、ECS 和 ER，VPC 连接接入本区域 ER。</a:t>
            </a:r>
          </a:p>
        </p:txBody>
      </p:sp>
      <p:sp>
        <p:nvSpPr>
          <p:cNvPr id="15" name="统一风格-默认关联与传播玻璃后沿-105">
            <a:extLst xmlns:a="http://schemas.openxmlformats.org/drawingml/2006/main">
              <a:ext uri="{FF2B5EF4-FFF2-40B4-BE49-F238E27FC236}">
                <a16:creationId xmlns:a16="http://schemas.microsoft.com/office/drawing/2014/main" id="{01302C66-ED2D-471E-9246-76BA589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6" name="统一风格-默认关联与传播-106">
            <a:extLst xmlns:a="http://schemas.openxmlformats.org/drawingml/2006/main">
              <a:ext uri="{FF2B5EF4-FFF2-40B4-BE49-F238E27FC236}">
                <a16:creationId xmlns:a16="http://schemas.microsoft.com/office/drawing/2014/main" id="{2FDA369D-819C-4025-8F3E-44E065D6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默认关联与传播玻璃内沿-107">
            <a:extLst xmlns:a="http://schemas.openxmlformats.org/drawingml/2006/main">
              <a:ext uri="{FF2B5EF4-FFF2-40B4-BE49-F238E27FC236}">
                <a16:creationId xmlns:a16="http://schemas.microsoft.com/office/drawing/2014/main" id="{296D78D7-A181-4BDD-BE8F-39CC654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879884"/>
            <a:ext cx="10947083" cy="593408"/>
          </a:xfrm>
          <a:prstGeom xmlns:a="http://schemas.openxmlformats.org/drawingml/2006/main" prst="roundRect">
            <a:avLst>
              <a:gd name="adj" fmla="val 1236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默认关联与传播边缘高光-108">
            <a:extLst xmlns:a="http://schemas.openxmlformats.org/drawingml/2006/main">
              <a:ext uri="{FF2B5EF4-FFF2-40B4-BE49-F238E27FC236}">
                <a16:creationId xmlns:a16="http://schemas.microsoft.com/office/drawing/2014/main" id="{0E284FC1-3F1E-4697-9859-94A98DD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619125"/>
          </a:xfrm>
          <a:custGeom xmlns:a="http://schemas.openxmlformats.org/drawingml/2006/main"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" name="统一风格-文字 02-109">
            <a:extLst xmlns:a="http://schemas.openxmlformats.org/drawingml/2006/main">
              <a:ext uri="{FF2B5EF4-FFF2-40B4-BE49-F238E27FC236}">
                <a16:creationId xmlns:a16="http://schemas.microsoft.com/office/drawing/2014/main" id="{5F8A701F-057B-43FC-80F4-C1854883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统一风格-文字 默认关联与传播-110">
            <a:extLst xmlns:a="http://schemas.openxmlformats.org/drawingml/2006/main">
              <a:ext uri="{FF2B5EF4-FFF2-40B4-BE49-F238E27FC236}">
                <a16:creationId xmlns:a16="http://schemas.microsoft.com/office/drawing/2014/main" id="{B749EBB2-FD8A-4434-ABF5-1A9D4D1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718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默认关联与传播</a:t>
            </a:r>
          </a:p>
        </p:txBody>
      </p:sp>
      <p:sp>
        <p:nvSpPr>
          <p:cNvPr id="21" name="统一风格-文字 本基础连通示例中，ER 启用默认路由表关联与传播。-111">
            <a:extLst xmlns:a="http://schemas.openxmlformats.org/drawingml/2006/main">
              <a:ext uri="{FF2B5EF4-FFF2-40B4-BE49-F238E27FC236}">
                <a16:creationId xmlns:a16="http://schemas.microsoft.com/office/drawing/2014/main" id="{8AF05353-7758-4629-ADF5-D2B2486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43225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本基础连通示例中，ER 启用默认路由表关联与传播。</a:t>
            </a:r>
          </a:p>
        </p:txBody>
      </p:sp>
      <p:sp>
        <p:nvSpPr>
          <p:cNvPr id="22" name="统一风格-中心网络与带宽玻璃后沿-112">
            <a:extLst xmlns:a="http://schemas.openxmlformats.org/drawingml/2006/main">
              <a:ext uri="{FF2B5EF4-FFF2-40B4-BE49-F238E27FC236}">
                <a16:creationId xmlns:a16="http://schemas.microsoft.com/office/drawing/2014/main" id="{7993E7BD-42AB-444B-B4D3-D305B53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3" name="统一风格-中心网络与带宽-113">
            <a:extLst xmlns:a="http://schemas.openxmlformats.org/drawingml/2006/main">
              <a:ext uri="{FF2B5EF4-FFF2-40B4-BE49-F238E27FC236}">
                <a16:creationId xmlns:a16="http://schemas.microsoft.com/office/drawing/2014/main" id="{11356670-FBF3-44ED-9E87-C1711B7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中心网络与带宽玻璃内沿-114">
            <a:extLst xmlns:a="http://schemas.openxmlformats.org/drawingml/2006/main">
              <a:ext uri="{FF2B5EF4-FFF2-40B4-BE49-F238E27FC236}">
                <a16:creationId xmlns:a16="http://schemas.microsoft.com/office/drawing/2014/main" id="{66A65A8C-9468-4CAF-9C69-1D7DFF9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632359"/>
            <a:ext cx="10947083" cy="593408"/>
          </a:xfrm>
          <a:prstGeom xmlns:a="http://schemas.openxmlformats.org/drawingml/2006/main" prst="roundRect">
            <a:avLst>
              <a:gd name="adj" fmla="val 1236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中心网络与带宽透光反射面-115">
            <a:extLst xmlns:a="http://schemas.openxmlformats.org/drawingml/2006/main">
              <a:ext uri="{FF2B5EF4-FFF2-40B4-BE49-F238E27FC236}">
                <a16:creationId xmlns:a16="http://schemas.microsoft.com/office/drawing/2014/main" id="{F9EF892A-CD5B-493C-9D11-9BD38E37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934700" cy="581025"/>
          </a:xfrm>
          <a:custGeom xmlns:a="http://schemas.openxmlformats.org/drawingml/2006/main"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6" name="统一风格-中心网络与带宽边缘高光-116">
            <a:extLst xmlns:a="http://schemas.openxmlformats.org/drawingml/2006/main">
              <a:ext uri="{FF2B5EF4-FFF2-40B4-BE49-F238E27FC236}">
                <a16:creationId xmlns:a16="http://schemas.microsoft.com/office/drawing/2014/main" id="{27768940-0912-4EBC-985F-D51CC174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19125"/>
          </a:xfrm>
          <a:custGeom xmlns:a="http://schemas.openxmlformats.org/drawingml/2006/main"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7" name="统一风格-文字 03-117">
            <a:extLst xmlns:a="http://schemas.openxmlformats.org/drawingml/2006/main">
              <a:ext uri="{FF2B5EF4-FFF2-40B4-BE49-F238E27FC236}">
                <a16:creationId xmlns:a16="http://schemas.microsoft.com/office/drawing/2014/main" id="{ED3FCB84-022E-48FF-B7E5-4C0E8C3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统一风格-文字 中心网络与带宽-118">
            <a:extLst xmlns:a="http://schemas.openxmlformats.org/drawingml/2006/main">
              <a:ext uri="{FF2B5EF4-FFF2-40B4-BE49-F238E27FC236}">
                <a16:creationId xmlns:a16="http://schemas.microsoft.com/office/drawing/2014/main" id="{23749EAF-A805-463C-8D68-6E239EA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24275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中心网络与带宽</a:t>
            </a:r>
          </a:p>
        </p:txBody>
      </p:sp>
      <p:sp>
        <p:nvSpPr>
          <p:cNvPr id="29" name="统一风格-文字 策略纳入两端 ER，分配全域互联带宽及跨区域连接带宽。-119">
            <a:extLst xmlns:a="http://schemas.openxmlformats.org/drawingml/2006/main">
              <a:ext uri="{FF2B5EF4-FFF2-40B4-BE49-F238E27FC236}">
                <a16:creationId xmlns:a16="http://schemas.microsoft.com/office/drawing/2014/main" id="{7B172466-86E9-432C-8D0B-3F0CD9D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9570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策略纳入两端 ER，分配全域互联带宽及跨区域连接带宽。</a:t>
            </a:r>
          </a:p>
        </p:txBody>
      </p:sp>
      <p:sp>
        <p:nvSpPr>
          <p:cNvPr id="30" name="统一风格-业务验收玻璃后沿-120">
            <a:extLst xmlns:a="http://schemas.openxmlformats.org/drawingml/2006/main">
              <a:ext uri="{FF2B5EF4-FFF2-40B4-BE49-F238E27FC236}">
                <a16:creationId xmlns:a16="http://schemas.microsoft.com/office/drawing/2014/main" id="{00F8F047-4954-4A31-9C2F-D179032D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业务验收-121">
            <a:extLst xmlns:a="http://schemas.openxmlformats.org/drawingml/2006/main">
              <a:ext uri="{FF2B5EF4-FFF2-40B4-BE49-F238E27FC236}">
                <a16:creationId xmlns:a16="http://schemas.microsoft.com/office/drawing/2014/main" id="{82F4D0E7-58B8-4908-A0BC-CE42973A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业务验收玻璃内沿-122">
            <a:extLst xmlns:a="http://schemas.openxmlformats.org/drawingml/2006/main">
              <a:ext uri="{FF2B5EF4-FFF2-40B4-BE49-F238E27FC236}">
                <a16:creationId xmlns:a16="http://schemas.microsoft.com/office/drawing/2014/main" id="{A896839B-9AD4-416B-86AE-017770BE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384834"/>
            <a:ext cx="10947083" cy="593408"/>
          </a:xfrm>
          <a:prstGeom xmlns:a="http://schemas.openxmlformats.org/drawingml/2006/main" prst="roundRect">
            <a:avLst>
              <a:gd name="adj" fmla="val 1236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业务验收边缘高光-123">
            <a:extLst xmlns:a="http://schemas.openxmlformats.org/drawingml/2006/main">
              <a:ext uri="{FF2B5EF4-FFF2-40B4-BE49-F238E27FC236}">
                <a16:creationId xmlns:a16="http://schemas.microsoft.com/office/drawing/2014/main" id="{9743DF29-F392-42BC-89B7-C1DFFBB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619125"/>
          </a:xfrm>
          <a:custGeom xmlns:a="http://schemas.openxmlformats.org/drawingml/2006/main"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文字 04-124">
            <a:extLst xmlns:a="http://schemas.openxmlformats.org/drawingml/2006/main">
              <a:ext uri="{FF2B5EF4-FFF2-40B4-BE49-F238E27FC236}">
                <a16:creationId xmlns:a16="http://schemas.microsoft.com/office/drawing/2014/main" id="{4A94E59A-73A6-4835-8EBD-4939757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业务验收-125">
            <a:extLst xmlns:a="http://schemas.openxmlformats.org/drawingml/2006/main">
              <a:ext uri="{FF2B5EF4-FFF2-40B4-BE49-F238E27FC236}">
                <a16:creationId xmlns:a16="http://schemas.microsoft.com/office/drawing/2014/main" id="{F6E5F44C-9C99-4370-AA7C-68F03CF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767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业务验收</a:t>
            </a:r>
          </a:p>
        </p:txBody>
      </p:sp>
      <p:sp>
        <p:nvSpPr>
          <p:cNvPr id="36" name="统一风格-文字 核验双向 VPC / ER 路由、安全组、应用访问、时延与吞吐。-126">
            <a:extLst xmlns:a="http://schemas.openxmlformats.org/drawingml/2006/main">
              <a:ext uri="{FF2B5EF4-FFF2-40B4-BE49-F238E27FC236}">
                <a16:creationId xmlns:a16="http://schemas.microsoft.com/office/drawing/2014/main" id="{60E17FEF-F9A9-44C5-BE1D-CC6502D6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 VPC / ER 路由、安全组、应用访问、时延与吞吐。</a:t>
            </a:r>
          </a:p>
        </p:txBody>
      </p:sp>
      <p:sp>
        <p:nvSpPr>
          <p:cNvPr id="37" name="统一风格-叠加 CFW玻璃后沿-127">
            <a:extLst xmlns:a="http://schemas.openxmlformats.org/drawingml/2006/main">
              <a:ext uri="{FF2B5EF4-FFF2-40B4-BE49-F238E27FC236}">
                <a16:creationId xmlns:a16="http://schemas.microsoft.com/office/drawing/2014/main" id="{1F2A959D-138D-466B-ACBB-63BEEAB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8" name="统一风格-叠加 CFW-128">
            <a:extLst xmlns:a="http://schemas.openxmlformats.org/drawingml/2006/main">
              <a:ext uri="{FF2B5EF4-FFF2-40B4-BE49-F238E27FC236}">
                <a16:creationId xmlns:a16="http://schemas.microsoft.com/office/drawing/2014/main" id="{7C95F656-7E2B-4DF6-A20C-09DF2281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prstGeom xmlns:a="http://schemas.openxmlformats.org/drawingml/2006/main" prst="roundRect">
            <a:avLst>
              <a:gd name="adj" fmla="val 1475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9" name="统一风格-叠加 CFW玻璃内沿-129">
            <a:extLst xmlns:a="http://schemas.openxmlformats.org/drawingml/2006/main">
              <a:ext uri="{FF2B5EF4-FFF2-40B4-BE49-F238E27FC236}">
                <a16:creationId xmlns:a16="http://schemas.microsoft.com/office/drawing/2014/main" id="{1CE1AD4B-C7B3-4E6E-9E10-107E5921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337334"/>
            <a:ext cx="10947083" cy="555308"/>
          </a:xfrm>
          <a:prstGeom xmlns:a="http://schemas.openxmlformats.org/drawingml/2006/main" prst="roundRect">
            <a:avLst>
              <a:gd name="adj" fmla="val 1320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0" name="统一风格-叠加 CFW边缘高光-130">
            <a:extLst xmlns:a="http://schemas.openxmlformats.org/drawingml/2006/main">
              <a:ext uri="{FF2B5EF4-FFF2-40B4-BE49-F238E27FC236}">
                <a16:creationId xmlns:a16="http://schemas.microsoft.com/office/drawing/2014/main" id="{E702387C-D1A3-4E7C-A30B-17119294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81025"/>
          </a:xfrm>
          <a:custGeom xmlns:a="http://schemas.openxmlformats.org/drawingml/2006/main"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1" name="统一风格-文字 叠加 CFW-131">
            <a:extLst xmlns:a="http://schemas.openxmlformats.org/drawingml/2006/main">
              <a:ext uri="{FF2B5EF4-FFF2-40B4-BE49-F238E27FC236}">
                <a16:creationId xmlns:a16="http://schemas.microsoft.com/office/drawing/2014/main" id="{0F59DB03-8E7E-48C1-A6F9-A5D4562E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387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叠加 CFW</a:t>
            </a:r>
          </a:p>
        </p:txBody>
      </p:sp>
      <p:sp>
        <p:nvSpPr>
          <p:cNvPr id="42" name="统一风格-文字 需要另行设计关联表、传播与去回程，不能照搬基础互通的默认设置。-132">
            <a:extLst xmlns:a="http://schemas.openxmlformats.org/drawingml/2006/main">
              <a:ext uri="{FF2B5EF4-FFF2-40B4-BE49-F238E27FC236}">
                <a16:creationId xmlns:a16="http://schemas.microsoft.com/office/drawing/2014/main" id="{C5F00706-2E1C-43B6-B1DE-A63FFC8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19725"/>
            <a:ext cx="88487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需要另行设计关联表、传播与去回程，不能照搬基础互通的默认设置。</a:t>
            </a:r>
          </a:p>
        </p:txBody>
      </p:sp>
    </p:spTree>
    <p:extLst>
      <p:ext uri="{BB962C8B-B14F-4D97-AF65-F5344CB8AC3E}">
        <p14:creationId xmlns:p14="http://schemas.microsoft.com/office/powerpoint/2010/main" val="118189927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C09409F2-BA71-4DFF-8A38-55479DB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统一风格-文字 CFW：云防火墙-46">
            <a:extLst xmlns:a="http://schemas.openxmlformats.org/drawingml/2006/main">
              <a:ext uri="{FF2B5EF4-FFF2-40B4-BE49-F238E27FC236}">
                <a16:creationId xmlns:a16="http://schemas.microsoft.com/office/drawing/2014/main" id="{B9CF5E94-1187-4887-8F7D-6AB316F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CFW：云防火墙</a:t>
            </a:r>
          </a:p>
        </p:txBody>
      </p:sp>
      <p:sp>
        <p:nvSpPr>
          <p:cNvPr id="3" name="统一风格-文字 Cloud Firewall-47">
            <a:extLst xmlns:a="http://schemas.openxmlformats.org/drawingml/2006/main">
              <a:ext uri="{FF2B5EF4-FFF2-40B4-BE49-F238E27FC236}">
                <a16:creationId xmlns:a16="http://schemas.microsoft.com/office/drawing/2014/main" id="{62855725-00D5-4F0F-BB23-2885F784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65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统一管理已接入边界的安全策略，持续验证防护范围与实际流量路径</ns0:t>
            </ns0:r>
          </ns0:p>
        </p:txBody>
      </p:sp>
      <p:sp>
        <p:nvSpPr>
          <p:cNvPr id="4" name="统一风格-页脚分隔线-48">
            <a:extLst xmlns:a="http://schemas.openxmlformats.org/drawingml/2006/main">
              <a:ext uri="{FF2B5EF4-FFF2-40B4-BE49-F238E27FC236}">
                <a16:creationId xmlns:a16="http://schemas.microsoft.com/office/drawing/2014/main" id="{DAF0D054-7A22-4515-B83A-F04C9970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防护边界、版本能力与实际流量路径需共同核验，接入验收不能只看实例已开通。-49">
            <a:extLst xmlns:a="http://schemas.openxmlformats.org/drawingml/2006/main">
              <a:ext uri="{FF2B5EF4-FFF2-40B4-BE49-F238E27FC236}">
                <a16:creationId xmlns:a16="http://schemas.microsoft.com/office/drawing/2014/main" id="{B105AC2F-C72E-4DB9-996F-C3C85A08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防护边界、版本能力与实际流量路径需共同核验，接入验收不能只看实例已开通。</a:t>
            </a:r>
          </a:p>
        </p:txBody>
      </p:sp>
      <p:sp>
        <p:nvSpPr>
          <p:cNvPr id="6" name="正文-30">
            <a:extLst xmlns:a="http://schemas.openxmlformats.org/drawingml/2006/main">
              <a:ext uri="{FF2B5EF4-FFF2-40B4-BE49-F238E27FC236}">
                <a16:creationId xmlns:a16="http://schemas.microsoft.com/office/drawing/2014/main" id="{107B6EDF-DAFB-456E-ACC5-97E5943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49</ns0:t>
            </ns0:r>
          </ns0:p>
        </p:txBody>
      </p:sp>
      <p:sp>
        <p:nvSpPr>
          <p:cNvPr id="7" name="统一风格-CFW 概念玻璃后沿-51">
            <a:extLst xmlns:a="http://schemas.openxmlformats.org/drawingml/2006/main">
              <a:ext uri="{FF2B5EF4-FFF2-40B4-BE49-F238E27FC236}">
                <a16:creationId xmlns:a16="http://schemas.microsoft.com/office/drawing/2014/main" id="{0599DFBA-069B-454B-BF2B-5C43682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prstGeom xmlns:a="http://schemas.openxmlformats.org/drawingml/2006/main" prst="roundRect">
            <a:avLst>
              <a:gd name="adj" fmla="val 53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统一风格-CFW 概念-52">
            <a:extLst xmlns:a="http://schemas.openxmlformats.org/drawingml/2006/main">
              <a:ext uri="{FF2B5EF4-FFF2-40B4-BE49-F238E27FC236}">
                <a16:creationId xmlns:a16="http://schemas.microsoft.com/office/drawing/2014/main" id="{22C4C4E8-6F3C-4DC1-B770-DC78A7E2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prstGeom xmlns:a="http://schemas.openxmlformats.org/drawingml/2006/main" prst="roundRect">
            <a:avLst>
              <a:gd name="adj" fmla="val 53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CFW 概念玻璃内沿-53">
            <a:extLst xmlns:a="http://schemas.openxmlformats.org/drawingml/2006/main">
              <a:ext uri="{FF2B5EF4-FFF2-40B4-BE49-F238E27FC236}">
                <a16:creationId xmlns:a16="http://schemas.microsoft.com/office/drawing/2014/main" id="{1A9005D2-693B-4410-8542-30B18007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08359"/>
            <a:ext cx="10947083" cy="1574483"/>
          </a:xfrm>
          <a:prstGeom xmlns:a="http://schemas.openxmlformats.org/drawingml/2006/main" prst="roundRect">
            <a:avLst>
              <a:gd name="adj" fmla="val 465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CFW 概念透光反射面-54">
            <a:extLst xmlns:a="http://schemas.openxmlformats.org/drawingml/2006/main">
              <a:ext uri="{FF2B5EF4-FFF2-40B4-BE49-F238E27FC236}">
                <a16:creationId xmlns:a16="http://schemas.microsoft.com/office/drawing/2014/main" id="{B0C196C3-9CE0-46DE-9C4B-7D9B1EB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934700" cy="1562100"/>
          </a:xfrm>
          <a:custGeom xmlns:a="http://schemas.openxmlformats.org/drawingml/2006/main"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1" name="统一风格-CFW 概念边缘高光-55">
            <a:extLst xmlns:a="http://schemas.openxmlformats.org/drawingml/2006/main">
              <a:ext uri="{FF2B5EF4-FFF2-40B4-BE49-F238E27FC236}">
                <a16:creationId xmlns:a16="http://schemas.microsoft.com/office/drawing/2014/main" id="{91EDBECA-5B3A-4915-B3D3-0C5844E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600200"/>
          </a:xfrm>
          <a:custGeom xmlns:a="http://schemas.openxmlformats.org/drawingml/2006/main"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firewall CFW 砖墙-56">
            <a:extLst xmlns:a="http://schemas.openxmlformats.org/drawingml/2006/main">
              <a:ext uri="{FF2B5EF4-FFF2-40B4-BE49-F238E27FC236}">
                <a16:creationId xmlns:a16="http://schemas.microsoft.com/office/drawing/2014/main" id="{71767277-C4DD-4173-A320-48B577E7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790575" cy="790575"/>
          </a:xfrm>
          <a:custGeom xmlns:a="http://schemas.openxmlformats.org/drawingml/2006/main"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31477" cap="rnd">
            <a:solidFill>
              <a:srgbClr val="2053C3"/>
            </a:solidFill>
            <a:round/>
          </a:ln>
        </p:spPr>
      </p:sp>
      <p:sp>
        <p:nvSpPr>
          <p:cNvPr id="13" name="统一风格-firewall CFW 砖缝-57">
            <a:extLst xmlns:a="http://schemas.openxmlformats.org/drawingml/2006/main">
              <a:ext uri="{FF2B5EF4-FFF2-40B4-BE49-F238E27FC236}">
                <a16:creationId xmlns:a16="http://schemas.microsoft.com/office/drawing/2014/main" id="{2ACC6744-CA49-41AC-856D-5D5DA3E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790575" cy="790575"/>
          </a:xfrm>
          <a:custGeom xmlns:a="http://schemas.openxmlformats.org/drawingml/2006/main"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31477" cap="rnd">
            <a:solidFill>
              <a:srgbClr val="2053C3"/>
            </a:solidFill>
            <a:round/>
          </a:ln>
        </p:spPr>
      </p:sp>
      <p:sp>
        <p:nvSpPr>
          <p:cNvPr id="14" name="统一风格-firewall CFW 前景衬底-58">
            <a:extLst xmlns:a="http://schemas.openxmlformats.org/drawingml/2006/main">
              <a:ext uri="{FF2B5EF4-FFF2-40B4-BE49-F238E27FC236}">
                <a16:creationId xmlns:a16="http://schemas.microsoft.com/office/drawing/2014/main" id="{27AC6A7F-9C04-442F-AE6B-28FF1478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790575" cy="790575"/>
          </a:xfrm>
          <a:custGeom xmlns:a="http://schemas.openxmlformats.org/drawingml/2006/main"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" name="统一风格-firewall CFW 简洁火焰-59">
            <a:extLst xmlns:a="http://schemas.openxmlformats.org/drawingml/2006/main">
              <a:ext uri="{FF2B5EF4-FFF2-40B4-BE49-F238E27FC236}">
                <a16:creationId xmlns:a16="http://schemas.microsoft.com/office/drawing/2014/main" id="{86EF5C73-827B-4F08-8288-13F65DB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00300"/>
            <a:ext cx="790575" cy="790575"/>
          </a:xfrm>
          <a:custGeom xmlns:a="http://schemas.openxmlformats.org/drawingml/2006/main"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31477" cap="rnd">
            <a:solidFill>
              <a:srgbClr val="2053C3"/>
            </a:solidFill>
            <a:round/>
          </a:ln>
        </p:spPr>
      </p:sp>
      <p:sp>
        <p:nvSpPr>
          <p:cNvPr id="16" name="统一风格-文字 概念-60">
            <a:extLst xmlns:a="http://schemas.openxmlformats.org/drawingml/2006/main">
              <a:ext uri="{FF2B5EF4-FFF2-40B4-BE49-F238E27FC236}">
                <a16:creationId xmlns:a16="http://schemas.microsoft.com/office/drawing/2014/main" id="{41066FA6-E4FC-4618-8733-B74F5D18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57425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7" name="统一风格-文字 CFW 为已接入的网络边界提供云原生防火墙防护， 通过访问控制、入侵防御和日志审计管理业务流量。-61">
            <a:extLst xmlns:a="http://schemas.openxmlformats.org/drawingml/2006/main">
              <a:ext uri="{FF2B5EF4-FFF2-40B4-BE49-F238E27FC236}">
                <a16:creationId xmlns:a16="http://schemas.microsoft.com/office/drawing/2014/main" id="{0213749B-8A45-4B9F-9EEC-A6BAB6C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33675"/>
            <a:ext cx="930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l">
              <ns1:defRPr sz="2025" b="1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6335F"/>
                </ns1:solidFill>
                <ns1:latin typeface="Microsoft YaHei"/>
                <ns1:ea typeface="Microsoft YaHei"/>
                <ns1:cs typeface="Microsoft YaHei"/>
              </ns1:rPr>
              <ns1:t>CFW（Cloud Firewall）是面向已接入网络边界的云原生防火墙，</ns1:t>
            </ns1:r>
          </ns1:p>
          <ns2:p xmlns:ns2="http://schemas.openxmlformats.org/drawingml/2006/main">
            <ns2:pPr algn="l">
              <ns2:defRPr sz="2025" b="1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025" b="1">
                <ns2:solidFill>
                  <ns2:srgbClr val="16335F"/>
                </ns2:solidFill>
                <ns2:latin typeface="Microsoft YaHei"/>
                <ns2:ea typeface="Microsoft YaHei"/>
                <ns2:cs typeface="Microsoft YaHei"/>
              </ns2:rPr>
              <ns2:t>提供访问控制、入侵防御与日志审计能力。</ns2:t>
            </ns2:r>
          </ns2:p>
        </p:txBody>
      </p:sp>
      <p:sp>
        <p:nvSpPr>
          <p:cNvPr id="18" name="统一风格-功能分工玻璃后沿-62">
            <a:extLst xmlns:a="http://schemas.openxmlformats.org/drawingml/2006/main">
              <a:ext uri="{FF2B5EF4-FFF2-40B4-BE49-F238E27FC236}">
                <a16:creationId xmlns:a16="http://schemas.microsoft.com/office/drawing/2014/main" id="{9BF0E47B-D373-4DC5-A008-79DC0519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578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9" name="统一风格-功能分工-63">
            <a:extLst xmlns:a="http://schemas.openxmlformats.org/drawingml/2006/main">
              <a:ext uri="{FF2B5EF4-FFF2-40B4-BE49-F238E27FC236}">
                <a16:creationId xmlns:a16="http://schemas.microsoft.com/office/drawing/2014/main" id="{C0828245-5A0A-4245-AFC8-7D5AC10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578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功能分工玻璃内沿-64">
            <a:extLst xmlns:a="http://schemas.openxmlformats.org/drawingml/2006/main">
              <a:ext uri="{FF2B5EF4-FFF2-40B4-BE49-F238E27FC236}">
                <a16:creationId xmlns:a16="http://schemas.microsoft.com/office/drawing/2014/main" id="{0BAC4891-83A4-406D-8053-DBCFBC80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013359"/>
            <a:ext cx="5232083" cy="1736408"/>
          </a:xfrm>
          <a:prstGeom xmlns:a="http://schemas.openxmlformats.org/drawingml/2006/main" prst="roundRect">
            <a:avLst>
              <a:gd name="adj" fmla="val 42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功能分工透光反射面-65">
            <a:extLst xmlns:a="http://schemas.openxmlformats.org/drawingml/2006/main">
              <a:ext uri="{FF2B5EF4-FFF2-40B4-BE49-F238E27FC236}">
                <a16:creationId xmlns:a16="http://schemas.microsoft.com/office/drawing/2014/main" id="{5D6386FA-7542-434D-AC40-5D97B6D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5219700" cy="1724025"/>
          </a:xfrm>
          <a:custGeom xmlns:a="http://schemas.openxmlformats.org/drawingml/2006/main">
            <a:pathLst>
              <a:path w="5219700" h="1724025">
                <a:moveTo>
                  <a:pt x="76200" y="0"/>
                </a:moveTo>
                <a:lnTo>
                  <a:pt x="3340608" y="0"/>
                </a:lnTo>
                <a:lnTo>
                  <a:pt x="1357122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2" name="统一风格-功能分工边缘高光-66">
            <a:extLst xmlns:a="http://schemas.openxmlformats.org/drawingml/2006/main">
              <a:ext uri="{FF2B5EF4-FFF2-40B4-BE49-F238E27FC236}">
                <a16:creationId xmlns:a16="http://schemas.microsoft.com/office/drawing/2014/main" id="{6AA36CAD-AD82-423F-97B5-C4C5D94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57800" cy="1762125"/>
          </a:xfrm>
          <a:custGeom xmlns:a="http://schemas.openxmlformats.org/drawingml/2006/main">
            <a:pathLst>
              <a:path w="5257800" h="17621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ips 安全盾-67">
            <a:extLst xmlns:a="http://schemas.openxmlformats.org/drawingml/2006/main">
              <a:ext uri="{FF2B5EF4-FFF2-40B4-BE49-F238E27FC236}">
                <a16:creationId xmlns:a16="http://schemas.microsoft.com/office/drawing/2014/main" id="{42CA67EC-38C9-4CF4-9DB9-27C8C66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4" name="统一风格-ips 检测透镜-68">
            <a:extLst xmlns:a="http://schemas.openxmlformats.org/drawingml/2006/main">
              <a:ext uri="{FF2B5EF4-FFF2-40B4-BE49-F238E27FC236}">
                <a16:creationId xmlns:a16="http://schemas.microsoft.com/office/drawing/2014/main" id="{C0FEA7E6-8461-4D6C-B8E2-4EE03BB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5" name="统一风格-ips 检测手柄-69">
            <a:extLst xmlns:a="http://schemas.openxmlformats.org/drawingml/2006/main">
              <a:ext uri="{FF2B5EF4-FFF2-40B4-BE49-F238E27FC236}">
                <a16:creationId xmlns:a16="http://schemas.microsoft.com/office/drawing/2014/main" id="{454FB2D5-42F7-4CDD-936B-6C39C27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6" name="统一风格-文字 功能分工-70">
            <a:extLst xmlns:a="http://schemas.openxmlformats.org/drawingml/2006/main">
              <a:ext uri="{FF2B5EF4-FFF2-40B4-BE49-F238E27FC236}">
                <a16:creationId xmlns:a16="http://schemas.microsoft.com/office/drawing/2014/main" id="{27A4FAE1-6FC0-4815-B6A0-9F2D9ED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814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功能分工</a:t>
            </a:r>
          </a:p>
        </p:txBody>
      </p:sp>
      <p:sp>
        <p:nvSpPr>
          <p:cNvPr id="27" name="统一风格-文字 ACL 按规则匹配业务访问权限。 IPS 检测攻击，日志记录处理结果。-71">
            <a:extLst xmlns:a="http://schemas.openxmlformats.org/drawingml/2006/main">
              <a:ext uri="{FF2B5EF4-FFF2-40B4-BE49-F238E27FC236}">
                <a16:creationId xmlns:a16="http://schemas.microsoft.com/office/drawing/2014/main" id="{4DA964A2-8ED0-4415-8A90-770E7238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91075"/>
            <a:ext cx="47910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按规则匹配业务访问权限。</a:t>
            </a:r>
          </a:p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检测攻击，日志记录处理结果。</a:t>
            </a:r>
          </a:p>
        </p:txBody>
      </p:sp>
      <p:sp>
        <p:nvSpPr>
          <p:cNvPr id="28" name="统一风格-VPC 边界接入玻璃后沿-72">
            <a:extLst xmlns:a="http://schemas.openxmlformats.org/drawingml/2006/main">
              <a:ext uri="{FF2B5EF4-FFF2-40B4-BE49-F238E27FC236}">
                <a16:creationId xmlns:a16="http://schemas.microsoft.com/office/drawing/2014/main" id="{DF1E2076-19F2-4584-9A56-DA8A647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9" name="统一风格-VPC 边界接入-73">
            <a:extLst xmlns:a="http://schemas.openxmlformats.org/drawingml/2006/main">
              <a:ext uri="{FF2B5EF4-FFF2-40B4-BE49-F238E27FC236}">
                <a16:creationId xmlns:a16="http://schemas.microsoft.com/office/drawing/2014/main" id="{77175B89-E722-4B2E-B009-91EFE90B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1762125"/>
          </a:xfrm>
          <a:prstGeom xmlns:a="http://schemas.openxmlformats.org/drawingml/2006/main" prst="roundRect">
            <a:avLst>
              <a:gd name="adj" fmla="val 486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VPC 边界接入玻璃内沿-74">
            <a:extLst xmlns:a="http://schemas.openxmlformats.org/drawingml/2006/main">
              <a:ext uri="{FF2B5EF4-FFF2-40B4-BE49-F238E27FC236}">
                <a16:creationId xmlns:a16="http://schemas.microsoft.com/office/drawing/2014/main" id="{FE605478-B510-4147-BFDA-BC0A45D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4013359"/>
            <a:ext cx="5232083" cy="1736408"/>
          </a:xfrm>
          <a:prstGeom xmlns:a="http://schemas.openxmlformats.org/drawingml/2006/main" prst="roundRect">
            <a:avLst>
              <a:gd name="adj" fmla="val 42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VPC 边界接入透光反射面-75">
            <a:extLst xmlns:a="http://schemas.openxmlformats.org/drawingml/2006/main">
              <a:ext uri="{FF2B5EF4-FFF2-40B4-BE49-F238E27FC236}">
                <a16:creationId xmlns:a16="http://schemas.microsoft.com/office/drawing/2014/main" id="{C0BADADA-4ED8-4CB9-A8B0-87BAD46E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5219700" cy="1724025"/>
          </a:xfrm>
          <a:custGeom xmlns:a="http://schemas.openxmlformats.org/drawingml/2006/main">
            <a:pathLst>
              <a:path w="5372100" h="1724025">
                <a:moveTo>
                  <a:pt x="76200" y="0"/>
                </a:moveTo>
                <a:lnTo>
                  <a:pt x="3438144" y="0"/>
                </a:lnTo>
                <a:lnTo>
                  <a:pt x="13967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2" name="统一风格-VPC 边界接入边缘高光-76">
            <a:extLst xmlns:a="http://schemas.openxmlformats.org/drawingml/2006/main">
              <a:ext uri="{FF2B5EF4-FFF2-40B4-BE49-F238E27FC236}">
                <a16:creationId xmlns:a16="http://schemas.microsoft.com/office/drawing/2014/main" id="{CDF44996-0E90-4353-8122-7498E64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1762125"/>
          </a:xfrm>
          <a:custGeom xmlns:a="http://schemas.openxmlformats.org/drawingml/2006/main">
            <a:pathLst>
              <a:path w="5410200" h="1762125">
                <a:moveTo>
                  <a:pt x="95250" y="9525"/>
                </a:moveTo>
                <a:lnTo>
                  <a:pt x="5314950" y="9525"/>
                </a:lnTo>
                <a:cubicBezTo>
                  <a:pt x="5362575" y="9525"/>
                  <a:pt x="5400675" y="47625"/>
                  <a:pt x="54006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3" name="统一风格-router ER 路由器外形-77">
            <a:extLst xmlns:a="http://schemas.openxmlformats.org/drawingml/2006/main">
              <a:ext uri="{FF2B5EF4-FFF2-40B4-BE49-F238E27FC236}">
                <a16:creationId xmlns:a16="http://schemas.microsoft.com/office/drawing/2014/main" id="{0B02BE02-3EDC-47FD-826D-8DC4173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4" name="统一风格-router ER 四向路由-78">
            <a:extLst xmlns:a="http://schemas.openxmlformats.org/drawingml/2006/main">
              <a:ext uri="{FF2B5EF4-FFF2-40B4-BE49-F238E27FC236}">
                <a16:creationId xmlns:a16="http://schemas.microsoft.com/office/drawing/2014/main" id="{532975AE-8217-4FAB-8AB8-7F01825A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5" name="统一风格-文字 VPC 边界接入-79">
            <a:extLst xmlns:a="http://schemas.openxmlformats.org/drawingml/2006/main">
              <a:ext uri="{FF2B5EF4-FFF2-40B4-BE49-F238E27FC236}">
                <a16:creationId xmlns:a16="http://schemas.microsoft.com/office/drawing/2014/main" id="{35FECB09-54BA-4764-8810-C4631A1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814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边界接入</a:t>
            </a:r>
          </a:p>
        </p:txBody>
      </p:sp>
      <p:sp>
        <p:nvSpPr>
          <p:cNvPr id="36" name="统一风格-文字 需要专业版能力与 ER 引流。 新接入默认放行，阻断需显式配置。-80">
            <a:extLst xmlns:a="http://schemas.openxmlformats.org/drawingml/2006/main">
              <a:ext uri="{FF2B5EF4-FFF2-40B4-BE49-F238E27FC236}">
                <a16:creationId xmlns:a16="http://schemas.microsoft.com/office/drawing/2014/main" id="{638E7B39-3CC8-4EB0-9D99-7C5FA3DF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91075"/>
            <a:ext cx="47910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需要专业版能力与 ER 引流。</a:t>
            </a:r>
          </a:p>
          <a:p xmlns:a="http://schemas.openxmlformats.org/drawingml/2006/main"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新接入默认放行，阻断需显式配置。</a:t>
            </a:r>
          </a:p>
        </p:txBody>
      </p:sp>
    </p:spTree>
    <p:extLst>
      <p:ext uri="{BB962C8B-B14F-4D97-AF65-F5344CB8AC3E}">
        <p14:creationId xmlns:p14="http://schemas.microsoft.com/office/powerpoint/2010/main" val="111511470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ED23AFEA-036E-4CDF-B977-ECD911B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统一风格-文字 域名策略的匹配方式与适用条件-143">
            <a:extLst xmlns:a="http://schemas.openxmlformats.org/drawingml/2006/main">
              <a:ext uri="{FF2B5EF4-FFF2-40B4-BE49-F238E27FC236}">
                <a16:creationId xmlns:a16="http://schemas.microsoft.com/office/drawing/2014/main" id="{66C37729-AC4E-484E-A068-82500A5D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域名策略的匹配方式与适用条件</a:t>
            </a:r>
          </a:p>
        </p:txBody>
      </p:sp>
      <p:sp>
        <p:nvSpPr>
          <p:cNvPr id="3" name="统一风格-文字 域名放行能否生效，取决于匹配方式、协议字段和解析到的地址-144">
            <a:extLst xmlns:a="http://schemas.openxmlformats.org/drawingml/2006/main">
              <a:ext uri="{FF2B5EF4-FFF2-40B4-BE49-F238E27FC236}">
                <a16:creationId xmlns:a16="http://schemas.microsoft.com/office/drawing/2014/main" id="{AC6884A4-5123-4EEB-AFEB-77099F4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域名放行能否生效，取决于匹配方式、协议字段和解析到的地址</a:t>
            </a:r>
          </a:p>
        </p:txBody>
      </p:sp>
      <p:cxnSp>
        <p:nvCxnSpPr>
          <p:cNvPr id="4" name="知识图示连接-11">
            <a:extLst xmlns:a="http://schemas.openxmlformats.org/drawingml/2006/main">
              <a:ext uri="{FF2B5EF4-FFF2-40B4-BE49-F238E27FC236}">
                <a16:creationId xmlns:a16="http://schemas.microsoft.com/office/drawing/2014/main" id="{AD0D2843-70C5-4265-B923-CEEF5DDC3E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统一风格-文字 依据华为云访问控制策略说明。具体可用边界、协议和识别能力以实际产品版本为准。-145">
            <a:extLst xmlns:a="http://schemas.openxmlformats.org/drawingml/2006/main">
              <a:ext uri="{FF2B5EF4-FFF2-40B4-BE49-F238E27FC236}">
                <a16:creationId xmlns:a16="http://schemas.microsoft.com/office/drawing/2014/main" id="{4BD986DE-12EA-4C4F-8DC4-0B5D3F83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依据华为云访问控制策略说明。具体可用边界、协议和识别能力以实际产品版本为准。</a:t>
            </a:r>
          </a:p>
        </p:txBody>
      </p:sp>
      <p:sp>
        <p:nvSpPr>
          <p:cNvPr id="6" name="正文-36">
            <a:extLst xmlns:a="http://schemas.openxmlformats.org/drawingml/2006/main">
              <a:ext uri="{FF2B5EF4-FFF2-40B4-BE49-F238E27FC236}">
                <a16:creationId xmlns:a16="http://schemas.microsoft.com/office/drawing/2014/main" id="{713C1D2B-BD9A-4881-8483-D420B57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55</ns0:t>
            </ns0:r>
          </ns0:p>
        </p:txBody>
      </p:sp>
      <p:sp>
        <p:nvSpPr>
          <p:cNvPr id="7" name="统一风格-知识重点表玻璃后沿-147">
            <a:extLst xmlns:a="http://schemas.openxmlformats.org/drawingml/2006/main">
              <a:ext uri="{FF2B5EF4-FFF2-40B4-BE49-F238E27FC236}">
                <a16:creationId xmlns:a16="http://schemas.microsoft.com/office/drawing/2014/main" id="{432DFB82-ED07-4E58-97D4-8577103D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457450"/>
          </a:xfrm>
          <a:prstGeom xmlns:a="http://schemas.openxmlformats.org/drawingml/2006/main" prst="roundRect">
            <a:avLst>
              <a:gd name="adj" fmla="val 348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知识重点表-148">
            <a:extLst xmlns:a="http://schemas.openxmlformats.org/drawingml/2006/main">
              <a:ext uri="{FF2B5EF4-FFF2-40B4-BE49-F238E27FC236}">
                <a16:creationId xmlns:a16="http://schemas.microsoft.com/office/drawing/2014/main" id="{32B03CF5-5462-4AB9-8A25-F1F20962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457450"/>
          </a:xfrm>
          <a:prstGeom xmlns:a="http://schemas.openxmlformats.org/drawingml/2006/main" prst="roundRect">
            <a:avLst>
              <a:gd name="adj" fmla="val 348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知识重点表玻璃内沿-149">
            <a:extLst xmlns:a="http://schemas.openxmlformats.org/drawingml/2006/main">
              <a:ext uri="{FF2B5EF4-FFF2-40B4-BE49-F238E27FC236}">
                <a16:creationId xmlns:a16="http://schemas.microsoft.com/office/drawing/2014/main" id="{D93046D6-D447-4315-9AB1-A9AF470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431733"/>
          </a:xfrm>
          <a:prstGeom xmlns:a="http://schemas.openxmlformats.org/drawingml/2006/main" prst="roundRect">
            <a:avLst>
              <a:gd name="adj" fmla="val 301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知识重点表边缘高光-150">
            <a:extLst xmlns:a="http://schemas.openxmlformats.org/drawingml/2006/main">
              <a:ext uri="{FF2B5EF4-FFF2-40B4-BE49-F238E27FC236}">
                <a16:creationId xmlns:a16="http://schemas.microsoft.com/office/drawing/2014/main" id="{EB0EC8A1-22F4-4F8C-BEF2-5F077C2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457450"/>
          </a:xfrm>
          <a:custGeom xmlns:a="http://schemas.openxmlformats.org/drawingml/2006/main">
            <a:pathLst>
              <a:path w="11106150" h="24574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C0667-BB1B-4E40-8CAC-3D9FB4666EA6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7747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匹配方式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匹配依据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配置与维护重点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747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应用型域名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HTTP、HTTPS 等受支持应用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优先通过 Host 或 SNI 识别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确认应用与字段可识别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不能承诺全部加密流量都可精确识别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747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网络型域名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对域名进行 DNS 解析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按解析出的 IP 地址过滤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核对真实解析结果与访问目的 IP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 CDN、动态地址与解析变化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域名维护玻璃后沿-151">
            <a:extLst xmlns:a="http://schemas.openxmlformats.org/drawingml/2006/main">
              <a:ext uri="{FF2B5EF4-FFF2-40B4-BE49-F238E27FC236}">
                <a16:creationId xmlns:a16="http://schemas.microsoft.com/office/drawing/2014/main" id="{AE3A697C-CC8B-44E9-A9A9-1878B45A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10287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" name="统一风格-域名维护-152">
            <a:extLst xmlns:a="http://schemas.openxmlformats.org/drawingml/2006/main">
              <a:ext uri="{FF2B5EF4-FFF2-40B4-BE49-F238E27FC236}">
                <a16:creationId xmlns:a16="http://schemas.microsoft.com/office/drawing/2014/main" id="{92F800C3-4FCE-413D-B272-42C4F28A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10287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域名维护玻璃内沿-153">
            <a:extLst xmlns:a="http://schemas.openxmlformats.org/drawingml/2006/main">
              <a:ext uri="{FF2B5EF4-FFF2-40B4-BE49-F238E27FC236}">
                <a16:creationId xmlns:a16="http://schemas.microsoft.com/office/drawing/2014/main" id="{9C2874DC-8370-4A21-A05F-C9C1CEC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813459"/>
            <a:ext cx="10947083" cy="1002983"/>
          </a:xfrm>
          <a:prstGeom xmlns:a="http://schemas.openxmlformats.org/drawingml/2006/main" prst="roundRect">
            <a:avLst>
              <a:gd name="adj" fmla="val 7312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域名维护边缘高光-154">
            <a:extLst xmlns:a="http://schemas.openxmlformats.org/drawingml/2006/main">
              <a:ext uri="{FF2B5EF4-FFF2-40B4-BE49-F238E27FC236}">
                <a16:creationId xmlns:a16="http://schemas.microsoft.com/office/drawing/2014/main" id="{B62617EC-3DF7-403E-9E8B-9D35903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1028700"/>
          </a:xfrm>
          <a:custGeom xmlns:a="http://schemas.openxmlformats.org/drawingml/2006/main">
            <a:pathLst>
              <a:path w="10972800" h="10287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维护与验收-155">
            <a:extLst xmlns:a="http://schemas.openxmlformats.org/drawingml/2006/main">
              <a:ext uri="{FF2B5EF4-FFF2-40B4-BE49-F238E27FC236}">
                <a16:creationId xmlns:a16="http://schemas.microsoft.com/office/drawing/2014/main" id="{12C765C1-AF81-4BF6-9BAB-B6724662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971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维护与验收</a:t>
            </a:r>
          </a:p>
        </p:txBody>
      </p:sp>
      <p:sp>
        <p:nvSpPr>
          <p:cNvPr id="17" name="统一风格-文字 业务 Owner 参与解析与地址组维护，变更后验证实际日志命中。 避免用整片云厂商网段长期替代具体业务依赖。-156">
            <a:extLst xmlns:a="http://schemas.openxmlformats.org/drawingml/2006/main">
              <a:ext uri="{FF2B5EF4-FFF2-40B4-BE49-F238E27FC236}">
                <a16:creationId xmlns:a16="http://schemas.microsoft.com/office/drawing/2014/main" id="{4B2548AE-CBFE-44FB-BA40-2E21F86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05375"/>
            <a:ext cx="82010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Owner 参与解析与地址组维护，变更后验证实际日志命中。</a:t>
            </a:r>
          </a:p>
          <a:p xmlns:a="http://schemas.openxmlformats.org/drawingml/2006/main"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避免用整片云厂商网段长期替代具体业务依赖。</a:t>
            </a:r>
          </a:p>
        </p:txBody>
      </p:sp>
    </p:spTree>
    <p:extLst>
      <p:ext uri="{BB962C8B-B14F-4D97-AF65-F5344CB8AC3E}">
        <p14:creationId xmlns:p14="http://schemas.microsoft.com/office/powerpoint/2010/main" val="6462525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正文-03  CFW 使用规范">
            <a:extLst xmlns:a="http://schemas.openxmlformats.org/drawingml/2006/main">
              <a:ext uri="{FF2B5EF4-FFF2-40B4-BE49-F238E27FC236}">
                <a16:creationId xmlns:a16="http://schemas.microsoft.com/office/drawing/2014/main" id="{CFAD5E9F-A82A-4D8B-96AB-AC0E0A9C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03  CFW 使用规范</ns0:t>
            </ns0:r>
          </ns0:p>
        </p:txBody>
      </p:sp>
      <p:sp>
        <p:nvSpPr>
          <p:cNvPr id="2" name="统一风格-文字 IPS 观察模式、拦截模式与误报处置-158">
            <a:extLst xmlns:a="http://schemas.openxmlformats.org/drawingml/2006/main">
              <a:ext uri="{FF2B5EF4-FFF2-40B4-BE49-F238E27FC236}">
                <a16:creationId xmlns:a16="http://schemas.microsoft.com/office/drawing/2014/main" id="{CDE63CF7-E40A-4AED-8EC1-F2C77BA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观察模式、拦截模式与误报处置</a:t>
            </a:r>
          </a:p>
        </p:txBody>
      </p:sp>
      <p:sp>
        <p:nvSpPr>
          <p:cNvPr id="3" name="统一风格-文字 观察仅记录事件；拦截分宽松、中等、严格，单条规则动作可能覆盖全局模式-159">
            <a:extLst xmlns:a="http://schemas.openxmlformats.org/drawingml/2006/main">
              <a:ext uri="{FF2B5EF4-FFF2-40B4-BE49-F238E27FC236}">
                <a16:creationId xmlns:a16="http://schemas.microsoft.com/office/drawing/2014/main" id="{853B4519-BF39-442C-BC19-40A5BD0D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观察仅记录事件；拦截分宽松、中等、严格，单条规则动作可能覆盖全局模式</a:t>
            </a:r>
          </a:p>
        </p:txBody>
      </p:sp>
      <p:cxnSp>
        <p:nvCxnSpPr>
          <p:cNvPr id="4" name="知识图示连接-12">
            <a:extLst xmlns:a="http://schemas.openxmlformats.org/drawingml/2006/main">
              <a:ext uri="{FF2B5EF4-FFF2-40B4-BE49-F238E27FC236}">
                <a16:creationId xmlns:a16="http://schemas.microsoft.com/office/drawing/2014/main" id="{FF6529E7-8467-48DE-BF8B-B2FECB97EA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正文-误报处置采用实施建议流程。单条 IPS 规则的动作修改可能覆盖全局模式，需单独复核。">
            <a:extLst xmlns:a="http://schemas.openxmlformats.org/drawingml/2006/main">
              <a:ext uri="{FF2B5EF4-FFF2-40B4-BE49-F238E27FC236}">
                <a16:creationId xmlns:a16="http://schemas.microsoft.com/office/drawing/2014/main" id="{B422EBCA-680C-455C-845C-D65C40D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误报处置采用实施建议流程。单条 IPS 规则的动作修改可能覆盖全局模式，需单独复核。</ns0:t>
            </ns0:r>
          </ns0:p>
        </p:txBody>
      </p:sp>
      <p:sp>
        <p:nvSpPr>
          <p:cNvPr id="6" name="正文-37">
            <a:extLst xmlns:a="http://schemas.openxmlformats.org/drawingml/2006/main">
              <a:ext uri="{FF2B5EF4-FFF2-40B4-BE49-F238E27FC236}">
                <a16:creationId xmlns:a16="http://schemas.microsoft.com/office/drawing/2014/main" id="{8EB7BB19-72C5-4603-8CD3-EBE0908B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56</ns0:t>
            </ns0:r>
          </ns0:p>
        </p:txBody>
      </p:sp>
      <p:sp>
        <p:nvSpPr>
          <p:cNvPr id="7" name="统一风格-知识重点表玻璃后沿-162">
            <a:extLst xmlns:a="http://schemas.openxmlformats.org/drawingml/2006/main">
              <a:ext uri="{FF2B5EF4-FFF2-40B4-BE49-F238E27FC236}">
                <a16:creationId xmlns:a16="http://schemas.microsoft.com/office/drawing/2014/main" id="{B13D1EC9-5B7D-4C10-B978-776A8FA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343150"/>
          </a:xfrm>
          <a:prstGeom xmlns:a="http://schemas.openxmlformats.org/drawingml/2006/main" prst="roundRect">
            <a:avLst>
              <a:gd name="adj" fmla="val 36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知识重点表-163">
            <a:extLst xmlns:a="http://schemas.openxmlformats.org/drawingml/2006/main">
              <a:ext uri="{FF2B5EF4-FFF2-40B4-BE49-F238E27FC236}">
                <a16:creationId xmlns:a16="http://schemas.microsoft.com/office/drawing/2014/main" id="{2AD3D205-CB15-4516-87BE-E16E2F2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343150"/>
          </a:xfrm>
          <a:prstGeom xmlns:a="http://schemas.openxmlformats.org/drawingml/2006/main" prst="roundRect">
            <a:avLst>
              <a:gd name="adj" fmla="val 36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知识重点表玻璃内沿-164">
            <a:extLst xmlns:a="http://schemas.openxmlformats.org/drawingml/2006/main">
              <a:ext uri="{FF2B5EF4-FFF2-40B4-BE49-F238E27FC236}">
                <a16:creationId xmlns:a16="http://schemas.microsoft.com/office/drawing/2014/main" id="{C9DBFA4B-D97A-4FBD-8E97-27CFE7F1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317433"/>
          </a:xfrm>
          <a:prstGeom xmlns:a="http://schemas.openxmlformats.org/drawingml/2006/main" prst="roundRect">
            <a:avLst>
              <a:gd name="adj" fmla="val 316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知识重点表边缘高光-165">
            <a:extLst xmlns:a="http://schemas.openxmlformats.org/drawingml/2006/main">
              <a:ext uri="{FF2B5EF4-FFF2-40B4-BE49-F238E27FC236}">
                <a16:creationId xmlns:a16="http://schemas.microsoft.com/office/drawing/2014/main" id="{ED6F8A3B-5FC5-481C-8D59-6E44193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343150"/>
          </a:xfrm>
          <a:custGeom xmlns:a="http://schemas.openxmlformats.org/drawingml/2006/main">
            <a:pathLst>
              <a:path w="11106150" h="23431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08596-A3CF-42AF-AADB-F553E4EC8C79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4362450"/>
                <a:gridCol w="4505325"/>
              </a:tblGrid>
              <a:tr h="736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736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观察模式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检测并记录攻击事件日志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不执行该模式下的攻击拦截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用于评估命中与业务影响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不能把“有日志”当作已拦截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736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拦截模式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根据配置的防护模式和规则动作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对相应攻击流量实施拦截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单条规则修改后可覆盖全局模式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复核其实际动作与业务影响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定位玻璃后沿-166">
            <a:extLst xmlns:a="http://schemas.openxmlformats.org/drawingml/2006/main">
              <a:ext uri="{FF2B5EF4-FFF2-40B4-BE49-F238E27FC236}">
                <a16:creationId xmlns:a16="http://schemas.microsoft.com/office/drawing/2014/main" id="{CAC5AD30-D53C-48EE-8384-1AD71E2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统一风格-定位-167">
            <a:extLst xmlns:a="http://schemas.openxmlformats.org/drawingml/2006/main">
              <a:ext uri="{FF2B5EF4-FFF2-40B4-BE49-F238E27FC236}">
                <a16:creationId xmlns:a16="http://schemas.microsoft.com/office/drawing/2014/main" id="{1AA75D53-5EAE-4AFE-A0E7-D1466B1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定位玻璃内沿-168">
            <a:extLst xmlns:a="http://schemas.openxmlformats.org/drawingml/2006/main">
              <a:ext uri="{FF2B5EF4-FFF2-40B4-BE49-F238E27FC236}">
                <a16:creationId xmlns:a16="http://schemas.microsoft.com/office/drawing/2014/main" id="{7E37E264-511D-4B52-907A-E4041DE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718209"/>
            <a:ext cx="3384233" cy="1117283"/>
          </a:xfrm>
          <a:prstGeom xmlns:a="http://schemas.openxmlformats.org/drawingml/2006/main" prst="roundRect">
            <a:avLst>
              <a:gd name="adj" fmla="val 65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定位透光反射面-169">
            <a:extLst xmlns:a="http://schemas.openxmlformats.org/drawingml/2006/main">
              <a:ext uri="{FF2B5EF4-FFF2-40B4-BE49-F238E27FC236}">
                <a16:creationId xmlns:a16="http://schemas.microsoft.com/office/drawing/2014/main" id="{2F5F2DCF-575D-4250-BB7D-01A281C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3371850" cy="1104900"/>
          </a:xfrm>
          <a:custGeom xmlns:a="http://schemas.openxmlformats.org/drawingml/2006/main"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16" name="统一风格-定位边缘高光-170">
            <a:extLst xmlns:a="http://schemas.openxmlformats.org/drawingml/2006/main">
              <a:ext uri="{FF2B5EF4-FFF2-40B4-BE49-F238E27FC236}">
                <a16:creationId xmlns:a16="http://schemas.microsoft.com/office/drawing/2014/main" id="{43103841-F6F4-49A6-B5E4-7225D6E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09950" cy="1143000"/>
          </a:xfrm>
          <a:custGeom xmlns:a="http://schemas.openxmlformats.org/drawingml/2006/main"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文字 定位-171">
            <a:extLst xmlns:a="http://schemas.openxmlformats.org/drawingml/2006/main">
              <a:ext uri="{FF2B5EF4-FFF2-40B4-BE49-F238E27FC236}">
                <a16:creationId xmlns:a16="http://schemas.microsoft.com/office/drawing/2014/main" id="{6262D96D-EF6D-455F-9C58-A5054BD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91075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8" name="统一风格-文字 记录规则 ID 关联攻击与业务日志-172">
            <a:extLst xmlns:a="http://schemas.openxmlformats.org/drawingml/2006/main">
              <a:ext uri="{FF2B5EF4-FFF2-40B4-BE49-F238E27FC236}">
                <a16:creationId xmlns:a16="http://schemas.microsoft.com/office/drawing/2014/main" id="{409E617C-7BCC-4D2C-82D5-E3AC514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0650"/>
            <a:ext cx="302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记录规则 ID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关联攻击与业务日志</a:t>
            </a:r>
          </a:p>
        </p:txBody>
      </p:sp>
      <p:sp>
        <p:nvSpPr>
          <p:cNvPr id="19" name="统一风格-限定玻璃后沿-173">
            <a:extLst xmlns:a="http://schemas.openxmlformats.org/drawingml/2006/main">
              <a:ext uri="{FF2B5EF4-FFF2-40B4-BE49-F238E27FC236}">
                <a16:creationId xmlns:a16="http://schemas.microsoft.com/office/drawing/2014/main" id="{F7DB584C-6EEC-4A23-93B2-8559BAD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统一风格-限定-174">
            <a:extLst xmlns:a="http://schemas.openxmlformats.org/drawingml/2006/main">
              <a:ext uri="{FF2B5EF4-FFF2-40B4-BE49-F238E27FC236}">
                <a16:creationId xmlns:a16="http://schemas.microsoft.com/office/drawing/2014/main" id="{A7AF3BDE-F4F3-4121-8A96-F2C27BC0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1" name="统一风格-限定玻璃内沿-175">
            <a:extLst xmlns:a="http://schemas.openxmlformats.org/drawingml/2006/main">
              <a:ext uri="{FF2B5EF4-FFF2-40B4-BE49-F238E27FC236}">
                <a16:creationId xmlns:a16="http://schemas.microsoft.com/office/drawing/2014/main" id="{F5217852-1DD7-4659-B5FF-A9158704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84" y="4718209"/>
            <a:ext cx="3384233" cy="1117283"/>
          </a:xfrm>
          <a:prstGeom xmlns:a="http://schemas.openxmlformats.org/drawingml/2006/main" prst="roundRect">
            <a:avLst>
              <a:gd name="adj" fmla="val 65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2" name="统一风格-限定透光反射面-176">
            <a:extLst xmlns:a="http://schemas.openxmlformats.org/drawingml/2006/main">
              <a:ext uri="{FF2B5EF4-FFF2-40B4-BE49-F238E27FC236}">
                <a16:creationId xmlns:a16="http://schemas.microsoft.com/office/drawing/2014/main" id="{46C48AF8-5364-4617-9908-D96543C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24400"/>
            <a:ext cx="3371850" cy="1104900"/>
          </a:xfrm>
          <a:custGeom xmlns:a="http://schemas.openxmlformats.org/drawingml/2006/main"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23" name="统一风格-限定边缘高光-177">
            <a:extLst xmlns:a="http://schemas.openxmlformats.org/drawingml/2006/main">
              <a:ext uri="{FF2B5EF4-FFF2-40B4-BE49-F238E27FC236}">
                <a16:creationId xmlns:a16="http://schemas.microsoft.com/office/drawing/2014/main" id="{61112834-338B-409C-AF62-C4614942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05350"/>
            <a:ext cx="3409950" cy="1143000"/>
          </a:xfrm>
          <a:custGeom xmlns:a="http://schemas.openxmlformats.org/drawingml/2006/main"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4" name="统一风格-文字 限定-178">
            <a:extLst xmlns:a="http://schemas.openxmlformats.org/drawingml/2006/main">
              <a:ext uri="{FF2B5EF4-FFF2-40B4-BE49-F238E27FC236}">
                <a16:creationId xmlns:a16="http://schemas.microsoft.com/office/drawing/2014/main" id="{FE85D365-5435-43F9-8B93-F49E7571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91075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25" name="统一风格-文字 核实误报，按审批 调整最小影响范围-179">
            <a:extLst xmlns:a="http://schemas.openxmlformats.org/drawingml/2006/main">
              <a:ext uri="{FF2B5EF4-FFF2-40B4-BE49-F238E27FC236}">
                <a16:creationId xmlns:a16="http://schemas.microsoft.com/office/drawing/2014/main" id="{D061C7EA-658F-4980-86DB-31CA28D0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00650"/>
            <a:ext cx="302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核实误报，按审批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调整最小影响范围</a:t>
            </a:r>
          </a:p>
        </p:txBody>
      </p:sp>
      <p:sp>
        <p:nvSpPr>
          <p:cNvPr id="26" name="统一风格-恢复玻璃后沿-180">
            <a:extLst xmlns:a="http://schemas.openxmlformats.org/drawingml/2006/main">
              <a:ext uri="{FF2B5EF4-FFF2-40B4-BE49-F238E27FC236}">
                <a16:creationId xmlns:a16="http://schemas.microsoft.com/office/drawing/2014/main" id="{0A4DB813-5A44-4237-BC33-CC8CC14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统一风格-恢复-181">
            <a:extLst xmlns:a="http://schemas.openxmlformats.org/drawingml/2006/main">
              <a:ext uri="{FF2B5EF4-FFF2-40B4-BE49-F238E27FC236}">
                <a16:creationId xmlns:a16="http://schemas.microsoft.com/office/drawing/2014/main" id="{57F5BED6-3DEA-4147-99EC-B7C052A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40995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恢复玻璃内沿-182">
            <a:extLst xmlns:a="http://schemas.openxmlformats.org/drawingml/2006/main">
              <a:ext uri="{FF2B5EF4-FFF2-40B4-BE49-F238E27FC236}">
                <a16:creationId xmlns:a16="http://schemas.microsoft.com/office/drawing/2014/main" id="{341A54EF-E122-42DF-82A5-DB267BE1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309" y="4718209"/>
            <a:ext cx="3384233" cy="1117283"/>
          </a:xfrm>
          <a:prstGeom xmlns:a="http://schemas.openxmlformats.org/drawingml/2006/main" prst="roundRect">
            <a:avLst>
              <a:gd name="adj" fmla="val 65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恢复透光反射面-183">
            <a:extLst xmlns:a="http://schemas.openxmlformats.org/drawingml/2006/main">
              <a:ext uri="{FF2B5EF4-FFF2-40B4-BE49-F238E27FC236}">
                <a16:creationId xmlns:a16="http://schemas.microsoft.com/office/drawing/2014/main" id="{7DEFD5E2-9C15-4921-AD6A-E783A70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3371850" cy="1104900"/>
          </a:xfrm>
          <a:custGeom xmlns:a="http://schemas.openxmlformats.org/drawingml/2006/main"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xmlns:a="http://schemas.openxmlformats.org/drawingml/2006/main" w="0" cap="rnd">
            <a:noFill/>
            <a:round/>
          </a:ln>
        </p:spPr>
      </p:sp>
      <p:sp>
        <p:nvSpPr>
          <p:cNvPr id="30" name="统一风格-恢复边缘高光-184">
            <a:extLst xmlns:a="http://schemas.openxmlformats.org/drawingml/2006/main">
              <a:ext uri="{FF2B5EF4-FFF2-40B4-BE49-F238E27FC236}">
                <a16:creationId xmlns:a16="http://schemas.microsoft.com/office/drawing/2014/main" id="{5E9AB626-7522-4D8C-9CF1-4270761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409950" cy="1143000"/>
          </a:xfrm>
          <a:custGeom xmlns:a="http://schemas.openxmlformats.org/drawingml/2006/main"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文字 恢复-185">
            <a:extLst xmlns:a="http://schemas.openxmlformats.org/drawingml/2006/main">
              <a:ext uri="{FF2B5EF4-FFF2-40B4-BE49-F238E27FC236}">
                <a16:creationId xmlns:a16="http://schemas.microsoft.com/office/drawing/2014/main" id="{B596312D-E801-4412-B3AC-1A2AF03C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91075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32" name="统一风格-文字 记录到期与恢复条件 恢复后重新测试-186">
            <a:extLst xmlns:a="http://schemas.openxmlformats.org/drawingml/2006/main">
              <a:ext uri="{FF2B5EF4-FFF2-40B4-BE49-F238E27FC236}">
                <a16:creationId xmlns:a16="http://schemas.microsoft.com/office/drawing/2014/main" id="{BE577693-173A-4339-8479-1E93C8CC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00650"/>
            <a:ext cx="302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记录到期与恢复条件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恢复后重新测试</a:t>
            </a:r>
          </a:p>
        </p:txBody>
      </p:sp>
    </p:spTree>
    <p:extLst>
      <p:ext uri="{BB962C8B-B14F-4D97-AF65-F5344CB8AC3E}">
        <p14:creationId xmlns:p14="http://schemas.microsoft.com/office/powerpoint/2010/main" val="83440611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-04  变更与排障">
            <a:extLst xmlns:a="http://schemas.openxmlformats.org/drawingml/2006/main">
              <a:ext uri="{FF2B5EF4-FFF2-40B4-BE49-F238E27FC236}">
                <a16:creationId xmlns:a16="http://schemas.microsoft.com/office/drawing/2014/main" id="{776E8BF2-F2A6-4A35-9D98-A33AFDF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04  变更与排障</ns0:t>
            </ns0:r>
          </ns0:p>
        </p:txBody>
      </p:sp>
      <p:sp>
        <p:nvSpPr>
          <p:cNvPr id="2" name="统一风格-文字 回滚门槛与最小恢复动作-188">
            <a:extLst xmlns:a="http://schemas.openxmlformats.org/drawingml/2006/main">
              <a:ext uri="{FF2B5EF4-FFF2-40B4-BE49-F238E27FC236}">
                <a16:creationId xmlns:a16="http://schemas.microsoft.com/office/drawing/2014/main" id="{19C59CC0-933B-456F-B3FB-0A4880D2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回滚门槛与最小恢复动作</a:t>
            </a:r>
          </a:p>
        </p:txBody>
      </p:sp>
      <p:sp>
        <p:nvSpPr>
          <p:cNvPr id="3" name="统一风格-文字 发布前由业务与变更负责人填写具体阈值，或明确可判断的失败结果-189">
            <a:extLst xmlns:a="http://schemas.openxmlformats.org/drawingml/2006/main">
              <a:ext uri="{FF2B5EF4-FFF2-40B4-BE49-F238E27FC236}">
                <a16:creationId xmlns:a16="http://schemas.microsoft.com/office/drawing/2014/main" id="{6A14CE99-7C56-4701-9D5F-982E5D3A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发布前由业务与变更负责人填写具体阈值，或明确可判断的失败结果</a:t>
            </a:r>
          </a:p>
        </p:txBody>
      </p:sp>
      <p:cxnSp>
        <p:nvCxnSpPr>
          <p:cNvPr id="4" name="知识图示连接-13">
            <a:extLst xmlns:a="http://schemas.openxmlformats.org/drawingml/2006/main">
              <a:ext uri="{FF2B5EF4-FFF2-40B4-BE49-F238E27FC236}">
                <a16:creationId xmlns:a16="http://schemas.microsoft.com/office/drawing/2014/main" id="{55338F30-8503-4088-B717-EE5FE427A7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086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5" name="正文-管理建议：恢复到已记录前态后，重新验证关键业务、访问限制与防护覆盖。">
            <a:extLst xmlns:a="http://schemas.openxmlformats.org/drawingml/2006/main">
              <a:ext uri="{FF2B5EF4-FFF2-40B4-BE49-F238E27FC236}">
                <a16:creationId xmlns:a16="http://schemas.microsoft.com/office/drawing/2014/main" id="{706727B1-8C0F-42C9-ABF5-1FBF3D7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管理建议：恢复到已记录前态后，重新验证关键业务、访问限制与防护覆盖。</ns0:t>
            </ns0:r>
          </ns0:p>
        </p:txBody>
      </p:sp>
      <p:sp>
        <p:nvSpPr>
          <p:cNvPr id="6" name="正文-50">
            <a:extLst xmlns:a="http://schemas.openxmlformats.org/drawingml/2006/main">
              <a:ext uri="{FF2B5EF4-FFF2-40B4-BE49-F238E27FC236}">
                <a16:creationId xmlns:a16="http://schemas.microsoft.com/office/drawing/2014/main" id="{E609A753-0578-45A9-8F82-E320563E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69</ns0:t>
            </ns0:r>
          </ns0:p>
        </p:txBody>
      </p:sp>
      <p:sp>
        <p:nvSpPr>
          <p:cNvPr id="7" name="统一风格-知识重点表玻璃后沿-192">
            <a:extLst xmlns:a="http://schemas.openxmlformats.org/drawingml/2006/main">
              <a:ext uri="{FF2B5EF4-FFF2-40B4-BE49-F238E27FC236}">
                <a16:creationId xmlns:a16="http://schemas.microsoft.com/office/drawing/2014/main" id="{BC67815E-6777-4521-AE54-4E072DF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知识重点表-193">
            <a:extLst xmlns:a="http://schemas.openxmlformats.org/drawingml/2006/main">
              <a:ext uri="{FF2B5EF4-FFF2-40B4-BE49-F238E27FC236}">
                <a16:creationId xmlns:a16="http://schemas.microsoft.com/office/drawing/2014/main" id="{909EF0AF-1C32-4022-8189-AF93F2C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prstGeom xmlns:a="http://schemas.openxmlformats.org/drawingml/2006/main" prst="roundRect">
            <a:avLst>
              <a:gd name="adj" fmla="val 320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知识重点表玻璃内沿-194">
            <a:extLst xmlns:a="http://schemas.openxmlformats.org/drawingml/2006/main">
              <a:ext uri="{FF2B5EF4-FFF2-40B4-BE49-F238E27FC236}">
                <a16:creationId xmlns:a16="http://schemas.microsoft.com/office/drawing/2014/main" id="{F25871BF-D39B-4128-994A-6C37BB0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650808"/>
          </a:xfrm>
          <a:prstGeom xmlns:a="http://schemas.openxmlformats.org/drawingml/2006/main" prst="roundRect">
            <a:avLst>
              <a:gd name="adj" fmla="val 2767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知识重点表边缘高光-195">
            <a:extLst xmlns:a="http://schemas.openxmlformats.org/drawingml/2006/main">
              <a:ext uri="{FF2B5EF4-FFF2-40B4-BE49-F238E27FC236}">
                <a16:creationId xmlns:a16="http://schemas.microsoft.com/office/drawing/2014/main" id="{2434AD24-9D69-405B-A344-EEDC46E9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76525"/>
          </a:xfrm>
          <a:custGeom xmlns:a="http://schemas.openxmlformats.org/drawingml/2006/main"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1DCAE-F24C-475D-929E-F32A0469FDB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476750"/>
                <a:gridCol w="4591050"/>
              </a:tblGrid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发布前准备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触发后的动作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回滚门槛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关键交易失败、错误率或时延越界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由业务与变更负责人事先约定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达到约定条件即启动恢复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阈值按业务基线单独确定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规则恢复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保存获批的规则与对象组前态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恢复上一版规则配置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或停用本次新增的规则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3579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路由恢复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保存目的、下一跳、关联与传播前态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按记录恢复受影响路由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确认去程与回程重新一致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整体关闭 CFW玻璃后沿-196">
            <a:extLst xmlns:a="http://schemas.openxmlformats.org/drawingml/2006/main">
              <a:ext uri="{FF2B5EF4-FFF2-40B4-BE49-F238E27FC236}">
                <a16:creationId xmlns:a16="http://schemas.microsoft.com/office/drawing/2014/main" id="{905B1800-F819-482D-8E5D-3C19D0C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" name="统一风格-整体关闭 CFW-197">
            <a:extLst xmlns:a="http://schemas.openxmlformats.org/drawingml/2006/main">
              <a:ext uri="{FF2B5EF4-FFF2-40B4-BE49-F238E27FC236}">
                <a16:creationId xmlns:a16="http://schemas.microsoft.com/office/drawing/2014/main" id="{97867C9A-D453-4289-9608-1B55761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828675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整体关闭 CFW玻璃内沿-198">
            <a:extLst xmlns:a="http://schemas.openxmlformats.org/drawingml/2006/main">
              <a:ext uri="{FF2B5EF4-FFF2-40B4-BE49-F238E27FC236}">
                <a16:creationId xmlns:a16="http://schemas.microsoft.com/office/drawing/2014/main" id="{F75DBDD8-E503-4937-8703-454C8572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051584"/>
            <a:ext cx="10947083" cy="802958"/>
          </a:xfrm>
          <a:prstGeom xmlns:a="http://schemas.openxmlformats.org/drawingml/2006/main" prst="roundRect">
            <a:avLst>
              <a:gd name="adj" fmla="val 913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整体关闭 CFW边缘高光-199">
            <a:extLst xmlns:a="http://schemas.openxmlformats.org/drawingml/2006/main">
              <a:ext uri="{FF2B5EF4-FFF2-40B4-BE49-F238E27FC236}">
                <a16:creationId xmlns:a16="http://schemas.microsoft.com/office/drawing/2014/main" id="{26A9A877-12BD-4E95-A20B-200633E4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828675"/>
          </a:xfrm>
          <a:custGeom xmlns:a="http://schemas.openxmlformats.org/drawingml/2006/main">
            <a:pathLst>
              <a:path w="10972800" h="8286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整体关闭 CFW-200">
            <a:extLst xmlns:a="http://schemas.openxmlformats.org/drawingml/2006/main">
              <a:ext uri="{FF2B5EF4-FFF2-40B4-BE49-F238E27FC236}">
                <a16:creationId xmlns:a16="http://schemas.microsoft.com/office/drawing/2014/main" id="{E2CB5C1F-975C-411D-90CD-A2C2863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53025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整体关闭 CFW</a:t>
            </a:r>
          </a:p>
        </p:txBody>
      </p:sp>
      <p:sp>
        <p:nvSpPr>
          <p:cNvPr id="17" name="统一风格-文字 会改变检查覆盖；如需应急采用，记录风险、持续时间与恢复负责人。-201">
            <a:extLst xmlns:a="http://schemas.openxmlformats.org/drawingml/2006/main">
              <a:ext uri="{FF2B5EF4-FFF2-40B4-BE49-F238E27FC236}">
                <a16:creationId xmlns:a16="http://schemas.microsoft.com/office/drawing/2014/main" id="{F8FB4749-7D53-416B-9DFE-EEA37646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33975"/>
            <a:ext cx="88487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会改变检查覆盖；如需应急采用，记录风险、持续时间与恢复负责人。</a:t>
            </a:r>
          </a:p>
        </p:txBody>
      </p:sp>
    </p:spTree>
    <p:extLst>
      <p:ext uri="{BB962C8B-B14F-4D97-AF65-F5344CB8AC3E}">
        <p14:creationId xmlns:p14="http://schemas.microsoft.com/office/powerpoint/2010/main" val="182467557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统一风格-文字 02  网络互联方案-120">
            <a:extLst xmlns:a="http://schemas.openxmlformats.org/drawingml/2006/main">
              <a:ext uri="{FF2B5EF4-FFF2-40B4-BE49-F238E27FC236}">
                <a16:creationId xmlns:a16="http://schemas.microsoft.com/office/drawing/2014/main" id="{06DD2AFF-5095-4ED4-9523-20E9F46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私网 NAT：同 Region 跨 VPC 的地址映射-121">
            <a:extLst xmlns:a="http://schemas.openxmlformats.org/drawingml/2006/main">
              <a:ext uri="{FF2B5EF4-FFF2-40B4-BE49-F238E27FC236}">
                <a16:creationId xmlns:a16="http://schemas.microsoft.com/office/drawing/2014/main" id="{B2221F11-3A80-4CFD-9AD3-C6C3E4EA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NAT：同 Region 跨 VPC 的地址映射</a:t>
            </a:r>
          </a:p>
        </p:txBody>
      </p:sp>
      <p:sp>
        <p:nvSpPr>
          <p:cNvPr id="3" name="统一风格-文字 通过中转 IP 建立私网访问入口，按需求选择 DNAT 或 SNAT-122">
            <a:extLst xmlns:a="http://schemas.openxmlformats.org/drawingml/2006/main">
              <a:ext uri="{FF2B5EF4-FFF2-40B4-BE49-F238E27FC236}">
                <a16:creationId xmlns:a16="http://schemas.microsoft.com/office/drawing/2014/main" id="{DB64CBC7-98A1-4489-898C-90CF398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通过中转 IP 建立私网访问入口，按需求选择 DNAT 或 SNAT</a:t>
            </a:r>
          </a:p>
        </p:txBody>
      </p:sp>
      <p:sp>
        <p:nvSpPr>
          <p:cNvPr id="4" name="统一风格-页脚分隔线-123">
            <a:extLst xmlns:a="http://schemas.openxmlformats.org/drawingml/2006/main">
              <a:ext uri="{FF2B5EF4-FFF2-40B4-BE49-F238E27FC236}">
                <a16:creationId xmlns:a16="http://schemas.microsoft.com/office/drawing/2014/main" id="{9BE902A3-9C2A-4B13-96B5-67DA6261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中转 IP 是私网地址，不使用 EIP。重叠网段需单独规划两侧 NAT 与中转网络，不能套用普通互通配置。-124">
            <a:extLst xmlns:a="http://schemas.openxmlformats.org/drawingml/2006/main">
              <a:ext uri="{FF2B5EF4-FFF2-40B4-BE49-F238E27FC236}">
                <a16:creationId xmlns:a16="http://schemas.microsoft.com/office/drawing/2014/main" id="{C4BCC742-7CB4-4BFE-A314-9DF9B93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中转 IP 是私网地址，不使用 EIP。重叠网段需单独规划两侧 NAT 与中转网络，不能套用普通互通配置。</a:t>
            </a:r>
          </a:p>
        </p:txBody>
      </p:sp>
      <p:sp>
        <p:nvSpPr>
          <p:cNvPr id="6" name="统一风格-文字 24-125">
            <a:extLst xmlns:a="http://schemas.openxmlformats.org/drawingml/2006/main">
              <a:ext uri="{FF2B5EF4-FFF2-40B4-BE49-F238E27FC236}">
                <a16:creationId xmlns:a16="http://schemas.microsoft.com/office/drawing/2014/main" id="{5B66BDF6-823F-4926-AFF6-0041DD1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26</ns0:t>
            </ns0:r>
          </ns0:p>
        </p:txBody>
      </p:sp>
      <p:sp>
        <p:nvSpPr>
          <p:cNvPr id="7" name="统一风格-DNAT：映射服务入口玻璃后沿-126">
            <a:extLst xmlns:a="http://schemas.openxmlformats.org/drawingml/2006/main">
              <a:ext uri="{FF2B5EF4-FFF2-40B4-BE49-F238E27FC236}">
                <a16:creationId xmlns:a16="http://schemas.microsoft.com/office/drawing/2014/main" id="{26625854-1BA7-4BCD-AD9E-6D6D81D6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1104900"/>
          </a:xfrm>
          <a:prstGeom xmlns:a="http://schemas.openxmlformats.org/drawingml/2006/main" prst="roundRect">
            <a:avLst>
              <a:gd name="adj" fmla="val 77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DNAT：映射服务入口-127">
            <a:extLst xmlns:a="http://schemas.openxmlformats.org/drawingml/2006/main">
              <a:ext uri="{FF2B5EF4-FFF2-40B4-BE49-F238E27FC236}">
                <a16:creationId xmlns:a16="http://schemas.microsoft.com/office/drawing/2014/main" id="{8C7C1A33-8A68-485A-BC5B-0F3F4002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1104900"/>
          </a:xfrm>
          <a:prstGeom xmlns:a="http://schemas.openxmlformats.org/drawingml/2006/main" prst="roundRect">
            <a:avLst>
              <a:gd name="adj" fmla="val 77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DNAT：映射服务入口玻璃内沿-128">
            <a:extLst xmlns:a="http://schemas.openxmlformats.org/drawingml/2006/main">
              <a:ext uri="{FF2B5EF4-FFF2-40B4-BE49-F238E27FC236}">
                <a16:creationId xmlns:a16="http://schemas.microsoft.com/office/drawing/2014/main" id="{F261054A-8FF4-4D89-823F-5621C43A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17884"/>
            <a:ext cx="5232083" cy="1079183"/>
          </a:xfrm>
          <a:prstGeom xmlns:a="http://schemas.openxmlformats.org/drawingml/2006/main" prst="roundRect">
            <a:avLst>
              <a:gd name="adj" fmla="val 67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DNAT：映射服务入口边缘高光-129">
            <a:extLst xmlns:a="http://schemas.openxmlformats.org/drawingml/2006/main">
              <a:ext uri="{FF2B5EF4-FFF2-40B4-BE49-F238E27FC236}">
                <a16:creationId xmlns:a16="http://schemas.microsoft.com/office/drawing/2014/main" id="{FCEB9EFB-906E-4464-B234-0BCE56BF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1104900"/>
          </a:xfrm>
          <a:custGeom xmlns:a="http://schemas.openxmlformats.org/drawingml/2006/main"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文字 DNAT：映射服务入口-130">
            <a:extLst xmlns:a="http://schemas.openxmlformats.org/drawingml/2006/main">
              <a:ext uri="{FF2B5EF4-FFF2-40B4-BE49-F238E27FC236}">
                <a16:creationId xmlns:a16="http://schemas.microsoft.com/office/drawing/2014/main" id="{50044BBF-323E-494B-BF5D-02F3CE47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28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DNAT：映射服务入口</a:t>
            </a:r>
          </a:p>
        </p:txBody>
      </p:sp>
      <p:sp>
        <p:nvSpPr>
          <p:cNvPr id="12" name="统一风格-文字 跨 VPC 访问指定 ELB 服务 消费端访问本 VPC 的中转 IP-131">
            <a:extLst xmlns:a="http://schemas.openxmlformats.org/drawingml/2006/main">
              <a:ext uri="{FF2B5EF4-FFF2-40B4-BE49-F238E27FC236}">
                <a16:creationId xmlns:a16="http://schemas.microsoft.com/office/drawing/2014/main" id="{C1F25BDE-5BF5-4E7E-9812-D071E27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访问指定 ELB 服务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消费端访问本 VPC 的中转 IP</a:t>
            </a:r>
          </a:p>
        </p:txBody>
      </p:sp>
      <p:sp>
        <p:nvSpPr>
          <p:cNvPr id="13" name="统一风格-SNAT：统一访问源 IP玻璃后沿-132">
            <a:extLst xmlns:a="http://schemas.openxmlformats.org/drawingml/2006/main">
              <a:ext uri="{FF2B5EF4-FFF2-40B4-BE49-F238E27FC236}">
                <a16:creationId xmlns:a16="http://schemas.microsoft.com/office/drawing/2014/main" id="{8E17D4F4-7532-439C-9ADA-F3ADE63F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257800" cy="1104900"/>
          </a:xfrm>
          <a:prstGeom xmlns:a="http://schemas.openxmlformats.org/drawingml/2006/main" prst="roundRect">
            <a:avLst>
              <a:gd name="adj" fmla="val 775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SNAT：统一访问源 IP-133">
            <a:extLst xmlns:a="http://schemas.openxmlformats.org/drawingml/2006/main">
              <a:ext uri="{FF2B5EF4-FFF2-40B4-BE49-F238E27FC236}">
                <a16:creationId xmlns:a16="http://schemas.microsoft.com/office/drawing/2014/main" id="{A50E098A-B2B3-47D6-A27F-12A7185D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257800" cy="1104900"/>
          </a:xfrm>
          <a:prstGeom xmlns:a="http://schemas.openxmlformats.org/drawingml/2006/main" prst="roundRect">
            <a:avLst>
              <a:gd name="adj" fmla="val 775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SNAT：统一访问源 IP玻璃内沿-134">
            <a:extLst xmlns:a="http://schemas.openxmlformats.org/drawingml/2006/main">
              <a:ext uri="{FF2B5EF4-FFF2-40B4-BE49-F238E27FC236}">
                <a16:creationId xmlns:a16="http://schemas.microsoft.com/office/drawing/2014/main" id="{C8399C42-71AE-40A8-8F38-F317B41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2117884"/>
            <a:ext cx="5232083" cy="1079183"/>
          </a:xfrm>
          <a:prstGeom xmlns:a="http://schemas.openxmlformats.org/drawingml/2006/main" prst="roundRect">
            <a:avLst>
              <a:gd name="adj" fmla="val 67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SNAT：统一访问源 IP边缘高光-135">
            <a:extLst xmlns:a="http://schemas.openxmlformats.org/drawingml/2006/main">
              <a:ext uri="{FF2B5EF4-FFF2-40B4-BE49-F238E27FC236}">
                <a16:creationId xmlns:a16="http://schemas.microsoft.com/office/drawing/2014/main" id="{204DE8B0-316C-4821-9957-F1C2307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257800" cy="1104900"/>
          </a:xfrm>
          <a:custGeom xmlns:a="http://schemas.openxmlformats.org/drawingml/2006/main"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文字 SNAT：统一访问源 IP-136">
            <a:extLst xmlns:a="http://schemas.openxmlformats.org/drawingml/2006/main">
              <a:ext uri="{FF2B5EF4-FFF2-40B4-BE49-F238E27FC236}">
                <a16:creationId xmlns:a16="http://schemas.microsoft.com/office/drawing/2014/main" id="{D2DE279F-4469-432F-8A1C-A5F890D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28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SNAT：统一访问源 IP</a:t>
            </a:r>
          </a:p>
        </p:txBody>
      </p:sp>
      <p:sp>
        <p:nvSpPr>
          <p:cNvPr id="18" name="统一风格-文字 多个业务实例共享指定私网源地址 远端按中转 IP 授权与审计-137">
            <a:extLst xmlns:a="http://schemas.openxmlformats.org/drawingml/2006/main">
              <a:ext uri="{FF2B5EF4-FFF2-40B4-BE49-F238E27FC236}">
                <a16:creationId xmlns:a16="http://schemas.microsoft.com/office/drawing/2014/main" id="{6A1D9B78-07A8-4D1A-8D57-7BD677FB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90800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多个业务实例共享指定私网源地址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远端按中转 IP 授权与审计</a:t>
            </a:r>
          </a:p>
        </p:txBody>
      </p:sp>
      <p:sp>
        <p:nvSpPr>
          <p:cNvPr id="19" name="统一风格-可编辑配置表玻璃后沿-138">
            <a:extLst xmlns:a="http://schemas.openxmlformats.org/drawingml/2006/main">
              <a:ext uri="{FF2B5EF4-FFF2-40B4-BE49-F238E27FC236}">
                <a16:creationId xmlns:a16="http://schemas.microsoft.com/office/drawing/2014/main" id="{5A2BBE1C-2C57-4367-A452-C35AEFC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1110615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0" name="统一风格-可编辑配置表-139">
            <a:extLst xmlns:a="http://schemas.openxmlformats.org/drawingml/2006/main">
              <a:ext uri="{FF2B5EF4-FFF2-40B4-BE49-F238E27FC236}">
                <a16:creationId xmlns:a16="http://schemas.microsoft.com/office/drawing/2014/main" id="{664CEC6D-1BCD-411B-B360-C770494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1110615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1" name="统一风格-可编辑配置表玻璃内沿-140">
            <a:extLst xmlns:a="http://schemas.openxmlformats.org/drawingml/2006/main">
              <a:ext uri="{FF2B5EF4-FFF2-40B4-BE49-F238E27FC236}">
                <a16:creationId xmlns:a16="http://schemas.microsoft.com/office/drawing/2014/main" id="{95AF59DA-6391-4B2E-93C2-4AE26A2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3441859"/>
            <a:ext cx="11080433" cy="2384108"/>
          </a:xfrm>
          <a:prstGeom xmlns:a="http://schemas.openxmlformats.org/drawingml/2006/main" prst="roundRect">
            <a:avLst>
              <a:gd name="adj" fmla="val 30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2" name="统一风格-可编辑配置表边缘高光-141">
            <a:extLst xmlns:a="http://schemas.openxmlformats.org/drawingml/2006/main">
              <a:ext uri="{FF2B5EF4-FFF2-40B4-BE49-F238E27FC236}">
                <a16:creationId xmlns:a16="http://schemas.microsoft.com/office/drawing/2014/main" id="{169B9F0F-73F8-4293-BE9A-E9FD5274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11106150" cy="2409825"/>
          </a:xfrm>
          <a:custGeom xmlns:a="http://schemas.openxmlformats.org/drawingml/2006/main">
            <a:pathLst>
              <a:path w="11106150" h="24098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AACC0-91B5-40D6-B411-B117A0C1E124}"/>
              </a:ext>
            </a:extLst>
          </p:cNvPr>
          <p:cNvGraphicFramePr/>
          <p:nvPr/>
        </p:nvGraphicFramePr>
        <p:xfrm>
          <a:off xmlns:a="http://schemas.openxmlformats.org/drawingml/2006/main" x="609600" y="34956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39052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方案要素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访问跨 VPC ELB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访问远端 VPC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2865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网关与中转 IP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网关在提供方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IP 在消费方 VPC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网关在业务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IP 在中转 VPC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2865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网络与路由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ELB 案例无需另配路由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不展开两个 VPC 的整网互通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 通过对等连接接入远端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业务去程与远端回程配套配置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2865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映射协议、端口与 ELB 后端健康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命中、中转源 IP 与双向路径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5442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统一风格-文字 02  网络互联方案-142">
            <a:extLst xmlns:a="http://schemas.openxmlformats.org/drawingml/2006/main">
              <a:ext uri="{FF2B5EF4-FFF2-40B4-BE49-F238E27FC236}">
                <a16:creationId xmlns:a16="http://schemas.microsoft.com/office/drawing/2014/main" id="{DC29BB7B-4046-4133-A696-B39C2F72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DNAT 案例：跨 VPC 访问私网 ELB-143">
            <a:extLst xmlns:a="http://schemas.openxmlformats.org/drawingml/2006/main">
              <a:ext uri="{FF2B5EF4-FFF2-40B4-BE49-F238E27FC236}">
                <a16:creationId xmlns:a16="http://schemas.microsoft.com/office/drawing/2014/main" id="{B7EB0F3E-B9D3-4E84-B032-4EDE533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案例：跨 VPC 访问私网 ELB</a:t>
            </a:r>
          </a:p>
        </p:txBody>
      </p:sp>
      <p:sp>
        <p:nvSpPr>
          <p:cNvPr id="3" name="统一风格-文字 同一 Region 内，以消费方中转 IP 映射提供方 ELB 的 TCP 80 服务-144">
            <a:extLst xmlns:a="http://schemas.openxmlformats.org/drawingml/2006/main">
              <a:ext uri="{FF2B5EF4-FFF2-40B4-BE49-F238E27FC236}">
                <a16:creationId xmlns:a16="http://schemas.microsoft.com/office/drawing/2014/main" id="{0E506E7F-AF5E-4F0B-9859-E76F973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内，以消费方中转 IP 映射提供方 ELB 的 TCP 80 服务</a:t>
            </a:r>
          </a:p>
        </p:txBody>
      </p:sp>
      <p:sp>
        <p:nvSpPr>
          <p:cNvPr id="4" name="统一风格-页脚分隔线-145">
            <a:extLst xmlns:a="http://schemas.openxmlformats.org/drawingml/2006/main">
              <a:ext uri="{FF2B5EF4-FFF2-40B4-BE49-F238E27FC236}">
                <a16:creationId xmlns:a16="http://schemas.microsoft.com/office/drawing/2014/main" id="{D7704772-B8FC-4637-9875-22E2C9E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依据华为云跨 VPC ELB 最佳实践重绘。该 ELB 案例无需另配路由，不代表任意目标或所有 NAT 场景均如此。-146">
            <a:extLst xmlns:a="http://schemas.openxmlformats.org/drawingml/2006/main">
              <a:ext uri="{FF2B5EF4-FFF2-40B4-BE49-F238E27FC236}">
                <a16:creationId xmlns:a16="http://schemas.microsoft.com/office/drawing/2014/main" id="{A63BFA03-AD51-4E1E-8EB3-D6F1B19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依据华为云跨 VPC ELB 最佳实践重绘。该 ELB 案例无需另配路由，不代表任意目标或所有 NAT 场景均如此。</a:t>
            </a:r>
          </a:p>
        </p:txBody>
      </p:sp>
      <p:sp>
        <p:nvSpPr>
          <p:cNvPr id="6" name="统一风格-文字 25-147">
            <a:extLst xmlns:a="http://schemas.openxmlformats.org/drawingml/2006/main">
              <a:ext uri="{FF2B5EF4-FFF2-40B4-BE49-F238E27FC236}">
                <a16:creationId xmlns:a16="http://schemas.microsoft.com/office/drawing/2014/main" id="{4A0275E3-3720-440D-9F3B-5BC8688C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27</ns0:t>
            </ns0:r>
          </ns0:p>
        </p:txBody>
      </p:sp>
      <p:sp>
        <p:nvSpPr>
          <p:cNvPr id="7" name="统一风格-同 Region 消费 VPC玻璃后沿-148">
            <a:extLst xmlns:a="http://schemas.openxmlformats.org/drawingml/2006/main">
              <a:ext uri="{FF2B5EF4-FFF2-40B4-BE49-F238E27FC236}">
                <a16:creationId xmlns:a16="http://schemas.microsoft.com/office/drawing/2014/main" id="{FE9E85FB-051B-4287-877D-4169CD50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96240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同 Region 消费 VPC-149">
            <a:extLst xmlns:a="http://schemas.openxmlformats.org/drawingml/2006/main">
              <a:ext uri="{FF2B5EF4-FFF2-40B4-BE49-F238E27FC236}">
                <a16:creationId xmlns:a16="http://schemas.microsoft.com/office/drawing/2014/main" id="{AB7A5582-8BE9-4314-BF2D-AC3F86D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96240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同 Region 消费 VPC玻璃内沿-150">
            <a:extLst xmlns:a="http://schemas.openxmlformats.org/drawingml/2006/main">
              <a:ext uri="{FF2B5EF4-FFF2-40B4-BE49-F238E27FC236}">
                <a16:creationId xmlns:a16="http://schemas.microsoft.com/office/drawing/2014/main" id="{67786A11-5A22-40C6-A15B-5B83DB39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17884"/>
            <a:ext cx="3936683" cy="2384108"/>
          </a:xfrm>
          <a:prstGeom xmlns:a="http://schemas.openxmlformats.org/drawingml/2006/main" prst="roundRect">
            <a:avLst>
              <a:gd name="adj" fmla="val 30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同 Region 消费 VPC边缘高光-151">
            <a:extLst xmlns:a="http://schemas.openxmlformats.org/drawingml/2006/main">
              <a:ext uri="{FF2B5EF4-FFF2-40B4-BE49-F238E27FC236}">
                <a16:creationId xmlns:a16="http://schemas.microsoft.com/office/drawing/2014/main" id="{95B74772-31D5-43EB-8A4D-F8C3620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962400" cy="2409825"/>
          </a:xfrm>
          <a:custGeom xmlns:a="http://schemas.openxmlformats.org/drawingml/2006/main">
            <a:pathLst>
              <a:path w="3962400" h="2409825">
                <a:moveTo>
                  <a:pt x="95250" y="9525"/>
                </a:moveTo>
                <a:lnTo>
                  <a:pt x="3867150" y="9525"/>
                </a:lnTo>
                <a:cubicBezTo>
                  <a:pt x="3914775" y="9525"/>
                  <a:pt x="3952875" y="47625"/>
                  <a:pt x="39528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152">
            <a:extLst xmlns:a="http://schemas.openxmlformats.org/drawingml/2006/main">
              <a:ext uri="{FF2B5EF4-FFF2-40B4-BE49-F238E27FC236}">
                <a16:creationId xmlns:a16="http://schemas.microsoft.com/office/drawing/2014/main" id="{52ED7579-8A59-41C4-99ED-89E8B1E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19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12" name="统一风格-文字 VPC-A  消费方-153">
            <a:extLst xmlns:a="http://schemas.openxmlformats.org/drawingml/2006/main">
              <a:ext uri="{FF2B5EF4-FFF2-40B4-BE49-F238E27FC236}">
                <a16:creationId xmlns:a16="http://schemas.microsoft.com/office/drawing/2014/main" id="{59CAF6E3-88B8-403D-A625-71870E12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247900"/>
            <a:ext cx="300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 消费方</a:t>
            </a:r>
          </a:p>
        </p:txBody>
      </p:sp>
      <p:sp>
        <p:nvSpPr>
          <p:cNvPr id="13" name="统一风格-应用 ECS-A玻璃后沿-154">
            <a:extLst xmlns:a="http://schemas.openxmlformats.org/drawingml/2006/main">
              <a:ext uri="{FF2B5EF4-FFF2-40B4-BE49-F238E27FC236}">
                <a16:creationId xmlns:a16="http://schemas.microsoft.com/office/drawing/2014/main" id="{C23CAB60-8A81-4C32-A181-EFC67E3A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543300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" name="统一风格-应用 ECS-A-155">
            <a:extLst xmlns:a="http://schemas.openxmlformats.org/drawingml/2006/main">
              <a:ext uri="{FF2B5EF4-FFF2-40B4-BE49-F238E27FC236}">
                <a16:creationId xmlns:a16="http://schemas.microsoft.com/office/drawing/2014/main" id="{863DA5E6-D075-4D97-BE46-ED615E0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543300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" name="统一风格-应用 ECS-A玻璃内沿-156">
            <a:extLst xmlns:a="http://schemas.openxmlformats.org/drawingml/2006/main">
              <a:ext uri="{FF2B5EF4-FFF2-40B4-BE49-F238E27FC236}">
                <a16:creationId xmlns:a16="http://schemas.microsoft.com/office/drawing/2014/main" id="{13300E9E-5494-47A3-BE72-DF17E83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9" y="2813209"/>
            <a:ext cx="3517583" cy="679133"/>
          </a:xfrm>
          <a:prstGeom xmlns:a="http://schemas.openxmlformats.org/drawingml/2006/main" prst="roundRect">
            <a:avLst>
              <a:gd name="adj" fmla="val 1079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" name="统一风格-应用 ECS-A边缘高光-157">
            <a:extLst xmlns:a="http://schemas.openxmlformats.org/drawingml/2006/main">
              <a:ext uri="{FF2B5EF4-FFF2-40B4-BE49-F238E27FC236}">
                <a16:creationId xmlns:a16="http://schemas.microsoft.com/office/drawing/2014/main" id="{F7016166-B993-4C2C-9CF7-F84FEE7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543300" cy="704850"/>
          </a:xfrm>
          <a:custGeom xmlns:a="http://schemas.openxmlformats.org/drawingml/2006/main">
            <a:pathLst>
              <a:path w="3543300" h="704850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server 服务器机架-158">
            <a:extLst xmlns:a="http://schemas.openxmlformats.org/drawingml/2006/main">
              <a:ext uri="{FF2B5EF4-FFF2-40B4-BE49-F238E27FC236}">
                <a16:creationId xmlns:a16="http://schemas.microsoft.com/office/drawing/2014/main" id="{40BF767B-94EB-4380-9255-B9312AC0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18" name="统一风格-server 机架状态-159">
            <a:extLst xmlns:a="http://schemas.openxmlformats.org/drawingml/2006/main">
              <a:ext uri="{FF2B5EF4-FFF2-40B4-BE49-F238E27FC236}">
                <a16:creationId xmlns:a16="http://schemas.microsoft.com/office/drawing/2014/main" id="{C2C66F6E-3E05-4E83-887E-49DA5AB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19" name="统一风格-server 指示灯-160">
            <a:extLst xmlns:a="http://schemas.openxmlformats.org/drawingml/2006/main">
              <a:ext uri="{FF2B5EF4-FFF2-40B4-BE49-F238E27FC236}">
                <a16:creationId xmlns:a16="http://schemas.microsoft.com/office/drawing/2014/main" id="{962085B8-2ECC-4E04-9FD5-6ED903F6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" name="统一风格-server 服务器机架-161">
            <a:extLst xmlns:a="http://schemas.openxmlformats.org/drawingml/2006/main">
              <a:ext uri="{FF2B5EF4-FFF2-40B4-BE49-F238E27FC236}">
                <a16:creationId xmlns:a16="http://schemas.microsoft.com/office/drawing/2014/main" id="{8CE87D6E-0980-4EB0-B257-24C21E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1" name="统一风格-server 机架状态-162">
            <a:extLst xmlns:a="http://schemas.openxmlformats.org/drawingml/2006/main">
              <a:ext uri="{FF2B5EF4-FFF2-40B4-BE49-F238E27FC236}">
                <a16:creationId xmlns:a16="http://schemas.microsoft.com/office/drawing/2014/main" id="{C41AB509-34F5-485B-A8A6-D118ADFF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2" name="统一风格-server 指示灯-163">
            <a:extLst xmlns:a="http://schemas.openxmlformats.org/drawingml/2006/main">
              <a:ext uri="{FF2B5EF4-FFF2-40B4-BE49-F238E27FC236}">
                <a16:creationId xmlns:a16="http://schemas.microsoft.com/office/drawing/2014/main" id="{4DB5499E-4D7C-44E0-ADAC-989948BA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" name="统一风格-server 服务器机架-164">
            <a:extLst xmlns:a="http://schemas.openxmlformats.org/drawingml/2006/main">
              <a:ext uri="{FF2B5EF4-FFF2-40B4-BE49-F238E27FC236}">
                <a16:creationId xmlns:a16="http://schemas.microsoft.com/office/drawing/2014/main" id="{8B4B8A3F-817C-4DF2-992E-85185A6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4" name="统一风格-server 机架状态-165">
            <a:extLst xmlns:a="http://schemas.openxmlformats.org/drawingml/2006/main">
              <a:ext uri="{FF2B5EF4-FFF2-40B4-BE49-F238E27FC236}">
                <a16:creationId xmlns:a16="http://schemas.microsoft.com/office/drawing/2014/main" id="{D4A36991-77CB-4B27-85C6-DD663CE1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25" name="统一风格-server 指示灯-166">
            <a:extLst xmlns:a="http://schemas.openxmlformats.org/drawingml/2006/main">
              <a:ext uri="{FF2B5EF4-FFF2-40B4-BE49-F238E27FC236}">
                <a16:creationId xmlns:a16="http://schemas.microsoft.com/office/drawing/2014/main" id="{EB111E40-1D80-4CAC-A42F-1BA343F2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" name="统一风格-文字 应用 ECS-A-167">
            <a:extLst xmlns:a="http://schemas.openxmlformats.org/drawingml/2006/main">
              <a:ext uri="{FF2B5EF4-FFF2-40B4-BE49-F238E27FC236}">
                <a16:creationId xmlns:a16="http://schemas.microsoft.com/office/drawing/2014/main" id="{6F1DD850-0991-4952-A263-3DF987F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8575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ECS-A</a:t>
            </a:r>
          </a:p>
        </p:txBody>
      </p:sp>
      <p:sp>
        <p:nvSpPr>
          <p:cNvPr id="27" name="统一风格-文字 10.70.1.20-168">
            <a:extLst xmlns:a="http://schemas.openxmlformats.org/drawingml/2006/main">
              <a:ext uri="{FF2B5EF4-FFF2-40B4-BE49-F238E27FC236}">
                <a16:creationId xmlns:a16="http://schemas.microsoft.com/office/drawing/2014/main" id="{F7388534-B26C-4261-BAF2-B4A0AAE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152775"/>
            <a:ext cx="2676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10.70.1.20</a:t>
            </a:r>
          </a:p>
        </p:txBody>
      </p:sp>
      <p:sp>
        <p:nvSpPr>
          <p:cNvPr id="28" name="统一风格-中转 IP玻璃后沿-169">
            <a:extLst xmlns:a="http://schemas.openxmlformats.org/drawingml/2006/main">
              <a:ext uri="{FF2B5EF4-FFF2-40B4-BE49-F238E27FC236}">
                <a16:creationId xmlns:a16="http://schemas.microsoft.com/office/drawing/2014/main" id="{697587BD-65D2-4DC5-B3F8-1E1804AE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35433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9" name="统一风格-中转 IP-170">
            <a:extLst xmlns:a="http://schemas.openxmlformats.org/drawingml/2006/main">
              <a:ext uri="{FF2B5EF4-FFF2-40B4-BE49-F238E27FC236}">
                <a16:creationId xmlns:a16="http://schemas.microsoft.com/office/drawing/2014/main" id="{59987818-CC08-49F4-AD0B-B9D2852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3543300" cy="619125"/>
          </a:xfrm>
          <a:prstGeom xmlns:a="http://schemas.openxmlformats.org/drawingml/2006/main" prst="roundRect">
            <a:avLst>
              <a:gd name="adj" fmla="val 1384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中转 IP玻璃内沿-171">
            <a:extLst xmlns:a="http://schemas.openxmlformats.org/drawingml/2006/main">
              <a:ext uri="{FF2B5EF4-FFF2-40B4-BE49-F238E27FC236}">
                <a16:creationId xmlns:a16="http://schemas.microsoft.com/office/drawing/2014/main" id="{A9EDFE8D-B044-419A-B163-4CE8244C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9" y="3699034"/>
            <a:ext cx="3517583" cy="593408"/>
          </a:xfrm>
          <a:prstGeom xmlns:a="http://schemas.openxmlformats.org/drawingml/2006/main" prst="roundRect">
            <a:avLst>
              <a:gd name="adj" fmla="val 12360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中转 IP边缘高光-172">
            <a:extLst xmlns:a="http://schemas.openxmlformats.org/drawingml/2006/main">
              <a:ext uri="{FF2B5EF4-FFF2-40B4-BE49-F238E27FC236}">
                <a16:creationId xmlns:a16="http://schemas.microsoft.com/office/drawing/2014/main" id="{091C3939-78AB-4B37-8F45-DC02C23F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3543300" cy="619125"/>
          </a:xfrm>
          <a:custGeom xmlns:a="http://schemas.openxmlformats.org/drawingml/2006/main">
            <a:pathLst>
              <a:path w="3543300" h="619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2" name="统一风格-nat NAT 网关-173">
            <a:extLst xmlns:a="http://schemas.openxmlformats.org/drawingml/2006/main">
              <a:ext uri="{FF2B5EF4-FFF2-40B4-BE49-F238E27FC236}">
                <a16:creationId xmlns:a16="http://schemas.microsoft.com/office/drawing/2014/main" id="{614CF2EC-2841-4298-ACC8-0D7E714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8618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3" name="统一风格-nat 地址转换-174">
            <a:extLst xmlns:a="http://schemas.openxmlformats.org/drawingml/2006/main">
              <a:ext uri="{FF2B5EF4-FFF2-40B4-BE49-F238E27FC236}">
                <a16:creationId xmlns:a16="http://schemas.microsoft.com/office/drawing/2014/main" id="{91DF4EC8-0ACD-4D26-A886-E70C4DC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8618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4" name="统一风格-文字 中转 IP-175">
            <a:extLst xmlns:a="http://schemas.openxmlformats.org/drawingml/2006/main">
              <a:ext uri="{FF2B5EF4-FFF2-40B4-BE49-F238E27FC236}">
                <a16:creationId xmlns:a16="http://schemas.microsoft.com/office/drawing/2014/main" id="{140DDA56-3859-4F62-9E80-0D8D4B62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43325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35" name="统一风格-文字 10.70.1.144:80-176">
            <a:extLst xmlns:a="http://schemas.openxmlformats.org/drawingml/2006/main">
              <a:ext uri="{FF2B5EF4-FFF2-40B4-BE49-F238E27FC236}">
                <a16:creationId xmlns:a16="http://schemas.microsoft.com/office/drawing/2014/main" id="{60A10D30-3E7E-477C-904D-66760AB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38600"/>
            <a:ext cx="2676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10.70.1.144:80</a:t>
            </a:r>
          </a:p>
        </p:txBody>
      </p:sp>
      <p:sp>
        <p:nvSpPr>
          <p:cNvPr id="36" name="统一风格-同 Region 提供 VPC玻璃后沿-177">
            <a:extLst xmlns:a="http://schemas.openxmlformats.org/drawingml/2006/main">
              <a:ext uri="{FF2B5EF4-FFF2-40B4-BE49-F238E27FC236}">
                <a16:creationId xmlns:a16="http://schemas.microsoft.com/office/drawing/2014/main" id="{847A7430-EB99-46CC-A509-A1B6010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636270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7" name="统一风格-同 Region 提供 VPC-178">
            <a:extLst xmlns:a="http://schemas.openxmlformats.org/drawingml/2006/main">
              <a:ext uri="{FF2B5EF4-FFF2-40B4-BE49-F238E27FC236}">
                <a16:creationId xmlns:a16="http://schemas.microsoft.com/office/drawing/2014/main" id="{63914068-D5EC-4BA6-A076-124E0C3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6362700" cy="2409825"/>
          </a:xfrm>
          <a:prstGeom xmlns:a="http://schemas.openxmlformats.org/drawingml/2006/main" prst="roundRect">
            <a:avLst>
              <a:gd name="adj" fmla="val 355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8" name="统一风格-同 Region 提供 VPC玻璃内沿-179">
            <a:extLst xmlns:a="http://schemas.openxmlformats.org/drawingml/2006/main">
              <a:ext uri="{FF2B5EF4-FFF2-40B4-BE49-F238E27FC236}">
                <a16:creationId xmlns:a16="http://schemas.microsoft.com/office/drawing/2014/main" id="{2A65E5E3-F5B8-4A4A-B685-23D8F2B4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559" y="2117884"/>
            <a:ext cx="6336983" cy="2384108"/>
          </a:xfrm>
          <a:prstGeom xmlns:a="http://schemas.openxmlformats.org/drawingml/2006/main" prst="roundRect">
            <a:avLst>
              <a:gd name="adj" fmla="val 307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9" name="统一风格-同 Region 提供 VPC边缘高光-180">
            <a:extLst xmlns:a="http://schemas.openxmlformats.org/drawingml/2006/main">
              <a:ext uri="{FF2B5EF4-FFF2-40B4-BE49-F238E27FC236}">
                <a16:creationId xmlns:a16="http://schemas.microsoft.com/office/drawing/2014/main" id="{43B1A780-6150-4885-8306-765F88E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6362700" cy="2409825"/>
          </a:xfrm>
          <a:custGeom xmlns:a="http://schemas.openxmlformats.org/drawingml/2006/main">
            <a:pathLst>
              <a:path w="6362700" h="2409825">
                <a:moveTo>
                  <a:pt x="95250" y="9525"/>
                </a:moveTo>
                <a:lnTo>
                  <a:pt x="6267450" y="9525"/>
                </a:lnTo>
                <a:cubicBezTo>
                  <a:pt x="6315075" y="9525"/>
                  <a:pt x="6353175" y="47625"/>
                  <a:pt x="6353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0" name="统一风格-cloud VPC 云轮廓-181">
            <a:extLst xmlns:a="http://schemas.openxmlformats.org/drawingml/2006/main">
              <a:ext uri="{FF2B5EF4-FFF2-40B4-BE49-F238E27FC236}">
                <a16:creationId xmlns:a16="http://schemas.microsoft.com/office/drawing/2014/main" id="{2239D597-C8AB-41B9-A4B4-38208654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19325"/>
            <a:ext cx="409575" cy="409575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307" cap="rnd">
            <a:solidFill>
              <a:srgbClr val="2053C3"/>
            </a:solidFill>
            <a:round/>
          </a:ln>
        </p:spPr>
      </p:sp>
      <p:sp>
        <p:nvSpPr>
          <p:cNvPr id="41" name="统一风格-文字 VPC-B  提供方-182">
            <a:extLst xmlns:a="http://schemas.openxmlformats.org/drawingml/2006/main">
              <a:ext uri="{FF2B5EF4-FFF2-40B4-BE49-F238E27FC236}">
                <a16:creationId xmlns:a16="http://schemas.microsoft.com/office/drawing/2014/main" id="{91EF3125-C940-40A3-969A-E2EE3D80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5410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  提供方</a:t>
            </a:r>
          </a:p>
        </p:txBody>
      </p:sp>
      <p:sp>
        <p:nvSpPr>
          <p:cNvPr id="42" name="统一风格-私网 NAT玻璃后沿-183">
            <a:extLst xmlns:a="http://schemas.openxmlformats.org/drawingml/2006/main">
              <a:ext uri="{FF2B5EF4-FFF2-40B4-BE49-F238E27FC236}">
                <a16:creationId xmlns:a16="http://schemas.microsoft.com/office/drawing/2014/main" id="{D001839A-C1B0-42A9-ADF3-B3A2E4D0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2695575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3" name="统一风格-私网 NAT-184">
            <a:extLst xmlns:a="http://schemas.openxmlformats.org/drawingml/2006/main">
              <a:ext uri="{FF2B5EF4-FFF2-40B4-BE49-F238E27FC236}">
                <a16:creationId xmlns:a16="http://schemas.microsoft.com/office/drawing/2014/main" id="{42627615-B511-439D-9397-69D0EF8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2695575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4" name="统一风格-私网 NAT玻璃内沿-185">
            <a:extLst xmlns:a="http://schemas.openxmlformats.org/drawingml/2006/main">
              <a:ext uri="{FF2B5EF4-FFF2-40B4-BE49-F238E27FC236}">
                <a16:creationId xmlns:a16="http://schemas.microsoft.com/office/drawing/2014/main" id="{0FCAF820-9FE7-489D-AB65-24389C51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109" y="2813209"/>
            <a:ext cx="2669858" cy="679133"/>
          </a:xfrm>
          <a:prstGeom xmlns:a="http://schemas.openxmlformats.org/drawingml/2006/main" prst="roundRect">
            <a:avLst>
              <a:gd name="adj" fmla="val 1079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5" name="统一风格-私网 NAT边缘高光-186">
            <a:extLst xmlns:a="http://schemas.openxmlformats.org/drawingml/2006/main">
              <a:ext uri="{FF2B5EF4-FFF2-40B4-BE49-F238E27FC236}">
                <a16:creationId xmlns:a16="http://schemas.microsoft.com/office/drawing/2014/main" id="{A2D5DF53-BCD4-4333-ABC5-6C512BF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2695575" cy="704850"/>
          </a:xfrm>
          <a:custGeom xmlns:a="http://schemas.openxmlformats.org/drawingml/2006/main">
            <a:pathLst>
              <a:path w="2695575" h="704850">
                <a:moveTo>
                  <a:pt x="95250" y="9525"/>
                </a:moveTo>
                <a:lnTo>
                  <a:pt x="2600325" y="9525"/>
                </a:lnTo>
                <a:cubicBezTo>
                  <a:pt x="2647950" y="9525"/>
                  <a:pt x="2686050" y="47625"/>
                  <a:pt x="26860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6" name="统一风格-nat NAT 网关-187">
            <a:extLst xmlns:a="http://schemas.openxmlformats.org/drawingml/2006/main">
              <a:ext uri="{FF2B5EF4-FFF2-40B4-BE49-F238E27FC236}">
                <a16:creationId xmlns:a16="http://schemas.microsoft.com/office/drawing/2014/main" id="{91DAE56B-45B0-4354-871B-F6E2013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7" name="统一风格-nat 地址转换-188">
            <a:extLst xmlns:a="http://schemas.openxmlformats.org/drawingml/2006/main">
              <a:ext uri="{FF2B5EF4-FFF2-40B4-BE49-F238E27FC236}">
                <a16:creationId xmlns:a16="http://schemas.microsoft.com/office/drawing/2014/main" id="{3749A233-E87C-4968-B81E-5522929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8" name="统一风格-文字 私网 NAT-189">
            <a:extLst xmlns:a="http://schemas.openxmlformats.org/drawingml/2006/main">
              <a:ext uri="{FF2B5EF4-FFF2-40B4-BE49-F238E27FC236}">
                <a16:creationId xmlns:a16="http://schemas.microsoft.com/office/drawing/2014/main" id="{E271FDE3-EFDE-4C79-93E8-3465E611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49" name="统一风格-文字 DNAT：TCP 80-190">
            <a:extLst xmlns:a="http://schemas.openxmlformats.org/drawingml/2006/main">
              <a:ext uri="{FF2B5EF4-FFF2-40B4-BE49-F238E27FC236}">
                <a16:creationId xmlns:a16="http://schemas.microsoft.com/office/drawing/2014/main" id="{59BCD697-8E5C-4769-9335-089913FA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52775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DNAT：TCP 80</a:t>
            </a:r>
          </a:p>
        </p:txBody>
      </p:sp>
      <p:sp>
        <p:nvSpPr>
          <p:cNvPr id="50" name="统一风格-私网 ELB玻璃后沿-191">
            <a:extLst xmlns:a="http://schemas.openxmlformats.org/drawingml/2006/main">
              <a:ext uri="{FF2B5EF4-FFF2-40B4-BE49-F238E27FC236}">
                <a16:creationId xmlns:a16="http://schemas.microsoft.com/office/drawing/2014/main" id="{C8FC06EC-8D63-4866-A201-DC17D29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0350"/>
            <a:ext cx="2981325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1" name="统一风格-私网 ELB-192">
            <a:extLst xmlns:a="http://schemas.openxmlformats.org/drawingml/2006/main">
              <a:ext uri="{FF2B5EF4-FFF2-40B4-BE49-F238E27FC236}">
                <a16:creationId xmlns:a16="http://schemas.microsoft.com/office/drawing/2014/main" id="{B83F49F4-45FF-4E81-9DDF-335CFB4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0350"/>
            <a:ext cx="2981325" cy="704850"/>
          </a:xfrm>
          <a:prstGeom xmlns:a="http://schemas.openxmlformats.org/drawingml/2006/main" prst="roundRect">
            <a:avLst>
              <a:gd name="adj" fmla="val 1216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2" name="统一风格-私网 ELB玻璃内沿-193">
            <a:extLst xmlns:a="http://schemas.openxmlformats.org/drawingml/2006/main">
              <a:ext uri="{FF2B5EF4-FFF2-40B4-BE49-F238E27FC236}">
                <a16:creationId xmlns:a16="http://schemas.microsoft.com/office/drawing/2014/main" id="{4460AEF8-DB74-484D-9A1E-B8DBBE6B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84" y="2813209"/>
            <a:ext cx="2955608" cy="679133"/>
          </a:xfrm>
          <a:prstGeom xmlns:a="http://schemas.openxmlformats.org/drawingml/2006/main" prst="roundRect">
            <a:avLst>
              <a:gd name="adj" fmla="val 1079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3" name="统一风格-私网 ELB边缘高光-194">
            <a:extLst xmlns:a="http://schemas.openxmlformats.org/drawingml/2006/main">
              <a:ext uri="{FF2B5EF4-FFF2-40B4-BE49-F238E27FC236}">
                <a16:creationId xmlns:a16="http://schemas.microsoft.com/office/drawing/2014/main" id="{76890F53-E460-42C9-BB06-E7FE7ADB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0350"/>
            <a:ext cx="2981325" cy="704850"/>
          </a:xfrm>
          <a:custGeom xmlns:a="http://schemas.openxmlformats.org/drawingml/2006/main">
            <a:pathLst>
              <a:path w="2981325" h="704850">
                <a:moveTo>
                  <a:pt x="95250" y="9525"/>
                </a:moveTo>
                <a:lnTo>
                  <a:pt x="2886075" y="9525"/>
                </a:lnTo>
                <a:cubicBezTo>
                  <a:pt x="2933700" y="9525"/>
                  <a:pt x="2971800" y="47625"/>
                  <a:pt x="297180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4" name="统一风格-ELB 入口-195">
            <a:extLst xmlns:a="http://schemas.openxmlformats.org/drawingml/2006/main">
              <a:ext uri="{FF2B5EF4-FFF2-40B4-BE49-F238E27FC236}">
                <a16:creationId xmlns:a16="http://schemas.microsoft.com/office/drawing/2014/main" id="{1A8D0B14-9B12-44E3-AFA1-3087A2E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5" name="统一风格-ELB 分发路径-196">
            <a:extLst xmlns:a="http://schemas.openxmlformats.org/drawingml/2006/main">
              <a:ext uri="{FF2B5EF4-FFF2-40B4-BE49-F238E27FC236}">
                <a16:creationId xmlns:a16="http://schemas.microsoft.com/office/drawing/2014/main" id="{503193F4-4E71-4068-8FC9-24CF4156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6" name="统一风格-ELB 后端节点-197">
            <a:extLst xmlns:a="http://schemas.openxmlformats.org/drawingml/2006/main">
              <a:ext uri="{FF2B5EF4-FFF2-40B4-BE49-F238E27FC236}">
                <a16:creationId xmlns:a16="http://schemas.microsoft.com/office/drawing/2014/main" id="{49AA32E3-28E0-4AD1-97F1-B8A74472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7" name="统一风格-ELB 后端节点-198">
            <a:extLst xmlns:a="http://schemas.openxmlformats.org/drawingml/2006/main">
              <a:ext uri="{FF2B5EF4-FFF2-40B4-BE49-F238E27FC236}">
                <a16:creationId xmlns:a16="http://schemas.microsoft.com/office/drawing/2014/main" id="{6E3DE3A8-F1BD-4BBC-9F92-16643D60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8" name="统一风格-ELB 后端节点-199">
            <a:extLst xmlns:a="http://schemas.openxmlformats.org/drawingml/2006/main">
              <a:ext uri="{FF2B5EF4-FFF2-40B4-BE49-F238E27FC236}">
                <a16:creationId xmlns:a16="http://schemas.microsoft.com/office/drawing/2014/main" id="{61AEDF59-644F-4C0E-B6AA-83EC972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9" name="统一风格-文字 私网 ELB-200">
            <a:extLst xmlns:a="http://schemas.openxmlformats.org/drawingml/2006/main">
              <a:ext uri="{FF2B5EF4-FFF2-40B4-BE49-F238E27FC236}">
                <a16:creationId xmlns:a16="http://schemas.microsoft.com/office/drawing/2014/main" id="{1AE0F3BC-54FC-41A6-A93D-E48F1B1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0" name="统一风格-文字 10.80.1.10:80-201">
            <a:extLst xmlns:a="http://schemas.openxmlformats.org/drawingml/2006/main">
              <a:ext uri="{FF2B5EF4-FFF2-40B4-BE49-F238E27FC236}">
                <a16:creationId xmlns:a16="http://schemas.microsoft.com/office/drawing/2014/main" id="{5A078DEF-6F15-4075-8C1A-E2E2CD96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10.80.1.10:80</a:t>
            </a:r>
          </a:p>
        </p:txBody>
      </p:sp>
      <p:sp>
        <p:nvSpPr>
          <p:cNvPr id="61" name="统一风格-文字 后端 ECS-B  10.80.1.20:80-202">
            <a:extLst xmlns:a="http://schemas.openxmlformats.org/drawingml/2006/main">
              <a:ext uri="{FF2B5EF4-FFF2-40B4-BE49-F238E27FC236}">
                <a16:creationId xmlns:a16="http://schemas.microsoft.com/office/drawing/2014/main" id="{C059A0F2-20B0-4006-BBDE-5C24172F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814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ECS-B  10.80.1.20:80</a:t>
            </a:r>
          </a:p>
        </p:txBody>
      </p:sp>
      <p:cxnSp>
        <p:nvCxnSpPr>
          <p:cNvPr id="62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0FF3BA2F-A65D-4644-BD67-167D125201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90800" y="35052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3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E066446D-6A3D-4FDD-8AEB-2CC1F03FF6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62450" y="3990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64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8701E6C6-193E-4A23-9309-7B2FF4E839C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95850" y="315277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65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3C881230-EE7B-47D3-9DBE-96427F0A95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95850" y="31527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6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93B9804B-06B9-40B4-AC42-24145B2B46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24825" y="31527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7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D3E9B808-9CCE-4CD2-9412-9F79211B91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77425" y="35052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68" name="统一风格-文字 逻辑映射-203">
            <a:extLst xmlns:a="http://schemas.openxmlformats.org/drawingml/2006/main">
              <a:ext uri="{FF2B5EF4-FFF2-40B4-BE49-F238E27FC236}">
                <a16:creationId xmlns:a16="http://schemas.microsoft.com/office/drawing/2014/main" id="{B7DCD1BB-7951-4479-8107-DC7D9A7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624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逻辑映射</a:t>
            </a:r>
          </a:p>
        </p:txBody>
      </p:sp>
      <p:sp>
        <p:nvSpPr>
          <p:cNvPr id="69" name="统一风格-配置与验证玻璃后沿-204">
            <a:extLst xmlns:a="http://schemas.openxmlformats.org/drawingml/2006/main">
              <a:ext uri="{FF2B5EF4-FFF2-40B4-BE49-F238E27FC236}">
                <a16:creationId xmlns:a16="http://schemas.microsoft.com/office/drawing/2014/main" id="{A59B94A3-A9AF-4E35-8C96-CECE69E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25780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0" name="统一风格-配置与验证-205">
            <a:extLst xmlns:a="http://schemas.openxmlformats.org/drawingml/2006/main">
              <a:ext uri="{FF2B5EF4-FFF2-40B4-BE49-F238E27FC236}">
                <a16:creationId xmlns:a16="http://schemas.microsoft.com/office/drawing/2014/main" id="{D2E7912C-77C3-4292-95AD-DAFB28D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25780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1" name="统一风格-配置与验证玻璃内沿-206">
            <a:extLst xmlns:a="http://schemas.openxmlformats.org/drawingml/2006/main">
              <a:ext uri="{FF2B5EF4-FFF2-40B4-BE49-F238E27FC236}">
                <a16:creationId xmlns:a16="http://schemas.microsoft.com/office/drawing/2014/main" id="{445179A6-A16B-48FF-B71F-A0142AC1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756309"/>
            <a:ext cx="5232083" cy="1117283"/>
          </a:xfrm>
          <a:prstGeom xmlns:a="http://schemas.openxmlformats.org/drawingml/2006/main" prst="roundRect">
            <a:avLst>
              <a:gd name="adj" fmla="val 65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2" name="统一风格-配置与验证边缘高光-207">
            <a:extLst xmlns:a="http://schemas.openxmlformats.org/drawingml/2006/main">
              <a:ext uri="{FF2B5EF4-FFF2-40B4-BE49-F238E27FC236}">
                <a16:creationId xmlns:a16="http://schemas.microsoft.com/office/drawing/2014/main" id="{EDE88325-CC2A-43D4-A7DD-2ED7E113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257800" cy="1143000"/>
          </a:xfrm>
          <a:custGeom xmlns:a="http://schemas.openxmlformats.org/drawingml/2006/main"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3" name="统一风格-文字 配置与验证-208">
            <a:extLst xmlns:a="http://schemas.openxmlformats.org/drawingml/2006/main">
              <a:ext uri="{FF2B5EF4-FFF2-40B4-BE49-F238E27FC236}">
                <a16:creationId xmlns:a16="http://schemas.microsoft.com/office/drawing/2014/main" id="{1BA250D5-FE95-43DB-B63D-7E6EDD0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配置与验证</a:t>
            </a:r>
          </a:p>
        </p:txBody>
      </p:sp>
      <p:sp>
        <p:nvSpPr>
          <p:cNvPr id="74" name="统一风格-文字 中转 IP 选 VPC-A，NAT 选 VPC-B DNAT 选择 ELB，验证端口与后端健康-209">
            <a:extLst xmlns:a="http://schemas.openxmlformats.org/drawingml/2006/main">
              <a:ext uri="{FF2B5EF4-FFF2-40B4-BE49-F238E27FC236}">
                <a16:creationId xmlns:a16="http://schemas.microsoft.com/office/drawing/2014/main" id="{6EC02541-3FC6-4742-8122-9C31B6AF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29225"/>
            <a:ext cx="4857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 选 VPC-A，NAT 选 VPC-B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选择 ELB，验证端口与后端健康</a:t>
            </a:r>
          </a:p>
        </p:txBody>
      </p:sp>
      <p:sp>
        <p:nvSpPr>
          <p:cNvPr id="75" name="统一风格-能力边界玻璃后沿-210">
            <a:extLst xmlns:a="http://schemas.openxmlformats.org/drawingml/2006/main">
              <a:ext uri="{FF2B5EF4-FFF2-40B4-BE49-F238E27FC236}">
                <a16:creationId xmlns:a16="http://schemas.microsoft.com/office/drawing/2014/main" id="{B25702A1-C0E1-42D6-BF00-B3A28558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525780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6" name="统一风格-能力边界-211">
            <a:extLst xmlns:a="http://schemas.openxmlformats.org/drawingml/2006/main">
              <a:ext uri="{FF2B5EF4-FFF2-40B4-BE49-F238E27FC236}">
                <a16:creationId xmlns:a16="http://schemas.microsoft.com/office/drawing/2014/main" id="{730D92F7-0519-4A60-8429-283F3D2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5257800" cy="1143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7" name="统一风格-能力边界玻璃内沿-212">
            <a:extLst xmlns:a="http://schemas.openxmlformats.org/drawingml/2006/main">
              <a:ext uri="{FF2B5EF4-FFF2-40B4-BE49-F238E27FC236}">
                <a16:creationId xmlns:a16="http://schemas.microsoft.com/office/drawing/2014/main" id="{88BA17EB-2B72-435E-B836-3680655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4756309"/>
            <a:ext cx="5232083" cy="1117283"/>
          </a:xfrm>
          <a:prstGeom xmlns:a="http://schemas.openxmlformats.org/drawingml/2006/main" prst="roundRect">
            <a:avLst>
              <a:gd name="adj" fmla="val 656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8" name="统一风格-能力边界边缘高光-213">
            <a:extLst xmlns:a="http://schemas.openxmlformats.org/drawingml/2006/main">
              <a:ext uri="{FF2B5EF4-FFF2-40B4-BE49-F238E27FC236}">
                <a16:creationId xmlns:a16="http://schemas.microsoft.com/office/drawing/2014/main" id="{51D164F9-5B52-4469-BAB2-921C74B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5257800" cy="1143000"/>
          </a:xfrm>
          <a:custGeom xmlns:a="http://schemas.openxmlformats.org/drawingml/2006/main"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9" name="统一风格-文字 能力边界-214">
            <a:extLst xmlns:a="http://schemas.openxmlformats.org/drawingml/2006/main">
              <a:ext uri="{FF2B5EF4-FFF2-40B4-BE49-F238E27FC236}">
                <a16:creationId xmlns:a16="http://schemas.microsoft.com/office/drawing/2014/main" id="{EEF97B36-A7C3-4F35-9E83-C6770590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672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80" name="统一风格-文字 同一 ELB 仅支持一个 VPC 内的一条 DNAT 规则 多消费 VPC 分别映射同一 ELB 不受支持-215">
            <a:extLst xmlns:a="http://schemas.openxmlformats.org/drawingml/2006/main">
              <a:ext uri="{FF2B5EF4-FFF2-40B4-BE49-F238E27FC236}">
                <a16:creationId xmlns:a16="http://schemas.microsoft.com/office/drawing/2014/main" id="{978C34A1-FA37-476F-9EA8-4632E380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29225"/>
            <a:ext cx="4857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ELB 仅支持一个 VPC 内的一条 DNAT 规则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多消费 VPC 分别映射同一 ELB 不受支持</a:t>
            </a:r>
          </a:p>
        </p:txBody>
      </p:sp>
    </p:spTree>
    <p:extLst>
      <p:ext uri="{BB962C8B-B14F-4D97-AF65-F5344CB8AC3E}">
        <p14:creationId xmlns:p14="http://schemas.microsoft.com/office/powerpoint/2010/main" val="182966207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统一风格-文字 02  网络互联方案-216">
            <a:extLst xmlns:a="http://schemas.openxmlformats.org/drawingml/2006/main">
              <a:ext uri="{FF2B5EF4-FFF2-40B4-BE49-F238E27FC236}">
                <a16:creationId xmlns:a16="http://schemas.microsoft.com/office/drawing/2014/main" id="{A103B769-DD2F-44A6-B44E-7FB43DE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SNAT 案例：以指定私网源 IP 访问远端 VPC-217">
            <a:extLst xmlns:a="http://schemas.openxmlformats.org/drawingml/2006/main">
              <a:ext uri="{FF2B5EF4-FFF2-40B4-BE49-F238E27FC236}">
                <a16:creationId xmlns:a16="http://schemas.microsoft.com/office/drawing/2014/main" id="{E7B9F800-DD36-4EDA-9727-0B7A643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案例：以指定私网源 IP 访问远端 VPC</a:t>
            </a:r>
          </a:p>
        </p:txBody>
      </p:sp>
      <p:sp>
        <p:nvSpPr>
          <p:cNvPr id="3" name="统一风格-文字 同一 Region 内，业务源地址经私网 NAT 转换后，通过中转 VPC 和对等连接访问-218">
            <a:extLst xmlns:a="http://schemas.openxmlformats.org/drawingml/2006/main">
              <a:ext uri="{FF2B5EF4-FFF2-40B4-BE49-F238E27FC236}">
                <a16:creationId xmlns:a16="http://schemas.microsoft.com/office/drawing/2014/main" id="{186B6E97-B5F8-445E-A022-66CA964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内，业务源地址经私网 NAT 转换后，通过中转 VPC 和对等连接访问</a:t>
            </a:r>
          </a:p>
        </p:txBody>
      </p:sp>
      <p:sp>
        <p:nvSpPr>
          <p:cNvPr id="4" name="统一风格-页脚分隔线-219">
            <a:extLst xmlns:a="http://schemas.openxmlformats.org/drawingml/2006/main">
              <a:ext uri="{FF2B5EF4-FFF2-40B4-BE49-F238E27FC236}">
                <a16:creationId xmlns:a16="http://schemas.microsoft.com/office/drawing/2014/main" id="{02875954-8C7E-4A1D-A021-DF7D6357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地址为虚构示例。返回流量按 NAT 会话反向转换，远端独立发起访问需另行配置 DNAT 或其他接入方案。-220">
            <a:extLst xmlns:a="http://schemas.openxmlformats.org/drawingml/2006/main">
              <a:ext uri="{FF2B5EF4-FFF2-40B4-BE49-F238E27FC236}">
                <a16:creationId xmlns:a16="http://schemas.microsoft.com/office/drawing/2014/main" id="{61CBB01F-A5E3-485F-B285-A3EAA92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地址为虚构示例。返回流量按 NAT 会话反向转换，远端独立发起访问需另行配置 DNAT 或其他接入方案。</a:t>
            </a:r>
          </a:p>
        </p:txBody>
      </p:sp>
      <p:sp>
        <p:nvSpPr>
          <p:cNvPr id="6" name="统一风格-文字 26-221">
            <a:extLst xmlns:a="http://schemas.openxmlformats.org/drawingml/2006/main">
              <a:ext uri="{FF2B5EF4-FFF2-40B4-BE49-F238E27FC236}">
                <a16:creationId xmlns:a16="http://schemas.microsoft.com/office/drawing/2014/main" id="{E5EDE044-0794-4271-A995-FC3DBFA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28</ns0:t>
            </ns0:r>
          </ns0:p>
        </p:txBody>
      </p:sp>
      <p:sp>
        <p:nvSpPr>
          <p:cNvPr id="7" name="统一风格-业务 VPC-A玻璃后沿-222">
            <a:extLst xmlns:a="http://schemas.openxmlformats.org/drawingml/2006/main">
              <a:ext uri="{FF2B5EF4-FFF2-40B4-BE49-F238E27FC236}">
                <a16:creationId xmlns:a16="http://schemas.microsoft.com/office/drawing/2014/main" id="{962140C0-DA92-45F8-B983-FCE7FA9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54330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业务 VPC-A-223">
            <a:extLst xmlns:a="http://schemas.openxmlformats.org/drawingml/2006/main">
              <a:ext uri="{FF2B5EF4-FFF2-40B4-BE49-F238E27FC236}">
                <a16:creationId xmlns:a16="http://schemas.microsoft.com/office/drawing/2014/main" id="{E6DDEB2C-9CC8-4225-8A30-2651E54C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54330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业务 VPC-A玻璃内沿-224">
            <a:extLst xmlns:a="http://schemas.openxmlformats.org/drawingml/2006/main">
              <a:ext uri="{FF2B5EF4-FFF2-40B4-BE49-F238E27FC236}">
                <a16:creationId xmlns:a16="http://schemas.microsoft.com/office/drawing/2014/main" id="{542CF168-0589-4A54-B53A-25E14D0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17884"/>
            <a:ext cx="3517583" cy="2498408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业务 VPC-A边缘高光-225">
            <a:extLst xmlns:a="http://schemas.openxmlformats.org/drawingml/2006/main">
              <a:ext uri="{FF2B5EF4-FFF2-40B4-BE49-F238E27FC236}">
                <a16:creationId xmlns:a16="http://schemas.microsoft.com/office/drawing/2014/main" id="{456CDFF9-5309-4142-B02D-00A1D4B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543300" cy="2524125"/>
          </a:xfrm>
          <a:custGeom xmlns:a="http://schemas.openxmlformats.org/drawingml/2006/main"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226">
            <a:extLst xmlns:a="http://schemas.openxmlformats.org/drawingml/2006/main">
              <a:ext uri="{FF2B5EF4-FFF2-40B4-BE49-F238E27FC236}">
                <a16:creationId xmlns:a16="http://schemas.microsoft.com/office/drawing/2014/main" id="{1F50E9DA-F5E6-4586-93AD-89981DF0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38375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2" name="统一风格-文字 业务 VPC-A-227">
            <a:extLst xmlns:a="http://schemas.openxmlformats.org/drawingml/2006/main">
              <a:ext uri="{FF2B5EF4-FFF2-40B4-BE49-F238E27FC236}">
                <a16:creationId xmlns:a16="http://schemas.microsoft.com/office/drawing/2014/main" id="{F1EACB7D-26FF-4DD1-8F00-98AECFD4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9800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10.60.0.0/16-228">
            <a:extLst xmlns:a="http://schemas.openxmlformats.org/drawingml/2006/main">
              <a:ext uri="{FF2B5EF4-FFF2-40B4-BE49-F238E27FC236}">
                <a16:creationId xmlns:a16="http://schemas.microsoft.com/office/drawing/2014/main" id="{0F5D1D50-ED4A-4454-9339-9BBEC86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52700"/>
            <a:ext cx="2657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10.60.0.0/16</a:t>
            </a:r>
          </a:p>
        </p:txBody>
      </p:sp>
      <p:sp>
        <p:nvSpPr>
          <p:cNvPr id="14" name="统一风格-中转 VPC-T玻璃后沿-229">
            <a:extLst xmlns:a="http://schemas.openxmlformats.org/drawingml/2006/main">
              <a:ext uri="{FF2B5EF4-FFF2-40B4-BE49-F238E27FC236}">
                <a16:creationId xmlns:a16="http://schemas.microsoft.com/office/drawing/2014/main" id="{A1B5AEEE-47B3-44D6-ADD0-5582362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05025"/>
            <a:ext cx="325755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5" name="统一风格-中转 VPC-T-230">
            <a:extLst xmlns:a="http://schemas.openxmlformats.org/drawingml/2006/main">
              <a:ext uri="{FF2B5EF4-FFF2-40B4-BE49-F238E27FC236}">
                <a16:creationId xmlns:a16="http://schemas.microsoft.com/office/drawing/2014/main" id="{68FC203F-C736-47AB-9146-E1D858A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05025"/>
            <a:ext cx="325755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" name="统一风格-中转 VPC-T玻璃内沿-231">
            <a:extLst xmlns:a="http://schemas.openxmlformats.org/drawingml/2006/main">
              <a:ext uri="{FF2B5EF4-FFF2-40B4-BE49-F238E27FC236}">
                <a16:creationId xmlns:a16="http://schemas.microsoft.com/office/drawing/2014/main" id="{6239CF01-6D2D-49A7-BF4B-3B0C0C8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084" y="2117884"/>
            <a:ext cx="3231833" cy="2498408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7" name="统一风格-中转 VPC-T边缘高光-232">
            <a:extLst xmlns:a="http://schemas.openxmlformats.org/drawingml/2006/main">
              <a:ext uri="{FF2B5EF4-FFF2-40B4-BE49-F238E27FC236}">
                <a16:creationId xmlns:a16="http://schemas.microsoft.com/office/drawing/2014/main" id="{ABF2C143-CBE8-41FB-A3E1-C76641C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05025"/>
            <a:ext cx="3257550" cy="2524125"/>
          </a:xfrm>
          <a:custGeom xmlns:a="http://schemas.openxmlformats.org/drawingml/2006/main">
            <a:pathLst>
              <a:path w="3257550" h="2524125">
                <a:moveTo>
                  <a:pt x="95250" y="9525"/>
                </a:moveTo>
                <a:lnTo>
                  <a:pt x="3162300" y="9525"/>
                </a:lnTo>
                <a:cubicBezTo>
                  <a:pt x="3209925" y="9525"/>
                  <a:pt x="3248025" y="47625"/>
                  <a:pt x="32480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统一风格-cloud VPC 云轮廓-233">
            <a:extLst xmlns:a="http://schemas.openxmlformats.org/drawingml/2006/main">
              <a:ext uri="{FF2B5EF4-FFF2-40B4-BE49-F238E27FC236}">
                <a16:creationId xmlns:a16="http://schemas.microsoft.com/office/drawing/2014/main" id="{578C082D-4B00-444B-A12F-1C1F0E9F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19" name="统一风格-文字 中转 VPC-T-234">
            <a:extLst xmlns:a="http://schemas.openxmlformats.org/drawingml/2006/main">
              <a:ext uri="{FF2B5EF4-FFF2-40B4-BE49-F238E27FC236}">
                <a16:creationId xmlns:a16="http://schemas.microsoft.com/office/drawing/2014/main" id="{EBC52C80-77BD-47E4-B1F0-30E96C3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2371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VPC-T</a:t>
            </a:r>
          </a:p>
        </p:txBody>
      </p:sp>
      <p:sp>
        <p:nvSpPr>
          <p:cNvPr id="20" name="统一风格-文字 10.61.0.0/24-235">
            <a:extLst xmlns:a="http://schemas.openxmlformats.org/drawingml/2006/main">
              <a:ext uri="{FF2B5EF4-FFF2-40B4-BE49-F238E27FC236}">
                <a16:creationId xmlns:a16="http://schemas.microsoft.com/office/drawing/2014/main" id="{30D8036A-4AB7-42A9-AB7F-8310246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2371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10.61.0.0/24</a:t>
            </a:r>
          </a:p>
        </p:txBody>
      </p:sp>
      <p:sp>
        <p:nvSpPr>
          <p:cNvPr id="21" name="统一风格-远端 VPC-B玻璃后沿-236">
            <a:extLst xmlns:a="http://schemas.openxmlformats.org/drawingml/2006/main">
              <a:ext uri="{FF2B5EF4-FFF2-40B4-BE49-F238E27FC236}">
                <a16:creationId xmlns:a16="http://schemas.microsoft.com/office/drawing/2014/main" id="{4EF3B102-F20F-4E17-991C-4F68C1BA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54330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2" name="统一风格-远端 VPC-B-237">
            <a:extLst xmlns:a="http://schemas.openxmlformats.org/drawingml/2006/main">
              <a:ext uri="{FF2B5EF4-FFF2-40B4-BE49-F238E27FC236}">
                <a16:creationId xmlns:a16="http://schemas.microsoft.com/office/drawing/2014/main" id="{DD30A4C1-7003-4198-9297-3FBF4FB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543300" cy="2524125"/>
          </a:xfrm>
          <a:prstGeom xmlns:a="http://schemas.openxmlformats.org/drawingml/2006/main" prst="roundRect">
            <a:avLst>
              <a:gd name="adj" fmla="val 339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远端 VPC-B玻璃内沿-238">
            <a:extLst xmlns:a="http://schemas.openxmlformats.org/drawingml/2006/main">
              <a:ext uri="{FF2B5EF4-FFF2-40B4-BE49-F238E27FC236}">
                <a16:creationId xmlns:a16="http://schemas.microsoft.com/office/drawing/2014/main" id="{79C055CC-DFEF-47C6-9CBE-DDB868D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959" y="2117884"/>
            <a:ext cx="3517583" cy="2498408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远端 VPC-B边缘高光-239">
            <a:extLst xmlns:a="http://schemas.openxmlformats.org/drawingml/2006/main">
              <a:ext uri="{FF2B5EF4-FFF2-40B4-BE49-F238E27FC236}">
                <a16:creationId xmlns:a16="http://schemas.microsoft.com/office/drawing/2014/main" id="{203B04C0-1C7B-46E2-9569-7D960CFA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543300" cy="2524125"/>
          </a:xfrm>
          <a:custGeom xmlns:a="http://schemas.openxmlformats.org/drawingml/2006/main"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统一风格-cloud VPC 云轮廓-240">
            <a:extLst xmlns:a="http://schemas.openxmlformats.org/drawingml/2006/main">
              <a:ext uri="{FF2B5EF4-FFF2-40B4-BE49-F238E27FC236}">
                <a16:creationId xmlns:a16="http://schemas.microsoft.com/office/drawing/2014/main" id="{F4C48185-AFEB-4DF0-8D6F-E1378D7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400050" cy="40005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5928" cap="rnd">
            <a:solidFill>
              <a:srgbClr val="2053C3"/>
            </a:solidFill>
            <a:round/>
          </a:ln>
        </p:spPr>
      </p:sp>
      <p:sp>
        <p:nvSpPr>
          <p:cNvPr id="26" name="统一风格-文字 远端 VPC-B-241">
            <a:extLst xmlns:a="http://schemas.openxmlformats.org/drawingml/2006/main">
              <a:ext uri="{FF2B5EF4-FFF2-40B4-BE49-F238E27FC236}">
                <a16:creationId xmlns:a16="http://schemas.microsoft.com/office/drawing/2014/main" id="{7182E773-A81B-47E6-8A68-2B94BBAC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09800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 VPC-B</a:t>
            </a:r>
          </a:p>
        </p:txBody>
      </p:sp>
      <p:sp>
        <p:nvSpPr>
          <p:cNvPr id="27" name="统一风格-文字 10.62.0.0/16-242">
            <a:extLst xmlns:a="http://schemas.openxmlformats.org/drawingml/2006/main">
              <a:ext uri="{FF2B5EF4-FFF2-40B4-BE49-F238E27FC236}">
                <a16:creationId xmlns:a16="http://schemas.microsoft.com/office/drawing/2014/main" id="{048D1D1A-FAE7-4DBE-B0AB-3B835CF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52700"/>
            <a:ext cx="2657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10.62.0.0/16</a:t>
            </a:r>
          </a:p>
        </p:txBody>
      </p:sp>
      <p:sp>
        <p:nvSpPr>
          <p:cNvPr id="28" name="统一风格-源 ECS玻璃后沿-243">
            <a:extLst xmlns:a="http://schemas.openxmlformats.org/drawingml/2006/main">
              <a:ext uri="{FF2B5EF4-FFF2-40B4-BE49-F238E27FC236}">
                <a16:creationId xmlns:a16="http://schemas.microsoft.com/office/drawing/2014/main" id="{0BC7A69E-34B6-4275-AD40-A6AAC67B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162300" cy="638175"/>
          </a:xfrm>
          <a:prstGeom xmlns:a="http://schemas.openxmlformats.org/drawingml/2006/main" prst="roundRect">
            <a:avLst>
              <a:gd name="adj" fmla="val 1343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9" name="统一风格-源 ECS-244">
            <a:extLst xmlns:a="http://schemas.openxmlformats.org/drawingml/2006/main">
              <a:ext uri="{FF2B5EF4-FFF2-40B4-BE49-F238E27FC236}">
                <a16:creationId xmlns:a16="http://schemas.microsoft.com/office/drawing/2014/main" id="{2C1E5EB9-4D5E-48B0-8633-7CA20D2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162300" cy="638175"/>
          </a:xfrm>
          <a:prstGeom xmlns:a="http://schemas.openxmlformats.org/drawingml/2006/main" prst="roundRect">
            <a:avLst>
              <a:gd name="adj" fmla="val 1343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0" name="统一风格-源 ECS玻璃内沿-245">
            <a:extLst xmlns:a="http://schemas.openxmlformats.org/drawingml/2006/main">
              <a:ext uri="{FF2B5EF4-FFF2-40B4-BE49-F238E27FC236}">
                <a16:creationId xmlns:a16="http://schemas.microsoft.com/office/drawing/2014/main" id="{217388B2-D6D0-4B23-A25B-C76BF1B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3022759"/>
            <a:ext cx="3136583" cy="612458"/>
          </a:xfrm>
          <a:prstGeom xmlns:a="http://schemas.openxmlformats.org/drawingml/2006/main" prst="roundRect">
            <a:avLst>
              <a:gd name="adj" fmla="val 1197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1" name="统一风格-源 ECS边缘高光-246">
            <a:extLst xmlns:a="http://schemas.openxmlformats.org/drawingml/2006/main">
              <a:ext uri="{FF2B5EF4-FFF2-40B4-BE49-F238E27FC236}">
                <a16:creationId xmlns:a16="http://schemas.microsoft.com/office/drawing/2014/main" id="{60BF2D09-331A-4B22-8208-E2FC49C2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162300" cy="638175"/>
          </a:xfrm>
          <a:custGeom xmlns:a="http://schemas.openxmlformats.org/drawingml/2006/main">
            <a:pathLst>
              <a:path w="3162300" h="638175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2" name="统一风格-server 服务器机架-247">
            <a:extLst xmlns:a="http://schemas.openxmlformats.org/drawingml/2006/main">
              <a:ext uri="{FF2B5EF4-FFF2-40B4-BE49-F238E27FC236}">
                <a16:creationId xmlns:a16="http://schemas.microsoft.com/office/drawing/2014/main" id="{C68F6DA9-F64C-4321-8E0D-D869B2A3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3" name="统一风格-server 机架状态-248">
            <a:extLst xmlns:a="http://schemas.openxmlformats.org/drawingml/2006/main">
              <a:ext uri="{FF2B5EF4-FFF2-40B4-BE49-F238E27FC236}">
                <a16:creationId xmlns:a16="http://schemas.microsoft.com/office/drawing/2014/main" id="{810EEA6E-D21B-43A2-BD7F-C011289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4" name="统一风格-server 指示灯-249">
            <a:extLst xmlns:a="http://schemas.openxmlformats.org/drawingml/2006/main">
              <a:ext uri="{FF2B5EF4-FFF2-40B4-BE49-F238E27FC236}">
                <a16:creationId xmlns:a16="http://schemas.microsoft.com/office/drawing/2014/main" id="{BD99DE98-7299-479C-BF38-57C1E88A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5" name="统一风格-server 服务器机架-250">
            <a:extLst xmlns:a="http://schemas.openxmlformats.org/drawingml/2006/main">
              <a:ext uri="{FF2B5EF4-FFF2-40B4-BE49-F238E27FC236}">
                <a16:creationId xmlns:a16="http://schemas.microsoft.com/office/drawing/2014/main" id="{920F58F7-379F-4B5A-ADA5-E109F7E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6" name="统一风格-server 机架状态-251">
            <a:extLst xmlns:a="http://schemas.openxmlformats.org/drawingml/2006/main">
              <a:ext uri="{FF2B5EF4-FFF2-40B4-BE49-F238E27FC236}">
                <a16:creationId xmlns:a16="http://schemas.microsoft.com/office/drawing/2014/main" id="{8CD60119-5C2C-4B10-A769-D6E8533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7" name="统一风格-server 指示灯-252">
            <a:extLst xmlns:a="http://schemas.openxmlformats.org/drawingml/2006/main">
              <a:ext uri="{FF2B5EF4-FFF2-40B4-BE49-F238E27FC236}">
                <a16:creationId xmlns:a16="http://schemas.microsoft.com/office/drawing/2014/main" id="{0B891793-C5C5-4C44-97DB-7C8AF01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" name="统一风格-server 服务器机架-253">
            <a:extLst xmlns:a="http://schemas.openxmlformats.org/drawingml/2006/main">
              <a:ext uri="{FF2B5EF4-FFF2-40B4-BE49-F238E27FC236}">
                <a16:creationId xmlns:a16="http://schemas.microsoft.com/office/drawing/2014/main" id="{2D377068-B2B7-46D3-92C9-514CB07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39" name="统一风格-server 机架状态-254">
            <a:extLst xmlns:a="http://schemas.openxmlformats.org/drawingml/2006/main">
              <a:ext uri="{FF2B5EF4-FFF2-40B4-BE49-F238E27FC236}">
                <a16:creationId xmlns:a16="http://schemas.microsoft.com/office/drawing/2014/main" id="{D01CFD8B-5283-48F5-A348-6DBCA9AC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0" name="统一风格-server 指示灯-255">
            <a:extLst xmlns:a="http://schemas.openxmlformats.org/drawingml/2006/main">
              <a:ext uri="{FF2B5EF4-FFF2-40B4-BE49-F238E27FC236}">
                <a16:creationId xmlns:a16="http://schemas.microsoft.com/office/drawing/2014/main" id="{DACD32C7-5F5C-4C3D-8581-FAF8DA9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19438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" name="统一风格-文字 源 ECS-256">
            <a:extLst xmlns:a="http://schemas.openxmlformats.org/drawingml/2006/main">
              <a:ext uri="{FF2B5EF4-FFF2-40B4-BE49-F238E27FC236}">
                <a16:creationId xmlns:a16="http://schemas.microsoft.com/office/drawing/2014/main" id="{252BAF6E-F9A7-4AE2-A602-C8CE4712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67050"/>
            <a:ext cx="2295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ECS</a:t>
            </a:r>
          </a:p>
        </p:txBody>
      </p:sp>
      <p:sp>
        <p:nvSpPr>
          <p:cNvPr id="42" name="统一风格-文字 10.60.1.20-257">
            <a:extLst xmlns:a="http://schemas.openxmlformats.org/drawingml/2006/main">
              <a:ext uri="{FF2B5EF4-FFF2-40B4-BE49-F238E27FC236}">
                <a16:creationId xmlns:a16="http://schemas.microsoft.com/office/drawing/2014/main" id="{242DB2E7-EDBD-424B-9579-A378F8BE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62325"/>
            <a:ext cx="2295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10.60.1.20</a:t>
            </a:r>
          </a:p>
        </p:txBody>
      </p:sp>
      <p:sp>
        <p:nvSpPr>
          <p:cNvPr id="43" name="统一风格-私网 NAT玻璃后沿-258">
            <a:extLst xmlns:a="http://schemas.openxmlformats.org/drawingml/2006/main">
              <a:ext uri="{FF2B5EF4-FFF2-40B4-BE49-F238E27FC236}">
                <a16:creationId xmlns:a16="http://schemas.microsoft.com/office/drawing/2014/main" id="{2C98DC39-053F-4C6E-81F7-46EE8B4F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1623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4" name="统一风格-私网 NAT-259">
            <a:extLst xmlns:a="http://schemas.openxmlformats.org/drawingml/2006/main">
              <a:ext uri="{FF2B5EF4-FFF2-40B4-BE49-F238E27FC236}">
                <a16:creationId xmlns:a16="http://schemas.microsoft.com/office/drawing/2014/main" id="{E9895F8A-F361-45BA-BDD9-6EDC5CD5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1623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5" name="统一风格-私网 NAT玻璃内沿-260">
            <a:extLst xmlns:a="http://schemas.openxmlformats.org/drawingml/2006/main">
              <a:ext uri="{FF2B5EF4-FFF2-40B4-BE49-F238E27FC236}">
                <a16:creationId xmlns:a16="http://schemas.microsoft.com/office/drawing/2014/main" id="{27BC46B0-454A-464B-8A2F-4C539DF0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9" y="3841909"/>
            <a:ext cx="3136583" cy="583883"/>
          </a:xfrm>
          <a:prstGeom xmlns:a="http://schemas.openxmlformats.org/drawingml/2006/main" prst="roundRect">
            <a:avLst>
              <a:gd name="adj" fmla="val 1256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6" name="统一风格-私网 NAT边缘高光-261">
            <a:extLst xmlns:a="http://schemas.openxmlformats.org/drawingml/2006/main">
              <a:ext uri="{FF2B5EF4-FFF2-40B4-BE49-F238E27FC236}">
                <a16:creationId xmlns:a16="http://schemas.microsoft.com/office/drawing/2014/main" id="{2931F6A9-7B8C-429B-B6C5-0EDEE85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162300" cy="609600"/>
          </a:xfrm>
          <a:custGeom xmlns:a="http://schemas.openxmlformats.org/drawingml/2006/main">
            <a:pathLst>
              <a:path w="3162300" h="6096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7" name="统一风格-nat NAT 网关-262">
            <a:extLst xmlns:a="http://schemas.openxmlformats.org/drawingml/2006/main">
              <a:ext uri="{FF2B5EF4-FFF2-40B4-BE49-F238E27FC236}">
                <a16:creationId xmlns:a16="http://schemas.microsoft.com/office/drawing/2014/main" id="{E02F0B45-FFA8-4E43-9494-1978781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24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8" name="统一风格-nat 地址转换-263">
            <a:extLst xmlns:a="http://schemas.openxmlformats.org/drawingml/2006/main">
              <a:ext uri="{FF2B5EF4-FFF2-40B4-BE49-F238E27FC236}">
                <a16:creationId xmlns:a16="http://schemas.microsoft.com/office/drawing/2014/main" id="{4DAC8969-57EA-4B28-9044-442BAAEF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24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49" name="统一风格-文字 私网 NAT-264">
            <a:extLst xmlns:a="http://schemas.openxmlformats.org/drawingml/2006/main">
              <a:ext uri="{FF2B5EF4-FFF2-40B4-BE49-F238E27FC236}">
                <a16:creationId xmlns:a16="http://schemas.microsoft.com/office/drawing/2014/main" id="{E7E6ABAD-D3A5-4DDE-A268-11030F4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86200"/>
            <a:ext cx="2295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50" name="统一风格-文字 SNAT 统一源 IP-265">
            <a:extLst xmlns:a="http://schemas.openxmlformats.org/drawingml/2006/main">
              <a:ext uri="{FF2B5EF4-FFF2-40B4-BE49-F238E27FC236}">
                <a16:creationId xmlns:a16="http://schemas.microsoft.com/office/drawing/2014/main" id="{FFF115BE-F6BC-4DBF-915E-F7D3DE6E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81475"/>
            <a:ext cx="2295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统一源 IP</a:t>
            </a:r>
          </a:p>
        </p:txBody>
      </p:sp>
      <p:sp>
        <p:nvSpPr>
          <p:cNvPr id="51" name="统一风格-中转 IP玻璃后沿-266">
            <a:extLst xmlns:a="http://schemas.openxmlformats.org/drawingml/2006/main">
              <a:ext uri="{FF2B5EF4-FFF2-40B4-BE49-F238E27FC236}">
                <a16:creationId xmlns:a16="http://schemas.microsoft.com/office/drawing/2014/main" id="{9A6F0B11-4AE2-4B03-86CC-B8227228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19425"/>
            <a:ext cx="2876550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2" name="统一风格-中转 IP-267">
            <a:extLst xmlns:a="http://schemas.openxmlformats.org/drawingml/2006/main">
              <a:ext uri="{FF2B5EF4-FFF2-40B4-BE49-F238E27FC236}">
                <a16:creationId xmlns:a16="http://schemas.microsoft.com/office/drawing/2014/main" id="{54C42362-2DCC-42A2-91DF-E23F67DE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19425"/>
            <a:ext cx="2876550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3" name="统一风格-中转 IP玻璃内沿-268">
            <a:extLst xmlns:a="http://schemas.openxmlformats.org/drawingml/2006/main">
              <a:ext uri="{FF2B5EF4-FFF2-40B4-BE49-F238E27FC236}">
                <a16:creationId xmlns:a16="http://schemas.microsoft.com/office/drawing/2014/main" id="{52E04C31-D9D4-47BF-B400-DD9A264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84" y="3032284"/>
            <a:ext cx="2850833" cy="698183"/>
          </a:xfrm>
          <a:prstGeom xmlns:a="http://schemas.openxmlformats.org/drawingml/2006/main" prst="roundRect">
            <a:avLst>
              <a:gd name="adj" fmla="val 1050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4" name="统一风格-中转 IP边缘高光-269">
            <a:extLst xmlns:a="http://schemas.openxmlformats.org/drawingml/2006/main">
              <a:ext uri="{FF2B5EF4-FFF2-40B4-BE49-F238E27FC236}">
                <a16:creationId xmlns:a16="http://schemas.microsoft.com/office/drawing/2014/main" id="{BD085D79-506F-4BD0-8535-920E8CC0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19425"/>
            <a:ext cx="2876550" cy="723900"/>
          </a:xfrm>
          <a:custGeom xmlns:a="http://schemas.openxmlformats.org/drawingml/2006/main">
            <a:pathLst>
              <a:path w="2876550" h="723900">
                <a:moveTo>
                  <a:pt x="95250" y="9525"/>
                </a:moveTo>
                <a:lnTo>
                  <a:pt x="2781300" y="9525"/>
                </a:lnTo>
                <a:cubicBezTo>
                  <a:pt x="2828925" y="9525"/>
                  <a:pt x="2867025" y="47625"/>
                  <a:pt x="28670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5" name="统一风格-nat NAT 网关-270">
            <a:extLst xmlns:a="http://schemas.openxmlformats.org/drawingml/2006/main">
              <a:ext uri="{FF2B5EF4-FFF2-40B4-BE49-F238E27FC236}">
                <a16:creationId xmlns:a16="http://schemas.microsoft.com/office/drawing/2014/main" id="{C3E8FA4B-88DD-48A7-A4FD-3AD11F5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6" name="统一风格-nat 地址转换-271">
            <a:extLst xmlns:a="http://schemas.openxmlformats.org/drawingml/2006/main">
              <a:ext uri="{FF2B5EF4-FFF2-40B4-BE49-F238E27FC236}">
                <a16:creationId xmlns:a16="http://schemas.microsoft.com/office/drawing/2014/main" id="{EEED78C4-8FE4-4BC2-B5F2-AF051E5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57" name="统一风格-文字 中转 IP-272">
            <a:extLst xmlns:a="http://schemas.openxmlformats.org/drawingml/2006/main">
              <a:ext uri="{FF2B5EF4-FFF2-40B4-BE49-F238E27FC236}">
                <a16:creationId xmlns:a16="http://schemas.microsoft.com/office/drawing/2014/main" id="{5CDD0B30-62A4-448B-BDDF-47EBC66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76575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58" name="统一风格-文字 10.61.0.10-273">
            <a:extLst xmlns:a="http://schemas.openxmlformats.org/drawingml/2006/main">
              <a:ext uri="{FF2B5EF4-FFF2-40B4-BE49-F238E27FC236}">
                <a16:creationId xmlns:a16="http://schemas.microsoft.com/office/drawing/2014/main" id="{24FE0934-66E9-4998-8394-2AAE11BA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009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10.61.0.10</a:t>
            </a:r>
          </a:p>
        </p:txBody>
      </p:sp>
      <p:sp>
        <p:nvSpPr>
          <p:cNvPr id="59" name="统一风格-目标服务玻璃后沿-274">
            <a:extLst xmlns:a="http://schemas.openxmlformats.org/drawingml/2006/main">
              <a:ext uri="{FF2B5EF4-FFF2-40B4-BE49-F238E27FC236}">
                <a16:creationId xmlns:a16="http://schemas.microsoft.com/office/drawing/2014/main" id="{9DF11952-E040-4D94-AF3B-41D84ACE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162300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0" name="统一风格-目标服务-275">
            <a:extLst xmlns:a="http://schemas.openxmlformats.org/drawingml/2006/main">
              <a:ext uri="{FF2B5EF4-FFF2-40B4-BE49-F238E27FC236}">
                <a16:creationId xmlns:a16="http://schemas.microsoft.com/office/drawing/2014/main" id="{A78E1F9D-D42C-4908-A761-5FFDA7B9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162300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1" name="统一风格-目标服务玻璃内沿-276">
            <a:extLst xmlns:a="http://schemas.openxmlformats.org/drawingml/2006/main">
              <a:ext uri="{FF2B5EF4-FFF2-40B4-BE49-F238E27FC236}">
                <a16:creationId xmlns:a16="http://schemas.microsoft.com/office/drawing/2014/main" id="{09157CD6-F3C6-4FCE-A959-B2A5E5A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459" y="3022759"/>
            <a:ext cx="3136583" cy="698183"/>
          </a:xfrm>
          <a:prstGeom xmlns:a="http://schemas.openxmlformats.org/drawingml/2006/main" prst="roundRect">
            <a:avLst>
              <a:gd name="adj" fmla="val 1050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2" name="统一风格-目标服务边缘高光-277">
            <a:extLst xmlns:a="http://schemas.openxmlformats.org/drawingml/2006/main">
              <a:ext uri="{FF2B5EF4-FFF2-40B4-BE49-F238E27FC236}">
                <a16:creationId xmlns:a16="http://schemas.microsoft.com/office/drawing/2014/main" id="{1DFB06BC-0FCD-41ED-B4F5-F98CC2A4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162300" cy="723900"/>
          </a:xfrm>
          <a:custGeom xmlns:a="http://schemas.openxmlformats.org/drawingml/2006/main">
            <a:pathLst>
              <a:path w="3162300" h="7239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3" name="统一风格-server 服务器机架-278">
            <a:extLst xmlns:a="http://schemas.openxmlformats.org/drawingml/2006/main">
              <a:ext uri="{FF2B5EF4-FFF2-40B4-BE49-F238E27FC236}">
                <a16:creationId xmlns:a16="http://schemas.microsoft.com/office/drawing/2014/main" id="{CD8DB568-12E5-4E2E-9091-6B5943A5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4" name="统一风格-server 机架状态-279">
            <a:extLst xmlns:a="http://schemas.openxmlformats.org/drawingml/2006/main">
              <a:ext uri="{FF2B5EF4-FFF2-40B4-BE49-F238E27FC236}">
                <a16:creationId xmlns:a16="http://schemas.microsoft.com/office/drawing/2014/main" id="{F7088662-E2C7-4C64-B2D8-B6DED58A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5" name="统一风格-server 指示灯-280">
            <a:extLst xmlns:a="http://schemas.openxmlformats.org/drawingml/2006/main">
              <a:ext uri="{FF2B5EF4-FFF2-40B4-BE49-F238E27FC236}">
                <a16:creationId xmlns:a16="http://schemas.microsoft.com/office/drawing/2014/main" id="{7B8989CB-7ABB-4C43-A2F1-4B695B08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6" name="统一风格-server 服务器机架-281">
            <a:extLst xmlns:a="http://schemas.openxmlformats.org/drawingml/2006/main">
              <a:ext uri="{FF2B5EF4-FFF2-40B4-BE49-F238E27FC236}">
                <a16:creationId xmlns:a16="http://schemas.microsoft.com/office/drawing/2014/main" id="{F918A2C3-18F6-4E2A-AB08-0DB779A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7" name="统一风格-server 机架状态-282">
            <a:extLst xmlns:a="http://schemas.openxmlformats.org/drawingml/2006/main">
              <a:ext uri="{FF2B5EF4-FFF2-40B4-BE49-F238E27FC236}">
                <a16:creationId xmlns:a16="http://schemas.microsoft.com/office/drawing/2014/main" id="{563EA57E-B539-40EC-B370-642BB40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68" name="统一风格-server 指示灯-283">
            <a:extLst xmlns:a="http://schemas.openxmlformats.org/drawingml/2006/main">
              <a:ext uri="{FF2B5EF4-FFF2-40B4-BE49-F238E27FC236}">
                <a16:creationId xmlns:a16="http://schemas.microsoft.com/office/drawing/2014/main" id="{9EF34435-FF10-437C-839A-F740C20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69" name="统一风格-server 服务器机架-284">
            <a:extLst xmlns:a="http://schemas.openxmlformats.org/drawingml/2006/main">
              <a:ext uri="{FF2B5EF4-FFF2-40B4-BE49-F238E27FC236}">
                <a16:creationId xmlns:a16="http://schemas.microsoft.com/office/drawing/2014/main" id="{3A2A38C2-299B-42DB-AF3E-8C312CD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70" name="统一风格-server 机架状态-285">
            <a:extLst xmlns:a="http://schemas.openxmlformats.org/drawingml/2006/main">
              <a:ext uri="{FF2B5EF4-FFF2-40B4-BE49-F238E27FC236}">
                <a16:creationId xmlns:a16="http://schemas.microsoft.com/office/drawing/2014/main" id="{BE141F34-46BB-4CA0-8093-D16D163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6686" cap="rnd">
            <a:solidFill>
              <a:srgbClr val="2053C3"/>
            </a:solidFill>
            <a:round/>
          </a:ln>
        </p:spPr>
      </p:sp>
      <p:sp>
        <p:nvSpPr>
          <p:cNvPr id="71" name="统一风格-server 指示灯-286">
            <a:extLst xmlns:a="http://schemas.openxmlformats.org/drawingml/2006/main">
              <a:ext uri="{FF2B5EF4-FFF2-40B4-BE49-F238E27FC236}">
                <a16:creationId xmlns:a16="http://schemas.microsoft.com/office/drawing/2014/main" id="{67FCA699-32B3-4FA1-BCDB-ABA269F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419100" cy="4191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72" name="统一风格-文字 目标服务-287">
            <a:extLst xmlns:a="http://schemas.openxmlformats.org/drawingml/2006/main">
              <a:ext uri="{FF2B5EF4-FFF2-40B4-BE49-F238E27FC236}">
                <a16:creationId xmlns:a16="http://schemas.microsoft.com/office/drawing/2014/main" id="{42A79AD9-2727-4E62-9338-1A98F36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67050"/>
            <a:ext cx="2295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3" name="统一风格-文字 10.62.1.10:443-288">
            <a:extLst xmlns:a="http://schemas.openxmlformats.org/drawingml/2006/main">
              <a:ext uri="{FF2B5EF4-FFF2-40B4-BE49-F238E27FC236}">
                <a16:creationId xmlns:a16="http://schemas.microsoft.com/office/drawing/2014/main" id="{0570A03C-8DC6-49BC-8B79-D3023C7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62325"/>
            <a:ext cx="2295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10.62.1.10:443</a:t>
            </a:r>
          </a:p>
        </p:txBody>
      </p:sp>
      <p:sp>
        <p:nvSpPr>
          <p:cNvPr id="74" name="统一风格-文字 由中转 VPC 的 对等连接到远端-289">
            <a:extLst xmlns:a="http://schemas.openxmlformats.org/drawingml/2006/main">
              <a:ext uri="{FF2B5EF4-FFF2-40B4-BE49-F238E27FC236}">
                <a16:creationId xmlns:a16="http://schemas.microsoft.com/office/drawing/2014/main" id="{43C2AB7A-114A-410E-BBF0-82DEE53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90975"/>
            <a:ext cx="2876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由中转 VPC 的</a:t>
            </a:r>
          </a:p>
          <a:p xmlns:a="http://schemas.openxmlformats.org/drawingml/2006/main"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对等连接到远端</a:t>
            </a:r>
          </a:p>
        </p:txBody>
      </p:sp>
      <p:cxnSp>
        <p:nvCxnSpPr>
          <p:cNvPr id="75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116A9CAA-93A6-4ED9-8871-0F320E2AC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36480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76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7F92EA58-DEF4-4E74-9A82-32498CB07D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2400" y="4133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77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7ADF3642-3A49-43CF-923B-03E224E0A24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305300" y="338137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78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E3D1EA51-D2FC-4C7E-B1EC-A77A5CD8EA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05300" y="33813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79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5B7417DC-3D9C-46DF-908F-5395A598A4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34275" y="33813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80" name="统一风格-文字 Peering-290">
            <a:extLst xmlns:a="http://schemas.openxmlformats.org/drawingml/2006/main">
              <a:ext uri="{FF2B5EF4-FFF2-40B4-BE49-F238E27FC236}">
                <a16:creationId xmlns:a16="http://schemas.microsoft.com/office/drawing/2014/main" id="{636A542F-1046-4F11-9BB9-F2395A82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4650"/>
            <a:ext cx="752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Peering</a:t>
            </a:r>
          </a:p>
        </p:txBody>
      </p:sp>
      <p:sp>
        <p:nvSpPr>
          <p:cNvPr id="81" name="统一风格-转换前：源业务地址玻璃后沿-291">
            <a:extLst xmlns:a="http://schemas.openxmlformats.org/drawingml/2006/main">
              <a:ext uri="{FF2B5EF4-FFF2-40B4-BE49-F238E27FC236}">
                <a16:creationId xmlns:a16="http://schemas.microsoft.com/office/drawing/2014/main" id="{256B176D-5D5A-442E-A72A-B861A156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57800" cy="1009650"/>
          </a:xfrm>
          <a:prstGeom xmlns:a="http://schemas.openxmlformats.org/drawingml/2006/main" prst="roundRect">
            <a:avLst>
              <a:gd name="adj" fmla="val 849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2" name="统一风格-转换前：源业务地址-292">
            <a:extLst xmlns:a="http://schemas.openxmlformats.org/drawingml/2006/main">
              <a:ext uri="{FF2B5EF4-FFF2-40B4-BE49-F238E27FC236}">
                <a16:creationId xmlns:a16="http://schemas.microsoft.com/office/drawing/2014/main" id="{6EC088B7-9134-4576-8849-DC20684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57800" cy="1009650"/>
          </a:xfrm>
          <a:prstGeom xmlns:a="http://schemas.openxmlformats.org/drawingml/2006/main" prst="roundRect">
            <a:avLst>
              <a:gd name="adj" fmla="val 849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3" name="统一风格-转换前：源业务地址玻璃内沿-293">
            <a:extLst xmlns:a="http://schemas.openxmlformats.org/drawingml/2006/main">
              <a:ext uri="{FF2B5EF4-FFF2-40B4-BE49-F238E27FC236}">
                <a16:creationId xmlns:a16="http://schemas.microsoft.com/office/drawing/2014/main" id="{22236232-EF89-4CA9-BAC0-485516B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889659"/>
            <a:ext cx="5232083" cy="983933"/>
          </a:xfrm>
          <a:prstGeom xmlns:a="http://schemas.openxmlformats.org/drawingml/2006/main" prst="roundRect">
            <a:avLst>
              <a:gd name="adj" fmla="val 745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84" name="统一风格-转换前：源业务地址边缘高光-294">
            <a:extLst xmlns:a="http://schemas.openxmlformats.org/drawingml/2006/main">
              <a:ext uri="{FF2B5EF4-FFF2-40B4-BE49-F238E27FC236}">
                <a16:creationId xmlns:a16="http://schemas.microsoft.com/office/drawing/2014/main" id="{84BCB34B-C836-46BC-8441-EE4DD5C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57800" cy="1009650"/>
          </a:xfrm>
          <a:custGeom xmlns:a="http://schemas.openxmlformats.org/drawingml/2006/main"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5" name="统一风格-文字 转换前：源业务地址-295">
            <a:extLst xmlns:a="http://schemas.openxmlformats.org/drawingml/2006/main">
              <a:ext uri="{FF2B5EF4-FFF2-40B4-BE49-F238E27FC236}">
                <a16:creationId xmlns:a16="http://schemas.microsoft.com/office/drawing/2014/main" id="{4D7630CE-11FA-49D5-B9D0-3CAECA1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转换前：源业务地址</a:t>
            </a:r>
          </a:p>
        </p:txBody>
      </p:sp>
      <p:sp>
        <p:nvSpPr>
          <p:cNvPr id="86" name="统一风格-文字 10.60.1.20 访问 10.62.1.10:443-296">
            <a:extLst xmlns:a="http://schemas.openxmlformats.org/drawingml/2006/main">
              <a:ext uri="{FF2B5EF4-FFF2-40B4-BE49-F238E27FC236}">
                <a16:creationId xmlns:a16="http://schemas.microsoft.com/office/drawing/2014/main" id="{485DC64A-F158-4FA0-9B46-646FC4B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10.60.1.20 访问 10.62.1.10:443</a:t>
            </a:r>
          </a:p>
        </p:txBody>
      </p:sp>
      <p:sp>
        <p:nvSpPr>
          <p:cNvPr id="87" name="统一风格-转换后：远端可见源玻璃后沿-297">
            <a:extLst xmlns:a="http://schemas.openxmlformats.org/drawingml/2006/main">
              <a:ext uri="{FF2B5EF4-FFF2-40B4-BE49-F238E27FC236}">
                <a16:creationId xmlns:a16="http://schemas.microsoft.com/office/drawing/2014/main" id="{B4D5EB95-0173-4A3F-997C-1C7B6C10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5257800" cy="1009650"/>
          </a:xfrm>
          <a:prstGeom xmlns:a="http://schemas.openxmlformats.org/drawingml/2006/main" prst="roundRect">
            <a:avLst>
              <a:gd name="adj" fmla="val 849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8" name="统一风格-转换后：远端可见源-298">
            <a:extLst xmlns:a="http://schemas.openxmlformats.org/drawingml/2006/main">
              <a:ext uri="{FF2B5EF4-FFF2-40B4-BE49-F238E27FC236}">
                <a16:creationId xmlns:a16="http://schemas.microsoft.com/office/drawing/2014/main" id="{F679B8C4-9885-44C8-8227-4630809F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5257800" cy="1009650"/>
          </a:xfrm>
          <a:prstGeom xmlns:a="http://schemas.openxmlformats.org/drawingml/2006/main" prst="roundRect">
            <a:avLst>
              <a:gd name="adj" fmla="val 849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89" name="统一风格-转换后：远端可见源玻璃内沿-299">
            <a:extLst xmlns:a="http://schemas.openxmlformats.org/drawingml/2006/main">
              <a:ext uri="{FF2B5EF4-FFF2-40B4-BE49-F238E27FC236}">
                <a16:creationId xmlns:a16="http://schemas.microsoft.com/office/drawing/2014/main" id="{1C38A566-1DBB-4524-97B7-B7B19234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4889659"/>
            <a:ext cx="5232083" cy="983933"/>
          </a:xfrm>
          <a:prstGeom xmlns:a="http://schemas.openxmlformats.org/drawingml/2006/main" prst="roundRect">
            <a:avLst>
              <a:gd name="adj" fmla="val 745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0" name="统一风格-转换后：远端可见源边缘高光-300">
            <a:extLst xmlns:a="http://schemas.openxmlformats.org/drawingml/2006/main">
              <a:ext uri="{FF2B5EF4-FFF2-40B4-BE49-F238E27FC236}">
                <a16:creationId xmlns:a16="http://schemas.microsoft.com/office/drawing/2014/main" id="{27A90297-9E5F-42C2-8885-9E36F45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5257800" cy="1009650"/>
          </a:xfrm>
          <a:custGeom xmlns:a="http://schemas.openxmlformats.org/drawingml/2006/main"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1" name="统一风格-文字 转换后：远端可见源-301">
            <a:extLst xmlns:a="http://schemas.openxmlformats.org/drawingml/2006/main">
              <a:ext uri="{FF2B5EF4-FFF2-40B4-BE49-F238E27FC236}">
                <a16:creationId xmlns:a16="http://schemas.microsoft.com/office/drawing/2014/main" id="{06FD3942-AD53-4F09-9729-6A9E1F23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00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转换后：远端可见源</a:t>
            </a:r>
          </a:p>
        </p:txBody>
      </p:sp>
      <p:sp>
        <p:nvSpPr>
          <p:cNvPr id="92" name="统一风格-文字 10.61.0.10 访问 10.62.1.10:443-302">
            <a:extLst xmlns:a="http://schemas.openxmlformats.org/drawingml/2006/main">
              <a:ext uri="{FF2B5EF4-FFF2-40B4-BE49-F238E27FC236}">
                <a16:creationId xmlns:a16="http://schemas.microsoft.com/office/drawing/2014/main" id="{AA988CDE-5DA5-4576-AAC5-BA1EF59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625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10.61.0.10 访问 10.62.1.10:443</a:t>
            </a:r>
          </a:p>
        </p:txBody>
      </p:sp>
    </p:spTree>
    <p:extLst>
      <p:ext uri="{BB962C8B-B14F-4D97-AF65-F5344CB8AC3E}">
        <p14:creationId xmlns:p14="http://schemas.microsoft.com/office/powerpoint/2010/main" val="88570391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统一风格-文字 02  网络互联方案-303">
            <a:extLst xmlns:a="http://schemas.openxmlformats.org/drawingml/2006/main">
              <a:ext uri="{FF2B5EF4-FFF2-40B4-BE49-F238E27FC236}">
                <a16:creationId xmlns:a16="http://schemas.microsoft.com/office/drawing/2014/main" id="{3DC27CD5-2796-40E4-95FA-1DD2A9F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私网 NAT：路由、安全与访问验收-304">
            <a:extLst xmlns:a="http://schemas.openxmlformats.org/drawingml/2006/main">
              <a:ext uri="{FF2B5EF4-FFF2-40B4-BE49-F238E27FC236}">
                <a16:creationId xmlns:a16="http://schemas.microsoft.com/office/drawing/2014/main" id="{2DEC403C-B9EF-4C1A-8676-285DC91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NAT：路由、安全与访问验收</a:t>
            </a:r>
          </a:p>
        </p:txBody>
      </p:sp>
      <p:sp>
        <p:nvSpPr>
          <p:cNvPr id="3" name="统一风格-文字 SNAT 中转组网逐段查路由，DNAT ELB 按服务映射与监听配置验收-305">
            <a:extLst xmlns:a="http://schemas.openxmlformats.org/drawingml/2006/main">
              <a:ext uri="{FF2B5EF4-FFF2-40B4-BE49-F238E27FC236}">
                <a16:creationId xmlns:a16="http://schemas.microsoft.com/office/drawing/2014/main" id="{A71C4EC1-04BD-4C49-864B-C5C50BE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中转组网逐段查路由，DNAT ELB 按服务映射与监听配置验收</a:t>
            </a:r>
          </a:p>
        </p:txBody>
      </p:sp>
      <p:sp>
        <p:nvSpPr>
          <p:cNvPr id="4" name="统一风格-页脚分隔线-306">
            <a:extLst xmlns:a="http://schemas.openxmlformats.org/drawingml/2006/main">
              <a:ext uri="{FF2B5EF4-FFF2-40B4-BE49-F238E27FC236}">
                <a16:creationId xmlns:a16="http://schemas.microsoft.com/office/drawing/2014/main" id="{6E26A480-077F-4013-A086-35E36963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NAT 地址转换与安全授权分别配置。CFW 是否检查此流量，应以实际路径、转换地址及对应日志证明。-307">
            <a:extLst xmlns:a="http://schemas.openxmlformats.org/drawingml/2006/main">
              <a:ext uri="{FF2B5EF4-FFF2-40B4-BE49-F238E27FC236}">
                <a16:creationId xmlns:a16="http://schemas.microsoft.com/office/drawing/2014/main" id="{BA39F41D-A815-464C-8FD7-BF19345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NAT 地址转换与安全授权分别配置。CFW 是否检查此流量，应以实际路径、转换地址及对应日志证明。</a:t>
            </a:r>
          </a:p>
        </p:txBody>
      </p:sp>
      <p:sp>
        <p:nvSpPr>
          <p:cNvPr id="6" name="统一风格-文字 27-308">
            <a:extLst xmlns:a="http://schemas.openxmlformats.org/drawingml/2006/main">
              <a:ext uri="{FF2B5EF4-FFF2-40B4-BE49-F238E27FC236}">
                <a16:creationId xmlns:a16="http://schemas.microsoft.com/office/drawing/2014/main" id="{CC2113C8-1BED-4792-8A78-D67F108D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r">
              <ns0:def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647B9C"/>
                </ns0:solidFill>
                <ns0:latin typeface="Microsoft YaHei"/>
                <ns0:ea typeface="Microsoft YaHei"/>
                <ns0:cs typeface="Microsoft YaHei"/>
              </ns0:rPr>
              <ns0:t>29</ns0:t>
            </ns0:r>
          </ns0:p>
        </p:txBody>
      </p:sp>
      <p:sp>
        <p:nvSpPr>
          <p:cNvPr id="7" name="统一风格-可编辑配置表玻璃后沿-309">
            <a:extLst xmlns:a="http://schemas.openxmlformats.org/drawingml/2006/main">
              <a:ext uri="{FF2B5EF4-FFF2-40B4-BE49-F238E27FC236}">
                <a16:creationId xmlns:a16="http://schemas.microsoft.com/office/drawing/2014/main" id="{C26D840A-88FE-4224-9002-AC917F6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09850"/>
          </a:xfrm>
          <a:prstGeom xmlns:a="http://schemas.openxmlformats.org/drawingml/2006/main" prst="roundRect">
            <a:avLst>
              <a:gd name="adj" fmla="val 3285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10">
            <a:extLst xmlns:a="http://schemas.openxmlformats.org/drawingml/2006/main">
              <a:ext uri="{FF2B5EF4-FFF2-40B4-BE49-F238E27FC236}">
                <a16:creationId xmlns:a16="http://schemas.microsoft.com/office/drawing/2014/main" id="{5BCADD9A-D6CF-4B50-A342-18ACA5B6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09850"/>
          </a:xfrm>
          <a:prstGeom xmlns:a="http://schemas.openxmlformats.org/drawingml/2006/main" prst="roundRect">
            <a:avLst>
              <a:gd name="adj" fmla="val 3285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11">
            <a:extLst xmlns:a="http://schemas.openxmlformats.org/drawingml/2006/main">
              <a:ext uri="{FF2B5EF4-FFF2-40B4-BE49-F238E27FC236}">
                <a16:creationId xmlns:a16="http://schemas.microsoft.com/office/drawing/2014/main" id="{AE51828C-F56E-4496-B4FB-D24E44E7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2584133"/>
          </a:xfrm>
          <a:prstGeom xmlns:a="http://schemas.openxmlformats.org/drawingml/2006/main" prst="roundRect">
            <a:avLst>
              <a:gd name="adj" fmla="val 283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12">
            <a:extLst xmlns:a="http://schemas.openxmlformats.org/drawingml/2006/main">
              <a:ext uri="{FF2B5EF4-FFF2-40B4-BE49-F238E27FC236}">
                <a16:creationId xmlns:a16="http://schemas.microsoft.com/office/drawing/2014/main" id="{2DD47BF1-B0B8-4080-89CE-7C76A81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2609850"/>
          </a:xfrm>
          <a:custGeom xmlns:a="http://schemas.openxmlformats.org/drawingml/2006/main">
            <a:pathLst>
              <a:path w="11106150" h="26098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60752-D751-4C58-93BA-0EAF0501BAE8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075"/>
                <a:gridCol w="8086725"/>
              </a:tblGrid>
              <a:tr h="40005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检查对象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示例配置或验证重点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VPC-A 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10.62.0.0/16，下一跳私网 NAT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VPC-T 路由表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10.62.0.0/16，下一跳对等连接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 VPC-B 回程路由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10.61.0.10/32，下一跳同一对等连接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安全策略与应用监听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源端允许批准访问，远端按转换后的源 IP 放行 443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4152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正反验证与审计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批准的 443 成功，未批准端口拒绝，记录转换地址与日志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统一风格-DNAT ELB 验收玻璃后沿-313">
            <a:extLst xmlns:a="http://schemas.openxmlformats.org/drawingml/2006/main">
              <a:ext uri="{FF2B5EF4-FFF2-40B4-BE49-F238E27FC236}">
                <a16:creationId xmlns:a16="http://schemas.microsoft.com/office/drawing/2014/main" id="{C08BC45F-6A39-4690-84E7-903FCC8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2578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" name="统一风格-DNAT ELB 验收-314">
            <a:extLst xmlns:a="http://schemas.openxmlformats.org/drawingml/2006/main">
              <a:ext uri="{FF2B5EF4-FFF2-40B4-BE49-F238E27FC236}">
                <a16:creationId xmlns:a16="http://schemas.microsoft.com/office/drawing/2014/main" id="{057F2BB7-04AA-45E1-9CA2-7F17B01B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2578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DNAT ELB 验收玻璃内沿-315">
            <a:extLst xmlns:a="http://schemas.openxmlformats.org/drawingml/2006/main">
              <a:ext uri="{FF2B5EF4-FFF2-40B4-BE49-F238E27FC236}">
                <a16:creationId xmlns:a16="http://schemas.microsoft.com/office/drawing/2014/main" id="{5429C3C8-2A8E-4937-9154-286F83EB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880134"/>
            <a:ext cx="5232083" cy="993458"/>
          </a:xfrm>
          <a:prstGeom xmlns:a="http://schemas.openxmlformats.org/drawingml/2006/main" prst="roundRect">
            <a:avLst>
              <a:gd name="adj" fmla="val 73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DNAT ELB 验收边缘高光-316">
            <a:extLst xmlns:a="http://schemas.openxmlformats.org/drawingml/2006/main">
              <a:ext uri="{FF2B5EF4-FFF2-40B4-BE49-F238E27FC236}">
                <a16:creationId xmlns:a16="http://schemas.microsoft.com/office/drawing/2014/main" id="{F92CD770-F119-403B-9136-FBC1C06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257800" cy="1019175"/>
          </a:xfrm>
          <a:custGeom xmlns:a="http://schemas.openxmlformats.org/drawingml/2006/main"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" name="统一风格-文字 DNAT ELB 验收-317">
            <a:extLst xmlns:a="http://schemas.openxmlformats.org/drawingml/2006/main">
              <a:ext uri="{FF2B5EF4-FFF2-40B4-BE49-F238E27FC236}">
                <a16:creationId xmlns:a16="http://schemas.microsoft.com/office/drawing/2014/main" id="{91C63790-C00A-4EAF-84E1-C5272DF1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91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ELB 验收</a:t>
            </a:r>
          </a:p>
        </p:txBody>
      </p:sp>
      <p:sp>
        <p:nvSpPr>
          <p:cNvPr id="17" name="统一风格-文字 映射端口、监听器与后端健康同时正常 禁止把该案例的免配路由要求泛化-318">
            <a:extLst xmlns:a="http://schemas.openxmlformats.org/drawingml/2006/main">
              <a:ext uri="{FF2B5EF4-FFF2-40B4-BE49-F238E27FC236}">
                <a16:creationId xmlns:a16="http://schemas.microsoft.com/office/drawing/2014/main" id="{859355E1-3B71-4886-ADD5-0BD3F92E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530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映射端口、监听器与后端健康同时正常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禁止把该案例的免配路由要求泛化</a:t>
            </a:r>
          </a:p>
        </p:txBody>
      </p:sp>
      <p:sp>
        <p:nvSpPr>
          <p:cNvPr id="18" name="统一风格-容量与配置限制玻璃后沿-319">
            <a:extLst xmlns:a="http://schemas.openxmlformats.org/drawingml/2006/main">
              <a:ext uri="{FF2B5EF4-FFF2-40B4-BE49-F238E27FC236}">
                <a16:creationId xmlns:a16="http://schemas.microsoft.com/office/drawing/2014/main" id="{3AE328AA-499D-4A2E-88DF-ECDB5A06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2578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9" name="统一风格-容量与配置限制-320">
            <a:extLst xmlns:a="http://schemas.openxmlformats.org/drawingml/2006/main">
              <a:ext uri="{FF2B5EF4-FFF2-40B4-BE49-F238E27FC236}">
                <a16:creationId xmlns:a16="http://schemas.microsoft.com/office/drawing/2014/main" id="{70EB3E34-6159-46E4-B7B3-5D06E85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257800" cy="1019175"/>
          </a:xfrm>
          <a:prstGeom xmlns:a="http://schemas.openxmlformats.org/drawingml/2006/main" prst="roundRect">
            <a:avLst>
              <a:gd name="adj" fmla="val 8411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容量与配置限制玻璃内沿-321">
            <a:extLst xmlns:a="http://schemas.openxmlformats.org/drawingml/2006/main">
              <a:ext uri="{FF2B5EF4-FFF2-40B4-BE49-F238E27FC236}">
                <a16:creationId xmlns:a16="http://schemas.microsoft.com/office/drawing/2014/main" id="{593D8BB1-2924-42CE-81C3-9939D5E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4880134"/>
            <a:ext cx="5232083" cy="993458"/>
          </a:xfrm>
          <a:prstGeom xmlns:a="http://schemas.openxmlformats.org/drawingml/2006/main" prst="roundRect">
            <a:avLst>
              <a:gd name="adj" fmla="val 738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容量与配置限制边缘高光-322">
            <a:extLst xmlns:a="http://schemas.openxmlformats.org/drawingml/2006/main">
              <a:ext uri="{FF2B5EF4-FFF2-40B4-BE49-F238E27FC236}">
                <a16:creationId xmlns:a16="http://schemas.microsoft.com/office/drawing/2014/main" id="{0897A061-C97D-4867-957C-CF97BEA8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257800" cy="1019175"/>
          </a:xfrm>
          <a:custGeom xmlns:a="http://schemas.openxmlformats.org/drawingml/2006/main"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2" name="统一风格-文字 容量与配置限制-323">
            <a:extLst xmlns:a="http://schemas.openxmlformats.org/drawingml/2006/main">
              <a:ext uri="{FF2B5EF4-FFF2-40B4-BE49-F238E27FC236}">
                <a16:creationId xmlns:a16="http://schemas.microsoft.com/office/drawing/2014/main" id="{020A9B0B-43B1-48EC-A59E-1390A70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91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容量与配置限制</a:t>
            </a:r>
          </a:p>
        </p:txBody>
      </p:sp>
      <p:sp>
        <p:nvSpPr>
          <p:cNvPr id="23" name="统一风格-文字 每子网仅一条 SNAT，核验规则数与连接数 重叠网段按双侧 NAT 与中转网络设计-324">
            <a:extLst xmlns:a="http://schemas.openxmlformats.org/drawingml/2006/main">
              <a:ext uri="{FF2B5EF4-FFF2-40B4-BE49-F238E27FC236}">
                <a16:creationId xmlns:a16="http://schemas.microsoft.com/office/drawing/2014/main" id="{85EEC49C-9714-466D-9993-498FB08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530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每子网仅一条 SNAT，核验规则数与连接数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重叠网段按双侧 NAT 与中转网络设计</a:t>
            </a:r>
          </a:p>
        </p:txBody>
      </p:sp>
    </p:spTree>
    <p:extLst>
      <p:ext uri="{BB962C8B-B14F-4D97-AF65-F5344CB8AC3E}">
        <p14:creationId xmlns:p14="http://schemas.microsoft.com/office/powerpoint/2010/main" val="95070176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325">
            <a:extLst xmlns:a="http://schemas.openxmlformats.org/drawingml/2006/main">
              <a:ext uri="{FF2B5EF4-FFF2-40B4-BE49-F238E27FC236}">
                <a16:creationId xmlns:a16="http://schemas.microsoft.com/office/drawing/2014/main" id="{EF558C30-E2F5-4604-A71C-05C4F49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对等连接：约束限制与业务建议-326">
            <a:extLst xmlns:a="http://schemas.openxmlformats.org/drawingml/2006/main">
              <a:ext uri="{FF2B5EF4-FFF2-40B4-BE49-F238E27FC236}">
                <a16:creationId xmlns:a16="http://schemas.microsoft.com/office/drawing/2014/main" id="{1ED6AF4A-B8CB-424E-9074-0C8D0CE6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对等连接：约束限制与业务建议</a:t>
            </a:r>
          </a:p>
        </p:txBody>
      </p:sp>
      <p:sp>
        <p:nvSpPr>
          <p:cNvPr id="3" name="统一风格-文字 适合同 Region 的少量 VPC 互访，地址、路由与跨账号协作需提前确认-327">
            <a:extLst xmlns:a="http://schemas.openxmlformats.org/drawingml/2006/main">
              <a:ext uri="{FF2B5EF4-FFF2-40B4-BE49-F238E27FC236}">
                <a16:creationId xmlns:a16="http://schemas.microsoft.com/office/drawing/2014/main" id="{B153F787-E7AB-456E-8B21-BB24E34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适合同 Region 的少量 VPC 互访，地址、路由与跨账号协作需提前确认</a:t>
            </a:r>
          </a:p>
        </p:txBody>
      </p:sp>
      <p:sp>
        <p:nvSpPr>
          <p:cNvPr id="4" name="统一风格-页脚分隔线-328">
            <a:extLst xmlns:a="http://schemas.openxmlformats.org/drawingml/2006/main">
              <a:ext uri="{FF2B5EF4-FFF2-40B4-BE49-F238E27FC236}">
                <a16:creationId xmlns:a16="http://schemas.microsoft.com/office/drawing/2014/main" id="{E36B6891-FDCC-4754-9B53-768B8C6F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生产发布前保留双方路由、安全策略与连接状态，确保变更和回退可追溯。-329">
            <a:extLst xmlns:a="http://schemas.openxmlformats.org/drawingml/2006/main">
              <a:ext uri="{FF2B5EF4-FFF2-40B4-BE49-F238E27FC236}">
                <a16:creationId xmlns:a16="http://schemas.microsoft.com/office/drawing/2014/main" id="{EC9B7035-105E-4C4C-90B3-87C92029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生产发布前保留双方路由、安全策略与连接状态，确保变更和回退可追溯。</a:t>
            </a:r>
          </a:p>
        </p:txBody>
      </p:sp>
      <p:sp>
        <p:nvSpPr>
          <p:cNvPr id="6" name="统一风格-文字 24-330">
            <a:extLst xmlns:a="http://schemas.openxmlformats.org/drawingml/2006/main">
              <a:ext uri="{FF2B5EF4-FFF2-40B4-BE49-F238E27FC236}">
                <a16:creationId xmlns:a16="http://schemas.microsoft.com/office/drawing/2014/main" id="{6876EE99-33B6-439B-83D0-37555F20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统一风格-可编辑配置表玻璃后沿-331">
            <a:extLst xmlns:a="http://schemas.openxmlformats.org/drawingml/2006/main">
              <a:ext uri="{FF2B5EF4-FFF2-40B4-BE49-F238E27FC236}">
                <a16:creationId xmlns:a16="http://schemas.microsoft.com/office/drawing/2014/main" id="{76E3F4A6-B20A-4459-AD3B-DD5D8299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32">
            <a:extLst xmlns:a="http://schemas.openxmlformats.org/drawingml/2006/main">
              <a:ext uri="{FF2B5EF4-FFF2-40B4-BE49-F238E27FC236}">
                <a16:creationId xmlns:a16="http://schemas.microsoft.com/office/drawing/2014/main" id="{B251AB0F-DE6A-4623-A50A-3F52F1A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33">
            <a:extLst xmlns:a="http://schemas.openxmlformats.org/drawingml/2006/main">
              <a:ext uri="{FF2B5EF4-FFF2-40B4-BE49-F238E27FC236}">
                <a16:creationId xmlns:a16="http://schemas.microsoft.com/office/drawing/2014/main" id="{8405053E-A81B-465A-9230-F5F7BB5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34">
            <a:extLst xmlns:a="http://schemas.openxmlformats.org/drawingml/2006/main">
              <a:ext uri="{FF2B5EF4-FFF2-40B4-BE49-F238E27FC236}">
                <a16:creationId xmlns:a16="http://schemas.microsoft.com/office/drawing/2014/main" id="{7D37A055-7026-4891-A377-175367F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C5B27-F405-4644-968C-D04CB45E84F7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 VPC 间只能建立一条对等连接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 VPC 可采用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连接增多时评估 ER 集中管理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地址规划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互通子网不能重叠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还需检查容器网段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统一维护地址台账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重叠场景评估 NAT 或服务级接入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路由与权限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连接已创建，不代表业务已放通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仍需两端有效路由与实例授权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按批准的子网配置双向路由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核对实际关联路由表与源目的安全组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传递与旁路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新增更具体路由可能改变 CFW 送检路径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逐段核对去程与回程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访问成功同时确认防护日志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跨账号协作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需对端账号接受连接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删除连接或修改路由影响通信双方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仅接受可信账号申请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登记双方负责人、变更窗口与回退前态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7861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335">
            <a:extLst xmlns:a="http://schemas.openxmlformats.org/drawingml/2006/main">
              <a:ext uri="{FF2B5EF4-FFF2-40B4-BE49-F238E27FC236}">
                <a16:creationId xmlns:a16="http://schemas.microsoft.com/office/drawing/2014/main" id="{6619378E-BFAA-4747-9D3F-0999E617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ER：约束限制与集中组网建议-336">
            <a:extLst xmlns:a="http://schemas.openxmlformats.org/drawingml/2006/main">
              <a:ext uri="{FF2B5EF4-FFF2-40B4-BE49-F238E27FC236}">
                <a16:creationId xmlns:a16="http://schemas.microsoft.com/office/drawing/2014/main" id="{94B8347E-0BA1-4C1B-8674-B19DFECF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ER：约束限制与集中组网建议</a:t>
            </a:r>
          </a:p>
        </p:txBody>
      </p:sp>
      <p:sp>
        <p:nvSpPr>
          <p:cNvPr id="3" name="统一风格-文字 路由关联、路由传播和业务兼容性共同决定互通与隔离效果-337">
            <a:extLst xmlns:a="http://schemas.openxmlformats.org/drawingml/2006/main">
              <a:ext uri="{FF2B5EF4-FFF2-40B4-BE49-F238E27FC236}">
                <a16:creationId xmlns:a16="http://schemas.microsoft.com/office/drawing/2014/main" id="{06F6D637-92A1-4990-8EED-04EE48E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路由关联、路由传播和业务兼容性共同决定互通与隔离效果</a:t>
            </a:r>
          </a:p>
        </p:txBody>
      </p:sp>
      <p:sp>
        <p:nvSpPr>
          <p:cNvPr id="4" name="统一风格-页脚分隔线-338">
            <a:extLst xmlns:a="http://schemas.openxmlformats.org/drawingml/2006/main">
              <a:ext uri="{FF2B5EF4-FFF2-40B4-BE49-F238E27FC236}">
                <a16:creationId xmlns:a16="http://schemas.microsoft.com/office/drawing/2014/main" id="{E3F93D79-6934-40B5-A59D-DC6415B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普通互通与集中 CFW 检查使用不同的路由设计，不能直接复用默认关联、传播设置。-339">
            <a:extLst xmlns:a="http://schemas.openxmlformats.org/drawingml/2006/main">
              <a:ext uri="{FF2B5EF4-FFF2-40B4-BE49-F238E27FC236}">
                <a16:creationId xmlns:a16="http://schemas.microsoft.com/office/drawing/2014/main" id="{BA985C71-DBCD-4832-ADC0-161F6A5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普通互通与集中 CFW 检查使用不同的路由设计，不能直接复用默认关联、传播设置。</a:t>
            </a:r>
          </a:p>
        </p:txBody>
      </p:sp>
      <p:sp>
        <p:nvSpPr>
          <p:cNvPr id="6" name="统一风格-文字 25-340">
            <a:extLst xmlns:a="http://schemas.openxmlformats.org/drawingml/2006/main">
              <a:ext uri="{FF2B5EF4-FFF2-40B4-BE49-F238E27FC236}">
                <a16:creationId xmlns:a16="http://schemas.microsoft.com/office/drawing/2014/main" id="{415056CF-5E1E-48C8-BFF8-2E8ACA17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统一风格-可编辑配置表玻璃后沿-341">
            <a:extLst xmlns:a="http://schemas.openxmlformats.org/drawingml/2006/main">
              <a:ext uri="{FF2B5EF4-FFF2-40B4-BE49-F238E27FC236}">
                <a16:creationId xmlns:a16="http://schemas.microsoft.com/office/drawing/2014/main" id="{963CEF23-971B-4D2F-A707-C4EBEBD2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42">
            <a:extLst xmlns:a="http://schemas.openxmlformats.org/drawingml/2006/main">
              <a:ext uri="{FF2B5EF4-FFF2-40B4-BE49-F238E27FC236}">
                <a16:creationId xmlns:a16="http://schemas.microsoft.com/office/drawing/2014/main" id="{45C34092-1195-44A6-AFB6-BF20E861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43">
            <a:extLst xmlns:a="http://schemas.openxmlformats.org/drawingml/2006/main">
              <a:ext uri="{FF2B5EF4-FFF2-40B4-BE49-F238E27FC236}">
                <a16:creationId xmlns:a16="http://schemas.microsoft.com/office/drawing/2014/main" id="{A0CAF7DA-CCF3-4ADD-9958-9A1BFBB1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44">
            <a:extLst xmlns:a="http://schemas.openxmlformats.org/drawingml/2006/main">
              <a:ext uri="{FF2B5EF4-FFF2-40B4-BE49-F238E27FC236}">
                <a16:creationId xmlns:a16="http://schemas.microsoft.com/office/drawing/2014/main" id="{CF0D4141-10C9-4E10-91DF-2FF7DB4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53E72-9033-4603-A9EC-3476B485F595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关联与传播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一个连接仅关联一张 ER 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可向多张路由表传播路由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按业务域划分路由表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只传播需要互通的业务路由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地址与选路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重叠前缀可能引起冲突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更具体路由或同前缀优先级会改变路径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接入前核对 VPC、子网与容器地址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检查有效路由，避免只看路由条目存在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默认路由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EIP、ELB、NAT、VPCEP 等场景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0.0.0.0/0 指 ER 可能无法按预期转发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使用明确的业务目的前缀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按服务兼容性评估中转 VPC 组网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集中安全检查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默认传播可能跨越隔离域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或让业务绕开预期 CFW 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CFW 方案配置关联与传播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去程、回程与备用路径一起核验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业务连续性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直接接入需检查服务兼容性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切换、扩缩容等可能影响部分长连接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客户端配置超时与重连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上线前检查连接、路由配额及切换行为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75134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345">
            <a:extLst xmlns:a="http://schemas.openxmlformats.org/drawingml/2006/main">
              <a:ext uri="{FF2B5EF4-FFF2-40B4-BE49-F238E27FC236}">
                <a16:creationId xmlns:a16="http://schemas.microsoft.com/office/drawing/2014/main" id="{7376F7FF-635D-47E8-AF84-03703461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私网 NAT：业务使用的限制与建议-346">
            <a:extLst xmlns:a="http://schemas.openxmlformats.org/drawingml/2006/main">
              <a:ext uri="{FF2B5EF4-FFF2-40B4-BE49-F238E27FC236}">
                <a16:creationId xmlns:a16="http://schemas.microsoft.com/office/drawing/2014/main" id="{7DAD2394-8F3A-4E87-932E-111D29B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NAT：业务使用的限制与建议</a:t>
            </a:r>
          </a:p>
        </p:txBody>
      </p:sp>
      <p:sp>
        <p:nvSpPr>
          <p:cNvPr id="3" name="统一风格-文字 上线前同时确定映射范围、可见源地址、连接容量与运维责任-347">
            <a:extLst xmlns:a="http://schemas.openxmlformats.org/drawingml/2006/main">
              <a:ext uri="{FF2B5EF4-FFF2-40B4-BE49-F238E27FC236}">
                <a16:creationId xmlns:a16="http://schemas.microsoft.com/office/drawing/2014/main" id="{B3ECCC7A-8F3E-4A24-A1B6-05C06771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上线前同时确定映射范围、可见源地址、连接容量与运维责任</a:t>
            </a:r>
          </a:p>
        </p:txBody>
      </p:sp>
      <p:sp>
        <p:nvSpPr>
          <p:cNvPr id="4" name="统一风格-页脚分隔线-348">
            <a:extLst xmlns:a="http://schemas.openxmlformats.org/drawingml/2006/main">
              <a:ext uri="{FF2B5EF4-FFF2-40B4-BE49-F238E27FC236}">
                <a16:creationId xmlns:a16="http://schemas.microsoft.com/office/drawing/2014/main" id="{8F41554F-17B5-41EB-A041-C1762473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私网 NAT 不替代应用鉴权，地址映射表应随发布、变更和资源回收同步维护。-349">
            <a:extLst xmlns:a="http://schemas.openxmlformats.org/drawingml/2006/main">
              <a:ext uri="{FF2B5EF4-FFF2-40B4-BE49-F238E27FC236}">
                <a16:creationId xmlns:a16="http://schemas.microsoft.com/office/drawing/2014/main" id="{969A6BDE-5174-414E-B4F4-15383C4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不替代应用鉴权，地址映射表应随发布、变更和资源回收同步维护。</a:t>
            </a:r>
          </a:p>
        </p:txBody>
      </p:sp>
      <p:sp>
        <p:nvSpPr>
          <p:cNvPr id="6" name="统一风格-文字 30-350">
            <a:extLst xmlns:a="http://schemas.openxmlformats.org/drawingml/2006/main">
              <a:ext uri="{FF2B5EF4-FFF2-40B4-BE49-F238E27FC236}">
                <a16:creationId xmlns:a16="http://schemas.microsoft.com/office/drawing/2014/main" id="{71BF49C8-1F51-4FAB-A167-39308E3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" name="统一风格-可编辑配置表玻璃后沿-351">
            <a:extLst xmlns:a="http://schemas.openxmlformats.org/drawingml/2006/main">
              <a:ext uri="{FF2B5EF4-FFF2-40B4-BE49-F238E27FC236}">
                <a16:creationId xmlns:a16="http://schemas.microsoft.com/office/drawing/2014/main" id="{4E3DE367-22A8-4302-B483-DCF89B3A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52">
            <a:extLst xmlns:a="http://schemas.openxmlformats.org/drawingml/2006/main">
              <a:ext uri="{FF2B5EF4-FFF2-40B4-BE49-F238E27FC236}">
                <a16:creationId xmlns:a16="http://schemas.microsoft.com/office/drawing/2014/main" id="{E635FCB8-C6CA-486E-8378-B324D482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53">
            <a:extLst xmlns:a="http://schemas.openxmlformats.org/drawingml/2006/main">
              <a:ext uri="{FF2B5EF4-FFF2-40B4-BE49-F238E27FC236}">
                <a16:creationId xmlns:a16="http://schemas.microsoft.com/office/drawing/2014/main" id="{F7750994-6C38-4DAC-BC79-BA26845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54">
            <a:extLst xmlns:a="http://schemas.openxmlformats.org/drawingml/2006/main">
              <a:ext uri="{FF2B5EF4-FFF2-40B4-BE49-F238E27FC236}">
                <a16:creationId xmlns:a16="http://schemas.microsoft.com/office/drawing/2014/main" id="{1FE1FE99-E380-487B-B215-0C54788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E4349-19C4-45C7-B11E-5FBB11CFBBB7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方案边界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ELB 免配路由仅限该官方案例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ELB 不支持多消费 VPC 分别映射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按目标类型核验区域支持能力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多消费者接入同时比较 VPCEP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可见源与审计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后远端看到中转源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多个实例共享源 IP，不能据此区分原主机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安全规则按实际可见地址配置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结合请求标识与访问日志关联业务来源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重叠网段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SNAT 与对等连接不能直接解决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两侧重叠子网的主机互访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按官方方案设计双侧 NAT 与中转网络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只向业务提供已批准的映射入口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规则与端口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每子网仅一条 SNAT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全端口与具体端口不可共用中转 IP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按系统维护协议、端口与中转 IP 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优先发布必要端口，变更前检查冲突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容量与生命周期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规则数、并发连接与转换资源有上限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闲置映射或误删中转 IP 会产生风险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按峰值连接数压测并设置告警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删除前检查调用方，保留映射回退配置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32560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355">
            <a:extLst xmlns:a="http://schemas.openxmlformats.org/drawingml/2006/main">
              <a:ext uri="{FF2B5EF4-FFF2-40B4-BE49-F238E27FC236}">
                <a16:creationId xmlns:a16="http://schemas.microsoft.com/office/drawing/2014/main" id="{5BF860E6-B243-46AC-8F1E-39761792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VPCEP：约束限制与服务接入建议-356">
            <a:extLst xmlns:a="http://schemas.openxmlformats.org/drawingml/2006/main">
              <a:ext uri="{FF2B5EF4-FFF2-40B4-BE49-F238E27FC236}">
                <a16:creationId xmlns:a16="http://schemas.microsoft.com/office/drawing/2014/main" id="{113FDAD7-89C5-471B-A57B-D4D91F1A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VPCEP：约束限制与服务接入建议</a:t>
            </a:r>
          </a:p>
        </p:txBody>
      </p:sp>
      <p:sp>
        <p:nvSpPr>
          <p:cNvPr id="3" name="统一风格-文字 以服务和端口为边界，分别核验消费者授权、后端放行及实例规格-357">
            <a:extLst xmlns:a="http://schemas.openxmlformats.org/drawingml/2006/main">
              <a:ext uri="{FF2B5EF4-FFF2-40B4-BE49-F238E27FC236}">
                <a16:creationId xmlns:a16="http://schemas.microsoft.com/office/drawing/2014/main" id="{1D19A7CD-5926-49DE-A940-75B8E89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以服务和端口为边界，分别核验消费者授权、后端放行及实例规格</a:t>
            </a:r>
          </a:p>
        </p:txBody>
      </p:sp>
      <p:sp>
        <p:nvSpPr>
          <p:cNvPr id="4" name="统一风格-页脚分隔线-358">
            <a:extLst xmlns:a="http://schemas.openxmlformats.org/drawingml/2006/main">
              <a:ext uri="{FF2B5EF4-FFF2-40B4-BE49-F238E27FC236}">
                <a16:creationId xmlns:a16="http://schemas.microsoft.com/office/drawing/2014/main" id="{4418E377-CE7F-4CF5-A8E8-B115F64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本例后端源地址说明针对 ELB 场景。终端节点类型与后端实例的安全控制分别核验。-359">
            <a:extLst xmlns:a="http://schemas.openxmlformats.org/drawingml/2006/main">
              <a:ext uri="{FF2B5EF4-FFF2-40B4-BE49-F238E27FC236}">
                <a16:creationId xmlns:a16="http://schemas.microsoft.com/office/drawing/2014/main" id="{07303FA7-0595-411E-B143-91E5302A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本例后端源地址说明针对 ELB 场景。终端节点类型与后端实例的安全控制分别核验。</a:t>
            </a:r>
          </a:p>
        </p:txBody>
      </p:sp>
      <p:sp>
        <p:nvSpPr>
          <p:cNvPr id="6" name="统一风格-文字 34-360">
            <a:extLst xmlns:a="http://schemas.openxmlformats.org/drawingml/2006/main">
              <a:ext uri="{FF2B5EF4-FFF2-40B4-BE49-F238E27FC236}">
                <a16:creationId xmlns:a16="http://schemas.microsoft.com/office/drawing/2014/main" id="{8A5872C1-44B9-4519-9365-B4DB5DC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统一风格-可编辑配置表玻璃后沿-361">
            <a:extLst xmlns:a="http://schemas.openxmlformats.org/drawingml/2006/main">
              <a:ext uri="{FF2B5EF4-FFF2-40B4-BE49-F238E27FC236}">
                <a16:creationId xmlns:a16="http://schemas.microsoft.com/office/drawing/2014/main" id="{9AFD3EAF-A396-42C3-A5E8-539D91A7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62">
            <a:extLst xmlns:a="http://schemas.openxmlformats.org/drawingml/2006/main">
              <a:ext uri="{FF2B5EF4-FFF2-40B4-BE49-F238E27FC236}">
                <a16:creationId xmlns:a16="http://schemas.microsoft.com/office/drawing/2014/main" id="{14AE74FA-53D3-4D64-9407-ABAA7DC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63">
            <a:extLst xmlns:a="http://schemas.openxmlformats.org/drawingml/2006/main">
              <a:ext uri="{FF2B5EF4-FFF2-40B4-BE49-F238E27FC236}">
                <a16:creationId xmlns:a16="http://schemas.microsoft.com/office/drawing/2014/main" id="{DAEA490B-01DC-4948-85E2-E412B266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64">
            <a:extLst xmlns:a="http://schemas.openxmlformats.org/drawingml/2006/main">
              <a:ext uri="{FF2B5EF4-FFF2-40B4-BE49-F238E27FC236}">
                <a16:creationId xmlns:a16="http://schemas.microsoft.com/office/drawing/2014/main" id="{DDDA833E-7B54-43C6-AECB-01F5D1A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1521B-94A2-4ADE-9EA8-444EF7DE2097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终端节点和服务需同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一个终端节点仅连接一个服务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按配置的 TCP / UDP 端口接入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保留应用鉴权与必要的传输加密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授权分工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账号授权、连接审批与源白名单分层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网络可达仍需应用鉴权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分别登记服务提供方与消费方权限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账号授权不能替代来源范围限制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后端源与日志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 ELB 后端不支持真实客户端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后端需允许指定转发源的必要端口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按本例放通 198.19.128.0/17 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消费源限制与来源审计在对应入口落实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规格与控制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基础型、专业型的容量与流量类型不同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专业型终端节点不受 SG / ACL 限制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按新建连接、并发和吞吐压测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使用服务授权、白名单并另查后端策略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发布与变更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消费者、端口映射与资源数量有配额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替换服务、地址和域名会影响调用方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提前核验规格与区域支持能力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建立调用方清单，灰度变更并通知回收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92333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方案-365">
            <a:extLst xmlns:a="http://schemas.openxmlformats.org/drawingml/2006/main">
              <a:ext uri="{FF2B5EF4-FFF2-40B4-BE49-F238E27FC236}">
                <a16:creationId xmlns:a16="http://schemas.microsoft.com/office/drawing/2014/main" id="{1513C708-FAB5-4E08-BA75-760A757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ns0:p xmlns:ns0="http://schemas.openxmlformats.org/drawingml/2006/main">
            <ns0:pPr algn="l">
              <ns0:def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125" b="0">
                <ns0:solidFill>
                  <ns0:srgbClr val="002FA7"/>
                </ns0:solidFill>
                <ns0:latin typeface="Microsoft YaHei"/>
                <ns0:ea typeface="Microsoft YaHei"/>
                <ns0:cs typeface="Microsoft YaHei"/>
              </ns0:rPr>
              <ns0:t>02  网络互联与安全加固</ns0:t>
            </ns0:r>
          </ns0:p>
        </p:txBody>
      </p:sp>
      <p:sp>
        <p:nvSpPr>
          <p:cNvPr id="2" name="统一风格-文字 CC 中心网络：约束限制与跨区域业务建议-366">
            <a:extLst xmlns:a="http://schemas.openxmlformats.org/drawingml/2006/main">
              <a:ext uri="{FF2B5EF4-FFF2-40B4-BE49-F238E27FC236}">
                <a16:creationId xmlns:a16="http://schemas.microsoft.com/office/drawing/2014/main" id="{12464F83-4704-4BB6-96FC-CCD5019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中心网络：约束限制与跨区域业务建议</a:t>
            </a:r>
          </a:p>
        </p:txBody>
      </p:sp>
      <p:sp>
        <p:nvSpPr>
          <p:cNvPr id="3" name="统一风格-文字 网络互通、带宽容量和应用跨区运行能力需要分别验证-367">
            <a:extLst xmlns:a="http://schemas.openxmlformats.org/drawingml/2006/main">
              <a:ext uri="{FF2B5EF4-FFF2-40B4-BE49-F238E27FC236}">
                <a16:creationId xmlns:a16="http://schemas.microsoft.com/office/drawing/2014/main" id="{FED22A05-096E-42BE-859D-E783E788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网络互通、带宽容量和应用跨区运行能力需要分别验证</a:t>
            </a:r>
          </a:p>
        </p:txBody>
      </p:sp>
      <p:sp>
        <p:nvSpPr>
          <p:cNvPr id="4" name="统一风格-页脚分隔线-368">
            <a:extLst xmlns:a="http://schemas.openxmlformats.org/drawingml/2006/main">
              <a:ext uri="{FF2B5EF4-FFF2-40B4-BE49-F238E27FC236}">
                <a16:creationId xmlns:a16="http://schemas.microsoft.com/office/drawing/2014/main" id="{AC809F4F-90CF-42BF-BDE8-4185574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区域能力、资源配额与计费以当前控制台为准，生产接入前复核对应版本文档。-369">
            <a:extLst xmlns:a="http://schemas.openxmlformats.org/drawingml/2006/main">
              <a:ext uri="{FF2B5EF4-FFF2-40B4-BE49-F238E27FC236}">
                <a16:creationId xmlns:a16="http://schemas.microsoft.com/office/drawing/2014/main" id="{8419BAEF-804F-4809-B81D-D4222AC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区域能力、资源配额与计费以当前控制台为准，生产接入前复核对应版本文档。</a:t>
            </a:r>
          </a:p>
        </p:txBody>
      </p:sp>
      <p:sp>
        <p:nvSpPr>
          <p:cNvPr id="6" name="统一风格-文字 38-370">
            <a:extLst xmlns:a="http://schemas.openxmlformats.org/drawingml/2006/main">
              <a:ext uri="{FF2B5EF4-FFF2-40B4-BE49-F238E27FC236}">
                <a16:creationId xmlns:a16="http://schemas.microsoft.com/office/drawing/2014/main" id="{9ED90520-00C2-42E6-88B8-4316C245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ns1:p xmlns:ns1="http://schemas.openxmlformats.org/drawingml/2006/main">
            <ns1:pPr algn="r">
              <ns1:def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47B9C"/>
                </ns1:solidFill>
                <ns1:latin typeface="Microsoft YaHei"/>
                <ns1:ea typeface="Microsoft YaHei"/>
                <ns1:cs typeface="Microsoft YaHei"/>
              </ns1:rPr>
              <ns1:t>47</ns1:t>
            </ns1:r>
          </ns1:p>
        </p:txBody>
      </p:sp>
      <p:sp>
        <p:nvSpPr>
          <p:cNvPr id="7" name="统一风格-可编辑配置表玻璃后沿-371">
            <a:extLst xmlns:a="http://schemas.openxmlformats.org/drawingml/2006/main">
              <a:ext uri="{FF2B5EF4-FFF2-40B4-BE49-F238E27FC236}">
                <a16:creationId xmlns:a16="http://schemas.microsoft.com/office/drawing/2014/main" id="{DC6C2342-DB96-4E7B-96A5-4E6055E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372">
            <a:extLst xmlns:a="http://schemas.openxmlformats.org/drawingml/2006/main">
              <a:ext uri="{FF2B5EF4-FFF2-40B4-BE49-F238E27FC236}">
                <a16:creationId xmlns:a16="http://schemas.microsoft.com/office/drawing/2014/main" id="{BA49E318-7811-4C9C-8D58-83FA10C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373">
            <a:extLst xmlns:a="http://schemas.openxmlformats.org/drawingml/2006/main">
              <a:ext uri="{FF2B5EF4-FFF2-40B4-BE49-F238E27FC236}">
                <a16:creationId xmlns:a16="http://schemas.microsoft.com/office/drawing/2014/main" id="{6BC79CF2-342B-4B64-A9F6-9F7B2AD1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374">
            <a:extLst xmlns:a="http://schemas.openxmlformats.org/drawingml/2006/main">
              <a:ext uri="{FF2B5EF4-FFF2-40B4-BE49-F238E27FC236}">
                <a16:creationId xmlns:a16="http://schemas.microsoft.com/office/drawing/2014/main" id="{2D245F65-F618-46DE-B8B2-24DBC57F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C82AD-CC7C-4BD2-A8AE-3334ADF4716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资源与范围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一个中心网络同一区域仅支持一个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ER 的 Peering 接入需完成授权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ER 归属、RAM 共享与连接审批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跨账号接入按当前区域能力设计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地址与路由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网段冲突或 VPC / ER 回程缺失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会造成跨区域访问异常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统一跨区域地址规划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逐段检查 VPC、ER 与中心网络策略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带宽与费用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需为跨区域连接分配带宽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分配值不能超过已购全域互联带宽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按峰值和容灾切换流量测算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关联预算、利用率与丢包告警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业务性能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骨干网互通仍存在跨区域时延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同步调用与数据复制可能受其影响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评估超时、重试与一致性要求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用真实交易测试时延和吞吐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安全与容灾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中心网络策略不等于区域 CFW 防护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应用故障切换需要独立规划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确认每个区域的安全路径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主备路径、带宽和应用恢复一起验证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3942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统一风格-文字 02  网络互联与安全加固-1">
            <a:extLst xmlns:a="http://schemas.openxmlformats.org/drawingml/2006/main">
              <a:ext uri="{FF2B5EF4-FFF2-40B4-BE49-F238E27FC236}">
                <a16:creationId xmlns:a16="http://schemas.microsoft.com/office/drawing/2014/main" id="{D69E28B9-23D7-4D3C-80C2-EB57CD4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 安全加固：网络边界与云服务权限-2">
            <a:extLst xmlns:a="http://schemas.openxmlformats.org/drawingml/2006/main">
              <a:ext uri="{FF2B5EF4-FFF2-40B4-BE49-F238E27FC236}">
                <a16:creationId xmlns:a16="http://schemas.microsoft.com/office/drawing/2014/main" id="{E4300A51-3F99-4E0E-97C0-DB7FA69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安全加固：网络边界与云服务权限</a:t>
            </a:r>
          </a:p>
        </p:txBody>
      </p:sp>
      <p:sp>
        <p:nvSpPr>
          <p:cNvPr id="3" name="统一风格-文字 以业务访问清单收敛网络入口、出站依赖和资源权限-3">
            <a:extLst xmlns:a="http://schemas.openxmlformats.org/drawingml/2006/main">
              <a:ext uri="{FF2B5EF4-FFF2-40B4-BE49-F238E27FC236}">
                <a16:creationId xmlns:a16="http://schemas.microsoft.com/office/drawing/2014/main" id="{918238E5-96D0-401D-BF1D-81CA9D07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以业务访问清单收敛网络入口、出站依赖和资源权限</a:t>
            </a:r>
          </a:p>
        </p:txBody>
      </p:sp>
      <p:sp>
        <p:nvSpPr>
          <p:cNvPr id="4" name="统一风格-页脚分隔线-4">
            <a:extLst xmlns:a="http://schemas.openxmlformats.org/drawingml/2006/main">
              <a:ext uri="{FF2B5EF4-FFF2-40B4-BE49-F238E27FC236}">
                <a16:creationId xmlns:a16="http://schemas.microsoft.com/office/drawing/2014/main" id="{7F04E3A1-65B8-4C0D-BB3A-D07430F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以下为加固建议。SG、ACL、终端节点策略与云服务权限分别验证，不能仅凭私网可达判断安全。-5">
            <a:extLst xmlns:a="http://schemas.openxmlformats.org/drawingml/2006/main">
              <a:ext uri="{FF2B5EF4-FFF2-40B4-BE49-F238E27FC236}">
                <a16:creationId xmlns:a16="http://schemas.microsoft.com/office/drawing/2014/main" id="{C037ADEF-A350-42C3-9581-C2C35B5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以下为加固建议。SG、ACL、终端节点策略与云服务权限分别验证，不能仅凭私网可达判断安全。</a:t>
            </a:r>
          </a:p>
        </p:txBody>
      </p:sp>
      <p:sp>
        <p:nvSpPr>
          <p:cNvPr id="6" name="统一风格-文字 35-6">
            <a:extLst xmlns:a="http://schemas.openxmlformats.org/drawingml/2006/main">
              <a:ext uri="{FF2B5EF4-FFF2-40B4-BE49-F238E27FC236}">
                <a16:creationId xmlns:a16="http://schemas.microsoft.com/office/drawing/2014/main" id="{1F7A81EC-9FBB-430E-AF74-99D2FF4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统一风格-网络边界玻璃后沿-7">
            <a:extLst xmlns:a="http://schemas.openxmlformats.org/drawingml/2006/main">
              <a:ext uri="{FF2B5EF4-FFF2-40B4-BE49-F238E27FC236}">
                <a16:creationId xmlns:a16="http://schemas.microsoft.com/office/drawing/2014/main" id="{52BCA92A-97E8-44DA-8AB4-5F3E83C5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网络边界-8">
            <a:extLst xmlns:a="http://schemas.openxmlformats.org/drawingml/2006/main">
              <a:ext uri="{FF2B5EF4-FFF2-40B4-BE49-F238E27FC236}">
                <a16:creationId xmlns:a16="http://schemas.microsoft.com/office/drawing/2014/main" id="{B4C7A74F-849E-43F1-9B4C-03AB77BF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网络边界玻璃内沿-9">
            <a:extLst xmlns:a="http://schemas.openxmlformats.org/drawingml/2006/main">
              <a:ext uri="{FF2B5EF4-FFF2-40B4-BE49-F238E27FC236}">
                <a16:creationId xmlns:a16="http://schemas.microsoft.com/office/drawing/2014/main" id="{3CC0B255-13D8-4B6E-939E-13C6902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127409"/>
            <a:ext cx="5232083" cy="1650683"/>
          </a:xfrm>
          <a:prstGeom xmlns:a="http://schemas.openxmlformats.org/drawingml/2006/main" prst="roundRect">
            <a:avLst>
              <a:gd name="adj" fmla="val 444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网络边界边缘高光-10">
            <a:extLst xmlns:a="http://schemas.openxmlformats.org/drawingml/2006/main">
              <a:ext uri="{FF2B5EF4-FFF2-40B4-BE49-F238E27FC236}">
                <a16:creationId xmlns:a16="http://schemas.microsoft.com/office/drawing/2014/main" id="{E8564FED-BCB4-4F25-8C43-B69C839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676400"/>
          </a:xfrm>
          <a:custGeom xmlns:a="http://schemas.openxmlformats.org/drawingml/2006/main"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shield 安全盾-11">
            <a:extLst xmlns:a="http://schemas.openxmlformats.org/drawingml/2006/main">
              <a:ext uri="{FF2B5EF4-FFF2-40B4-BE49-F238E27FC236}">
                <a16:creationId xmlns:a16="http://schemas.microsoft.com/office/drawing/2014/main" id="{1683FE30-05FC-4DB8-B7F1-2CBF5960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2" name="统一风格-shield 核验标记-12">
            <a:extLst xmlns:a="http://schemas.openxmlformats.org/drawingml/2006/main">
              <a:ext uri="{FF2B5EF4-FFF2-40B4-BE49-F238E27FC236}">
                <a16:creationId xmlns:a16="http://schemas.microsoft.com/office/drawing/2014/main" id="{DE2562FF-4140-4A37-A83B-C6C66D1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13" name="统一风格-文字 网络边界-13">
            <a:extLst xmlns:a="http://schemas.openxmlformats.org/drawingml/2006/main">
              <a:ext uri="{FF2B5EF4-FFF2-40B4-BE49-F238E27FC236}">
                <a16:creationId xmlns:a16="http://schemas.microsoft.com/office/drawing/2014/main" id="{3D80F497-E620-4BA7-BA0A-C6772967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网络边界</a:t>
            </a:r>
          </a:p>
        </p:txBody>
      </p:sp>
      <p:sp>
        <p:nvSpPr>
          <p:cNvPr id="14" name="统一风格-文字 生产与开发按业务域隔离 源、目的安全组按必要端口放行 公网入口与出站依赖分别收口-14">
            <a:extLst xmlns:a="http://schemas.openxmlformats.org/drawingml/2006/main">
              <a:ext uri="{FF2B5EF4-FFF2-40B4-BE49-F238E27FC236}">
                <a16:creationId xmlns:a16="http://schemas.microsoft.com/office/drawing/2014/main" id="{6DC34D5B-0C33-4E0A-B610-D9AF7C1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90825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生产与开发按业务域隔离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源、目的安全组按必要端口放行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公网入口与出站依赖分别收口</a:t>
            </a:r>
          </a:p>
        </p:txBody>
      </p:sp>
      <p:sp>
        <p:nvSpPr>
          <p:cNvPr id="15" name="统一风格-私网通道玻璃后沿-15">
            <a:extLst xmlns:a="http://schemas.openxmlformats.org/drawingml/2006/main">
              <a:ext uri="{FF2B5EF4-FFF2-40B4-BE49-F238E27FC236}">
                <a16:creationId xmlns:a16="http://schemas.microsoft.com/office/drawing/2014/main" id="{FE27DE28-2597-42DE-8C1F-80B625F7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6" name="统一风格-私网通道-16">
            <a:extLst xmlns:a="http://schemas.openxmlformats.org/drawingml/2006/main">
              <a:ext uri="{FF2B5EF4-FFF2-40B4-BE49-F238E27FC236}">
                <a16:creationId xmlns:a16="http://schemas.microsoft.com/office/drawing/2014/main" id="{01851456-CA19-44DA-9A6A-4C9BB7E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7" name="统一风格-私网通道玻璃内沿-17">
            <a:extLst xmlns:a="http://schemas.openxmlformats.org/drawingml/2006/main">
              <a:ext uri="{FF2B5EF4-FFF2-40B4-BE49-F238E27FC236}">
                <a16:creationId xmlns:a16="http://schemas.microsoft.com/office/drawing/2014/main" id="{6ABFAE30-C68F-4AC0-8EE1-BC2A455C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2127409"/>
            <a:ext cx="5232083" cy="1650683"/>
          </a:xfrm>
          <a:prstGeom xmlns:a="http://schemas.openxmlformats.org/drawingml/2006/main" prst="roundRect">
            <a:avLst>
              <a:gd name="adj" fmla="val 444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8" name="统一风格-私网通道边缘高光-18">
            <a:extLst xmlns:a="http://schemas.openxmlformats.org/drawingml/2006/main">
              <a:ext uri="{FF2B5EF4-FFF2-40B4-BE49-F238E27FC236}">
                <a16:creationId xmlns:a16="http://schemas.microsoft.com/office/drawing/2014/main" id="{ACBFBA74-1C2C-4069-928B-B999D1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257800" cy="1676400"/>
          </a:xfrm>
          <a:custGeom xmlns:a="http://schemas.openxmlformats.org/drawingml/2006/main"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" name="统一风格-终端节点图标-19">
            <a:extLst xmlns:a="http://schemas.openxmlformats.org/drawingml/2006/main">
              <a:ext uri="{FF2B5EF4-FFF2-40B4-BE49-F238E27FC236}">
                <a16:creationId xmlns:a16="http://schemas.microsoft.com/office/drawing/2014/main" id="{1B740F68-43E7-45C0-8C93-B0C015C9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0" name="统一风格-终端节点服务端口-20">
            <a:extLst xmlns:a="http://schemas.openxmlformats.org/drawingml/2006/main">
              <a:ext uri="{FF2B5EF4-FFF2-40B4-BE49-F238E27FC236}">
                <a16:creationId xmlns:a16="http://schemas.microsoft.com/office/drawing/2014/main" id="{F8DABD86-257E-4558-8315-298152B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1" name="统一风格-文字 私网通道-21">
            <a:extLst xmlns:a="http://schemas.openxmlformats.org/drawingml/2006/main">
              <a:ext uri="{FF2B5EF4-FFF2-40B4-BE49-F238E27FC236}">
                <a16:creationId xmlns:a16="http://schemas.microsoft.com/office/drawing/2014/main" id="{C7FC17CE-CB26-4E33-92C8-C6EC06A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私网通道</a:t>
            </a:r>
          </a:p>
        </p:txBody>
      </p:sp>
      <p:sp>
        <p:nvSpPr>
          <p:cNvPr id="22" name="统一风格-文字 核对区域服务、终端节点与 DNS 按能力选择内网访问或 VPCEP 持续使用 HTTPS 与证书校验-22">
            <a:extLst xmlns:a="http://schemas.openxmlformats.org/drawingml/2006/main">
              <a:ext uri="{FF2B5EF4-FFF2-40B4-BE49-F238E27FC236}">
                <a16:creationId xmlns:a16="http://schemas.microsoft.com/office/drawing/2014/main" id="{0335C073-E9AD-487F-BA2C-E065B10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90825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核对区域服务、终端节点与 DNS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按能力选择内网访问或 VPCEP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持续使用 HTTPS 与证书校验</a:t>
            </a:r>
          </a:p>
        </p:txBody>
      </p:sp>
      <p:sp>
        <p:nvSpPr>
          <p:cNvPr id="23" name="统一风格-身份权限玻璃后沿-23">
            <a:extLst xmlns:a="http://schemas.openxmlformats.org/drawingml/2006/main">
              <a:ext uri="{FF2B5EF4-FFF2-40B4-BE49-F238E27FC236}">
                <a16:creationId xmlns:a16="http://schemas.microsoft.com/office/drawing/2014/main" id="{71A79B1C-C666-439A-987A-5562F65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4" name="统一风格-身份权限-24">
            <a:extLst xmlns:a="http://schemas.openxmlformats.org/drawingml/2006/main">
              <a:ext uri="{FF2B5EF4-FFF2-40B4-BE49-F238E27FC236}">
                <a16:creationId xmlns:a16="http://schemas.microsoft.com/office/drawing/2014/main" id="{46350502-0BB4-4BFA-8BA5-83E08F46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5" name="统一风格-身份权限玻璃内沿-25">
            <a:extLst xmlns:a="http://schemas.openxmlformats.org/drawingml/2006/main">
              <a:ext uri="{FF2B5EF4-FFF2-40B4-BE49-F238E27FC236}">
                <a16:creationId xmlns:a16="http://schemas.microsoft.com/office/drawing/2014/main" id="{A07FD516-8E50-472B-B559-34494CA7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4041934"/>
            <a:ext cx="5232083" cy="1650683"/>
          </a:xfrm>
          <a:prstGeom xmlns:a="http://schemas.openxmlformats.org/drawingml/2006/main" prst="roundRect">
            <a:avLst>
              <a:gd name="adj" fmla="val 444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6" name="统一风格-身份权限边缘高光-26">
            <a:extLst xmlns:a="http://schemas.openxmlformats.org/drawingml/2006/main">
              <a:ext uri="{FF2B5EF4-FFF2-40B4-BE49-F238E27FC236}">
                <a16:creationId xmlns:a16="http://schemas.microsoft.com/office/drawing/2014/main" id="{009F4FAA-742A-4CF1-B96A-D53E64FD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57800" cy="1676400"/>
          </a:xfrm>
          <a:custGeom xmlns:a="http://schemas.openxmlformats.org/drawingml/2006/main"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7" name="统一风格-lock 安全盾-27">
            <a:extLst xmlns:a="http://schemas.openxmlformats.org/drawingml/2006/main">
              <a:ext uri="{FF2B5EF4-FFF2-40B4-BE49-F238E27FC236}">
                <a16:creationId xmlns:a16="http://schemas.microsoft.com/office/drawing/2014/main" id="{2E65A9E5-B709-4265-8102-BBEB2CF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8" name="统一风格-lock 锁梁-28">
            <a:extLst xmlns:a="http://schemas.openxmlformats.org/drawingml/2006/main">
              <a:ext uri="{FF2B5EF4-FFF2-40B4-BE49-F238E27FC236}">
                <a16:creationId xmlns:a16="http://schemas.microsoft.com/office/drawing/2014/main" id="{4C8A5594-4A7C-4873-8D51-1586F72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29" name="统一风格-lock 锁体-29">
            <a:extLst xmlns:a="http://schemas.openxmlformats.org/drawingml/2006/main">
              <a:ext uri="{FF2B5EF4-FFF2-40B4-BE49-F238E27FC236}">
                <a16:creationId xmlns:a16="http://schemas.microsoft.com/office/drawing/2014/main" id="{5DCD367E-9945-4C9E-829C-F66FF86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0" name="统一风格-lock 锁孔-30">
            <a:extLst xmlns:a="http://schemas.openxmlformats.org/drawingml/2006/main">
              <a:ext uri="{FF2B5EF4-FFF2-40B4-BE49-F238E27FC236}">
                <a16:creationId xmlns:a16="http://schemas.microsoft.com/office/drawing/2014/main" id="{F58FE305-291A-4A5E-A9CB-4F166D1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1" name="统一风格-文字 身份权限-31">
            <a:extLst xmlns:a="http://schemas.openxmlformats.org/drawingml/2006/main">
              <a:ext uri="{FF2B5EF4-FFF2-40B4-BE49-F238E27FC236}">
                <a16:creationId xmlns:a16="http://schemas.microsoft.com/office/drawing/2014/main" id="{0BD52925-4244-4032-A4E4-164984E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身份权限</a:t>
            </a:r>
          </a:p>
        </p:txBody>
      </p:sp>
      <p:sp>
        <p:nvSpPr>
          <p:cNvPr id="32" name="统一风格-文字 优先使用受控委托与临时凭证 权限限定到桶、对象或镜像仓库 读取、上传与管理权限分离-32">
            <a:extLst xmlns:a="http://schemas.openxmlformats.org/drawingml/2006/main">
              <a:ext uri="{FF2B5EF4-FFF2-40B4-BE49-F238E27FC236}">
                <a16:creationId xmlns:a16="http://schemas.microsoft.com/office/drawing/2014/main" id="{C8A1A38D-9A94-44FC-B9C5-8E39DC6C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优先使用受控委托与临时凭证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权限限定到桶、对象或镜像仓库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读取、上传与管理权限分离</a:t>
            </a:r>
          </a:p>
        </p:txBody>
      </p:sp>
      <p:sp>
        <p:nvSpPr>
          <p:cNvPr id="33" name="统一风格-审计验证玻璃后沿-33">
            <a:extLst xmlns:a="http://schemas.openxmlformats.org/drawingml/2006/main">
              <a:ext uri="{FF2B5EF4-FFF2-40B4-BE49-F238E27FC236}">
                <a16:creationId xmlns:a16="http://schemas.microsoft.com/office/drawing/2014/main" id="{82A7FA0D-9B6F-45D7-A185-D67CFA12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29075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4" name="统一风格-审计验证-34">
            <a:extLst xmlns:a="http://schemas.openxmlformats.org/drawingml/2006/main">
              <a:ext uri="{FF2B5EF4-FFF2-40B4-BE49-F238E27FC236}">
                <a16:creationId xmlns:a16="http://schemas.microsoft.com/office/drawing/2014/main" id="{D7D1BAE9-85EE-4CDA-B3A3-B7EFA87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29075"/>
            <a:ext cx="5257800" cy="1676400"/>
          </a:xfrm>
          <a:prstGeom xmlns:a="http://schemas.openxmlformats.org/drawingml/2006/main" prst="roundRect">
            <a:avLst>
              <a:gd name="adj" fmla="val 511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审计验证玻璃内沿-35">
            <a:extLst xmlns:a="http://schemas.openxmlformats.org/drawingml/2006/main">
              <a:ext uri="{FF2B5EF4-FFF2-40B4-BE49-F238E27FC236}">
                <a16:creationId xmlns:a16="http://schemas.microsoft.com/office/drawing/2014/main" id="{69F12A0B-2674-4282-B58F-25387F0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4041934"/>
            <a:ext cx="5232083" cy="1650683"/>
          </a:xfrm>
          <a:prstGeom xmlns:a="http://schemas.openxmlformats.org/drawingml/2006/main" prst="roundRect">
            <a:avLst>
              <a:gd name="adj" fmla="val 444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审计验证边缘高光-36">
            <a:extLst xmlns:a="http://schemas.openxmlformats.org/drawingml/2006/main">
              <a:ext uri="{FF2B5EF4-FFF2-40B4-BE49-F238E27FC236}">
                <a16:creationId xmlns:a16="http://schemas.microsoft.com/office/drawing/2014/main" id="{AF2F035F-8C2B-457C-A611-5944137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29075"/>
            <a:ext cx="5257800" cy="1676400"/>
          </a:xfrm>
          <a:custGeom xmlns:a="http://schemas.openxmlformats.org/drawingml/2006/main"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doc 规则文档-37">
            <a:extLst xmlns:a="http://schemas.openxmlformats.org/drawingml/2006/main">
              <a:ext uri="{FF2B5EF4-FFF2-40B4-BE49-F238E27FC236}">
                <a16:creationId xmlns:a16="http://schemas.microsoft.com/office/drawing/2014/main" id="{9AE0E236-C2DB-4222-8C70-987028F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8" name="统一风格-doc 文档折角-38">
            <a:extLst xmlns:a="http://schemas.openxmlformats.org/drawingml/2006/main">
              <a:ext uri="{FF2B5EF4-FFF2-40B4-BE49-F238E27FC236}">
                <a16:creationId xmlns:a16="http://schemas.microsoft.com/office/drawing/2014/main" id="{44D3CEAB-36A0-4E87-83BC-F5A694D9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39" name="统一风格-doc 规则条目-39">
            <a:extLst xmlns:a="http://schemas.openxmlformats.org/drawingml/2006/main">
              <a:ext uri="{FF2B5EF4-FFF2-40B4-BE49-F238E27FC236}">
                <a16:creationId xmlns:a16="http://schemas.microsoft.com/office/drawing/2014/main" id="{1154EF7C-569E-4109-9933-48AFB7A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38150" cy="438150"/>
          </a:xfrm>
          <a:custGeom xmlns:a="http://schemas.openxmlformats.org/drawingml/2006/main"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445" cap="rnd">
            <a:solidFill>
              <a:srgbClr val="2053C3"/>
            </a:solidFill>
            <a:round/>
          </a:ln>
        </p:spPr>
      </p:sp>
      <p:sp>
        <p:nvSpPr>
          <p:cNvPr id="40" name="统一风格-文字 审计验证-40">
            <a:extLst xmlns:a="http://schemas.openxmlformats.org/drawingml/2006/main">
              <a:ext uri="{FF2B5EF4-FFF2-40B4-BE49-F238E27FC236}">
                <a16:creationId xmlns:a16="http://schemas.microsoft.com/office/drawing/2014/main" id="{C2131383-6535-4A01-9B87-D017E2B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00525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审计验证</a:t>
            </a:r>
          </a:p>
        </p:txBody>
      </p:sp>
      <p:sp>
        <p:nvSpPr>
          <p:cNvPr id="41" name="统一风格-文字 同时验证实际路径和授权结果 未批准来源、资源与操作应拒绝 保留日志、策略前态与回退方案-41">
            <a:extLst xmlns:a="http://schemas.openxmlformats.org/drawingml/2006/main">
              <a:ext uri="{FF2B5EF4-FFF2-40B4-BE49-F238E27FC236}">
                <a16:creationId xmlns:a16="http://schemas.microsoft.com/office/drawing/2014/main" id="{96FFF4B4-A83E-4418-BEC3-B5553FA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同时验证实际路径和授权结果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未批准来源、资源与操作应拒绝</a:t>
            </a:r>
          </a:p>
          <a:p xmlns:a="http://schemas.openxmlformats.org/drawingml/2006/main"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保留日志、策略前态与回退方案</a:t>
            </a:r>
          </a:p>
        </p:txBody>
      </p:sp>
    </p:spTree>
    <p:extLst>
      <p:ext uri="{BB962C8B-B14F-4D97-AF65-F5344CB8AC3E}">
        <p14:creationId xmlns:p14="http://schemas.microsoft.com/office/powerpoint/2010/main" val="6256326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42">
            <a:extLst xmlns:a="http://schemas.openxmlformats.org/drawingml/2006/main">
              <a:ext uri="{FF2B5EF4-FFF2-40B4-BE49-F238E27FC236}">
                <a16:creationId xmlns:a16="http://schemas.microsoft.com/office/drawing/2014/main" id="{B97650DF-6BC4-4791-B7B5-5EC94691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访问 OBS、SWR：通道与授权分层加固-43">
            <a:extLst xmlns:a="http://schemas.openxmlformats.org/drawingml/2006/main">
              <a:ext uri="{FF2B5EF4-FFF2-40B4-BE49-F238E27FC236}">
                <a16:creationId xmlns:a16="http://schemas.microsoft.com/office/drawing/2014/main" id="{781BEA34-FE8D-4073-90D3-E08923F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 OBS、SWR：通道与授权分层加固</a:t>
            </a:r>
          </a:p>
        </p:txBody>
      </p:sp>
      <p:sp>
        <p:nvSpPr>
          <p:cNvPr id="3" name="统一风格-文字 内网链路减少公网依赖，数据与镜像的使用范围由资源权限继续约束-44">
            <a:extLst xmlns:a="http://schemas.openxmlformats.org/drawingml/2006/main">
              <a:ext uri="{FF2B5EF4-FFF2-40B4-BE49-F238E27FC236}">
                <a16:creationId xmlns:a16="http://schemas.microsoft.com/office/drawing/2014/main" id="{78A34907-5A3F-443D-B38B-66B7F8E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内网链路减少公网依赖，数据与镜像的使用范围由资源权限继续约束</a:t>
            </a:r>
          </a:p>
        </p:txBody>
      </p:sp>
      <p:sp>
        <p:nvSpPr>
          <p:cNvPr id="4" name="统一风格-页脚分隔线-45">
            <a:extLst xmlns:a="http://schemas.openxmlformats.org/drawingml/2006/main">
              <a:ext uri="{FF2B5EF4-FFF2-40B4-BE49-F238E27FC236}">
                <a16:creationId xmlns:a16="http://schemas.microsoft.com/office/drawing/2014/main" id="{1A9E9492-D612-4DC0-8DCD-EE4417FF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OBS、SWR 的托管服务与用户侧接入资源分别管理。私网通道不会自动授予桶或镜像权限。-46">
            <a:extLst xmlns:a="http://schemas.openxmlformats.org/drawingml/2006/main">
              <a:ext uri="{FF2B5EF4-FFF2-40B4-BE49-F238E27FC236}">
                <a16:creationId xmlns:a16="http://schemas.microsoft.com/office/drawing/2014/main" id="{306981B6-3CF1-45BA-A993-35FB929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OBS、SWR 的托管服务与用户侧接入资源分别管理。私网通道不会自动授予桶或镜像权限。</a:t>
            </a:r>
          </a:p>
        </p:txBody>
      </p:sp>
      <p:sp>
        <p:nvSpPr>
          <p:cNvPr id="6" name="统一风格-文字 36-47">
            <a:extLst xmlns:a="http://schemas.openxmlformats.org/drawingml/2006/main">
              <a:ext uri="{FF2B5EF4-FFF2-40B4-BE49-F238E27FC236}">
                <a16:creationId xmlns:a16="http://schemas.microsoft.com/office/drawing/2014/main" id="{D4180A8E-A6DC-4560-B775-9C1BC159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统一风格-可编辑配置表玻璃后沿-48">
            <a:extLst xmlns:a="http://schemas.openxmlformats.org/drawingml/2006/main">
              <a:ext uri="{FF2B5EF4-FFF2-40B4-BE49-F238E27FC236}">
                <a16:creationId xmlns:a16="http://schemas.microsoft.com/office/drawing/2014/main" id="{F7852249-C499-4E01-8D0B-1FABE99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49">
            <a:extLst xmlns:a="http://schemas.openxmlformats.org/drawingml/2006/main">
              <a:ext uri="{FF2B5EF4-FFF2-40B4-BE49-F238E27FC236}">
                <a16:creationId xmlns:a16="http://schemas.microsoft.com/office/drawing/2014/main" id="{EE64DE9C-79D3-45C3-B0BB-D4D5F2A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50">
            <a:extLst xmlns:a="http://schemas.openxmlformats.org/drawingml/2006/main">
              <a:ext uri="{FF2B5EF4-FFF2-40B4-BE49-F238E27FC236}">
                <a16:creationId xmlns:a16="http://schemas.microsoft.com/office/drawing/2014/main" id="{49BCC327-F642-4368-9186-3CBB1D0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51">
            <a:extLst xmlns:a="http://schemas.openxmlformats.org/drawingml/2006/main">
              <a:ext uri="{FF2B5EF4-FFF2-40B4-BE49-F238E27FC236}">
                <a16:creationId xmlns:a16="http://schemas.microsoft.com/office/drawing/2014/main" id="{A471AD9A-B134-4D5A-B4A1-F9E2B52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C8848-9104-4C80-B6A6-E5B76FDC49B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加固重点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加固重点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通道与解析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内网 DNS /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确认实际使用的服务端点与路径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基础版默认内网或 SWR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企业版使用已批准的内网访问 VPC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出口资源范围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终端节点策略仅允许目标桶和必要操作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覆盖镜像下载等已核准依赖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网络仅访问必需的注册表与数据依赖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基础版镜像层涉及 OBS 的范围单独核验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服务资源权限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桶策略限定来源 VPC /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私有数据避免匿名或公开授权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仓库私有属性、账号与仓库权限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运行时仅拉取，构建流程按需推送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身份与传输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IAM 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按桶 / 前缀授权，强制 HTTPS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按版本使用受控登录凭证或 CCE 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更新凭证并保留 TLS 证书校验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批准读写成功，越权和非批准来源拒绝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结合桶访问日志与相应审计事件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新节点完整拉取未缓存镜像成功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未批准推送、仓库和身份访问被拒绝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4569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统一风格-文字 02  网络互联与安全加固-52">
            <a:extLst xmlns:a="http://schemas.openxmlformats.org/drawingml/2006/main">
              <a:ext uri="{FF2B5EF4-FFF2-40B4-BE49-F238E27FC236}">
                <a16:creationId xmlns:a16="http://schemas.microsoft.com/office/drawing/2014/main" id="{BE87AC59-5F18-47C4-A98B-B4867B7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双端固定：出口与桶两侧同时收口-53">
            <a:extLst xmlns:a="http://schemas.openxmlformats.org/drawingml/2006/main">
              <a:ext uri="{FF2B5EF4-FFF2-40B4-BE49-F238E27FC236}">
                <a16:creationId xmlns:a16="http://schemas.microsoft.com/office/drawing/2014/main" id="{9A504C84-893A-4F15-B698-E468D31D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双端固定：出口与桶两侧同时收口</a:t>
            </a:r>
          </a:p>
        </p:txBody>
      </p:sp>
      <p:sp>
        <p:nvSpPr>
          <p:cNvPr id="3" name="统一风格-文字 出口限制能访问哪些 OBS 资源，桶侧限制哪些 VPC 或终端节点可以访问-54">
            <a:extLst xmlns:a="http://schemas.openxmlformats.org/drawingml/2006/main">
              <a:ext uri="{FF2B5EF4-FFF2-40B4-BE49-F238E27FC236}">
                <a16:creationId xmlns:a16="http://schemas.microsoft.com/office/drawing/2014/main" id="{7EE2F5D3-A37E-445A-B185-4D2C6C58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出口限制能访问哪些 OBS 资源，桶侧限制哪些 VPC 或终端节点可以访问</a:t>
            </a:r>
          </a:p>
        </p:txBody>
      </p:sp>
      <p:sp>
        <p:nvSpPr>
          <p:cNvPr id="4" name="统一风格-页脚分隔线-55">
            <a:extLst xmlns:a="http://schemas.openxmlformats.org/drawingml/2006/main">
              <a:ext uri="{FF2B5EF4-FFF2-40B4-BE49-F238E27FC236}">
                <a16:creationId xmlns:a16="http://schemas.microsoft.com/office/drawing/2014/main" id="{31053FDC-0B88-4825-B5C9-A5813BD3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终端节点与桶策略都收口后，仍需 IAM 身份具备相应权限；显式 Deny 优先，策略变更须验证实际请求。-56">
            <a:extLst xmlns:a="http://schemas.openxmlformats.org/drawingml/2006/main">
              <a:ext uri="{FF2B5EF4-FFF2-40B4-BE49-F238E27FC236}">
                <a16:creationId xmlns:a16="http://schemas.microsoft.com/office/drawing/2014/main" id="{7AF858FE-DA3D-430C-B182-F6CA9D5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终端节点与桶策略都收口后，仍需 IAM 身份具备相应权限；显式 Deny 优先，策略变更须验证实际请求。</a:t>
            </a:r>
          </a:p>
        </p:txBody>
      </p:sp>
      <p:sp>
        <p:nvSpPr>
          <p:cNvPr id="6" name="统一风格-文字 37-57">
            <a:extLst xmlns:a="http://schemas.openxmlformats.org/drawingml/2006/main">
              <a:ext uri="{FF2B5EF4-FFF2-40B4-BE49-F238E27FC236}">
                <a16:creationId xmlns:a16="http://schemas.microsoft.com/office/drawing/2014/main" id="{C5B540CA-439A-4435-AFC1-1887EC3D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7" name="统一风格-业务 VPC-A玻璃后沿-58">
            <a:extLst xmlns:a="http://schemas.openxmlformats.org/drawingml/2006/main">
              <a:ext uri="{FF2B5EF4-FFF2-40B4-BE49-F238E27FC236}">
                <a16:creationId xmlns:a16="http://schemas.microsoft.com/office/drawing/2014/main" id="{75D7B51A-D02E-482A-A5E8-CCB2E70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9085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业务 VPC-A-59">
            <a:extLst xmlns:a="http://schemas.openxmlformats.org/drawingml/2006/main">
              <a:ext uri="{FF2B5EF4-FFF2-40B4-BE49-F238E27FC236}">
                <a16:creationId xmlns:a16="http://schemas.microsoft.com/office/drawing/2014/main" id="{72D01247-018E-4876-BB16-3C2CB01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9085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业务 VPC-A玻璃内沿-60">
            <a:extLst xmlns:a="http://schemas.openxmlformats.org/drawingml/2006/main">
              <a:ext uri="{FF2B5EF4-FFF2-40B4-BE49-F238E27FC236}">
                <a16:creationId xmlns:a16="http://schemas.microsoft.com/office/drawing/2014/main" id="{31BB7081-B2D7-4D7A-A148-0DC4DB9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203609"/>
            <a:ext cx="2965133" cy="1164908"/>
          </a:xfrm>
          <a:prstGeom xmlns:a="http://schemas.openxmlformats.org/drawingml/2006/main" prst="roundRect">
            <a:avLst>
              <a:gd name="adj" fmla="val 62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业务 VPC-A边缘高光-61">
            <a:extLst xmlns:a="http://schemas.openxmlformats.org/drawingml/2006/main">
              <a:ext uri="{FF2B5EF4-FFF2-40B4-BE49-F238E27FC236}">
                <a16:creationId xmlns:a16="http://schemas.microsoft.com/office/drawing/2014/main" id="{93F27DBC-CC85-411F-B6EA-140748EB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90850" cy="1190625"/>
          </a:xfrm>
          <a:custGeom xmlns:a="http://schemas.openxmlformats.org/drawingml/2006/main">
            <a:pathLst>
              <a:path w="2990850" h="1190625">
                <a:moveTo>
                  <a:pt x="95250" y="9525"/>
                </a:moveTo>
                <a:lnTo>
                  <a:pt x="2895600" y="9525"/>
                </a:lnTo>
                <a:cubicBezTo>
                  <a:pt x="2943225" y="9525"/>
                  <a:pt x="2981325" y="47625"/>
                  <a:pt x="29813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cloud VPC 云轮廓-62">
            <a:extLst xmlns:a="http://schemas.openxmlformats.org/drawingml/2006/main">
              <a:ext uri="{FF2B5EF4-FFF2-40B4-BE49-F238E27FC236}">
                <a16:creationId xmlns:a16="http://schemas.microsoft.com/office/drawing/2014/main" id="{3D7006F3-800A-48C4-83A1-3971893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2" name="统一风格-文字 业务 VPC-A-63">
            <a:extLst xmlns:a="http://schemas.openxmlformats.org/drawingml/2006/main">
              <a:ext uri="{FF2B5EF4-FFF2-40B4-BE49-F238E27FC236}">
                <a16:creationId xmlns:a16="http://schemas.microsoft.com/office/drawing/2014/main" id="{17BF6708-581B-444E-85EE-CA405CE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57438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ECS / CCE 应用 受控身份与私网 DNS-64">
            <a:extLst xmlns:a="http://schemas.openxmlformats.org/drawingml/2006/main">
              <a:ext uri="{FF2B5EF4-FFF2-40B4-BE49-F238E27FC236}">
                <a16:creationId xmlns:a16="http://schemas.microsoft.com/office/drawing/2014/main" id="{791B84A3-0885-4E11-B48B-89FCF3B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57488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ECS / CCE 应用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受控身份与私网 DNS</a:t>
            </a:r>
          </a:p>
        </p:txBody>
      </p:sp>
      <p:sp>
        <p:nvSpPr>
          <p:cNvPr id="14" name="统一风格-OBS 终端节点玻璃后沿-65">
            <a:extLst xmlns:a="http://schemas.openxmlformats.org/drawingml/2006/main">
              <a:ext uri="{FF2B5EF4-FFF2-40B4-BE49-F238E27FC236}">
                <a16:creationId xmlns:a16="http://schemas.microsoft.com/office/drawing/2014/main" id="{BB15B124-F50E-41CF-90D7-3387782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3375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5" name="统一风格-OBS 终端节点-66">
            <a:extLst xmlns:a="http://schemas.openxmlformats.org/drawingml/2006/main">
              <a:ext uri="{FF2B5EF4-FFF2-40B4-BE49-F238E27FC236}">
                <a16:creationId xmlns:a16="http://schemas.microsoft.com/office/drawing/2014/main" id="{5A2B4673-E4A0-4BCA-B20C-369E268A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3375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" name="统一风格-OBS 终端节点玻璃内沿-67">
            <a:extLst xmlns:a="http://schemas.openxmlformats.org/drawingml/2006/main">
              <a:ext uri="{FF2B5EF4-FFF2-40B4-BE49-F238E27FC236}">
                <a16:creationId xmlns:a16="http://schemas.microsoft.com/office/drawing/2014/main" id="{3A4A2358-8E98-4B99-BEC4-23C7AB1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059" y="2203609"/>
            <a:ext cx="3308033" cy="1164908"/>
          </a:xfrm>
          <a:prstGeom xmlns:a="http://schemas.openxmlformats.org/drawingml/2006/main" prst="roundRect">
            <a:avLst>
              <a:gd name="adj" fmla="val 62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7" name="统一风格-OBS 终端节点边缘高光-68">
            <a:extLst xmlns:a="http://schemas.openxmlformats.org/drawingml/2006/main">
              <a:ext uri="{FF2B5EF4-FFF2-40B4-BE49-F238E27FC236}">
                <a16:creationId xmlns:a16="http://schemas.microsoft.com/office/drawing/2014/main" id="{D57E19A4-2427-4246-A0C5-3E171374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33750" cy="1190625"/>
          </a:xfrm>
          <a:custGeom xmlns:a="http://schemas.openxmlformats.org/drawingml/2006/main">
            <a:pathLst>
              <a:path w="3333750" h="1190625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8" name="统一风格-终端节点图标-69">
            <a:extLst xmlns:a="http://schemas.openxmlformats.org/drawingml/2006/main">
              <a:ext uri="{FF2B5EF4-FFF2-40B4-BE49-F238E27FC236}">
                <a16:creationId xmlns:a16="http://schemas.microsoft.com/office/drawing/2014/main" id="{BEE46B0E-59D5-404D-BB8A-9F7D955F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9" name="统一风格-终端节点服务端口-70">
            <a:extLst xmlns:a="http://schemas.openxmlformats.org/drawingml/2006/main">
              <a:ext uri="{FF2B5EF4-FFF2-40B4-BE49-F238E27FC236}">
                <a16:creationId xmlns:a16="http://schemas.microsoft.com/office/drawing/2014/main" id="{DD90FB1D-1E42-4DDA-9B51-925F7A27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0" name="统一风格-文字 OBS 终端节点-71">
            <a:extLst xmlns:a="http://schemas.openxmlformats.org/drawingml/2006/main">
              <a:ext uri="{FF2B5EF4-FFF2-40B4-BE49-F238E27FC236}">
                <a16:creationId xmlns:a16="http://schemas.microsoft.com/office/drawing/2014/main" id="{21789D67-F037-4890-A07F-6BC2528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57438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终端节点</a:t>
            </a:r>
          </a:p>
        </p:txBody>
      </p:sp>
      <p:sp>
        <p:nvSpPr>
          <p:cNvPr id="21" name="统一风格-文字 按资源和操作过滤 限制本 VPC 的访问范围-72">
            <a:extLst xmlns:a="http://schemas.openxmlformats.org/drawingml/2006/main">
              <a:ext uri="{FF2B5EF4-FFF2-40B4-BE49-F238E27FC236}">
                <a16:creationId xmlns:a16="http://schemas.microsoft.com/office/drawing/2014/main" id="{57AB5EE6-A8CF-43A6-90A1-B7252E43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57488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按资源和操作过滤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限制本 VPC 的访问范围</a:t>
            </a:r>
          </a:p>
        </p:txBody>
      </p:sp>
      <p:sp>
        <p:nvSpPr>
          <p:cNvPr id="22" name="统一风格-OBS 私有桶玻璃后沿-73">
            <a:extLst xmlns:a="http://schemas.openxmlformats.org/drawingml/2006/main">
              <a:ext uri="{FF2B5EF4-FFF2-40B4-BE49-F238E27FC236}">
                <a16:creationId xmlns:a16="http://schemas.microsoft.com/office/drawing/2014/main" id="{479042D3-55D4-48EC-86A1-737BFCB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3" name="统一风格-OBS 私有桶-74">
            <a:extLst xmlns:a="http://schemas.openxmlformats.org/drawingml/2006/main">
              <a:ext uri="{FF2B5EF4-FFF2-40B4-BE49-F238E27FC236}">
                <a16:creationId xmlns:a16="http://schemas.microsoft.com/office/drawing/2014/main" id="{51C5CA82-95DC-46C6-BCB6-81F442C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OBS 私有桶玻璃内沿-75">
            <a:extLst xmlns:a="http://schemas.openxmlformats.org/drawingml/2006/main">
              <a:ext uri="{FF2B5EF4-FFF2-40B4-BE49-F238E27FC236}">
                <a16:creationId xmlns:a16="http://schemas.microsoft.com/office/drawing/2014/main" id="{EDBD6FD8-0993-4D9C-A450-9727DD0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559" y="2203609"/>
            <a:ext cx="3288983" cy="1164908"/>
          </a:xfrm>
          <a:prstGeom xmlns:a="http://schemas.openxmlformats.org/drawingml/2006/main" prst="roundRect">
            <a:avLst>
              <a:gd name="adj" fmla="val 62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OBS 私有桶边缘高光-76">
            <a:extLst xmlns:a="http://schemas.openxmlformats.org/drawingml/2006/main">
              <a:ext uri="{FF2B5EF4-FFF2-40B4-BE49-F238E27FC236}">
                <a16:creationId xmlns:a16="http://schemas.microsoft.com/office/drawing/2014/main" id="{D922F975-2368-4886-BE70-77B807A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190625"/>
          </a:xfrm>
          <a:custGeom xmlns:a="http://schemas.openxmlformats.org/drawingml/2006/main">
            <a:pathLst>
              <a:path w="3314700" h="1190625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OBS 对象桶外形-77">
            <a:extLst xmlns:a="http://schemas.openxmlformats.org/drawingml/2006/main">
              <a:ext uri="{FF2B5EF4-FFF2-40B4-BE49-F238E27FC236}">
                <a16:creationId xmlns:a16="http://schemas.microsoft.com/office/drawing/2014/main" id="{AC2D26AC-A292-4672-B60B-7CEC77E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 xmlns:a="http://schemas.openxmlformats.org/drawingml/2006/main">
            <a:srgbClr val="E9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7" name="统一风格-OBS 桶口-78">
            <a:extLst xmlns:a="http://schemas.openxmlformats.org/drawingml/2006/main">
              <a:ext uri="{FF2B5EF4-FFF2-40B4-BE49-F238E27FC236}">
                <a16:creationId xmlns:a16="http://schemas.microsoft.com/office/drawing/2014/main" id="{AB8D2AEE-22EB-4FE9-83C4-9A68F87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8" name="统一风格-OBS 对象标记-79">
            <a:extLst xmlns:a="http://schemas.openxmlformats.org/drawingml/2006/main">
              <a:ext uri="{FF2B5EF4-FFF2-40B4-BE49-F238E27FC236}">
                <a16:creationId xmlns:a16="http://schemas.microsoft.com/office/drawing/2014/main" id="{E33F997F-20F1-453D-99E5-CA38693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38413"/>
            <a:ext cx="495300" cy="495300"/>
          </a:xfrm>
          <a:custGeom xmlns:a="http://schemas.openxmlformats.org/drawingml/2006/main"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9" name="统一风格-文字 OBS 私有桶-80">
            <a:extLst xmlns:a="http://schemas.openxmlformats.org/drawingml/2006/main">
              <a:ext uri="{FF2B5EF4-FFF2-40B4-BE49-F238E27FC236}">
                <a16:creationId xmlns:a16="http://schemas.microsoft.com/office/drawing/2014/main" id="{A3B9219E-A4E5-4E70-A1F0-2DBB5D7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57438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私有桶</a:t>
            </a:r>
          </a:p>
        </p:txBody>
      </p:sp>
      <p:sp>
        <p:nvSpPr>
          <p:cNvPr id="30" name="统一风格-文字 prod-data / app-a/* 桶策略校验来源与权限-81">
            <a:extLst xmlns:a="http://schemas.openxmlformats.org/drawingml/2006/main">
              <a:ext uri="{FF2B5EF4-FFF2-40B4-BE49-F238E27FC236}">
                <a16:creationId xmlns:a16="http://schemas.microsoft.com/office/drawing/2014/main" id="{2E2D1980-EF19-4486-A576-05636044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57488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prod-data / app-a/*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桶策略校验来源与权限</a:t>
            </a:r>
          </a:p>
        </p:txBody>
      </p:sp>
      <p:cxnSp>
        <p:nvCxnSpPr>
          <p:cNvPr id="31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51A2BA82-AD7F-4EE3-9A1B-3384B1C419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00450" y="2781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32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A8804F2D-2F04-449F-9BE0-5E48CEECA4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00950" y="2781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33" name="统一风格-出口侧：只能访问批准资源玻璃后沿-82">
            <a:extLst xmlns:a="http://schemas.openxmlformats.org/drawingml/2006/main">
              <a:ext uri="{FF2B5EF4-FFF2-40B4-BE49-F238E27FC236}">
                <a16:creationId xmlns:a16="http://schemas.microsoft.com/office/drawing/2014/main" id="{9F010176-2F93-4652-A32F-9817E1D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578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4" name="统一风格-出口侧：只能访问批准资源-83">
            <a:extLst xmlns:a="http://schemas.openxmlformats.org/drawingml/2006/main">
              <a:ext uri="{FF2B5EF4-FFF2-40B4-BE49-F238E27FC236}">
                <a16:creationId xmlns:a16="http://schemas.microsoft.com/office/drawing/2014/main" id="{DD9F2E74-09E9-4CBA-9280-3F778AD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578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5" name="统一风格-出口侧：只能访问批准资源玻璃内沿-84">
            <a:extLst xmlns:a="http://schemas.openxmlformats.org/drawingml/2006/main">
              <a:ext uri="{FF2B5EF4-FFF2-40B4-BE49-F238E27FC236}">
                <a16:creationId xmlns:a16="http://schemas.microsoft.com/office/drawing/2014/main" id="{05825E5A-F214-4BD9-8CE0-6C338EB7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3822859"/>
            <a:ext cx="5232083" cy="1164908"/>
          </a:xfrm>
          <a:prstGeom xmlns:a="http://schemas.openxmlformats.org/drawingml/2006/main" prst="roundRect">
            <a:avLst>
              <a:gd name="adj" fmla="val 62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6" name="统一风格-出口侧：只能访问批准资源边缘高光-85">
            <a:extLst xmlns:a="http://schemas.openxmlformats.org/drawingml/2006/main">
              <a:ext uri="{FF2B5EF4-FFF2-40B4-BE49-F238E27FC236}">
                <a16:creationId xmlns:a16="http://schemas.microsoft.com/office/drawing/2014/main" id="{2191F358-81B1-4594-8F1F-EFE4E15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57800" cy="1190625"/>
          </a:xfrm>
          <a:custGeom xmlns:a="http://schemas.openxmlformats.org/drawingml/2006/main"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文字 出口侧：只能访问批准资源-86">
            <a:extLst xmlns:a="http://schemas.openxmlformats.org/drawingml/2006/main">
              <a:ext uri="{FF2B5EF4-FFF2-40B4-BE49-F238E27FC236}">
                <a16:creationId xmlns:a16="http://schemas.microsoft.com/office/drawing/2014/main" id="{46F74B84-8BDB-45B2-81A5-E850BB3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338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出口侧：只能访问批准资源</a:t>
            </a:r>
          </a:p>
        </p:txBody>
      </p:sp>
      <p:sp>
        <p:nvSpPr>
          <p:cNvPr id="38" name="统一风格-文字 终端节点策略允许目标桶与对象前缀 只读任务仅授予下载，避免默认全资源访问-87">
            <a:extLst xmlns:a="http://schemas.openxmlformats.org/drawingml/2006/main">
              <a:ext uri="{FF2B5EF4-FFF2-40B4-BE49-F238E27FC236}">
                <a16:creationId xmlns:a16="http://schemas.microsoft.com/office/drawing/2014/main" id="{6E5E1A23-ED36-4FA3-B6B1-6138B05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957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终端节点策略允许目标桶与对象前缀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只读任务仅授予下载，避免默认全资源访问</a:t>
            </a:r>
          </a:p>
        </p:txBody>
      </p:sp>
      <p:sp>
        <p:nvSpPr>
          <p:cNvPr id="39" name="统一风格-资源侧：只接受批准来源玻璃后沿-88">
            <a:extLst xmlns:a="http://schemas.openxmlformats.org/drawingml/2006/main">
              <a:ext uri="{FF2B5EF4-FFF2-40B4-BE49-F238E27FC236}">
                <a16:creationId xmlns:a16="http://schemas.microsoft.com/office/drawing/2014/main" id="{34570C80-AFB9-4FFC-B6FB-60BBBFD1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52578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0" name="统一风格-资源侧：只接受批准来源-89">
            <a:extLst xmlns:a="http://schemas.openxmlformats.org/drawingml/2006/main">
              <a:ext uri="{FF2B5EF4-FFF2-40B4-BE49-F238E27FC236}">
                <a16:creationId xmlns:a16="http://schemas.microsoft.com/office/drawing/2014/main" id="{F41B7B8D-5DF6-46A0-84A0-2D24362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5257800" cy="1190625"/>
          </a:xfrm>
          <a:prstGeom xmlns:a="http://schemas.openxmlformats.org/drawingml/2006/main" prst="roundRect">
            <a:avLst>
              <a:gd name="adj" fmla="val 7200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1" name="统一风格-资源侧：只接受批准来源玻璃内沿-90">
            <a:extLst xmlns:a="http://schemas.openxmlformats.org/drawingml/2006/main">
              <a:ext uri="{FF2B5EF4-FFF2-40B4-BE49-F238E27FC236}">
                <a16:creationId xmlns:a16="http://schemas.microsoft.com/office/drawing/2014/main" id="{392DBA14-1CE2-44B2-9C7E-1FB99D61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459" y="3822859"/>
            <a:ext cx="5232083" cy="1164908"/>
          </a:xfrm>
          <a:prstGeom xmlns:a="http://schemas.openxmlformats.org/drawingml/2006/main" prst="roundRect">
            <a:avLst>
              <a:gd name="adj" fmla="val 629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2" name="统一风格-资源侧：只接受批准来源边缘高光-91">
            <a:extLst xmlns:a="http://schemas.openxmlformats.org/drawingml/2006/main">
              <a:ext uri="{FF2B5EF4-FFF2-40B4-BE49-F238E27FC236}">
                <a16:creationId xmlns:a16="http://schemas.microsoft.com/office/drawing/2014/main" id="{23DF60FF-2C34-432A-BBA5-BA5460E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5257800" cy="1190625"/>
          </a:xfrm>
          <a:custGeom xmlns:a="http://schemas.openxmlformats.org/drawingml/2006/main"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文字 资源侧：只接受批准来源-92">
            <a:extLst xmlns:a="http://schemas.openxmlformats.org/drawingml/2006/main">
              <a:ext uri="{FF2B5EF4-FFF2-40B4-BE49-F238E27FC236}">
                <a16:creationId xmlns:a16="http://schemas.microsoft.com/office/drawing/2014/main" id="{0A6C06C6-4CFA-4278-9AC8-77B6F32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338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资源侧：只接受批准来源</a:t>
            </a:r>
          </a:p>
        </p:txBody>
      </p:sp>
      <p:sp>
        <p:nvSpPr>
          <p:cNvPr id="44" name="统一风格-文字 桶策略限定 VPC 或终端节点来源 同时限定业务身份及其可执行的读写操作-93">
            <a:extLst xmlns:a="http://schemas.openxmlformats.org/drawingml/2006/main">
              <a:ext uri="{FF2B5EF4-FFF2-40B4-BE49-F238E27FC236}">
                <a16:creationId xmlns:a16="http://schemas.microsoft.com/office/drawing/2014/main" id="{B828283F-19E5-44A9-B58B-0D17BA25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957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桶策略限定 VPC 或终端节点来源</a:t>
            </a:r>
          </a:p>
          <a:p xmlns:a="http://schemas.openxmlformats.org/drawingml/2006/main"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同时限定业务身份及其可执行的读写操作</a:t>
            </a:r>
          </a:p>
        </p:txBody>
      </p:sp>
      <p:sp>
        <p:nvSpPr>
          <p:cNvPr id="45" name="统一风格-双向拒绝验证玻璃后沿-94">
            <a:extLst xmlns:a="http://schemas.openxmlformats.org/drawingml/2006/main">
              <a:ext uri="{FF2B5EF4-FFF2-40B4-BE49-F238E27FC236}">
                <a16:creationId xmlns:a16="http://schemas.microsoft.com/office/drawing/2014/main" id="{5E6B2FB5-DDB8-4C68-B357-CC077A1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6" name="统一风格-双向拒绝验证-95">
            <a:extLst xmlns:a="http://schemas.openxmlformats.org/drawingml/2006/main">
              <a:ext uri="{FF2B5EF4-FFF2-40B4-BE49-F238E27FC236}">
                <a16:creationId xmlns:a16="http://schemas.microsoft.com/office/drawing/2014/main" id="{DBB6F032-16AA-40BB-9E3F-F8A1A22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7" name="统一风格-双向拒绝验证玻璃内沿-96">
            <a:extLst xmlns:a="http://schemas.openxmlformats.org/drawingml/2006/main">
              <a:ext uri="{FF2B5EF4-FFF2-40B4-BE49-F238E27FC236}">
                <a16:creationId xmlns:a16="http://schemas.microsoft.com/office/drawing/2014/main" id="{F5AD9C19-6857-44E6-8FED-576B854C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289709"/>
            <a:ext cx="10947083" cy="583883"/>
          </a:xfrm>
          <a:prstGeom xmlns:a="http://schemas.openxmlformats.org/drawingml/2006/main" prst="roundRect">
            <a:avLst>
              <a:gd name="adj" fmla="val 1256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8" name="统一风格-双向拒绝验证边缘高光-97">
            <a:extLst xmlns:a="http://schemas.openxmlformats.org/drawingml/2006/main">
              <a:ext uri="{FF2B5EF4-FFF2-40B4-BE49-F238E27FC236}">
                <a16:creationId xmlns:a16="http://schemas.microsoft.com/office/drawing/2014/main" id="{D1CD5D62-3E1B-4C10-9F68-A7941763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09600"/>
          </a:xfrm>
          <a:custGeom xmlns:a="http://schemas.openxmlformats.org/drawingml/2006/main"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文字 双向拒绝验证-98">
            <a:extLst xmlns:a="http://schemas.openxmlformats.org/drawingml/2006/main">
              <a:ext uri="{FF2B5EF4-FFF2-40B4-BE49-F238E27FC236}">
                <a16:creationId xmlns:a16="http://schemas.microsoft.com/office/drawing/2014/main" id="{A57E94F9-33AE-4E53-BD7C-9B7698B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双向拒绝验证</a:t>
            </a:r>
          </a:p>
        </p:txBody>
      </p:sp>
      <p:sp>
        <p:nvSpPr>
          <p:cNvPr id="50" name="统一风格-文字 其他 VPC 访问受限桶应拒绝；本 VPC 访问未批准桶也应拒绝。-99">
            <a:extLst xmlns:a="http://schemas.openxmlformats.org/drawingml/2006/main">
              <a:ext uri="{FF2B5EF4-FFF2-40B4-BE49-F238E27FC236}">
                <a16:creationId xmlns:a16="http://schemas.microsoft.com/office/drawing/2014/main" id="{4BFC38E4-FDE5-4679-8A59-4663773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911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其他 VPC 访问受限桶应拒绝；本 VPC 访问未批准桶也应拒绝。</a:t>
            </a:r>
          </a:p>
        </p:txBody>
      </p:sp>
    </p:spTree>
    <p:extLst>
      <p:ext uri="{BB962C8B-B14F-4D97-AF65-F5344CB8AC3E}">
        <p14:creationId xmlns:p14="http://schemas.microsoft.com/office/powerpoint/2010/main" val="209170577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100">
            <a:extLst xmlns:a="http://schemas.openxmlformats.org/drawingml/2006/main">
              <a:ext uri="{FF2B5EF4-FFF2-40B4-BE49-F238E27FC236}">
                <a16:creationId xmlns:a16="http://schemas.microsoft.com/office/drawing/2014/main" id="{216671A2-C12E-4689-ADD9-B23AC2E7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策略加固：来源、资源与 HTTPS-101">
            <a:extLst xmlns:a="http://schemas.openxmlformats.org/drawingml/2006/main">
              <a:ext uri="{FF2B5EF4-FFF2-40B4-BE49-F238E27FC236}">
                <a16:creationId xmlns:a16="http://schemas.microsoft.com/office/drawing/2014/main" id="{8A2ACE3E-590B-41C1-8163-FBC13FD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策略加固：来源、资源与 HTTPS</a:t>
            </a:r>
          </a:p>
        </p:txBody>
      </p:sp>
      <p:sp>
        <p:nvSpPr>
          <p:cNvPr id="3" name="统一风格-文字 策略分别限定业务身份、目标对象、执行操作和传输条件-102">
            <a:extLst xmlns:a="http://schemas.openxmlformats.org/drawingml/2006/main">
              <a:ext uri="{FF2B5EF4-FFF2-40B4-BE49-F238E27FC236}">
                <a16:creationId xmlns:a16="http://schemas.microsoft.com/office/drawing/2014/main" id="{FE081435-DC29-4F93-B717-C820D00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策略分别限定业务身份、目标对象、执行操作和传输条件</a:t>
            </a:r>
          </a:p>
        </p:txBody>
      </p:sp>
      <p:sp>
        <p:nvSpPr>
          <p:cNvPr id="4" name="统一风格-页脚分隔线-103">
            <a:extLst xmlns:a="http://schemas.openxmlformats.org/drawingml/2006/main">
              <a:ext uri="{FF2B5EF4-FFF2-40B4-BE49-F238E27FC236}">
                <a16:creationId xmlns:a16="http://schemas.microsoft.com/office/drawing/2014/main" id="{F0389E53-0214-4645-8D8E-DDB55C08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终端节点策略与桶策略的 Action、Resource 语法不同，条件键也需按对应策略类型核验，不能直接互拷。-104">
            <a:extLst xmlns:a="http://schemas.openxmlformats.org/drawingml/2006/main">
              <a:ext uri="{FF2B5EF4-FFF2-40B4-BE49-F238E27FC236}">
                <a16:creationId xmlns:a16="http://schemas.microsoft.com/office/drawing/2014/main" id="{1C30EC54-BD0E-4EB1-A26B-191CB92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终端节点策略与桶策略的 Action、Resource 语法不同，条件键也需按对应策略类型核验，不能直接互拷。</a:t>
            </a:r>
          </a:p>
        </p:txBody>
      </p:sp>
      <p:sp>
        <p:nvSpPr>
          <p:cNvPr id="6" name="统一风格-文字 38-105">
            <a:extLst xmlns:a="http://schemas.openxmlformats.org/drawingml/2006/main">
              <a:ext uri="{FF2B5EF4-FFF2-40B4-BE49-F238E27FC236}">
                <a16:creationId xmlns:a16="http://schemas.microsoft.com/office/drawing/2014/main" id="{CB6D7288-A867-43BB-8BC7-A05F0A90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统一风格-可编辑配置表玻璃后沿-106">
            <a:extLst xmlns:a="http://schemas.openxmlformats.org/drawingml/2006/main">
              <a:ext uri="{FF2B5EF4-FFF2-40B4-BE49-F238E27FC236}">
                <a16:creationId xmlns:a16="http://schemas.microsoft.com/office/drawing/2014/main" id="{0BB159BD-986E-4E8D-A5FB-9E6AE09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107">
            <a:extLst xmlns:a="http://schemas.openxmlformats.org/drawingml/2006/main">
              <a:ext uri="{FF2B5EF4-FFF2-40B4-BE49-F238E27FC236}">
                <a16:creationId xmlns:a16="http://schemas.microsoft.com/office/drawing/2014/main" id="{EC7CFD9B-A372-4706-8ED5-31BB809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108">
            <a:extLst xmlns:a="http://schemas.openxmlformats.org/drawingml/2006/main">
              <a:ext uri="{FF2B5EF4-FFF2-40B4-BE49-F238E27FC236}">
                <a16:creationId xmlns:a16="http://schemas.microsoft.com/office/drawing/2014/main" id="{73519157-5BAE-4369-852E-D6FD8600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109">
            <a:extLst xmlns:a="http://schemas.openxmlformats.org/drawingml/2006/main">
              <a:ext uri="{FF2B5EF4-FFF2-40B4-BE49-F238E27FC236}">
                <a16:creationId xmlns:a16="http://schemas.microsoft.com/office/drawing/2014/main" id="{FBE679DC-D066-42E5-8B64-9E346AA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82C57-0BB8-448D-B620-DBE645DF8680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应明确的规则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业务使用建议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身份与权限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只允许业务身份执行必要读写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管理、删除与普通读取分别授权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应用优先用委托或临时凭证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避免共享管理员 AK / SK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桶与对象范围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精确到桶和必要对象前缀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桶级与对象级操作匹配各自资源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只读任务以 GetObject 为主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ListBucket、PutObject 等按需求补充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来源边界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SourceVpc / SourceVpce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限定批准 VPC 或终端节点来源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验证其他 VPC 及公网来源被拒绝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来源条件不能替代业务身份授权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传输与公开面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SecureTransport 限制 HTTPS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私有桶与对象避免公开读写授权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保持证书校验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敏感数据与公开分发资源分桶管理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显式拒绝与例外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全主体 Deny 可能影响桶拥有者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也可能阻断备份、复制和云服务委托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先核对管理员与云服务访问路径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精确设计例外，保留恢复策略的通道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59086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110">
            <a:extLst xmlns:a="http://schemas.openxmlformats.org/drawingml/2006/main">
              <a:ext uri="{FF2B5EF4-FFF2-40B4-BE49-F238E27FC236}">
                <a16:creationId xmlns:a16="http://schemas.microsoft.com/office/drawing/2014/main" id="{36FF7615-9E79-405C-A700-89E9143E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私网接入：基础版与企业版分别配置-111">
            <a:extLst xmlns:a="http://schemas.openxmlformats.org/drawingml/2006/main">
              <a:ext uri="{FF2B5EF4-FFF2-40B4-BE49-F238E27FC236}">
                <a16:creationId xmlns:a16="http://schemas.microsoft.com/office/drawing/2014/main" id="{FE082470-4A58-4669-8BFD-CE02D80C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私网接入：基础版与企业版分别配置</a:t>
            </a:r>
          </a:p>
        </p:txBody>
      </p:sp>
      <p:sp>
        <p:nvSpPr>
          <p:cNvPr id="3" name="统一风格-文字 先识别镜像仓库版本，再决定内网入口、配套资源和权限边界-112">
            <a:extLst xmlns:a="http://schemas.openxmlformats.org/drawingml/2006/main">
              <a:ext uri="{FF2B5EF4-FFF2-40B4-BE49-F238E27FC236}">
                <a16:creationId xmlns:a16="http://schemas.microsoft.com/office/drawing/2014/main" id="{AA3C3184-B27D-4507-9D20-A085648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先识别镜像仓库版本，再决定内网入口、配套资源和权限边界</a:t>
            </a:r>
          </a:p>
        </p:txBody>
      </p:sp>
      <p:sp>
        <p:nvSpPr>
          <p:cNvPr id="4" name="统一风格-页脚分隔线-113">
            <a:extLst xmlns:a="http://schemas.openxmlformats.org/drawingml/2006/main">
              <a:ext uri="{FF2B5EF4-FFF2-40B4-BE49-F238E27FC236}">
                <a16:creationId xmlns:a16="http://schemas.microsoft.com/office/drawing/2014/main" id="{D2909428-D8FD-48BE-8AC6-DA1138E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网络入口限制与镜像仓库私有属性分别配置。内网访问成功后，仍需有效凭证与镜像下载权限。-114">
            <a:extLst xmlns:a="http://schemas.openxmlformats.org/drawingml/2006/main">
              <a:ext uri="{FF2B5EF4-FFF2-40B4-BE49-F238E27FC236}">
                <a16:creationId xmlns:a16="http://schemas.microsoft.com/office/drawing/2014/main" id="{C05AD903-C414-4C8C-82F3-63072C4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网络入口限制与镜像仓库私有属性分别配置。内网访问成功后，仍需有效凭证与镜像下载权限。</a:t>
            </a:r>
          </a:p>
        </p:txBody>
      </p:sp>
      <p:sp>
        <p:nvSpPr>
          <p:cNvPr id="6" name="统一风格-文字 39-115">
            <a:extLst xmlns:a="http://schemas.openxmlformats.org/drawingml/2006/main">
              <a:ext uri="{FF2B5EF4-FFF2-40B4-BE49-F238E27FC236}">
                <a16:creationId xmlns:a16="http://schemas.microsoft.com/office/drawing/2014/main" id="{AF1830A8-DBC4-4269-8696-35E20A0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统一风格-可编辑配置表玻璃后沿-116">
            <a:extLst xmlns:a="http://schemas.openxmlformats.org/drawingml/2006/main">
              <a:ext uri="{FF2B5EF4-FFF2-40B4-BE49-F238E27FC236}">
                <a16:creationId xmlns:a16="http://schemas.microsoft.com/office/drawing/2014/main" id="{9DA01D89-DEE8-4577-B1DE-9100F9FC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117">
            <a:extLst xmlns:a="http://schemas.openxmlformats.org/drawingml/2006/main">
              <a:ext uri="{FF2B5EF4-FFF2-40B4-BE49-F238E27FC236}">
                <a16:creationId xmlns:a16="http://schemas.microsoft.com/office/drawing/2014/main" id="{E17D5621-8188-4038-BFE0-122281F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118">
            <a:extLst xmlns:a="http://schemas.openxmlformats.org/drawingml/2006/main">
              <a:ext uri="{FF2B5EF4-FFF2-40B4-BE49-F238E27FC236}">
                <a16:creationId xmlns:a16="http://schemas.microsoft.com/office/drawing/2014/main" id="{E9C092D2-E68D-45B2-9972-7D9CDD4D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119">
            <a:extLst xmlns:a="http://schemas.openxmlformats.org/drawingml/2006/main">
              <a:ext uri="{FF2B5EF4-FFF2-40B4-BE49-F238E27FC236}">
                <a16:creationId xmlns:a16="http://schemas.microsoft.com/office/drawing/2014/main" id="{4AF95759-E410-462B-868A-095740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69053-1B52-4697-AD37-B7CDADC5B25E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基础版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企业版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内网接入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ECS / CCE 节点默认走内网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更高要求时配置 SWR 终端节点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在注册表内网访问中添加批准 VPC / 子网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平台创建配套终端节点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网络收口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默认内网不代表仅本 VPC 可访问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结合支持的端点控制与仓库权限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仅纳入业务所需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公网入口非必要保持关闭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配套依赖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收紧 OBS 端点策略时核验镜像存储桶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认证通道和镜像层下载都要可达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保护自动创建的 VPCEP 与 DNS 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变更前核查解析配额和实例状态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凭证与授权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识别通用型 / 增强型登录指令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IAM 版本核验权限模型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内网访问并不替代访问凭证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仓库、实例与主体授权按版本核验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上线验证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完整下载未缓存镜像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检查所有相关镜像层与授权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从批准 VPC 拉取并验证凭证更新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未批准来源与操作应被相应策略拒绝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0101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统一风格-文字 02  网络互联与安全加固-120">
            <a:extLst xmlns:a="http://schemas.openxmlformats.org/drawingml/2006/main">
              <a:ext uri="{FF2B5EF4-FFF2-40B4-BE49-F238E27FC236}">
                <a16:creationId xmlns:a16="http://schemas.microsoft.com/office/drawing/2014/main" id="{3DF19F5A-3A51-4068-B832-99578ACE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基础版：镜像拉取需要两类访问链路-121">
            <a:extLst xmlns:a="http://schemas.openxmlformats.org/drawingml/2006/main">
              <a:ext uri="{FF2B5EF4-FFF2-40B4-BE49-F238E27FC236}">
                <a16:creationId xmlns:a16="http://schemas.microsoft.com/office/drawing/2014/main" id="{8B1429EF-70CD-4FFB-BC69-B16AE746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基础版：镜像拉取需要两类访问链路</a:t>
            </a:r>
          </a:p>
        </p:txBody>
      </p:sp>
      <p:sp>
        <p:nvSpPr>
          <p:cNvPr id="3" name="统一风格-文字 认证、镜像清单与实际镜像层下载分别检查，不能只以 docker login 成功作为验收-122">
            <a:extLst xmlns:a="http://schemas.openxmlformats.org/drawingml/2006/main">
              <a:ext uri="{FF2B5EF4-FFF2-40B4-BE49-F238E27FC236}">
                <a16:creationId xmlns:a16="http://schemas.microsoft.com/office/drawing/2014/main" id="{16A5A55F-A2C1-49F2-8B9F-2385624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认证、镜像清单与实际镜像层下载分别检查，不能只以 docker login 成功作为验收</a:t>
            </a:r>
          </a:p>
        </p:txBody>
      </p:sp>
      <p:sp>
        <p:nvSpPr>
          <p:cNvPr id="4" name="统一风格-页脚分隔线-123">
            <a:extLst xmlns:a="http://schemas.openxmlformats.org/drawingml/2006/main">
              <a:ext uri="{FF2B5EF4-FFF2-40B4-BE49-F238E27FC236}">
                <a16:creationId xmlns:a16="http://schemas.microsoft.com/office/drawing/2014/main" id="{5213E4FD-16FF-4DB3-9B7E-C69C8841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本图假设已启用 OBS 终端节点并收紧其策略。SWR 企业版按实例文档核验依赖，不能照搬基础版桶清单。-124">
            <a:extLst xmlns:a="http://schemas.openxmlformats.org/drawingml/2006/main">
              <a:ext uri="{FF2B5EF4-FFF2-40B4-BE49-F238E27FC236}">
                <a16:creationId xmlns:a16="http://schemas.microsoft.com/office/drawing/2014/main" id="{1084DF3D-A952-46F3-B210-B31FB7AA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本图假设已启用 OBS 终端节点并收紧其策略。SWR 企业版按实例文档核验依赖，不能照搬基础版桶清单。</a:t>
            </a:r>
          </a:p>
        </p:txBody>
      </p:sp>
      <p:sp>
        <p:nvSpPr>
          <p:cNvPr id="6" name="统一风格-文字 40-125">
            <a:extLst xmlns:a="http://schemas.openxmlformats.org/drawingml/2006/main">
              <a:ext uri="{FF2B5EF4-FFF2-40B4-BE49-F238E27FC236}">
                <a16:creationId xmlns:a16="http://schemas.microsoft.com/office/drawing/2014/main" id="{D7910E5E-98A5-44A5-AA1D-E5ABB0CA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7" name="统一风格-ECS / CCE 节点玻璃后沿-126">
            <a:extLst xmlns:a="http://schemas.openxmlformats.org/drawingml/2006/main">
              <a:ext uri="{FF2B5EF4-FFF2-40B4-BE49-F238E27FC236}">
                <a16:creationId xmlns:a16="http://schemas.microsoft.com/office/drawing/2014/main" id="{EB320871-3146-4E14-BBD3-EBC5BB3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33700" cy="2324100"/>
          </a:xfrm>
          <a:prstGeom xmlns:a="http://schemas.openxmlformats.org/drawingml/2006/main" prst="roundRect">
            <a:avLst>
              <a:gd name="adj" fmla="val 3689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ECS / CCE 节点-127">
            <a:extLst xmlns:a="http://schemas.openxmlformats.org/drawingml/2006/main">
              <a:ext uri="{FF2B5EF4-FFF2-40B4-BE49-F238E27FC236}">
                <a16:creationId xmlns:a16="http://schemas.microsoft.com/office/drawing/2014/main" id="{6BB7A5A7-CA11-4075-BC68-3C4F4B1E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33700" cy="2324100"/>
          </a:xfrm>
          <a:prstGeom xmlns:a="http://schemas.openxmlformats.org/drawingml/2006/main" prst="roundRect">
            <a:avLst>
              <a:gd name="adj" fmla="val 3689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ECS / CCE 节点玻璃内沿-128">
            <a:extLst xmlns:a="http://schemas.openxmlformats.org/drawingml/2006/main">
              <a:ext uri="{FF2B5EF4-FFF2-40B4-BE49-F238E27FC236}">
                <a16:creationId xmlns:a16="http://schemas.microsoft.com/office/drawing/2014/main" id="{DEF15516-6931-4346-85C5-C7BF6BCE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2832259"/>
            <a:ext cx="2907983" cy="2298383"/>
          </a:xfrm>
          <a:prstGeom xmlns:a="http://schemas.openxmlformats.org/drawingml/2006/main" prst="roundRect">
            <a:avLst>
              <a:gd name="adj" fmla="val 3191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ECS / CCE 节点边缘高光-129">
            <a:extLst xmlns:a="http://schemas.openxmlformats.org/drawingml/2006/main">
              <a:ext uri="{FF2B5EF4-FFF2-40B4-BE49-F238E27FC236}">
                <a16:creationId xmlns:a16="http://schemas.microsoft.com/office/drawing/2014/main" id="{9F02C74D-7B81-42FF-99C5-CF2D78F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33700" cy="2324100"/>
          </a:xfrm>
          <a:custGeom xmlns:a="http://schemas.openxmlformats.org/drawingml/2006/main">
            <a:pathLst>
              <a:path w="2933700" h="2324100">
                <a:moveTo>
                  <a:pt x="95250" y="9525"/>
                </a:moveTo>
                <a:lnTo>
                  <a:pt x="2838450" y="9525"/>
                </a:lnTo>
                <a:cubicBezTo>
                  <a:pt x="2886075" y="9525"/>
                  <a:pt x="2924175" y="47625"/>
                  <a:pt x="2924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server 服务器机架-130">
            <a:extLst xmlns:a="http://schemas.openxmlformats.org/drawingml/2006/main">
              <a:ext uri="{FF2B5EF4-FFF2-40B4-BE49-F238E27FC236}">
                <a16:creationId xmlns:a16="http://schemas.microsoft.com/office/drawing/2014/main" id="{0DFF3E1A-161F-4BF3-92C2-29BA73EB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2" name="统一风格-server 机架状态-131">
            <a:extLst xmlns:a="http://schemas.openxmlformats.org/drawingml/2006/main">
              <a:ext uri="{FF2B5EF4-FFF2-40B4-BE49-F238E27FC236}">
                <a16:creationId xmlns:a16="http://schemas.microsoft.com/office/drawing/2014/main" id="{8B030D06-8919-4BE3-987D-63DE1D3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3" name="统一风格-server 指示灯-132">
            <a:extLst xmlns:a="http://schemas.openxmlformats.org/drawingml/2006/main">
              <a:ext uri="{FF2B5EF4-FFF2-40B4-BE49-F238E27FC236}">
                <a16:creationId xmlns:a16="http://schemas.microsoft.com/office/drawing/2014/main" id="{2420BFC1-8DB1-455F-8276-5DDBE654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" name="统一风格-server 服务器机架-133">
            <a:extLst xmlns:a="http://schemas.openxmlformats.org/drawingml/2006/main">
              <a:ext uri="{FF2B5EF4-FFF2-40B4-BE49-F238E27FC236}">
                <a16:creationId xmlns:a16="http://schemas.microsoft.com/office/drawing/2014/main" id="{B4E74AEE-9B8F-435E-A885-307E60B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5" name="统一风格-server 机架状态-134">
            <a:extLst xmlns:a="http://schemas.openxmlformats.org/drawingml/2006/main">
              <a:ext uri="{FF2B5EF4-FFF2-40B4-BE49-F238E27FC236}">
                <a16:creationId xmlns:a16="http://schemas.microsoft.com/office/drawing/2014/main" id="{372DC293-3F8D-437D-B183-A2AB4F00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6" name="统一风格-server 指示灯-135">
            <a:extLst xmlns:a="http://schemas.openxmlformats.org/drawingml/2006/main">
              <a:ext uri="{FF2B5EF4-FFF2-40B4-BE49-F238E27FC236}">
                <a16:creationId xmlns:a16="http://schemas.microsoft.com/office/drawing/2014/main" id="{A7A62D01-ECBA-45A3-BAE0-396A0A7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" name="统一风格-server 服务器机架-136">
            <a:extLst xmlns:a="http://schemas.openxmlformats.org/drawingml/2006/main">
              <a:ext uri="{FF2B5EF4-FFF2-40B4-BE49-F238E27FC236}">
                <a16:creationId xmlns:a16="http://schemas.microsoft.com/office/drawing/2014/main" id="{41FE8BB5-1888-424E-81A9-D65DFA2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8" name="统一风格-server 机架状态-137">
            <a:extLst xmlns:a="http://schemas.openxmlformats.org/drawingml/2006/main">
              <a:ext uri="{FF2B5EF4-FFF2-40B4-BE49-F238E27FC236}">
                <a16:creationId xmlns:a16="http://schemas.microsoft.com/office/drawing/2014/main" id="{58B4A6EC-D676-4520-8B1E-94AD6F5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19" name="统一风格-server 指示灯-138">
            <a:extLst xmlns:a="http://schemas.openxmlformats.org/drawingml/2006/main">
              <a:ext uri="{FF2B5EF4-FFF2-40B4-BE49-F238E27FC236}">
                <a16:creationId xmlns:a16="http://schemas.microsoft.com/office/drawing/2014/main" id="{C7F9A6E3-0BD3-4972-9CD1-E19D210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338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 xmlns:a="http://schemas.openxmlformats.org/drawingml/2006/main">
            <a:srgbClr val="2053C3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" name="统一风格-文字 ECS / CCE 节点-139">
            <a:extLst xmlns:a="http://schemas.openxmlformats.org/drawingml/2006/main">
              <a:ext uri="{FF2B5EF4-FFF2-40B4-BE49-F238E27FC236}">
                <a16:creationId xmlns:a16="http://schemas.microsoft.com/office/drawing/2014/main" id="{C5DA35A1-C0A9-4FE0-989C-22710F94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/ CCE 节点</a:t>
            </a:r>
          </a:p>
        </p:txBody>
      </p:sp>
      <p:sp>
        <p:nvSpPr>
          <p:cNvPr id="21" name="统一风格-文字 使用受控拉取身份 保留 DNS 与 HTTPS 验证未缓存镜像-140">
            <a:extLst xmlns:a="http://schemas.openxmlformats.org/drawingml/2006/main">
              <a:ext uri="{FF2B5EF4-FFF2-40B4-BE49-F238E27FC236}">
                <a16:creationId xmlns:a16="http://schemas.microsoft.com/office/drawing/2014/main" id="{06A277C3-24EA-4BF0-BBC1-3F6EADF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83857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使用受控拉取身份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保留 DNS 与 HTTPS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验证未缓存镜像</a:t>
            </a:r>
          </a:p>
        </p:txBody>
      </p:sp>
      <p:sp>
        <p:nvSpPr>
          <p:cNvPr id="22" name="统一风格-SWR 私网通道玻璃后沿-141">
            <a:extLst xmlns:a="http://schemas.openxmlformats.org/drawingml/2006/main">
              <a:ext uri="{FF2B5EF4-FFF2-40B4-BE49-F238E27FC236}">
                <a16:creationId xmlns:a16="http://schemas.microsoft.com/office/drawing/2014/main" id="{2B0C7957-03C6-4A5E-9AFC-8BDBF101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23" name="统一风格-SWR 私网通道-142">
            <a:extLst xmlns:a="http://schemas.openxmlformats.org/drawingml/2006/main">
              <a:ext uri="{FF2B5EF4-FFF2-40B4-BE49-F238E27FC236}">
                <a16:creationId xmlns:a16="http://schemas.microsoft.com/office/drawing/2014/main" id="{38558D07-D1FD-4DB8-94F4-BFA36993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24" name="统一风格-SWR 私网通道玻璃内沿-143">
            <a:extLst xmlns:a="http://schemas.openxmlformats.org/drawingml/2006/main">
              <a:ext uri="{FF2B5EF4-FFF2-40B4-BE49-F238E27FC236}">
                <a16:creationId xmlns:a16="http://schemas.microsoft.com/office/drawing/2014/main" id="{A8C8DA33-3C4C-411B-B223-6FF8CB3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059" y="2203609"/>
            <a:ext cx="3288983" cy="1041083"/>
          </a:xfrm>
          <a:prstGeom xmlns:a="http://schemas.openxmlformats.org/drawingml/2006/main" prst="roundRect">
            <a:avLst>
              <a:gd name="adj" fmla="val 704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25" name="统一风格-SWR 私网通道边缘高光-144">
            <a:extLst xmlns:a="http://schemas.openxmlformats.org/drawingml/2006/main">
              <a:ext uri="{FF2B5EF4-FFF2-40B4-BE49-F238E27FC236}">
                <a16:creationId xmlns:a16="http://schemas.microsoft.com/office/drawing/2014/main" id="{35C775CF-5C70-430D-811D-9821080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14700" cy="1066800"/>
          </a:xfrm>
          <a:custGeom xmlns:a="http://schemas.openxmlformats.org/drawingml/2006/main"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终端节点图标-145">
            <a:extLst xmlns:a="http://schemas.openxmlformats.org/drawingml/2006/main">
              <a:ext uri="{FF2B5EF4-FFF2-40B4-BE49-F238E27FC236}">
                <a16:creationId xmlns:a16="http://schemas.microsoft.com/office/drawing/2014/main" id="{BDFD13D1-73DA-406F-BC25-1B39CFC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7" name="统一风格-终端节点服务端口-146">
            <a:extLst xmlns:a="http://schemas.openxmlformats.org/drawingml/2006/main">
              <a:ext uri="{FF2B5EF4-FFF2-40B4-BE49-F238E27FC236}">
                <a16:creationId xmlns:a16="http://schemas.microsoft.com/office/drawing/2014/main" id="{CF1EBBB4-51AF-43FB-93D0-E2C2580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28" name="统一风格-文字 SWR 私网通道-147">
            <a:extLst xmlns:a="http://schemas.openxmlformats.org/drawingml/2006/main">
              <a:ext uri="{FF2B5EF4-FFF2-40B4-BE49-F238E27FC236}">
                <a16:creationId xmlns:a16="http://schemas.microsoft.com/office/drawing/2014/main" id="{4EBAF988-5C63-4A5B-880D-0A40BBA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95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私网通道</a:t>
            </a:r>
          </a:p>
        </p:txBody>
      </p:sp>
      <p:sp>
        <p:nvSpPr>
          <p:cNvPr id="29" name="统一风格-文字 同 Region 默认内网 或 SWR 终端节点-148">
            <a:extLst xmlns:a="http://schemas.openxmlformats.org/drawingml/2006/main">
              <a:ext uri="{FF2B5EF4-FFF2-40B4-BE49-F238E27FC236}">
                <a16:creationId xmlns:a16="http://schemas.microsoft.com/office/drawing/2014/main" id="{F95DDB50-170F-40CF-B161-F1F98C5A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955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默认内网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或 SWR 终端节点</a:t>
            </a:r>
          </a:p>
        </p:txBody>
      </p:sp>
      <p:sp>
        <p:nvSpPr>
          <p:cNvPr id="30" name="统一风格-SWR 注册服务玻璃后沿-149">
            <a:extLst xmlns:a="http://schemas.openxmlformats.org/drawingml/2006/main">
              <a:ext uri="{FF2B5EF4-FFF2-40B4-BE49-F238E27FC236}">
                <a16:creationId xmlns:a16="http://schemas.microsoft.com/office/drawing/2014/main" id="{3665ABC8-1091-4899-9963-98AB831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1" name="统一风格-SWR 注册服务-150">
            <a:extLst xmlns:a="http://schemas.openxmlformats.org/drawingml/2006/main">
              <a:ext uri="{FF2B5EF4-FFF2-40B4-BE49-F238E27FC236}">
                <a16:creationId xmlns:a16="http://schemas.microsoft.com/office/drawing/2014/main" id="{2F57EB6D-E0BD-418F-82CB-A87B34D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SWR 注册服务玻璃内沿-151">
            <a:extLst xmlns:a="http://schemas.openxmlformats.org/drawingml/2006/main">
              <a:ext uri="{FF2B5EF4-FFF2-40B4-BE49-F238E27FC236}">
                <a16:creationId xmlns:a16="http://schemas.microsoft.com/office/drawing/2014/main" id="{0A2B8CA1-A0AA-405F-B464-DE68FB3D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559" y="2203609"/>
            <a:ext cx="3288983" cy="1041083"/>
          </a:xfrm>
          <a:prstGeom xmlns:a="http://schemas.openxmlformats.org/drawingml/2006/main" prst="roundRect">
            <a:avLst>
              <a:gd name="adj" fmla="val 704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SWR 注册服务边缘高光-152">
            <a:extLst xmlns:a="http://schemas.openxmlformats.org/drawingml/2006/main">
              <a:ext uri="{FF2B5EF4-FFF2-40B4-BE49-F238E27FC236}">
                <a16:creationId xmlns:a16="http://schemas.microsoft.com/office/drawing/2014/main" id="{1B3AEF0A-BE0D-49EB-9858-BFFC47E4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314700" cy="1066800"/>
          </a:xfrm>
          <a:custGeom xmlns:a="http://schemas.openxmlformats.org/drawingml/2006/main"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SWR 镜像层-153">
            <a:extLst xmlns:a="http://schemas.openxmlformats.org/drawingml/2006/main">
              <a:ext uri="{FF2B5EF4-FFF2-40B4-BE49-F238E27FC236}">
                <a16:creationId xmlns:a16="http://schemas.microsoft.com/office/drawing/2014/main" id="{DB12A50E-F9EA-48F0-A709-EB071A0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76200"/>
                </a:moveTo>
                <a:lnTo>
                  <a:pt x="514350" y="76200"/>
                </a:lnTo>
                <a:lnTo>
                  <a:pt x="514350" y="180975"/>
                </a:lnTo>
                <a:lnTo>
                  <a:pt x="95250" y="180975"/>
                </a:lnTo>
                <a:close/>
              </a:path>
            </a:pathLst>
          </a:custGeom>
          <a:solidFill xmlns:a="http://schemas.openxmlformats.org/drawingml/2006/main">
            <a:srgbClr val="E9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35" name="统一风格-SWR 镜像层-154">
            <a:extLst xmlns:a="http://schemas.openxmlformats.org/drawingml/2006/main">
              <a:ext uri="{FF2B5EF4-FFF2-40B4-BE49-F238E27FC236}">
                <a16:creationId xmlns:a16="http://schemas.microsoft.com/office/drawing/2014/main" id="{0A9E2707-DCAE-48AF-B03D-92276C6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257175"/>
                </a:moveTo>
                <a:lnTo>
                  <a:pt x="514350" y="257175"/>
                </a:lnTo>
                <a:lnTo>
                  <a:pt x="514350" y="361950"/>
                </a:lnTo>
                <a:lnTo>
                  <a:pt x="95250" y="361950"/>
                </a:lnTo>
                <a:close/>
              </a:path>
            </a:pathLst>
          </a:custGeom>
          <a:solidFill xmlns:a="http://schemas.openxmlformats.org/drawingml/2006/main">
            <a:srgbClr val="E9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36" name="统一风格-SWR 镜像层-155">
            <a:extLst xmlns:a="http://schemas.openxmlformats.org/drawingml/2006/main">
              <a:ext uri="{FF2B5EF4-FFF2-40B4-BE49-F238E27FC236}">
                <a16:creationId xmlns:a16="http://schemas.microsoft.com/office/drawing/2014/main" id="{45F996B2-6A9B-4B9B-B4C5-F3FBB1E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438150"/>
                </a:moveTo>
                <a:lnTo>
                  <a:pt x="514350" y="438150"/>
                </a:lnTo>
                <a:lnTo>
                  <a:pt x="514350" y="542925"/>
                </a:lnTo>
                <a:lnTo>
                  <a:pt x="95250" y="542925"/>
                </a:lnTo>
                <a:close/>
              </a:path>
            </a:pathLst>
          </a:custGeom>
          <a:solidFill xmlns:a="http://schemas.openxmlformats.org/drawingml/2006/main">
            <a:srgbClr val="E9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37" name="统一风格-SWR 镜像索引-156">
            <a:extLst xmlns:a="http://schemas.openxmlformats.org/drawingml/2006/main">
              <a:ext uri="{FF2B5EF4-FFF2-40B4-BE49-F238E27FC236}">
                <a16:creationId xmlns:a16="http://schemas.microsoft.com/office/drawing/2014/main" id="{A169068B-DF63-4E8E-BA25-C36307E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71450" y="123825"/>
                </a:moveTo>
                <a:lnTo>
                  <a:pt x="285750" y="123825"/>
                </a:lnTo>
                <a:moveTo>
                  <a:pt x="171450" y="304800"/>
                </a:moveTo>
                <a:lnTo>
                  <a:pt x="371475" y="304800"/>
                </a:lnTo>
                <a:moveTo>
                  <a:pt x="171450" y="485775"/>
                </a:moveTo>
                <a:lnTo>
                  <a:pt x="43815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38" name="统一风格-文字 SWR 注册服务-157">
            <a:extLst xmlns:a="http://schemas.openxmlformats.org/drawingml/2006/main">
              <a:ext uri="{FF2B5EF4-FFF2-40B4-BE49-F238E27FC236}">
                <a16:creationId xmlns:a16="http://schemas.microsoft.com/office/drawing/2014/main" id="{E7B373D9-9370-48B9-87E6-499AD68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95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注册服务</a:t>
            </a:r>
          </a:p>
        </p:txBody>
      </p:sp>
      <p:sp>
        <p:nvSpPr>
          <p:cNvPr id="39" name="统一风格-文字 认证与镜像清单 检查仓库下载权限-158">
            <a:extLst xmlns:a="http://schemas.openxmlformats.org/drawingml/2006/main">
              <a:ext uri="{FF2B5EF4-FFF2-40B4-BE49-F238E27FC236}">
                <a16:creationId xmlns:a16="http://schemas.microsoft.com/office/drawing/2014/main" id="{9717FB50-BAC9-424C-AD6F-E3AC4C86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955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认证与镜像清单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检查仓库下载权限</a:t>
            </a:r>
          </a:p>
        </p:txBody>
      </p:sp>
      <p:sp>
        <p:nvSpPr>
          <p:cNvPr id="40" name="统一风格-OBS 私网通道玻璃后沿-159">
            <a:extLst xmlns:a="http://schemas.openxmlformats.org/drawingml/2006/main">
              <a:ext uri="{FF2B5EF4-FFF2-40B4-BE49-F238E27FC236}">
                <a16:creationId xmlns:a16="http://schemas.microsoft.com/office/drawing/2014/main" id="{F5C8BA25-E61F-4125-B362-E465D23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86225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1" name="统一风格-OBS 私网通道-160">
            <a:extLst xmlns:a="http://schemas.openxmlformats.org/drawingml/2006/main">
              <a:ext uri="{FF2B5EF4-FFF2-40B4-BE49-F238E27FC236}">
                <a16:creationId xmlns:a16="http://schemas.microsoft.com/office/drawing/2014/main" id="{5CAC7585-A0DB-4245-BE95-E102849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86225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2" name="统一风格-OBS 私网通道玻璃内沿-161">
            <a:extLst xmlns:a="http://schemas.openxmlformats.org/drawingml/2006/main">
              <a:ext uri="{FF2B5EF4-FFF2-40B4-BE49-F238E27FC236}">
                <a16:creationId xmlns:a16="http://schemas.microsoft.com/office/drawing/2014/main" id="{34643F44-C002-4AE6-AF2D-E3C9282F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059" y="4099084"/>
            <a:ext cx="3288983" cy="1041083"/>
          </a:xfrm>
          <a:prstGeom xmlns:a="http://schemas.openxmlformats.org/drawingml/2006/main" prst="roundRect">
            <a:avLst>
              <a:gd name="adj" fmla="val 704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3" name="统一风格-OBS 私网通道边缘高光-162">
            <a:extLst xmlns:a="http://schemas.openxmlformats.org/drawingml/2006/main">
              <a:ext uri="{FF2B5EF4-FFF2-40B4-BE49-F238E27FC236}">
                <a16:creationId xmlns:a16="http://schemas.microsoft.com/office/drawing/2014/main" id="{DF2A5186-55DF-4F2B-9CFA-4AF3D65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86225"/>
            <a:ext cx="3314700" cy="1066800"/>
          </a:xfrm>
          <a:custGeom xmlns:a="http://schemas.openxmlformats.org/drawingml/2006/main"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4" name="统一风格-终端节点图标-163">
            <a:extLst xmlns:a="http://schemas.openxmlformats.org/drawingml/2006/main">
              <a:ext uri="{FF2B5EF4-FFF2-40B4-BE49-F238E27FC236}">
                <a16:creationId xmlns:a16="http://schemas.microsoft.com/office/drawing/2014/main" id="{B042CFFE-3F2E-4146-894D-6569531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7197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45" name="统一风格-终端节点服务端口-164">
            <a:extLst xmlns:a="http://schemas.openxmlformats.org/drawingml/2006/main">
              <a:ext uri="{FF2B5EF4-FFF2-40B4-BE49-F238E27FC236}">
                <a16:creationId xmlns:a16="http://schemas.microsoft.com/office/drawing/2014/main" id="{2F47C189-F1D9-4407-85CE-FB1B48B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7197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46" name="统一风格-文字 OBS 私网通道-165">
            <a:extLst xmlns:a="http://schemas.openxmlformats.org/drawingml/2006/main">
              <a:ext uri="{FF2B5EF4-FFF2-40B4-BE49-F238E27FC236}">
                <a16:creationId xmlns:a16="http://schemas.microsoft.com/office/drawing/2014/main" id="{32C161DB-B967-48A9-A07E-5EF3F5D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91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私网通道</a:t>
            </a:r>
          </a:p>
        </p:txBody>
      </p:sp>
      <p:sp>
        <p:nvSpPr>
          <p:cNvPr id="47" name="统一风格-文字 OBS 端点策略 允许必要镜像存储资源-166">
            <a:extLst xmlns:a="http://schemas.openxmlformats.org/drawingml/2006/main">
              <a:ext uri="{FF2B5EF4-FFF2-40B4-BE49-F238E27FC236}">
                <a16:creationId xmlns:a16="http://schemas.microsoft.com/office/drawing/2014/main" id="{04009AE5-C192-4AD6-B23D-A3DC43D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910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 端点策略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允许必要镜像存储资源</a:t>
            </a:r>
          </a:p>
        </p:txBody>
      </p:sp>
      <p:sp>
        <p:nvSpPr>
          <p:cNvPr id="48" name="统一风格-SWR 托管的 OBS 桶玻璃后沿-167">
            <a:extLst xmlns:a="http://schemas.openxmlformats.org/drawingml/2006/main">
              <a:ext uri="{FF2B5EF4-FFF2-40B4-BE49-F238E27FC236}">
                <a16:creationId xmlns:a16="http://schemas.microsoft.com/office/drawing/2014/main" id="{1661663F-F584-4B1C-8B41-4EA7F37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86225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9" name="统一风格-SWR 托管的 OBS 桶-168">
            <a:extLst xmlns:a="http://schemas.openxmlformats.org/drawingml/2006/main">
              <a:ext uri="{FF2B5EF4-FFF2-40B4-BE49-F238E27FC236}">
                <a16:creationId xmlns:a16="http://schemas.microsoft.com/office/drawing/2014/main" id="{888F53B1-C4D3-4C0C-9D1F-4D11482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86225"/>
            <a:ext cx="3314700" cy="1066800"/>
          </a:xfrm>
          <a:prstGeom xmlns:a="http://schemas.openxmlformats.org/drawingml/2006/main" prst="roundRect">
            <a:avLst>
              <a:gd name="adj" fmla="val 8036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0" name="统一风格-SWR 托管的 OBS 桶玻璃内沿-169">
            <a:extLst xmlns:a="http://schemas.openxmlformats.org/drawingml/2006/main">
              <a:ext uri="{FF2B5EF4-FFF2-40B4-BE49-F238E27FC236}">
                <a16:creationId xmlns:a16="http://schemas.microsoft.com/office/drawing/2014/main" id="{AA56D08A-005F-4786-AD64-3DA0997B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559" y="4099084"/>
            <a:ext cx="3288983" cy="1041083"/>
          </a:xfrm>
          <a:prstGeom xmlns:a="http://schemas.openxmlformats.org/drawingml/2006/main" prst="roundRect">
            <a:avLst>
              <a:gd name="adj" fmla="val 704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1" name="统一风格-SWR 托管的 OBS 桶边缘高光-170">
            <a:extLst xmlns:a="http://schemas.openxmlformats.org/drawingml/2006/main">
              <a:ext uri="{FF2B5EF4-FFF2-40B4-BE49-F238E27FC236}">
                <a16:creationId xmlns:a16="http://schemas.microsoft.com/office/drawing/2014/main" id="{23DD5D4D-9AE0-4CF0-82D0-A78B87C4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86225"/>
            <a:ext cx="3314700" cy="1066800"/>
          </a:xfrm>
          <a:custGeom xmlns:a="http://schemas.openxmlformats.org/drawingml/2006/main"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2" name="统一风格-OBS 对象桶外形-171">
            <a:extLst xmlns:a="http://schemas.openxmlformats.org/drawingml/2006/main">
              <a:ext uri="{FF2B5EF4-FFF2-40B4-BE49-F238E27FC236}">
                <a16:creationId xmlns:a16="http://schemas.microsoft.com/office/drawing/2014/main" id="{56167B3B-9FD7-4CCC-A15C-1B5B3D0C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 xmlns:a="http://schemas.openxmlformats.org/drawingml/2006/main">
            <a:srgbClr val="E9F2FF"/>
          </a:solidFill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53" name="统一风格-OBS 桶口-172">
            <a:extLst xmlns:a="http://schemas.openxmlformats.org/drawingml/2006/main">
              <a:ext uri="{FF2B5EF4-FFF2-40B4-BE49-F238E27FC236}">
                <a16:creationId xmlns:a16="http://schemas.microsoft.com/office/drawing/2014/main" id="{995EBF9B-660E-4BE1-A446-31D01A09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54" name="统一风格-OBS 对象标记-173">
            <a:extLst xmlns:a="http://schemas.openxmlformats.org/drawingml/2006/main">
              <a:ext uri="{FF2B5EF4-FFF2-40B4-BE49-F238E27FC236}">
                <a16:creationId xmlns:a16="http://schemas.microsoft.com/office/drawing/2014/main" id="{7D139B9A-7650-4D8B-B711-E17F33B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495300" cy="495300"/>
          </a:xfrm>
          <a:custGeom xmlns:a="http://schemas.openxmlformats.org/drawingml/2006/main"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720" cap="rnd">
            <a:solidFill>
              <a:srgbClr val="2053C3"/>
            </a:solidFill>
            <a:round/>
          </a:ln>
        </p:spPr>
      </p:sp>
      <p:sp>
        <p:nvSpPr>
          <p:cNvPr id="55" name="统一风格-文字 SWR 托管的 OBS 桶-174">
            <a:extLst xmlns:a="http://schemas.openxmlformats.org/drawingml/2006/main">
              <a:ext uri="{FF2B5EF4-FFF2-40B4-BE49-F238E27FC236}">
                <a16:creationId xmlns:a16="http://schemas.microsoft.com/office/drawing/2014/main" id="{CBABFA60-C466-4381-A225-ED3167EC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托管的 OBS 桶</a:t>
            </a:r>
          </a:p>
        </p:txBody>
      </p:sp>
      <p:sp>
        <p:nvSpPr>
          <p:cNvPr id="56" name="统一风格-文字 下载镜像层数据 按 Region 确认主备桶-175">
            <a:extLst xmlns:a="http://schemas.openxmlformats.org/drawingml/2006/main">
              <a:ext uri="{FF2B5EF4-FFF2-40B4-BE49-F238E27FC236}">
                <a16:creationId xmlns:a16="http://schemas.microsoft.com/office/drawing/2014/main" id="{0A94E735-FD1D-4E6D-8CA1-22C0D2B9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5910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下载镜像层数据</a:t>
            </a:r>
          </a:p>
          <a:p xmlns:a="http://schemas.openxmlformats.org/drawingml/2006/main"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 Region 确认主备桶</a:t>
            </a:r>
          </a:p>
        </p:txBody>
      </p:sp>
      <p:cxnSp>
        <p:nvCxnSpPr>
          <p:cNvPr id="57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78CEA873-3686-49A6-9255-91E8C94CE3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43300" y="39814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58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854B1746-5C50-479A-9817-D05B0EEF19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95725" y="2724150"/>
            <a:ext cx="0" cy="1895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</a:ln>
        </p:spPr>
      </p:cxnSp>
      <p:cxnSp>
        <p:nvCxnSpPr>
          <p:cNvPr id="59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DFB25929-311D-41ED-89FD-B80189EF5F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95725" y="27241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0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DB596A3A-EF78-441E-982C-E4DB999236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95725" y="46196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1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8D1B9A00-3D74-4220-A625-F10494EEDA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81900" y="27241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cxnSp>
        <p:nvCxnSpPr>
          <p:cNvPr id="62" name="私网访问连接">
            <a:extLst xmlns:a="http://schemas.openxmlformats.org/drawingml/2006/main">
              <a:ext uri="{FF2B5EF4-FFF2-40B4-BE49-F238E27FC236}">
                <a16:creationId xmlns:a16="http://schemas.microsoft.com/office/drawing/2014/main" id="{BDC4370D-309C-429E-B3D1-ADE11BE8F6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81900" y="4619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53C3"/>
            </a:solidFill>
            <a:tailEnd type="triangle" w="sm" len="sm"/>
          </a:ln>
        </p:spPr>
      </p:cxnSp>
      <p:sp>
        <p:nvSpPr>
          <p:cNvPr id="63" name="统一风格-OBS 联动影响玻璃后沿-176">
            <a:extLst xmlns:a="http://schemas.openxmlformats.org/drawingml/2006/main">
              <a:ext uri="{FF2B5EF4-FFF2-40B4-BE49-F238E27FC236}">
                <a16:creationId xmlns:a16="http://schemas.microsoft.com/office/drawing/2014/main" id="{D2E0807C-2D5F-4C16-B766-7A55F553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95300"/>
          </a:xfrm>
          <a:prstGeom xmlns:a="http://schemas.openxmlformats.org/drawingml/2006/main" prst="roundRect">
            <a:avLst>
              <a:gd name="adj" fmla="val 1730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4" name="统一风格-OBS 联动影响-177">
            <a:extLst xmlns:a="http://schemas.openxmlformats.org/drawingml/2006/main">
              <a:ext uri="{FF2B5EF4-FFF2-40B4-BE49-F238E27FC236}">
                <a16:creationId xmlns:a16="http://schemas.microsoft.com/office/drawing/2014/main" id="{384C1E2B-B227-4438-B219-E77D333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95300"/>
          </a:xfrm>
          <a:prstGeom xmlns:a="http://schemas.openxmlformats.org/drawingml/2006/main" prst="roundRect">
            <a:avLst>
              <a:gd name="adj" fmla="val 1730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5" name="统一风格-OBS 联动影响玻璃内沿-178">
            <a:extLst xmlns:a="http://schemas.openxmlformats.org/drawingml/2006/main">
              <a:ext uri="{FF2B5EF4-FFF2-40B4-BE49-F238E27FC236}">
                <a16:creationId xmlns:a16="http://schemas.microsoft.com/office/drawing/2014/main" id="{7E719FB4-B208-4DAD-8620-7BB6992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59" y="5404009"/>
            <a:ext cx="10947083" cy="469583"/>
          </a:xfrm>
          <a:prstGeom xmlns:a="http://schemas.openxmlformats.org/drawingml/2006/main" prst="roundRect">
            <a:avLst>
              <a:gd name="adj" fmla="val 1561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6" name="统一风格-OBS 联动影响边缘高光-179">
            <a:extLst xmlns:a="http://schemas.openxmlformats.org/drawingml/2006/main">
              <a:ext uri="{FF2B5EF4-FFF2-40B4-BE49-F238E27FC236}">
                <a16:creationId xmlns:a16="http://schemas.microsoft.com/office/drawing/2014/main" id="{2A82B508-3F8C-49FC-9732-763ED356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95300"/>
          </a:xfrm>
          <a:custGeom xmlns:a="http://schemas.openxmlformats.org/drawingml/2006/main">
            <a:pathLst>
              <a:path w="10972800" h="495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7" name="统一风格-文字 OBS 联动影响-180">
            <a:extLst xmlns:a="http://schemas.openxmlformats.org/drawingml/2006/main">
              <a:ext uri="{FF2B5EF4-FFF2-40B4-BE49-F238E27FC236}">
                <a16:creationId xmlns:a16="http://schemas.microsoft.com/office/drawing/2014/main" id="{1EAECB05-3F33-477D-9B9D-C1DDC4D6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OBS 联动影响</a:t>
            </a:r>
          </a:p>
        </p:txBody>
      </p:sp>
      <p:sp>
        <p:nvSpPr>
          <p:cNvPr id="68" name="统一风格-文字 只保留业务数据桶，可能导致镜像下载失败或偶发失败；需核验 SWR 的存储依赖。-181">
            <a:extLst xmlns:a="http://schemas.openxmlformats.org/drawingml/2006/main">
              <a:ext uri="{FF2B5EF4-FFF2-40B4-BE49-F238E27FC236}">
                <a16:creationId xmlns:a16="http://schemas.microsoft.com/office/drawing/2014/main" id="{DFE6A202-8015-44FB-97F5-260C088B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05450"/>
            <a:ext cx="883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只保留业务数据桶，可能导致镜像下载失败或偶发失败；需核验 SWR 的存储依赖。</a:t>
            </a:r>
          </a:p>
        </p:txBody>
      </p:sp>
    </p:spTree>
    <p:extLst>
      <p:ext uri="{BB962C8B-B14F-4D97-AF65-F5344CB8AC3E}">
        <p14:creationId xmlns:p14="http://schemas.microsoft.com/office/powerpoint/2010/main" val="204210191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182">
            <a:extLst xmlns:a="http://schemas.openxmlformats.org/drawingml/2006/main">
              <a:ext uri="{FF2B5EF4-FFF2-40B4-BE49-F238E27FC236}">
                <a16:creationId xmlns:a16="http://schemas.microsoft.com/office/drawing/2014/main" id="{ED4C17BE-0148-4212-8C62-FDB918A4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权限加固：运行、构建与管理分离-183">
            <a:extLst xmlns:a="http://schemas.openxmlformats.org/drawingml/2006/main">
              <a:ext uri="{FF2B5EF4-FFF2-40B4-BE49-F238E27FC236}">
                <a16:creationId xmlns:a16="http://schemas.microsoft.com/office/drawing/2014/main" id="{04AAC4F5-420B-447E-B827-F144AA9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权限加固：运行、构建与管理分离</a:t>
            </a:r>
          </a:p>
        </p:txBody>
      </p:sp>
      <p:sp>
        <p:nvSpPr>
          <p:cNvPr id="3" name="统一风格-文字 让生产运行节点只拥有必要的镜像拉取权限，凭证按业务周期自动更新-184">
            <a:extLst xmlns:a="http://schemas.openxmlformats.org/drawingml/2006/main">
              <a:ext uri="{FF2B5EF4-FFF2-40B4-BE49-F238E27FC236}">
                <a16:creationId xmlns:a16="http://schemas.microsoft.com/office/drawing/2014/main" id="{250420A9-5F97-4B98-9186-068BC8A7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让生产运行节点只拥有必要的镜像拉取权限，凭证按业务周期自动更新</a:t>
            </a:r>
          </a:p>
        </p:txBody>
      </p:sp>
      <p:sp>
        <p:nvSpPr>
          <p:cNvPr id="4" name="统一风格-页脚分隔线-185">
            <a:extLst xmlns:a="http://schemas.openxmlformats.org/drawingml/2006/main">
              <a:ext uri="{FF2B5EF4-FFF2-40B4-BE49-F238E27FC236}">
                <a16:creationId xmlns:a16="http://schemas.microsoft.com/office/drawing/2014/main" id="{56905C20-146A-48C1-BD94-F99E0CB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以下为权限治理建议。CCE 免密拉取依赖受控委托和节点池能力，网络、DNS 与权限仍需同时满足。-186">
            <a:extLst xmlns:a="http://schemas.openxmlformats.org/drawingml/2006/main">
              <a:ext uri="{FF2B5EF4-FFF2-40B4-BE49-F238E27FC236}">
                <a16:creationId xmlns:a16="http://schemas.microsoft.com/office/drawing/2014/main" id="{FED1A447-1D92-4A58-B219-D2876F61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以下为权限治理建议。CCE 免密拉取依赖受控委托和节点池能力，网络、DNS 与权限仍需同时满足。</a:t>
            </a:r>
          </a:p>
        </p:txBody>
      </p:sp>
      <p:sp>
        <p:nvSpPr>
          <p:cNvPr id="6" name="统一风格-文字 41-187">
            <a:extLst xmlns:a="http://schemas.openxmlformats.org/drawingml/2006/main">
              <a:ext uri="{FF2B5EF4-FFF2-40B4-BE49-F238E27FC236}">
                <a16:creationId xmlns:a16="http://schemas.microsoft.com/office/drawing/2014/main" id="{B824B059-7693-4F21-8EB3-335708E4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7" name="统一风格-可编辑配置表玻璃后沿-188">
            <a:extLst xmlns:a="http://schemas.openxmlformats.org/drawingml/2006/main">
              <a:ext uri="{FF2B5EF4-FFF2-40B4-BE49-F238E27FC236}">
                <a16:creationId xmlns:a16="http://schemas.microsoft.com/office/drawing/2014/main" id="{FFB6BE29-A2DF-4990-B4AF-DAF6FA89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189">
            <a:extLst xmlns:a="http://schemas.openxmlformats.org/drawingml/2006/main">
              <a:ext uri="{FF2B5EF4-FFF2-40B4-BE49-F238E27FC236}">
                <a16:creationId xmlns:a16="http://schemas.microsoft.com/office/drawing/2014/main" id="{9855E2C0-BB16-47D7-86E2-E6E7418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190">
            <a:extLst xmlns:a="http://schemas.openxmlformats.org/drawingml/2006/main">
              <a:ext uri="{FF2B5EF4-FFF2-40B4-BE49-F238E27FC236}">
                <a16:creationId xmlns:a16="http://schemas.microsoft.com/office/drawing/2014/main" id="{921703DD-EEE3-4E6E-9BBC-DF1A4F7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191">
            <a:extLst xmlns:a="http://schemas.openxmlformats.org/drawingml/2006/main">
              <a:ext uri="{FF2B5EF4-FFF2-40B4-BE49-F238E27FC236}">
                <a16:creationId xmlns:a16="http://schemas.microsoft.com/office/drawing/2014/main" id="{570A6BBE-2C8F-4C9B-A355-0C24DA55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0D099-8FF3-4DB0-880E-653422ADF54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使用主体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建议权限范围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运行与变更注意事项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生产节点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仅下载已批准仓库中的镜像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仅具备获取拉取凭证所需权限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拉取权限不能顺带包含推送、删除或管理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新增节点也需验证网络与授权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构建流水线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仅向批准组织 / 仓库推送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按需读取基础镜像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与生产运行身份分离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凭证不得进入源码、构建日志或镜像层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权限管理员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管理仓库、共享与授权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删除等高风险操作单独控制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与日常拉取账号分离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按变更流程留存审批与操作记录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登录与凭证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优先临时凭证并自动更新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按所用 IAM 版本核验授权方式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提前验证凭证续期和过期后拒绝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增强型指令不能套用旧本地授权逻辑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受控免密拉取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按版本为节点池配置相应委托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仅授予仓库下载及凭证获取权限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免密不等于免授权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扩容、重建节点与委托变更后重新验证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12972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192">
            <a:extLst xmlns:a="http://schemas.openxmlformats.org/drawingml/2006/main">
              <a:ext uri="{FF2B5EF4-FFF2-40B4-BE49-F238E27FC236}">
                <a16:creationId xmlns:a16="http://schemas.microsoft.com/office/drawing/2014/main" id="{DD1F5CFF-2298-4B4F-8DF8-2EDF5AC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安全通道加固：依赖清点与误封防范-193">
            <a:extLst xmlns:a="http://schemas.openxmlformats.org/drawingml/2006/main">
              <a:ext uri="{FF2B5EF4-FFF2-40B4-BE49-F238E27FC236}">
                <a16:creationId xmlns:a16="http://schemas.microsoft.com/office/drawing/2014/main" id="{BCBE6B8F-0299-4521-B6F5-597F6C4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安全通道加固：依赖清点与误封防范</a:t>
            </a:r>
          </a:p>
        </p:txBody>
      </p:sp>
      <p:sp>
        <p:nvSpPr>
          <p:cNvPr id="3" name="统一风格-文字 先确认谁通过什么通道访问哪些资源，再分批收紧出站与资源策略-194">
            <a:extLst xmlns:a="http://schemas.openxmlformats.org/drawingml/2006/main">
              <a:ext uri="{FF2B5EF4-FFF2-40B4-BE49-F238E27FC236}">
                <a16:creationId xmlns:a16="http://schemas.microsoft.com/office/drawing/2014/main" id="{5B24D839-E89D-4925-9AFE-5885D69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先确认谁通过什么通道访问哪些资源，再分批收紧出站与资源策略</a:t>
            </a:r>
          </a:p>
        </p:txBody>
      </p:sp>
      <p:sp>
        <p:nvSpPr>
          <p:cNvPr id="4" name="统一风格-页脚分隔线-195">
            <a:extLst xmlns:a="http://schemas.openxmlformats.org/drawingml/2006/main">
              <a:ext uri="{FF2B5EF4-FFF2-40B4-BE49-F238E27FC236}">
                <a16:creationId xmlns:a16="http://schemas.microsoft.com/office/drawing/2014/main" id="{C02FC450-037E-4598-8E25-A47DA507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禁止用全量放开 OBS、长期管理员凭证或取消证书校验解决访问失败，先定位实际拒绝发生的控制层。-196">
            <a:extLst xmlns:a="http://schemas.openxmlformats.org/drawingml/2006/main">
              <a:ext uri="{FF2B5EF4-FFF2-40B4-BE49-F238E27FC236}">
                <a16:creationId xmlns:a16="http://schemas.microsoft.com/office/drawing/2014/main" id="{68D94D63-65AF-4393-B540-8F20FDED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禁止用全量放开 OBS、长期管理员凭证或取消证书校验解决访问失败，先定位实际拒绝发生的控制层。</a:t>
            </a:r>
          </a:p>
        </p:txBody>
      </p:sp>
      <p:sp>
        <p:nvSpPr>
          <p:cNvPr id="6" name="统一风格-文字 42-197">
            <a:extLst xmlns:a="http://schemas.openxmlformats.org/drawingml/2006/main">
              <a:ext uri="{FF2B5EF4-FFF2-40B4-BE49-F238E27FC236}">
                <a16:creationId xmlns:a16="http://schemas.microsoft.com/office/drawing/2014/main" id="{77DC7A86-3466-475D-A996-F2270AC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7" name="统一风格-可编辑配置表玻璃后沿-198">
            <a:extLst xmlns:a="http://schemas.openxmlformats.org/drawingml/2006/main">
              <a:ext uri="{FF2B5EF4-FFF2-40B4-BE49-F238E27FC236}">
                <a16:creationId xmlns:a16="http://schemas.microsoft.com/office/drawing/2014/main" id="{4B9A10D6-D9D0-4336-B4F7-FCB1E2A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199">
            <a:extLst xmlns:a="http://schemas.openxmlformats.org/drawingml/2006/main">
              <a:ext uri="{FF2B5EF4-FFF2-40B4-BE49-F238E27FC236}">
                <a16:creationId xmlns:a16="http://schemas.microsoft.com/office/drawing/2014/main" id="{23A54405-646B-4E72-B227-E2E6647C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200">
            <a:extLst xmlns:a="http://schemas.openxmlformats.org/drawingml/2006/main">
              <a:ext uri="{FF2B5EF4-FFF2-40B4-BE49-F238E27FC236}">
                <a16:creationId xmlns:a16="http://schemas.microsoft.com/office/drawing/2014/main" id="{6BF0EB8F-88B4-4A57-A2C4-8F40A9A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201">
            <a:extLst xmlns:a="http://schemas.openxmlformats.org/drawingml/2006/main">
              <a:ext uri="{FF2B5EF4-FFF2-40B4-BE49-F238E27FC236}">
                <a16:creationId xmlns:a16="http://schemas.microsoft.com/office/drawing/2014/main" id="{5BE3B847-2E05-4EF4-89EC-03A83AA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C5F60-6855-4205-B345-3C1FEA0F9E16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常见问题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加固与上线建议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 与服务地址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DNS 缺少私有解析或转发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只放行一个旧 IP，服务变更后失败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使用对应 Region 的受控 DNS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记录解析与路径，避免长期写死 hosts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保留默认 FullAccess 导致范围过大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只允许业务桶又误封 SWR 镜像存储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以资源和操作最小化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加入已确认的业务依赖与 SWR 必要存储桶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桶来源限制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 Deny 阻断管理员、备份或云服务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只测一个账号，遗漏真实委托主体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核对所有业务身份与云服务委托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只设计必要例外，并验证受限来源拒绝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接入与凭证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 / DNS 误删或凭证过期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缓存镜像掩盖新节点拉取失败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保护接入配套资源，自动续期凭证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使用未缓存镜像验证扩容和恢复流程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发布与证据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访问恢复后扩大到任意资源、任意来源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未经验证就宣称经过 CFW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端点策略配置后等待 10 分钟再测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分批发布，保留前态、测试与命中证据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0116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统一风格-文字 02  网络互联与安全加固-202">
            <a:extLst xmlns:a="http://schemas.openxmlformats.org/drawingml/2006/main">
              <a:ext uri="{FF2B5EF4-FFF2-40B4-BE49-F238E27FC236}">
                <a16:creationId xmlns:a16="http://schemas.microsoft.com/office/drawing/2014/main" id="{7FDFFD47-E3FA-4AF1-8BCE-50C75774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、SWR 加固：正反向访问验收-203">
            <a:extLst xmlns:a="http://schemas.openxmlformats.org/drawingml/2006/main">
              <a:ext uri="{FF2B5EF4-FFF2-40B4-BE49-F238E27FC236}">
                <a16:creationId xmlns:a16="http://schemas.microsoft.com/office/drawing/2014/main" id="{C22C0099-D723-4BB6-9B3E-2557D83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OBS、SWR 加固：正反向访问验收</a:t>
            </a:r>
          </a:p>
        </p:txBody>
      </p:sp>
      <p:sp>
        <p:nvSpPr>
          <p:cNvPr id="3" name="统一风格-文字 分别证明批准访问可用、越权访问受限，以及凭证与故障恢复正常-204">
            <a:extLst xmlns:a="http://schemas.openxmlformats.org/drawingml/2006/main">
              <a:ext uri="{FF2B5EF4-FFF2-40B4-BE49-F238E27FC236}">
                <a16:creationId xmlns:a16="http://schemas.microsoft.com/office/drawing/2014/main" id="{61270459-B45F-41B8-AE53-4DF232E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分别证明批准访问可用、越权访问受限，以及凭证与故障恢复正常</a:t>
            </a:r>
          </a:p>
        </p:txBody>
      </p:sp>
      <p:sp>
        <p:nvSpPr>
          <p:cNvPr id="4" name="统一风格-页脚分隔线-205">
            <a:extLst xmlns:a="http://schemas.openxmlformats.org/drawingml/2006/main">
              <a:ext uri="{FF2B5EF4-FFF2-40B4-BE49-F238E27FC236}">
                <a16:creationId xmlns:a16="http://schemas.microsoft.com/office/drawing/2014/main" id="{582F26BF-68B0-4D2D-9CC3-D818218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3EBF6"/>
            </a:solidFill>
          </a:ln>
        </p:spPr>
      </p:sp>
      <p:sp>
        <p:nvSpPr>
          <p:cNvPr id="5" name="统一风格-文字 按实际开通的日志能力留证，记录时间、身份、VPC / 端点、资源、操作和请求标识；CFW 覆盖另按实际路径证明。-206">
            <a:extLst xmlns:a="http://schemas.openxmlformats.org/drawingml/2006/main">
              <a:ext uri="{FF2B5EF4-FFF2-40B4-BE49-F238E27FC236}">
                <a16:creationId xmlns:a16="http://schemas.microsoft.com/office/drawing/2014/main" id="{89229EF4-678C-4F3B-A996-A94E70B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按实际开通的日志能力留证，记录时间、身份、VPC / 端点、资源、操作和请求标识；CFW 覆盖另按实际路径证明。</a:t>
            </a:r>
          </a:p>
        </p:txBody>
      </p:sp>
      <p:sp>
        <p:nvSpPr>
          <p:cNvPr id="6" name="统一风格-文字 43-207">
            <a:extLst xmlns:a="http://schemas.openxmlformats.org/drawingml/2006/main">
              <a:ext uri="{FF2B5EF4-FFF2-40B4-BE49-F238E27FC236}">
                <a16:creationId xmlns:a16="http://schemas.microsoft.com/office/drawing/2014/main" id="{5FC4C49E-8299-4300-9B84-5BF592F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7" name="统一风格-可编辑配置表玻璃后沿-208">
            <a:extLst xmlns:a="http://schemas.openxmlformats.org/drawingml/2006/main">
              <a:ext uri="{FF2B5EF4-FFF2-40B4-BE49-F238E27FC236}">
                <a16:creationId xmlns:a16="http://schemas.microsoft.com/office/drawing/2014/main" id="{D844A591-C34D-4A94-86AC-AEA316D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" name="统一风格-可编辑配置表-209">
            <a:extLst xmlns:a="http://schemas.openxmlformats.org/drawingml/2006/main">
              <a:ext uri="{FF2B5EF4-FFF2-40B4-BE49-F238E27FC236}">
                <a16:creationId xmlns:a16="http://schemas.microsoft.com/office/drawing/2014/main" id="{EA45B958-E83A-4593-A886-BCA8F46A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prstGeom xmlns:a="http://schemas.openxmlformats.org/drawingml/2006/main" prst="roundRect">
            <a:avLst>
              <a:gd name="adj" fmla="val 2278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可编辑配置表玻璃内沿-210">
            <a:extLst xmlns:a="http://schemas.openxmlformats.org/drawingml/2006/main">
              <a:ext uri="{FF2B5EF4-FFF2-40B4-BE49-F238E27FC236}">
                <a16:creationId xmlns:a16="http://schemas.microsoft.com/office/drawing/2014/main" id="{D7A2BEF0-A755-4862-A93B-70717F0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4" y="2089309"/>
            <a:ext cx="11080433" cy="3736658"/>
          </a:xfrm>
          <a:prstGeom xmlns:a="http://schemas.openxmlformats.org/drawingml/2006/main" prst="roundRect">
            <a:avLst>
              <a:gd name="adj" fmla="val 196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可编辑配置表边缘高光-211">
            <a:extLst xmlns:a="http://schemas.openxmlformats.org/drawingml/2006/main">
              <a:ext uri="{FF2B5EF4-FFF2-40B4-BE49-F238E27FC236}">
                <a16:creationId xmlns:a16="http://schemas.microsoft.com/office/drawing/2014/main" id="{683DB9F8-8BE6-47E5-9927-C8A50D7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11106150" cy="3762375"/>
          </a:xfrm>
          <a:custGeom xmlns:a="http://schemas.openxmlformats.org/drawingml/2006/main"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63ED7-3131-4825-8E36-0F09A5183F1F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333750"/>
                <a:gridCol w="4019550"/>
              </a:tblGrid>
              <a:tr h="409575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验证场景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建议保留的证据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OBS：批准 VPC、身份与对象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HTTPS 执行允许的读取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返回内容符合业务预期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实际请求与响应、资源路径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身份、VPC / 端点与请求标识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OBS：其他 VPC / 公网来源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或本 VPC 访问未批准的桶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被来源或端点策略拒绝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不能通过备用路径绕过限制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拒绝结果与命中策略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核对真实来源和实际访问通道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OBS：只读身份执行上传 / 删除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或使用 HTTP 访问受限桶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未批准操作被拒绝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 HTTPS 请求被拒绝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读写权限、HTTPS 条件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对应访问日志或已启用的数据审计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SWR：生产身份拉取未缓存镜像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再尝试推送或访问未授权仓库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完整镜像层下载成功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未批准推送与仓库访问被拒绝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完整拉取结果、仓库与镜像标识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认证和镜像层依赖均已验证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</a:tr>
              <a:tr h="643890"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凭证更新与新节点恢复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并验证策略回退流程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更新后业务持续可用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过期凭证拒绝，扩容节点可拉取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 lIns="85725" tIns="85725" rIns="85725" bIns="857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续期结果、新节点部署记录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配置前态、回退条件和复核记录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5F7"/>
                      </a:solidFill>
                      <a:prstDash val="solid"/>
                    </a:lnR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27427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统一风格-文字 02  网络互联与安全加固-1">
            <a:extLst xmlns:a="http://schemas.openxmlformats.org/drawingml/2006/main">
              <a:ext uri="{FF2B5EF4-FFF2-40B4-BE49-F238E27FC236}">
                <a16:creationId xmlns:a16="http://schemas.microsoft.com/office/drawing/2014/main" id="{613CB983-6B94-45F2-92F4-F7CDD53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Pro / OP 双账号跨区域网络拓扑-2">
            <a:extLst xmlns:a="http://schemas.openxmlformats.org/drawingml/2006/main">
              <a:ext uri="{FF2B5EF4-FFF2-40B4-BE49-F238E27FC236}">
                <a16:creationId xmlns:a16="http://schemas.microsoft.com/office/drawing/2014/main" id="{47F84A01-9914-4FA0-8DDA-E301CBF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/ OP 双账号跨区域网络拓扑</a:t>
            </a:r>
          </a:p>
        </p:txBody>
      </p:sp>
      <p:sp>
        <p:nvSpPr>
          <p:cNvPr id="3" name="统一风格-文字 Pro 统一承载跨区域互联，OP 通过同区域的共享 ER 与中转 VPC 链路接入-3">
            <a:extLst xmlns:a="http://schemas.openxmlformats.org/drawingml/2006/main">
              <a:ext uri="{FF2B5EF4-FFF2-40B4-BE49-F238E27FC236}">
                <a16:creationId xmlns:a16="http://schemas.microsoft.com/office/drawing/2014/main" id="{44C57AB6-04E1-4DE7-91BD-CF8FCBD0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统一承载跨区域互联，OP 通过同区域的共享 ER 与中转 VPC 链路接入</a:t>
            </a:r>
          </a:p>
        </p:txBody>
      </p:sp>
      <p:sp>
        <p:nvSpPr>
          <p:cNvPr id="4" name="统一风格-华为云账号 Pro 资源边界-4">
            <a:extLst xmlns:a="http://schemas.openxmlformats.org/drawingml/2006/main">
              <a:ext uri="{FF2B5EF4-FFF2-40B4-BE49-F238E27FC236}">
                <a16:creationId xmlns:a16="http://schemas.microsoft.com/office/drawing/2014/main" id="{CAAD401C-0DC8-4EFF-A9B9-02AD807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ACFEE"/>
            </a:solidFill>
          </a:ln>
        </p:spPr>
      </p:sp>
      <p:sp>
        <p:nvSpPr>
          <p:cNvPr id="5" name="统一风格-华为云账号 OP 资源边界-5">
            <a:extLst xmlns:a="http://schemas.openxmlformats.org/drawingml/2006/main">
              <a:ext uri="{FF2B5EF4-FFF2-40B4-BE49-F238E27FC236}">
                <a16:creationId xmlns:a16="http://schemas.microsoft.com/office/drawing/2014/main" id="{2C5579BF-EF22-426B-9B81-CC067FD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7315200" cy="1819275"/>
          </a:xfrm>
          <a:prstGeom xmlns:a="http://schemas.openxmlformats.org/drawingml/2006/main" prst="roundRect">
            <a:avLst>
              <a:gd name="adj" fmla="val 52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ACFEE"/>
            </a:solidFill>
          </a:ln>
        </p:spPr>
      </p:sp>
      <p:sp>
        <p:nvSpPr>
          <p:cNvPr id="6" name="统一风格-文字 华为云账号 Pro-6">
            <a:extLst xmlns:a="http://schemas.openxmlformats.org/drawingml/2006/main">
              <a:ext uri="{FF2B5EF4-FFF2-40B4-BE49-F238E27FC236}">
                <a16:creationId xmlns:a16="http://schemas.microsoft.com/office/drawing/2014/main" id="{AFCB6F52-F036-48A8-9C67-82F9F7B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Pro</a:t>
            </a:r>
          </a:p>
        </p:txBody>
      </p:sp>
      <p:sp>
        <p:nvSpPr>
          <p:cNvPr id="7" name="统一风格-文字 华为云账号 OP-7">
            <a:extLst xmlns:a="http://schemas.openxmlformats.org/drawingml/2006/main">
              <a:ext uri="{FF2B5EF4-FFF2-40B4-BE49-F238E27FC236}">
                <a16:creationId xmlns:a16="http://schemas.microsoft.com/office/drawing/2014/main" id="{F555B7F1-101A-40A3-BED9-84EB4BA7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OP</a:t>
            </a:r>
          </a:p>
        </p:txBody>
      </p:sp>
      <p:sp>
        <p:nvSpPr>
          <p:cNvPr id="8" name="统一风格-贵阳一（主区域） 区域边界-8">
            <a:extLst xmlns:a="http://schemas.openxmlformats.org/drawingml/2006/main">
              <a:ext uri="{FF2B5EF4-FFF2-40B4-BE49-F238E27FC236}">
                <a16:creationId xmlns:a16="http://schemas.microsoft.com/office/drawing/2014/main" id="{5CCB83E8-78F7-455A-99DD-4757914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D3E0F3"/>
            </a:solidFill>
          </a:ln>
        </p:spPr>
      </p:sp>
      <p:sp>
        <p:nvSpPr>
          <p:cNvPr id="9" name="统一风格-文字 贵阳一（主区域）-9">
            <a:extLst xmlns:a="http://schemas.openxmlformats.org/drawingml/2006/main">
              <a:ext uri="{FF2B5EF4-FFF2-40B4-BE49-F238E27FC236}">
                <a16:creationId xmlns:a16="http://schemas.microsoft.com/office/drawing/2014/main" id="{3E69FF89-BCA1-48DD-A180-A164F328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0" name="统一风格-华东二（容灾区域） 区域边界-10">
            <a:extLst xmlns:a="http://schemas.openxmlformats.org/drawingml/2006/main">
              <a:ext uri="{FF2B5EF4-FFF2-40B4-BE49-F238E27FC236}">
                <a16:creationId xmlns:a16="http://schemas.microsoft.com/office/drawing/2014/main" id="{771F41FE-A5BC-4844-A141-0729A312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76525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D3E0F3"/>
            </a:solidFill>
          </a:ln>
        </p:spPr>
      </p:sp>
      <p:sp>
        <p:nvSpPr>
          <p:cNvPr id="11" name="统一风格-文字 华东二（容灾区域）-11">
            <a:extLst xmlns:a="http://schemas.openxmlformats.org/drawingml/2006/main">
              <a:ext uri="{FF2B5EF4-FFF2-40B4-BE49-F238E27FC236}">
                <a16:creationId xmlns:a16="http://schemas.microsoft.com/office/drawing/2014/main" id="{F9A13DF5-60EA-44F4-9A22-D5651842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sp>
        <p:nvSpPr>
          <p:cNvPr id="12" name="统一风格-新加坡（新增区域） 区域边界-12">
            <a:extLst xmlns:a="http://schemas.openxmlformats.org/drawingml/2006/main">
              <a:ext uri="{FF2B5EF4-FFF2-40B4-BE49-F238E27FC236}">
                <a16:creationId xmlns:a16="http://schemas.microsoft.com/office/drawing/2014/main" id="{72B7B8EC-886B-46EC-A0D2-AE04AD0F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76525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D3E0F3"/>
            </a:solidFill>
          </a:ln>
        </p:spPr>
      </p:sp>
      <p:sp>
        <p:nvSpPr>
          <p:cNvPr id="13" name="统一风格-文字 新加坡（新增区域）-13">
            <a:extLst xmlns:a="http://schemas.openxmlformats.org/drawingml/2006/main">
              <a:ext uri="{FF2B5EF4-FFF2-40B4-BE49-F238E27FC236}">
                <a16:creationId xmlns:a16="http://schemas.microsoft.com/office/drawing/2014/main" id="{13F9FACE-EB13-40CC-A4B9-786A6DAF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527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新加坡（新增区域）</a:t>
            </a:r>
          </a:p>
        </p:txBody>
      </p:sp>
      <p:sp>
        <p:nvSpPr>
          <p:cNvPr id="14" name="统一风格-贵阳一（主区域） 区域边界-14">
            <a:extLst xmlns:a="http://schemas.openxmlformats.org/drawingml/2006/main">
              <a:ext uri="{FF2B5EF4-FFF2-40B4-BE49-F238E27FC236}">
                <a16:creationId xmlns:a16="http://schemas.microsoft.com/office/drawing/2014/main" id="{CFDAD851-3F39-43B6-A4E2-A805311F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D3E0F3"/>
            </a:solidFill>
          </a:ln>
        </p:spPr>
      </p:sp>
      <p:sp>
        <p:nvSpPr>
          <p:cNvPr id="15" name="统一风格-文字 贵阳一（主区域）-15">
            <a:extLst xmlns:a="http://schemas.openxmlformats.org/drawingml/2006/main">
              <a:ext uri="{FF2B5EF4-FFF2-40B4-BE49-F238E27FC236}">
                <a16:creationId xmlns:a16="http://schemas.microsoft.com/office/drawing/2014/main" id="{46EDC4DA-DE3E-497F-9ADC-107A7C8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6" name="统一风格-华东二（容灾区域） 区域边界-16">
            <a:extLst xmlns:a="http://schemas.openxmlformats.org/drawingml/2006/main">
              <a:ext uri="{FF2B5EF4-FFF2-40B4-BE49-F238E27FC236}">
                <a16:creationId xmlns:a16="http://schemas.microsoft.com/office/drawing/2014/main" id="{01EFF710-5878-472F-83FA-7290DE4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9675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D3E0F3"/>
            </a:solidFill>
          </a:ln>
        </p:spPr>
      </p:sp>
      <p:sp>
        <p:nvSpPr>
          <p:cNvPr id="17" name="统一风格-文字 华东二（容灾区域）-17">
            <a:extLst xmlns:a="http://schemas.openxmlformats.org/drawingml/2006/main">
              <a:ext uri="{FF2B5EF4-FFF2-40B4-BE49-F238E27FC236}">
                <a16:creationId xmlns:a16="http://schemas.microsoft.com/office/drawing/2014/main" id="{43B214F9-E7AA-40BA-ACF5-8BF8863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958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cxnSp>
        <p:nvCxnSpPr>
          <p:cNvPr id="18" name="唯一 CC 的跨区域连接总线">
            <a:extLst xmlns:a="http://schemas.openxmlformats.org/drawingml/2006/main">
              <a:ext uri="{FF2B5EF4-FFF2-40B4-BE49-F238E27FC236}">
                <a16:creationId xmlns:a16="http://schemas.microsoft.com/office/drawing/2014/main" id="{C0BC6B96-FD75-4183-8E65-C782B532DD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90900" y="2514600"/>
            <a:ext cx="73152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cxnSp>
        <p:nvCxnSpPr>
          <p:cNvPr id="19" name="Pro 中心网络出口">
            <a:extLst xmlns:a="http://schemas.openxmlformats.org/drawingml/2006/main">
              <a:ext uri="{FF2B5EF4-FFF2-40B4-BE49-F238E27FC236}">
                <a16:creationId xmlns:a16="http://schemas.microsoft.com/office/drawing/2014/main" id="{15388E27-50AD-4B8D-8936-DF6DE0AE0E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48500" y="24003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cxnSp>
        <p:nvCxnSpPr>
          <p:cNvPr id="20" name="区域 ER 接入 Pro 中心网络">
            <a:extLst xmlns:a="http://schemas.openxmlformats.org/drawingml/2006/main">
              <a:ext uri="{FF2B5EF4-FFF2-40B4-BE49-F238E27FC236}">
                <a16:creationId xmlns:a16="http://schemas.microsoft.com/office/drawing/2014/main" id="{FAFB7CF1-FAAB-448C-8CD3-B9FB808FA5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90900" y="251460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cxnSp>
        <p:nvCxnSpPr>
          <p:cNvPr id="21" name="区域 ER 接入 Pro 中心网络">
            <a:extLst xmlns:a="http://schemas.openxmlformats.org/drawingml/2006/main">
              <a:ext uri="{FF2B5EF4-FFF2-40B4-BE49-F238E27FC236}">
                <a16:creationId xmlns:a16="http://schemas.microsoft.com/office/drawing/2014/main" id="{C7C4E326-453C-4C66-A7FB-0FB108BD24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48500" y="251460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cxnSp>
        <p:nvCxnSpPr>
          <p:cNvPr id="22" name="区域 ER 接入 Pro 中心网络">
            <a:extLst xmlns:a="http://schemas.openxmlformats.org/drawingml/2006/main">
              <a:ext uri="{FF2B5EF4-FFF2-40B4-BE49-F238E27FC236}">
                <a16:creationId xmlns:a16="http://schemas.microsoft.com/office/drawing/2014/main" id="{EA199F2D-0F07-4499-8211-F715BE0E55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06100" y="251460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cxnSp>
        <p:nvCxnSpPr>
          <p:cNvPr id="23" name="共享 ER 与中转 VPC 跨账号链路">
            <a:extLst xmlns:a="http://schemas.openxmlformats.org/drawingml/2006/main">
              <a:ext uri="{FF2B5EF4-FFF2-40B4-BE49-F238E27FC236}">
                <a16:creationId xmlns:a16="http://schemas.microsoft.com/office/drawing/2014/main" id="{1B54C3A8-A673-4377-B77A-CCB32CFCD5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90900" y="3867150"/>
            <a:ext cx="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sp>
        <p:nvSpPr>
          <p:cNvPr id="24" name="统一风格-跨账号链路标注底色-18">
            <a:extLst xmlns:a="http://schemas.openxmlformats.org/drawingml/2006/main">
              <a:ext uri="{FF2B5EF4-FFF2-40B4-BE49-F238E27FC236}">
                <a16:creationId xmlns:a16="http://schemas.microsoft.com/office/drawing/2014/main" id="{530195ED-72C9-4AEB-9824-EC8DB80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统一风格-文字 共享 ER ＋ 中转 VPC-19">
            <a:extLst xmlns:a="http://schemas.openxmlformats.org/drawingml/2006/main">
              <a:ext uri="{FF2B5EF4-FFF2-40B4-BE49-F238E27FC236}">
                <a16:creationId xmlns:a16="http://schemas.microsoft.com/office/drawing/2014/main" id="{57EC5EAB-BDC5-4822-BC14-8935E850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cxnSp>
        <p:nvCxnSpPr>
          <p:cNvPr id="26" name="共享 ER 与中转 VPC 跨账号链路">
            <a:extLst xmlns:a="http://schemas.openxmlformats.org/drawingml/2006/main">
              <a:ext uri="{FF2B5EF4-FFF2-40B4-BE49-F238E27FC236}">
                <a16:creationId xmlns:a16="http://schemas.microsoft.com/office/drawing/2014/main" id="{03D62B3A-256D-4E42-8777-D4B1634BB8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48500" y="3867150"/>
            <a:ext cx="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2053C3"/>
            </a:solidFill>
          </a:ln>
        </p:spPr>
      </p:cxnSp>
      <p:sp>
        <p:nvSpPr>
          <p:cNvPr id="27" name="统一风格-跨账号链路标注底色-20">
            <a:extLst xmlns:a="http://schemas.openxmlformats.org/drawingml/2006/main">
              <a:ext uri="{FF2B5EF4-FFF2-40B4-BE49-F238E27FC236}">
                <a16:creationId xmlns:a16="http://schemas.microsoft.com/office/drawing/2014/main" id="{610E7041-A18E-4A40-B450-1DDC21DF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统一风格-文字 共享 ER ＋ 中转 VPC-21">
            <a:extLst xmlns:a="http://schemas.openxmlformats.org/drawingml/2006/main">
              <a:ext uri="{FF2B5EF4-FFF2-40B4-BE49-F238E27FC236}">
                <a16:creationId xmlns:a16="http://schemas.microsoft.com/office/drawing/2014/main" id="{04FAA4E4-13B6-42EE-A2B0-DCDB1160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910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sp>
        <p:nvSpPr>
          <p:cNvPr id="29" name="统一风格-文字 业务 VPC-22">
            <a:extLst xmlns:a="http://schemas.openxmlformats.org/drawingml/2006/main">
              <a:ext uri="{FF2B5EF4-FFF2-40B4-BE49-F238E27FC236}">
                <a16:creationId xmlns:a16="http://schemas.microsoft.com/office/drawing/2014/main" id="{9C971435-6F6B-4B90-ACA6-22FC7635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30" name="VPC 1 连接至 ER">
            <a:extLst xmlns:a="http://schemas.openxmlformats.org/drawingml/2006/main">
              <a:ext uri="{FF2B5EF4-FFF2-40B4-BE49-F238E27FC236}">
                <a16:creationId xmlns:a16="http://schemas.microsoft.com/office/drawing/2014/main" id="{716772DF-C430-4E10-BA3C-0095A4BC8A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00300" y="3409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31" name="VPC n 连接至 ER">
            <a:extLst xmlns:a="http://schemas.openxmlformats.org/drawingml/2006/main">
              <a:ext uri="{FF2B5EF4-FFF2-40B4-BE49-F238E27FC236}">
                <a16:creationId xmlns:a16="http://schemas.microsoft.com/office/drawing/2014/main" id="{5D55A6AE-A8AE-4001-B94D-D8D2E4AF56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00300" y="3771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32" name="多个 VPC 连接汇聚">
            <a:extLst xmlns:a="http://schemas.openxmlformats.org/drawingml/2006/main">
              <a:ext uri="{FF2B5EF4-FFF2-40B4-BE49-F238E27FC236}">
                <a16:creationId xmlns:a16="http://schemas.microsoft.com/office/drawing/2014/main" id="{9A8B203E-A4A5-4706-98DE-72244B525F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28900" y="34099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33" name="业务 VPC 连接区域 ER">
            <a:extLst xmlns:a="http://schemas.openxmlformats.org/drawingml/2006/main">
              <a:ext uri="{FF2B5EF4-FFF2-40B4-BE49-F238E27FC236}">
                <a16:creationId xmlns:a16="http://schemas.microsoft.com/office/drawing/2014/main" id="{2CBB5105-A2CB-498C-B22E-DA4C06F563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28900" y="35909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sp>
        <p:nvSpPr>
          <p:cNvPr id="34" name="统一风格-VPC 1玻璃后沿-23">
            <a:extLst xmlns:a="http://schemas.openxmlformats.org/drawingml/2006/main">
              <a:ext uri="{FF2B5EF4-FFF2-40B4-BE49-F238E27FC236}">
                <a16:creationId xmlns:a16="http://schemas.microsoft.com/office/drawing/2014/main" id="{85EA56D2-C78C-4A2D-A276-0AF6C14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35" name="统一风格-VPC 1-24">
            <a:extLst xmlns:a="http://schemas.openxmlformats.org/drawingml/2006/main">
              <a:ext uri="{FF2B5EF4-FFF2-40B4-BE49-F238E27FC236}">
                <a16:creationId xmlns:a16="http://schemas.microsoft.com/office/drawing/2014/main" id="{CCB72E12-B53D-492B-98CC-4A7E1A8F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VPC 1玻璃内沿-25">
            <a:extLst xmlns:a="http://schemas.openxmlformats.org/drawingml/2006/main">
              <a:ext uri="{FF2B5EF4-FFF2-40B4-BE49-F238E27FC236}">
                <a16:creationId xmlns:a16="http://schemas.microsoft.com/office/drawing/2014/main" id="{515E7885-CB2A-4046-BFB8-A160427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328945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VPC 1边缘高光-26">
            <a:extLst xmlns:a="http://schemas.openxmlformats.org/drawingml/2006/main">
              <a:ext uri="{FF2B5EF4-FFF2-40B4-BE49-F238E27FC236}">
                <a16:creationId xmlns:a16="http://schemas.microsoft.com/office/drawing/2014/main" id="{4203E315-2154-4711-A468-6676322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8" name="统一风格-cloud VPC 云轮廓-27">
            <a:extLst xmlns:a="http://schemas.openxmlformats.org/drawingml/2006/main">
              <a:ext uri="{FF2B5EF4-FFF2-40B4-BE49-F238E27FC236}">
                <a16:creationId xmlns:a16="http://schemas.microsoft.com/office/drawing/2014/main" id="{C08539FE-14B6-462D-A10F-1FF3262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39" name="统一风格-文字 VPC 1-28">
            <a:extLst xmlns:a="http://schemas.openxmlformats.org/drawingml/2006/main">
              <a:ext uri="{FF2B5EF4-FFF2-40B4-BE49-F238E27FC236}">
                <a16:creationId xmlns:a16="http://schemas.microsoft.com/office/drawing/2014/main" id="{B7135833-F416-42D4-9379-B9E5B35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40" name="统一风格-VPC n玻璃后沿-29">
            <a:extLst xmlns:a="http://schemas.openxmlformats.org/drawingml/2006/main">
              <a:ext uri="{FF2B5EF4-FFF2-40B4-BE49-F238E27FC236}">
                <a16:creationId xmlns:a16="http://schemas.microsoft.com/office/drawing/2014/main" id="{22530A77-5E60-4452-A826-18467B3A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41" name="统一风格-VPC n-30">
            <a:extLst xmlns:a="http://schemas.openxmlformats.org/drawingml/2006/main">
              <a:ext uri="{FF2B5EF4-FFF2-40B4-BE49-F238E27FC236}">
                <a16:creationId xmlns:a16="http://schemas.microsoft.com/office/drawing/2014/main" id="{CDB15EF3-AD07-4503-9043-60B123E0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42" name="统一风格-VPC n玻璃内沿-31">
            <a:extLst xmlns:a="http://schemas.openxmlformats.org/drawingml/2006/main">
              <a:ext uri="{FF2B5EF4-FFF2-40B4-BE49-F238E27FC236}">
                <a16:creationId xmlns:a16="http://schemas.microsoft.com/office/drawing/2014/main" id="{088E4509-A5DD-4700-A419-EC4476B6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365140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43" name="统一风格-VPC n边缘高光-32">
            <a:extLst xmlns:a="http://schemas.openxmlformats.org/drawingml/2006/main">
              <a:ext uri="{FF2B5EF4-FFF2-40B4-BE49-F238E27FC236}">
                <a16:creationId xmlns:a16="http://schemas.microsoft.com/office/drawing/2014/main" id="{3CC3AA5E-00C0-4DBD-9C68-3BDAF14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4" name="统一风格-cloud VPC 云轮廓-33">
            <a:extLst xmlns:a="http://schemas.openxmlformats.org/drawingml/2006/main">
              <a:ext uri="{FF2B5EF4-FFF2-40B4-BE49-F238E27FC236}">
                <a16:creationId xmlns:a16="http://schemas.microsoft.com/office/drawing/2014/main" id="{554767C2-6504-438D-BF81-0A83714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45" name="统一风格-文字 VPC n-34">
            <a:extLst xmlns:a="http://schemas.openxmlformats.org/drawingml/2006/main">
              <a:ext uri="{FF2B5EF4-FFF2-40B4-BE49-F238E27FC236}">
                <a16:creationId xmlns:a16="http://schemas.microsoft.com/office/drawing/2014/main" id="{C0CAB749-C273-4977-8906-9AC32FF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480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46" name="统一风格-更多 VPC 省略点-35">
            <a:extLst xmlns:a="http://schemas.openxmlformats.org/drawingml/2006/main">
              <a:ext uri="{FF2B5EF4-FFF2-40B4-BE49-F238E27FC236}">
                <a16:creationId xmlns:a16="http://schemas.microsoft.com/office/drawing/2014/main" id="{748488C1-9ADA-486B-B625-0DF56A20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47" name="统一风格-更多 VPC 省略点-36">
            <a:extLst xmlns:a="http://schemas.openxmlformats.org/drawingml/2006/main">
              <a:ext uri="{FF2B5EF4-FFF2-40B4-BE49-F238E27FC236}">
                <a16:creationId xmlns:a16="http://schemas.microsoft.com/office/drawing/2014/main" id="{2A8984E7-916D-4ED1-8907-D0EB26AC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81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48" name="统一风格-更多 VPC 省略点-37">
            <a:extLst xmlns:a="http://schemas.openxmlformats.org/drawingml/2006/main">
              <a:ext uri="{FF2B5EF4-FFF2-40B4-BE49-F238E27FC236}">
                <a16:creationId xmlns:a16="http://schemas.microsoft.com/office/drawing/2014/main" id="{557EAE6D-EC97-438F-943D-55B942C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49" name="统一风格-区域 ER玻璃后沿-38">
            <a:extLst xmlns:a="http://schemas.openxmlformats.org/drawingml/2006/main">
              <a:ext uri="{FF2B5EF4-FFF2-40B4-BE49-F238E27FC236}">
                <a16:creationId xmlns:a16="http://schemas.microsoft.com/office/drawing/2014/main" id="{B9EA4B1E-43C1-4C1F-89D6-A7AF539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50" name="统一风格-区域 ER-39">
            <a:extLst xmlns:a="http://schemas.openxmlformats.org/drawingml/2006/main">
              <a:ext uri="{FF2B5EF4-FFF2-40B4-BE49-F238E27FC236}">
                <a16:creationId xmlns:a16="http://schemas.microsoft.com/office/drawing/2014/main" id="{1600615C-3058-4D31-8694-1A87588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51" name="统一风格-区域 ER玻璃内沿-40">
            <a:extLst xmlns:a="http://schemas.openxmlformats.org/drawingml/2006/main">
              <a:ext uri="{FF2B5EF4-FFF2-40B4-BE49-F238E27FC236}">
                <a16:creationId xmlns:a16="http://schemas.microsoft.com/office/drawing/2014/main" id="{C17229FF-81E9-481C-8CB0-5E41CED0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59" y="3327559"/>
            <a:ext cx="1041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52" name="统一风格-区域 ER边缘高光-41">
            <a:extLst xmlns:a="http://schemas.openxmlformats.org/drawingml/2006/main">
              <a:ext uri="{FF2B5EF4-FFF2-40B4-BE49-F238E27FC236}">
                <a16:creationId xmlns:a16="http://schemas.microsoft.com/office/drawing/2014/main" id="{993809D4-E31B-4DFC-93B0-A196B4B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066800" cy="552450"/>
          </a:xfrm>
          <a:custGeom xmlns:a="http://schemas.openxmlformats.org/drawingml/2006/main"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3" name="统一风格-router ER 路由器外形-42">
            <a:extLst xmlns:a="http://schemas.openxmlformats.org/drawingml/2006/main">
              <a:ext uri="{FF2B5EF4-FFF2-40B4-BE49-F238E27FC236}">
                <a16:creationId xmlns:a16="http://schemas.microsoft.com/office/drawing/2014/main" id="{147A899B-AB5B-43CE-A876-AF3C906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54" name="统一风格-router ER 四向路由-43">
            <a:extLst xmlns:a="http://schemas.openxmlformats.org/drawingml/2006/main">
              <a:ext uri="{FF2B5EF4-FFF2-40B4-BE49-F238E27FC236}">
                <a16:creationId xmlns:a16="http://schemas.microsoft.com/office/drawing/2014/main" id="{0DB5BA5A-169D-4706-957A-9250D45B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55" name="统一风格-文字 ER-44">
            <a:extLst xmlns:a="http://schemas.openxmlformats.org/drawingml/2006/main">
              <a:ext uri="{FF2B5EF4-FFF2-40B4-BE49-F238E27FC236}">
                <a16:creationId xmlns:a16="http://schemas.microsoft.com/office/drawing/2014/main" id="{9B86B259-BF3A-475A-8367-2F7FC7D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004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56" name="统一风格-文字 业务 VPC-45">
            <a:extLst xmlns:a="http://schemas.openxmlformats.org/drawingml/2006/main">
              <a:ext uri="{FF2B5EF4-FFF2-40B4-BE49-F238E27FC236}">
                <a16:creationId xmlns:a16="http://schemas.microsoft.com/office/drawing/2014/main" id="{5852BFF6-60FD-478A-A208-A2BA7391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57" name="VPC 1 连接至 ER">
            <a:extLst xmlns:a="http://schemas.openxmlformats.org/drawingml/2006/main">
              <a:ext uri="{FF2B5EF4-FFF2-40B4-BE49-F238E27FC236}">
                <a16:creationId xmlns:a16="http://schemas.microsoft.com/office/drawing/2014/main" id="{B76A2DD7-7B24-4298-A103-D82B571A71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3409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58" name="VPC n 连接至 ER">
            <a:extLst xmlns:a="http://schemas.openxmlformats.org/drawingml/2006/main">
              <a:ext uri="{FF2B5EF4-FFF2-40B4-BE49-F238E27FC236}">
                <a16:creationId xmlns:a16="http://schemas.microsoft.com/office/drawing/2014/main" id="{1CD50417-8491-49B3-AF53-695E02D858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3771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59" name="多个 VPC 连接汇聚">
            <a:extLst xmlns:a="http://schemas.openxmlformats.org/drawingml/2006/main">
              <a:ext uri="{FF2B5EF4-FFF2-40B4-BE49-F238E27FC236}">
                <a16:creationId xmlns:a16="http://schemas.microsoft.com/office/drawing/2014/main" id="{7A5F7CB8-631B-42A8-978D-0F2C116B8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86500" y="34099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60" name="业务 VPC 连接区域 ER">
            <a:extLst xmlns:a="http://schemas.openxmlformats.org/drawingml/2006/main">
              <a:ext uri="{FF2B5EF4-FFF2-40B4-BE49-F238E27FC236}">
                <a16:creationId xmlns:a16="http://schemas.microsoft.com/office/drawing/2014/main" id="{1F17F475-994C-42E8-96DF-3D55993999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86500" y="35909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sp>
        <p:nvSpPr>
          <p:cNvPr id="61" name="统一风格-VPC 1玻璃后沿-46">
            <a:extLst xmlns:a="http://schemas.openxmlformats.org/drawingml/2006/main">
              <a:ext uri="{FF2B5EF4-FFF2-40B4-BE49-F238E27FC236}">
                <a16:creationId xmlns:a16="http://schemas.microsoft.com/office/drawing/2014/main" id="{05E7B3DA-AA02-4616-8D4E-BB52383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2" name="统一风格-VPC 1-47">
            <a:extLst xmlns:a="http://schemas.openxmlformats.org/drawingml/2006/main">
              <a:ext uri="{FF2B5EF4-FFF2-40B4-BE49-F238E27FC236}">
                <a16:creationId xmlns:a16="http://schemas.microsoft.com/office/drawing/2014/main" id="{9A53B93D-24C6-4781-9ABF-EC4FBCA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3" name="统一风格-VPC 1玻璃内沿-48">
            <a:extLst xmlns:a="http://schemas.openxmlformats.org/drawingml/2006/main">
              <a:ext uri="{FF2B5EF4-FFF2-40B4-BE49-F238E27FC236}">
                <a16:creationId xmlns:a16="http://schemas.microsoft.com/office/drawing/2014/main" id="{09CC0429-7F98-4317-AE2D-35E930E9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59" y="328945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64" name="统一风格-VPC 1边缘高光-49">
            <a:extLst xmlns:a="http://schemas.openxmlformats.org/drawingml/2006/main">
              <a:ext uri="{FF2B5EF4-FFF2-40B4-BE49-F238E27FC236}">
                <a16:creationId xmlns:a16="http://schemas.microsoft.com/office/drawing/2014/main" id="{CA62F60D-E8DA-44D0-B7E2-C4500965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5" name="统一风格-cloud VPC 云轮廓-50">
            <a:extLst xmlns:a="http://schemas.openxmlformats.org/drawingml/2006/main">
              <a:ext uri="{FF2B5EF4-FFF2-40B4-BE49-F238E27FC236}">
                <a16:creationId xmlns:a16="http://schemas.microsoft.com/office/drawing/2014/main" id="{DF1FC68A-FCB6-4C54-BEDB-CBB7BF44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66" name="统一风格-文字 VPC 1-51">
            <a:extLst xmlns:a="http://schemas.openxmlformats.org/drawingml/2006/main">
              <a:ext uri="{FF2B5EF4-FFF2-40B4-BE49-F238E27FC236}">
                <a16:creationId xmlns:a16="http://schemas.microsoft.com/office/drawing/2014/main" id="{E5365D8E-E8BC-4C13-BE84-5BB4604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861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67" name="统一风格-VPC n玻璃后沿-52">
            <a:extLst xmlns:a="http://schemas.openxmlformats.org/drawingml/2006/main">
              <a:ext uri="{FF2B5EF4-FFF2-40B4-BE49-F238E27FC236}">
                <a16:creationId xmlns:a16="http://schemas.microsoft.com/office/drawing/2014/main" id="{999D4ED5-FEF4-4D7F-85C5-2BB17216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68" name="统一风格-VPC n-53">
            <a:extLst xmlns:a="http://schemas.openxmlformats.org/drawingml/2006/main">
              <a:ext uri="{FF2B5EF4-FFF2-40B4-BE49-F238E27FC236}">
                <a16:creationId xmlns:a16="http://schemas.microsoft.com/office/drawing/2014/main" id="{02352F7D-9A1F-4FB2-AE67-2E41C20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69" name="统一风格-VPC n玻璃内沿-54">
            <a:extLst xmlns:a="http://schemas.openxmlformats.org/drawingml/2006/main">
              <a:ext uri="{FF2B5EF4-FFF2-40B4-BE49-F238E27FC236}">
                <a16:creationId xmlns:a16="http://schemas.microsoft.com/office/drawing/2014/main" id="{E5441F16-2F35-4A67-9B0D-BE38BC9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59" y="365140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0" name="统一风格-VPC n边缘高光-55">
            <a:extLst xmlns:a="http://schemas.openxmlformats.org/drawingml/2006/main">
              <a:ext uri="{FF2B5EF4-FFF2-40B4-BE49-F238E27FC236}">
                <a16:creationId xmlns:a16="http://schemas.microsoft.com/office/drawing/2014/main" id="{5C5CC107-B766-402D-9116-6769A8BE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1" name="统一风格-cloud VPC 云轮廓-56">
            <a:extLst xmlns:a="http://schemas.openxmlformats.org/drawingml/2006/main">
              <a:ext uri="{FF2B5EF4-FFF2-40B4-BE49-F238E27FC236}">
                <a16:creationId xmlns:a16="http://schemas.microsoft.com/office/drawing/2014/main" id="{43A7D8CE-B0F6-4A0C-A089-24DA9C67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72" name="统一风格-文字 VPC n-57">
            <a:extLst xmlns:a="http://schemas.openxmlformats.org/drawingml/2006/main">
              <a:ext uri="{FF2B5EF4-FFF2-40B4-BE49-F238E27FC236}">
                <a16:creationId xmlns:a16="http://schemas.microsoft.com/office/drawing/2014/main" id="{AD8D27BD-A546-4389-874F-87ED5A61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480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73" name="统一风格-更多 VPC 省略点-58">
            <a:extLst xmlns:a="http://schemas.openxmlformats.org/drawingml/2006/main">
              <a:ext uri="{FF2B5EF4-FFF2-40B4-BE49-F238E27FC236}">
                <a16:creationId xmlns:a16="http://schemas.microsoft.com/office/drawing/2014/main" id="{136EA8A3-E01C-4EE7-868D-837510E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52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74" name="统一风格-更多 VPC 省略点-59">
            <a:extLst xmlns:a="http://schemas.openxmlformats.org/drawingml/2006/main">
              <a:ext uri="{FF2B5EF4-FFF2-40B4-BE49-F238E27FC236}">
                <a16:creationId xmlns:a16="http://schemas.microsoft.com/office/drawing/2014/main" id="{6D4BE26D-966B-42FC-BE8A-4168FA83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81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75" name="统一风格-更多 VPC 省略点-60">
            <a:extLst xmlns:a="http://schemas.openxmlformats.org/drawingml/2006/main">
              <a:ext uri="{FF2B5EF4-FFF2-40B4-BE49-F238E27FC236}">
                <a16:creationId xmlns:a16="http://schemas.microsoft.com/office/drawing/2014/main" id="{C82EB856-A084-46D6-90CD-FBC70303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76" name="统一风格-区域 ER玻璃后沿-61">
            <a:extLst xmlns:a="http://schemas.openxmlformats.org/drawingml/2006/main">
              <a:ext uri="{FF2B5EF4-FFF2-40B4-BE49-F238E27FC236}">
                <a16:creationId xmlns:a16="http://schemas.microsoft.com/office/drawing/2014/main" id="{6B419105-1A31-4ECD-B987-AABF2AE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77" name="统一风格-区域 ER-62">
            <a:extLst xmlns:a="http://schemas.openxmlformats.org/drawingml/2006/main">
              <a:ext uri="{FF2B5EF4-FFF2-40B4-BE49-F238E27FC236}">
                <a16:creationId xmlns:a16="http://schemas.microsoft.com/office/drawing/2014/main" id="{8E4E8DCC-5AFF-4188-AD82-E540B28C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78" name="统一风格-区域 ER玻璃内沿-63">
            <a:extLst xmlns:a="http://schemas.openxmlformats.org/drawingml/2006/main">
              <a:ext uri="{FF2B5EF4-FFF2-40B4-BE49-F238E27FC236}">
                <a16:creationId xmlns:a16="http://schemas.microsoft.com/office/drawing/2014/main" id="{246D97A1-4594-41E1-B978-809D728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959" y="3327559"/>
            <a:ext cx="1041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79" name="统一风格-区域 ER边缘高光-64">
            <a:extLst xmlns:a="http://schemas.openxmlformats.org/drawingml/2006/main">
              <a:ext uri="{FF2B5EF4-FFF2-40B4-BE49-F238E27FC236}">
                <a16:creationId xmlns:a16="http://schemas.microsoft.com/office/drawing/2014/main" id="{B36FC282-330D-48DF-9503-D3C4820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1066800" cy="552450"/>
          </a:xfrm>
          <a:custGeom xmlns:a="http://schemas.openxmlformats.org/drawingml/2006/main"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0" name="统一风格-router ER 路由器外形-65">
            <a:extLst xmlns:a="http://schemas.openxmlformats.org/drawingml/2006/main">
              <a:ext uri="{FF2B5EF4-FFF2-40B4-BE49-F238E27FC236}">
                <a16:creationId xmlns:a16="http://schemas.microsoft.com/office/drawing/2014/main" id="{E9419D6E-F2A7-4EBA-8BBC-5607E0A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81" name="统一风格-router ER 四向路由-66">
            <a:extLst xmlns:a="http://schemas.openxmlformats.org/drawingml/2006/main">
              <a:ext uri="{FF2B5EF4-FFF2-40B4-BE49-F238E27FC236}">
                <a16:creationId xmlns:a16="http://schemas.microsoft.com/office/drawing/2014/main" id="{7D9DBA1E-CA88-4706-A0D1-416E87E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82" name="统一风格-文字 ER-67">
            <a:extLst xmlns:a="http://schemas.openxmlformats.org/drawingml/2006/main">
              <a:ext uri="{FF2B5EF4-FFF2-40B4-BE49-F238E27FC236}">
                <a16:creationId xmlns:a16="http://schemas.microsoft.com/office/drawing/2014/main" id="{B0F57DAC-00BF-4CAA-9527-9B49F47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4004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83" name="统一风格-文字 业务 VPC-68">
            <a:extLst xmlns:a="http://schemas.openxmlformats.org/drawingml/2006/main">
              <a:ext uri="{FF2B5EF4-FFF2-40B4-BE49-F238E27FC236}">
                <a16:creationId xmlns:a16="http://schemas.microsoft.com/office/drawing/2014/main" id="{E5870CB6-72B3-4AD4-8067-E9D6919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84" name="VPC 1 连接至 ER">
            <a:extLst xmlns:a="http://schemas.openxmlformats.org/drawingml/2006/main">
              <a:ext uri="{FF2B5EF4-FFF2-40B4-BE49-F238E27FC236}">
                <a16:creationId xmlns:a16="http://schemas.microsoft.com/office/drawing/2014/main" id="{18AA72F1-77EA-4E57-8289-850E26405D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0" y="34099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85" name="VPC n 连接至 ER">
            <a:extLst xmlns:a="http://schemas.openxmlformats.org/drawingml/2006/main">
              <a:ext uri="{FF2B5EF4-FFF2-40B4-BE49-F238E27FC236}">
                <a16:creationId xmlns:a16="http://schemas.microsoft.com/office/drawing/2014/main" id="{2181D996-67F7-4EAD-BA7A-ED3850B4EB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0" y="3771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86" name="多个 VPC 连接汇聚">
            <a:extLst xmlns:a="http://schemas.openxmlformats.org/drawingml/2006/main">
              <a:ext uri="{FF2B5EF4-FFF2-40B4-BE49-F238E27FC236}">
                <a16:creationId xmlns:a16="http://schemas.microsoft.com/office/drawing/2014/main" id="{6B329184-6A30-4713-919F-51AF783E52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44100" y="34099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87" name="业务 VPC 连接区域 ER">
            <a:extLst xmlns:a="http://schemas.openxmlformats.org/drawingml/2006/main">
              <a:ext uri="{FF2B5EF4-FFF2-40B4-BE49-F238E27FC236}">
                <a16:creationId xmlns:a16="http://schemas.microsoft.com/office/drawing/2014/main" id="{E8A74072-76E8-407B-9071-48B723C960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44100" y="35909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sp>
        <p:nvSpPr>
          <p:cNvPr id="88" name="统一风格-VPC 1玻璃后沿-69">
            <a:extLst xmlns:a="http://schemas.openxmlformats.org/drawingml/2006/main">
              <a:ext uri="{FF2B5EF4-FFF2-40B4-BE49-F238E27FC236}">
                <a16:creationId xmlns:a16="http://schemas.microsoft.com/office/drawing/2014/main" id="{C0DC1575-0BA9-4AD6-9DC2-AE3C5C7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89" name="统一风格-VPC 1-70">
            <a:extLst xmlns:a="http://schemas.openxmlformats.org/drawingml/2006/main">
              <a:ext uri="{FF2B5EF4-FFF2-40B4-BE49-F238E27FC236}">
                <a16:creationId xmlns:a16="http://schemas.microsoft.com/office/drawing/2014/main" id="{92CB07B6-8558-41F2-97A6-58D660FB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0" name="统一风格-VPC 1玻璃内沿-71">
            <a:extLst xmlns:a="http://schemas.openxmlformats.org/drawingml/2006/main">
              <a:ext uri="{FF2B5EF4-FFF2-40B4-BE49-F238E27FC236}">
                <a16:creationId xmlns:a16="http://schemas.microsoft.com/office/drawing/2014/main" id="{FAFD998A-C6BE-4A62-8113-3C15CD77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659" y="328945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1" name="统一风格-VPC 1边缘高光-72">
            <a:extLst xmlns:a="http://schemas.openxmlformats.org/drawingml/2006/main">
              <a:ext uri="{FF2B5EF4-FFF2-40B4-BE49-F238E27FC236}">
                <a16:creationId xmlns:a16="http://schemas.microsoft.com/office/drawing/2014/main" id="{C1B76319-5FC6-4B2C-88F1-90FDCF8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2" name="统一风格-cloud VPC 云轮廓-73">
            <a:extLst xmlns:a="http://schemas.openxmlformats.org/drawingml/2006/main">
              <a:ext uri="{FF2B5EF4-FFF2-40B4-BE49-F238E27FC236}">
                <a16:creationId xmlns:a16="http://schemas.microsoft.com/office/drawing/2014/main" id="{4B71D06F-6146-453A-B70D-E1F6E9E3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93" name="统一风格-文字 VPC 1-74">
            <a:extLst xmlns:a="http://schemas.openxmlformats.org/drawingml/2006/main">
              <a:ext uri="{FF2B5EF4-FFF2-40B4-BE49-F238E27FC236}">
                <a16:creationId xmlns:a16="http://schemas.microsoft.com/office/drawing/2014/main" id="{7AC50108-BB01-41CD-AA9D-A7DFA34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861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94" name="统一风格-VPC n玻璃后沿-75">
            <a:extLst xmlns:a="http://schemas.openxmlformats.org/drawingml/2006/main">
              <a:ext uri="{FF2B5EF4-FFF2-40B4-BE49-F238E27FC236}">
                <a16:creationId xmlns:a16="http://schemas.microsoft.com/office/drawing/2014/main" id="{A426D730-9311-4362-91F8-9405D9A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95" name="统一风格-VPC n-76">
            <a:extLst xmlns:a="http://schemas.openxmlformats.org/drawingml/2006/main">
              <a:ext uri="{FF2B5EF4-FFF2-40B4-BE49-F238E27FC236}">
                <a16:creationId xmlns:a16="http://schemas.microsoft.com/office/drawing/2014/main" id="{3807041E-E1E6-4BB0-B781-997C7DF6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96" name="统一风格-VPC n玻璃内沿-77">
            <a:extLst xmlns:a="http://schemas.openxmlformats.org/drawingml/2006/main">
              <a:ext uri="{FF2B5EF4-FFF2-40B4-BE49-F238E27FC236}">
                <a16:creationId xmlns:a16="http://schemas.microsoft.com/office/drawing/2014/main" id="{38CB6246-BD75-4EF0-88C3-2F58FB2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659" y="365140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97" name="统一风格-VPC n边缘高光-78">
            <a:extLst xmlns:a="http://schemas.openxmlformats.org/drawingml/2006/main">
              <a:ext uri="{FF2B5EF4-FFF2-40B4-BE49-F238E27FC236}">
                <a16:creationId xmlns:a16="http://schemas.microsoft.com/office/drawing/2014/main" id="{24C38351-BB81-4C49-8117-89B60DB8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8" name="统一风格-cloud VPC 云轮廓-79">
            <a:extLst xmlns:a="http://schemas.openxmlformats.org/drawingml/2006/main">
              <a:ext uri="{FF2B5EF4-FFF2-40B4-BE49-F238E27FC236}">
                <a16:creationId xmlns:a16="http://schemas.microsoft.com/office/drawing/2014/main" id="{3F3DB379-17B8-4307-A6E8-46A82E7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99" name="统一风格-文字 VPC n-80">
            <a:extLst xmlns:a="http://schemas.openxmlformats.org/drawingml/2006/main">
              <a:ext uri="{FF2B5EF4-FFF2-40B4-BE49-F238E27FC236}">
                <a16:creationId xmlns:a16="http://schemas.microsoft.com/office/drawing/2014/main" id="{5E71D5C5-6734-4C1F-845A-3CEF8A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480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00" name="统一风格-更多 VPC 省略点-81">
            <a:extLst xmlns:a="http://schemas.openxmlformats.org/drawingml/2006/main">
              <a:ext uri="{FF2B5EF4-FFF2-40B4-BE49-F238E27FC236}">
                <a16:creationId xmlns:a16="http://schemas.microsoft.com/office/drawing/2014/main" id="{919E0531-6E93-4CEC-8E98-19E2D2F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52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01" name="统一风格-更多 VPC 省略点-82">
            <a:extLst xmlns:a="http://schemas.openxmlformats.org/drawingml/2006/main">
              <a:ext uri="{FF2B5EF4-FFF2-40B4-BE49-F238E27FC236}">
                <a16:creationId xmlns:a16="http://schemas.microsoft.com/office/drawing/2014/main" id="{08C84107-CAF6-4BA9-9C12-22E9297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81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02" name="统一风格-更多 VPC 省略点-83">
            <a:extLst xmlns:a="http://schemas.openxmlformats.org/drawingml/2006/main">
              <a:ext uri="{FF2B5EF4-FFF2-40B4-BE49-F238E27FC236}">
                <a16:creationId xmlns:a16="http://schemas.microsoft.com/office/drawing/2014/main" id="{20B31C3C-B4F0-4E99-9BBD-187F82E6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03" name="统一风格-区域 ER玻璃后沿-84">
            <a:extLst xmlns:a="http://schemas.openxmlformats.org/drawingml/2006/main">
              <a:ext uri="{FF2B5EF4-FFF2-40B4-BE49-F238E27FC236}">
                <a16:creationId xmlns:a16="http://schemas.microsoft.com/office/drawing/2014/main" id="{20428883-0102-4562-843D-2C985344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04" name="统一风格-区域 ER-85">
            <a:extLst xmlns:a="http://schemas.openxmlformats.org/drawingml/2006/main">
              <a:ext uri="{FF2B5EF4-FFF2-40B4-BE49-F238E27FC236}">
                <a16:creationId xmlns:a16="http://schemas.microsoft.com/office/drawing/2014/main" id="{CC679F8B-46A6-4B39-8599-FC2BA7DF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05" name="统一风格-区域 ER玻璃内沿-86">
            <a:extLst xmlns:a="http://schemas.openxmlformats.org/drawingml/2006/main">
              <a:ext uri="{FF2B5EF4-FFF2-40B4-BE49-F238E27FC236}">
                <a16:creationId xmlns:a16="http://schemas.microsoft.com/office/drawing/2014/main" id="{36654B33-AD00-4F5B-A0DA-D8151932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559" y="3327559"/>
            <a:ext cx="1041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06" name="统一风格-区域 ER边缘高光-87">
            <a:extLst xmlns:a="http://schemas.openxmlformats.org/drawingml/2006/main">
              <a:ext uri="{FF2B5EF4-FFF2-40B4-BE49-F238E27FC236}">
                <a16:creationId xmlns:a16="http://schemas.microsoft.com/office/drawing/2014/main" id="{6E136CE6-663F-40C8-A029-FA15AC02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066800" cy="552450"/>
          </a:xfrm>
          <a:custGeom xmlns:a="http://schemas.openxmlformats.org/drawingml/2006/main"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7" name="统一风格-router ER 路由器外形-88">
            <a:extLst xmlns:a="http://schemas.openxmlformats.org/drawingml/2006/main">
              <a:ext uri="{FF2B5EF4-FFF2-40B4-BE49-F238E27FC236}">
                <a16:creationId xmlns:a16="http://schemas.microsoft.com/office/drawing/2014/main" id="{36D70E6D-081A-44D8-90F1-26845E3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08" name="统一风格-router ER 四向路由-89">
            <a:extLst xmlns:a="http://schemas.openxmlformats.org/drawingml/2006/main">
              <a:ext uri="{FF2B5EF4-FFF2-40B4-BE49-F238E27FC236}">
                <a16:creationId xmlns:a16="http://schemas.microsoft.com/office/drawing/2014/main" id="{23DA056A-6A4C-4225-85FD-5768E86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09" name="统一风格-文字 ER-90">
            <a:extLst xmlns:a="http://schemas.openxmlformats.org/drawingml/2006/main">
              <a:ext uri="{FF2B5EF4-FFF2-40B4-BE49-F238E27FC236}">
                <a16:creationId xmlns:a16="http://schemas.microsoft.com/office/drawing/2014/main" id="{BF87A74F-3F43-4E63-8170-5942292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004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10" name="统一风格-文字 业务 VPC-91">
            <a:extLst xmlns:a="http://schemas.openxmlformats.org/drawingml/2006/main">
              <a:ext uri="{FF2B5EF4-FFF2-40B4-BE49-F238E27FC236}">
                <a16:creationId xmlns:a16="http://schemas.microsoft.com/office/drawing/2014/main" id="{F4FA6D19-BA59-48AB-BC9A-7BC28182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11" name="VPC 1 连接至 ER">
            <a:extLst xmlns:a="http://schemas.openxmlformats.org/drawingml/2006/main">
              <a:ext uri="{FF2B5EF4-FFF2-40B4-BE49-F238E27FC236}">
                <a16:creationId xmlns:a16="http://schemas.microsoft.com/office/drawing/2014/main" id="{F6A56368-5033-4956-8084-4A1A198DCF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00300" y="57531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12" name="VPC n 连接至 ER">
            <a:extLst xmlns:a="http://schemas.openxmlformats.org/drawingml/2006/main">
              <a:ext uri="{FF2B5EF4-FFF2-40B4-BE49-F238E27FC236}">
                <a16:creationId xmlns:a16="http://schemas.microsoft.com/office/drawing/2014/main" id="{CBC78D91-BB52-4AB0-87A0-C4946119A0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00300" y="6115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13" name="多个 VPC 连接汇聚">
            <a:extLst xmlns:a="http://schemas.openxmlformats.org/drawingml/2006/main">
              <a:ext uri="{FF2B5EF4-FFF2-40B4-BE49-F238E27FC236}">
                <a16:creationId xmlns:a16="http://schemas.microsoft.com/office/drawing/2014/main" id="{690D7633-122A-42DE-B02C-F3A4382485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28900" y="57531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14" name="业务 VPC 连接区域 ER">
            <a:extLst xmlns:a="http://schemas.openxmlformats.org/drawingml/2006/main">
              <a:ext uri="{FF2B5EF4-FFF2-40B4-BE49-F238E27FC236}">
                <a16:creationId xmlns:a16="http://schemas.microsoft.com/office/drawing/2014/main" id="{EDBE3DCC-B8AD-4888-B81C-22DA961849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28900" y="593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sp>
        <p:nvSpPr>
          <p:cNvPr id="115" name="统一风格-VPC 1玻璃后沿-92">
            <a:extLst xmlns:a="http://schemas.openxmlformats.org/drawingml/2006/main">
              <a:ext uri="{FF2B5EF4-FFF2-40B4-BE49-F238E27FC236}">
                <a16:creationId xmlns:a16="http://schemas.microsoft.com/office/drawing/2014/main" id="{FB4DABA0-AF8C-4A49-8BCD-DACA955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16" name="统一风格-VPC 1-93">
            <a:extLst xmlns:a="http://schemas.openxmlformats.org/drawingml/2006/main">
              <a:ext uri="{FF2B5EF4-FFF2-40B4-BE49-F238E27FC236}">
                <a16:creationId xmlns:a16="http://schemas.microsoft.com/office/drawing/2014/main" id="{A082FC02-820E-432D-B752-646E39C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17" name="统一风格-VPC 1玻璃内沿-94">
            <a:extLst xmlns:a="http://schemas.openxmlformats.org/drawingml/2006/main">
              <a:ext uri="{FF2B5EF4-FFF2-40B4-BE49-F238E27FC236}">
                <a16:creationId xmlns:a16="http://schemas.microsoft.com/office/drawing/2014/main" id="{FB7B936E-3EE9-4D8C-8E1D-7AFD752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563260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18" name="统一风格-VPC 1边缘高光-95">
            <a:extLst xmlns:a="http://schemas.openxmlformats.org/drawingml/2006/main">
              <a:ext uri="{FF2B5EF4-FFF2-40B4-BE49-F238E27FC236}">
                <a16:creationId xmlns:a16="http://schemas.microsoft.com/office/drawing/2014/main" id="{272A58E9-E218-42C4-A7D7-EB51C032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9" name="统一风格-cloud VPC 云轮廓-96">
            <a:extLst xmlns:a="http://schemas.openxmlformats.org/drawingml/2006/main">
              <a:ext uri="{FF2B5EF4-FFF2-40B4-BE49-F238E27FC236}">
                <a16:creationId xmlns:a16="http://schemas.microsoft.com/office/drawing/2014/main" id="{91009C1D-C229-42EB-A653-72BFD0C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120" name="统一风格-文字 VPC 1-97">
            <a:extLst xmlns:a="http://schemas.openxmlformats.org/drawingml/2006/main">
              <a:ext uri="{FF2B5EF4-FFF2-40B4-BE49-F238E27FC236}">
                <a16:creationId xmlns:a16="http://schemas.microsoft.com/office/drawing/2014/main" id="{6A82C4D3-4B91-4CF9-B39D-4667754E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29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21" name="统一风格-VPC n玻璃后沿-98">
            <a:extLst xmlns:a="http://schemas.openxmlformats.org/drawingml/2006/main">
              <a:ext uri="{FF2B5EF4-FFF2-40B4-BE49-F238E27FC236}">
                <a16:creationId xmlns:a16="http://schemas.microsoft.com/office/drawing/2014/main" id="{8956A6A0-206D-4817-989F-2AF3590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22" name="统一风格-VPC n-99">
            <a:extLst xmlns:a="http://schemas.openxmlformats.org/drawingml/2006/main">
              <a:ext uri="{FF2B5EF4-FFF2-40B4-BE49-F238E27FC236}">
                <a16:creationId xmlns:a16="http://schemas.microsoft.com/office/drawing/2014/main" id="{5B773896-914B-4B88-AAE9-AAE4523B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23" name="统一风格-VPC n玻璃内沿-100">
            <a:extLst xmlns:a="http://schemas.openxmlformats.org/drawingml/2006/main">
              <a:ext uri="{FF2B5EF4-FFF2-40B4-BE49-F238E27FC236}">
                <a16:creationId xmlns:a16="http://schemas.microsoft.com/office/drawing/2014/main" id="{1E502476-B67B-40A6-A675-CDCA3BC2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599455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24" name="统一风格-VPC n边缘高光-101">
            <a:extLst xmlns:a="http://schemas.openxmlformats.org/drawingml/2006/main">
              <a:ext uri="{FF2B5EF4-FFF2-40B4-BE49-F238E27FC236}">
                <a16:creationId xmlns:a16="http://schemas.microsoft.com/office/drawing/2014/main" id="{7CF6B76F-0BA9-4042-971E-88354A0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5" name="统一风格-cloud VPC 云轮廓-102">
            <a:extLst xmlns:a="http://schemas.openxmlformats.org/drawingml/2006/main">
              <a:ext uri="{FF2B5EF4-FFF2-40B4-BE49-F238E27FC236}">
                <a16:creationId xmlns:a16="http://schemas.microsoft.com/office/drawing/2014/main" id="{3525F657-767C-445A-BE9B-6653689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0075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126" name="统一风格-文字 VPC n-103">
            <a:extLst xmlns:a="http://schemas.openxmlformats.org/drawingml/2006/main">
              <a:ext uri="{FF2B5EF4-FFF2-40B4-BE49-F238E27FC236}">
                <a16:creationId xmlns:a16="http://schemas.microsoft.com/office/drawing/2014/main" id="{E2D539E9-0B5E-48CC-9D91-B3830EEB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912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27" name="统一风格-更多 VPC 省略点-104">
            <a:extLst xmlns:a="http://schemas.openxmlformats.org/drawingml/2006/main">
              <a:ext uri="{FF2B5EF4-FFF2-40B4-BE49-F238E27FC236}">
                <a16:creationId xmlns:a16="http://schemas.microsoft.com/office/drawing/2014/main" id="{A0993B3B-CC71-4F62-87CB-9EC2CE4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895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28" name="统一风格-更多 VPC 省略点-105">
            <a:extLst xmlns:a="http://schemas.openxmlformats.org/drawingml/2006/main">
              <a:ext uri="{FF2B5EF4-FFF2-40B4-BE49-F238E27FC236}">
                <a16:creationId xmlns:a16="http://schemas.microsoft.com/office/drawing/2014/main" id="{F78E94E6-ACFB-4BBD-8B89-4C729CA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924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29" name="统一风格-更多 VPC 省略点-106">
            <a:extLst xmlns:a="http://schemas.openxmlformats.org/drawingml/2006/main">
              <a:ext uri="{FF2B5EF4-FFF2-40B4-BE49-F238E27FC236}">
                <a16:creationId xmlns:a16="http://schemas.microsoft.com/office/drawing/2014/main" id="{9623CB6B-DBC0-44C4-89BE-F32CF47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95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30" name="统一风格-区域 ER玻璃后沿-107">
            <a:extLst xmlns:a="http://schemas.openxmlformats.org/drawingml/2006/main">
              <a:ext uri="{FF2B5EF4-FFF2-40B4-BE49-F238E27FC236}">
                <a16:creationId xmlns:a16="http://schemas.microsoft.com/office/drawing/2014/main" id="{CF722E67-59FC-4C71-BA0D-AD9109F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31" name="统一风格-区域 ER-108">
            <a:extLst xmlns:a="http://schemas.openxmlformats.org/drawingml/2006/main">
              <a:ext uri="{FF2B5EF4-FFF2-40B4-BE49-F238E27FC236}">
                <a16:creationId xmlns:a16="http://schemas.microsoft.com/office/drawing/2014/main" id="{2B9305C5-E0D5-4917-A0A4-9922B26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32" name="统一风格-区域 ER玻璃内沿-109">
            <a:extLst xmlns:a="http://schemas.openxmlformats.org/drawingml/2006/main">
              <a:ext uri="{FF2B5EF4-FFF2-40B4-BE49-F238E27FC236}">
                <a16:creationId xmlns:a16="http://schemas.microsoft.com/office/drawing/2014/main" id="{EEDC602E-A2CD-4148-A3BE-E606C39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59" y="5670709"/>
            <a:ext cx="1041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33" name="统一风格-区域 ER边缘高光-110">
            <a:extLst xmlns:a="http://schemas.openxmlformats.org/drawingml/2006/main">
              <a:ext uri="{FF2B5EF4-FFF2-40B4-BE49-F238E27FC236}">
                <a16:creationId xmlns:a16="http://schemas.microsoft.com/office/drawing/2014/main" id="{542117D7-39FB-4084-BC9B-32BD0183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1066800" cy="552450"/>
          </a:xfrm>
          <a:custGeom xmlns:a="http://schemas.openxmlformats.org/drawingml/2006/main"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4" name="统一风格-router ER 路由器外形-111">
            <a:extLst xmlns:a="http://schemas.openxmlformats.org/drawingml/2006/main">
              <a:ext uri="{FF2B5EF4-FFF2-40B4-BE49-F238E27FC236}">
                <a16:creationId xmlns:a16="http://schemas.microsoft.com/office/drawing/2014/main" id="{73792172-644A-499C-8E8F-5C82BBB1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721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35" name="统一风格-router ER 四向路由-112">
            <a:extLst xmlns:a="http://schemas.openxmlformats.org/drawingml/2006/main">
              <a:ext uri="{FF2B5EF4-FFF2-40B4-BE49-F238E27FC236}">
                <a16:creationId xmlns:a16="http://schemas.microsoft.com/office/drawing/2014/main" id="{8E34B7FB-43E0-48E9-B0E5-74ABD403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721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36" name="统一风格-文字 ER-113">
            <a:extLst xmlns:a="http://schemas.openxmlformats.org/drawingml/2006/main">
              <a:ext uri="{FF2B5EF4-FFF2-40B4-BE49-F238E27FC236}">
                <a16:creationId xmlns:a16="http://schemas.microsoft.com/office/drawing/2014/main" id="{C42832F6-B9C2-4893-A2CD-FEC37016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7435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37" name="统一风格-文字 业务 VPC-114">
            <a:extLst xmlns:a="http://schemas.openxmlformats.org/drawingml/2006/main">
              <a:ext uri="{FF2B5EF4-FFF2-40B4-BE49-F238E27FC236}">
                <a16:creationId xmlns:a16="http://schemas.microsoft.com/office/drawing/2014/main" id="{1062CCE8-D89D-4FEC-9A16-E5D50BC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91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38" name="VPC 1 连接至 ER">
            <a:extLst xmlns:a="http://schemas.openxmlformats.org/drawingml/2006/main">
              <a:ext uri="{FF2B5EF4-FFF2-40B4-BE49-F238E27FC236}">
                <a16:creationId xmlns:a16="http://schemas.microsoft.com/office/drawing/2014/main" id="{FF449A4D-3AB4-43DF-B9CF-35B474D7F4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57531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39" name="VPC n 连接至 ER">
            <a:extLst xmlns:a="http://schemas.openxmlformats.org/drawingml/2006/main">
              <a:ext uri="{FF2B5EF4-FFF2-40B4-BE49-F238E27FC236}">
                <a16:creationId xmlns:a16="http://schemas.microsoft.com/office/drawing/2014/main" id="{E8D58668-2B8E-4BED-B7E7-2F09E14C6F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6115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40" name="多个 VPC 连接汇聚">
            <a:extLst xmlns:a="http://schemas.openxmlformats.org/drawingml/2006/main">
              <a:ext uri="{FF2B5EF4-FFF2-40B4-BE49-F238E27FC236}">
                <a16:creationId xmlns:a16="http://schemas.microsoft.com/office/drawing/2014/main" id="{20DE1601-037B-4244-A7F6-320A22870E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86500" y="57531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cxnSp>
        <p:nvCxnSpPr>
          <p:cNvPr id="141" name="业务 VPC 连接区域 ER">
            <a:extLst xmlns:a="http://schemas.openxmlformats.org/drawingml/2006/main">
              <a:ext uri="{FF2B5EF4-FFF2-40B4-BE49-F238E27FC236}">
                <a16:creationId xmlns:a16="http://schemas.microsoft.com/office/drawing/2014/main" id="{A13B62D0-1C4A-434A-9D55-37C4052B90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86500" y="593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CBE9"/>
            </a:solidFill>
          </a:ln>
        </p:spPr>
      </p:cxnSp>
      <p:sp>
        <p:nvSpPr>
          <p:cNvPr id="142" name="统一风格-VPC 1玻璃后沿-115">
            <a:extLst xmlns:a="http://schemas.openxmlformats.org/drawingml/2006/main">
              <a:ext uri="{FF2B5EF4-FFF2-40B4-BE49-F238E27FC236}">
                <a16:creationId xmlns:a16="http://schemas.microsoft.com/office/drawing/2014/main" id="{CE12A455-8B46-4958-A2ED-A142D34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3" name="统一风格-VPC 1-116">
            <a:extLst xmlns:a="http://schemas.openxmlformats.org/drawingml/2006/main">
              <a:ext uri="{FF2B5EF4-FFF2-40B4-BE49-F238E27FC236}">
                <a16:creationId xmlns:a16="http://schemas.microsoft.com/office/drawing/2014/main" id="{2FA6FDE3-951D-4352-8BE7-5A5EE19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44" name="统一风格-VPC 1玻璃内沿-117">
            <a:extLst xmlns:a="http://schemas.openxmlformats.org/drawingml/2006/main">
              <a:ext uri="{FF2B5EF4-FFF2-40B4-BE49-F238E27FC236}">
                <a16:creationId xmlns:a16="http://schemas.microsoft.com/office/drawing/2014/main" id="{FE1C847F-367A-4E16-B826-6903D17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59" y="563260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45" name="统一风格-VPC 1边缘高光-118">
            <a:extLst xmlns:a="http://schemas.openxmlformats.org/drawingml/2006/main">
              <a:ext uri="{FF2B5EF4-FFF2-40B4-BE49-F238E27FC236}">
                <a16:creationId xmlns:a16="http://schemas.microsoft.com/office/drawing/2014/main" id="{D70D7844-C97C-472F-972A-ED6531A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46" name="统一风格-cloud VPC 云轮廓-119">
            <a:extLst xmlns:a="http://schemas.openxmlformats.org/drawingml/2006/main">
              <a:ext uri="{FF2B5EF4-FFF2-40B4-BE49-F238E27FC236}">
                <a16:creationId xmlns:a16="http://schemas.microsoft.com/office/drawing/2014/main" id="{C28E1996-2FED-4428-A59B-2E8F90FC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3880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147" name="统一风格-文字 VPC 1-120">
            <a:extLst xmlns:a="http://schemas.openxmlformats.org/drawingml/2006/main">
              <a:ext uri="{FF2B5EF4-FFF2-40B4-BE49-F238E27FC236}">
                <a16:creationId xmlns:a16="http://schemas.microsoft.com/office/drawing/2014/main" id="{42B0B4FB-DCAC-40B1-A265-2A93597B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29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48" name="统一风格-VPC n玻璃后沿-121">
            <a:extLst xmlns:a="http://schemas.openxmlformats.org/drawingml/2006/main">
              <a:ext uri="{FF2B5EF4-FFF2-40B4-BE49-F238E27FC236}">
                <a16:creationId xmlns:a16="http://schemas.microsoft.com/office/drawing/2014/main" id="{A2892136-68DA-432E-99B3-A765EDA2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817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49" name="统一风格-VPC n-122">
            <a:extLst xmlns:a="http://schemas.openxmlformats.org/drawingml/2006/main">
              <a:ext uri="{FF2B5EF4-FFF2-40B4-BE49-F238E27FC236}">
                <a16:creationId xmlns:a16="http://schemas.microsoft.com/office/drawing/2014/main" id="{E2C8ADEE-6ACA-450C-845B-9B0AFFF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81700"/>
            <a:ext cx="1409700" cy="2667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0" name="统一风格-VPC n玻璃内沿-123">
            <a:extLst xmlns:a="http://schemas.openxmlformats.org/drawingml/2006/main">
              <a:ext uri="{FF2B5EF4-FFF2-40B4-BE49-F238E27FC236}">
                <a16:creationId xmlns:a16="http://schemas.microsoft.com/office/drawing/2014/main" id="{8538FEE1-8F94-4B9E-A7BB-7CF82D5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59" y="5994559"/>
            <a:ext cx="1383983" cy="240983"/>
          </a:xfrm>
          <a:prstGeom xmlns:a="http://schemas.openxmlformats.org/drawingml/2006/main" prst="roundRect">
            <a:avLst>
              <a:gd name="adj" fmla="val 3043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51" name="统一风格-VPC n边缘高光-124">
            <a:extLst xmlns:a="http://schemas.openxmlformats.org/drawingml/2006/main">
              <a:ext uri="{FF2B5EF4-FFF2-40B4-BE49-F238E27FC236}">
                <a16:creationId xmlns:a16="http://schemas.microsoft.com/office/drawing/2014/main" id="{38BDDF71-472D-47B0-9D2B-AF9ECA8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81700"/>
            <a:ext cx="1409700" cy="266700"/>
          </a:xfrm>
          <a:custGeom xmlns:a="http://schemas.openxmlformats.org/drawingml/2006/main"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52" name="统一风格-cloud VPC 云轮廓-125">
            <a:extLst xmlns:a="http://schemas.openxmlformats.org/drawingml/2006/main">
              <a:ext uri="{FF2B5EF4-FFF2-40B4-BE49-F238E27FC236}">
                <a16:creationId xmlns:a16="http://schemas.microsoft.com/office/drawing/2014/main" id="{02B51954-3036-4D7E-A008-BD6F8F6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00750"/>
            <a:ext cx="228600" cy="228600"/>
          </a:xfrm>
          <a:custGeom xmlns:a="http://schemas.openxmlformats.org/drawingml/2006/main"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9102" cap="rnd">
            <a:solidFill>
              <a:srgbClr val="2053C3"/>
            </a:solidFill>
            <a:round/>
          </a:ln>
        </p:spPr>
      </p:sp>
      <p:sp>
        <p:nvSpPr>
          <p:cNvPr id="153" name="统一风格-文字 VPC n-126">
            <a:extLst xmlns:a="http://schemas.openxmlformats.org/drawingml/2006/main">
              <a:ext uri="{FF2B5EF4-FFF2-40B4-BE49-F238E27FC236}">
                <a16:creationId xmlns:a16="http://schemas.microsoft.com/office/drawing/2014/main" id="{870B363E-EBFB-4FE5-A0B3-02450B93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912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54" name="统一风格-更多 VPC 省略点-127">
            <a:extLst xmlns:a="http://schemas.openxmlformats.org/drawingml/2006/main">
              <a:ext uri="{FF2B5EF4-FFF2-40B4-BE49-F238E27FC236}">
                <a16:creationId xmlns:a16="http://schemas.microsoft.com/office/drawing/2014/main" id="{98A52D7E-FECD-4239-9CA2-2FACC6D8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895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55" name="统一风格-更多 VPC 省略点-128">
            <a:extLst xmlns:a="http://schemas.openxmlformats.org/drawingml/2006/main">
              <a:ext uri="{FF2B5EF4-FFF2-40B4-BE49-F238E27FC236}">
                <a16:creationId xmlns:a16="http://schemas.microsoft.com/office/drawing/2014/main" id="{D83AC942-D0DC-4D86-A181-7F6FAC4E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9245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56" name="统一风格-更多 VPC 省略点-129">
            <a:extLst xmlns:a="http://schemas.openxmlformats.org/drawingml/2006/main">
              <a:ext uri="{FF2B5EF4-FFF2-40B4-BE49-F238E27FC236}">
                <a16:creationId xmlns:a16="http://schemas.microsoft.com/office/drawing/2014/main" id="{DA5FA858-14FC-4235-864E-4849A27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95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9C"/>
          </a:solidFill>
          <a:ln xmlns:a="http://schemas.openxmlformats.org/drawingml/2006/main" w="0">
            <a:noFill/>
          </a:ln>
        </p:spPr>
      </p:sp>
      <p:sp>
        <p:nvSpPr>
          <p:cNvPr id="157" name="统一风格-区域 ER玻璃后沿-130">
            <a:extLst xmlns:a="http://schemas.openxmlformats.org/drawingml/2006/main">
              <a:ext uri="{FF2B5EF4-FFF2-40B4-BE49-F238E27FC236}">
                <a16:creationId xmlns:a16="http://schemas.microsoft.com/office/drawing/2014/main" id="{202F53E2-A69A-4D96-9D7D-F4B65D86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58" name="统一风格-区域 ER-131">
            <a:extLst xmlns:a="http://schemas.openxmlformats.org/drawingml/2006/main">
              <a:ext uri="{FF2B5EF4-FFF2-40B4-BE49-F238E27FC236}">
                <a16:creationId xmlns:a16="http://schemas.microsoft.com/office/drawing/2014/main" id="{0364EC81-882B-462C-8C9A-7422C55E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106680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59" name="统一风格-区域 ER玻璃内沿-132">
            <a:extLst xmlns:a="http://schemas.openxmlformats.org/drawingml/2006/main">
              <a:ext uri="{FF2B5EF4-FFF2-40B4-BE49-F238E27FC236}">
                <a16:creationId xmlns:a16="http://schemas.microsoft.com/office/drawing/2014/main" id="{6105AB93-B121-45AC-82C2-C502952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959" y="5670709"/>
            <a:ext cx="1041083" cy="526733"/>
          </a:xfrm>
          <a:prstGeom xmlns:a="http://schemas.openxmlformats.org/drawingml/2006/main" prst="roundRect">
            <a:avLst>
              <a:gd name="adj" fmla="val 13924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0" name="统一风格-区域 ER边缘高光-133">
            <a:extLst xmlns:a="http://schemas.openxmlformats.org/drawingml/2006/main">
              <a:ext uri="{FF2B5EF4-FFF2-40B4-BE49-F238E27FC236}">
                <a16:creationId xmlns:a16="http://schemas.microsoft.com/office/drawing/2014/main" id="{93644301-19F0-4876-B153-212FC86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1066800" cy="552450"/>
          </a:xfrm>
          <a:custGeom xmlns:a="http://schemas.openxmlformats.org/drawingml/2006/main"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1" name="统一风格-router ER 路由器外形-134">
            <a:extLst xmlns:a="http://schemas.openxmlformats.org/drawingml/2006/main">
              <a:ext uri="{FF2B5EF4-FFF2-40B4-BE49-F238E27FC236}">
                <a16:creationId xmlns:a16="http://schemas.microsoft.com/office/drawing/2014/main" id="{6647BD53-6A0B-4962-BB08-93A91476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721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62" name="统一风格-router ER 四向路由-135">
            <a:extLst xmlns:a="http://schemas.openxmlformats.org/drawingml/2006/main">
              <a:ext uri="{FF2B5EF4-FFF2-40B4-BE49-F238E27FC236}">
                <a16:creationId xmlns:a16="http://schemas.microsoft.com/office/drawing/2014/main" id="{5D2C624A-E7A2-4557-9450-1CC399EE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72150"/>
            <a:ext cx="323850" cy="323850"/>
          </a:xfrm>
          <a:custGeom xmlns:a="http://schemas.openxmlformats.org/drawingml/2006/main"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2894" cap="rnd">
            <a:solidFill>
              <a:srgbClr val="2053C3"/>
            </a:solidFill>
            <a:round/>
          </a:ln>
        </p:spPr>
      </p:sp>
      <p:sp>
        <p:nvSpPr>
          <p:cNvPr id="163" name="统一风格-文字 ER-136">
            <a:extLst xmlns:a="http://schemas.openxmlformats.org/drawingml/2006/main">
              <a:ext uri="{FF2B5EF4-FFF2-40B4-BE49-F238E27FC236}">
                <a16:creationId xmlns:a16="http://schemas.microsoft.com/office/drawing/2014/main" id="{3786D27A-1879-4E69-93AB-5441242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435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64" name="统一风格-唯一 CC 中心网络玻璃后沿-137">
            <a:extLst xmlns:a="http://schemas.openxmlformats.org/drawingml/2006/main">
              <a:ext uri="{FF2B5EF4-FFF2-40B4-BE49-F238E27FC236}">
                <a16:creationId xmlns:a16="http://schemas.microsoft.com/office/drawing/2014/main" id="{81473F71-628E-4130-B1BB-99E41286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28575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xmlns:a="http://schemas.openxmlformats.org/drawingml/2006/main" w="0">
            <a:noFill/>
          </a:ln>
        </p:spPr>
      </p:sp>
      <p:sp>
        <p:nvSpPr>
          <p:cNvPr id="165" name="统一风格-唯一 CC 中心网络-138">
            <a:extLst xmlns:a="http://schemas.openxmlformats.org/drawingml/2006/main">
              <a:ext uri="{FF2B5EF4-FFF2-40B4-BE49-F238E27FC236}">
                <a16:creationId xmlns:a16="http://schemas.microsoft.com/office/drawing/2014/main" id="{FA823858-28BC-4A88-A4EF-EC201FB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2857500" cy="523875"/>
          </a:xfrm>
          <a:prstGeom xmlns:a="http://schemas.openxmlformats.org/drawingml/2006/main" prst="roundRect">
            <a:avLst>
              <a:gd name="adj" fmla="val 16364"/>
            </a:avLst>
          </a:prstGeom>
          <a:gradFill xmlns:a="http://schemas.openxmlformats.org/drawingml/2006/main"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xmlns:a="http://schemas.openxmlformats.org/drawingml/2006/main" w="10001">
            <a:solidFill>
              <a:srgbClr val="ACC5EC">
                <a:alpha val="86000"/>
              </a:srgbClr>
            </a:solidFill>
          </a:ln>
        </p:spPr>
      </p:sp>
      <p:sp>
        <p:nvSpPr>
          <p:cNvPr id="166" name="统一风格-唯一 CC 中心网络玻璃内沿-139">
            <a:extLst xmlns:a="http://schemas.openxmlformats.org/drawingml/2006/main">
              <a:ext uri="{FF2B5EF4-FFF2-40B4-BE49-F238E27FC236}">
                <a16:creationId xmlns:a16="http://schemas.microsoft.com/office/drawing/2014/main" id="{66C710B4-DBEB-4C32-BFC3-FE3D4E0F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609" y="1889284"/>
            <a:ext cx="2831783" cy="498158"/>
          </a:xfrm>
          <a:prstGeom xmlns:a="http://schemas.openxmlformats.org/drawingml/2006/main" prst="roundRect">
            <a:avLst>
              <a:gd name="adj" fmla="val 14723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78000"/>
              </a:srgbClr>
            </a:solidFill>
          </a:ln>
        </p:spPr>
      </p:sp>
      <p:sp>
        <p:nvSpPr>
          <p:cNvPr id="167" name="统一风格-唯一 CC 中心网络边缘高光-140">
            <a:extLst xmlns:a="http://schemas.openxmlformats.org/drawingml/2006/main">
              <a:ext uri="{FF2B5EF4-FFF2-40B4-BE49-F238E27FC236}">
                <a16:creationId xmlns:a16="http://schemas.microsoft.com/office/drawing/2014/main" id="{22450F60-23F4-4BFF-B267-A47039F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2857500" cy="523875"/>
          </a:xfrm>
          <a:custGeom xmlns:a="http://schemas.openxmlformats.org/drawingml/2006/main">
            <a:pathLst>
              <a:path w="2857500" h="5238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68" name="统一风格-CC 中心网络枢纽-141">
            <a:extLst xmlns:a="http://schemas.openxmlformats.org/drawingml/2006/main">
              <a:ext uri="{FF2B5EF4-FFF2-40B4-BE49-F238E27FC236}">
                <a16:creationId xmlns:a16="http://schemas.microsoft.com/office/drawing/2014/main" id="{1DDAED94-49E9-465A-8D2C-2DA2B00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169" name="统一风格-CC 区域连接点-142">
            <a:extLst xmlns:a="http://schemas.openxmlformats.org/drawingml/2006/main">
              <a:ext uri="{FF2B5EF4-FFF2-40B4-BE49-F238E27FC236}">
                <a16:creationId xmlns:a16="http://schemas.microsoft.com/office/drawing/2014/main" id="{C64FF18C-4C96-4D12-BCB9-51982C6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170" name="统一风格-CC 区域连接点-143">
            <a:extLst xmlns:a="http://schemas.openxmlformats.org/drawingml/2006/main">
              <a:ext uri="{FF2B5EF4-FFF2-40B4-BE49-F238E27FC236}">
                <a16:creationId xmlns:a16="http://schemas.microsoft.com/office/drawing/2014/main" id="{D3DA8A37-C268-499A-9BF9-E49FFE23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171" name="统一风格-CC 区域连接点-144">
            <a:extLst xmlns:a="http://schemas.openxmlformats.org/drawingml/2006/main">
              <a:ext uri="{FF2B5EF4-FFF2-40B4-BE49-F238E27FC236}">
                <a16:creationId xmlns:a16="http://schemas.microsoft.com/office/drawing/2014/main" id="{4F36E87B-D0B2-4CFF-B3FB-35808961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172" name="统一风格-CC 区域连接点-145">
            <a:extLst xmlns:a="http://schemas.openxmlformats.org/drawingml/2006/main">
              <a:ext uri="{FF2B5EF4-FFF2-40B4-BE49-F238E27FC236}">
                <a16:creationId xmlns:a16="http://schemas.microsoft.com/office/drawing/2014/main" id="{9168E524-024A-4F20-8BD1-AB511D2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333375" cy="333375"/>
          </a:xfrm>
          <a:custGeom xmlns:a="http://schemas.openxmlformats.org/drawingml/2006/main"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73" cap="rnd">
            <a:solidFill>
              <a:srgbClr val="2053C3"/>
            </a:solidFill>
            <a:round/>
          </a:ln>
        </p:spPr>
      </p:sp>
      <p:sp>
        <p:nvSpPr>
          <p:cNvPr id="173" name="统一风格-文字 CC 中心网络-146">
            <a:extLst xmlns:a="http://schemas.openxmlformats.org/drawingml/2006/main">
              <a:ext uri="{FF2B5EF4-FFF2-40B4-BE49-F238E27FC236}">
                <a16:creationId xmlns:a16="http://schemas.microsoft.com/office/drawing/2014/main" id="{F9511DDF-22E6-4523-8420-AAA0C56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14525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174" name="统一风格-文字 Pro 账号 / 三个区域全互联-147">
            <a:extLst xmlns:a="http://schemas.openxmlformats.org/drawingml/2006/main">
              <a:ext uri="{FF2B5EF4-FFF2-40B4-BE49-F238E27FC236}">
                <a16:creationId xmlns:a16="http://schemas.microsoft.com/office/drawing/2014/main" id="{C5F6F458-6B49-4BA1-8AC0-EE3C167D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0275"/>
            <a:ext cx="2114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账号 / 三个区域全互联</a:t>
            </a:r>
          </a:p>
        </p:txBody>
      </p:sp>
      <p:cxnSp>
        <p:nvCxnSpPr>
          <p:cNvPr id="175" name="网络连接">
            <a:extLst xmlns:a="http://schemas.openxmlformats.org/drawingml/2006/main">
              <a:ext uri="{FF2B5EF4-FFF2-40B4-BE49-F238E27FC236}">
                <a16:creationId xmlns:a16="http://schemas.microsoft.com/office/drawing/2014/main" id="{E129B5E7-537E-41C7-A8DC-43D49C2861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05800" y="46863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5E2F5"/>
            </a:solidFill>
          </a:ln>
        </p:spPr>
      </p:cxnSp>
      <p:sp>
        <p:nvSpPr>
          <p:cNvPr id="176" name="统一风格-文字 跨区域连接路径-148">
            <a:extLst xmlns:a="http://schemas.openxmlformats.org/drawingml/2006/main">
              <a:ext uri="{FF2B5EF4-FFF2-40B4-BE49-F238E27FC236}">
                <a16:creationId xmlns:a16="http://schemas.microsoft.com/office/drawing/2014/main" id="{E44F805D-F62F-402F-B97A-52837D9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327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跨区域连接路径</a:t>
            </a:r>
          </a:p>
        </p:txBody>
      </p:sp>
      <p:sp>
        <p:nvSpPr>
          <p:cNvPr id="177" name="统一风格-文字 Pro 三个区域 ER 接入同一 CC OP 经同区域中转链路接入 Pro 跨区域互联共用 Pro 的中心网络-149">
            <a:extLst xmlns:a="http://schemas.openxmlformats.org/drawingml/2006/main">
              <a:ext uri="{FF2B5EF4-FFF2-40B4-BE49-F238E27FC236}">
                <a16:creationId xmlns:a16="http://schemas.microsoft.com/office/drawing/2014/main" id="{22692081-F7C9-4F58-AE6A-15372A59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9700"/>
            <a:ext cx="327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三个区域 ER 接入同一 CC</a:t>
            </a:r>
          </a:p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经同区域中转链路接入 Pro</a:t>
            </a:r>
          </a:p>
          <a:p xmlns:a="http://schemas.openxmlformats.org/drawingml/2006/main"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跨区域互联共用 Pro 的中心网络</a:t>
            </a:r>
          </a:p>
        </p:txBody>
      </p:sp>
      <p:cxnSp>
        <p:nvCxnSpPr>
          <p:cNvPr id="178" name="网络连接">
            <a:extLst xmlns:a="http://schemas.openxmlformats.org/drawingml/2006/main">
              <a:ext uri="{FF2B5EF4-FFF2-40B4-BE49-F238E27FC236}">
                <a16:creationId xmlns:a16="http://schemas.microsoft.com/office/drawing/2014/main" id="{6A3D27CD-A310-437B-887A-37E9A9FD8B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4674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E3EBF6"/>
            </a:solidFill>
          </a:ln>
        </p:spPr>
      </p:cxnSp>
      <p:sp>
        <p:nvSpPr>
          <p:cNvPr id="179" name="统一风格-文字 逻辑拓扑。跨账号链路聚合表示共享 ER 授权与中转 VPC，具体路由和访问策略需按业务路径核验。-150">
            <a:extLst xmlns:a="http://schemas.openxmlformats.org/drawingml/2006/main">
              <a:ext uri="{FF2B5EF4-FFF2-40B4-BE49-F238E27FC236}">
                <a16:creationId xmlns:a16="http://schemas.microsoft.com/office/drawing/2014/main" id="{F13F91D0-BC4A-4BC8-B367-F379B1B3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逻辑拓扑。跨账号链路聚合表示共享 ER 授权与中转 VPC，具体路由和访问策略需按业务路径核验。</a:t>
            </a:r>
          </a:p>
        </p:txBody>
      </p:sp>
      <p:sp>
        <p:nvSpPr>
          <p:cNvPr id="180" name="统一风格-文字 48-151">
            <a:extLst xmlns:a="http://schemas.openxmlformats.org/drawingml/2006/main">
              <a:ext uri="{FF2B5EF4-FFF2-40B4-BE49-F238E27FC236}">
                <a16:creationId xmlns:a16="http://schemas.microsoft.com/office/drawing/2014/main" id="{D67CFDFE-F1BA-4178-9BE3-C2EBEB0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34405878"/>
      </p:ext>
    </p:extLst>
  </p:cSld>
</p:sld>
</file>

<file path=ppt/theme/theme1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83</ap:Slides>
  <ap:Notes>64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华为云 VPC 与 CFW 使用规范</dc:title>
  <dcterms:created xsi:type="dcterms:W3CDTF">2026-10-17T12:02:13.0060000Z</dcterms:created>
  <dcterms:modified xsi:type="dcterms:W3CDTF">2026-10-17T12:02:13.0060000Z</dcterms:modified>
</coreProperties>
</file>