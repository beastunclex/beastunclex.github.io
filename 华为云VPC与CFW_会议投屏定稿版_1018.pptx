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96" r:id="rId4"/>
    <p:sldId id="297" r:id="rId5"/>
    <p:sldId id="259" r:id="rId6"/>
    <p:sldId id="342" r:id="rId7"/>
    <p:sldId id="340" r:id="rId8"/>
    <p:sldId id="341" r:id="rId9"/>
    <p:sldId id="312" r:id="rId10"/>
    <p:sldId id="298" r:id="rId11"/>
    <p:sldId id="299" r:id="rId12"/>
    <p:sldId id="300" r:id="rId13"/>
    <p:sldId id="260" r:id="rId14"/>
    <p:sldId id="258" r:id="rId15"/>
    <p:sldId id="262" r:id="rId16"/>
    <p:sldId id="263" r:id="rId17"/>
    <p:sldId id="264" r:id="rId18"/>
    <p:sldId id="302" r:id="rId19"/>
    <p:sldId id="311" r:id="rId20"/>
    <p:sldId id="303" r:id="rId21"/>
    <p:sldId id="310" r:id="rId22"/>
    <p:sldId id="304" r:id="rId23"/>
    <p:sldId id="305" r:id="rId24"/>
    <p:sldId id="313" r:id="rId25"/>
    <p:sldId id="324" r:id="rId26"/>
    <p:sldId id="325" r:id="rId27"/>
    <p:sldId id="320" r:id="rId28"/>
    <p:sldId id="321" r:id="rId29"/>
    <p:sldId id="322" r:id="rId30"/>
    <p:sldId id="323" r:id="rId31"/>
    <p:sldId id="326" r:id="rId32"/>
    <p:sldId id="306" r:id="rId33"/>
    <p:sldId id="314" r:id="rId34"/>
    <p:sldId id="307" r:id="rId35"/>
    <p:sldId id="327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08" r:id="rId46"/>
    <p:sldId id="315" r:id="rId47"/>
    <p:sldId id="309" r:id="rId48"/>
    <p:sldId id="328" r:id="rId49"/>
    <p:sldId id="338" r:id="rId50"/>
    <p:sldId id="316" r:id="rId51"/>
    <p:sldId id="266" r:id="rId52"/>
    <p:sldId id="279" r:id="rId53"/>
    <p:sldId id="275" r:id="rId54"/>
    <p:sldId id="272" r:id="rId55"/>
    <p:sldId id="276" r:id="rId56"/>
    <p:sldId id="317" r:id="rId57"/>
    <p:sldId id="318" r:id="rId58"/>
    <p:sldId id="267" r:id="rId59"/>
    <p:sldId id="339" r:id="rId60"/>
    <p:sldId id="268" r:id="rId61"/>
    <p:sldId id="269" r:id="rId62"/>
    <p:sldId id="270" r:id="rId63"/>
    <p:sldId id="271" r:id="rId64"/>
    <p:sldId id="277" r:id="rId65"/>
    <p:sldId id="273" r:id="rId66"/>
    <p:sldId id="274" r:id="rId67"/>
    <p:sldId id="278" r:id="rId68"/>
    <p:sldId id="280" r:id="rId69"/>
    <p:sldId id="281" r:id="rId70"/>
    <p:sldId id="319" r:id="rId71"/>
    <p:sldId id="282" r:id="rId72"/>
    <p:sldId id="283" r:id="rId73"/>
    <p:sldId id="284" r:id="rId74"/>
    <p:sldId id="285" r:id="rId75"/>
    <p:sldId id="286" r:id="rId76"/>
    <p:sldId id="287" r:id="rId77"/>
    <p:sldId id="288" r:id="rId78"/>
    <p:sldId id="289" r:id="rId79"/>
    <p:sldId id="290" r:id="rId80"/>
    <p:sldId id="291" r:id="rId81"/>
    <p:sldId id="292" r:id="rId82"/>
    <p:sldId id="293" r:id="rId83"/>
    <p:sldId id="294" r:id="rId84"/>
    <p:sldId id="295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126" d="100"/>
          <a:sy n="126" d="100"/>
        </p:scale>
        <p:origin x="5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Microsoft YaHei"/>
        <a:ea typeface="Microsoft YaHei"/>
        <a:cs typeface="Microsoft YaHe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适用架构：华为云云防火墙 CFW 的 VPC 边界防护，企业路由器模式（新版）。图中只有一个 ER 实例，三个 VPC 各自通过独立 VPC 连接接入该 ER。图示为逻辑架构，不代表物理硬件或默认全互通。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连接关联 er-RT1。er-RT1 配置待防护目的网段的引流路由，下一跳指向 CFW 自动生成的连接 cfw-er-auto-attach，确保待检流量进入云防火墙。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CFW 连接关联 er-RT2。er-RT2 为各 VPC 连接启用路由传播，学习各 VPC 的目的网段。CFW 根据防护策略检查，允许的流量回到同一个 ER，再依据 er-RT2 转发到目标 VPC。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图中的送检和放行回注为同一条 CFW 自动连接承载的两个流量方向，不代表两条独立防火墙连接。三个 VPC 的线条表示 ER 连接关系，VPC 间的受防护流量按引流路由经过 CFW。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讲解重点：VPC 路由的下一跳为 ER。不能仅凭连通示意认定已开启防护，仍需完成 CFW 引流、开启 VPC 边界防护并验证流量经过 CFW。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依据：华为云《配置企业路由器并将流量引至云防火墙》，企业路由器模式（新版），页面更新日期 2026-09-07，核验日期 2026-10-17。https://support.huaweicloud.com/usermanual-cfw/cfw_01_0269.html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议题顺序为VPC基础与规范、网络互联方案、CFW使用规范、变更与排障、典型故障分析、配置核验与巡检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议题顺序为VPC基础与规范、网络互联方案、CFW使用规范、变更与排障、典型故障分析、配置核验与巡检。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官方资料：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https://support.huaweicloud.com/productdesc-vpc/overview_region.html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从Region层定位VPC，再放入计算、容器和数据库。VPC可以承载跨可用区部署的云资源。图中AZ-A和AZ-B代表资源故障域，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图按物理承载、基础资源、平台服务、软件服务说明职责与支撑关系。底部“物理资源与部署”是云服务的承载与部署组织说明，并非第四种即服务分类。服务器、存储设备、网络设备和链路提供物理承载。Region 从地理位置和时延等维度划分区域，AZ 为区域内具有独立基础设施的资源部署与故障域。VPC 为区域级逻辑网络，可连接同区域多 AZ 资源。箭头仅连接层级整体，表示下层能力支撑上层服务，不表示具体产品间的逐项依赖或报文路径。SaaS 为直接使用的软件服务示例，自建云上应用不自动等于 SaaS。MaaS（Model as a Service，模型即服务）作为 AI 模型能力扩展，与平台能力并列示意，不表示固定第四层或所有 MaaS 均可由用户 VPC 私网接入。托管服务的底层资源由服务方管理。本图不表示用户需购买 ECS 或 EVS 才能使用托管服务。</a:t>
            </a:r>
          </a:p>
          <a:p>
            <a:r>
              <a:t>官方资料：</a:t>
            </a:r>
          </a:p>
          <a:p>
            <a:r>
              <a:t>https://support.huaweicloud.com/productdesc-vpc/overview_region.html</a:t>
            </a:r>
          </a:p>
          <a:p>
            <a:r>
              <a:t>https://support.huaweicloud.com/intl/zh-cn/vpc_faq/vpc_faq_0001.html</a:t>
            </a:r>
          </a:p>
          <a:p>
            <a:r>
              <a:t>https://support.huaweicloud.com/intl/zh-cn/usermanual-caf/caf_01_0005.html</a:t>
            </a:r>
          </a:p>
          <a:p>
            <a:r>
              <a:t>https://support.huaweicloud.com/intl/zh-cn/resp-pcre/index.html?product=icp</a:t>
            </a:r>
          </a:p>
          <a:p>
            <a:r>
              <a:t>https://support.huaweicloud.com/productdesc-maas/productdesc_maas_0002.html</a:t>
            </a:r>
          </a:p>
          <a:p>
            <a:r>
              <a:t>https://support.huaweicloud.com/intl/zh-cn/productdesc-cce/cce_productdesc_0001.html</a:t>
            </a:r>
          </a:p>
          <a:p>
            <a:r>
              <a:t>https://support.huaweicloud.com/productdesc-rds/zh-cn_topic_dashboard.html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产品层面的 VPC、子网、路由和安全组职责来自华为云文档。右列为建议的内部规范。不同 VPC 默认隔离，同一 VPC 不同子网默认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网络规划与隔离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https://support.huaweicloud.com/intl/zh-cn/helppanel-vpc/vpc_help_0002.html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平台架构口径来自用户提供的业务规则，非华为云原生的两类网络产品。上层平台以华为云 VPC 为底座，提供 VPC 小网与经典网络两种交付模式。用户确认：每个用户 VPC 固定 192.168.0.0/16，由用户自定义购买、规划与管理；因此不同用户 VPC 存在网段重叠，不应默认以普通路由实现直接互通。经典网络由平台从 10.0.0.0/8 预定义各网络分区的 VPC；用户只能在购买云服务资源时选择网络分区，由平台调度。图中的用户 A/B、分区 A/B 是关系示意，不表示真实生产标识、数量或已互通。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5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平台架构口径来自用户提供的业务规则。经典网络由平台预先划分不同网络分区的 VPC，地址来自 10.0.0.0/8。购买资源时由用户选择分区、平台进行调度。部分经典网络分区按资源用途设置 IaaS 子网发放计算资源、PaaS 子网发放高阶服务资源（例如 CCE）、RDS 子网发放数据库资源。图中的三类标签是平台子网用途，不改变云服务产品的标准分层；不意味着所有分区都采用同样子网结构。未提供生产分区 CIDR、子网掩码、调度细节或互联关系，因此图中不杜撰这些配置。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官方资料： https://support.huaweicloud.com/intl/zh-cn/vpc_faq/vpc_faq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依据用户提供的平台接入及安全分工规则编制。VPC 小网每个用户 VPC 固定使用 192.168.0.0/16；与经典网络通信，只能绑定私网 NAT 提供的 10.x 中转 IP。该要求属于本上层平台的接入规范，不推广为华为云所有 VPC 的通用强制限制。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安全分工：VPC 小网之间使用安全组和网络 ACL。绑定的 10.x 中转 IP 之间、中转 IP 与经典网络之间，以及经典网络之间，使用防火墙加安全组。图中防火墙沿用材料的统一 CFW 图标，表达平台防火墙控制点。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图示为平台逻辑路径和安全控制职责，不给出具体生产 IP、端口、NAT 规则类型或底层连接方式。双向连线表达通信关系，不表示已自动放行。安全控制组合不等于默认网络可达，网络连接、地址规划和访问授权仍需按平台能力核验。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7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intl/zh-cn/v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控制面接收控制台或API配置，维护VPC、子网、网卡和路由等逻辑对象，再将相关转发与隔离策略交给数据面执行。数据面按这些策略转发业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控制面接收控制台或API配置，维护VPC、子网、网卡和路由等逻辑对象，再将相关转发与隔离策略交给数据面执行。数据面按这些策略转发业务包，并保持不同VPC的逻辑隔离。共享物理基础设施不等于共享租户地址空间。华为云产品优势文档公开描述了隧道技术，不在方案中推断具体区域使用的交换芯片、宿主机模块或私有封装。强调配置生效和实际流量路径都需要验证。隧道隔离也不能直接当作业务加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VPC产品优势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https://support.huaweicloud.com/productdesc-vpc/overview_0004.html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什么是VPC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Overlay是面向租户的逻辑网络，Underlay是承载它的底层网络。以RFC7348 VXLAN为标准示例：源端封装逻辑网络内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Overlay是面向租户的逻辑网络，Underlay是承载它的底层网络。以RFC7348 VXLAN为标准示例：源端封装逻辑网络内的报文并带上网络标识，外层地址用于在底层IP网络中运输，隧道对端解封装后交付目标。图中包结构为概念简图，省略Ethernet、UDP等完整协议字段，不可当成抓包模板。私网业务地址与外层隧道地址职责不同。网络隔离与加密分别设计，应用敏感通信仍应按要求使用TLS或其他适当加密。排障时用户主要检查自己可见的VPC路由、安全组和服务日志，底层承载异常联系云侧支持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RFC 7348 VXLAN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https://www.rfc-editor.org/rfc/rfc7348.html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VPC产品优势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https://support.huaweicloud.com/productdesc-vpc/overview_0004.html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本节针对IPv4示例场景。VPC归属Region，跨Region需要专门互联。主网段并非普通可随时调整参数，官方修改说明含API条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本节针对IPv4示例场景。VPC归属Region，跨Region需要专门互联。主网段并非普通可随时调整参数，官方修改说明含API条件与扩展网段能力差异，变更前核对当前区域和资源支持。整网对等连接示例要求两端VPC网段不重叠。子网网段需要符合VPC的主或扩展网段范围，且同VPC子网不能重叠。官方创建子网示例192.168.0.0/24预留.0、.1、.253、.254、.255，可用于该示例的地址为251个。不要把/24的256个地址都计入业务容量，系统预留和实际可分配地址以当前界面为准。地址规划还应预留负载均衡、容器节点和扩容使用量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VPC规划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修改VPC信息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https://support.huaweicloud.com/usermanual-vpc/vpc_vpc_0007.html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创建子网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https://support.huaweicloud.com/intl/zh-cn/usermanual-vpc/zh-cn_topic_0013748726.html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连通整个VPC网络的对等连接配置示例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以上网段仅为演示，不应直接复制到企业地址池。检查所有将互联的 VPC、IDC、VPN 客户端网段和容器地址池。华为云建议使用 RF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网络规划建议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预期分析结论是否定的。强调数据库为自建 ECS 服务，不套用到所有托管数据库的网络路径。后续练习均基于此假设，不包含容器网络、代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预期分析结论是否定的。强调数据库为自建 ECS 服务，不套用到所有托管数据库的网络路径。后续练习均基于此假设，不包含容器网络、代理或 NAT，除非题目特别说明。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安全组保护关联实例，网络 ACL 对关联子网实施访问约束，CFW 对已接入的网络边界做统一管控与检测，WAF 面向 HTTP(S)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安全组保护关联实例，网络 ACL 对关联子网实施访问约束，CFW 对已接入的网络边界做统一管控与检测，WAF 面向 HTTP(S) Web 应用防护。本节只比较作用对象与任务，不把不同产品视为可相互替代。TCP 3306 示例访问应核对 CFW 和数据库安全组等实际控制层。产品依据来自华为云官方文档。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访问控制策略比较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网络 ACL 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https://support.huaweicloud.com/usermanual-vpc/acl_0001.html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WAF 与 CFW 的职责区别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https://support.huaweicloud.com/waf_faq/waf_01_0354.html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检查关联，再看目的网段与下一跳。华为云对部分包含 EIP、ELB、NAT 网关等场景明确提醒，VPC 表中使用指向 ER 的 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 引流配置（新版）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VPC默认路由的ER产品约束核验来源：https://support.huaweicloud.com/er_faq/er_01_0121.html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左列均为管理建议，不代表用户当前架构。重点讲实际源地址：经 WAF、CDN 或代理时，CFW 看到的地址可能与终端用户不同。公网禁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左列均为管理建议，不代表用户当前架构。重点讲实际源地址：经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企业上云安全建设指南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https://www.huaweicloud.com/securecenter/compliance/compliance-center/on-cloud/guidance.html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https://support.huaweicloud.com/intl/zh-cn/usermanual-cfw/cfw_01_0271.html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同VPC子网通信使用本地网络能力，跨VPC不应一律使用ER。对等连接适用于同Region的VPC互联。ER提供区域内的集中路由连接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同VPC子网通信使用本地网络能力，跨VPC不应一律使用ER。对等连接适用于同Region的VPC互联。ER提供区域内的集中路由连接，便于多VPC统一规划。VPCEP将指定服务私网发布给消费者，消费者不因此获得整个服务VPC的任意访问权。CC中心网络通过各Region的ER做跨Region互联。云下IDC接入可使用VPN或专线DC，并按拓扑接到ER等服务。公网入出方向可用EIP、公网NAT等产品，但各产品能力和安全边界不同。全方案后续案例均采用私网地址，避免混入公网出口的地址转换逻辑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什么是VPC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https://support.huaweicloud.com/intl/zh-cn/vpc_faq/vpc_faq_0001.html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对等连接概述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https://support.huaweicloud.com/usermanual-vpc/zh-cn_topic_0046655036.html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跨VPC终端节点配置（同一账号）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中心网络连接跨区域ER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https://support.huaweicloud.com/usermanual-cc/cc_03_1010.html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ER产品介绍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https://support.huaweicloud.com/productdesc-er/er_01_0002.html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新增私网NAT资料（2026-10-18核验）：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https://support.huaweicloud.com/bestpractice-natgateway/nat_bp_0006.html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https://support.huaweicloud.com/intl/zh-cn/usermanual-natgateway/nat_privatenat_0001.html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官方资料： https://support.huaweicloud.com/productdesc-er/er_01_0002.h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保留对等连接、ER、VPCEP、CC中心网络的原有分工，增加私网NAT。SNAT转换源地址，DNAT转换目的地址或端口。当前官方同Region跨VPC ELB DNAT案例无需配置路由，传统SNAT访问远端VPC则通过中转VPC和对等连接配套双向路由。不能把无需路由泛化到所有私网NAT场景。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https://support.huaweicloud.com/usermanual-vpc/vpc_peering_0009.html</a:t>
            </a:r>
          </a:p>
          <a:p>
            <a:r>
              <a:t>https://support.huaweicloud.com/productdesc-er/er_01_0002.html</a:t>
            </a:r>
          </a:p>
          <a:p>
            <a:r>
              <a:t>https://support.huaweicloud.com/qs-vpcep/vpcep_02_0200.html</a:t>
            </a:r>
          </a:p>
          <a:p>
            <a:r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只需要消费一个已经发布的API或数据库入口，优先考虑VPCEP的服务级私网访问。同Region少量VPC需要相互访问，可采用对等连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需求到候选产品的选择线索，不表示互斥关系。私网NAT既可为指定服务建立DNAT映射，也可叠加底层连接进行SNAT，实际区域能力、接入条件及安全策略需逐项复核。重叠网段通常需两侧NAT与独立中转网络，不是添加一条SNAT即可解决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https://support.huaweicloud.com/bestpractice-natgateway/privatenat_bestpractice_0003.html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本节连接VPC新专题与后续CFW章节。对等连接的更具体路由可能使流量绕过预期ER送检路径。VPCEP有独立的服务发布、连接授权与后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网络连接不等于流量已送CFW。对等连接需核对更具体路由，私网NAT需记录转换前后源目的及实际路径，VPCEP需核对服务授权及后端可见源地址，CC与ER需核对区域路由和返回路径。CFW覆盖依据实际支持边界、路径与对应流量日志证明。本页不宣称DNAT ELB路径天然可被某个VPC边界CFW检查。</a:t>
            </a:r>
          </a:p>
          <a:p>
            <a:r>
              <a:t>官方资料（核验日期 2026-10-18）：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场景为同账号同Region，应用VPC 10.50.0.0/16，应用ECS 10.50.1.10。数据VPC 10.60.0.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场景为同账号同Region，应用VPC 10.50.0.0/16，应用ECS 10.50.1.10。数据VPC 10.60.0.0/16，数据库ECS 10.60.2.20。建立Peering-AB后两端子网关联的VPC路由表分别添加到对端VPC的路由。源安全组出方向允许必要业务，目的安全组入方向仅允许10.50.1.10/32到TCP3306，同时核验主机防火墙和数据库监听。图中的连线表示逻辑网络路径，不暗示对等连接自动经过ER或CFW。该案例为独立的互联方案演示，生产若要求CFW检查，必须另行按支持架构设计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对等连接概述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https://support.huaweicloud.com/usermanual-vpc/zh-cn_topic_0046655036.html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连通整个VPC网络的对等连接配置示例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依次检查连接是否已接受和可用、两端实际关联VPC路由表是否具备相应路由、两端安全组和服务监听是否满足审批。正向测试TCP3306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依次检查连接是否已接受和可用、两端实际关联VPC路由表是否具备相应路由、两端安全组和服务监听是否满足审批。正向测试TCP3306并执行数据库只读查询，负向测试TCP22且不增加额外宽泛授权。对等连接没有自动的CFW送检含义。本节特别强调华为云官方2026年9月文档明确支持基于路由配置的对等传递：若A-B和A-C已建连接，可在B和C的路由表分别指向对应对等连接，由A转发。不要套用其他云平台的不可传递结论。本例堂只配置A-B两VPC，复杂传递组网须单独审核路由、地址、安全域与支持条件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连通整个VPC网络的对等连接配置示例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对等连接概述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https://support.huaweicloud.com/usermanual-vpc/zh-cn_topic_0046655036.html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usermanual-v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限制来源于华为云对等连接概述及跨账号创建指南。对等连接只连同Region，两VPC之间只能一条。互通子网不能重叠，容器网段需纳入IP规划。VPC大网段重叠但互通子网不重叠的情况按官方专项示例配置，不笼统宣称所有VPC CIDR重叠都不支持。华为云支持显式配置传递组网，不应误用其他云的不可传递规则。建议均为企业治理建议。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https://support.huaweicloud.com/intl/zh-cn/usermanual-vpc/zh-cn_topic_0046655036.html</a:t>
            </a:r>
          </a:p>
          <a:p>
            <a:r>
              <a:t>https://support.huaweicloud.com/usermanual-vpc/zh-cn_topic_0046655038.html</a:t>
            </a:r>
          </a:p>
          <a:p>
            <a:r>
              <a:t>https://support.huaweicloud.com/usermanual-vpc/vpc_peering_0011.html</a:t>
            </a:r>
          </a:p>
          <a:p>
            <a:r>
              <a:t>https://support.huaweicloud.com/usermanual-vpc/vpc_peering_0009.html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联与传播限制来源于ER原理、关联概述和路由概述。每连接只能关联一个路由表，但可向多个路由表传播。VPC/CFW连接不能仅依赖关联自动学习ER路由回到VPC。ER约束文档指出共享型ELB、VPCEP、私网NAT、DCS和混合云DNS等场景不建议业务VPC直接接ER，需核验服务兼容性并优先评估中转方案。带EIP或存在ELB、NAT、VPCEP、DCS的业务VPC不建议用0/0指ER。相关切换可能影响长连接，客户端应重连。建议按需传播和灰度变更为治理建议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https://support.huaweicloud.com/usermanual-er/er_01_0030.html</a:t>
            </a:r>
          </a:p>
          <a:p>
            <a:r>
              <a:t>https://support.huaweicloud.com/intl/zh-cn/productdesc-er/er_01_0011.html</a:t>
            </a:r>
          </a:p>
          <a:p>
            <a:r>
              <a:t>https://support.huaweicloud.com/intl/zh-cn/usermanual-er/er_01_0040.html</a:t>
            </a:r>
          </a:p>
          <a:p>
            <a:r>
              <a:t>https://support.huaweicloud.com/intl/zh-cn/productdesc-er/er_01_0006.html</a:t>
            </a:r>
          </a:p>
          <a:p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私网NAT为私网地址转换服务。DNAT是远端访问本端映射服务，SNAT是本端转换源地址访问远端。方案A按官方跨VPC ELB案例，NAT位于提供方VPC，中转IP位于消费方VPC，无需配置路由。方案B按官方SNAT快速入门与连接指南，NAT位于业务VPC，中转IP位于中转VPC，再通过对等连接到远端VPC，并配套路由。两方案独立示意。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https://support.huaweicloud.com/bestpractice-natgateway/privatenat_bestpractice_0003.html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基于华为云官方最佳实践，虚构示例地址改为VPC-A 10.70.0.0/16，消费子网10.70.1.0/24，中转IP10.70.1.144；VPC-B 10.80.0.0/16，私网ELB 10.80.1.10，后端10.80.1.20。NAT部署于提供方VPC-B，中转IP属于消费方VPC-A，DNAT实例类型选择负载均衡器，TCP80映射到ELB业务端口80。官方明确该实践无需配置路由。同一个ELB仅支持在一个VPC内创建一个DNAT规则访问，不支持多消费VPC分别以多个中转IP映射该ELB。图为逻辑请求路径，非底层网络实现。安全策略按实际可见源与批准范围核验，后端需允许ELB转发和健康检查。本例不复用官方示例的允许所有IP作为生产建议。</a:t>
            </a:r>
          </a:p>
          <a:p>
            <a:r>
              <a:t>官方资料（核验日期 2026-10-18）：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https://support.huaweicloud.com/usermanual-natgateway/nat_privatednat_0001.html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由官方SNAT快速入门与连接其他VPC指南组合为同Region示例。业务VPC-A为10.60.0.0/16，源10.60.1.20。私网NAT属于业务VPC-A。中转VPC-T为10.61.0.0/24，中转IP10.61.0.10。远端VPC-B为10.62.0.0/16，目标10.62.1.10:443。SNAT选择源业务子网与中转IP。中转VPC-T通过对等连接连到VPC-B，VPC-A到10.62.0.0/16下一跳私网NAT，中转VPC-T到该目标下一跳对等连接，VPC-B回10.61.0.10/32下一跳同一对等连接。私网NAT基于会话对返回报文反向转换。远端安全策略核对SNAT后的10.61.0.10，不把10.60.1.20当作远端实例可见源。示例不涉及重叠网段，实际应核对中转地址和路由目标无冲突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https://support.huaweicloud.com/usermanual-natgateway/nat_privatenat_0007.html</a:t>
            </a:r>
          </a:p>
          <a:p>
            <a:r>
              <a:t>https://support.huaweicloud.com/qs-natgateway/nat_qs_0019.html</a:t>
            </a:r>
          </a:p>
          <a:p>
            <a:r>
              <a:t>https://support.huaweicloud.com/usermanual-natgateway/nat_privatesnat_0001.html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三条路由对应上一页SNAT例，全部是VPC实际关联路由表条目，不是ER路由。中转IP回程下一跳为对等连接。DNAT访问ELB不照搬SNAT的路由清单。新增DNAT规则应限制映射协议端口，源侧安全组出方向与目标侧安全控制按真实可见地址授权，ELB后端健康检查和服务监听另行检查。私网NAT并非自动连接CFW，需验证路径与日志。每子网只能添加一条SNAT规则、DNAT全端口与具体端口不能共用同一中转IP等规则应以当前控制台与用户指南核验。SNAT和DNAT中转IP共用限制在官方旧最佳实践和现行DNAT指南存在差异，此处不将旧限制写成统一要求。重叠网段需按官方两侧NAT与独立中转网络设计。</a:t>
            </a:r>
          </a:p>
          <a:p>
            <a:r>
              <a:t>官方资料（核验日期 2026-10-18）：</a:t>
            </a:r>
          </a:p>
          <a:p>
            <a:r>
              <a:t>https://support.huaweicloud.com/qs-natgateway/nat_qs_0019.html</a:t>
            </a:r>
          </a:p>
          <a:p>
            <a:r>
              <a:t>https://support.huaweicloud.com/usermanual-natgateway/nat_privatesnat_0001.html</a:t>
            </a:r>
          </a:p>
          <a:p>
            <a:r>
              <a:t>https://support.huaweicloud.com/usermanual-natgateway/nat_privatednat_0001.html</a:t>
            </a:r>
          </a:p>
          <a:p>
            <a:r>
              <a:t>https://support.huaweicloud.com/bestpractice-natgateway/privatenat_bestpractice_0003.html</a:t>
            </a:r>
          </a:p>
          <a:p>
            <a:r>
              <a:t>https://support.huaweicloud.com/bestpractice-natgateway/nat_bp_0006.html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DNAT ELB限制、SNAT每子网一条、DNAT全端口与具体端口互斥同中转IP来自现行用户指南。重叠子网互访按官方双侧NAT及独立中转网络方案处理。NAT转换源地址后仅凭远端源IP不能区分共享映射的原始实例，应结合应用请求标识及可用访问日志关联，不能承诺该产品在所有区域必然提供逐会话转换日志。容量测试、端口保留、映射台账、回收和回退为企业使用建议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https://support.huaweicloud.com/intl/zh-cn/usermanual-natgateway/nat_privatenat_0001.html</a:t>
            </a:r>
          </a:p>
          <a:p>
            <a:r>
              <a:t>https://support.huaweicloud.com/bestpractice-natgateway/nat_bp_0006.html</a:t>
            </a:r>
          </a:p>
          <a:p>
            <a:r>
              <a:t>https://support.huaweicloud.com/usermanual-natgateway/nat_privatesnat_0001.html</a:t>
            </a:r>
          </a:p>
          <a:p>
            <a:r>
              <a:t>https://support.huaweicloud.com/usermanual-natgateway/nat_privatednat_0001.html</a:t>
            </a:r>
          </a:p>
          <a:p>
            <a:r>
              <a:t>https://support.huaweicloud.com/bestpractice-natgateway/privatenat_bestpractice_0003.html</a:t>
            </a:r>
          </a:p>
          <a:p>
            <a:r>
              <a:t>https://support.huaweicloud.com/usermanual-natgateway/nat_privatenat_0002.html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业务方只需要访问HTTPS API，不需要服务VPC全网互通。消费VPC 10.70.0.0/16中的ECS访问接口型终端节点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业务方只需要访问HTTPS API，不需要服务VPC全网互通。消费VPC 10.70.0.0/16中的ECS访问接口型终端节点10.70.1.10。服务方在10.80.0.0/16的服务VPC部署私网ELB及后端ECS，并将ELB发布为终端节点服务。端口映射设置TCP443到443，ELB监听与后端协议按真实业务配置。本图用一个统一服务入口表示协议流程，地址均为示例虚构值。终端节点与服务需要满足同Region及相应项目条件。只有终端节点侧可主动向已发布服务发起，不能由此推断双方VPC任意地址均互通。跨账号额外配置服务账号白名单与授权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跨VPC终端节点配置（同一账号）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跨VPC终端节点配置（不同账号）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qs-vpcep/vpc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发布终端节点服务，关联正确ELB并设置TCP443到443的端口映射。消费者在符合Region与项目条件的VPC中建立接口型终端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发布终端节点服务，关联正确ELB并设置TCP443到443的端口映射。消费者在符合Region与项目条件的VPC中建立接口型终端节点。若服务启用了连接审批，服务方需要接受连接；跨账号还要把消费者账号加入服务白名单。终端节点访问控制白名单填写允许的消费源CIDR。官方同账号快速入门要求ELB的后端安全组放通198.19.128.0/17，ELB开启访问控制时也需允许此地址范围，且ELB后端无法取得真实消费端IP。实际规则还应限定必要协议与服务端口，不能为了放通网段开放所有业务端口。验收既检查终端节点IP或内网域名的443成功，也验证未经授权的消费源和未发布服务端口不会获得额外访问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跨VPC终端节点配置（同一账号）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跨VPC终端节点配置（不同账号）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https://support.huaweicloud.com/qs-vpcep/vpcep_02_0203.html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中国站VPCEP约束说明中基础型与专业型都要求服务已存在且同Region，一个终端节点只连接一个服务。专业型终端节点本身不受SG/ACL规则限制，此范围不能延伸成所有后端均不受安全策略约束。ELB后端真实源地址与198.19.128.0/17说明按国际站现行创建终端节点服务指南及本材料ELB案例，其他资源类型需各自验证。容量不写死所有区域值，上线按实例类型与控制台核验。应用鉴权、TLS、台账和变更通知为业务使用建议。</a:t>
            </a:r>
          </a:p>
          <a:p>
            <a:r>
              <a:t>官方资料（核验日期 2026-10-18）：</a:t>
            </a:r>
          </a:p>
          <a:p>
            <a:r>
              <a:t>https://support.huaweicloud.com/productdesc-vpcep/vpcep_01_0005.html</a:t>
            </a:r>
          </a:p>
          <a:p>
            <a:r>
              <a:t>https://support.huaweicloud.com/intl/zh-cn/usermanual-vpcep/zh-cn_topic_0131645182.html</a:t>
            </a:r>
          </a:p>
          <a:p>
            <a:r>
              <a:t>https://support.huaweicloud.com/qs-vpcep/vpcep_02_0203.html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PC隔离不等于应用和数据的完整授权。基线建议：生产开发资源按域隔离，管理入口避免全网放通，源目的安全组按批准业务授权；出站最小化应先清点DNS、认证、OBS和镜像下载等必要依赖。使用服务支持的私网链路，同时保留HTTPS证书校验、IAM最小权限和审计。专业型终端节点本身不受SG/ACL限制，不能假定所有终端节点流量都由实例SG控制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https://support.huaweicloud.com/usermanual-vpc/zh-cn_topic_0081124350.html</a:t>
            </a:r>
          </a:p>
          <a:p>
            <a:r>
              <a:t>https://support.huaweicloud.com/productdesc-vpcep/vpcep_01_0005.html</a:t>
            </a:r>
          </a:p>
          <a:p>
            <a:r>
              <a:t>https://support.huaweicloud.com/bestpractice-obs/obs_05_2100.html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可以通过同区域ECS内网DNS路径访问；需要VPC粒度的双向资源限制时，选支持OBS双端固定的终端节点服务并配置策略。SWR基础版同区域ECS或CCE节点默认走内网上传下载，也可购买SWR终端节点。企业版在注册表创建内网访问，选批准VPC/子网，平台建立配套VPCEP和DNS。终端节点策略不替代身份与资源策略。本表只讨论同Region，其他来源或跨Region需另设计。</a:t>
            </a:r>
          </a:p>
          <a:p>
            <a:r>
              <a:t>官方资料（核验日期 2026-10-18）：</a:t>
            </a:r>
          </a:p>
          <a:p>
            <a:r>
              <a:t>https://support.huaweicloud.com/bestpractice-ecs/ecs_05_3301.html</a:t>
            </a:r>
          </a:p>
          <a:p>
            <a:r>
              <a:t>https://support.huaweicloud.com/usermanual-obs/obs_03_0602.html</a:t>
            </a:r>
          </a:p>
          <a:p>
            <a:r>
              <a:t>https://support.huaweicloud.com/usermanual-vpcep/vpcep_03_0210.html</a:t>
            </a:r>
          </a:p>
          <a:p>
            <a:r>
              <a:t>https://support.huaweicloud.com/intl/zh-cn/bestpractice-swr/swr_bestpractice_0007.html</a:t>
            </a:r>
          </a:p>
          <a:p>
            <a:r>
              <a:t>https://support.huaweicloud.com/usermanual2-swr/swr_02_0411.html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华为云OBS双端固定文档重绘逻辑图。业务VPC内通过与OBS相连的终端节点访问，源侧VPCEP策略限制OBS资源和操作，资源侧桶策略限制SourceVpc或SourceVpce并授权主体。新终端节点默认策略可能为FullAccess，需主动收敛。桶和对象操作分别匹配对应资源粒度。本页为逻辑策略关口，不声明OBS部署于用户VPC，也不声明所有OBS路径都自动穿过CFW。测试应包含批准身份从指定VPC读取指定对象成功、其他VPC访问受限桶失败、此VPC访问未批准桶失败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https://support.huaweicloud.com/usermanual-obs/obs_03_0602.html</a:t>
            </a:r>
          </a:p>
          <a:p>
            <a:r>
              <a:t>https://support.huaweicloud.com/usermanual-vpcep/vpcep_03_0210.html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使用逻辑规则及代表性条件键，不给出可直接发布的宽泛Deny模板。SourceVpc、SourceVpce和SecureTransport在OBS桶策略参数中有对应定义；g前缀语法在不同策略体系下按官方当前指南核验。桶与对象API匹配不同资源粒度。显式全主体Deny可能锁定管理员或阻断其他云服务访问，应先按真实委托主体和业务流程设计例外，避免改为所有服务通放。建议先小范围验证。</a:t>
            </a:r>
          </a:p>
          <a:p>
            <a:r>
              <a:t>官方资料（核验日期 2026-10-18）：</a:t>
            </a:r>
          </a:p>
          <a:p>
            <a:r>
              <a:t>https://support.huaweicloud.com/perms-cfg-obs/obs_40_0041.html</a:t>
            </a:r>
          </a:p>
          <a:p>
            <a:r>
              <a:t>https://support.huaweicloud.com/bestpractice-obs/obs_05_2100.html</a:t>
            </a:r>
          </a:p>
          <a:p>
            <a:r>
              <a:t>https://support.huaweicloud.com/usermanual-obs/obs_03_0602.html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SWR基础版同Region ECS/CCE节点默认走内网，可另购买SWR VPCEP。不能把默认内网等同于只允许本VPC或关闭了服务公网端点。企业版通过注册表内网访问创建批准VPC和子网的接入，配套VPCEP不可误删，DNS配额需满足，新增接入仍需创建访问凭证。企业版未使用公网入口时建议保持关闭，已启用则按业务评估关闭或最小源白名单，入口控制与镜像属性分开。具体能力按区域和版本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https://support.huaweicloud.com/intl/zh-cn/bestpractice-swr/swr_bestpractice_0007.html</a:t>
            </a:r>
          </a:p>
          <a:p>
            <a:r>
              <a:t>https://support.huaweicloud.com/usermanual2-swr/swr_02_0411.html</a:t>
            </a:r>
          </a:p>
          <a:p>
            <a:r>
              <a:t>https://support.huaweicloud.com/usermanual2-swr/swr_02_0410.html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根据SWR基础版官方内网实践，收紧OBS终端节点双端固定策略时必须将本Region SWR镜像所用OBS桶集群加入允许范围，可能包含一个或多个主备桶，区域清单以官方或工单为准。两条链路为逻辑依赖，不是声称每个请求都使用相同端点或解析地址。SWR托管桶由服务方管理，用户只在本端可配置策略中允许必要资源，不修改SWR托管桶策略、不自行猜测桶名，也不将OBS全部资源开放。本页验证要求完整拉取未缓存镜像。</a:t>
            </a:r>
          </a:p>
          <a:p>
            <a:r>
              <a:t>官方资料（核验日期 2026-10-18）：</a:t>
            </a:r>
          </a:p>
          <a:p>
            <a:r>
              <a:t>https://support.huaweicloud.com/intl/zh-cn/bestpractice-swr/swr_bestpractice_0007.html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区分SWR基础版通用型和增强型登录权限体系，增强型指令配合IAM新平面且仅支持临时登录，不套用旧版本地仓库授权。临时凭证有效期不写死旧值，按实际类型设置与续期。CCE镜像免密拉取可配置节点池委托并开启对应能力，需按版本核验，不能把免密解释为匿名。CI/CD与运行时拆分、凭证脱敏、禁止过宽管理权限属于企业建议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https://support.huaweicloud.com/usermanual-swr/swr_01_1000.html</a:t>
            </a:r>
          </a:p>
          <a:p>
            <a:r>
              <a:t>https://support.huaweicloud.com/usermanual-swr/swr_01_0086.html</a:t>
            </a:r>
          </a:p>
          <a:p>
            <a:r>
              <a:t>https://support.huaweicloud.com/usermanual-cce/cce_10_1091.html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50"/>
              <a:t>本页为可执行的加固发布建议，不宣称企业已采用该制度。DNS故障、私网路径选择、OBS端点策略和资源策略、SWR镜像数据依赖、CCE临时凭证续期应分别验证。OBS默认端点策略FullAccess要主动收口；显式来源Deny可影响管理员、控制台和云服务委托。仅通过删除EIP并不能证明已封堵公共访问资源的所有方式。观察业务、分批实施、保存前态与快速回退为建议。</a:t>
            </a:r>
          </a:p>
          <a:p>
            <a:r>
              <a:rPr sz="1650"/>
              <a:t>官方资料（核验日期 2026-10-18）：</a:t>
            </a:r>
          </a:p>
          <a:p>
            <a:r>
              <a:rPr sz="1650"/>
              <a:t>https://support.huaweicloud.com/usermanual-obs/obs_03_0602.html</a:t>
            </a:r>
          </a:p>
          <a:p>
            <a:r>
              <a:rPr sz="1650"/>
              <a:t>https://support.huaweicloud.com/bestpractice-obs/obs_05_2100.html</a:t>
            </a:r>
          </a:p>
          <a:p>
            <a:r>
              <a:rPr sz="1650"/>
              <a:t>https://support.huaweicloud.com/intl/zh-cn/bestpractice-swr/swr_bestpractice_0007.html</a:t>
            </a:r>
          </a:p>
          <a:p>
            <a:r>
              <a:rPr sz="1650"/>
              <a:t>https://support.huaweicloud.com/usermanual2-swr/swr_02_0411.html</a:t>
            </a:r>
          </a:p>
          <a:p>
            <a:r>
              <a:rPr sz="1650"/>
              <a:t>https://support.huaweicloud.com/usermanual-cce/cce_10_1091.html</a:t>
            </a:r>
          </a:p>
          <a:p>
            <a:r>
              <a:rPr sz="1650"/>
              <a:t>OBS 终端节点策略配置后，按当前官方文档等待10分钟再验证；此等待说明针对OBS端点策略，不泛化为所有安全策略的生效时间。</a:t>
            </a:r>
          </a:p>
          <a:p>
            <a:r>
              <a:rPr sz="1650"/>
              <a:t>https://support.huaweicloud.com/usermanual-obs/obs_03_0602.html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业务验收建议。要求正向OBS限定VPC限定身份限定对象读取成功；其他VPC、公网来源或未批准桶访问按对应策略拒绝；只读身份上传删除、HTTP访问敏感桶按配置拒绝。SWR生产拉取身份完整下载未缓存镜像成功，而推送和访问未授权仓库失败。验证凭证自动续期、过期凭证拒绝及新增节点恢复。日志根据实际启用的OBS访问日志、CTS管理与数据事件以及SWR版本支持的审计采集，不声称所有网络操作必有CFW日志。</a:t>
            </a:r>
          </a:p>
          <a:p>
            <a:r>
              <a:t>官方资料（核验日期 2026-10-18）：</a:t>
            </a:r>
          </a:p>
          <a:p>
            <a:r>
              <a:t>https://support.huaweicloud.com/usermanual-obs/obs_03_0602.html</a:t>
            </a:r>
          </a:p>
          <a:p>
            <a:r>
              <a:t>https://support.huaweicloud.com/bestpractice-obs/obs_05_2100.html</a:t>
            </a:r>
          </a:p>
          <a:p>
            <a:r>
              <a:t>https://support.huaweicloud.com/intl/zh-cn/bestpractice-swr/swr_bestpractice_0007.html</a:t>
            </a:r>
          </a:p>
          <a:p>
            <a:r>
              <a:t>https://support.huaweicloud.com/usermanual2-swr/swr_02_0411.html</a:t>
            </a:r>
          </a:p>
          <a:p>
            <a:r>
              <a:t>https://support.huaweicloud.com/usermanual-swr/swr_01_1000.html</a:t>
            </a:r>
          </a:p>
          <a:p>
            <a:r>
              <a:t>https://support.huaweicloud.com/usermanual-cce/cce_10_1091.html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示例场景为同账号两个Region，区域A的应用VPC10.90.0.0/16，区域B的业务VPC10.100.0.0/16，网段不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示例场景为同账号两个Region，区域A的应用VPC10.90.0.0/16，区域B的业务VPC10.100.0.0/16，网段不重叠。每个VPC接入本Region的ER，CC中心网络互联两个ER。图中横向连接使用华为云骨干网络，不是公网隧道。创建中心网络策略纳入ER并定义互通关系，再分配全域互联带宽中的跨区域连接带宽。VPC路由和ER路由均须双向完整。图为基础连接路径，不包含CFW强制送检；如果要求区域内集中检查，需要另行按当前ER与CFW支持架构复核关联、传播、优先级和回程，不能直接套用本节默认关联与传播设置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中心网络连接跨区域ER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https://support.huaweicloud.com/usermanual-cc/cc_03_1010.html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中心网络与ER实现同账号跨区域VPC互通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qs-cc/cc_02_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https://support.huaweicloud.com/qs-cc/cc_02_0203.html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在两个Region分别准备VPC、ECS和ER，再把VPC连接加入对应ER。官方中心网络快速入门要求ER开启默认路由表关联和传播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在两个Region分别准备VPC、ECS和ER，再把VPC连接加入对应ER。官方中心网络快速入门要求ER开启默认路由表关联和传播。创建中心网络及策略加入两端ER，购买和分配全域互联带宽，配置跨区域连接带宽。路由检查分别进行：区域A的源子网路由表到10.100.0.0/16下一跳ER-A；区域B的目标子网回程到10.90.0.0/16下一跳ER-B。两个ER需要通过所属连接与传播具备到对端VPC的有效路由，核对来源、目的和下一跳。业务示例使用TCP443进行正向访问及返回，未批准管理端口应拒绝，并记录应用请求耗时、时延与吞吐。请勿以ping通代表所有应用正常或带宽达到合同上限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官方参考资料（核验日期 2026-10-17）：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中心网络与ER实现同账号跨区域VPC互通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https://support.huaweicloud.com/qs-cc/cc_02_0203.html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中心网络连接跨区域ER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https://support.huaweicloud.com/usermanual-cc/cc_03_1010.html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ER产品介绍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https://support.huaweicloud.com/productdesc-er/er_01_0002.html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50"/>
              <a:t>中心网络同一区域的ER接入数量按当前中心网络约束核验。华为云中国站《共享概述》2026-09-22更新说明，共享ER的使用者可以创建VPC连接和Peering连接，不同账号ER可通过共享授权接入同一中心网络。因此不再使用旧国际站2025文档中“不能加入他人共享ER”的笼统表述。共享ER接入需确认RAM权限、共享邀请和连接申请审批，ER所有者负责其路由管理。跨地域连接带宽不超过已购全域互联带宽，购买后仍需分配。跨区域时延、应用一致性、超时重试及容灾带宽分别验证。</a:t>
            </a:r>
          </a:p>
          <a:p>
            <a:r>
              <a:rPr sz="1650"/>
              <a:t>官方资料（核验日期 2026-10-18）：</a:t>
            </a:r>
          </a:p>
          <a:p>
            <a:r>
              <a:rPr sz="1650"/>
              <a:t>https://support.huaweicloud.com/usermanual-er/er_01_0095.html</a:t>
            </a:r>
          </a:p>
          <a:p>
            <a:r>
              <a:rPr sz="1650"/>
              <a:t>https://support.huaweicloud.com/usermanual-cc/cc_03_1010.html</a:t>
            </a:r>
          </a:p>
          <a:p>
            <a:r>
              <a:rPr sz="1650"/>
              <a:t>https://support.huaweicloud.com/intl/zh-cn/usermanual-cc/cc_03_1050.html</a:t>
            </a:r>
          </a:p>
          <a:p>
            <a:r>
              <a:rPr sz="1650"/>
              <a:t>https://support.huaweicloud.com/qs-cc/cc_02_0203.html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本图按账号、区域重新分组。全图只有一个中心网络，归属</a:t>
            </a:r>
            <a:r>
              <a:rPr dirty="0"/>
              <a:t> Pro </a:t>
            </a:r>
            <a:r>
              <a:rPr dirty="0" err="1"/>
              <a:t>账号。Pro</a:t>
            </a:r>
            <a:r>
              <a:rPr dirty="0"/>
              <a:t> </a:t>
            </a:r>
            <a:r>
              <a:rPr dirty="0" err="1"/>
              <a:t>的贵阳一、华东二、新加坡三个区域分别建立区域</a:t>
            </a:r>
            <a:r>
              <a:rPr dirty="0"/>
              <a:t> </a:t>
            </a:r>
            <a:r>
              <a:rPr dirty="0" err="1"/>
              <a:t>ER，接入该唯一中心网络并采用全互连策略。OP</a:t>
            </a:r>
            <a:r>
              <a:rPr dirty="0"/>
              <a:t> </a:t>
            </a:r>
            <a:r>
              <a:rPr dirty="0" err="1"/>
              <a:t>在贵阳一、华东二保留自有</a:t>
            </a:r>
            <a:r>
              <a:rPr dirty="0"/>
              <a:t> ER </a:t>
            </a:r>
            <a:r>
              <a:rPr dirty="0" err="1"/>
              <a:t>和多个业务</a:t>
            </a:r>
            <a:r>
              <a:rPr dirty="0"/>
              <a:t> </a:t>
            </a:r>
            <a:r>
              <a:rPr dirty="0" err="1"/>
              <a:t>VPC，通过各自同区域的共享</a:t>
            </a:r>
            <a:r>
              <a:rPr dirty="0"/>
              <a:t> ER </a:t>
            </a:r>
            <a:r>
              <a:rPr dirty="0" err="1"/>
              <a:t>和中转</a:t>
            </a:r>
            <a:r>
              <a:rPr dirty="0"/>
              <a:t> VPC </a:t>
            </a:r>
            <a:r>
              <a:rPr dirty="0" err="1"/>
              <a:t>链路接入</a:t>
            </a:r>
            <a:r>
              <a:rPr dirty="0"/>
              <a:t> </a:t>
            </a:r>
            <a:r>
              <a:rPr dirty="0" err="1"/>
              <a:t>Pro。OP</a:t>
            </a:r>
            <a:r>
              <a:rPr dirty="0"/>
              <a:t> </a:t>
            </a:r>
            <a:r>
              <a:rPr dirty="0" err="1"/>
              <a:t>的跨区域访问复用</a:t>
            </a:r>
            <a:r>
              <a:rPr dirty="0"/>
              <a:t> Pro </a:t>
            </a:r>
            <a:r>
              <a:rPr dirty="0" err="1"/>
              <a:t>中心网络，不另设</a:t>
            </a:r>
            <a:r>
              <a:rPr dirty="0"/>
              <a:t> OP </a:t>
            </a:r>
            <a:r>
              <a:rPr dirty="0" err="1"/>
              <a:t>中心网络。每区域的</a:t>
            </a:r>
            <a:r>
              <a:rPr dirty="0"/>
              <a:t> VPC 1、省略号和 VPC n </a:t>
            </a:r>
            <a:r>
              <a:rPr dirty="0" err="1"/>
              <a:t>表示多个独立业务</a:t>
            </a:r>
            <a:r>
              <a:rPr dirty="0"/>
              <a:t> VPC，1 </a:t>
            </a:r>
            <a:r>
              <a:rPr dirty="0" err="1"/>
              <a:t>和</a:t>
            </a:r>
            <a:r>
              <a:rPr dirty="0"/>
              <a:t> n </a:t>
            </a:r>
            <a:r>
              <a:rPr dirty="0" err="1"/>
              <a:t>为示意标签，不代表真实资源名或确切数量。短汇聚线简化表示多条</a:t>
            </a:r>
            <a:r>
              <a:rPr dirty="0"/>
              <a:t> VPC </a:t>
            </a:r>
            <a:r>
              <a:rPr dirty="0" err="1"/>
              <a:t>到同一区域</a:t>
            </a:r>
            <a:r>
              <a:rPr dirty="0"/>
              <a:t> ER </a:t>
            </a:r>
            <a:r>
              <a:rPr dirty="0" err="1"/>
              <a:t>的连接，不代表另有一台交换机或额外汇聚设备，也不表示新加坡存在</a:t>
            </a:r>
            <a:r>
              <a:rPr dirty="0"/>
              <a:t> OP </a:t>
            </a:r>
            <a:r>
              <a:rPr dirty="0" err="1"/>
              <a:t>资源</a:t>
            </a:r>
            <a:r>
              <a:rPr dirty="0"/>
              <a:t>。</a:t>
            </a:r>
          </a:p>
          <a:p>
            <a:r>
              <a:rPr dirty="0" err="1"/>
              <a:t>跨账号链路采用逻辑聚合表示，不是</a:t>
            </a:r>
            <a:r>
              <a:rPr dirty="0"/>
              <a:t> ER </a:t>
            </a:r>
            <a:r>
              <a:rPr dirty="0" err="1"/>
              <a:t>与</a:t>
            </a:r>
            <a:r>
              <a:rPr dirty="0"/>
              <a:t> ER </a:t>
            </a:r>
            <a:r>
              <a:rPr dirty="0" err="1"/>
              <a:t>的直接连接类型。具体方向延续前版假设：Pro</a:t>
            </a:r>
            <a:r>
              <a:rPr dirty="0"/>
              <a:t> </a:t>
            </a:r>
            <a:r>
              <a:rPr dirty="0" err="1"/>
              <a:t>将同区域</a:t>
            </a:r>
            <a:r>
              <a:rPr dirty="0"/>
              <a:t> ER 通过 RAM </a:t>
            </a:r>
            <a:r>
              <a:rPr dirty="0" err="1"/>
              <a:t>共享给</a:t>
            </a:r>
            <a:r>
              <a:rPr dirty="0"/>
              <a:t> </a:t>
            </a:r>
            <a:r>
              <a:rPr dirty="0" err="1"/>
              <a:t>OP。实施时可用两个专用中转</a:t>
            </a:r>
            <a:r>
              <a:rPr dirty="0"/>
              <a:t> VPC </a:t>
            </a:r>
            <a:r>
              <a:rPr dirty="0" err="1"/>
              <a:t>配合</a:t>
            </a:r>
            <a:r>
              <a:rPr dirty="0"/>
              <a:t> VPC </a:t>
            </a:r>
            <a:r>
              <a:rPr dirty="0" err="1"/>
              <a:t>对等连接分别接入共享的</a:t>
            </a:r>
            <a:r>
              <a:rPr dirty="0"/>
              <a:t> Pro ER </a:t>
            </a:r>
            <a:r>
              <a:rPr dirty="0" err="1"/>
              <a:t>和</a:t>
            </a:r>
            <a:r>
              <a:rPr dirty="0"/>
              <a:t> OP </a:t>
            </a:r>
            <a:r>
              <a:rPr dirty="0" err="1"/>
              <a:t>自有</a:t>
            </a:r>
            <a:r>
              <a:rPr dirty="0"/>
              <a:t> </a:t>
            </a:r>
            <a:r>
              <a:rPr dirty="0" err="1"/>
              <a:t>ER，两个中转</a:t>
            </a:r>
            <a:r>
              <a:rPr dirty="0"/>
              <a:t> VPC </a:t>
            </a:r>
            <a:r>
              <a:rPr dirty="0" err="1"/>
              <a:t>均可归</a:t>
            </a:r>
            <a:r>
              <a:rPr dirty="0"/>
              <a:t> </a:t>
            </a:r>
            <a:r>
              <a:rPr dirty="0" err="1"/>
              <a:t>OP，不承载业务。该展开方式基于共享</a:t>
            </a:r>
            <a:r>
              <a:rPr dirty="0"/>
              <a:t> </a:t>
            </a:r>
            <a:r>
              <a:rPr dirty="0" err="1"/>
              <a:t>ER、对等连接和中转</a:t>
            </a:r>
            <a:r>
              <a:rPr dirty="0"/>
              <a:t> VPC </a:t>
            </a:r>
            <a:r>
              <a:rPr dirty="0" err="1"/>
              <a:t>的官方机制组合，是设计方案，实际部署以前态资源与区域能力核验。图中的账号边界仅划分已展开的</a:t>
            </a:r>
            <a:r>
              <a:rPr dirty="0"/>
              <a:t> VPC、ER、CC </a:t>
            </a:r>
            <a:r>
              <a:rPr dirty="0" err="1"/>
              <a:t>资源归属，聚合链路内部的中转资源归属在实施设计中另行明确</a:t>
            </a:r>
            <a:r>
              <a:rPr dirty="0"/>
              <a:t>。</a:t>
            </a:r>
          </a:p>
          <a:p>
            <a:r>
              <a:rPr dirty="0" err="1"/>
              <a:t>当前中心网络概述规定同一中心网络单个区域仅可加入一台</a:t>
            </a:r>
            <a:r>
              <a:rPr dirty="0"/>
              <a:t> </a:t>
            </a:r>
            <a:r>
              <a:rPr dirty="0" err="1"/>
              <a:t>ER。因此本图将</a:t>
            </a:r>
            <a:r>
              <a:rPr dirty="0"/>
              <a:t> Pro </a:t>
            </a:r>
            <a:r>
              <a:rPr dirty="0" err="1"/>
              <a:t>的每区域</a:t>
            </a:r>
            <a:r>
              <a:rPr dirty="0"/>
              <a:t> ER </a:t>
            </a:r>
            <a:r>
              <a:rPr dirty="0" err="1"/>
              <a:t>作为中心网络接入点，OP</a:t>
            </a:r>
            <a:r>
              <a:rPr dirty="0"/>
              <a:t> </a:t>
            </a:r>
            <a:r>
              <a:rPr dirty="0" err="1"/>
              <a:t>同区域</a:t>
            </a:r>
            <a:r>
              <a:rPr dirty="0"/>
              <a:t> ER </a:t>
            </a:r>
            <a:r>
              <a:rPr dirty="0" err="1"/>
              <a:t>经中转接入，不把同区域</a:t>
            </a:r>
            <a:r>
              <a:rPr dirty="0"/>
              <a:t> Pro </a:t>
            </a:r>
            <a:r>
              <a:rPr dirty="0" err="1"/>
              <a:t>与</a:t>
            </a:r>
            <a:r>
              <a:rPr dirty="0"/>
              <a:t> OP </a:t>
            </a:r>
            <a:r>
              <a:rPr dirty="0" err="1"/>
              <a:t>两台</a:t>
            </a:r>
            <a:r>
              <a:rPr dirty="0"/>
              <a:t> ER </a:t>
            </a:r>
            <a:r>
              <a:rPr dirty="0" err="1"/>
              <a:t>同时直接挂入该中心网络。共享授权与连接审批分别完成，共享</a:t>
            </a:r>
            <a:r>
              <a:rPr dirty="0"/>
              <a:t> ER </a:t>
            </a:r>
            <a:r>
              <a:rPr dirty="0" err="1"/>
              <a:t>所有者管理其路由表。共享关系本身不会自动生成全部业务路由</a:t>
            </a:r>
            <a:r>
              <a:rPr dirty="0"/>
              <a:t>。</a:t>
            </a:r>
          </a:p>
          <a:p>
            <a:r>
              <a:rPr dirty="0" err="1"/>
              <a:t>路由要求：两侧</a:t>
            </a:r>
            <a:r>
              <a:rPr dirty="0"/>
              <a:t> </a:t>
            </a:r>
            <a:r>
              <a:rPr dirty="0" err="1"/>
              <a:t>ER、专用中转</a:t>
            </a:r>
            <a:r>
              <a:rPr dirty="0"/>
              <a:t> VPC </a:t>
            </a:r>
            <a:r>
              <a:rPr dirty="0" err="1"/>
              <a:t>和业务</a:t>
            </a:r>
            <a:r>
              <a:rPr dirty="0"/>
              <a:t> VPC </a:t>
            </a:r>
            <a:r>
              <a:rPr dirty="0" err="1"/>
              <a:t>分别核验双向业务前缀与下一跳。采用中转</a:t>
            </a:r>
            <a:r>
              <a:rPr dirty="0"/>
              <a:t> VPC </a:t>
            </a:r>
            <a:r>
              <a:rPr dirty="0" err="1"/>
              <a:t>和对等连接时，不能假定全部远端业务前缀自动传播。CC</a:t>
            </a:r>
            <a:r>
              <a:rPr dirty="0"/>
              <a:t> </a:t>
            </a:r>
            <a:r>
              <a:rPr dirty="0" err="1"/>
              <a:t>路由、连接带宽、网段冲突与访问授权分别核验。网络互联不等于应用容灾自动切换，数据复制、DNS、应用恢复和切换带宽需单独验证</a:t>
            </a:r>
            <a:r>
              <a:rPr dirty="0"/>
              <a:t>。</a:t>
            </a:r>
          </a:p>
          <a:p>
            <a:r>
              <a:rPr dirty="0" err="1"/>
              <a:t>官方资料（核验日期</a:t>
            </a:r>
            <a:r>
              <a:rPr dirty="0"/>
              <a:t> 2026-10-18）：</a:t>
            </a:r>
          </a:p>
          <a:p>
            <a:r>
              <a:rPr dirty="0" err="1"/>
              <a:t>中心网络概述（单区域</a:t>
            </a:r>
            <a:r>
              <a:rPr dirty="0"/>
              <a:t> ER </a:t>
            </a:r>
            <a:r>
              <a:rPr dirty="0" err="1"/>
              <a:t>数量限制</a:t>
            </a:r>
            <a:r>
              <a:rPr dirty="0"/>
              <a:t>）：https://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usermanual</a:t>
            </a:r>
            <a:r>
              <a:rPr dirty="0"/>
              <a:t>-cc/cc_03_1010.html</a:t>
            </a:r>
          </a:p>
          <a:p>
            <a:r>
              <a:rPr dirty="0"/>
              <a:t>ER </a:t>
            </a:r>
            <a:r>
              <a:rPr dirty="0" err="1"/>
              <a:t>共享概述：https</a:t>
            </a:r>
            <a:r>
              <a:rPr dirty="0"/>
              <a:t>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usermanual</a:t>
            </a:r>
            <a:r>
              <a:rPr dirty="0"/>
              <a:t>-er/er_01_0095.html</a:t>
            </a:r>
          </a:p>
          <a:p>
            <a:r>
              <a:rPr dirty="0" err="1"/>
              <a:t>中转</a:t>
            </a:r>
            <a:r>
              <a:rPr dirty="0"/>
              <a:t> VPC </a:t>
            </a:r>
            <a:r>
              <a:rPr dirty="0" err="1"/>
              <a:t>组网和资源规划：https</a:t>
            </a:r>
            <a:r>
              <a:rPr dirty="0"/>
              <a:t>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bestpractice</a:t>
            </a:r>
            <a:r>
              <a:rPr dirty="0"/>
              <a:t>-er/er_03_0092.html</a:t>
            </a:r>
          </a:p>
          <a:p>
            <a:r>
              <a:rPr dirty="0" err="1"/>
              <a:t>通过中心网络和</a:t>
            </a:r>
            <a:r>
              <a:rPr dirty="0"/>
              <a:t> ER </a:t>
            </a:r>
            <a:r>
              <a:rPr dirty="0" err="1"/>
              <a:t>实现同账号跨区域</a:t>
            </a:r>
            <a:r>
              <a:rPr dirty="0"/>
              <a:t> VPC </a:t>
            </a:r>
            <a:r>
              <a:rPr dirty="0" err="1"/>
              <a:t>互通：https</a:t>
            </a:r>
            <a:r>
              <a:rPr dirty="0"/>
              <a:t>://</a:t>
            </a:r>
            <a:r>
              <a:rPr dirty="0" err="1"/>
              <a:t>support.huaweicloud.com</a:t>
            </a:r>
            <a:r>
              <a:rPr dirty="0"/>
              <a:t>/</a:t>
            </a:r>
            <a:r>
              <a:rPr dirty="0" err="1"/>
              <a:t>qs</a:t>
            </a:r>
            <a:r>
              <a:rPr dirty="0"/>
              <a:t>-cc/cc_02_0203.html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官方资料： https://support.huaweicloud.com/productdesc-cfw/cfw_01_00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官方资料：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https://support.huaweicloud.com/productdesc-cfw/cfw_01_0002.html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互联网边界接入：按 EIP 开启防护，核对入云和出云策略。互联网与 VPC 边界开启防护后默认放行，阻断需显式配置。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华为云官方资料（核验日期 2026-10-18）：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开启互联网边界防护：https://support.huaweicloud.com/intl/zh-cn/usermanual-cfw/cfw_01_0031.html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互联网边界访问控制规则：https://support.huaweicloud.com/usermanual-cfw/cfw_01_0030.html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边界防护：https://support.huaweicloud.com/intl/zh-cn/usermanual-cfw/cfw_01_0185.html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互联网与 NAT 边界不能简单套用相同源地址。VPC 边界文档当前明确仅专业版支持，并依赖 ER 引流。不要暗示同 VPC 所有流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所有流量自动受边界防火墙保护。需要跨账号或混合云时，应额外核对连接类型、共享与路由支持条件。本材料主要以 VPC 边界为例。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本节以逻辑边界表示保护范围，连接线不代表实际物理下一跳。跨 VPC 的 ER 送检和返回转发关系见第 57 页。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互联网边界防护规则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https://support.huaweicloud.com/intl/zh-cn/usermanual-cfw/cfw_01_0271.html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NAT 网关边界防护规则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总结 CFW 章节并转入操作治理。清理规则前确认批任务、月结、故障切换和备份等低频业务，不能只按短时间无命中自动删除。命中次数也不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总结 CFW 章节并转入操作治理。清理规则前确认批任务、月结、故障切换和备份等低频业务，不能只按短时间无命中自动删除。命中次数也不是业务必要性的唯一证据。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华为云支持不同域名匹配方式，应用型可依据 Host 或 SNI 等字段，网络型依赖域名解析到的地址。不能把一个匹配方式的适用条件套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华为云支持不同域名匹配方式，应用型可依据 Host 或 SNI 等字段，网络型依赖域名解析到的地址。不能把一个匹配方式的适用条件套到全部协议。加密与协议变化也需要结合当前产品能力确认。本节强调验证，不承诺所有加密流量都能按域名精确识别。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NAT 网关边界防护规则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https://support.huaweicloud.com/usermanual-cfw/cfw_01_0298.html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外层功能顺序与 ACL 内的优先级是两个层次。华为云文档给出的功能优先顺序是流量封堵、白名单、黑名单、防护策略 ACL。ACL 中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观察模式记录事件而不执行同等拦截，不能长期当作生产防护完成的证据。误报处理优先定位具体命中规则，评估最小范围例外并跟踪恢复，不建议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观察模式记录事件而不执行同等拦截，不能长期当作生产防护完成的证据。误报处理优先定位具体命中规则，评估最小范围例外并跟踪恢复，不建议为单一业务问题长期关闭整体防护。白名单审批与到期复核是管理建议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intl/zh-cn/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参考资料（2026-10-18 核验）： https://support.huaweicloud.com/intl/zh-cn/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参考资料（2026-10-18 核验）：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https://support.huaweicloud.com/intl/zh-cn/usermanual-cfw/cfw_01_0309.html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https://support.huaweicloud.com/usermanual-cfw/cfw_01_0168.html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https://support.huaweicloud.com/cfw_faq/cfw_01_0225.html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依据华为云新版 ER 引流官方文档重绘逻辑关系，图示样式与全课统一，非原始控制台截图。er-RT1 接收来自业务 VPC 的流量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示例：已开启 VPC 边界防护，由源 VPC 发起到目标 VPC 的访问。源 VPC 路由的下一跳为 ER。业务 VPC 连接关联 er-RT1，RT1 的匹配路由下一跳为 CFW 自动连接。CFW 允许后，经同一连接回到 ER；CFW 连接关联 er-RT2，RT2 通过传播学习业务 VPC 路由并转发到目标 VPC。两个方向均应按设计经过防护。图中的编号说明单向请求，响应方向反转，回注不等同于业务响应。路由表名仅为示例。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官方依据（核验日期 2026-10-18）：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配置企业路由器并将流量引至云防火墙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正文-本节为同区域自建 ECS、无 NAT 的跨 VPC 逻辑示例场景，蓝色实线表示从应用主机发起的新请求方向。源主机先核验安全组出方向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同区域、无 NAT 的跨 VPC 逻辑示例。请求从源主机发出，核验源安全组出方向，源主机所在子网关联 VPC 路由表将数据网段流量送至 ER。业务 VPC 连接关联 er-RT1，其匹配路由将流量引至 CFW。CFW 允许后回到 ER，CFW 连接关联 er-RT2，RT2 按目的 VPC 路由转发至目的 VPC 连接。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进入目的 VPC 后，应依据创建 ER 的 VPC 连接时所选子网关联的路由表进行转发；本例匹配目标子网的 Local 路由，再核验目的安全组入方向及目标服务。目的入向查表与响应回程查表不应混为一谈。响应由目标主机所在子网关联路由表查找 10.20.0.0/16 下一跳 ER，再经 RT1、CFW、RT2 返回。入向与回程可能使用不同的 VPC 路由表。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安全组有状态，匹配已允许连接的响应自动允许；由目标主动发起的独立反向连接需重新核验。图中方块为逻辑检查职责，不代表独立物理设备。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官方依据（核验日期 2026-10-18）：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路由表和路由概述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https://support.huaweicloud.com/usermanual-vpc/vpc_route01_0001.html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配置企业路由器并将流量引至云防火墙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安全组和安全组规则概述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https://support.huaweicloud.com/usermanual-vpc/zh-cn_topic_0073379079.html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rPr sz="1650"/>
              <a:t>60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接入完成不代表默认拒绝已落地。收敛前先梳理 DNS、时间同步、监控、备份、证书与软件仓库等依赖。不要在未知依赖时直接启用全量阻断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应检查它在实际部署模式中的关联、传播、VPC 路由及规则覆盖。不可机械复用别的区域的默认配置。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 引流配置（新版）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开启防护与流量验证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强调此处是企业实施建议，并非产品自动执行的流程。先记录业务基线、真实地址与周期性依赖，再准备精确放行、规则顺序和恢复前态。首批只选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强调此处是企业实施建议，并非产品自动执行的流程。先记录业务基线、真实地址与周期性依赖，再准备精确放行、规则顺序和恢复前态。首批只选已批准范围，发布显式兜底阻断后验证新建应通与应拒绝连接。出现预先约定的关键交易失败、错误率或时延异常时，恢复已记录的规则与路由前态并复核。观察窗口要覆盖备份、批处理、月结等周期，不能套用固定时长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开启防护与流量验证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示例源端口为 Any 是因为客户端通常使用动态源端口，不能把数据库的 3306 同时填入源端口。源、目的、服务、动作和优先级为产品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地址及端口只是示例样例。放行数据库时，核对应用安全组出方向与数据安全组入方向，也要看历史规则、网络 ACL、主机防火墙和服务监听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地址及端口只是示例样例。放行数据库时，核对应用安全组出方向与数据安全组入方向，也要看历史规则、网络 ACL、主机防火墙和服务监听。兜底阻断的作用域应与审批边界一致，避免跨业务复用过宽地址组。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先展示防护对象，再展示规则，不直接从“添加规则”开始。VPC 规则处于启用状态时确认后可立即生效，因此大范围变更可先建立停用规则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分析结论是第 1 条。将第 2 条挪到前面只能解决 SSH 这一项，仍保留了过宽授权，较好的修复是用批准的最小权限业务规则替换第 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分析结论是第 1 条。将第 2 条挪到前面只能解决 SSH 这一项，仍保留了过宽授权，较好的修复是用批准的最小权限业务规则替换第 1 条。不能仅凭规则有命中就认定整个规则集合理。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防火墙出方向策略需要结合实际出口类型配置。CFW 看到的源地址受 NAT 和代理影响，应以观测结果为准。固定域名也可能使用 CD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NAT 网关边界防护规则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https://support.huaweicloud.com/usermanual-cfw/cfw_01_0298.html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所有结果均为示例预期，并非实测记录。禁止使用真实密码或生产连接串展示。  参考资料： Test-NetConnection 命令文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所有结果均为示例预期，并非实测记录。禁止使用真实密码或生产连接串展示。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Test-NetConnection 命令文档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https://learn.microsoft.com/en-us/powershell/module/nettcpip/test-netconnection?view=windowsserver2025-ps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日志查询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本节为建议岗位分工，并非用户既有制度。小团队可以一人承担多个角色，但高影响范围与宽泛放行应由另一个人复核。业务 Owner 对需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本节为建议岗位分工，并非用户既有制度。小团队可以一人承担多个角色，但高影响范围与宽泛放行应由另一个人复核。业务 Owner 对需求负责，不能将“安全组由别人管理”当作免除业务回归责任的理由。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回滚门槛应由业务与变更负责人在发布前填写具体数字或明确结果，方案不替企业设定统一阈值。规则回滚可恢复上一版本或停用本次新增规则，路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回滚门槛应由业务与变更负责人在发布前填写具体数字或明确结果，方案不替企业设定统一阈值。规则回滚可恢复上一版本或停用本次新增规则，路由回滚应恢复已记录的前态。大范围关闭 CFW 会改变检查覆盖，必须记录风险、持续时间与恢复责任人。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关键结论已列于正文，无需依赖备注。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判断条件和恢复动作已列于正文，阈值由业务与变更负责人事先约定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判断条件和恢复动作已列于正文，阈值由业务与变更负责人事先约定。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强调拒绝证据不能只看连接超时，还要排除服务未监听等原因。新连接更便于判断新策略命中，既有会话行为不能一概而论。记录测试源、目的、协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强调拒绝证据不能只看连接超时，还要排除服务未监听等原因。新连接更便于判断新策略命中，既有会话行为不能一概而论。记录测试源、目的、协议、目的端口、时间和时区。仅在测试环境验证回滚，不为示例故意破坏生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图示为依据华为云访问控制日志字段绘制的示例界面，已统一蓝色 UI 样式，非真实控制台截图或生产日志。示例展示相同应用来源访问数据库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图示为依据华为云访问控制日志字段绘制的示例界面，已统一蓝色 UI 样式，非真实控制台截图或生产日志。示例展示相同应用来源访问数据库 TCP 3306 放行，以及访问 TCP 22 阻断。访问控制日志与攻击事件日志回答不同问题。流量日志存在会话结束上报等机制，暂时查不到记录时先核对筛选、上报和路径。来源：https://support.huaweicloud.com/usermanual-cfw/cfw_01_0139.html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日志查询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流量统计与会话上报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https://support.huaweicloud.com/cfw_faq/cfw_01_0027.html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源端抓包或连接日志能证明请求是否发出，目标端能证明是否收到。路由、策略和应用排查可能交替进行，本节是最小调查顺序。无法定位时保留时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源端抓包或连接日志能证明请求是否发出，目标端能证明是否收到。路由、策略和应用排查可能交替进行，本节是最小调查顺序。无法定位时保留时间窗口、配置与日志交厂商支持。应急修改需进入上一页的变更和回滚流程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流量统计与会话上报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要求每组写出故障层、具体错误、修改范围、应通与应拒绝用例。示例日志和配置均为虚构。 本节为逻辑架构示意，非真实控制台或生产环境。图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要求每组写出故障层、具体错误、修改范围、应通与应拒绝用例。示例日志和配置均为虚构。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根因是数据主机安全组允许来源与应用实际来源不一致。不要将数据主机安全组扩大为 10.0.0.0/8 或所有来源。源端出方向和其他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根因是数据主机安全组允许来源与应用实际来源不一致。不要将数据主机安全组扩大为 10.0.0.0/8 或所有来源。源端出方向和其他层在题目假设中正常，实际场景仍需核验。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访问控制概述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题目已提供新连接命中证据，不需要猜测存量会话。要求分析结论同时描述业务端口是否仍可用。 本节为逻辑架构示意，非真实控制台或生产环境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题目已提供新连接命中证据，不需要猜测存量会话。要求分析结论同时描述业务端口是否仍可用。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解释 ACL 命中后停止继续匹配，所以不能认为靠后的拒绝天然覆盖前面的允许。先获得必要业务依赖，再替换宽泛规则。  参考资料： V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解释 ACL 命中后停止继续匹配，所以不能认为靠后的拒绝天然覆盖前面的允许。先获得必要业务依赖，再替换宽泛规则。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边界防护规则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题目已排除单纯日志延迟。不要仅删除对等连接，也不要直接替换整个 VPC 默认路由。要求说明受影响业务清单、去回程、ER 表关联和回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题目已排除单纯日志延迟。不要仅删除对等连接，也不要直接替换整个 VPC 默认路由。要求说明受影响业务清单、去回程、ER 表关联和回滚方案。真实环境应先分析匹配到哪条路由，不能只根据资源列表判断。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本节为逻辑架构示意，非真实控制台或生产环境。图中关系配合右侧配置要点解释，产品限制以对应来源为准。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图中只有一个 ER 实例，内部 er-RT1 负责送检，er-RT2 负责 CFW 返回后的目的 VPC 转发。旧对等连接为题设实际命中路径。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这是覆盖问题，不是简单放行问题。规则正确但路径绕过检查时，策略无法发挥作用。避免盲目删除承载其他业务的对等连接，只处理本次批准范围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这是覆盖问题，不是简单放行问题。规则正确但路径绕过检查时，策略无法发挥作用。避免盲目删除承载其他业务的对等连接，只处理本次批准范围并评估路由优先级。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ER 引流配置（新版）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https://support.huaweicloud.com/usermanual-cfw/cfw_01_0269.html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开启防护与流量验证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https://support.huaweicloud.com/usermanual-cfw/cfw_01_0133.html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流量统计与会话上报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分析结论为否、否、否、否、是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分析结论为否、否、否、否、是。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快速纠正常见误解。  参考资料： VPC 网络规划与隔离 https://support.huaweicloud.com/int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快速纠正常见误解。</a:t>
            </a:r>
          </a:p>
          <a:p>
            <a:endParaRPr sz="1200">
              <a:latin typeface="Microsoft YaHei"/>
              <a:ea typeface="Microsoft YaHei"/>
              <a:cs typeface="Microsoft YaHei"/>
            </a:endParaRP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参考资料：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网络规划与隔离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https://support.huaweicloud.com/intl/zh-cn/helppanel-vpc/vpc_help_0002.html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VPC 边界防火墙概述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https://support.huaweicloud.com/usermanual-cfw/cfw_01_0185.html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访问控制策略概述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https://support.huaweicloud.com/intl/zh-cn/usermanual-cfw/cfw_01_0262.html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配置防护策略后业务无法访问</a:t>
            </a:r>
          </a:p>
          <a:p>
            <a:r>
              <a:rPr sz="1200">
                <a:latin typeface="Microsoft YaHei"/>
                <a:ea typeface="Microsoft YaHei"/>
                <a:cs typeface="Microsoft YaHei"/>
              </a:rP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这是可以转成内部检查表的建议内容。不要把课件里的周期安排、日志期限或例外权限当成已经生效的公司制度。团队需明确责任人后正式采用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这是可以转成内部检查表的建议内容。不要把课件里的周期安排、日志期限或例外权限当成已经生效的公司制度。团队需明确责任人后正式采用。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正文-每日由值班运维检查防护覆盖变化、异常阻断与告警，并记录业务影响和跟进人。每周由安全管理员核查临时授权到期、宽泛授权、对象组变化及例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icrosoft YaHei"/>
                <a:ea typeface="Microsoft YaHei"/>
                <a:cs typeface="Microsoft YaHei"/>
              </a:rPr>
              <a:t>每日由值班运维检查防护覆盖变化、异常阻断与告警，并记录业务影响和跟进人。每周由安全管理员核查临时授权到期、宽泛授权、对象组变化及例外清单，清理前复核 Owner 与审批依据。每月由业务 Owner 与网络、安全团队复核周期性依赖、路由引流、规则必要性和恢复前态。长期未命中的规则需覆盖业务周期后再评估，不能机械按天数删除。资产、路由或出口变化时应触发额外复核。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50"/>
              <a:t>官方文档索引（链接核验日期 2026-10-18）。各条目涵盖对应产品或功能，实际配置仍需检查区域、版本与资源关系。</a:t>
            </a:r>
          </a:p>
          <a:p>
            <a:r>
              <a:rPr sz="1650"/>
              <a:t>VPC 与网络互联</a:t>
            </a:r>
          </a:p>
          <a:p>
            <a:r>
              <a:rPr sz="1650"/>
              <a:t>VPC 网络规划</a:t>
            </a:r>
          </a:p>
          <a:p>
            <a:r>
              <a:rPr sz="1650"/>
              <a:t>https://support.huaweicloud.com/usermanual-vpc/vpc_0001.html</a:t>
            </a:r>
          </a:p>
          <a:p>
            <a:r>
              <a:rPr sz="1650"/>
              <a:t>对等连接与传递路由</a:t>
            </a:r>
          </a:p>
          <a:p>
            <a:r>
              <a:rPr sz="1650"/>
              <a:t>https://support.huaweicloud.com/usermanual-vpc/vpc_peering_0009.html</a:t>
            </a:r>
          </a:p>
          <a:p>
            <a:r>
              <a:rPr sz="1650"/>
              <a:t>ER 共享与跨账号接入</a:t>
            </a:r>
          </a:p>
          <a:p>
            <a:r>
              <a:rPr sz="1650"/>
              <a:t>https://support.huaweicloud.com/usermanual-er/er_01_0095.html</a:t>
            </a:r>
          </a:p>
          <a:p>
            <a:r>
              <a:rPr sz="1650"/>
              <a:t>CC 中心网络与区域限制</a:t>
            </a:r>
          </a:p>
          <a:p>
            <a:r>
              <a:rPr sz="1650"/>
              <a:t>https://support.huaweicloud.com/usermanual-cc/cc_03_1010.html</a:t>
            </a:r>
          </a:p>
          <a:p>
            <a:r>
              <a:rPr sz="1650"/>
              <a:t>私网 NAT 使用说明</a:t>
            </a:r>
          </a:p>
          <a:p>
            <a:r>
              <a:rPr sz="1650"/>
              <a:t>https://support.huaweicloud.com/intl/zh-cn/usermanual-natgateway/nat_privatenat_0001.html</a:t>
            </a:r>
          </a:p>
          <a:p>
            <a:r>
              <a:rPr sz="1650"/>
              <a:t>VPCEP 规格与限制</a:t>
            </a:r>
          </a:p>
          <a:p>
            <a:r>
              <a:rPr sz="1650"/>
              <a:t>https://support.huaweicloud.com/productdesc-vpcep/vpcep_01_0005.html</a:t>
            </a:r>
          </a:p>
          <a:p>
            <a:endParaRPr sz="1650"/>
          </a:p>
          <a:p>
            <a:r>
              <a:rPr sz="1650"/>
              <a:t>OBS / SWR 安全加固</a:t>
            </a:r>
          </a:p>
          <a:p>
            <a:r>
              <a:rPr sz="1650"/>
              <a:t>OBS 双端固定</a:t>
            </a:r>
          </a:p>
          <a:p>
            <a:r>
              <a:rPr sz="1650"/>
              <a:t>https://support.huaweicloud.com/usermanual-obs/obs_03_0602.html</a:t>
            </a:r>
          </a:p>
          <a:p>
            <a:r>
              <a:rPr sz="1650"/>
              <a:t>OBS 桶策略与 HTTPS</a:t>
            </a:r>
          </a:p>
          <a:p>
            <a:r>
              <a:rPr sz="1650"/>
              <a:t>https://support.huaweicloud.com/perms-cfg-obs/obs_40_0041.html</a:t>
            </a:r>
          </a:p>
          <a:p>
            <a:r>
              <a:rPr sz="1650"/>
              <a:t>SWR 基础版内网访问</a:t>
            </a:r>
          </a:p>
          <a:p>
            <a:r>
              <a:rPr sz="1650"/>
              <a:t>https://support.huaweicloud.com/intl/zh-cn/bestpractice-swr/swr_bestpractice_0007.html</a:t>
            </a:r>
          </a:p>
          <a:p>
            <a:r>
              <a:rPr sz="1650"/>
              <a:t>SWR 企业版内网访问</a:t>
            </a:r>
          </a:p>
          <a:p>
            <a:r>
              <a:rPr sz="1650"/>
              <a:t>https://support.huaweicloud.com/usermanual2-swr/swr_02_0411.html</a:t>
            </a:r>
          </a:p>
          <a:p>
            <a:r>
              <a:rPr sz="1650"/>
              <a:t>SWR 登录与凭证</a:t>
            </a:r>
          </a:p>
          <a:p>
            <a:r>
              <a:rPr sz="1650"/>
              <a:t>https://support.huaweicloud.com/usermanual-swr/swr_01_1000.html</a:t>
            </a:r>
          </a:p>
          <a:p>
            <a:r>
              <a:rPr sz="1650"/>
              <a:t>CCE 委托拉取镜像</a:t>
            </a:r>
          </a:p>
          <a:p>
            <a:r>
              <a:rPr sz="1650"/>
              <a:t>https://support.huaweicloud.com/usermanual-cce/cce_10_1091.html</a:t>
            </a:r>
          </a:p>
          <a:p>
            <a:endParaRPr sz="1650"/>
          </a:p>
          <a:p>
            <a:r>
              <a:rPr sz="1650"/>
              <a:t>CFW 策略与运维</a:t>
            </a:r>
          </a:p>
          <a:p>
            <a:r>
              <a:rPr sz="1650"/>
              <a:t>VPC 边界防火墙</a:t>
            </a:r>
          </a:p>
          <a:p>
            <a:r>
              <a:rPr sz="1650"/>
              <a:t>https://support.huaweicloud.com/usermanual-cfw/cfw_01_0185.html</a:t>
            </a:r>
          </a:p>
          <a:p>
            <a:r>
              <a:rPr sz="1650"/>
              <a:t>ER 引流配置（新版）</a:t>
            </a:r>
          </a:p>
          <a:p>
            <a:r>
              <a:rPr sz="1650"/>
              <a:t>https://support.huaweicloud.com/usermanual-cfw/cfw_01_0269.html</a:t>
            </a:r>
          </a:p>
          <a:p>
            <a:r>
              <a:rPr sz="1650"/>
              <a:t>访问控制策略概述</a:t>
            </a:r>
          </a:p>
          <a:p>
            <a:r>
              <a:rPr sz="1650"/>
              <a:t>https://support.huaweicloud.com/intl/zh-cn/usermanual-cfw/cfw_01_0262.html</a:t>
            </a:r>
          </a:p>
          <a:p>
            <a:r>
              <a:rPr sz="1650"/>
              <a:t>IPS 入侵防御概述</a:t>
            </a:r>
          </a:p>
          <a:p>
            <a:r>
              <a:rPr sz="1650"/>
              <a:t>https://support.huaweicloud.com/intl/zh-cn/usermanual-cfw/cfw_01_0309.html</a:t>
            </a:r>
          </a:p>
          <a:p>
            <a:r>
              <a:rPr sz="1650"/>
              <a:t>日志查询与筛选</a:t>
            </a:r>
          </a:p>
          <a:p>
            <a:r>
              <a:rPr sz="1650"/>
              <a:t>https://support.huaweicloud.com/usermanual-cfw/cfw_01_0139.html</a:t>
            </a:r>
          </a:p>
          <a:p>
            <a:r>
              <a:rPr sz="1650"/>
              <a:t>常见故障排查索引</a:t>
            </a:r>
          </a:p>
          <a:p>
            <a:r>
              <a:rPr sz="1650"/>
              <a:t>https://support.huaweicloud.com/intl/zh-cn/cfw_faq/cfw_01_0020.html</a:t>
            </a:r>
          </a:p>
          <a:p>
            <a:endParaRPr sz="1650"/>
          </a:p>
          <a:p>
            <a:r>
              <a:rPr sz="1650"/>
              <a:t>补充原有参考资料：</a:t>
            </a:r>
          </a:p>
          <a:p>
            <a:r>
              <a:rPr sz="1650"/>
              <a:t>参考资料：</a:t>
            </a:r>
          </a:p>
          <a:p>
            <a:r>
              <a:rPr sz="1650"/>
              <a:t>VPC 网络规划建议</a:t>
            </a:r>
          </a:p>
          <a:p>
            <a:r>
              <a:rPr sz="1650"/>
              <a:t>https://support.huaweicloud.com/usermanual-vpc/vpc_0001.html</a:t>
            </a:r>
          </a:p>
          <a:p>
            <a:r>
              <a:rPr sz="1650"/>
              <a:t>VPC 网络规划与隔离</a:t>
            </a:r>
          </a:p>
          <a:p>
            <a:r>
              <a:rPr sz="1650"/>
              <a:t>https://support.huaweicloud.com/intl/zh-cn/helppanel-vpc/vpc_help_0002.html</a:t>
            </a:r>
          </a:p>
          <a:p>
            <a:r>
              <a:rPr sz="1650"/>
              <a:t>VPC 访问控制概述</a:t>
            </a:r>
          </a:p>
          <a:p>
            <a:r>
              <a:rPr sz="1650"/>
              <a:t>https://support.huaweicloud.com/intl/zh-cn/usermanual-vpc/zh-cn_topic_0052003963.html</a:t>
            </a:r>
          </a:p>
          <a:p>
            <a:r>
              <a:rPr sz="1650"/>
              <a:t>VPC 边界防火墙概述</a:t>
            </a:r>
          </a:p>
          <a:p>
            <a:r>
              <a:rPr sz="1650"/>
              <a:t>https://support.huaweicloud.com/usermanual-cfw/cfw_01_0185.html</a:t>
            </a:r>
          </a:p>
          <a:p>
            <a:r>
              <a:rPr sz="1650"/>
              <a:t>ER 引流配置（新版）</a:t>
            </a:r>
          </a:p>
          <a:p>
            <a:r>
              <a:rPr sz="1650"/>
              <a:t>https://support.huaweicloud.com/usermanual-cfw/cfw_01_0269.html</a:t>
            </a:r>
          </a:p>
          <a:p>
            <a:r>
              <a:rPr sz="1650"/>
              <a:t>开启防护与流量验证</a:t>
            </a:r>
          </a:p>
          <a:p>
            <a:r>
              <a:rPr sz="1650"/>
              <a:t>https://support.huaweicloud.com/usermanual-cfw/cfw_01_0133.html</a:t>
            </a:r>
          </a:p>
          <a:p>
            <a:r>
              <a:rPr sz="1650"/>
              <a:t>VPC 边界防护规则</a:t>
            </a:r>
          </a:p>
          <a:p>
            <a:r>
              <a:rPr sz="1650"/>
              <a:t>https://support.huaweicloud.com/intl/zh-cn/usermanual-cfw/cfw_01_0297.html</a:t>
            </a:r>
          </a:p>
          <a:p>
            <a:r>
              <a:rPr sz="1650"/>
              <a:t>访问控制策略概述</a:t>
            </a:r>
          </a:p>
          <a:p>
            <a:r>
              <a:rPr sz="1650"/>
              <a:t>https://support.huaweicloud.com/intl/zh-cn/usermanual-cfw/cfw_01_0262.html</a:t>
            </a:r>
          </a:p>
          <a:p>
            <a:r>
              <a:rPr sz="1650"/>
              <a:t>日志查询</a:t>
            </a:r>
          </a:p>
          <a:p>
            <a:r>
              <a:rPr sz="1650"/>
              <a:t>https://support.huaweicloud.com/usermanual-cfw/cfw_01_0139.html</a:t>
            </a:r>
          </a:p>
          <a:p>
            <a:r>
              <a:rPr sz="1650"/>
              <a:t>流量统计与会话上报</a:t>
            </a:r>
          </a:p>
          <a:p>
            <a:r>
              <a:rPr sz="1650"/>
              <a:t>https://support.huaweicloud.com/cfw_faq/cfw_01_0027.html</a:t>
            </a:r>
          </a:p>
          <a:p>
            <a:r>
              <a:rPr sz="1650"/>
              <a:t>配置防护策略后业务无法访问</a:t>
            </a:r>
          </a:p>
          <a:p>
            <a:r>
              <a:rPr sz="1650"/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6142095-831A-41B3-822F-507D862C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600587A-6DDE-4532-9D68-08D296859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A2ECF2-4630-48A2-B239-CEEC2B9D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F7077C1-CC6C-4E5D-91FE-83435ED9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EBD8281-1A1A-49C3-9E68-9BFC49FF1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8D62EE7-25CC-4E8E-96F0-4F9826A3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1D44483-8462-4F4B-9576-B3A7F7C15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77FDC19-43B2-4ACC-91DF-B0FCD1CC7C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03D87B-0B0D-44F4-BBEC-2792AB3EE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A43A546-805A-45F0-89FA-12E9D68E7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huaweicloud.com/productdesc-vpcep/vpcep_01_0005.html" TargetMode="External"/><Relationship Id="rId13" Type="http://schemas.openxmlformats.org/officeDocument/2006/relationships/hyperlink" Target="https://support.huaweicloud.com/usermanual-swr/swr_01_1000.html" TargetMode="External"/><Relationship Id="rId18" Type="http://schemas.openxmlformats.org/officeDocument/2006/relationships/hyperlink" Target="https://support.huaweicloud.com/intl/zh-cn/usermanual-cfw/cfw_01_0309.html" TargetMode="External"/><Relationship Id="rId3" Type="http://schemas.openxmlformats.org/officeDocument/2006/relationships/hyperlink" Target="https://support.huaweicloud.com/usermanual-vpc/vpc_0001.html" TargetMode="External"/><Relationship Id="rId7" Type="http://schemas.openxmlformats.org/officeDocument/2006/relationships/hyperlink" Target="https://support.huaweicloud.com/intl/zh-cn/usermanual-natgateway/nat_privatenat_0001.html" TargetMode="External"/><Relationship Id="rId12" Type="http://schemas.openxmlformats.org/officeDocument/2006/relationships/hyperlink" Target="https://support.huaweicloud.com/usermanual2-swr/swr_02_0411.html" TargetMode="External"/><Relationship Id="rId17" Type="http://schemas.openxmlformats.org/officeDocument/2006/relationships/hyperlink" Target="https://support.huaweicloud.com/intl/zh-cn/usermanual-cfw/cfw_01_0262.html" TargetMode="External"/><Relationship Id="rId2" Type="http://schemas.openxmlformats.org/officeDocument/2006/relationships/notesSlide" Target="../notesSlides/notesSlide84.xml"/><Relationship Id="rId16" Type="http://schemas.openxmlformats.org/officeDocument/2006/relationships/hyperlink" Target="https://support.huaweicloud.com/usermanual-cfw/cfw_01_0269.html" TargetMode="External"/><Relationship Id="rId20" Type="http://schemas.openxmlformats.org/officeDocument/2006/relationships/hyperlink" Target="https://support.huaweicloud.com/intl/zh-cn/cfw_faq/cfw_01_0020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upport.huaweicloud.com/usermanual-cc/cc_03_1010.html" TargetMode="External"/><Relationship Id="rId11" Type="http://schemas.openxmlformats.org/officeDocument/2006/relationships/hyperlink" Target="https://support.huaweicloud.com/intl/zh-cn/bestpractice-swr/swr_bestpractice_0007.html" TargetMode="External"/><Relationship Id="rId5" Type="http://schemas.openxmlformats.org/officeDocument/2006/relationships/hyperlink" Target="https://support.huaweicloud.com/usermanual-er/er_01_0095.html" TargetMode="External"/><Relationship Id="rId15" Type="http://schemas.openxmlformats.org/officeDocument/2006/relationships/hyperlink" Target="https://support.huaweicloud.com/usermanual-cfw/cfw_01_0185.html" TargetMode="External"/><Relationship Id="rId10" Type="http://schemas.openxmlformats.org/officeDocument/2006/relationships/hyperlink" Target="https://support.huaweicloud.com/perms-cfg-obs/obs_40_0041.html" TargetMode="External"/><Relationship Id="rId19" Type="http://schemas.openxmlformats.org/officeDocument/2006/relationships/hyperlink" Target="https://support.huaweicloud.com/usermanual-cfw/cfw_01_0139.html" TargetMode="External"/><Relationship Id="rId4" Type="http://schemas.openxmlformats.org/officeDocument/2006/relationships/hyperlink" Target="https://support.huaweicloud.com/usermanual-vpc/vpc_peering_0009.html" TargetMode="External"/><Relationship Id="rId9" Type="http://schemas.openxmlformats.org/officeDocument/2006/relationships/hyperlink" Target="https://support.huaweicloud.com/usermanual-obs/obs_03_0602.html" TargetMode="External"/><Relationship Id="rId14" Type="http://schemas.openxmlformats.org/officeDocument/2006/relationships/hyperlink" Target="https://support.huaweicloud.com/usermanual-cce/cce_10_109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封面-路径-1">
            <a:extLst>
              <a:ext uri="{FF2B5EF4-FFF2-40B4-BE49-F238E27FC236}">
                <a16:creationId xmlns:a16="http://schemas.microsoft.com/office/drawing/2014/main" id="{8C0C743A-C015-4E4D-ADB6-C11717529189}"/>
              </a:ext>
            </a:extLst>
          </p:cNvPr>
          <p:cNvCxnSpPr/>
          <p:nvPr/>
        </p:nvCxnSpPr>
        <p:spPr>
          <a:xfrm>
            <a:off x="6534150" y="2590800"/>
            <a:ext cx="0" cy="647700"/>
          </a:xfrm>
          <a:prstGeom prst="straightConnector1">
            <a:avLst/>
          </a:prstGeom>
          <a:ln w="13811">
            <a:solidFill>
              <a:srgbClr val="BCCCE6"/>
            </a:solidFill>
          </a:ln>
        </p:spPr>
      </p:cxnSp>
      <p:cxnSp>
        <p:nvCxnSpPr>
          <p:cNvPr id="2" name="封面-路径-2">
            <a:extLst>
              <a:ext uri="{FF2B5EF4-FFF2-40B4-BE49-F238E27FC236}">
                <a16:creationId xmlns:a16="http://schemas.microsoft.com/office/drawing/2014/main" id="{66401377-CBDB-4618-B3B8-DB6B2046BCEA}"/>
              </a:ext>
            </a:extLst>
          </p:cNvPr>
          <p:cNvCxnSpPr/>
          <p:nvPr/>
        </p:nvCxnSpPr>
        <p:spPr>
          <a:xfrm>
            <a:off x="8629650" y="2590800"/>
            <a:ext cx="0" cy="647700"/>
          </a:xfrm>
          <a:prstGeom prst="straightConnector1">
            <a:avLst/>
          </a:prstGeom>
          <a:ln w="13811">
            <a:solidFill>
              <a:srgbClr val="BCCCE6"/>
            </a:solidFill>
          </a:ln>
        </p:spPr>
      </p:cxnSp>
      <p:cxnSp>
        <p:nvCxnSpPr>
          <p:cNvPr id="3" name="封面-路径-3">
            <a:extLst>
              <a:ext uri="{FF2B5EF4-FFF2-40B4-BE49-F238E27FC236}">
                <a16:creationId xmlns:a16="http://schemas.microsoft.com/office/drawing/2014/main" id="{ABA8339A-1E34-4A9E-9AA9-E93C10B757E4}"/>
              </a:ext>
            </a:extLst>
          </p:cNvPr>
          <p:cNvCxnSpPr/>
          <p:nvPr/>
        </p:nvCxnSpPr>
        <p:spPr>
          <a:xfrm>
            <a:off x="10725150" y="2590800"/>
            <a:ext cx="0" cy="647700"/>
          </a:xfrm>
          <a:prstGeom prst="straightConnector1">
            <a:avLst/>
          </a:prstGeom>
          <a:ln w="13811">
            <a:solidFill>
              <a:srgbClr val="BCCCE6"/>
            </a:solidFill>
          </a:ln>
        </p:spPr>
      </p:cxnSp>
      <p:sp>
        <p:nvSpPr>
          <p:cNvPr id="4" name="封面-VPC 业务网络矩形模块玻璃后沿-4">
            <a:extLst>
              <a:ext uri="{FF2B5EF4-FFF2-40B4-BE49-F238E27FC236}">
                <a16:creationId xmlns:a16="http://schemas.microsoft.com/office/drawing/2014/main" id="{DC4D6AEE-9A4B-4D55-B03E-2F386E4B0088}"/>
              </a:ext>
            </a:extLst>
          </p:cNvPr>
          <p:cNvSpPr>
            <a:spLocks noGrp="1"/>
          </p:cNvSpPr>
          <p:nvPr/>
        </p:nvSpPr>
        <p:spPr>
          <a:xfrm>
            <a:off x="5695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" name="封面-VPC 业务网络矩形模块-5">
            <a:extLst>
              <a:ext uri="{FF2B5EF4-FFF2-40B4-BE49-F238E27FC236}">
                <a16:creationId xmlns:a16="http://schemas.microsoft.com/office/drawing/2014/main" id="{1C5BD877-A81C-4E36-9839-8B9FF2FF3228}"/>
              </a:ext>
            </a:extLst>
          </p:cNvPr>
          <p:cNvSpPr>
            <a:spLocks noGrp="1"/>
          </p:cNvSpPr>
          <p:nvPr/>
        </p:nvSpPr>
        <p:spPr>
          <a:xfrm>
            <a:off x="5695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封面-VPC 业务网络矩形模块玻璃内沿-6">
            <a:extLst>
              <a:ext uri="{FF2B5EF4-FFF2-40B4-BE49-F238E27FC236}">
                <a16:creationId xmlns:a16="http://schemas.microsoft.com/office/drawing/2014/main" id="{0186E84E-760A-458B-ABE6-4B7E40CF949B}"/>
              </a:ext>
            </a:extLst>
          </p:cNvPr>
          <p:cNvSpPr>
            <a:spLocks noGrp="1"/>
          </p:cNvSpPr>
          <p:nvPr/>
        </p:nvSpPr>
        <p:spPr>
          <a:xfrm>
            <a:off x="5708809" y="1613059"/>
            <a:ext cx="1650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封面-VPC 业务网络矩形模块透光反射面-7">
            <a:extLst>
              <a:ext uri="{FF2B5EF4-FFF2-40B4-BE49-F238E27FC236}">
                <a16:creationId xmlns:a16="http://schemas.microsoft.com/office/drawing/2014/main" id="{FF7ED93B-E74F-4F47-8DD7-9DE13309CB16}"/>
              </a:ext>
            </a:extLst>
          </p:cNvPr>
          <p:cNvSpPr>
            <a:spLocks noGrp="1"/>
          </p:cNvSpPr>
          <p:nvPr/>
        </p:nvSpPr>
        <p:spPr>
          <a:xfrm>
            <a:off x="5715000" y="1619250"/>
            <a:ext cx="1638300" cy="952500"/>
          </a:xfrm>
          <a:custGeom>
            <a:avLst/>
            <a:gdLst/>
            <a:ahLst/>
            <a:cxnLst/>
            <a:rect l="0" t="0" r="0" b="0"/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封面-VPC 业务网络矩形模块边缘高光-8">
            <a:extLst>
              <a:ext uri="{FF2B5EF4-FFF2-40B4-BE49-F238E27FC236}">
                <a16:creationId xmlns:a16="http://schemas.microsoft.com/office/drawing/2014/main" id="{26D6FF45-4E15-465D-8C91-EA5A34A9B9AB}"/>
              </a:ext>
            </a:extLst>
          </p:cNvPr>
          <p:cNvSpPr>
            <a:spLocks noGrp="1"/>
          </p:cNvSpPr>
          <p:nvPr/>
        </p:nvSpPr>
        <p:spPr>
          <a:xfrm>
            <a:off x="5695950" y="1600200"/>
            <a:ext cx="1676400" cy="990600"/>
          </a:xfrm>
          <a:custGeom>
            <a:avLst/>
            <a:gdLst/>
            <a:ahLst/>
            <a:cxnLst/>
            <a:rect l="0" t="0" r="0" b="0"/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封面-VPC 统一线性云图标-9">
            <a:extLst>
              <a:ext uri="{FF2B5EF4-FFF2-40B4-BE49-F238E27FC236}">
                <a16:creationId xmlns:a16="http://schemas.microsoft.com/office/drawing/2014/main" id="{32BDFBEC-6A53-4722-AA4C-1312DD3D8AB6}"/>
              </a:ext>
            </a:extLst>
          </p:cNvPr>
          <p:cNvSpPr>
            <a:spLocks noGrp="1"/>
          </p:cNvSpPr>
          <p:nvPr/>
        </p:nvSpPr>
        <p:spPr>
          <a:xfrm>
            <a:off x="5848350" y="18383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封面-文字-VPC-10">
            <a:extLst>
              <a:ext uri="{FF2B5EF4-FFF2-40B4-BE49-F238E27FC236}">
                <a16:creationId xmlns:a16="http://schemas.microsoft.com/office/drawing/2014/main" id="{22CB7380-2680-4977-B1EA-CA25796AEE5E}"/>
              </a:ext>
            </a:extLst>
          </p:cNvPr>
          <p:cNvSpPr>
            <a:spLocks noGrp="1"/>
          </p:cNvSpPr>
          <p:nvPr/>
        </p:nvSpPr>
        <p:spPr>
          <a:xfrm>
            <a:off x="6524625" y="18288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11" name="封面-文字-业务网络-11">
            <a:extLst>
              <a:ext uri="{FF2B5EF4-FFF2-40B4-BE49-F238E27FC236}">
                <a16:creationId xmlns:a16="http://schemas.microsoft.com/office/drawing/2014/main" id="{6A6185A6-9D23-4854-8699-15909E81A865}"/>
              </a:ext>
            </a:extLst>
          </p:cNvPr>
          <p:cNvSpPr>
            <a:spLocks noGrp="1"/>
          </p:cNvSpPr>
          <p:nvPr/>
        </p:nvSpPr>
        <p:spPr>
          <a:xfrm>
            <a:off x="6524625" y="21717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业务网络</a:t>
            </a:r>
          </a:p>
        </p:txBody>
      </p:sp>
      <p:sp>
        <p:nvSpPr>
          <p:cNvPr id="12" name="封面-VPC 应用网络矩形模块玻璃后沿-12">
            <a:extLst>
              <a:ext uri="{FF2B5EF4-FFF2-40B4-BE49-F238E27FC236}">
                <a16:creationId xmlns:a16="http://schemas.microsoft.com/office/drawing/2014/main" id="{748A0129-2EC7-4AD6-88E3-304C3F0F1C2A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封面-VPC 应用网络矩形模块-13">
            <a:extLst>
              <a:ext uri="{FF2B5EF4-FFF2-40B4-BE49-F238E27FC236}">
                <a16:creationId xmlns:a16="http://schemas.microsoft.com/office/drawing/2014/main" id="{EBC63E3C-F142-4659-ADE4-059B3E2B79C6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封面-VPC 应用网络矩形模块玻璃内沿-14">
            <a:extLst>
              <a:ext uri="{FF2B5EF4-FFF2-40B4-BE49-F238E27FC236}">
                <a16:creationId xmlns:a16="http://schemas.microsoft.com/office/drawing/2014/main" id="{B69A3985-3A97-4AD2-8B66-2E9A1254FC5C}"/>
              </a:ext>
            </a:extLst>
          </p:cNvPr>
          <p:cNvSpPr>
            <a:spLocks noGrp="1"/>
          </p:cNvSpPr>
          <p:nvPr/>
        </p:nvSpPr>
        <p:spPr>
          <a:xfrm>
            <a:off x="7804309" y="1613059"/>
            <a:ext cx="1650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封面-VPC 应用网络矩形模块透光反射面-15">
            <a:extLst>
              <a:ext uri="{FF2B5EF4-FFF2-40B4-BE49-F238E27FC236}">
                <a16:creationId xmlns:a16="http://schemas.microsoft.com/office/drawing/2014/main" id="{25D616D8-BF0B-41ED-98CE-8120F2F0793E}"/>
              </a:ext>
            </a:extLst>
          </p:cNvPr>
          <p:cNvSpPr>
            <a:spLocks noGrp="1"/>
          </p:cNvSpPr>
          <p:nvPr/>
        </p:nvSpPr>
        <p:spPr>
          <a:xfrm>
            <a:off x="7810500" y="1619250"/>
            <a:ext cx="1638300" cy="952500"/>
          </a:xfrm>
          <a:custGeom>
            <a:avLst/>
            <a:gdLst/>
            <a:ahLst/>
            <a:cxnLst/>
            <a:rect l="0" t="0" r="0" b="0"/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封面-VPC 应用网络矩形模块边缘高光-16">
            <a:extLst>
              <a:ext uri="{FF2B5EF4-FFF2-40B4-BE49-F238E27FC236}">
                <a16:creationId xmlns:a16="http://schemas.microsoft.com/office/drawing/2014/main" id="{AB0E7D27-A86F-4C7F-A8EB-890F77A6E9DF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1676400" cy="990600"/>
          </a:xfrm>
          <a:custGeom>
            <a:avLst/>
            <a:gdLst/>
            <a:ahLst/>
            <a:cxnLst/>
            <a:rect l="0" t="0" r="0" b="0"/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封面-VPC 统一线性云图标-17">
            <a:extLst>
              <a:ext uri="{FF2B5EF4-FFF2-40B4-BE49-F238E27FC236}">
                <a16:creationId xmlns:a16="http://schemas.microsoft.com/office/drawing/2014/main" id="{491576EF-9C9C-4C7B-A4F1-8457A7590C8D}"/>
              </a:ext>
            </a:extLst>
          </p:cNvPr>
          <p:cNvSpPr>
            <a:spLocks noGrp="1"/>
          </p:cNvSpPr>
          <p:nvPr/>
        </p:nvSpPr>
        <p:spPr>
          <a:xfrm>
            <a:off x="7943850" y="18383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封面-文字-VPC-18">
            <a:extLst>
              <a:ext uri="{FF2B5EF4-FFF2-40B4-BE49-F238E27FC236}">
                <a16:creationId xmlns:a16="http://schemas.microsoft.com/office/drawing/2014/main" id="{1ED1A9F5-F1B8-406F-AC1D-193C2AE682AD}"/>
              </a:ext>
            </a:extLst>
          </p:cNvPr>
          <p:cNvSpPr>
            <a:spLocks noGrp="1"/>
          </p:cNvSpPr>
          <p:nvPr/>
        </p:nvSpPr>
        <p:spPr>
          <a:xfrm>
            <a:off x="8620125" y="18288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19" name="封面-文字-应用网络-19">
            <a:extLst>
              <a:ext uri="{FF2B5EF4-FFF2-40B4-BE49-F238E27FC236}">
                <a16:creationId xmlns:a16="http://schemas.microsoft.com/office/drawing/2014/main" id="{F3C1B86D-10DF-4A6A-B1DB-89DE69C6F98D}"/>
              </a:ext>
            </a:extLst>
          </p:cNvPr>
          <p:cNvSpPr>
            <a:spLocks noGrp="1"/>
          </p:cNvSpPr>
          <p:nvPr/>
        </p:nvSpPr>
        <p:spPr>
          <a:xfrm>
            <a:off x="8620125" y="21717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应用网络</a:t>
            </a:r>
          </a:p>
        </p:txBody>
      </p:sp>
      <p:sp>
        <p:nvSpPr>
          <p:cNvPr id="20" name="封面-VPC 数据网络矩形模块玻璃后沿-20">
            <a:extLst>
              <a:ext uri="{FF2B5EF4-FFF2-40B4-BE49-F238E27FC236}">
                <a16:creationId xmlns:a16="http://schemas.microsoft.com/office/drawing/2014/main" id="{6314C410-1C5A-4900-B810-0139E913AC02}"/>
              </a:ext>
            </a:extLst>
          </p:cNvPr>
          <p:cNvSpPr>
            <a:spLocks noGrp="1"/>
          </p:cNvSpPr>
          <p:nvPr/>
        </p:nvSpPr>
        <p:spPr>
          <a:xfrm>
            <a:off x="9886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封面-VPC 数据网络矩形模块-21">
            <a:extLst>
              <a:ext uri="{FF2B5EF4-FFF2-40B4-BE49-F238E27FC236}">
                <a16:creationId xmlns:a16="http://schemas.microsoft.com/office/drawing/2014/main" id="{50BC7C67-26C4-417B-B833-0107D58D165B}"/>
              </a:ext>
            </a:extLst>
          </p:cNvPr>
          <p:cNvSpPr>
            <a:spLocks noGrp="1"/>
          </p:cNvSpPr>
          <p:nvPr/>
        </p:nvSpPr>
        <p:spPr>
          <a:xfrm>
            <a:off x="9886950" y="1600200"/>
            <a:ext cx="1676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封面-VPC 数据网络矩形模块玻璃内沿-22">
            <a:extLst>
              <a:ext uri="{FF2B5EF4-FFF2-40B4-BE49-F238E27FC236}">
                <a16:creationId xmlns:a16="http://schemas.microsoft.com/office/drawing/2014/main" id="{7E1A3F60-F53F-45B8-9A90-E750744F4F0F}"/>
              </a:ext>
            </a:extLst>
          </p:cNvPr>
          <p:cNvSpPr>
            <a:spLocks noGrp="1"/>
          </p:cNvSpPr>
          <p:nvPr/>
        </p:nvSpPr>
        <p:spPr>
          <a:xfrm>
            <a:off x="9899809" y="1613059"/>
            <a:ext cx="1650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封面-VPC 数据网络矩形模块透光反射面-23">
            <a:extLst>
              <a:ext uri="{FF2B5EF4-FFF2-40B4-BE49-F238E27FC236}">
                <a16:creationId xmlns:a16="http://schemas.microsoft.com/office/drawing/2014/main" id="{BF1CB52A-A94D-4812-B4FE-0945BDDD1412}"/>
              </a:ext>
            </a:extLst>
          </p:cNvPr>
          <p:cNvSpPr>
            <a:spLocks noGrp="1"/>
          </p:cNvSpPr>
          <p:nvPr/>
        </p:nvSpPr>
        <p:spPr>
          <a:xfrm>
            <a:off x="9906000" y="1619250"/>
            <a:ext cx="1638300" cy="952500"/>
          </a:xfrm>
          <a:custGeom>
            <a:avLst/>
            <a:gdLst/>
            <a:ahLst/>
            <a:cxnLst/>
            <a:rect l="0" t="0" r="0" b="0"/>
            <a:pathLst>
              <a:path w="1638300" h="952500">
                <a:moveTo>
                  <a:pt x="76200" y="0"/>
                </a:moveTo>
                <a:lnTo>
                  <a:pt x="1048512" y="0"/>
                </a:lnTo>
                <a:lnTo>
                  <a:pt x="42595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封面-VPC 数据网络矩形模块边缘高光-24">
            <a:extLst>
              <a:ext uri="{FF2B5EF4-FFF2-40B4-BE49-F238E27FC236}">
                <a16:creationId xmlns:a16="http://schemas.microsoft.com/office/drawing/2014/main" id="{559C7955-8790-4726-A281-66F829DC4388}"/>
              </a:ext>
            </a:extLst>
          </p:cNvPr>
          <p:cNvSpPr>
            <a:spLocks noGrp="1"/>
          </p:cNvSpPr>
          <p:nvPr/>
        </p:nvSpPr>
        <p:spPr>
          <a:xfrm>
            <a:off x="9886950" y="1600200"/>
            <a:ext cx="1676400" cy="990600"/>
          </a:xfrm>
          <a:custGeom>
            <a:avLst/>
            <a:gdLst/>
            <a:ahLst/>
            <a:cxnLst/>
            <a:rect l="0" t="0" r="0" b="0"/>
            <a:pathLst>
              <a:path w="1676400" h="990600">
                <a:moveTo>
                  <a:pt x="95250" y="9525"/>
                </a:moveTo>
                <a:lnTo>
                  <a:pt x="1581150" y="9525"/>
                </a:lnTo>
                <a:cubicBezTo>
                  <a:pt x="1628775" y="9525"/>
                  <a:pt x="1666875" y="47625"/>
                  <a:pt x="1666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封面-VPC 统一线性云图标-25">
            <a:extLst>
              <a:ext uri="{FF2B5EF4-FFF2-40B4-BE49-F238E27FC236}">
                <a16:creationId xmlns:a16="http://schemas.microsoft.com/office/drawing/2014/main" id="{3C18ABF3-2E4C-42B4-A82D-8D651B7EBCFE}"/>
              </a:ext>
            </a:extLst>
          </p:cNvPr>
          <p:cNvSpPr>
            <a:spLocks noGrp="1"/>
          </p:cNvSpPr>
          <p:nvPr/>
        </p:nvSpPr>
        <p:spPr>
          <a:xfrm>
            <a:off x="10039350" y="18383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封面-文字-VPC-26">
            <a:extLst>
              <a:ext uri="{FF2B5EF4-FFF2-40B4-BE49-F238E27FC236}">
                <a16:creationId xmlns:a16="http://schemas.microsoft.com/office/drawing/2014/main" id="{A15C8755-03E2-4C10-975A-D9862C1AE03C}"/>
              </a:ext>
            </a:extLst>
          </p:cNvPr>
          <p:cNvSpPr>
            <a:spLocks noGrp="1"/>
          </p:cNvSpPr>
          <p:nvPr/>
        </p:nvSpPr>
        <p:spPr>
          <a:xfrm>
            <a:off x="10715625" y="18288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27" name="封面-文字-数据网络-27">
            <a:extLst>
              <a:ext uri="{FF2B5EF4-FFF2-40B4-BE49-F238E27FC236}">
                <a16:creationId xmlns:a16="http://schemas.microsoft.com/office/drawing/2014/main" id="{E40A32DE-A6D4-42FD-9A05-3FFCEC06B23F}"/>
              </a:ext>
            </a:extLst>
          </p:cNvPr>
          <p:cNvSpPr>
            <a:spLocks noGrp="1"/>
          </p:cNvSpPr>
          <p:nvPr/>
        </p:nvSpPr>
        <p:spPr>
          <a:xfrm>
            <a:off x="10715625" y="21717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数据网络</a:t>
            </a:r>
          </a:p>
        </p:txBody>
      </p:sp>
      <p:sp>
        <p:nvSpPr>
          <p:cNvPr id="28" name="封面-ER 共享路由域玻璃后沿-28">
            <a:extLst>
              <a:ext uri="{FF2B5EF4-FFF2-40B4-BE49-F238E27FC236}">
                <a16:creationId xmlns:a16="http://schemas.microsoft.com/office/drawing/2014/main" id="{F3C9D465-17B0-4B0D-878B-91001BCE8452}"/>
              </a:ext>
            </a:extLst>
          </p:cNvPr>
          <p:cNvSpPr>
            <a:spLocks noGrp="1"/>
          </p:cNvSpPr>
          <p:nvPr/>
        </p:nvSpPr>
        <p:spPr>
          <a:xfrm>
            <a:off x="5695950" y="3238500"/>
            <a:ext cx="586740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封面-ER 共享路由域-29">
            <a:extLst>
              <a:ext uri="{FF2B5EF4-FFF2-40B4-BE49-F238E27FC236}">
                <a16:creationId xmlns:a16="http://schemas.microsoft.com/office/drawing/2014/main" id="{6BE95C4A-0154-4779-A0BA-D63BF9ADC082}"/>
              </a:ext>
            </a:extLst>
          </p:cNvPr>
          <p:cNvSpPr>
            <a:spLocks noGrp="1"/>
          </p:cNvSpPr>
          <p:nvPr/>
        </p:nvSpPr>
        <p:spPr>
          <a:xfrm>
            <a:off x="5695950" y="3238500"/>
            <a:ext cx="586740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封面-ER 共享路由域玻璃内沿-30">
            <a:extLst>
              <a:ext uri="{FF2B5EF4-FFF2-40B4-BE49-F238E27FC236}">
                <a16:creationId xmlns:a16="http://schemas.microsoft.com/office/drawing/2014/main" id="{9DAF9D70-C3D3-4592-A08E-7F68B9DBB104}"/>
              </a:ext>
            </a:extLst>
          </p:cNvPr>
          <p:cNvSpPr>
            <a:spLocks noGrp="1"/>
          </p:cNvSpPr>
          <p:nvPr/>
        </p:nvSpPr>
        <p:spPr>
          <a:xfrm>
            <a:off x="5708809" y="3251359"/>
            <a:ext cx="5841683" cy="1307783"/>
          </a:xfrm>
          <a:prstGeom prst="roundRect">
            <a:avLst>
              <a:gd name="adj" fmla="val 56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封面-ER 共享路由域透光反射面-31">
            <a:extLst>
              <a:ext uri="{FF2B5EF4-FFF2-40B4-BE49-F238E27FC236}">
                <a16:creationId xmlns:a16="http://schemas.microsoft.com/office/drawing/2014/main" id="{AE31A210-4B9A-4898-8ACA-A957AC22D167}"/>
              </a:ext>
            </a:extLst>
          </p:cNvPr>
          <p:cNvSpPr>
            <a:spLocks noGrp="1"/>
          </p:cNvSpPr>
          <p:nvPr/>
        </p:nvSpPr>
        <p:spPr>
          <a:xfrm>
            <a:off x="5715000" y="3257550"/>
            <a:ext cx="5829300" cy="1295400"/>
          </a:xfrm>
          <a:custGeom>
            <a:avLst/>
            <a:gdLst/>
            <a:ahLst/>
            <a:cxnLst/>
            <a:rect l="0" t="0" r="0" b="0"/>
            <a:pathLst>
              <a:path w="5829300" h="1295400">
                <a:moveTo>
                  <a:pt x="76200" y="0"/>
                </a:moveTo>
                <a:lnTo>
                  <a:pt x="3730752" y="0"/>
                </a:lnTo>
                <a:lnTo>
                  <a:pt x="1515618" y="1295400"/>
                </a:lnTo>
                <a:lnTo>
                  <a:pt x="76200" y="1295400"/>
                </a:lnTo>
                <a:cubicBezTo>
                  <a:pt x="28575" y="1295400"/>
                  <a:pt x="0" y="1266825"/>
                  <a:pt x="0" y="1219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封面-ER 共享路由域边缘高光-32">
            <a:extLst>
              <a:ext uri="{FF2B5EF4-FFF2-40B4-BE49-F238E27FC236}">
                <a16:creationId xmlns:a16="http://schemas.microsoft.com/office/drawing/2014/main" id="{8C16221F-0A3D-4E74-BABA-05936B143D6C}"/>
              </a:ext>
            </a:extLst>
          </p:cNvPr>
          <p:cNvSpPr>
            <a:spLocks noGrp="1"/>
          </p:cNvSpPr>
          <p:nvPr/>
        </p:nvSpPr>
        <p:spPr>
          <a:xfrm>
            <a:off x="5695950" y="3238500"/>
            <a:ext cx="5867400" cy="1333500"/>
          </a:xfrm>
          <a:custGeom>
            <a:avLst/>
            <a:gdLst/>
            <a:ahLst/>
            <a:cxnLst/>
            <a:rect l="0" t="0" r="0" b="0"/>
            <a:pathLst>
              <a:path w="5867400" h="1333500">
                <a:moveTo>
                  <a:pt x="95250" y="9525"/>
                </a:moveTo>
                <a:lnTo>
                  <a:pt x="5772150" y="9525"/>
                </a:lnTo>
                <a:cubicBezTo>
                  <a:pt x="5819775" y="9525"/>
                  <a:pt x="5857875" y="47625"/>
                  <a:pt x="5857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封面-ER 统一线性路由器外形-33">
            <a:extLst>
              <a:ext uri="{FF2B5EF4-FFF2-40B4-BE49-F238E27FC236}">
                <a16:creationId xmlns:a16="http://schemas.microsoft.com/office/drawing/2014/main" id="{427BB7ED-18BF-4F5A-BD32-7351ED043531}"/>
              </a:ext>
            </a:extLst>
          </p:cNvPr>
          <p:cNvSpPr>
            <a:spLocks noGrp="1"/>
          </p:cNvSpPr>
          <p:nvPr/>
        </p:nvSpPr>
        <p:spPr>
          <a:xfrm>
            <a:off x="5848350" y="330517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封面-ER 统一线性四向路由-34">
            <a:extLst>
              <a:ext uri="{FF2B5EF4-FFF2-40B4-BE49-F238E27FC236}">
                <a16:creationId xmlns:a16="http://schemas.microsoft.com/office/drawing/2014/main" id="{178B832E-BEB9-4C9E-A9EF-273E0977AC0C}"/>
              </a:ext>
            </a:extLst>
          </p:cNvPr>
          <p:cNvSpPr>
            <a:spLocks noGrp="1"/>
          </p:cNvSpPr>
          <p:nvPr/>
        </p:nvSpPr>
        <p:spPr>
          <a:xfrm>
            <a:off x="5848350" y="330517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封面-文字-ER-35">
            <a:extLst>
              <a:ext uri="{FF2B5EF4-FFF2-40B4-BE49-F238E27FC236}">
                <a16:creationId xmlns:a16="http://schemas.microsoft.com/office/drawing/2014/main" id="{3AE52D8F-EBA4-4DE3-972B-B6A4D0C37D4D}"/>
              </a:ext>
            </a:extLst>
          </p:cNvPr>
          <p:cNvSpPr>
            <a:spLocks noGrp="1"/>
          </p:cNvSpPr>
          <p:nvPr/>
        </p:nvSpPr>
        <p:spPr>
          <a:xfrm>
            <a:off x="6524625" y="330517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36" name="封面-文字-企业路由器-36">
            <a:extLst>
              <a:ext uri="{FF2B5EF4-FFF2-40B4-BE49-F238E27FC236}">
                <a16:creationId xmlns:a16="http://schemas.microsoft.com/office/drawing/2014/main" id="{E049C029-8A8A-4C9B-8E1A-CE9D6A4CCBA0}"/>
              </a:ext>
            </a:extLst>
          </p:cNvPr>
          <p:cNvSpPr>
            <a:spLocks noGrp="1"/>
          </p:cNvSpPr>
          <p:nvPr/>
        </p:nvSpPr>
        <p:spPr>
          <a:xfrm>
            <a:off x="6524625" y="36480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企业路由器</a:t>
            </a:r>
          </a:p>
        </p:txBody>
      </p:sp>
      <p:sp>
        <p:nvSpPr>
          <p:cNvPr id="37" name="封面-文字-VPC 连接统一关联 er-RT1-37">
            <a:extLst>
              <a:ext uri="{FF2B5EF4-FFF2-40B4-BE49-F238E27FC236}">
                <a16:creationId xmlns:a16="http://schemas.microsoft.com/office/drawing/2014/main" id="{883432CE-55A1-43A5-89F4-86C8779721A1}"/>
              </a:ext>
            </a:extLst>
          </p:cNvPr>
          <p:cNvSpPr>
            <a:spLocks noGrp="1"/>
          </p:cNvSpPr>
          <p:nvPr/>
        </p:nvSpPr>
        <p:spPr>
          <a:xfrm>
            <a:off x="9001125" y="3467100"/>
            <a:ext cx="2333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连接统一关联 er-RT1</a:t>
            </a:r>
          </a:p>
        </p:txBody>
      </p:sp>
      <p:cxnSp>
        <p:nvCxnSpPr>
          <p:cNvPr id="38" name="封面-路径-38">
            <a:extLst>
              <a:ext uri="{FF2B5EF4-FFF2-40B4-BE49-F238E27FC236}">
                <a16:creationId xmlns:a16="http://schemas.microsoft.com/office/drawing/2014/main" id="{37730776-6EB1-4A8D-B48C-7DE467589357}"/>
              </a:ext>
            </a:extLst>
          </p:cNvPr>
          <p:cNvCxnSpPr/>
          <p:nvPr/>
        </p:nvCxnSpPr>
        <p:spPr>
          <a:xfrm>
            <a:off x="5695950" y="3867150"/>
            <a:ext cx="5867400" cy="0"/>
          </a:xfrm>
          <a:prstGeom prst="straightConnector1">
            <a:avLst/>
          </a:prstGeom>
          <a:ln w="8096">
            <a:solidFill>
              <a:srgbClr val="DDE6F4"/>
            </a:solidFill>
          </a:ln>
        </p:spPr>
      </p:cxnSp>
      <p:cxnSp>
        <p:nvCxnSpPr>
          <p:cNvPr id="39" name="封面-路径-39">
            <a:extLst>
              <a:ext uri="{FF2B5EF4-FFF2-40B4-BE49-F238E27FC236}">
                <a16:creationId xmlns:a16="http://schemas.microsoft.com/office/drawing/2014/main" id="{128B21D4-D12D-4A3B-851B-6FC70160A40B}"/>
              </a:ext>
            </a:extLst>
          </p:cNvPr>
          <p:cNvCxnSpPr/>
          <p:nvPr/>
        </p:nvCxnSpPr>
        <p:spPr>
          <a:xfrm>
            <a:off x="8629650" y="4019550"/>
            <a:ext cx="0" cy="419100"/>
          </a:xfrm>
          <a:prstGeom prst="straightConnector1">
            <a:avLst/>
          </a:prstGeom>
          <a:ln w="8096">
            <a:solidFill>
              <a:srgbClr val="DDE6F4"/>
            </a:solidFill>
          </a:ln>
        </p:spPr>
      </p:cxnSp>
      <p:sp>
        <p:nvSpPr>
          <p:cNvPr id="40" name="封面-文字-er-RT1-40">
            <a:extLst>
              <a:ext uri="{FF2B5EF4-FFF2-40B4-BE49-F238E27FC236}">
                <a16:creationId xmlns:a16="http://schemas.microsoft.com/office/drawing/2014/main" id="{CDEFDB44-C165-4F54-87AC-ECF01511A437}"/>
              </a:ext>
            </a:extLst>
          </p:cNvPr>
          <p:cNvSpPr>
            <a:spLocks noGrp="1"/>
          </p:cNvSpPr>
          <p:nvPr/>
        </p:nvSpPr>
        <p:spPr>
          <a:xfrm>
            <a:off x="5981700" y="4019550"/>
            <a:ext cx="245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41" name="封面-文字-引流至 CFW-41">
            <a:extLst>
              <a:ext uri="{FF2B5EF4-FFF2-40B4-BE49-F238E27FC236}">
                <a16:creationId xmlns:a16="http://schemas.microsoft.com/office/drawing/2014/main" id="{F6C4FB87-9238-4E0A-8607-889C52922588}"/>
              </a:ext>
            </a:extLst>
          </p:cNvPr>
          <p:cNvSpPr>
            <a:spLocks noGrp="1"/>
          </p:cNvSpPr>
          <p:nvPr/>
        </p:nvSpPr>
        <p:spPr>
          <a:xfrm>
            <a:off x="5981700" y="4314825"/>
            <a:ext cx="2457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引流至 CFW</a:t>
            </a:r>
          </a:p>
        </p:txBody>
      </p:sp>
      <p:sp>
        <p:nvSpPr>
          <p:cNvPr id="42" name="封面-文字-er-RT2-42">
            <a:extLst>
              <a:ext uri="{FF2B5EF4-FFF2-40B4-BE49-F238E27FC236}">
                <a16:creationId xmlns:a16="http://schemas.microsoft.com/office/drawing/2014/main" id="{45256A2F-54FB-4826-986E-8BDBE17FFD40}"/>
              </a:ext>
            </a:extLst>
          </p:cNvPr>
          <p:cNvSpPr>
            <a:spLocks noGrp="1"/>
          </p:cNvSpPr>
          <p:nvPr/>
        </p:nvSpPr>
        <p:spPr>
          <a:xfrm>
            <a:off x="8915400" y="4019550"/>
            <a:ext cx="245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43" name="封面-文字-CFW 连接关联，转发至目标 VPC-43">
            <a:extLst>
              <a:ext uri="{FF2B5EF4-FFF2-40B4-BE49-F238E27FC236}">
                <a16:creationId xmlns:a16="http://schemas.microsoft.com/office/drawing/2014/main" id="{8B16E1FF-53A9-47A5-BC99-6BA0EBAB4029}"/>
              </a:ext>
            </a:extLst>
          </p:cNvPr>
          <p:cNvSpPr>
            <a:spLocks noGrp="1"/>
          </p:cNvSpPr>
          <p:nvPr/>
        </p:nvSpPr>
        <p:spPr>
          <a:xfrm>
            <a:off x="8915400" y="4314825"/>
            <a:ext cx="2457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CFW 连接关联，转发至目标 VPC</a:t>
            </a:r>
          </a:p>
        </p:txBody>
      </p:sp>
      <p:sp>
        <p:nvSpPr>
          <p:cNvPr id="71" name="统一风格-首页 CFW 等宽横向模块玻璃后沿-1">
            <a:extLst>
              <a:ext uri="{FF2B5EF4-FFF2-40B4-BE49-F238E27FC236}">
                <a16:creationId xmlns:a16="http://schemas.microsoft.com/office/drawing/2014/main" id="{6C98F9DF-AC47-4F6C-8E36-F4B677D62722}"/>
              </a:ext>
            </a:extLst>
          </p:cNvPr>
          <p:cNvSpPr>
            <a:spLocks noGrp="1"/>
          </p:cNvSpPr>
          <p:nvPr/>
        </p:nvSpPr>
        <p:spPr>
          <a:xfrm>
            <a:off x="5695950" y="5334000"/>
            <a:ext cx="5867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2" name="统一风格-首页 CFW 等宽横向模块-2">
            <a:extLst>
              <a:ext uri="{FF2B5EF4-FFF2-40B4-BE49-F238E27FC236}">
                <a16:creationId xmlns:a16="http://schemas.microsoft.com/office/drawing/2014/main" id="{C9BBE27F-D02B-45F0-A3EA-B5C42253BFE8}"/>
              </a:ext>
            </a:extLst>
          </p:cNvPr>
          <p:cNvSpPr>
            <a:spLocks noGrp="1"/>
          </p:cNvSpPr>
          <p:nvPr/>
        </p:nvSpPr>
        <p:spPr>
          <a:xfrm>
            <a:off x="5695950" y="5334000"/>
            <a:ext cx="58674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首页 CFW 等宽横向模块玻璃内沿-3">
            <a:extLst>
              <a:ext uri="{FF2B5EF4-FFF2-40B4-BE49-F238E27FC236}">
                <a16:creationId xmlns:a16="http://schemas.microsoft.com/office/drawing/2014/main" id="{6B8AED85-688D-484B-9CEF-CE8B6C06A74D}"/>
              </a:ext>
            </a:extLst>
          </p:cNvPr>
          <p:cNvSpPr>
            <a:spLocks noGrp="1"/>
          </p:cNvSpPr>
          <p:nvPr/>
        </p:nvSpPr>
        <p:spPr>
          <a:xfrm>
            <a:off x="5708809" y="5346859"/>
            <a:ext cx="58416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首页 CFW 等宽横向模块透光反射面-4">
            <a:extLst>
              <a:ext uri="{FF2B5EF4-FFF2-40B4-BE49-F238E27FC236}">
                <a16:creationId xmlns:a16="http://schemas.microsoft.com/office/drawing/2014/main" id="{3B1A9A4A-0DF7-43EE-A08A-A4F0D0F9C41B}"/>
              </a:ext>
            </a:extLst>
          </p:cNvPr>
          <p:cNvSpPr>
            <a:spLocks noGrp="1"/>
          </p:cNvSpPr>
          <p:nvPr/>
        </p:nvSpPr>
        <p:spPr>
          <a:xfrm>
            <a:off x="5715000" y="5353050"/>
            <a:ext cx="5829300" cy="952500"/>
          </a:xfrm>
          <a:custGeom>
            <a:avLst/>
            <a:gdLst/>
            <a:ahLst/>
            <a:cxnLst/>
            <a:rect l="0" t="0" r="0" b="0"/>
            <a:pathLst>
              <a:path w="5829300" h="952500">
                <a:moveTo>
                  <a:pt x="76200" y="0"/>
                </a:moveTo>
                <a:lnTo>
                  <a:pt x="3730752" y="0"/>
                </a:lnTo>
                <a:lnTo>
                  <a:pt x="1515618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首页 CFW 等宽横向模块边缘高光-5">
            <a:extLst>
              <a:ext uri="{FF2B5EF4-FFF2-40B4-BE49-F238E27FC236}">
                <a16:creationId xmlns:a16="http://schemas.microsoft.com/office/drawing/2014/main" id="{F0533CE9-2B0F-444C-B3F9-BAA235207AF3}"/>
              </a:ext>
            </a:extLst>
          </p:cNvPr>
          <p:cNvSpPr>
            <a:spLocks noGrp="1"/>
          </p:cNvSpPr>
          <p:nvPr/>
        </p:nvSpPr>
        <p:spPr>
          <a:xfrm>
            <a:off x="5695950" y="5334000"/>
            <a:ext cx="5867400" cy="990600"/>
          </a:xfrm>
          <a:custGeom>
            <a:avLst/>
            <a:gdLst/>
            <a:ahLst/>
            <a:cxnLst/>
            <a:rect l="0" t="0" r="0" b="0"/>
            <a:pathLst>
              <a:path w="5867400" h="990600">
                <a:moveTo>
                  <a:pt x="95250" y="9525"/>
                </a:moveTo>
                <a:lnTo>
                  <a:pt x="5772150" y="9525"/>
                </a:lnTo>
                <a:cubicBezTo>
                  <a:pt x="5819775" y="9525"/>
                  <a:pt x="5857875" y="47625"/>
                  <a:pt x="5857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封面-CFW 统一线性防火墙-49">
            <a:extLst>
              <a:ext uri="{FF2B5EF4-FFF2-40B4-BE49-F238E27FC236}">
                <a16:creationId xmlns:a16="http://schemas.microsoft.com/office/drawing/2014/main" id="{32581D99-64E4-4569-9D1D-6A0A04CAF901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封面-CFW 防火墙砖缝-50">
            <a:extLst>
              <a:ext uri="{FF2B5EF4-FFF2-40B4-BE49-F238E27FC236}">
                <a16:creationId xmlns:a16="http://schemas.microsoft.com/office/drawing/2014/main" id="{0CDBB623-12E2-4EBD-A8C1-5424BD03F4E0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封面-CFW 火焰前景衬边-51">
            <a:extLst>
              <a:ext uri="{FF2B5EF4-FFF2-40B4-BE49-F238E27FC236}">
                <a16:creationId xmlns:a16="http://schemas.microsoft.com/office/drawing/2014/main" id="{238B1E97-5C27-4EF1-B869-A6C7D3518594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封面-CFW 统一线性火焰-52">
            <a:extLst>
              <a:ext uri="{FF2B5EF4-FFF2-40B4-BE49-F238E27FC236}">
                <a16:creationId xmlns:a16="http://schemas.microsoft.com/office/drawing/2014/main" id="{E3DD8D51-4D54-41B9-BBA6-2E2AC5538B14}"/>
              </a:ext>
            </a:extLst>
          </p:cNvPr>
          <p:cNvSpPr>
            <a:spLocks noGrp="1"/>
          </p:cNvSpPr>
          <p:nvPr/>
        </p:nvSpPr>
        <p:spPr>
          <a:xfrm>
            <a:off x="7943850" y="55721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2047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封面-文字-CFW-53">
            <a:extLst>
              <a:ext uri="{FF2B5EF4-FFF2-40B4-BE49-F238E27FC236}">
                <a16:creationId xmlns:a16="http://schemas.microsoft.com/office/drawing/2014/main" id="{E6B7ECC4-5F07-4131-9E8C-0648AB7BC101}"/>
              </a:ext>
            </a:extLst>
          </p:cNvPr>
          <p:cNvSpPr>
            <a:spLocks noGrp="1"/>
          </p:cNvSpPr>
          <p:nvPr/>
        </p:nvSpPr>
        <p:spPr>
          <a:xfrm>
            <a:off x="8620125" y="55626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4" name="封面-文字-云防火墙-54">
            <a:extLst>
              <a:ext uri="{FF2B5EF4-FFF2-40B4-BE49-F238E27FC236}">
                <a16:creationId xmlns:a16="http://schemas.microsoft.com/office/drawing/2014/main" id="{14B944BE-7DC1-4540-9752-717C82130866}"/>
              </a:ext>
            </a:extLst>
          </p:cNvPr>
          <p:cNvSpPr>
            <a:spLocks noGrp="1"/>
          </p:cNvSpPr>
          <p:nvPr/>
        </p:nvSpPr>
        <p:spPr>
          <a:xfrm>
            <a:off x="8620125" y="5905500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云防火墙</a:t>
            </a:r>
          </a:p>
        </p:txBody>
      </p:sp>
      <p:cxnSp>
        <p:nvCxnSpPr>
          <p:cNvPr id="76" name="首页 ER 送检至 CFW">
            <a:extLst>
              <a:ext uri="{FF2B5EF4-FFF2-40B4-BE49-F238E27FC236}">
                <a16:creationId xmlns:a16="http://schemas.microsoft.com/office/drawing/2014/main" id="{BC99B15D-CD65-4F70-AB08-1C9C4E01F3E3}"/>
              </a:ext>
            </a:extLst>
          </p:cNvPr>
          <p:cNvCxnSpPr/>
          <p:nvPr/>
        </p:nvCxnSpPr>
        <p:spPr>
          <a:xfrm>
            <a:off x="7162800" y="4572000"/>
            <a:ext cx="0" cy="762000"/>
          </a:xfrm>
          <a:prstGeom prst="straightConnector1">
            <a:avLst/>
          </a:prstGeom>
          <a:ln w="16193">
            <a:solidFill>
              <a:srgbClr val="2457C3"/>
            </a:solidFill>
            <a:tailEnd type="triangle" w="sm" len="sm"/>
          </a:ln>
        </p:spPr>
      </p:cxnSp>
      <p:cxnSp>
        <p:nvCxnSpPr>
          <p:cNvPr id="77" name="首页 CFW 放行回注至 ER">
            <a:extLst>
              <a:ext uri="{FF2B5EF4-FFF2-40B4-BE49-F238E27FC236}">
                <a16:creationId xmlns:a16="http://schemas.microsoft.com/office/drawing/2014/main" id="{A0A8D440-BCBA-4088-9D74-44B13A77E400}"/>
              </a:ext>
            </a:extLst>
          </p:cNvPr>
          <p:cNvCxnSpPr/>
          <p:nvPr/>
        </p:nvCxnSpPr>
        <p:spPr>
          <a:xfrm flipV="1">
            <a:off x="10096500" y="4572000"/>
            <a:ext cx="0" cy="762000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78" name="统一风格-文字 送检-6">
            <a:extLst>
              <a:ext uri="{FF2B5EF4-FFF2-40B4-BE49-F238E27FC236}">
                <a16:creationId xmlns:a16="http://schemas.microsoft.com/office/drawing/2014/main" id="{69DD9D32-3D73-423F-9149-E8D95577C7B7}"/>
              </a:ext>
            </a:extLst>
          </p:cNvPr>
          <p:cNvSpPr>
            <a:spLocks noGrp="1"/>
          </p:cNvSpPr>
          <p:nvPr/>
        </p:nvSpPr>
        <p:spPr>
          <a:xfrm>
            <a:off x="7315200" y="483870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5A99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sp>
        <p:nvSpPr>
          <p:cNvPr id="79" name="统一风格-文字 回注-7">
            <a:extLst>
              <a:ext uri="{FF2B5EF4-FFF2-40B4-BE49-F238E27FC236}">
                <a16:creationId xmlns:a16="http://schemas.microsoft.com/office/drawing/2014/main" id="{A0504EB0-AE4F-4EAD-9884-58F99574100A}"/>
              </a:ext>
            </a:extLst>
          </p:cNvPr>
          <p:cNvSpPr>
            <a:spLocks noGrp="1"/>
          </p:cNvSpPr>
          <p:nvPr/>
        </p:nvSpPr>
        <p:spPr>
          <a:xfrm>
            <a:off x="10248900" y="483870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86AD"/>
                </a:solidFill>
                <a:latin typeface="Microsoft YaHei"/>
                <a:ea typeface="Microsoft YaHei"/>
                <a:cs typeface="Microsoft YaHei"/>
              </a:rPr>
              <a:t>回注</a:t>
            </a:r>
          </a:p>
        </p:txBody>
      </p:sp>
      <p:sp>
        <p:nvSpPr>
          <p:cNvPr id="62" name="正文-华为云网络与安全">
            <a:extLst>
              <a:ext uri="{FF2B5EF4-FFF2-40B4-BE49-F238E27FC236}">
                <a16:creationId xmlns:a16="http://schemas.microsoft.com/office/drawing/2014/main" id="{BE58C81E-0B76-44DC-884F-517C5B75377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华为云网络与安全</a:t>
            </a:r>
          </a:p>
        </p:txBody>
      </p:sp>
      <p:sp>
        <p:nvSpPr>
          <p:cNvPr id="63" name="封面-文字-VPC 网络与-63">
            <a:extLst>
              <a:ext uri="{FF2B5EF4-FFF2-40B4-BE49-F238E27FC236}">
                <a16:creationId xmlns:a16="http://schemas.microsoft.com/office/drawing/2014/main" id="{12663C43-FA12-4CAB-836C-71DAF75782A6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476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网络与</a:t>
            </a:r>
          </a:p>
        </p:txBody>
      </p:sp>
      <p:sp>
        <p:nvSpPr>
          <p:cNvPr id="64" name="封面-文字-云防火墙 CFW-64">
            <a:extLst>
              <a:ext uri="{FF2B5EF4-FFF2-40B4-BE49-F238E27FC236}">
                <a16:creationId xmlns:a16="http://schemas.microsoft.com/office/drawing/2014/main" id="{49F8361E-60EE-45E4-97F0-111AC5BC2CA5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4572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云防火墙 CFW</a:t>
            </a:r>
          </a:p>
        </p:txBody>
      </p:sp>
      <p:sp>
        <p:nvSpPr>
          <p:cNvPr id="65" name="正文-使用规范与实践案例">
            <a:extLst>
              <a:ext uri="{FF2B5EF4-FFF2-40B4-BE49-F238E27FC236}">
                <a16:creationId xmlns:a16="http://schemas.microsoft.com/office/drawing/2014/main" id="{D8453A2E-6AD2-445A-A00A-F94E68395DDB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393"/>
                </a:solidFill>
                <a:latin typeface="Microsoft YaHei"/>
                <a:ea typeface="Microsoft YaHei"/>
                <a:cs typeface="Microsoft YaHei"/>
              </a:rPr>
              <a:t>使用规范与实践案例</a:t>
            </a:r>
          </a:p>
        </p:txBody>
      </p:sp>
      <p:cxnSp>
        <p:nvCxnSpPr>
          <p:cNvPr id="66" name="封面-路径-66">
            <a:extLst>
              <a:ext uri="{FF2B5EF4-FFF2-40B4-BE49-F238E27FC236}">
                <a16:creationId xmlns:a16="http://schemas.microsoft.com/office/drawing/2014/main" id="{38AAB116-D51A-4DB6-864D-710D94C8930E}"/>
              </a:ext>
            </a:extLst>
          </p:cNvPr>
          <p:cNvCxnSpPr/>
          <p:nvPr/>
        </p:nvCxnSpPr>
        <p:spPr>
          <a:xfrm>
            <a:off x="647700" y="5305425"/>
            <a:ext cx="4057650" cy="0"/>
          </a:xfrm>
          <a:prstGeom prst="straightConnector1">
            <a:avLst/>
          </a:prstGeom>
          <a:ln w="8096">
            <a:solidFill>
              <a:srgbClr val="DFE7F2"/>
            </a:solidFill>
          </a:ln>
        </p:spPr>
      </p:cxnSp>
      <p:sp>
        <p:nvSpPr>
          <p:cNvPr id="69" name="正文-网络架构 / 访问控制 / 变更与排障">
            <a:extLst>
              <a:ext uri="{FF2B5EF4-FFF2-40B4-BE49-F238E27FC236}">
                <a16:creationId xmlns:a16="http://schemas.microsoft.com/office/drawing/2014/main" id="{9CD69EDB-1A7C-4067-B834-F5F3FF2D404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4572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C8DA8"/>
                </a:solidFill>
                <a:latin typeface="Microsoft YaHei"/>
                <a:ea typeface="Microsoft YaHei"/>
                <a:cs typeface="Microsoft YaHei"/>
              </a:rPr>
              <a:t>网络架构 / 访问控制 / 变更与排障</a:t>
            </a:r>
          </a:p>
        </p:txBody>
      </p:sp>
    </p:spTree>
    <p:extLst>
      <p:ext uri="{BB962C8B-B14F-4D97-AF65-F5344CB8AC3E}">
        <p14:creationId xmlns:p14="http://schemas.microsoft.com/office/powerpoint/2010/main" val="161558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统一风格-文字 内容概览-1">
            <a:extLst>
              <a:ext uri="{FF2B5EF4-FFF2-40B4-BE49-F238E27FC236}">
                <a16:creationId xmlns:a16="http://schemas.microsoft.com/office/drawing/2014/main" id="{6E023F4C-149A-4386-A1D4-2AD6CDB6E2C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内容概览</a:t>
            </a:r>
          </a:p>
        </p:txBody>
      </p:sp>
      <p:sp>
        <p:nvSpPr>
          <p:cNvPr id="2" name="统一风格-文字 议题目录-2">
            <a:extLst>
              <a:ext uri="{FF2B5EF4-FFF2-40B4-BE49-F238E27FC236}">
                <a16:creationId xmlns:a16="http://schemas.microsoft.com/office/drawing/2014/main" id="{139EB8D6-9D84-48F8-84BD-377916AFA14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议题目录</a:t>
            </a:r>
          </a:p>
        </p:txBody>
      </p:sp>
      <p:sp>
        <p:nvSpPr>
          <p:cNvPr id="3" name="统一风格-文字 VPC 网络规划、连接方式、CFW 访问控制与运行管理-3">
            <a:extLst>
              <a:ext uri="{FF2B5EF4-FFF2-40B4-BE49-F238E27FC236}">
                <a16:creationId xmlns:a16="http://schemas.microsoft.com/office/drawing/2014/main" id="{18389C1F-07DE-47CA-A5D1-D27C3524A3D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网络规划、私网互联与云服务加固、CFW 访问控制</a:t>
            </a:r>
          </a:p>
        </p:txBody>
      </p:sp>
      <p:sp>
        <p:nvSpPr>
          <p:cNvPr id="4" name="统一风格-VPC 基础与规范玻璃后沿-4">
            <a:extLst>
              <a:ext uri="{FF2B5EF4-FFF2-40B4-BE49-F238E27FC236}">
                <a16:creationId xmlns:a16="http://schemas.microsoft.com/office/drawing/2014/main" id="{B6C68AE8-0E61-4A4B-B8BC-34EF8C848316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VPC 基础与规范-5">
            <a:extLst>
              <a:ext uri="{FF2B5EF4-FFF2-40B4-BE49-F238E27FC236}">
                <a16:creationId xmlns:a16="http://schemas.microsoft.com/office/drawing/2014/main" id="{5621302B-3150-45B3-BC44-506F2292DD7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VPC 基础与规范玻璃内沿-6">
            <a:extLst>
              <a:ext uri="{FF2B5EF4-FFF2-40B4-BE49-F238E27FC236}">
                <a16:creationId xmlns:a16="http://schemas.microsoft.com/office/drawing/2014/main" id="{8B18A8BB-6DF9-48AD-8D28-31A57CE28DA8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VPC 基础与规范透光反射面-7">
            <a:extLst>
              <a:ext uri="{FF2B5EF4-FFF2-40B4-BE49-F238E27FC236}">
                <a16:creationId xmlns:a16="http://schemas.microsoft.com/office/drawing/2014/main" id="{FB5FE020-C22F-47F4-8FA3-B9CBCC2871FA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934700" cy="485775"/>
          </a:xfrm>
          <a:custGeom>
            <a:avLst/>
            <a:gdLst/>
            <a:ahLst/>
            <a:cxnLst/>
            <a:rect l="0" t="0" r="0" b="0"/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VPC 基础与规范边缘高光-8">
            <a:extLst>
              <a:ext uri="{FF2B5EF4-FFF2-40B4-BE49-F238E27FC236}">
                <a16:creationId xmlns:a16="http://schemas.microsoft.com/office/drawing/2014/main" id="{10741308-815D-448D-B56F-A29295636C46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文字 01-9">
            <a:extLst>
              <a:ext uri="{FF2B5EF4-FFF2-40B4-BE49-F238E27FC236}">
                <a16:creationId xmlns:a16="http://schemas.microsoft.com/office/drawing/2014/main" id="{576DD719-0A0D-41DD-9211-58A9C1D1CFC4}"/>
              </a:ext>
            </a:extLst>
          </p:cNvPr>
          <p:cNvSpPr>
            <a:spLocks noGrp="1"/>
          </p:cNvSpPr>
          <p:nvPr/>
        </p:nvSpPr>
        <p:spPr>
          <a:xfrm>
            <a:off x="800100" y="218122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统一风格-文字 VPC 基础与规范-10">
            <a:extLst>
              <a:ext uri="{FF2B5EF4-FFF2-40B4-BE49-F238E27FC236}">
                <a16:creationId xmlns:a16="http://schemas.microsoft.com/office/drawing/2014/main" id="{C559A5F9-3D63-4C02-8F7B-6747E6C396C6}"/>
              </a:ext>
            </a:extLst>
          </p:cNvPr>
          <p:cNvSpPr>
            <a:spLocks noGrp="1"/>
          </p:cNvSpPr>
          <p:nvPr/>
        </p:nvSpPr>
        <p:spPr>
          <a:xfrm>
            <a:off x="16002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基础与规范</a:t>
            </a:r>
          </a:p>
        </p:txBody>
      </p:sp>
      <p:sp>
        <p:nvSpPr>
          <p:cNvPr id="11" name="统一风格-文字 定义、实现原理、组成与使用边界-11">
            <a:extLst>
              <a:ext uri="{FF2B5EF4-FFF2-40B4-BE49-F238E27FC236}">
                <a16:creationId xmlns:a16="http://schemas.microsoft.com/office/drawing/2014/main" id="{AF1EF0E4-1806-48FA-A8AC-81F953B13415}"/>
              </a:ext>
            </a:extLst>
          </p:cNvPr>
          <p:cNvSpPr>
            <a:spLocks noGrp="1"/>
          </p:cNvSpPr>
          <p:nvPr/>
        </p:nvSpPr>
        <p:spPr>
          <a:xfrm>
            <a:off x="4857750" y="217170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定义、实现原理、组成与使用边界</a:t>
            </a:r>
          </a:p>
        </p:txBody>
      </p:sp>
      <p:sp>
        <p:nvSpPr>
          <p:cNvPr id="12" name="统一风格-文字 03–16-12">
            <a:extLst>
              <a:ext uri="{FF2B5EF4-FFF2-40B4-BE49-F238E27FC236}">
                <a16:creationId xmlns:a16="http://schemas.microsoft.com/office/drawing/2014/main" id="{7BE1F2B6-2076-4DB9-813B-772C4D8A5706}"/>
              </a:ext>
            </a:extLst>
          </p:cNvPr>
          <p:cNvSpPr>
            <a:spLocks noGrp="1"/>
          </p:cNvSpPr>
          <p:nvPr/>
        </p:nvSpPr>
        <p:spPr>
          <a:xfrm>
            <a:off x="10477500" y="21907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03–16</a:t>
            </a:r>
          </a:p>
        </p:txBody>
      </p:sp>
      <p:sp>
        <p:nvSpPr>
          <p:cNvPr id="13" name="统一风格-网络互联方案玻璃后沿-13">
            <a:extLst>
              <a:ext uri="{FF2B5EF4-FFF2-40B4-BE49-F238E27FC236}">
                <a16:creationId xmlns:a16="http://schemas.microsoft.com/office/drawing/2014/main" id="{70A5B1B8-01B3-4F54-AA07-CFAA85B5DCD4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网络互联方案-14">
            <a:extLst>
              <a:ext uri="{FF2B5EF4-FFF2-40B4-BE49-F238E27FC236}">
                <a16:creationId xmlns:a16="http://schemas.microsoft.com/office/drawing/2014/main" id="{03A4D3B4-E21A-4CFF-891E-3D783D14E206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网络互联方案玻璃内沿-15">
            <a:extLst>
              <a:ext uri="{FF2B5EF4-FFF2-40B4-BE49-F238E27FC236}">
                <a16:creationId xmlns:a16="http://schemas.microsoft.com/office/drawing/2014/main" id="{E7A882D3-F4EA-49C1-8510-246247ED20FB}"/>
              </a:ext>
            </a:extLst>
          </p:cNvPr>
          <p:cNvSpPr>
            <a:spLocks noGrp="1"/>
          </p:cNvSpPr>
          <p:nvPr/>
        </p:nvSpPr>
        <p:spPr>
          <a:xfrm>
            <a:off x="622459" y="275605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网络互联方案边缘高光-16">
            <a:extLst>
              <a:ext uri="{FF2B5EF4-FFF2-40B4-BE49-F238E27FC236}">
                <a16:creationId xmlns:a16="http://schemas.microsoft.com/office/drawing/2014/main" id="{D470913F-F08A-4608-B9CF-DF03A738DA05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02-17">
            <a:extLst>
              <a:ext uri="{FF2B5EF4-FFF2-40B4-BE49-F238E27FC236}">
                <a16:creationId xmlns:a16="http://schemas.microsoft.com/office/drawing/2014/main" id="{C3DAF7BD-F6C3-4DE5-8DF2-93369138D638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统一风格-文字 网络互联方案-18">
            <a:extLst>
              <a:ext uri="{FF2B5EF4-FFF2-40B4-BE49-F238E27FC236}">
                <a16:creationId xmlns:a16="http://schemas.microsoft.com/office/drawing/2014/main" id="{9FA0A629-93F8-4FC7-BBD8-8FBD1075F0DB}"/>
              </a:ext>
            </a:extLst>
          </p:cNvPr>
          <p:cNvSpPr>
            <a:spLocks noGrp="1"/>
          </p:cNvSpPr>
          <p:nvPr/>
        </p:nvSpPr>
        <p:spPr>
          <a:xfrm>
            <a:off x="1600200" y="280035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网络互联与安全加固</a:t>
            </a:r>
          </a:p>
        </p:txBody>
      </p:sp>
      <p:sp>
        <p:nvSpPr>
          <p:cNvPr id="19" name="统一风格-文字 产品概念、选型原则与组网案例-19">
            <a:extLst>
              <a:ext uri="{FF2B5EF4-FFF2-40B4-BE49-F238E27FC236}">
                <a16:creationId xmlns:a16="http://schemas.microsoft.com/office/drawing/2014/main" id="{AB53C2BF-A489-4246-BB7D-C6EBDBD7AC16}"/>
              </a:ext>
            </a:extLst>
          </p:cNvPr>
          <p:cNvSpPr>
            <a:spLocks noGrp="1"/>
          </p:cNvSpPr>
          <p:nvPr/>
        </p:nvSpPr>
        <p:spPr>
          <a:xfrm>
            <a:off x="4857750" y="28003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连接选型、组网案例与 OBS / SWR 加固</a:t>
            </a:r>
          </a:p>
        </p:txBody>
      </p:sp>
      <p:sp>
        <p:nvSpPr>
          <p:cNvPr id="20" name="统一风格-文字 17–29-20">
            <a:extLst>
              <a:ext uri="{FF2B5EF4-FFF2-40B4-BE49-F238E27FC236}">
                <a16:creationId xmlns:a16="http://schemas.microsoft.com/office/drawing/2014/main" id="{B2A1CC4D-04FB-48C3-BD31-A5A49CE478A6}"/>
              </a:ext>
            </a:extLst>
          </p:cNvPr>
          <p:cNvSpPr>
            <a:spLocks noGrp="1"/>
          </p:cNvSpPr>
          <p:nvPr/>
        </p:nvSpPr>
        <p:spPr>
          <a:xfrm>
            <a:off x="10477500" y="281940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17–48</a:t>
            </a:r>
          </a:p>
        </p:txBody>
      </p:sp>
      <p:sp>
        <p:nvSpPr>
          <p:cNvPr id="21" name="统一风格-CFW 使用规范玻璃后沿-21">
            <a:extLst>
              <a:ext uri="{FF2B5EF4-FFF2-40B4-BE49-F238E27FC236}">
                <a16:creationId xmlns:a16="http://schemas.microsoft.com/office/drawing/2014/main" id="{B3D12FC9-E30B-4B9F-8F02-4065B5AC1A8F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CFW 使用规范-22">
            <a:extLst>
              <a:ext uri="{FF2B5EF4-FFF2-40B4-BE49-F238E27FC236}">
                <a16:creationId xmlns:a16="http://schemas.microsoft.com/office/drawing/2014/main" id="{0C60B4D8-B42A-461D-8561-6BEE09EF81E0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CFW 使用规范玻璃内沿-23">
            <a:extLst>
              <a:ext uri="{FF2B5EF4-FFF2-40B4-BE49-F238E27FC236}">
                <a16:creationId xmlns:a16="http://schemas.microsoft.com/office/drawing/2014/main" id="{0CCA4579-E707-480D-9682-F1D2B7F63F05}"/>
              </a:ext>
            </a:extLst>
          </p:cNvPr>
          <p:cNvSpPr>
            <a:spLocks noGrp="1"/>
          </p:cNvSpPr>
          <p:nvPr/>
        </p:nvSpPr>
        <p:spPr>
          <a:xfrm>
            <a:off x="622459" y="338470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CFW 使用规范透光反射面-24">
            <a:extLst>
              <a:ext uri="{FF2B5EF4-FFF2-40B4-BE49-F238E27FC236}">
                <a16:creationId xmlns:a16="http://schemas.microsoft.com/office/drawing/2014/main" id="{CB33E38C-D8C2-4E1E-A923-5621AE13526E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10934700" cy="485775"/>
          </a:xfrm>
          <a:custGeom>
            <a:avLst/>
            <a:gdLst/>
            <a:ahLst/>
            <a:cxnLst/>
            <a:rect l="0" t="0" r="0" b="0"/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CFW 使用规范边缘高光-25">
            <a:extLst>
              <a:ext uri="{FF2B5EF4-FFF2-40B4-BE49-F238E27FC236}">
                <a16:creationId xmlns:a16="http://schemas.microsoft.com/office/drawing/2014/main" id="{4FB2F10C-F111-4042-A8D1-37A812ACB652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03-26">
            <a:extLst>
              <a:ext uri="{FF2B5EF4-FFF2-40B4-BE49-F238E27FC236}">
                <a16:creationId xmlns:a16="http://schemas.microsoft.com/office/drawing/2014/main" id="{3F179640-DA74-4153-AE55-01147C372B2B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统一风格-文字 CFW 使用规范-27">
            <a:extLst>
              <a:ext uri="{FF2B5EF4-FFF2-40B4-BE49-F238E27FC236}">
                <a16:creationId xmlns:a16="http://schemas.microsoft.com/office/drawing/2014/main" id="{CE17C4C3-287D-45FB-A04B-AA68E02C81F9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使用规范</a:t>
            </a:r>
          </a:p>
        </p:txBody>
      </p:sp>
      <p:sp>
        <p:nvSpPr>
          <p:cNvPr id="28" name="统一风格-文字 概念、关键规则、接入与策略配置-28">
            <a:extLst>
              <a:ext uri="{FF2B5EF4-FFF2-40B4-BE49-F238E27FC236}">
                <a16:creationId xmlns:a16="http://schemas.microsoft.com/office/drawing/2014/main" id="{D53F2E18-BC14-4BDD-B374-73E4701DE6E6}"/>
              </a:ext>
            </a:extLst>
          </p:cNvPr>
          <p:cNvSpPr>
            <a:spLocks noGrp="1"/>
          </p:cNvSpPr>
          <p:nvPr/>
        </p:nvSpPr>
        <p:spPr>
          <a:xfrm>
            <a:off x="4857750" y="342900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概念、关键规则、接入与策略配置</a:t>
            </a:r>
          </a:p>
        </p:txBody>
      </p:sp>
      <p:sp>
        <p:nvSpPr>
          <p:cNvPr id="29" name="统一风格-文字 30–47-29">
            <a:extLst>
              <a:ext uri="{FF2B5EF4-FFF2-40B4-BE49-F238E27FC236}">
                <a16:creationId xmlns:a16="http://schemas.microsoft.com/office/drawing/2014/main" id="{593032FC-925E-4788-92D9-1C80AF1B345E}"/>
              </a:ext>
            </a:extLst>
          </p:cNvPr>
          <p:cNvSpPr>
            <a:spLocks noGrp="1"/>
          </p:cNvSpPr>
          <p:nvPr/>
        </p:nvSpPr>
        <p:spPr>
          <a:xfrm>
            <a:off x="10477500" y="34480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49–66</a:t>
            </a:r>
          </a:p>
        </p:txBody>
      </p:sp>
      <p:sp>
        <p:nvSpPr>
          <p:cNvPr id="30" name="统一风格-变更与排障玻璃后沿-30">
            <a:extLst>
              <a:ext uri="{FF2B5EF4-FFF2-40B4-BE49-F238E27FC236}">
                <a16:creationId xmlns:a16="http://schemas.microsoft.com/office/drawing/2014/main" id="{912BD83F-F10E-49FE-87D4-6CF0F93C758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变更与排障-31">
            <a:extLst>
              <a:ext uri="{FF2B5EF4-FFF2-40B4-BE49-F238E27FC236}">
                <a16:creationId xmlns:a16="http://schemas.microsoft.com/office/drawing/2014/main" id="{3045B33A-EC43-4423-A713-7849646D207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变更与排障玻璃内沿-32">
            <a:extLst>
              <a:ext uri="{FF2B5EF4-FFF2-40B4-BE49-F238E27FC236}">
                <a16:creationId xmlns:a16="http://schemas.microsoft.com/office/drawing/2014/main" id="{0C53384F-C21C-44A5-A55D-094592575154}"/>
              </a:ext>
            </a:extLst>
          </p:cNvPr>
          <p:cNvSpPr>
            <a:spLocks noGrp="1"/>
          </p:cNvSpPr>
          <p:nvPr/>
        </p:nvSpPr>
        <p:spPr>
          <a:xfrm>
            <a:off x="622459" y="401335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变更与排障边缘高光-33">
            <a:extLst>
              <a:ext uri="{FF2B5EF4-FFF2-40B4-BE49-F238E27FC236}">
                <a16:creationId xmlns:a16="http://schemas.microsoft.com/office/drawing/2014/main" id="{AB589BB3-ACAD-473B-B3CC-F4EC0CF04E3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04-34">
            <a:extLst>
              <a:ext uri="{FF2B5EF4-FFF2-40B4-BE49-F238E27FC236}">
                <a16:creationId xmlns:a16="http://schemas.microsoft.com/office/drawing/2014/main" id="{9AF146DA-520F-4703-B477-F6928B48A9AF}"/>
              </a:ext>
            </a:extLst>
          </p:cNvPr>
          <p:cNvSpPr>
            <a:spLocks noGrp="1"/>
          </p:cNvSpPr>
          <p:nvPr/>
        </p:nvSpPr>
        <p:spPr>
          <a:xfrm>
            <a:off x="800100" y="406717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统一风格-文字 变更与排障-35">
            <a:extLst>
              <a:ext uri="{FF2B5EF4-FFF2-40B4-BE49-F238E27FC236}">
                <a16:creationId xmlns:a16="http://schemas.microsoft.com/office/drawing/2014/main" id="{4A9DFAF4-829F-411B-9AC1-7883731EA573}"/>
              </a:ext>
            </a:extLst>
          </p:cNvPr>
          <p:cNvSpPr>
            <a:spLocks noGrp="1"/>
          </p:cNvSpPr>
          <p:nvPr/>
        </p:nvSpPr>
        <p:spPr>
          <a:xfrm>
            <a:off x="1600200" y="405765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变更与排障</a:t>
            </a:r>
          </a:p>
        </p:txBody>
      </p:sp>
      <p:sp>
        <p:nvSpPr>
          <p:cNvPr id="36" name="统一风格-文字 职责分工、发布回滚与日志定位-36">
            <a:extLst>
              <a:ext uri="{FF2B5EF4-FFF2-40B4-BE49-F238E27FC236}">
                <a16:creationId xmlns:a16="http://schemas.microsoft.com/office/drawing/2014/main" id="{71DD120A-2FF0-4B54-BDCC-BB6F57703F91}"/>
              </a:ext>
            </a:extLst>
          </p:cNvPr>
          <p:cNvSpPr>
            <a:spLocks noGrp="1"/>
          </p:cNvSpPr>
          <p:nvPr/>
        </p:nvSpPr>
        <p:spPr>
          <a:xfrm>
            <a:off x="4857750" y="40576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职责分工、发布回滚与日志定位</a:t>
            </a:r>
          </a:p>
        </p:txBody>
      </p:sp>
      <p:sp>
        <p:nvSpPr>
          <p:cNvPr id="37" name="统一风格-文字 48–53-37">
            <a:extLst>
              <a:ext uri="{FF2B5EF4-FFF2-40B4-BE49-F238E27FC236}">
                <a16:creationId xmlns:a16="http://schemas.microsoft.com/office/drawing/2014/main" id="{E402D01C-2A53-4849-9888-6568A421B798}"/>
              </a:ext>
            </a:extLst>
          </p:cNvPr>
          <p:cNvSpPr>
            <a:spLocks noGrp="1"/>
          </p:cNvSpPr>
          <p:nvPr/>
        </p:nvSpPr>
        <p:spPr>
          <a:xfrm>
            <a:off x="10477500" y="407670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67–72</a:t>
            </a:r>
          </a:p>
        </p:txBody>
      </p:sp>
      <p:sp>
        <p:nvSpPr>
          <p:cNvPr id="38" name="统一风格-典型故障分析玻璃后沿-38">
            <a:extLst>
              <a:ext uri="{FF2B5EF4-FFF2-40B4-BE49-F238E27FC236}">
                <a16:creationId xmlns:a16="http://schemas.microsoft.com/office/drawing/2014/main" id="{0C6C2A9D-9BF8-4777-86A6-5BE0B2316FFC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典型故障分析-39">
            <a:extLst>
              <a:ext uri="{FF2B5EF4-FFF2-40B4-BE49-F238E27FC236}">
                <a16:creationId xmlns:a16="http://schemas.microsoft.com/office/drawing/2014/main" id="{8A0867E5-C39D-4F9C-A35E-86CEF9DC4386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典型故障分析玻璃内沿-40">
            <a:extLst>
              <a:ext uri="{FF2B5EF4-FFF2-40B4-BE49-F238E27FC236}">
                <a16:creationId xmlns:a16="http://schemas.microsoft.com/office/drawing/2014/main" id="{19DA92C0-9458-449A-9C48-76D90644FEB7}"/>
              </a:ext>
            </a:extLst>
          </p:cNvPr>
          <p:cNvSpPr>
            <a:spLocks noGrp="1"/>
          </p:cNvSpPr>
          <p:nvPr/>
        </p:nvSpPr>
        <p:spPr>
          <a:xfrm>
            <a:off x="622459" y="464200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典型故障分析透光反射面-41">
            <a:extLst>
              <a:ext uri="{FF2B5EF4-FFF2-40B4-BE49-F238E27FC236}">
                <a16:creationId xmlns:a16="http://schemas.microsoft.com/office/drawing/2014/main" id="{45DCAF57-8F72-4E15-A982-21BFD2847FFF}"/>
              </a:ext>
            </a:extLst>
          </p:cNvPr>
          <p:cNvSpPr>
            <a:spLocks noGrp="1"/>
          </p:cNvSpPr>
          <p:nvPr/>
        </p:nvSpPr>
        <p:spPr>
          <a:xfrm>
            <a:off x="628650" y="4648200"/>
            <a:ext cx="10934700" cy="485775"/>
          </a:xfrm>
          <a:custGeom>
            <a:avLst/>
            <a:gdLst/>
            <a:ahLst/>
            <a:cxnLst/>
            <a:rect l="0" t="0" r="0" b="0"/>
            <a:pathLst>
              <a:path w="10934700" h="485775">
                <a:moveTo>
                  <a:pt x="76200" y="0"/>
                </a:moveTo>
                <a:lnTo>
                  <a:pt x="6998208" y="0"/>
                </a:lnTo>
                <a:lnTo>
                  <a:pt x="2843022" y="485775"/>
                </a:lnTo>
                <a:lnTo>
                  <a:pt x="76200" y="485775"/>
                </a:lnTo>
                <a:cubicBezTo>
                  <a:pt x="28575" y="485775"/>
                  <a:pt x="0" y="457200"/>
                  <a:pt x="0" y="409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典型故障分析边缘高光-42">
            <a:extLst>
              <a:ext uri="{FF2B5EF4-FFF2-40B4-BE49-F238E27FC236}">
                <a16:creationId xmlns:a16="http://schemas.microsoft.com/office/drawing/2014/main" id="{157FD9D2-F889-40D4-85FA-9E97C7C0E345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05-43">
            <a:extLst>
              <a:ext uri="{FF2B5EF4-FFF2-40B4-BE49-F238E27FC236}">
                <a16:creationId xmlns:a16="http://schemas.microsoft.com/office/drawing/2014/main" id="{08054F1A-9E6B-4EB2-96C0-BC0D23E5B4B8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统一风格-文字 典型故障分析-44">
            <a:extLst>
              <a:ext uri="{FF2B5EF4-FFF2-40B4-BE49-F238E27FC236}">
                <a16:creationId xmlns:a16="http://schemas.microsoft.com/office/drawing/2014/main" id="{3D74B590-AFFF-4042-80E2-1B24B50BC9DD}"/>
              </a:ext>
            </a:extLst>
          </p:cNvPr>
          <p:cNvSpPr>
            <a:spLocks noGrp="1"/>
          </p:cNvSpPr>
          <p:nvPr/>
        </p:nvSpPr>
        <p:spPr>
          <a:xfrm>
            <a:off x="1600200" y="4686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典型故障分析</a:t>
            </a:r>
          </a:p>
        </p:txBody>
      </p:sp>
      <p:sp>
        <p:nvSpPr>
          <p:cNvPr id="45" name="统一风格-文字 安全组、宽泛授权与检查旁路-45">
            <a:extLst>
              <a:ext uri="{FF2B5EF4-FFF2-40B4-BE49-F238E27FC236}">
                <a16:creationId xmlns:a16="http://schemas.microsoft.com/office/drawing/2014/main" id="{A60EE473-599C-4347-BDF3-78B5D549647F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安全组、宽泛授权与检查旁路</a:t>
            </a:r>
          </a:p>
        </p:txBody>
      </p:sp>
      <p:sp>
        <p:nvSpPr>
          <p:cNvPr id="46" name="统一风格-文字 54–59-46">
            <a:extLst>
              <a:ext uri="{FF2B5EF4-FFF2-40B4-BE49-F238E27FC236}">
                <a16:creationId xmlns:a16="http://schemas.microsoft.com/office/drawing/2014/main" id="{682772C6-90DA-46BB-8573-0E918B0BF4F0}"/>
              </a:ext>
            </a:extLst>
          </p:cNvPr>
          <p:cNvSpPr>
            <a:spLocks noGrp="1"/>
          </p:cNvSpPr>
          <p:nvPr/>
        </p:nvSpPr>
        <p:spPr>
          <a:xfrm>
            <a:off x="10477500" y="47053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73–78</a:t>
            </a:r>
          </a:p>
        </p:txBody>
      </p:sp>
      <p:sp>
        <p:nvSpPr>
          <p:cNvPr id="47" name="统一风格-配置核验与巡检玻璃后沿-47">
            <a:extLst>
              <a:ext uri="{FF2B5EF4-FFF2-40B4-BE49-F238E27FC236}">
                <a16:creationId xmlns:a16="http://schemas.microsoft.com/office/drawing/2014/main" id="{4503FF3B-1572-468C-B625-4925A62C5B34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配置核验与巡检-48">
            <a:extLst>
              <a:ext uri="{FF2B5EF4-FFF2-40B4-BE49-F238E27FC236}">
                <a16:creationId xmlns:a16="http://schemas.microsoft.com/office/drawing/2014/main" id="{A9488DDF-7337-4C52-BD95-6FC9DF68C76E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配置核验与巡检玻璃内沿-49">
            <a:extLst>
              <a:ext uri="{FF2B5EF4-FFF2-40B4-BE49-F238E27FC236}">
                <a16:creationId xmlns:a16="http://schemas.microsoft.com/office/drawing/2014/main" id="{340587D6-B127-4CBF-85E4-56108B975909}"/>
              </a:ext>
            </a:extLst>
          </p:cNvPr>
          <p:cNvSpPr>
            <a:spLocks noGrp="1"/>
          </p:cNvSpPr>
          <p:nvPr/>
        </p:nvSpPr>
        <p:spPr>
          <a:xfrm>
            <a:off x="622459" y="5270659"/>
            <a:ext cx="109470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配置核验与巡检边缘高光-50">
            <a:extLst>
              <a:ext uri="{FF2B5EF4-FFF2-40B4-BE49-F238E27FC236}">
                <a16:creationId xmlns:a16="http://schemas.microsoft.com/office/drawing/2014/main" id="{EF79CD8B-824D-4E16-8C37-CBDCEFF412A2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523875"/>
          </a:xfrm>
          <a:custGeom>
            <a:avLst/>
            <a:gdLst/>
            <a:ahLst/>
            <a:cxnLst/>
            <a:rect l="0" t="0" r="0" b="0"/>
            <a:pathLst>
              <a:path w="10972800" h="5238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文字 06-51">
            <a:extLst>
              <a:ext uri="{FF2B5EF4-FFF2-40B4-BE49-F238E27FC236}">
                <a16:creationId xmlns:a16="http://schemas.microsoft.com/office/drawing/2014/main" id="{FE43E84E-295F-41F3-A70F-A3C7E318340E}"/>
              </a:ext>
            </a:extLst>
          </p:cNvPr>
          <p:cNvSpPr>
            <a:spLocks noGrp="1"/>
          </p:cNvSpPr>
          <p:nvPr/>
        </p:nvSpPr>
        <p:spPr>
          <a:xfrm>
            <a:off x="800100" y="5324475"/>
            <a:ext cx="6000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2" name="统一风格-文字 配置核验与巡检-52">
            <a:extLst>
              <a:ext uri="{FF2B5EF4-FFF2-40B4-BE49-F238E27FC236}">
                <a16:creationId xmlns:a16="http://schemas.microsoft.com/office/drawing/2014/main" id="{D0111A39-DF54-4D52-B9A0-B876650982C7}"/>
              </a:ext>
            </a:extLst>
          </p:cNvPr>
          <p:cNvSpPr>
            <a:spLocks noGrp="1"/>
          </p:cNvSpPr>
          <p:nvPr/>
        </p:nvSpPr>
        <p:spPr>
          <a:xfrm>
            <a:off x="1600200" y="531495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配置核验与巡检</a:t>
            </a:r>
          </a:p>
        </p:txBody>
      </p:sp>
      <p:sp>
        <p:nvSpPr>
          <p:cNvPr id="53" name="统一风格-文字 关键判断、上线检查与持续复核-53">
            <a:extLst>
              <a:ext uri="{FF2B5EF4-FFF2-40B4-BE49-F238E27FC236}">
                <a16:creationId xmlns:a16="http://schemas.microsoft.com/office/drawing/2014/main" id="{0469F5D8-11C6-4F84-895F-D9308ED77FA7}"/>
              </a:ext>
            </a:extLst>
          </p:cNvPr>
          <p:cNvSpPr>
            <a:spLocks noGrp="1"/>
          </p:cNvSpPr>
          <p:nvPr/>
        </p:nvSpPr>
        <p:spPr>
          <a:xfrm>
            <a:off x="4857750" y="53149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关键判断、上线检查与持续复核</a:t>
            </a:r>
          </a:p>
        </p:txBody>
      </p:sp>
      <p:sp>
        <p:nvSpPr>
          <p:cNvPr id="54" name="统一风格-文字 60–63-54">
            <a:extLst>
              <a:ext uri="{FF2B5EF4-FFF2-40B4-BE49-F238E27FC236}">
                <a16:creationId xmlns:a16="http://schemas.microsoft.com/office/drawing/2014/main" id="{52B8AD37-362C-4E35-BBC7-330CF27C1BFC}"/>
              </a:ext>
            </a:extLst>
          </p:cNvPr>
          <p:cNvSpPr>
            <a:spLocks noGrp="1"/>
          </p:cNvSpPr>
          <p:nvPr/>
        </p:nvSpPr>
        <p:spPr>
          <a:xfrm>
            <a:off x="10477500" y="533400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79–82</a:t>
            </a:r>
          </a:p>
        </p:txBody>
      </p:sp>
      <p:sp>
        <p:nvSpPr>
          <p:cNvPr id="55" name="统一风格-页脚分隔线-55">
            <a:extLst>
              <a:ext uri="{FF2B5EF4-FFF2-40B4-BE49-F238E27FC236}">
                <a16:creationId xmlns:a16="http://schemas.microsoft.com/office/drawing/2014/main" id="{8586A7E8-4F03-4BA7-9D58-9076600DED2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文字 网络规划与安全配置需以业务访问需求和实际流量路径为依据-56">
            <a:extLst>
              <a:ext uri="{FF2B5EF4-FFF2-40B4-BE49-F238E27FC236}">
                <a16:creationId xmlns:a16="http://schemas.microsoft.com/office/drawing/2014/main" id="{FE0F9430-658D-4B2F-99FF-2D6DAFC1091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网络规划与安全配置需以业务访问需求和实际流量路径为依据</a:t>
            </a:r>
          </a:p>
        </p:txBody>
      </p:sp>
      <p:sp>
        <p:nvSpPr>
          <p:cNvPr id="57" name="正文-02">
            <a:extLst>
              <a:ext uri="{FF2B5EF4-FFF2-40B4-BE49-F238E27FC236}">
                <a16:creationId xmlns:a16="http://schemas.microsoft.com/office/drawing/2014/main" id="{B15BD514-8022-4322-9745-1BECC4B285B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196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统一风格-文字 01  VPC 基础与规范-1">
            <a:extLst>
              <a:ext uri="{FF2B5EF4-FFF2-40B4-BE49-F238E27FC236}">
                <a16:creationId xmlns:a16="http://schemas.microsoft.com/office/drawing/2014/main" id="{CEB29573-FFEE-4F57-8195-0D445F56DF6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：虚拟私有云-2">
            <a:extLst>
              <a:ext uri="{FF2B5EF4-FFF2-40B4-BE49-F238E27FC236}">
                <a16:creationId xmlns:a16="http://schemas.microsoft.com/office/drawing/2014/main" id="{7EE99318-0A88-44EC-9614-798308E0317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VPC：虚拟私有云</a:t>
            </a:r>
          </a:p>
        </p:txBody>
      </p:sp>
      <p:sp>
        <p:nvSpPr>
          <p:cNvPr id="3" name="统一风格-文字 云上业务的网络基础，支撑资源通信、逻辑隔离与按需互联-3">
            <a:extLst>
              <a:ext uri="{FF2B5EF4-FFF2-40B4-BE49-F238E27FC236}">
                <a16:creationId xmlns:a16="http://schemas.microsoft.com/office/drawing/2014/main" id="{61AE8559-CF5F-4E1A-9D83-C2BD495C0DF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云上业务的网络基础，支撑资源通信、逻辑隔离与按需互联</a:t>
            </a:r>
          </a:p>
        </p:txBody>
      </p:sp>
      <p:sp>
        <p:nvSpPr>
          <p:cNvPr id="4" name="统一风格-页脚分隔线-4">
            <a:extLst>
              <a:ext uri="{FF2B5EF4-FFF2-40B4-BE49-F238E27FC236}">
                <a16:creationId xmlns:a16="http://schemas.microsoft.com/office/drawing/2014/main" id="{5240B764-9196-415E-9A1E-660C2559B3B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VPC 支持网络规划、逻辑隔离与按需互联，实际访问仍需满足路由和安全策略要求。-5">
            <a:extLst>
              <a:ext uri="{FF2B5EF4-FFF2-40B4-BE49-F238E27FC236}">
                <a16:creationId xmlns:a16="http://schemas.microsoft.com/office/drawing/2014/main" id="{5D98B7EE-04A3-423A-8E81-CB8F3BF78E2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支持网络规划、逻辑隔离与按需互联，实际访问仍需满足路由和安全策略要求。</a:t>
            </a:r>
          </a:p>
        </p:txBody>
      </p:sp>
      <p:sp>
        <p:nvSpPr>
          <p:cNvPr id="6" name="统一风格-文字 03-6">
            <a:extLst>
              <a:ext uri="{FF2B5EF4-FFF2-40B4-BE49-F238E27FC236}">
                <a16:creationId xmlns:a16="http://schemas.microsoft.com/office/drawing/2014/main" id="{4630B125-7B98-4293-A09A-F52B72C3303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统一风格-VPC 概念玻璃后沿-7">
            <a:extLst>
              <a:ext uri="{FF2B5EF4-FFF2-40B4-BE49-F238E27FC236}">
                <a16:creationId xmlns:a16="http://schemas.microsoft.com/office/drawing/2014/main" id="{9A2380D8-2540-4457-B6BC-1F3D9AB074D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VPC 概念-8">
            <a:extLst>
              <a:ext uri="{FF2B5EF4-FFF2-40B4-BE49-F238E27FC236}">
                <a16:creationId xmlns:a16="http://schemas.microsoft.com/office/drawing/2014/main" id="{110E1EB6-57D2-414E-8CBE-ABB64AA1F00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VPC 概念玻璃内沿-9">
            <a:extLst>
              <a:ext uri="{FF2B5EF4-FFF2-40B4-BE49-F238E27FC236}">
                <a16:creationId xmlns:a16="http://schemas.microsoft.com/office/drawing/2014/main" id="{9C220DF0-DBF6-4DB2-B6F8-9088CC8147E3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574483"/>
          </a:xfrm>
          <a:prstGeom prst="roundRect">
            <a:avLst>
              <a:gd name="adj" fmla="val 46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VPC 概念透光反射面-10">
            <a:extLst>
              <a:ext uri="{FF2B5EF4-FFF2-40B4-BE49-F238E27FC236}">
                <a16:creationId xmlns:a16="http://schemas.microsoft.com/office/drawing/2014/main" id="{A6972CF4-1514-4F8B-B01B-A837FC788805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0934700" cy="1562100"/>
          </a:xfrm>
          <a:custGeom>
            <a:avLst/>
            <a:gdLst/>
            <a:ahLst/>
            <a:cxnLst/>
            <a:rect l="0" t="0" r="0" b="0"/>
            <a:pathLst>
              <a:path w="10934700" h="1562100">
                <a:moveTo>
                  <a:pt x="76200" y="0"/>
                </a:moveTo>
                <a:lnTo>
                  <a:pt x="6998208" y="0"/>
                </a:lnTo>
                <a:lnTo>
                  <a:pt x="2843022" y="1562100"/>
                </a:lnTo>
                <a:lnTo>
                  <a:pt x="76200" y="1562100"/>
                </a:lnTo>
                <a:cubicBezTo>
                  <a:pt x="28575" y="1562100"/>
                  <a:pt x="0" y="1533525"/>
                  <a:pt x="0" y="14859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VPC 概念边缘高光-11">
            <a:extLst>
              <a:ext uri="{FF2B5EF4-FFF2-40B4-BE49-F238E27FC236}">
                <a16:creationId xmlns:a16="http://schemas.microsoft.com/office/drawing/2014/main" id="{316F531B-93AA-4325-89D3-8A93B7245EA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custGeom>
            <a:avLst/>
            <a:gdLst/>
            <a:ahLst/>
            <a:cxnLst/>
            <a:rect l="0" t="0" r="0" b="0"/>
            <a:pathLst>
              <a:path w="10972800" h="16002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12">
            <a:extLst>
              <a:ext uri="{FF2B5EF4-FFF2-40B4-BE49-F238E27FC236}">
                <a16:creationId xmlns:a16="http://schemas.microsoft.com/office/drawing/2014/main" id="{B78A113F-1ECF-4EE4-BCB2-06756B30025F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概念-13">
            <a:extLst>
              <a:ext uri="{FF2B5EF4-FFF2-40B4-BE49-F238E27FC236}">
                <a16:creationId xmlns:a16="http://schemas.microsoft.com/office/drawing/2014/main" id="{15D450A1-FB08-4002-82DB-559AF6AD06DE}"/>
              </a:ext>
            </a:extLst>
          </p:cNvPr>
          <p:cNvSpPr>
            <a:spLocks noGrp="1"/>
          </p:cNvSpPr>
          <p:nvPr/>
        </p:nvSpPr>
        <p:spPr>
          <a:xfrm>
            <a:off x="1943100" y="2257425"/>
            <a:ext cx="8953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4" name="统一风格-文字 VPC（Virtual Private Cloud）是华为云上可配置的私有逻辑网络， 用于承载 ECS、RDS、CCE 等云资源，并提供逻辑隔离。-14">
            <a:extLst>
              <a:ext uri="{FF2B5EF4-FFF2-40B4-BE49-F238E27FC236}">
                <a16:creationId xmlns:a16="http://schemas.microsoft.com/office/drawing/2014/main" id="{009E052A-FCC2-4110-900D-B1AF6925B852}"/>
              </a:ext>
            </a:extLst>
          </p:cNvPr>
          <p:cNvSpPr>
            <a:spLocks noGrp="1"/>
          </p:cNvSpPr>
          <p:nvPr/>
        </p:nvSpPr>
        <p:spPr>
          <a:xfrm>
            <a:off x="1943100" y="2733675"/>
            <a:ext cx="93059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VPC（Virtual Private Cloud）是华为云上可配置的私有逻辑网络，</a:t>
            </a:r>
          </a:p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用于承载 ECS、RDS、CCE 等云资源，并提供逻辑隔离。</a:t>
            </a:r>
          </a:p>
        </p:txBody>
      </p:sp>
      <p:sp>
        <p:nvSpPr>
          <p:cNvPr id="15" name="统一风格-网络规划玻璃后沿-15">
            <a:extLst>
              <a:ext uri="{FF2B5EF4-FFF2-40B4-BE49-F238E27FC236}">
                <a16:creationId xmlns:a16="http://schemas.microsoft.com/office/drawing/2014/main" id="{E36AA030-18F9-4DD2-99DE-AD337895C519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网络规划-16">
            <a:extLst>
              <a:ext uri="{FF2B5EF4-FFF2-40B4-BE49-F238E27FC236}">
                <a16:creationId xmlns:a16="http://schemas.microsoft.com/office/drawing/2014/main" id="{34283C2E-D783-4F9A-BA10-0280CF6F9E8C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网络规划玻璃内沿-17">
            <a:extLst>
              <a:ext uri="{FF2B5EF4-FFF2-40B4-BE49-F238E27FC236}">
                <a16:creationId xmlns:a16="http://schemas.microsoft.com/office/drawing/2014/main" id="{A4D5DD7B-F727-47DA-94E8-F28775F57EEE}"/>
              </a:ext>
            </a:extLst>
          </p:cNvPr>
          <p:cNvSpPr>
            <a:spLocks noGrp="1"/>
          </p:cNvSpPr>
          <p:nvPr/>
        </p:nvSpPr>
        <p:spPr>
          <a:xfrm>
            <a:off x="622459" y="4013359"/>
            <a:ext cx="34794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网络规划透光反射面-18">
            <a:extLst>
              <a:ext uri="{FF2B5EF4-FFF2-40B4-BE49-F238E27FC236}">
                <a16:creationId xmlns:a16="http://schemas.microsoft.com/office/drawing/2014/main" id="{02CB78C1-AC60-45D5-A4B7-3222F2A4ED63}"/>
              </a:ext>
            </a:extLst>
          </p:cNvPr>
          <p:cNvSpPr>
            <a:spLocks noGrp="1"/>
          </p:cNvSpPr>
          <p:nvPr/>
        </p:nvSpPr>
        <p:spPr>
          <a:xfrm>
            <a:off x="628650" y="4019550"/>
            <a:ext cx="3467100" cy="1724025"/>
          </a:xfrm>
          <a:custGeom>
            <a:avLst/>
            <a:gdLst/>
            <a:ahLst/>
            <a:cxnLst/>
            <a:rect l="0" t="0" r="0" b="0"/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网络规划边缘高光-19">
            <a:extLst>
              <a:ext uri="{FF2B5EF4-FFF2-40B4-BE49-F238E27FC236}">
                <a16:creationId xmlns:a16="http://schemas.microsoft.com/office/drawing/2014/main" id="{0E9D8C79-37F3-486B-B5F5-9660296E1F4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505200" cy="1762125"/>
          </a:xfrm>
          <a:custGeom>
            <a:avLst/>
            <a:gdLst/>
            <a:ahLst/>
            <a:cxnLst/>
            <a:rect l="0" t="0" r="0" b="0"/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route-table VPC 路由表外框-20">
            <a:extLst>
              <a:ext uri="{FF2B5EF4-FFF2-40B4-BE49-F238E27FC236}">
                <a16:creationId xmlns:a16="http://schemas.microsoft.com/office/drawing/2014/main" id="{8507D560-3937-4891-98A4-B625C49EF9F6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route-table 路由表列与表头-21">
            <a:extLst>
              <a:ext uri="{FF2B5EF4-FFF2-40B4-BE49-F238E27FC236}">
                <a16:creationId xmlns:a16="http://schemas.microsoft.com/office/drawing/2014/main" id="{A7661D6C-7239-4B83-9C35-824399A5B10E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route-table 目的网段条目-22">
            <a:extLst>
              <a:ext uri="{FF2B5EF4-FFF2-40B4-BE49-F238E27FC236}">
                <a16:creationId xmlns:a16="http://schemas.microsoft.com/office/drawing/2014/main" id="{11633976-8DA3-4EE5-BDAE-8C52D92D51BD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route-table 下一跳箭头-23">
            <a:extLst>
              <a:ext uri="{FF2B5EF4-FFF2-40B4-BE49-F238E27FC236}">
                <a16:creationId xmlns:a16="http://schemas.microsoft.com/office/drawing/2014/main" id="{8F595B3A-5181-47C1-A569-D719D11AD232}"/>
              </a:ext>
            </a:extLst>
          </p:cNvPr>
          <p:cNvSpPr>
            <a:spLocks noGrp="1"/>
          </p:cNvSpPr>
          <p:nvPr/>
        </p:nvSpPr>
        <p:spPr>
          <a:xfrm>
            <a:off x="8096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网络规划-24">
            <a:extLst>
              <a:ext uri="{FF2B5EF4-FFF2-40B4-BE49-F238E27FC236}">
                <a16:creationId xmlns:a16="http://schemas.microsoft.com/office/drawing/2014/main" id="{380579D1-89B2-4DCB-AD4D-F94022B96C8D}"/>
              </a:ext>
            </a:extLst>
          </p:cNvPr>
          <p:cNvSpPr>
            <a:spLocks noGrp="1"/>
          </p:cNvSpPr>
          <p:nvPr/>
        </p:nvSpPr>
        <p:spPr>
          <a:xfrm>
            <a:off x="1438275" y="41814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网络规划</a:t>
            </a:r>
          </a:p>
        </p:txBody>
      </p:sp>
      <p:sp>
        <p:nvSpPr>
          <p:cNvPr id="25" name="统一风格-文字 规划地址空间与子网， 按业务需要配置路由， 明确资源地址和转发路径。-25">
            <a:extLst>
              <a:ext uri="{FF2B5EF4-FFF2-40B4-BE49-F238E27FC236}">
                <a16:creationId xmlns:a16="http://schemas.microsoft.com/office/drawing/2014/main" id="{0F404985-3BD8-44B2-ABB4-37CFDFFA765C}"/>
              </a:ext>
            </a:extLst>
          </p:cNvPr>
          <p:cNvSpPr>
            <a:spLocks noGrp="1"/>
          </p:cNvSpPr>
          <p:nvPr/>
        </p:nvSpPr>
        <p:spPr>
          <a:xfrm>
            <a:off x="828675" y="4724400"/>
            <a:ext cx="30670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规划地址空间与子网，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按业务需要配置路由，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明确资源地址和转发路径。</a:t>
            </a:r>
          </a:p>
        </p:txBody>
      </p:sp>
      <p:sp>
        <p:nvSpPr>
          <p:cNvPr id="26" name="统一风格-逻辑隔离玻璃后沿-26">
            <a:extLst>
              <a:ext uri="{FF2B5EF4-FFF2-40B4-BE49-F238E27FC236}">
                <a16:creationId xmlns:a16="http://schemas.microsoft.com/office/drawing/2014/main" id="{3D07F4CC-743C-4DF9-992B-732C13512E97}"/>
              </a:ext>
            </a:extLst>
          </p:cNvPr>
          <p:cNvSpPr>
            <a:spLocks noGrp="1"/>
          </p:cNvSpPr>
          <p:nvPr/>
        </p:nvSpPr>
        <p:spPr>
          <a:xfrm>
            <a:off x="43434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逻辑隔离-27">
            <a:extLst>
              <a:ext uri="{FF2B5EF4-FFF2-40B4-BE49-F238E27FC236}">
                <a16:creationId xmlns:a16="http://schemas.microsoft.com/office/drawing/2014/main" id="{75418ADB-BFBE-436F-A496-A18D83F792E4}"/>
              </a:ext>
            </a:extLst>
          </p:cNvPr>
          <p:cNvSpPr>
            <a:spLocks noGrp="1"/>
          </p:cNvSpPr>
          <p:nvPr/>
        </p:nvSpPr>
        <p:spPr>
          <a:xfrm>
            <a:off x="43434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逻辑隔离玻璃内沿-28">
            <a:extLst>
              <a:ext uri="{FF2B5EF4-FFF2-40B4-BE49-F238E27FC236}">
                <a16:creationId xmlns:a16="http://schemas.microsoft.com/office/drawing/2014/main" id="{EFC7C857-A02A-4B5A-BAF9-B0CEC2D9EA1A}"/>
              </a:ext>
            </a:extLst>
          </p:cNvPr>
          <p:cNvSpPr>
            <a:spLocks noGrp="1"/>
          </p:cNvSpPr>
          <p:nvPr/>
        </p:nvSpPr>
        <p:spPr>
          <a:xfrm>
            <a:off x="4356259" y="4013359"/>
            <a:ext cx="34794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逻辑隔离透光反射面-29">
            <a:extLst>
              <a:ext uri="{FF2B5EF4-FFF2-40B4-BE49-F238E27FC236}">
                <a16:creationId xmlns:a16="http://schemas.microsoft.com/office/drawing/2014/main" id="{C3A2B0F3-1D96-46FE-97EC-F15458CAC0BB}"/>
              </a:ext>
            </a:extLst>
          </p:cNvPr>
          <p:cNvSpPr>
            <a:spLocks noGrp="1"/>
          </p:cNvSpPr>
          <p:nvPr/>
        </p:nvSpPr>
        <p:spPr>
          <a:xfrm>
            <a:off x="4362450" y="4019550"/>
            <a:ext cx="3467100" cy="1724025"/>
          </a:xfrm>
          <a:custGeom>
            <a:avLst/>
            <a:gdLst/>
            <a:ahLst/>
            <a:cxnLst/>
            <a:rect l="0" t="0" r="0" b="0"/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逻辑隔离边缘高光-30">
            <a:extLst>
              <a:ext uri="{FF2B5EF4-FFF2-40B4-BE49-F238E27FC236}">
                <a16:creationId xmlns:a16="http://schemas.microsoft.com/office/drawing/2014/main" id="{883E0CB1-1679-4456-B672-792254AE8637}"/>
              </a:ext>
            </a:extLst>
          </p:cNvPr>
          <p:cNvSpPr>
            <a:spLocks noGrp="1"/>
          </p:cNvSpPr>
          <p:nvPr/>
        </p:nvSpPr>
        <p:spPr>
          <a:xfrm>
            <a:off x="4343400" y="4000500"/>
            <a:ext cx="3505200" cy="1762125"/>
          </a:xfrm>
          <a:custGeom>
            <a:avLst/>
            <a:gdLst/>
            <a:ahLst/>
            <a:cxnLst/>
            <a:rect l="0" t="0" r="0" b="0"/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hield 安全盾-31">
            <a:extLst>
              <a:ext uri="{FF2B5EF4-FFF2-40B4-BE49-F238E27FC236}">
                <a16:creationId xmlns:a16="http://schemas.microsoft.com/office/drawing/2014/main" id="{66D556F0-AFED-4A55-BC11-E99C12C2A131}"/>
              </a:ext>
            </a:extLst>
          </p:cNvPr>
          <p:cNvSpPr>
            <a:spLocks noGrp="1"/>
          </p:cNvSpPr>
          <p:nvPr/>
        </p:nvSpPr>
        <p:spPr>
          <a:xfrm>
            <a:off x="45434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hield 核验标记-32">
            <a:extLst>
              <a:ext uri="{FF2B5EF4-FFF2-40B4-BE49-F238E27FC236}">
                <a16:creationId xmlns:a16="http://schemas.microsoft.com/office/drawing/2014/main" id="{CD5D7636-0B0E-4420-A8F5-CD7FEDB13D2A}"/>
              </a:ext>
            </a:extLst>
          </p:cNvPr>
          <p:cNvSpPr>
            <a:spLocks noGrp="1"/>
          </p:cNvSpPr>
          <p:nvPr/>
        </p:nvSpPr>
        <p:spPr>
          <a:xfrm>
            <a:off x="45434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文字 逻辑隔离-33">
            <a:extLst>
              <a:ext uri="{FF2B5EF4-FFF2-40B4-BE49-F238E27FC236}">
                <a16:creationId xmlns:a16="http://schemas.microsoft.com/office/drawing/2014/main" id="{A742A319-E0AF-4270-AFEA-AFEE65EFB8AD}"/>
              </a:ext>
            </a:extLst>
          </p:cNvPr>
          <p:cNvSpPr>
            <a:spLocks noGrp="1"/>
          </p:cNvSpPr>
          <p:nvPr/>
        </p:nvSpPr>
        <p:spPr>
          <a:xfrm>
            <a:off x="5172075" y="41814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逻辑隔离</a:t>
            </a:r>
          </a:p>
        </p:txBody>
      </p:sp>
      <p:sp>
        <p:nvSpPr>
          <p:cNvPr id="34" name="统一风格-文字 不同 VPC 默认不互通。 VPC 内部访问仍需满足 安全组等策略要求。-34">
            <a:extLst>
              <a:ext uri="{FF2B5EF4-FFF2-40B4-BE49-F238E27FC236}">
                <a16:creationId xmlns:a16="http://schemas.microsoft.com/office/drawing/2014/main" id="{D29DCDC0-DB8D-4499-950A-3DC2CC2FFB00}"/>
              </a:ext>
            </a:extLst>
          </p:cNvPr>
          <p:cNvSpPr>
            <a:spLocks noGrp="1"/>
          </p:cNvSpPr>
          <p:nvPr/>
        </p:nvSpPr>
        <p:spPr>
          <a:xfrm>
            <a:off x="4562475" y="4724400"/>
            <a:ext cx="30670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VPC 默认不互通。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内部访问仍需满足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安全组等策略要求。</a:t>
            </a:r>
          </a:p>
        </p:txBody>
      </p:sp>
      <p:sp>
        <p:nvSpPr>
          <p:cNvPr id="35" name="统一风格-网络互联玻璃后沿-35">
            <a:extLst>
              <a:ext uri="{FF2B5EF4-FFF2-40B4-BE49-F238E27FC236}">
                <a16:creationId xmlns:a16="http://schemas.microsoft.com/office/drawing/2014/main" id="{A850BCDE-5EA0-4D25-BBEF-CB94D7488DDB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网络互联-36">
            <a:extLst>
              <a:ext uri="{FF2B5EF4-FFF2-40B4-BE49-F238E27FC236}">
                <a16:creationId xmlns:a16="http://schemas.microsoft.com/office/drawing/2014/main" id="{5A6EDDE1-8A56-433C-8209-17F3BAD7ED6C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35052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网络互联玻璃内沿-37">
            <a:extLst>
              <a:ext uri="{FF2B5EF4-FFF2-40B4-BE49-F238E27FC236}">
                <a16:creationId xmlns:a16="http://schemas.microsoft.com/office/drawing/2014/main" id="{9508E326-332E-414A-A238-578D28F51E81}"/>
              </a:ext>
            </a:extLst>
          </p:cNvPr>
          <p:cNvSpPr>
            <a:spLocks noGrp="1"/>
          </p:cNvSpPr>
          <p:nvPr/>
        </p:nvSpPr>
        <p:spPr>
          <a:xfrm>
            <a:off x="8090059" y="4013359"/>
            <a:ext cx="34794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网络互联透光反射面-38">
            <a:extLst>
              <a:ext uri="{FF2B5EF4-FFF2-40B4-BE49-F238E27FC236}">
                <a16:creationId xmlns:a16="http://schemas.microsoft.com/office/drawing/2014/main" id="{365BF600-A29C-4CD9-817E-63AE6A5386AF}"/>
              </a:ext>
            </a:extLst>
          </p:cNvPr>
          <p:cNvSpPr>
            <a:spLocks noGrp="1"/>
          </p:cNvSpPr>
          <p:nvPr/>
        </p:nvSpPr>
        <p:spPr>
          <a:xfrm>
            <a:off x="8096250" y="4019550"/>
            <a:ext cx="3467100" cy="1724025"/>
          </a:xfrm>
          <a:custGeom>
            <a:avLst/>
            <a:gdLst/>
            <a:ahLst/>
            <a:cxnLst/>
            <a:rect l="0" t="0" r="0" b="0"/>
            <a:pathLst>
              <a:path w="3467100" h="1724025">
                <a:moveTo>
                  <a:pt x="76200" y="0"/>
                </a:moveTo>
                <a:lnTo>
                  <a:pt x="2218944" y="0"/>
                </a:lnTo>
                <a:lnTo>
                  <a:pt x="901446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网络互联边缘高光-39">
            <a:extLst>
              <a:ext uri="{FF2B5EF4-FFF2-40B4-BE49-F238E27FC236}">
                <a16:creationId xmlns:a16="http://schemas.microsoft.com/office/drawing/2014/main" id="{ED90B6DF-C769-4530-9A9E-91911512EC0A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3505200" cy="1762125"/>
          </a:xfrm>
          <a:custGeom>
            <a:avLst/>
            <a:gdLst/>
            <a:ahLst/>
            <a:cxnLst/>
            <a:rect l="0" t="0" r="0" b="0"/>
            <a:pathLst>
              <a:path w="3505200" h="1762125">
                <a:moveTo>
                  <a:pt x="95250" y="9525"/>
                </a:moveTo>
                <a:lnTo>
                  <a:pt x="3409950" y="9525"/>
                </a:lnTo>
                <a:cubicBezTo>
                  <a:pt x="3457575" y="9525"/>
                  <a:pt x="3495675" y="47625"/>
                  <a:pt x="349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网络互联 双向连接-40">
            <a:extLst>
              <a:ext uri="{FF2B5EF4-FFF2-40B4-BE49-F238E27FC236}">
                <a16:creationId xmlns:a16="http://schemas.microsoft.com/office/drawing/2014/main" id="{C836E95C-0FBF-47F1-8410-4E4027DAE7B6}"/>
              </a:ext>
            </a:extLst>
          </p:cNvPr>
          <p:cNvSpPr>
            <a:spLocks noGrp="1"/>
          </p:cNvSpPr>
          <p:nvPr/>
        </p:nvSpPr>
        <p:spPr>
          <a:xfrm>
            <a:off x="8277225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网络互联-41">
            <a:extLst>
              <a:ext uri="{FF2B5EF4-FFF2-40B4-BE49-F238E27FC236}">
                <a16:creationId xmlns:a16="http://schemas.microsoft.com/office/drawing/2014/main" id="{FF3BF2B8-708B-4189-BA94-BB6176ACD90F}"/>
              </a:ext>
            </a:extLst>
          </p:cNvPr>
          <p:cNvSpPr>
            <a:spLocks noGrp="1"/>
          </p:cNvSpPr>
          <p:nvPr/>
        </p:nvSpPr>
        <p:spPr>
          <a:xfrm>
            <a:off x="8905875" y="41814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网络互联</a:t>
            </a:r>
          </a:p>
        </p:txBody>
      </p:sp>
      <p:sp>
        <p:nvSpPr>
          <p:cNvPr id="42" name="统一风格-文字 按需建立跨 VPC、跨区域 及云上云下的网络连接， 核验双向路由与访问权限。-42">
            <a:extLst>
              <a:ext uri="{FF2B5EF4-FFF2-40B4-BE49-F238E27FC236}">
                <a16:creationId xmlns:a16="http://schemas.microsoft.com/office/drawing/2014/main" id="{84666442-A43A-4EE3-9C7D-0C8E8DCDB304}"/>
              </a:ext>
            </a:extLst>
          </p:cNvPr>
          <p:cNvSpPr>
            <a:spLocks noGrp="1"/>
          </p:cNvSpPr>
          <p:nvPr/>
        </p:nvSpPr>
        <p:spPr>
          <a:xfrm>
            <a:off x="8296275" y="4724400"/>
            <a:ext cx="30670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按需建立跨 VPC、跨区域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及云上云下的网络连接，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核验双向路由与访问权限。</a:t>
            </a:r>
          </a:p>
        </p:txBody>
      </p:sp>
    </p:spTree>
    <p:extLst>
      <p:ext uri="{BB962C8B-B14F-4D97-AF65-F5344CB8AC3E}">
        <p14:creationId xmlns:p14="http://schemas.microsoft.com/office/powerpoint/2010/main" val="1243242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统一风格-文字 01  VPC 基础与规范-1">
            <a:extLst>
              <a:ext uri="{FF2B5EF4-FFF2-40B4-BE49-F238E27FC236}">
                <a16:creationId xmlns:a16="http://schemas.microsoft.com/office/drawing/2014/main" id="{ED65CC89-8520-40BA-BB74-D56624A65EF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在云计算中的位置-2">
            <a:extLst>
              <a:ext uri="{FF2B5EF4-FFF2-40B4-BE49-F238E27FC236}">
                <a16:creationId xmlns:a16="http://schemas.microsoft.com/office/drawing/2014/main" id="{94ED113C-E609-4BAB-BEF1-DF9369D35EA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在云计算中的位置</a:t>
            </a:r>
          </a:p>
        </p:txBody>
      </p:sp>
      <p:sp>
        <p:nvSpPr>
          <p:cNvPr id="3" name="统一风格-文字 VPC 位于 IaaS 网络基础层，与计算、存储共同支撑平台和软件服务-3">
            <a:extLst>
              <a:ext uri="{FF2B5EF4-FFF2-40B4-BE49-F238E27FC236}">
                <a16:creationId xmlns:a16="http://schemas.microsoft.com/office/drawing/2014/main" id="{0350E629-B3BB-4FF3-92E9-638082FC674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位于 IaaS 网络基础层，与计算、存储共同支撑平台和软件服务</a:t>
            </a:r>
          </a:p>
        </p:txBody>
      </p:sp>
      <p:sp>
        <p:nvSpPr>
          <p:cNvPr id="4" name="统一风格-整层支撑向上箭头-4">
            <a:extLst>
              <a:ext uri="{FF2B5EF4-FFF2-40B4-BE49-F238E27FC236}">
                <a16:creationId xmlns:a16="http://schemas.microsoft.com/office/drawing/2014/main" id="{11921D38-783E-4D20-9BD8-63D8DDCCB855}"/>
              </a:ext>
            </a:extLst>
          </p:cNvPr>
          <p:cNvSpPr>
            <a:spLocks noGrp="1"/>
          </p:cNvSpPr>
          <p:nvPr/>
        </p:nvSpPr>
        <p:spPr>
          <a:xfrm>
            <a:off x="6800850" y="2628900"/>
            <a:ext cx="95250" cy="247650"/>
          </a:xfrm>
          <a:custGeom>
            <a:avLst/>
            <a:gdLst/>
            <a:ahLst/>
            <a:cxnLst/>
            <a:rect l="0" t="0" r="0" b="0"/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/>
          <a:ln w="1524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整层支撑向上箭头-5">
            <a:extLst>
              <a:ext uri="{FF2B5EF4-FFF2-40B4-BE49-F238E27FC236}">
                <a16:creationId xmlns:a16="http://schemas.microsoft.com/office/drawing/2014/main" id="{E3DA7D47-57DB-47EC-BBE8-AF24448FF0AE}"/>
              </a:ext>
            </a:extLst>
          </p:cNvPr>
          <p:cNvSpPr>
            <a:spLocks noGrp="1"/>
          </p:cNvSpPr>
          <p:nvPr/>
        </p:nvSpPr>
        <p:spPr>
          <a:xfrm>
            <a:off x="6800850" y="3810000"/>
            <a:ext cx="95250" cy="247650"/>
          </a:xfrm>
          <a:custGeom>
            <a:avLst/>
            <a:gdLst/>
            <a:ahLst/>
            <a:cxnLst/>
            <a:rect l="0" t="0" r="0" b="0"/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/>
          <a:ln w="1524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整层支撑向上箭头-6">
            <a:extLst>
              <a:ext uri="{FF2B5EF4-FFF2-40B4-BE49-F238E27FC236}">
                <a16:creationId xmlns:a16="http://schemas.microsoft.com/office/drawing/2014/main" id="{5B90BA18-ACDD-47E1-ADA5-D25A9FFF5CB6}"/>
              </a:ext>
            </a:extLst>
          </p:cNvPr>
          <p:cNvSpPr>
            <a:spLocks noGrp="1"/>
          </p:cNvSpPr>
          <p:nvPr/>
        </p:nvSpPr>
        <p:spPr>
          <a:xfrm>
            <a:off x="6800850" y="4991100"/>
            <a:ext cx="95250" cy="247650"/>
          </a:xfrm>
          <a:custGeom>
            <a:avLst/>
            <a:gdLst/>
            <a:ahLst/>
            <a:cxnLst/>
            <a:rect l="0" t="0" r="0" b="0"/>
            <a:pathLst>
              <a:path w="95250" h="247650">
                <a:moveTo>
                  <a:pt x="47625" y="247650"/>
                </a:moveTo>
                <a:lnTo>
                  <a:pt x="47625" y="0"/>
                </a:lnTo>
                <a:moveTo>
                  <a:pt x="0" y="47625"/>
                </a:moveTo>
                <a:lnTo>
                  <a:pt x="47625" y="0"/>
                </a:lnTo>
                <a:lnTo>
                  <a:pt x="95250" y="47625"/>
                </a:lnTo>
              </a:path>
            </a:pathLst>
          </a:custGeom>
          <a:noFill/>
          <a:ln w="1524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文字 软件服务-7">
            <a:extLst>
              <a:ext uri="{FF2B5EF4-FFF2-40B4-BE49-F238E27FC236}">
                <a16:creationId xmlns:a16="http://schemas.microsoft.com/office/drawing/2014/main" id="{03DA86A6-5CF9-4BB5-A7C3-05743C25CA9C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295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软件服务</a:t>
            </a:r>
          </a:p>
        </p:txBody>
      </p:sp>
      <p:sp>
        <p:nvSpPr>
          <p:cNvPr id="8" name="统一风格-文字 SaaS-8">
            <a:extLst>
              <a:ext uri="{FF2B5EF4-FFF2-40B4-BE49-F238E27FC236}">
                <a16:creationId xmlns:a16="http://schemas.microsoft.com/office/drawing/2014/main" id="{0FCF7C5A-E016-4615-8F4E-3843935A55E2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SaaS</a:t>
            </a:r>
          </a:p>
        </p:txBody>
      </p:sp>
      <p:sp>
        <p:nvSpPr>
          <p:cNvPr id="9" name="统一风格-SaaS 软件服务玻璃后沿-9">
            <a:extLst>
              <a:ext uri="{FF2B5EF4-FFF2-40B4-BE49-F238E27FC236}">
                <a16:creationId xmlns:a16="http://schemas.microsoft.com/office/drawing/2014/main" id="{76C4B70F-AE15-4D6E-91EC-506D812DC3AA}"/>
              </a:ext>
            </a:extLst>
          </p:cNvPr>
          <p:cNvSpPr>
            <a:spLocks noGrp="1"/>
          </p:cNvSpPr>
          <p:nvPr/>
        </p:nvSpPr>
        <p:spPr>
          <a:xfrm>
            <a:off x="2114550" y="2028825"/>
            <a:ext cx="946785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SaaS 软件服务-10">
            <a:extLst>
              <a:ext uri="{FF2B5EF4-FFF2-40B4-BE49-F238E27FC236}">
                <a16:creationId xmlns:a16="http://schemas.microsoft.com/office/drawing/2014/main" id="{04E330ED-3923-4BBC-865A-EF0343C96FFA}"/>
              </a:ext>
            </a:extLst>
          </p:cNvPr>
          <p:cNvSpPr>
            <a:spLocks noGrp="1"/>
          </p:cNvSpPr>
          <p:nvPr/>
        </p:nvSpPr>
        <p:spPr>
          <a:xfrm>
            <a:off x="2114550" y="2028825"/>
            <a:ext cx="946785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SaaS 软件服务玻璃内沿-11">
            <a:extLst>
              <a:ext uri="{FF2B5EF4-FFF2-40B4-BE49-F238E27FC236}">
                <a16:creationId xmlns:a16="http://schemas.microsoft.com/office/drawing/2014/main" id="{1C0AD374-F3A9-44C9-B4F0-0BAB784BAAD7}"/>
              </a:ext>
            </a:extLst>
          </p:cNvPr>
          <p:cNvSpPr>
            <a:spLocks noGrp="1"/>
          </p:cNvSpPr>
          <p:nvPr/>
        </p:nvSpPr>
        <p:spPr>
          <a:xfrm>
            <a:off x="2127409" y="2041684"/>
            <a:ext cx="944213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aaS 软件服务边缘高光-12">
            <a:extLst>
              <a:ext uri="{FF2B5EF4-FFF2-40B4-BE49-F238E27FC236}">
                <a16:creationId xmlns:a16="http://schemas.microsoft.com/office/drawing/2014/main" id="{26B83722-6961-4992-8558-48EDB2B3BAD3}"/>
              </a:ext>
            </a:extLst>
          </p:cNvPr>
          <p:cNvSpPr>
            <a:spLocks noGrp="1"/>
          </p:cNvSpPr>
          <p:nvPr/>
        </p:nvSpPr>
        <p:spPr>
          <a:xfrm>
            <a:off x="2114550" y="2028825"/>
            <a:ext cx="9467850" cy="571500"/>
          </a:xfrm>
          <a:custGeom>
            <a:avLst/>
            <a:gdLst/>
            <a:ahLst/>
            <a:cxnLst/>
            <a:rect l="0" t="0" r="0" b="0"/>
            <a:pathLst>
              <a:path w="9467850" h="5715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云会议 / 在线办公 / CRM 等软件服务-13">
            <a:extLst>
              <a:ext uri="{FF2B5EF4-FFF2-40B4-BE49-F238E27FC236}">
                <a16:creationId xmlns:a16="http://schemas.microsoft.com/office/drawing/2014/main" id="{E394A15A-960E-4E0B-B713-7803F76F8975}"/>
              </a:ext>
            </a:extLst>
          </p:cNvPr>
          <p:cNvSpPr>
            <a:spLocks noGrp="1"/>
          </p:cNvSpPr>
          <p:nvPr/>
        </p:nvSpPr>
        <p:spPr>
          <a:xfrm>
            <a:off x="2352675" y="2076450"/>
            <a:ext cx="8991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云会议 / 在线办公 / CRM 等软件服务</a:t>
            </a:r>
          </a:p>
        </p:txBody>
      </p:sp>
      <p:sp>
        <p:nvSpPr>
          <p:cNvPr id="14" name="统一风格-文字 用户直接使用完整应用，服务方维护应用及底层环境-14">
            <a:extLst>
              <a:ext uri="{FF2B5EF4-FFF2-40B4-BE49-F238E27FC236}">
                <a16:creationId xmlns:a16="http://schemas.microsoft.com/office/drawing/2014/main" id="{4415A939-2955-4654-9313-2E8B12A5D66E}"/>
              </a:ext>
            </a:extLst>
          </p:cNvPr>
          <p:cNvSpPr>
            <a:spLocks noGrp="1"/>
          </p:cNvSpPr>
          <p:nvPr/>
        </p:nvSpPr>
        <p:spPr>
          <a:xfrm>
            <a:off x="2352675" y="2352675"/>
            <a:ext cx="8991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用户直接使用完整应用，服务方维护应用及底层环境</a:t>
            </a:r>
          </a:p>
        </p:txBody>
      </p:sp>
      <p:sp>
        <p:nvSpPr>
          <p:cNvPr id="15" name="统一风格-文字 平台服务-15">
            <a:extLst>
              <a:ext uri="{FF2B5EF4-FFF2-40B4-BE49-F238E27FC236}">
                <a16:creationId xmlns:a16="http://schemas.microsoft.com/office/drawing/2014/main" id="{8D140EE6-4D74-48CF-B121-B4BFC0FB4770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295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平台服务</a:t>
            </a:r>
          </a:p>
        </p:txBody>
      </p:sp>
      <p:sp>
        <p:nvSpPr>
          <p:cNvPr id="16" name="统一风格-文字 PaaS-16">
            <a:extLst>
              <a:ext uri="{FF2B5EF4-FFF2-40B4-BE49-F238E27FC236}">
                <a16:creationId xmlns:a16="http://schemas.microsoft.com/office/drawing/2014/main" id="{9FC68B45-C9B5-4EF8-B7C3-424F3FF77531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PaaS</a:t>
            </a:r>
          </a:p>
        </p:txBody>
      </p:sp>
      <p:sp>
        <p:nvSpPr>
          <p:cNvPr id="17" name="统一风格-PaaS 整层平台能力玻璃后沿-17">
            <a:extLst>
              <a:ext uri="{FF2B5EF4-FFF2-40B4-BE49-F238E27FC236}">
                <a16:creationId xmlns:a16="http://schemas.microsoft.com/office/drawing/2014/main" id="{1D4998CE-9346-47B4-A62C-7B1E628A2481}"/>
              </a:ext>
            </a:extLst>
          </p:cNvPr>
          <p:cNvSpPr>
            <a:spLocks noGrp="1"/>
          </p:cNvSpPr>
          <p:nvPr/>
        </p:nvSpPr>
        <p:spPr>
          <a:xfrm>
            <a:off x="2114550" y="29051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PaaS 整层平台能力-18">
            <a:extLst>
              <a:ext uri="{FF2B5EF4-FFF2-40B4-BE49-F238E27FC236}">
                <a16:creationId xmlns:a16="http://schemas.microsoft.com/office/drawing/2014/main" id="{5D82B025-8C7A-48F7-A4AD-969DC10CC1C0}"/>
              </a:ext>
            </a:extLst>
          </p:cNvPr>
          <p:cNvSpPr>
            <a:spLocks noGrp="1"/>
          </p:cNvSpPr>
          <p:nvPr/>
        </p:nvSpPr>
        <p:spPr>
          <a:xfrm>
            <a:off x="2114550" y="29051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PaaS 整层平台能力玻璃内沿-19">
            <a:extLst>
              <a:ext uri="{FF2B5EF4-FFF2-40B4-BE49-F238E27FC236}">
                <a16:creationId xmlns:a16="http://schemas.microsoft.com/office/drawing/2014/main" id="{0FF3D63F-A22A-4232-B635-2B1356C674C0}"/>
              </a:ext>
            </a:extLst>
          </p:cNvPr>
          <p:cNvSpPr>
            <a:spLocks noGrp="1"/>
          </p:cNvSpPr>
          <p:nvPr/>
        </p:nvSpPr>
        <p:spPr>
          <a:xfrm>
            <a:off x="2127409" y="2917984"/>
            <a:ext cx="9442133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PaaS 整层平台能力边缘高光-20">
            <a:extLst>
              <a:ext uri="{FF2B5EF4-FFF2-40B4-BE49-F238E27FC236}">
                <a16:creationId xmlns:a16="http://schemas.microsoft.com/office/drawing/2014/main" id="{E0DC02F9-77CA-4429-A23E-4D1D1FF386FC}"/>
              </a:ext>
            </a:extLst>
          </p:cNvPr>
          <p:cNvSpPr>
            <a:spLocks noGrp="1"/>
          </p:cNvSpPr>
          <p:nvPr/>
        </p:nvSpPr>
        <p:spPr>
          <a:xfrm>
            <a:off x="2114550" y="2905125"/>
            <a:ext cx="9467850" cy="876300"/>
          </a:xfrm>
          <a:custGeom>
            <a:avLst/>
            <a:gdLst/>
            <a:ahLst/>
            <a:cxnLst/>
            <a:rect l="0" t="0" r="0" b="0"/>
            <a:pathLst>
              <a:path w="9467850" h="8763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平台列分隔-21">
            <a:extLst>
              <a:ext uri="{FF2B5EF4-FFF2-40B4-BE49-F238E27FC236}">
                <a16:creationId xmlns:a16="http://schemas.microsoft.com/office/drawing/2014/main" id="{B6B3A9CD-0C26-4320-9E25-9509BCF78F2E}"/>
              </a:ext>
            </a:extLst>
          </p:cNvPr>
          <p:cNvSpPr>
            <a:spLocks noGrp="1"/>
          </p:cNvSpPr>
          <p:nvPr/>
        </p:nvSpPr>
        <p:spPr>
          <a:xfrm>
            <a:off x="5229225" y="30480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平台列分隔-22">
            <a:extLst>
              <a:ext uri="{FF2B5EF4-FFF2-40B4-BE49-F238E27FC236}">
                <a16:creationId xmlns:a16="http://schemas.microsoft.com/office/drawing/2014/main" id="{8862BAC2-ACAB-425F-8AF8-47541E8DDED3}"/>
              </a:ext>
            </a:extLst>
          </p:cNvPr>
          <p:cNvSpPr>
            <a:spLocks noGrp="1"/>
          </p:cNvSpPr>
          <p:nvPr/>
        </p:nvSpPr>
        <p:spPr>
          <a:xfrm>
            <a:off x="8467725" y="30480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容器集群图标-23">
            <a:extLst>
              <a:ext uri="{FF2B5EF4-FFF2-40B4-BE49-F238E27FC236}">
                <a16:creationId xmlns:a16="http://schemas.microsoft.com/office/drawing/2014/main" id="{EF46138D-29AD-4607-9548-6644D15FFB2D}"/>
              </a:ext>
            </a:extLst>
          </p:cNvPr>
          <p:cNvSpPr>
            <a:spLocks noGrp="1"/>
          </p:cNvSpPr>
          <p:nvPr/>
        </p:nvSpPr>
        <p:spPr>
          <a:xfrm>
            <a:off x="22860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66675"/>
                </a:moveTo>
                <a:lnTo>
                  <a:pt x="257175" y="66675"/>
                </a:lnTo>
                <a:lnTo>
                  <a:pt x="257175" y="257175"/>
                </a:lnTo>
                <a:lnTo>
                  <a:pt x="66675" y="257175"/>
                </a:lnTo>
                <a:close/>
                <a:moveTo>
                  <a:pt x="352425" y="66675"/>
                </a:moveTo>
                <a:lnTo>
                  <a:pt x="542925" y="66675"/>
                </a:lnTo>
                <a:lnTo>
                  <a:pt x="542925" y="257175"/>
                </a:lnTo>
                <a:lnTo>
                  <a:pt x="352425" y="257175"/>
                </a:lnTo>
                <a:close/>
                <a:moveTo>
                  <a:pt x="66675" y="352425"/>
                </a:moveTo>
                <a:lnTo>
                  <a:pt x="257175" y="352425"/>
                </a:lnTo>
                <a:lnTo>
                  <a:pt x="257175" y="542925"/>
                </a:lnTo>
                <a:lnTo>
                  <a:pt x="66675" y="542925"/>
                </a:lnTo>
                <a:close/>
                <a:moveTo>
                  <a:pt x="352425" y="352425"/>
                </a:moveTo>
                <a:lnTo>
                  <a:pt x="542925" y="352425"/>
                </a:lnTo>
                <a:lnTo>
                  <a:pt x="542925" y="542925"/>
                </a:lnTo>
                <a:lnTo>
                  <a:pt x="3524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CCE 容器平台-24">
            <a:extLst>
              <a:ext uri="{FF2B5EF4-FFF2-40B4-BE49-F238E27FC236}">
                <a16:creationId xmlns:a16="http://schemas.microsoft.com/office/drawing/2014/main" id="{0179C5DB-45D7-46F6-BF39-2AD9C52E8A71}"/>
              </a:ext>
            </a:extLst>
          </p:cNvPr>
          <p:cNvSpPr>
            <a:spLocks noGrp="1"/>
          </p:cNvSpPr>
          <p:nvPr/>
        </p:nvSpPr>
        <p:spPr>
          <a:xfrm>
            <a:off x="2857500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CCE 容器平台</a:t>
            </a:r>
          </a:p>
        </p:txBody>
      </p:sp>
      <p:sp>
        <p:nvSpPr>
          <p:cNvPr id="25" name="统一风格-文字 容器编排与集群管理-25">
            <a:extLst>
              <a:ext uri="{FF2B5EF4-FFF2-40B4-BE49-F238E27FC236}">
                <a16:creationId xmlns:a16="http://schemas.microsoft.com/office/drawing/2014/main" id="{B31711A8-DB76-4518-820B-5BC323B8F05D}"/>
              </a:ext>
            </a:extLst>
          </p:cNvPr>
          <p:cNvSpPr>
            <a:spLocks noGrp="1"/>
          </p:cNvSpPr>
          <p:nvPr/>
        </p:nvSpPr>
        <p:spPr>
          <a:xfrm>
            <a:off x="2857500" y="3400425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容器编排与集群管理</a:t>
            </a:r>
          </a:p>
        </p:txBody>
      </p:sp>
      <p:sp>
        <p:nvSpPr>
          <p:cNvPr id="26" name="统一风格-db 数据库柱体-26">
            <a:extLst>
              <a:ext uri="{FF2B5EF4-FFF2-40B4-BE49-F238E27FC236}">
                <a16:creationId xmlns:a16="http://schemas.microsoft.com/office/drawing/2014/main" id="{311C910D-BC0D-4D38-B7A7-C339C8641624}"/>
              </a:ext>
            </a:extLst>
          </p:cNvPr>
          <p:cNvSpPr>
            <a:spLocks noGrp="1"/>
          </p:cNvSpPr>
          <p:nvPr/>
        </p:nvSpPr>
        <p:spPr>
          <a:xfrm>
            <a:off x="55245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db 数据库分层-27">
            <a:extLst>
              <a:ext uri="{FF2B5EF4-FFF2-40B4-BE49-F238E27FC236}">
                <a16:creationId xmlns:a16="http://schemas.microsoft.com/office/drawing/2014/main" id="{8F616C2E-A1BF-47C6-A024-BB9B90C43AA8}"/>
              </a:ext>
            </a:extLst>
          </p:cNvPr>
          <p:cNvSpPr>
            <a:spLocks noGrp="1"/>
          </p:cNvSpPr>
          <p:nvPr/>
        </p:nvSpPr>
        <p:spPr>
          <a:xfrm>
            <a:off x="55245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RDS 托管数据库-28">
            <a:extLst>
              <a:ext uri="{FF2B5EF4-FFF2-40B4-BE49-F238E27FC236}">
                <a16:creationId xmlns:a16="http://schemas.microsoft.com/office/drawing/2014/main" id="{DC5F651A-7B41-40DF-BCF6-453A08CB80FC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RDS 托管数据库</a:t>
            </a:r>
          </a:p>
        </p:txBody>
      </p:sp>
      <p:sp>
        <p:nvSpPr>
          <p:cNvPr id="29" name="统一风格-文字 提供托管关系型数据库-29">
            <a:extLst>
              <a:ext uri="{FF2B5EF4-FFF2-40B4-BE49-F238E27FC236}">
                <a16:creationId xmlns:a16="http://schemas.microsoft.com/office/drawing/2014/main" id="{AEDCDB78-8F76-4E3C-A49E-4F6BA04C70D5}"/>
              </a:ext>
            </a:extLst>
          </p:cNvPr>
          <p:cNvSpPr>
            <a:spLocks noGrp="1"/>
          </p:cNvSpPr>
          <p:nvPr/>
        </p:nvSpPr>
        <p:spPr>
          <a:xfrm>
            <a:off x="6096000" y="3400425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提供托管关系型数据库</a:t>
            </a:r>
          </a:p>
        </p:txBody>
      </p:sp>
      <p:sp>
        <p:nvSpPr>
          <p:cNvPr id="30" name="统一风格-模型服务芯片-30">
            <a:extLst>
              <a:ext uri="{FF2B5EF4-FFF2-40B4-BE49-F238E27FC236}">
                <a16:creationId xmlns:a16="http://schemas.microsoft.com/office/drawing/2014/main" id="{9A726C00-AD9F-4B88-9071-68C6A8080A4C}"/>
              </a:ext>
            </a:extLst>
          </p:cNvPr>
          <p:cNvSpPr>
            <a:spLocks noGrp="1"/>
          </p:cNvSpPr>
          <p:nvPr/>
        </p:nvSpPr>
        <p:spPr>
          <a:xfrm>
            <a:off x="87630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14300"/>
                </a:moveTo>
                <a:lnTo>
                  <a:pt x="438150" y="114300"/>
                </a:lnTo>
                <a:cubicBezTo>
                  <a:pt x="466725" y="114300"/>
                  <a:pt x="495300" y="142875"/>
                  <a:pt x="495300" y="171450"/>
                </a:cubicBezTo>
                <a:lnTo>
                  <a:pt x="495300" y="438150"/>
                </a:lnTo>
                <a:cubicBezTo>
                  <a:pt x="495300" y="466725"/>
                  <a:pt x="466725" y="495300"/>
                  <a:pt x="438150" y="495300"/>
                </a:cubicBezTo>
                <a:lnTo>
                  <a:pt x="171450" y="495300"/>
                </a:lnTo>
                <a:cubicBezTo>
                  <a:pt x="142875" y="495300"/>
                  <a:pt x="114300" y="466725"/>
                  <a:pt x="114300" y="438150"/>
                </a:cubicBezTo>
                <a:lnTo>
                  <a:pt x="114300" y="171450"/>
                </a:lnTo>
                <a:cubicBezTo>
                  <a:pt x="114300" y="142875"/>
                  <a:pt x="142875" y="114300"/>
                  <a:pt x="171450" y="1143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模型服务连接-31">
            <a:extLst>
              <a:ext uri="{FF2B5EF4-FFF2-40B4-BE49-F238E27FC236}">
                <a16:creationId xmlns:a16="http://schemas.microsoft.com/office/drawing/2014/main" id="{B119404F-D5C4-486C-B4DD-756BF81FBD29}"/>
              </a:ext>
            </a:extLst>
          </p:cNvPr>
          <p:cNvSpPr>
            <a:spLocks noGrp="1"/>
          </p:cNvSpPr>
          <p:nvPr/>
        </p:nvSpPr>
        <p:spPr>
          <a:xfrm>
            <a:off x="8763000" y="31337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38100"/>
                </a:moveTo>
                <a:lnTo>
                  <a:pt x="228600" y="114300"/>
                </a:lnTo>
                <a:moveTo>
                  <a:pt x="381000" y="38100"/>
                </a:moveTo>
                <a:lnTo>
                  <a:pt x="381000" y="114300"/>
                </a:lnTo>
                <a:moveTo>
                  <a:pt x="228600" y="495300"/>
                </a:moveTo>
                <a:lnTo>
                  <a:pt x="228600" y="571500"/>
                </a:lnTo>
                <a:moveTo>
                  <a:pt x="381000" y="495300"/>
                </a:moveTo>
                <a:lnTo>
                  <a:pt x="381000" y="571500"/>
                </a:lnTo>
                <a:moveTo>
                  <a:pt x="38100" y="228600"/>
                </a:moveTo>
                <a:lnTo>
                  <a:pt x="114300" y="228600"/>
                </a:lnTo>
                <a:moveTo>
                  <a:pt x="38100" y="381000"/>
                </a:moveTo>
                <a:lnTo>
                  <a:pt x="114300" y="381000"/>
                </a:lnTo>
                <a:moveTo>
                  <a:pt x="495300" y="228600"/>
                </a:moveTo>
                <a:lnTo>
                  <a:pt x="571500" y="228600"/>
                </a:lnTo>
                <a:moveTo>
                  <a:pt x="495300" y="381000"/>
                </a:moveTo>
                <a:lnTo>
                  <a:pt x="571500" y="381000"/>
                </a:lnTo>
                <a:moveTo>
                  <a:pt x="228600" y="228600"/>
                </a:moveTo>
                <a:lnTo>
                  <a:pt x="381000" y="304800"/>
                </a:lnTo>
                <a:lnTo>
                  <a:pt x="228600" y="3810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模型节点-32">
            <a:extLst>
              <a:ext uri="{FF2B5EF4-FFF2-40B4-BE49-F238E27FC236}">
                <a16:creationId xmlns:a16="http://schemas.microsoft.com/office/drawing/2014/main" id="{ABB997C7-09AB-44CB-BAAA-D2EE3E6A42CC}"/>
              </a:ext>
            </a:extLst>
          </p:cNvPr>
          <p:cNvSpPr>
            <a:spLocks noGrp="1"/>
          </p:cNvSpPr>
          <p:nvPr/>
        </p:nvSpPr>
        <p:spPr>
          <a:xfrm>
            <a:off x="8900517" y="3271242"/>
            <a:ext cx="39291" cy="39291"/>
          </a:xfrm>
          <a:prstGeom prst="ellipse">
            <a:avLst/>
          </a:prstGeom>
          <a:solidFill>
            <a:srgbClr val="F5F9FF"/>
          </a:solidFill>
          <a:ln w="11642">
            <a:solidFill>
              <a:srgbClr val="2053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模型节点-33">
            <a:extLst>
              <a:ext uri="{FF2B5EF4-FFF2-40B4-BE49-F238E27FC236}">
                <a16:creationId xmlns:a16="http://schemas.microsoft.com/office/drawing/2014/main" id="{44A218F4-3AFB-42D3-87B8-87B458FBA154}"/>
              </a:ext>
            </a:extLst>
          </p:cNvPr>
          <p:cNvSpPr>
            <a:spLocks noGrp="1"/>
          </p:cNvSpPr>
          <p:nvPr/>
        </p:nvSpPr>
        <p:spPr>
          <a:xfrm>
            <a:off x="9005292" y="3323630"/>
            <a:ext cx="39291" cy="39291"/>
          </a:xfrm>
          <a:prstGeom prst="ellipse">
            <a:avLst/>
          </a:prstGeom>
          <a:solidFill>
            <a:srgbClr val="F5F9FF"/>
          </a:solidFill>
          <a:ln w="11642">
            <a:solidFill>
              <a:srgbClr val="2053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模型节点-34">
            <a:extLst>
              <a:ext uri="{FF2B5EF4-FFF2-40B4-BE49-F238E27FC236}">
                <a16:creationId xmlns:a16="http://schemas.microsoft.com/office/drawing/2014/main" id="{7FBF1834-3D1C-49B6-8CD1-BAF0A776FE40}"/>
              </a:ext>
            </a:extLst>
          </p:cNvPr>
          <p:cNvSpPr>
            <a:spLocks noGrp="1"/>
          </p:cNvSpPr>
          <p:nvPr/>
        </p:nvSpPr>
        <p:spPr>
          <a:xfrm>
            <a:off x="8900517" y="3376017"/>
            <a:ext cx="39291" cy="39291"/>
          </a:xfrm>
          <a:prstGeom prst="ellipse">
            <a:avLst/>
          </a:prstGeom>
          <a:solidFill>
            <a:srgbClr val="F5F9FF"/>
          </a:solidFill>
          <a:ln w="11642">
            <a:solidFill>
              <a:srgbClr val="2053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MaaS 模型即服务-35">
            <a:extLst>
              <a:ext uri="{FF2B5EF4-FFF2-40B4-BE49-F238E27FC236}">
                <a16:creationId xmlns:a16="http://schemas.microsoft.com/office/drawing/2014/main" id="{9A24AA05-7317-44E2-AC8D-A091CAD38B78}"/>
              </a:ext>
            </a:extLst>
          </p:cNvPr>
          <p:cNvSpPr>
            <a:spLocks noGrp="1"/>
          </p:cNvSpPr>
          <p:nvPr/>
        </p:nvSpPr>
        <p:spPr>
          <a:xfrm>
            <a:off x="9334500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MaaS 模型即服务</a:t>
            </a:r>
          </a:p>
        </p:txBody>
      </p:sp>
      <p:sp>
        <p:nvSpPr>
          <p:cNvPr id="36" name="统一风格-文字 通过 API 调用大模型能力-36">
            <a:extLst>
              <a:ext uri="{FF2B5EF4-FFF2-40B4-BE49-F238E27FC236}">
                <a16:creationId xmlns:a16="http://schemas.microsoft.com/office/drawing/2014/main" id="{B38599E2-55D9-4B9E-8CB9-1F4025F6FA13}"/>
              </a:ext>
            </a:extLst>
          </p:cNvPr>
          <p:cNvSpPr>
            <a:spLocks noGrp="1"/>
          </p:cNvSpPr>
          <p:nvPr/>
        </p:nvSpPr>
        <p:spPr>
          <a:xfrm>
            <a:off x="9334500" y="3400425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API </a:t>
            </a:r>
            <a:r>
              <a:rPr sz="14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调用大模型能力</a:t>
            </a:r>
            <a:endParaRPr sz="142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统一风格-文字 基础资源-37">
            <a:extLst>
              <a:ext uri="{FF2B5EF4-FFF2-40B4-BE49-F238E27FC236}">
                <a16:creationId xmlns:a16="http://schemas.microsoft.com/office/drawing/2014/main" id="{41BB10B4-0A26-4F46-8C66-754D2CEF3FB9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295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基础资源</a:t>
            </a:r>
          </a:p>
        </p:txBody>
      </p:sp>
      <p:sp>
        <p:nvSpPr>
          <p:cNvPr id="38" name="统一风格-文字 IaaS-38">
            <a:extLst>
              <a:ext uri="{FF2B5EF4-FFF2-40B4-BE49-F238E27FC236}">
                <a16:creationId xmlns:a16="http://schemas.microsoft.com/office/drawing/2014/main" id="{ECE99EA2-E928-4205-8A00-9FAAD7859A43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</a:t>
            </a:r>
          </a:p>
        </p:txBody>
      </p:sp>
      <p:sp>
        <p:nvSpPr>
          <p:cNvPr id="39" name="统一风格-IaaS 整层基础资源玻璃后沿-39">
            <a:extLst>
              <a:ext uri="{FF2B5EF4-FFF2-40B4-BE49-F238E27FC236}">
                <a16:creationId xmlns:a16="http://schemas.microsoft.com/office/drawing/2014/main" id="{7384C255-4675-4DA7-9BB8-9FBD36E8AF6B}"/>
              </a:ext>
            </a:extLst>
          </p:cNvPr>
          <p:cNvSpPr>
            <a:spLocks noGrp="1"/>
          </p:cNvSpPr>
          <p:nvPr/>
        </p:nvSpPr>
        <p:spPr>
          <a:xfrm>
            <a:off x="2114550" y="40862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IaaS 整层基础资源-40">
            <a:extLst>
              <a:ext uri="{FF2B5EF4-FFF2-40B4-BE49-F238E27FC236}">
                <a16:creationId xmlns:a16="http://schemas.microsoft.com/office/drawing/2014/main" id="{99CF0AC4-874C-4494-86F6-06F56A5A9D48}"/>
              </a:ext>
            </a:extLst>
          </p:cNvPr>
          <p:cNvSpPr>
            <a:spLocks noGrp="1"/>
          </p:cNvSpPr>
          <p:nvPr/>
        </p:nvSpPr>
        <p:spPr>
          <a:xfrm>
            <a:off x="2114550" y="4086225"/>
            <a:ext cx="946785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IaaS 整层基础资源玻璃内沿-41">
            <a:extLst>
              <a:ext uri="{FF2B5EF4-FFF2-40B4-BE49-F238E27FC236}">
                <a16:creationId xmlns:a16="http://schemas.microsoft.com/office/drawing/2014/main" id="{2D645349-1058-458C-9509-0BB376845D0E}"/>
              </a:ext>
            </a:extLst>
          </p:cNvPr>
          <p:cNvSpPr>
            <a:spLocks noGrp="1"/>
          </p:cNvSpPr>
          <p:nvPr/>
        </p:nvSpPr>
        <p:spPr>
          <a:xfrm>
            <a:off x="2127409" y="4099084"/>
            <a:ext cx="9442133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IaaS 整层基础资源边缘高光-42">
            <a:extLst>
              <a:ext uri="{FF2B5EF4-FFF2-40B4-BE49-F238E27FC236}">
                <a16:creationId xmlns:a16="http://schemas.microsoft.com/office/drawing/2014/main" id="{A44A5B57-DF25-41F0-B579-27A7B394569F}"/>
              </a:ext>
            </a:extLst>
          </p:cNvPr>
          <p:cNvSpPr>
            <a:spLocks noGrp="1"/>
          </p:cNvSpPr>
          <p:nvPr/>
        </p:nvSpPr>
        <p:spPr>
          <a:xfrm>
            <a:off x="2114550" y="4086225"/>
            <a:ext cx="9467850" cy="876300"/>
          </a:xfrm>
          <a:custGeom>
            <a:avLst/>
            <a:gdLst/>
            <a:ahLst/>
            <a:cxnLst/>
            <a:rect l="0" t="0" r="0" b="0"/>
            <a:pathLst>
              <a:path w="9467850" h="8763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基础资源列分隔-43">
            <a:extLst>
              <a:ext uri="{FF2B5EF4-FFF2-40B4-BE49-F238E27FC236}">
                <a16:creationId xmlns:a16="http://schemas.microsoft.com/office/drawing/2014/main" id="{1FCAE439-EF2B-46D8-8580-7AD5D484B615}"/>
              </a:ext>
            </a:extLst>
          </p:cNvPr>
          <p:cNvSpPr>
            <a:spLocks noGrp="1"/>
          </p:cNvSpPr>
          <p:nvPr/>
        </p:nvSpPr>
        <p:spPr>
          <a:xfrm>
            <a:off x="5229225" y="42291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基础资源列分隔-44">
            <a:extLst>
              <a:ext uri="{FF2B5EF4-FFF2-40B4-BE49-F238E27FC236}">
                <a16:creationId xmlns:a16="http://schemas.microsoft.com/office/drawing/2014/main" id="{A5169EF7-B460-4A3A-9320-FF186824824E}"/>
              </a:ext>
            </a:extLst>
          </p:cNvPr>
          <p:cNvSpPr>
            <a:spLocks noGrp="1"/>
          </p:cNvSpPr>
          <p:nvPr/>
        </p:nvSpPr>
        <p:spPr>
          <a:xfrm>
            <a:off x="8467725" y="4229100"/>
            <a:ext cx="0" cy="59055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server 服务器机架-45">
            <a:extLst>
              <a:ext uri="{FF2B5EF4-FFF2-40B4-BE49-F238E27FC236}">
                <a16:creationId xmlns:a16="http://schemas.microsoft.com/office/drawing/2014/main" id="{154FAF78-E9F6-417C-A9F0-107B750FB3A8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erver 机架状态-46">
            <a:extLst>
              <a:ext uri="{FF2B5EF4-FFF2-40B4-BE49-F238E27FC236}">
                <a16:creationId xmlns:a16="http://schemas.microsoft.com/office/drawing/2014/main" id="{F601C777-250D-4FFA-911A-FD20BC293ABC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指示灯-47">
            <a:extLst>
              <a:ext uri="{FF2B5EF4-FFF2-40B4-BE49-F238E27FC236}">
                <a16:creationId xmlns:a16="http://schemas.microsoft.com/office/drawing/2014/main" id="{9D106669-46DD-4757-8EBA-5292FCAADA6C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server 服务器机架-48">
            <a:extLst>
              <a:ext uri="{FF2B5EF4-FFF2-40B4-BE49-F238E27FC236}">
                <a16:creationId xmlns:a16="http://schemas.microsoft.com/office/drawing/2014/main" id="{7CEE537C-1230-4E34-AEDC-AED57C0A404E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server 机架状态-49">
            <a:extLst>
              <a:ext uri="{FF2B5EF4-FFF2-40B4-BE49-F238E27FC236}">
                <a16:creationId xmlns:a16="http://schemas.microsoft.com/office/drawing/2014/main" id="{F9996F67-F4CE-4979-BB7A-BCA671E9A848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server 指示灯-50">
            <a:extLst>
              <a:ext uri="{FF2B5EF4-FFF2-40B4-BE49-F238E27FC236}">
                <a16:creationId xmlns:a16="http://schemas.microsoft.com/office/drawing/2014/main" id="{CCFF4A90-6A4B-40B0-B2C8-E10A51FFF33D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erver 服务器机架-51">
            <a:extLst>
              <a:ext uri="{FF2B5EF4-FFF2-40B4-BE49-F238E27FC236}">
                <a16:creationId xmlns:a16="http://schemas.microsoft.com/office/drawing/2014/main" id="{41D81355-0ED8-4098-BB05-D75AA33A75B5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server 机架状态-52">
            <a:extLst>
              <a:ext uri="{FF2B5EF4-FFF2-40B4-BE49-F238E27FC236}">
                <a16:creationId xmlns:a16="http://schemas.microsoft.com/office/drawing/2014/main" id="{FF09D8DD-0CDB-4B8A-BD7D-5A98F250B5AA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server 指示灯-53">
            <a:extLst>
              <a:ext uri="{FF2B5EF4-FFF2-40B4-BE49-F238E27FC236}">
                <a16:creationId xmlns:a16="http://schemas.microsoft.com/office/drawing/2014/main" id="{375FCAF0-E302-411D-A9C8-87BC6D7F8C02}"/>
              </a:ext>
            </a:extLst>
          </p:cNvPr>
          <p:cNvSpPr>
            <a:spLocks noGrp="1"/>
          </p:cNvSpPr>
          <p:nvPr/>
        </p:nvSpPr>
        <p:spPr>
          <a:xfrm>
            <a:off x="2286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文字 计算资源-54">
            <a:extLst>
              <a:ext uri="{FF2B5EF4-FFF2-40B4-BE49-F238E27FC236}">
                <a16:creationId xmlns:a16="http://schemas.microsoft.com/office/drawing/2014/main" id="{39D4EDA1-01C9-4AF3-AD8C-FED6DB0EBCC0}"/>
              </a:ext>
            </a:extLst>
          </p:cNvPr>
          <p:cNvSpPr>
            <a:spLocks noGrp="1"/>
          </p:cNvSpPr>
          <p:nvPr/>
        </p:nvSpPr>
        <p:spPr>
          <a:xfrm>
            <a:off x="2857500" y="4162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55" name="统一风格-文字 ECS 提供 vCPU 与内存 运行操作系统与应用-55">
            <a:extLst>
              <a:ext uri="{FF2B5EF4-FFF2-40B4-BE49-F238E27FC236}">
                <a16:creationId xmlns:a16="http://schemas.microsoft.com/office/drawing/2014/main" id="{8B5582D4-D320-4916-B966-35E0019EA215}"/>
              </a:ext>
            </a:extLst>
          </p:cNvPr>
          <p:cNvSpPr>
            <a:spLocks noGrp="1"/>
          </p:cNvSpPr>
          <p:nvPr/>
        </p:nvSpPr>
        <p:spPr>
          <a:xfrm>
            <a:off x="2857500" y="449580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提供 vCPU 与内存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运行操作系统与应用</a:t>
            </a:r>
          </a:p>
        </p:txBody>
      </p:sp>
      <p:sp>
        <p:nvSpPr>
          <p:cNvPr id="56" name="统一风格-cloud VPC 云轮廓-56">
            <a:extLst>
              <a:ext uri="{FF2B5EF4-FFF2-40B4-BE49-F238E27FC236}">
                <a16:creationId xmlns:a16="http://schemas.microsoft.com/office/drawing/2014/main" id="{B7F8E256-1C7F-4D21-B4BF-BCA91799F412}"/>
              </a:ext>
            </a:extLst>
          </p:cNvPr>
          <p:cNvSpPr>
            <a:spLocks noGrp="1"/>
          </p:cNvSpPr>
          <p:nvPr/>
        </p:nvSpPr>
        <p:spPr>
          <a:xfrm>
            <a:off x="55245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网络 VPC-57">
            <a:extLst>
              <a:ext uri="{FF2B5EF4-FFF2-40B4-BE49-F238E27FC236}">
                <a16:creationId xmlns:a16="http://schemas.microsoft.com/office/drawing/2014/main" id="{8A75D898-F6C4-4B99-A7E3-77377DB7E7CE}"/>
              </a:ext>
            </a:extLst>
          </p:cNvPr>
          <p:cNvSpPr>
            <a:spLocks noGrp="1"/>
          </p:cNvSpPr>
          <p:nvPr/>
        </p:nvSpPr>
        <p:spPr>
          <a:xfrm>
            <a:off x="6096000" y="4162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 VPC</a:t>
            </a:r>
          </a:p>
        </p:txBody>
      </p:sp>
      <p:sp>
        <p:nvSpPr>
          <p:cNvPr id="58" name="统一风格-文字 连接同区域多 AZ 资源 配置地址、子网与路由-58">
            <a:extLst>
              <a:ext uri="{FF2B5EF4-FFF2-40B4-BE49-F238E27FC236}">
                <a16:creationId xmlns:a16="http://schemas.microsoft.com/office/drawing/2014/main" id="{0A9860E2-A9E7-4147-8E85-467A71E4C1E1}"/>
              </a:ext>
            </a:extLst>
          </p:cNvPr>
          <p:cNvSpPr>
            <a:spLocks noGrp="1"/>
          </p:cNvSpPr>
          <p:nvPr/>
        </p:nvSpPr>
        <p:spPr>
          <a:xfrm>
            <a:off x="6096000" y="449580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连接同区域多 AZ 资源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配置地址、子网与路由</a:t>
            </a:r>
          </a:p>
        </p:txBody>
      </p:sp>
      <p:sp>
        <p:nvSpPr>
          <p:cNvPr id="59" name="统一风格-db 数据库柱体-59">
            <a:extLst>
              <a:ext uri="{FF2B5EF4-FFF2-40B4-BE49-F238E27FC236}">
                <a16:creationId xmlns:a16="http://schemas.microsoft.com/office/drawing/2014/main" id="{AD3D305A-7C9A-4E9D-80B2-2DEE390436A0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db 数据库分层-60">
            <a:extLst>
              <a:ext uri="{FF2B5EF4-FFF2-40B4-BE49-F238E27FC236}">
                <a16:creationId xmlns:a16="http://schemas.microsoft.com/office/drawing/2014/main" id="{CCADB910-EEE9-44F8-BC6B-8FA3C9819BAF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文字 存储服务-61">
            <a:extLst>
              <a:ext uri="{FF2B5EF4-FFF2-40B4-BE49-F238E27FC236}">
                <a16:creationId xmlns:a16="http://schemas.microsoft.com/office/drawing/2014/main" id="{95288611-C53F-4E2C-9374-40829013A7C1}"/>
              </a:ext>
            </a:extLst>
          </p:cNvPr>
          <p:cNvSpPr>
            <a:spLocks noGrp="1"/>
          </p:cNvSpPr>
          <p:nvPr/>
        </p:nvSpPr>
        <p:spPr>
          <a:xfrm>
            <a:off x="9334500" y="4162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存储服务</a:t>
            </a:r>
          </a:p>
        </p:txBody>
      </p:sp>
      <p:sp>
        <p:nvSpPr>
          <p:cNvPr id="62" name="统一风格-文字 EVS：挂载式块存储 OBS：接口访问对象存储-62">
            <a:extLst>
              <a:ext uri="{FF2B5EF4-FFF2-40B4-BE49-F238E27FC236}">
                <a16:creationId xmlns:a16="http://schemas.microsoft.com/office/drawing/2014/main" id="{425C90E2-8A6B-4D5C-91BB-2C8C60EA7A2A}"/>
              </a:ext>
            </a:extLst>
          </p:cNvPr>
          <p:cNvSpPr>
            <a:spLocks noGrp="1"/>
          </p:cNvSpPr>
          <p:nvPr/>
        </p:nvSpPr>
        <p:spPr>
          <a:xfrm>
            <a:off x="9334500" y="449580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EVS：挂载式块存储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OBS：接口访问对象存储</a:t>
            </a:r>
          </a:p>
        </p:txBody>
      </p:sp>
      <p:sp>
        <p:nvSpPr>
          <p:cNvPr id="63" name="统一风格-文字 物理资源 与部署-63">
            <a:extLst>
              <a:ext uri="{FF2B5EF4-FFF2-40B4-BE49-F238E27FC236}">
                <a16:creationId xmlns:a16="http://schemas.microsoft.com/office/drawing/2014/main" id="{48DC2023-42FD-466C-B3DE-2618F4AFC330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295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物理资源</a:t>
            </a:r>
          </a:p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与部署</a:t>
            </a:r>
          </a:p>
        </p:txBody>
      </p:sp>
      <p:sp>
        <p:nvSpPr>
          <p:cNvPr id="64" name="统一风格-物理资源与部署 整层承载玻璃后沿-64">
            <a:extLst>
              <a:ext uri="{FF2B5EF4-FFF2-40B4-BE49-F238E27FC236}">
                <a16:creationId xmlns:a16="http://schemas.microsoft.com/office/drawing/2014/main" id="{285F0BBE-C9AE-4C6B-862C-4016B0DEB4A5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9467850" cy="685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物理资源与部署 整层承载-65">
            <a:extLst>
              <a:ext uri="{FF2B5EF4-FFF2-40B4-BE49-F238E27FC236}">
                <a16:creationId xmlns:a16="http://schemas.microsoft.com/office/drawing/2014/main" id="{4BB3832E-6793-4396-9D2D-9872F149729E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9467850" cy="685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物理资源与部署 整层承载玻璃内沿-66">
            <a:extLst>
              <a:ext uri="{FF2B5EF4-FFF2-40B4-BE49-F238E27FC236}">
                <a16:creationId xmlns:a16="http://schemas.microsoft.com/office/drawing/2014/main" id="{12592B69-80B1-4647-8F1B-27C0FFC75801}"/>
              </a:ext>
            </a:extLst>
          </p:cNvPr>
          <p:cNvSpPr>
            <a:spLocks noGrp="1"/>
          </p:cNvSpPr>
          <p:nvPr/>
        </p:nvSpPr>
        <p:spPr>
          <a:xfrm>
            <a:off x="2127409" y="5280184"/>
            <a:ext cx="9442133" cy="660083"/>
          </a:xfrm>
          <a:prstGeom prst="roundRect">
            <a:avLst>
              <a:gd name="adj" fmla="val 111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物理资源与部署 整层承载边缘高光-67">
            <a:extLst>
              <a:ext uri="{FF2B5EF4-FFF2-40B4-BE49-F238E27FC236}">
                <a16:creationId xmlns:a16="http://schemas.microsoft.com/office/drawing/2014/main" id="{DF2880E5-C0AB-4757-9CCD-8B167ED44BF3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9467850" cy="685800"/>
          </a:xfrm>
          <a:custGeom>
            <a:avLst/>
            <a:gdLst/>
            <a:ahLst/>
            <a:cxnLst/>
            <a:rect l="0" t="0" r="0" b="0"/>
            <a:pathLst>
              <a:path w="9467850" h="685800">
                <a:moveTo>
                  <a:pt x="95250" y="9525"/>
                </a:moveTo>
                <a:lnTo>
                  <a:pt x="9372600" y="9525"/>
                </a:lnTo>
                <a:cubicBezTo>
                  <a:pt x="9420225" y="9525"/>
                  <a:pt x="9458325" y="47625"/>
                  <a:pt x="945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物理层列分隔-68">
            <a:extLst>
              <a:ext uri="{FF2B5EF4-FFF2-40B4-BE49-F238E27FC236}">
                <a16:creationId xmlns:a16="http://schemas.microsoft.com/office/drawing/2014/main" id="{2D17304B-7F59-4207-A480-B126BB11314C}"/>
              </a:ext>
            </a:extLst>
          </p:cNvPr>
          <p:cNvSpPr>
            <a:spLocks noGrp="1"/>
          </p:cNvSpPr>
          <p:nvPr/>
        </p:nvSpPr>
        <p:spPr>
          <a:xfrm>
            <a:off x="6848475" y="5381625"/>
            <a:ext cx="0" cy="457200"/>
          </a:xfrm>
          <a:prstGeom prst="line">
            <a:avLst/>
          </a:prstGeom>
          <a:noFill/>
          <a:ln w="7620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building IDC 楼宇-69">
            <a:extLst>
              <a:ext uri="{FF2B5EF4-FFF2-40B4-BE49-F238E27FC236}">
                <a16:creationId xmlns:a16="http://schemas.microsoft.com/office/drawing/2014/main" id="{BF357988-E16E-4CEF-B9A9-7F8B184B92E5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building IDC 窗口-70">
            <a:extLst>
              <a:ext uri="{FF2B5EF4-FFF2-40B4-BE49-F238E27FC236}">
                <a16:creationId xmlns:a16="http://schemas.microsoft.com/office/drawing/2014/main" id="{7C4583B5-AED2-4693-BD3C-6285D87AF544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文字 物理资源-71">
            <a:extLst>
              <a:ext uri="{FF2B5EF4-FFF2-40B4-BE49-F238E27FC236}">
                <a16:creationId xmlns:a16="http://schemas.microsoft.com/office/drawing/2014/main" id="{EA03E7C8-E81B-4CB9-8DDB-E5B41F6089C7}"/>
              </a:ext>
            </a:extLst>
          </p:cNvPr>
          <p:cNvSpPr>
            <a:spLocks noGrp="1"/>
          </p:cNvSpPr>
          <p:nvPr/>
        </p:nvSpPr>
        <p:spPr>
          <a:xfrm>
            <a:off x="2857500" y="5305425"/>
            <a:ext cx="3771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物理资源</a:t>
            </a:r>
          </a:p>
        </p:txBody>
      </p:sp>
      <p:sp>
        <p:nvSpPr>
          <p:cNvPr id="72" name="统一风格-文字 服务器 / 存储设备 / 交换机与链路-72">
            <a:extLst>
              <a:ext uri="{FF2B5EF4-FFF2-40B4-BE49-F238E27FC236}">
                <a16:creationId xmlns:a16="http://schemas.microsoft.com/office/drawing/2014/main" id="{5AF7EB48-7B73-4891-B6CD-94F0A3ADD83A}"/>
              </a:ext>
            </a:extLst>
          </p:cNvPr>
          <p:cNvSpPr>
            <a:spLocks noGrp="1"/>
          </p:cNvSpPr>
          <p:nvPr/>
        </p:nvSpPr>
        <p:spPr>
          <a:xfrm>
            <a:off x="2857500" y="5619750"/>
            <a:ext cx="3771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服务器 / 存储设备 / 交换机与链路</a:t>
            </a:r>
          </a:p>
        </p:txBody>
      </p:sp>
      <p:sp>
        <p:nvSpPr>
          <p:cNvPr id="73" name="统一风格-globe 互联网外形-73">
            <a:extLst>
              <a:ext uri="{FF2B5EF4-FFF2-40B4-BE49-F238E27FC236}">
                <a16:creationId xmlns:a16="http://schemas.microsoft.com/office/drawing/2014/main" id="{9ADA25C0-F3EC-49A6-953C-AD848F62F953}"/>
              </a:ext>
            </a:extLst>
          </p:cNvPr>
          <p:cNvSpPr>
            <a:spLocks noGrp="1"/>
          </p:cNvSpPr>
          <p:nvPr/>
        </p:nvSpPr>
        <p:spPr>
          <a:xfrm>
            <a:off x="70485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globe 经纬线-74">
            <a:extLst>
              <a:ext uri="{FF2B5EF4-FFF2-40B4-BE49-F238E27FC236}">
                <a16:creationId xmlns:a16="http://schemas.microsoft.com/office/drawing/2014/main" id="{F37AAC5F-B1B1-4183-8AE5-FDB536FE2F79}"/>
              </a:ext>
            </a:extLst>
          </p:cNvPr>
          <p:cNvSpPr>
            <a:spLocks noGrp="1"/>
          </p:cNvSpPr>
          <p:nvPr/>
        </p:nvSpPr>
        <p:spPr>
          <a:xfrm>
            <a:off x="7048500" y="541020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文字 部署组织-75">
            <a:extLst>
              <a:ext uri="{FF2B5EF4-FFF2-40B4-BE49-F238E27FC236}">
                <a16:creationId xmlns:a16="http://schemas.microsoft.com/office/drawing/2014/main" id="{8FFB7E2F-3312-40F7-8285-E2841AAB0654}"/>
              </a:ext>
            </a:extLst>
          </p:cNvPr>
          <p:cNvSpPr>
            <a:spLocks noGrp="1"/>
          </p:cNvSpPr>
          <p:nvPr/>
        </p:nvSpPr>
        <p:spPr>
          <a:xfrm>
            <a:off x="7620000" y="5305425"/>
            <a:ext cx="3733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部署组织</a:t>
            </a:r>
          </a:p>
        </p:txBody>
      </p:sp>
      <p:sp>
        <p:nvSpPr>
          <p:cNvPr id="76" name="统一风格-文字 Region 地理区域 / AZ 资源故障域-76">
            <a:extLst>
              <a:ext uri="{FF2B5EF4-FFF2-40B4-BE49-F238E27FC236}">
                <a16:creationId xmlns:a16="http://schemas.microsoft.com/office/drawing/2014/main" id="{1975B2F0-BD41-4583-B05D-1C1AC640F19E}"/>
              </a:ext>
            </a:extLst>
          </p:cNvPr>
          <p:cNvSpPr>
            <a:spLocks noGrp="1"/>
          </p:cNvSpPr>
          <p:nvPr/>
        </p:nvSpPr>
        <p:spPr>
          <a:xfrm>
            <a:off x="7620000" y="5619750"/>
            <a:ext cx="3733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地理区域 / AZ 资源故障域</a:t>
            </a:r>
          </a:p>
        </p:txBody>
      </p:sp>
      <p:sp>
        <p:nvSpPr>
          <p:cNvPr id="77" name="统一风格-页脚分隔线-77">
            <a:extLst>
              <a:ext uri="{FF2B5EF4-FFF2-40B4-BE49-F238E27FC236}">
                <a16:creationId xmlns:a16="http://schemas.microsoft.com/office/drawing/2014/main" id="{6DAEE09E-DE52-4BFA-8100-12B0F6F2DD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文字 底部为物理承载与部署组织，箭头表示向上支撑。MaaS 与平台能力并列示意，接入方式按实际服务确认。-78">
            <a:extLst>
              <a:ext uri="{FF2B5EF4-FFF2-40B4-BE49-F238E27FC236}">
                <a16:creationId xmlns:a16="http://schemas.microsoft.com/office/drawing/2014/main" id="{C8D1DE9E-975A-4F3F-8DE0-F6FCDF9B93E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底部为物理承载与部署组织，箭头表示向上支撑。MaaS 与平台能力并列示意，接入方式按实际服务确认。</a:t>
            </a:r>
          </a:p>
        </p:txBody>
      </p:sp>
      <p:sp>
        <p:nvSpPr>
          <p:cNvPr id="79" name="统一风格-文字 04-79">
            <a:extLst>
              <a:ext uri="{FF2B5EF4-FFF2-40B4-BE49-F238E27FC236}">
                <a16:creationId xmlns:a16="http://schemas.microsoft.com/office/drawing/2014/main" id="{3ADDE81D-979F-437F-B9CD-804E63C8F4B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708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正文-01  VPC 基础与规范">
            <a:extLst>
              <a:ext uri="{FF2B5EF4-FFF2-40B4-BE49-F238E27FC236}">
                <a16:creationId xmlns:a16="http://schemas.microsoft.com/office/drawing/2014/main" id="{11B56BB1-3089-4A94-BF67-B3B6F62C16A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D716DEB-4670-4BA6-BDEA-AD774ED3FD3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VPC、子网与路由表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A8F6EB9A-EB62-443C-B000-343C75637CE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地址范围、部署单元和转发路径分别管理</a:t>
            </a:r>
          </a:p>
        </p:txBody>
      </p:sp>
      <p:sp>
        <p:nvSpPr>
          <p:cNvPr id="4" name="正文-逻辑架构示意，具体配置以实际区域、版本与网络路径为准">
            <a:extLst>
              <a:ext uri="{FF2B5EF4-FFF2-40B4-BE49-F238E27FC236}">
                <a16:creationId xmlns:a16="http://schemas.microsoft.com/office/drawing/2014/main" id="{D1A69DF1-E04B-4502-9181-A6DA78D5E97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逻辑架构示意，具体配置以实际区域、版本与网络路径为准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E8A06B62-77E3-4A53-976A-F5481F5EB64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05">
            <a:extLst>
              <a:ext uri="{FF2B5EF4-FFF2-40B4-BE49-F238E27FC236}">
                <a16:creationId xmlns:a16="http://schemas.microsoft.com/office/drawing/2014/main" id="{0CE98213-B111-4474-B211-B4673C246E8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统一风格-anatomy VPC 主域玻璃后沿-71">
            <a:extLst>
              <a:ext uri="{FF2B5EF4-FFF2-40B4-BE49-F238E27FC236}">
                <a16:creationId xmlns:a16="http://schemas.microsoft.com/office/drawing/2014/main" id="{75F89AFA-9C80-4A79-A52F-FD2CDD319E65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7848600" cy="3737429"/>
          </a:xfrm>
          <a:prstGeom prst="roundRect">
            <a:avLst>
              <a:gd name="adj" fmla="val 229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anatomy VPC 主域-72">
            <a:extLst>
              <a:ext uri="{FF2B5EF4-FFF2-40B4-BE49-F238E27FC236}">
                <a16:creationId xmlns:a16="http://schemas.microsoft.com/office/drawing/2014/main" id="{010D8F25-EA3E-41B2-8F16-9CE9FBFBEAE2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7848600" cy="3737429"/>
          </a:xfrm>
          <a:prstGeom prst="roundRect">
            <a:avLst>
              <a:gd name="adj" fmla="val 229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anatomy VPC 主域玻璃内沿-73">
            <a:extLst>
              <a:ext uri="{FF2B5EF4-FFF2-40B4-BE49-F238E27FC236}">
                <a16:creationId xmlns:a16="http://schemas.microsoft.com/office/drawing/2014/main" id="{3EA69405-73BC-4F6E-A0DB-F28F0234338A}"/>
              </a:ext>
            </a:extLst>
          </p:cNvPr>
          <p:cNvSpPr>
            <a:spLocks noGrp="1"/>
          </p:cNvSpPr>
          <p:nvPr/>
        </p:nvSpPr>
        <p:spPr>
          <a:xfrm>
            <a:off x="622459" y="2107452"/>
            <a:ext cx="7822883" cy="3711711"/>
          </a:xfrm>
          <a:prstGeom prst="roundRect">
            <a:avLst>
              <a:gd name="adj" fmla="val 19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anatomy VPC 主域透光反射面-74">
            <a:extLst>
              <a:ext uri="{FF2B5EF4-FFF2-40B4-BE49-F238E27FC236}">
                <a16:creationId xmlns:a16="http://schemas.microsoft.com/office/drawing/2014/main" id="{20913E87-D5D1-48A6-ADB6-2E0F57856241}"/>
              </a:ext>
            </a:extLst>
          </p:cNvPr>
          <p:cNvSpPr>
            <a:spLocks noGrp="1"/>
          </p:cNvSpPr>
          <p:nvPr/>
        </p:nvSpPr>
        <p:spPr>
          <a:xfrm>
            <a:off x="628650" y="2113643"/>
            <a:ext cx="7810500" cy="3699329"/>
          </a:xfrm>
          <a:custGeom>
            <a:avLst/>
            <a:gdLst/>
            <a:ahLst/>
            <a:cxnLst/>
            <a:rect l="0" t="0" r="0" b="0"/>
            <a:pathLst>
              <a:path w="7810500" h="3699329">
                <a:moveTo>
                  <a:pt x="76200" y="0"/>
                </a:moveTo>
                <a:lnTo>
                  <a:pt x="4998720" y="0"/>
                </a:lnTo>
                <a:lnTo>
                  <a:pt x="2030730" y="3699329"/>
                </a:lnTo>
                <a:lnTo>
                  <a:pt x="76200" y="3699329"/>
                </a:lnTo>
                <a:cubicBezTo>
                  <a:pt x="28575" y="3699329"/>
                  <a:pt x="0" y="3670754"/>
                  <a:pt x="0" y="3623129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anatomy VPC 主域边缘高光-75">
            <a:extLst>
              <a:ext uri="{FF2B5EF4-FFF2-40B4-BE49-F238E27FC236}">
                <a16:creationId xmlns:a16="http://schemas.microsoft.com/office/drawing/2014/main" id="{B8764B9B-1ECC-426E-80B7-DCD53AA973DA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7848600" cy="3737429"/>
          </a:xfrm>
          <a:custGeom>
            <a:avLst/>
            <a:gdLst/>
            <a:ahLst/>
            <a:cxnLst/>
            <a:rect l="0" t="0" r="0" b="0"/>
            <a:pathLst>
              <a:path w="7848600" h="3737429">
                <a:moveTo>
                  <a:pt x="95250" y="9525"/>
                </a:moveTo>
                <a:lnTo>
                  <a:pt x="7753350" y="9525"/>
                </a:lnTo>
                <a:cubicBezTo>
                  <a:pt x="7800975" y="9525"/>
                  <a:pt x="7839075" y="47625"/>
                  <a:pt x="7839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76">
            <a:extLst>
              <a:ext uri="{FF2B5EF4-FFF2-40B4-BE49-F238E27FC236}">
                <a16:creationId xmlns:a16="http://schemas.microsoft.com/office/drawing/2014/main" id="{CB27E0DB-29D4-41F9-8FED-7DEA51AA2416}"/>
              </a:ext>
            </a:extLst>
          </p:cNvPr>
          <p:cNvSpPr>
            <a:spLocks noGrp="1"/>
          </p:cNvSpPr>
          <p:nvPr/>
        </p:nvSpPr>
        <p:spPr>
          <a:xfrm>
            <a:off x="815159" y="2178685"/>
            <a:ext cx="439148" cy="439148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8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VPC  10.20.0.0/16-77">
            <a:extLst>
              <a:ext uri="{FF2B5EF4-FFF2-40B4-BE49-F238E27FC236}">
                <a16:creationId xmlns:a16="http://schemas.microsoft.com/office/drawing/2014/main" id="{23118315-6D32-4F23-9F41-29EF0CF761FB}"/>
              </a:ext>
            </a:extLst>
          </p:cNvPr>
          <p:cNvSpPr>
            <a:spLocks noGrp="1"/>
          </p:cNvSpPr>
          <p:nvPr/>
        </p:nvSpPr>
        <p:spPr>
          <a:xfrm>
            <a:off x="1403804" y="2234746"/>
            <a:ext cx="6353629" cy="3737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92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 10.20.0.0/16</a:t>
            </a:r>
          </a:p>
        </p:txBody>
      </p:sp>
      <p:sp>
        <p:nvSpPr>
          <p:cNvPr id="14" name="统一风格-anatomy 子网边界-78">
            <a:extLst>
              <a:ext uri="{FF2B5EF4-FFF2-40B4-BE49-F238E27FC236}">
                <a16:creationId xmlns:a16="http://schemas.microsoft.com/office/drawing/2014/main" id="{CAC9A826-F5EC-4B9D-BF96-3CD9DFA5D67A}"/>
              </a:ext>
            </a:extLst>
          </p:cNvPr>
          <p:cNvSpPr>
            <a:spLocks noGrp="1"/>
          </p:cNvSpPr>
          <p:nvPr/>
        </p:nvSpPr>
        <p:spPr>
          <a:xfrm>
            <a:off x="815159" y="2851422"/>
            <a:ext cx="3606619" cy="1850027"/>
          </a:xfrm>
          <a:prstGeom prst="roundRect">
            <a:avLst>
              <a:gd name="adj" fmla="val 4634"/>
            </a:avLst>
          </a:prstGeom>
          <a:solidFill>
            <a:srgbClr val="FFFFFF">
              <a:alpha val="62000"/>
            </a:srgbClr>
          </a:solidFill>
          <a:ln w="8409">
            <a:solidFill>
              <a:srgbClr val="B7CB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Web 子网  10.20.20.0/24-79">
            <a:extLst>
              <a:ext uri="{FF2B5EF4-FFF2-40B4-BE49-F238E27FC236}">
                <a16:creationId xmlns:a16="http://schemas.microsoft.com/office/drawing/2014/main" id="{CCF0DF31-6A2C-4969-AF14-FC21BD45D6A4}"/>
              </a:ext>
            </a:extLst>
          </p:cNvPr>
          <p:cNvSpPr>
            <a:spLocks noGrp="1"/>
          </p:cNvSpPr>
          <p:nvPr/>
        </p:nvSpPr>
        <p:spPr>
          <a:xfrm>
            <a:off x="945969" y="2972889"/>
            <a:ext cx="3335655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子网  10.20.20.0/24</a:t>
            </a:r>
          </a:p>
        </p:txBody>
      </p:sp>
      <p:sp>
        <p:nvSpPr>
          <p:cNvPr id="16" name="统一风格-server 服务器机架-80">
            <a:extLst>
              <a:ext uri="{FF2B5EF4-FFF2-40B4-BE49-F238E27FC236}">
                <a16:creationId xmlns:a16="http://schemas.microsoft.com/office/drawing/2014/main" id="{CA882352-2AE9-4A23-AD3E-07E6CDF881A2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机架状态-81">
            <a:extLst>
              <a:ext uri="{FF2B5EF4-FFF2-40B4-BE49-F238E27FC236}">
                <a16:creationId xmlns:a16="http://schemas.microsoft.com/office/drawing/2014/main" id="{DC698692-99F7-4E39-AD4E-EC1D06A3B8DA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指示灯-82">
            <a:extLst>
              <a:ext uri="{FF2B5EF4-FFF2-40B4-BE49-F238E27FC236}">
                <a16:creationId xmlns:a16="http://schemas.microsoft.com/office/drawing/2014/main" id="{210B6479-9001-4D77-931F-D44D750A496F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服务器机架-83">
            <a:extLst>
              <a:ext uri="{FF2B5EF4-FFF2-40B4-BE49-F238E27FC236}">
                <a16:creationId xmlns:a16="http://schemas.microsoft.com/office/drawing/2014/main" id="{871D47CE-231A-4B87-9A25-07E1511FB4D5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机架状态-84">
            <a:extLst>
              <a:ext uri="{FF2B5EF4-FFF2-40B4-BE49-F238E27FC236}">
                <a16:creationId xmlns:a16="http://schemas.microsoft.com/office/drawing/2014/main" id="{784A0038-FEBC-45D3-A4D9-2CD6C0859003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指示灯-85">
            <a:extLst>
              <a:ext uri="{FF2B5EF4-FFF2-40B4-BE49-F238E27FC236}">
                <a16:creationId xmlns:a16="http://schemas.microsoft.com/office/drawing/2014/main" id="{82CCD180-ED0D-41B2-A509-C6F0121FF7EC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服务器机架-86">
            <a:extLst>
              <a:ext uri="{FF2B5EF4-FFF2-40B4-BE49-F238E27FC236}">
                <a16:creationId xmlns:a16="http://schemas.microsoft.com/office/drawing/2014/main" id="{D2700B6E-2ABE-4CB3-B7B1-207ED2F86493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机架状态-87">
            <a:extLst>
              <a:ext uri="{FF2B5EF4-FFF2-40B4-BE49-F238E27FC236}">
                <a16:creationId xmlns:a16="http://schemas.microsoft.com/office/drawing/2014/main" id="{D88984FE-CD46-4A2E-9E0B-2A0E7540348D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指示灯-88">
            <a:extLst>
              <a:ext uri="{FF2B5EF4-FFF2-40B4-BE49-F238E27FC236}">
                <a16:creationId xmlns:a16="http://schemas.microsoft.com/office/drawing/2014/main" id="{BAAC6500-5AD6-4665-8F17-81963C844F54}"/>
              </a:ext>
            </a:extLst>
          </p:cNvPr>
          <p:cNvSpPr>
            <a:spLocks noGrp="1"/>
          </p:cNvSpPr>
          <p:nvPr/>
        </p:nvSpPr>
        <p:spPr>
          <a:xfrm>
            <a:off x="145052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Web 服务器 1-89">
            <a:extLst>
              <a:ext uri="{FF2B5EF4-FFF2-40B4-BE49-F238E27FC236}">
                <a16:creationId xmlns:a16="http://schemas.microsoft.com/office/drawing/2014/main" id="{9FF6F20E-DB8B-41A4-A58F-C48A2D968176}"/>
              </a:ext>
            </a:extLst>
          </p:cNvPr>
          <p:cNvSpPr>
            <a:spLocks noGrp="1"/>
          </p:cNvSpPr>
          <p:nvPr/>
        </p:nvSpPr>
        <p:spPr>
          <a:xfrm>
            <a:off x="1095466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服务器 1</a:t>
            </a:r>
          </a:p>
        </p:txBody>
      </p:sp>
      <p:sp>
        <p:nvSpPr>
          <p:cNvPr id="26" name="统一风格-server 服务器机架-90">
            <a:extLst>
              <a:ext uri="{FF2B5EF4-FFF2-40B4-BE49-F238E27FC236}">
                <a16:creationId xmlns:a16="http://schemas.microsoft.com/office/drawing/2014/main" id="{FB23998E-BD8B-401E-95A7-8AA554002DC4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机架状态-91">
            <a:extLst>
              <a:ext uri="{FF2B5EF4-FFF2-40B4-BE49-F238E27FC236}">
                <a16:creationId xmlns:a16="http://schemas.microsoft.com/office/drawing/2014/main" id="{B5065735-39DC-441A-A45D-E87F94377A30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server 指示灯-92">
            <a:extLst>
              <a:ext uri="{FF2B5EF4-FFF2-40B4-BE49-F238E27FC236}">
                <a16:creationId xmlns:a16="http://schemas.microsoft.com/office/drawing/2014/main" id="{FC1AC8A8-310D-472B-8CC8-4361855FE027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server 服务器机架-93">
            <a:extLst>
              <a:ext uri="{FF2B5EF4-FFF2-40B4-BE49-F238E27FC236}">
                <a16:creationId xmlns:a16="http://schemas.microsoft.com/office/drawing/2014/main" id="{534DEB60-2BEC-451A-AB0D-5972BD037A5F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server 机架状态-94">
            <a:extLst>
              <a:ext uri="{FF2B5EF4-FFF2-40B4-BE49-F238E27FC236}">
                <a16:creationId xmlns:a16="http://schemas.microsoft.com/office/drawing/2014/main" id="{E064B68A-1051-43F2-A8C0-0B7B758E8361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erver 指示灯-95">
            <a:extLst>
              <a:ext uri="{FF2B5EF4-FFF2-40B4-BE49-F238E27FC236}">
                <a16:creationId xmlns:a16="http://schemas.microsoft.com/office/drawing/2014/main" id="{8E136C3C-C3D0-40A1-BF51-371BD6389EFF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服务器机架-96">
            <a:extLst>
              <a:ext uri="{FF2B5EF4-FFF2-40B4-BE49-F238E27FC236}">
                <a16:creationId xmlns:a16="http://schemas.microsoft.com/office/drawing/2014/main" id="{3C2CD106-1343-43AC-BD7D-D4226B088220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机架状态-97">
            <a:extLst>
              <a:ext uri="{FF2B5EF4-FFF2-40B4-BE49-F238E27FC236}">
                <a16:creationId xmlns:a16="http://schemas.microsoft.com/office/drawing/2014/main" id="{A31D0A5D-C55D-411A-9035-A8F286B2B983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指示灯-98">
            <a:extLst>
              <a:ext uri="{FF2B5EF4-FFF2-40B4-BE49-F238E27FC236}">
                <a16:creationId xmlns:a16="http://schemas.microsoft.com/office/drawing/2014/main" id="{4C4725E5-295A-4B5E-8132-1811DABD3755}"/>
              </a:ext>
            </a:extLst>
          </p:cNvPr>
          <p:cNvSpPr>
            <a:spLocks noGrp="1"/>
          </p:cNvSpPr>
          <p:nvPr/>
        </p:nvSpPr>
        <p:spPr>
          <a:xfrm>
            <a:off x="2992211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Web 服务器 2-99">
            <a:extLst>
              <a:ext uri="{FF2B5EF4-FFF2-40B4-BE49-F238E27FC236}">
                <a16:creationId xmlns:a16="http://schemas.microsoft.com/office/drawing/2014/main" id="{6CA9EFC1-0392-4D38-B5F6-23D7093B6AF1}"/>
              </a:ext>
            </a:extLst>
          </p:cNvPr>
          <p:cNvSpPr>
            <a:spLocks noGrp="1"/>
          </p:cNvSpPr>
          <p:nvPr/>
        </p:nvSpPr>
        <p:spPr>
          <a:xfrm>
            <a:off x="2637155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Web 服务器 2</a:t>
            </a:r>
          </a:p>
        </p:txBody>
      </p:sp>
      <p:cxnSp>
        <p:nvCxnSpPr>
          <p:cNvPr id="36" name="统一拓扑-anatomy-连线-1">
            <a:extLst>
              <a:ext uri="{FF2B5EF4-FFF2-40B4-BE49-F238E27FC236}">
                <a16:creationId xmlns:a16="http://schemas.microsoft.com/office/drawing/2014/main" id="{4A7E72F3-1F6C-43DE-B6AC-8F249F3886B8}"/>
              </a:ext>
            </a:extLst>
          </p:cNvPr>
          <p:cNvCxnSpPr/>
          <p:nvPr/>
        </p:nvCxnSpPr>
        <p:spPr>
          <a:xfrm>
            <a:off x="2618468" y="4701449"/>
            <a:ext cx="0" cy="457835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7" name="统一拓扑-anatomy-连线-2">
            <a:extLst>
              <a:ext uri="{FF2B5EF4-FFF2-40B4-BE49-F238E27FC236}">
                <a16:creationId xmlns:a16="http://schemas.microsoft.com/office/drawing/2014/main" id="{AA455734-DB34-430E-B10A-A461E968B13D}"/>
              </a:ext>
            </a:extLst>
          </p:cNvPr>
          <p:cNvCxnSpPr/>
          <p:nvPr/>
        </p:nvCxnSpPr>
        <p:spPr>
          <a:xfrm>
            <a:off x="2618468" y="5159284"/>
            <a:ext cx="457835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sp>
        <p:nvSpPr>
          <p:cNvPr id="38" name="统一风格-anatomy 子网边界-100">
            <a:extLst>
              <a:ext uri="{FF2B5EF4-FFF2-40B4-BE49-F238E27FC236}">
                <a16:creationId xmlns:a16="http://schemas.microsoft.com/office/drawing/2014/main" id="{E1586400-7086-479C-BFAF-94D59B0AFABE}"/>
              </a:ext>
            </a:extLst>
          </p:cNvPr>
          <p:cNvSpPr>
            <a:spLocks noGrp="1"/>
          </p:cNvSpPr>
          <p:nvPr/>
        </p:nvSpPr>
        <p:spPr>
          <a:xfrm>
            <a:off x="4646023" y="2851422"/>
            <a:ext cx="3606619" cy="1850027"/>
          </a:xfrm>
          <a:prstGeom prst="roundRect">
            <a:avLst>
              <a:gd name="adj" fmla="val 4634"/>
            </a:avLst>
          </a:prstGeom>
          <a:solidFill>
            <a:srgbClr val="FFFFFF">
              <a:alpha val="62000"/>
            </a:srgbClr>
          </a:solidFill>
          <a:ln w="8409">
            <a:solidFill>
              <a:srgbClr val="B7CB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App 子网  10.20.10.0/24-101">
            <a:extLst>
              <a:ext uri="{FF2B5EF4-FFF2-40B4-BE49-F238E27FC236}">
                <a16:creationId xmlns:a16="http://schemas.microsoft.com/office/drawing/2014/main" id="{50780012-BF41-47A6-8609-7C82B1C04AAD}"/>
              </a:ext>
            </a:extLst>
          </p:cNvPr>
          <p:cNvSpPr>
            <a:spLocks noGrp="1"/>
          </p:cNvSpPr>
          <p:nvPr/>
        </p:nvSpPr>
        <p:spPr>
          <a:xfrm>
            <a:off x="4776833" y="2972889"/>
            <a:ext cx="3335655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子网  10.20.10.0/24</a:t>
            </a:r>
          </a:p>
        </p:txBody>
      </p:sp>
      <p:sp>
        <p:nvSpPr>
          <p:cNvPr id="40" name="统一风格-server 服务器机架-102">
            <a:extLst>
              <a:ext uri="{FF2B5EF4-FFF2-40B4-BE49-F238E27FC236}">
                <a16:creationId xmlns:a16="http://schemas.microsoft.com/office/drawing/2014/main" id="{DD825626-A1BB-40F9-ADC6-2E3006D5A8E8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server 机架状态-103">
            <a:extLst>
              <a:ext uri="{FF2B5EF4-FFF2-40B4-BE49-F238E27FC236}">
                <a16:creationId xmlns:a16="http://schemas.microsoft.com/office/drawing/2014/main" id="{AAC4B3B7-72F8-480A-972E-B9D5968EEA89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server 指示灯-104">
            <a:extLst>
              <a:ext uri="{FF2B5EF4-FFF2-40B4-BE49-F238E27FC236}">
                <a16:creationId xmlns:a16="http://schemas.microsoft.com/office/drawing/2014/main" id="{D33D0FD4-94D6-4533-A491-A84285255807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server 服务器机架-105">
            <a:extLst>
              <a:ext uri="{FF2B5EF4-FFF2-40B4-BE49-F238E27FC236}">
                <a16:creationId xmlns:a16="http://schemas.microsoft.com/office/drawing/2014/main" id="{3F2C7BA9-1A4B-409D-843A-3B757CA2387A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server 机架状态-106">
            <a:extLst>
              <a:ext uri="{FF2B5EF4-FFF2-40B4-BE49-F238E27FC236}">
                <a16:creationId xmlns:a16="http://schemas.microsoft.com/office/drawing/2014/main" id="{2F062260-34ED-4F23-8E0C-5A03258D1438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server 指示灯-107">
            <a:extLst>
              <a:ext uri="{FF2B5EF4-FFF2-40B4-BE49-F238E27FC236}">
                <a16:creationId xmlns:a16="http://schemas.microsoft.com/office/drawing/2014/main" id="{C9AC7ACB-DDDB-4853-B26B-E6669C153754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erver 服务器机架-108">
            <a:extLst>
              <a:ext uri="{FF2B5EF4-FFF2-40B4-BE49-F238E27FC236}">
                <a16:creationId xmlns:a16="http://schemas.microsoft.com/office/drawing/2014/main" id="{705C05A9-E807-4B47-B810-525479D3D559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机架状态-109">
            <a:extLst>
              <a:ext uri="{FF2B5EF4-FFF2-40B4-BE49-F238E27FC236}">
                <a16:creationId xmlns:a16="http://schemas.microsoft.com/office/drawing/2014/main" id="{FC623A40-3B13-47F7-80E6-8E7ADAF83B94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server 指示灯-110">
            <a:extLst>
              <a:ext uri="{FF2B5EF4-FFF2-40B4-BE49-F238E27FC236}">
                <a16:creationId xmlns:a16="http://schemas.microsoft.com/office/drawing/2014/main" id="{02E754F9-D9D9-48A1-893E-BAED31F8A0D3}"/>
              </a:ext>
            </a:extLst>
          </p:cNvPr>
          <p:cNvSpPr>
            <a:spLocks noGrp="1"/>
          </p:cNvSpPr>
          <p:nvPr/>
        </p:nvSpPr>
        <p:spPr>
          <a:xfrm>
            <a:off x="5281386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App 服务器 1-111">
            <a:extLst>
              <a:ext uri="{FF2B5EF4-FFF2-40B4-BE49-F238E27FC236}">
                <a16:creationId xmlns:a16="http://schemas.microsoft.com/office/drawing/2014/main" id="{7C44AE88-FE69-4D8E-B294-34E8FF7D0731}"/>
              </a:ext>
            </a:extLst>
          </p:cNvPr>
          <p:cNvSpPr>
            <a:spLocks noGrp="1"/>
          </p:cNvSpPr>
          <p:nvPr/>
        </p:nvSpPr>
        <p:spPr>
          <a:xfrm>
            <a:off x="4926330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服务器 1</a:t>
            </a:r>
          </a:p>
        </p:txBody>
      </p:sp>
      <p:sp>
        <p:nvSpPr>
          <p:cNvPr id="50" name="统一风格-server 服务器机架-112">
            <a:extLst>
              <a:ext uri="{FF2B5EF4-FFF2-40B4-BE49-F238E27FC236}">
                <a16:creationId xmlns:a16="http://schemas.microsoft.com/office/drawing/2014/main" id="{16DC4E64-66D5-441C-BCE1-D8AA5DA5EE95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erver 机架状态-113">
            <a:extLst>
              <a:ext uri="{FF2B5EF4-FFF2-40B4-BE49-F238E27FC236}">
                <a16:creationId xmlns:a16="http://schemas.microsoft.com/office/drawing/2014/main" id="{56B9A77C-383B-41BC-9B13-3B8E5561FBE5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server 指示灯-114">
            <a:extLst>
              <a:ext uri="{FF2B5EF4-FFF2-40B4-BE49-F238E27FC236}">
                <a16:creationId xmlns:a16="http://schemas.microsoft.com/office/drawing/2014/main" id="{ED7A086E-1C27-46D0-ABAC-6C3B8E15FF9E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server 服务器机架-115">
            <a:extLst>
              <a:ext uri="{FF2B5EF4-FFF2-40B4-BE49-F238E27FC236}">
                <a16:creationId xmlns:a16="http://schemas.microsoft.com/office/drawing/2014/main" id="{F36AD69D-B1C1-4343-974D-D05ED54CEBC7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server 机架状态-116">
            <a:extLst>
              <a:ext uri="{FF2B5EF4-FFF2-40B4-BE49-F238E27FC236}">
                <a16:creationId xmlns:a16="http://schemas.microsoft.com/office/drawing/2014/main" id="{95B34E20-D04E-4ECC-A598-90DEBB12C200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server 指示灯-117">
            <a:extLst>
              <a:ext uri="{FF2B5EF4-FFF2-40B4-BE49-F238E27FC236}">
                <a16:creationId xmlns:a16="http://schemas.microsoft.com/office/drawing/2014/main" id="{571AA808-AD5F-481C-A2AD-0C0A82F78EE2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server 服务器机架-118">
            <a:extLst>
              <a:ext uri="{FF2B5EF4-FFF2-40B4-BE49-F238E27FC236}">
                <a16:creationId xmlns:a16="http://schemas.microsoft.com/office/drawing/2014/main" id="{1F550F56-068A-4A90-92D6-43FBE9B5689B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server 机架状态-119">
            <a:extLst>
              <a:ext uri="{FF2B5EF4-FFF2-40B4-BE49-F238E27FC236}">
                <a16:creationId xmlns:a16="http://schemas.microsoft.com/office/drawing/2014/main" id="{D0AB5591-9337-400F-9742-FDBD2574A35E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215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server 指示灯-120">
            <a:extLst>
              <a:ext uri="{FF2B5EF4-FFF2-40B4-BE49-F238E27FC236}">
                <a16:creationId xmlns:a16="http://schemas.microsoft.com/office/drawing/2014/main" id="{20126F7F-1327-4B5F-B633-4BE444AF9DA2}"/>
              </a:ext>
            </a:extLst>
          </p:cNvPr>
          <p:cNvSpPr>
            <a:spLocks noGrp="1"/>
          </p:cNvSpPr>
          <p:nvPr/>
        </p:nvSpPr>
        <p:spPr>
          <a:xfrm>
            <a:off x="6823075" y="3458754"/>
            <a:ext cx="541927" cy="541927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App 服务器 2-121">
            <a:extLst>
              <a:ext uri="{FF2B5EF4-FFF2-40B4-BE49-F238E27FC236}">
                <a16:creationId xmlns:a16="http://schemas.microsoft.com/office/drawing/2014/main" id="{B427682D-A09F-464B-A89D-570440686E4A}"/>
              </a:ext>
            </a:extLst>
          </p:cNvPr>
          <p:cNvSpPr>
            <a:spLocks noGrp="1"/>
          </p:cNvSpPr>
          <p:nvPr/>
        </p:nvSpPr>
        <p:spPr>
          <a:xfrm>
            <a:off x="6468019" y="4159522"/>
            <a:ext cx="1298756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App 服务器 2</a:t>
            </a:r>
          </a:p>
        </p:txBody>
      </p:sp>
      <p:cxnSp>
        <p:nvCxnSpPr>
          <p:cNvPr id="60" name="统一拓扑-anatomy-连线-3">
            <a:extLst>
              <a:ext uri="{FF2B5EF4-FFF2-40B4-BE49-F238E27FC236}">
                <a16:creationId xmlns:a16="http://schemas.microsoft.com/office/drawing/2014/main" id="{E706801A-96D9-4506-A297-BB3DC1C82F38}"/>
              </a:ext>
            </a:extLst>
          </p:cNvPr>
          <p:cNvCxnSpPr/>
          <p:nvPr/>
        </p:nvCxnSpPr>
        <p:spPr>
          <a:xfrm>
            <a:off x="6449332" y="4701449"/>
            <a:ext cx="0" cy="457835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61" name="统一拓扑-anatomy-连线-4">
            <a:extLst>
              <a:ext uri="{FF2B5EF4-FFF2-40B4-BE49-F238E27FC236}">
                <a16:creationId xmlns:a16="http://schemas.microsoft.com/office/drawing/2014/main" id="{30BA7156-9866-4E52-A59E-104E422122D9}"/>
              </a:ext>
            </a:extLst>
          </p:cNvPr>
          <p:cNvCxnSpPr/>
          <p:nvPr/>
        </p:nvCxnSpPr>
        <p:spPr>
          <a:xfrm flipH="1">
            <a:off x="5991497" y="5159284"/>
            <a:ext cx="457835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sp>
        <p:nvSpPr>
          <p:cNvPr id="62" name="统一风格-anatomy VPC 路由表模块玻璃后沿-122">
            <a:extLst>
              <a:ext uri="{FF2B5EF4-FFF2-40B4-BE49-F238E27FC236}">
                <a16:creationId xmlns:a16="http://schemas.microsoft.com/office/drawing/2014/main" id="{3EA89FAB-BD5B-4B16-B0E9-91AD24B8AFBD}"/>
              </a:ext>
            </a:extLst>
          </p:cNvPr>
          <p:cNvSpPr>
            <a:spLocks noGrp="1"/>
          </p:cNvSpPr>
          <p:nvPr/>
        </p:nvSpPr>
        <p:spPr>
          <a:xfrm>
            <a:off x="3076303" y="4832259"/>
            <a:ext cx="2915194" cy="672737"/>
          </a:xfrm>
          <a:prstGeom prst="roundRect">
            <a:avLst>
              <a:gd name="adj" fmla="val 127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3" name="统一风格-anatomy VPC 路由表模块-123">
            <a:extLst>
              <a:ext uri="{FF2B5EF4-FFF2-40B4-BE49-F238E27FC236}">
                <a16:creationId xmlns:a16="http://schemas.microsoft.com/office/drawing/2014/main" id="{7DA3A3EF-ED93-4D5D-AB52-806AAF734953}"/>
              </a:ext>
            </a:extLst>
          </p:cNvPr>
          <p:cNvSpPr>
            <a:spLocks noGrp="1"/>
          </p:cNvSpPr>
          <p:nvPr/>
        </p:nvSpPr>
        <p:spPr>
          <a:xfrm>
            <a:off x="3076303" y="4832259"/>
            <a:ext cx="2915194" cy="672737"/>
          </a:xfrm>
          <a:prstGeom prst="roundRect">
            <a:avLst>
              <a:gd name="adj" fmla="val 127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anatomy VPC 路由表模块玻璃内沿-124">
            <a:extLst>
              <a:ext uri="{FF2B5EF4-FFF2-40B4-BE49-F238E27FC236}">
                <a16:creationId xmlns:a16="http://schemas.microsoft.com/office/drawing/2014/main" id="{C6615555-D42C-4F9C-9D74-DB168879F694}"/>
              </a:ext>
            </a:extLst>
          </p:cNvPr>
          <p:cNvSpPr>
            <a:spLocks noGrp="1"/>
          </p:cNvSpPr>
          <p:nvPr/>
        </p:nvSpPr>
        <p:spPr>
          <a:xfrm>
            <a:off x="3089162" y="4845118"/>
            <a:ext cx="2889477" cy="647020"/>
          </a:xfrm>
          <a:prstGeom prst="roundRect">
            <a:avLst>
              <a:gd name="adj" fmla="val 113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anatomy VPC 路由表模块透光反射面-125">
            <a:extLst>
              <a:ext uri="{FF2B5EF4-FFF2-40B4-BE49-F238E27FC236}">
                <a16:creationId xmlns:a16="http://schemas.microsoft.com/office/drawing/2014/main" id="{16D55275-9383-4331-A8AD-3B522F29B882}"/>
              </a:ext>
            </a:extLst>
          </p:cNvPr>
          <p:cNvSpPr>
            <a:spLocks noGrp="1"/>
          </p:cNvSpPr>
          <p:nvPr/>
        </p:nvSpPr>
        <p:spPr>
          <a:xfrm>
            <a:off x="3095353" y="4851309"/>
            <a:ext cx="2877094" cy="634637"/>
          </a:xfrm>
          <a:custGeom>
            <a:avLst/>
            <a:gdLst/>
            <a:ahLst/>
            <a:cxnLst/>
            <a:rect l="0" t="0" r="0" b="0"/>
            <a:pathLst>
              <a:path w="2877094" h="634637">
                <a:moveTo>
                  <a:pt x="76200" y="0"/>
                </a:moveTo>
                <a:lnTo>
                  <a:pt x="1841340" y="0"/>
                </a:lnTo>
                <a:lnTo>
                  <a:pt x="748045" y="634637"/>
                </a:lnTo>
                <a:lnTo>
                  <a:pt x="76200" y="634637"/>
                </a:lnTo>
                <a:cubicBezTo>
                  <a:pt x="28575" y="634637"/>
                  <a:pt x="0" y="606062"/>
                  <a:pt x="0" y="55843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anatomy VPC 路由表模块边缘高光-126">
            <a:extLst>
              <a:ext uri="{FF2B5EF4-FFF2-40B4-BE49-F238E27FC236}">
                <a16:creationId xmlns:a16="http://schemas.microsoft.com/office/drawing/2014/main" id="{E077A203-F06C-4277-A407-527E42FB3D4B}"/>
              </a:ext>
            </a:extLst>
          </p:cNvPr>
          <p:cNvSpPr>
            <a:spLocks noGrp="1"/>
          </p:cNvSpPr>
          <p:nvPr/>
        </p:nvSpPr>
        <p:spPr>
          <a:xfrm>
            <a:off x="3076303" y="4832259"/>
            <a:ext cx="2915194" cy="672737"/>
          </a:xfrm>
          <a:custGeom>
            <a:avLst/>
            <a:gdLst/>
            <a:ahLst/>
            <a:cxnLst/>
            <a:rect l="0" t="0" r="0" b="0"/>
            <a:pathLst>
              <a:path w="2915194" h="672737">
                <a:moveTo>
                  <a:pt x="95250" y="9525"/>
                </a:moveTo>
                <a:lnTo>
                  <a:pt x="2819944" y="9525"/>
                </a:lnTo>
                <a:cubicBezTo>
                  <a:pt x="2867569" y="9525"/>
                  <a:pt x="2905669" y="47625"/>
                  <a:pt x="2905669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route-table VPC 路由表外框-127">
            <a:extLst>
              <a:ext uri="{FF2B5EF4-FFF2-40B4-BE49-F238E27FC236}">
                <a16:creationId xmlns:a16="http://schemas.microsoft.com/office/drawing/2014/main" id="{05FFD414-B6FA-4E05-A0EA-BCF9BC75F7F8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route-table 路由表列与表头-128">
            <a:extLst>
              <a:ext uri="{FF2B5EF4-FFF2-40B4-BE49-F238E27FC236}">
                <a16:creationId xmlns:a16="http://schemas.microsoft.com/office/drawing/2014/main" id="{8F57F03A-C39F-4C5E-BE25-A2504E7B4C42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route-table 目的网段条目-129">
            <a:extLst>
              <a:ext uri="{FF2B5EF4-FFF2-40B4-BE49-F238E27FC236}">
                <a16:creationId xmlns:a16="http://schemas.microsoft.com/office/drawing/2014/main" id="{8D90DA1C-0592-490C-93A9-8110E98E8845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route-table 下一跳箭头-130">
            <a:extLst>
              <a:ext uri="{FF2B5EF4-FFF2-40B4-BE49-F238E27FC236}">
                <a16:creationId xmlns:a16="http://schemas.microsoft.com/office/drawing/2014/main" id="{1D9EEE86-3F84-429A-B790-A33BD143EFBC}"/>
              </a:ext>
            </a:extLst>
          </p:cNvPr>
          <p:cNvSpPr>
            <a:spLocks noGrp="1"/>
          </p:cNvSpPr>
          <p:nvPr/>
        </p:nvSpPr>
        <p:spPr>
          <a:xfrm>
            <a:off x="3244487" y="4944382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文字 VPC 路由表-131">
            <a:extLst>
              <a:ext uri="{FF2B5EF4-FFF2-40B4-BE49-F238E27FC236}">
                <a16:creationId xmlns:a16="http://schemas.microsoft.com/office/drawing/2014/main" id="{64B4E77A-BAC5-44BF-861F-E0F0C691E3DC}"/>
              </a:ext>
            </a:extLst>
          </p:cNvPr>
          <p:cNvSpPr>
            <a:spLocks noGrp="1"/>
          </p:cNvSpPr>
          <p:nvPr/>
        </p:nvSpPr>
        <p:spPr>
          <a:xfrm>
            <a:off x="3861163" y="5000444"/>
            <a:ext cx="1934119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路由表</a:t>
            </a:r>
          </a:p>
        </p:txBody>
      </p:sp>
      <p:sp>
        <p:nvSpPr>
          <p:cNvPr id="72" name="统一风格-文字 子网关联决定实际生效范围-132">
            <a:extLst>
              <a:ext uri="{FF2B5EF4-FFF2-40B4-BE49-F238E27FC236}">
                <a16:creationId xmlns:a16="http://schemas.microsoft.com/office/drawing/2014/main" id="{57F82DE7-B91E-4314-911D-E90331823582}"/>
              </a:ext>
            </a:extLst>
          </p:cNvPr>
          <p:cNvSpPr>
            <a:spLocks noGrp="1"/>
          </p:cNvSpPr>
          <p:nvPr/>
        </p:nvSpPr>
        <p:spPr>
          <a:xfrm>
            <a:off x="2665186" y="5561058"/>
            <a:ext cx="4111171" cy="233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子网关联决定实际生效范围</a:t>
            </a:r>
          </a:p>
        </p:txBody>
      </p:sp>
      <p:sp>
        <p:nvSpPr>
          <p:cNvPr id="73" name="版式分隔线">
            <a:extLst>
              <a:ext uri="{FF2B5EF4-FFF2-40B4-BE49-F238E27FC236}">
                <a16:creationId xmlns:a16="http://schemas.microsoft.com/office/drawing/2014/main" id="{7CCD76B8-5C4B-4ABE-AECD-C15FCCC56667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版式分隔线">
            <a:extLst>
              <a:ext uri="{FF2B5EF4-FFF2-40B4-BE49-F238E27FC236}">
                <a16:creationId xmlns:a16="http://schemas.microsoft.com/office/drawing/2014/main" id="{B26A1CB6-24D4-4D00-A9C0-568C4A28CA70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xt-74">
            <a:extLst>
              <a:ext uri="{FF2B5EF4-FFF2-40B4-BE49-F238E27FC236}">
                <a16:creationId xmlns:a16="http://schemas.microsoft.com/office/drawing/2014/main" id="{1ECBF121-43B9-40CF-88E6-EC348284A5FF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76" name="txt-75">
            <a:extLst>
              <a:ext uri="{FF2B5EF4-FFF2-40B4-BE49-F238E27FC236}">
                <a16:creationId xmlns:a16="http://schemas.microsoft.com/office/drawing/2014/main" id="{56E8E410-A7DF-43FA-A546-99980459D75C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承载地址空间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与逻辑网络边界</a:t>
            </a:r>
          </a:p>
        </p:txBody>
      </p:sp>
      <p:sp>
        <p:nvSpPr>
          <p:cNvPr id="77" name="版式分隔线">
            <a:extLst>
              <a:ext uri="{FF2B5EF4-FFF2-40B4-BE49-F238E27FC236}">
                <a16:creationId xmlns:a16="http://schemas.microsoft.com/office/drawing/2014/main" id="{9ABC1D86-8516-43BE-B71E-D144A5ADFD45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xt-77">
            <a:extLst>
              <a:ext uri="{FF2B5EF4-FFF2-40B4-BE49-F238E27FC236}">
                <a16:creationId xmlns:a16="http://schemas.microsoft.com/office/drawing/2014/main" id="{D70932D4-5E07-4C0D-A6A0-FC743BB8F51F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</a:t>
            </a:r>
          </a:p>
        </p:txBody>
      </p:sp>
      <p:sp>
        <p:nvSpPr>
          <p:cNvPr id="79" name="txt-78">
            <a:extLst>
              <a:ext uri="{FF2B5EF4-FFF2-40B4-BE49-F238E27FC236}">
                <a16:creationId xmlns:a16="http://schemas.microsoft.com/office/drawing/2014/main" id="{89B5BC24-BB80-4288-9C98-504CB0A87990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组织业务层与容量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划分后仍需访问控制</a:t>
            </a:r>
          </a:p>
        </p:txBody>
      </p:sp>
      <p:sp>
        <p:nvSpPr>
          <p:cNvPr id="80" name="版式分隔线">
            <a:extLst>
              <a:ext uri="{FF2B5EF4-FFF2-40B4-BE49-F238E27FC236}">
                <a16:creationId xmlns:a16="http://schemas.microsoft.com/office/drawing/2014/main" id="{8A54418A-756E-4F37-8F4E-852D129E1F4E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xt-80">
            <a:extLst>
              <a:ext uri="{FF2B5EF4-FFF2-40B4-BE49-F238E27FC236}">
                <a16:creationId xmlns:a16="http://schemas.microsoft.com/office/drawing/2014/main" id="{E6EC063C-5137-4AD7-BFED-1E4520E7C0D9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路由表</a:t>
            </a:r>
          </a:p>
        </p:txBody>
      </p:sp>
      <p:sp>
        <p:nvSpPr>
          <p:cNvPr id="82" name="txt-81">
            <a:extLst>
              <a:ext uri="{FF2B5EF4-FFF2-40B4-BE49-F238E27FC236}">
                <a16:creationId xmlns:a16="http://schemas.microsoft.com/office/drawing/2014/main" id="{A8269357-3182-4342-9927-DDB3D0E7F779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核对子网实际关联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189544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统一风格-文字 01  VPC 基础与规范-1">
            <a:extLst>
              <a:ext uri="{FF2B5EF4-FFF2-40B4-BE49-F238E27FC236}">
                <a16:creationId xmlns:a16="http://schemas.microsoft.com/office/drawing/2014/main" id="{F094851F-6AD7-455C-BF18-52ED08197D1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上层平台的两种网络交付模式-2">
            <a:extLst>
              <a:ext uri="{FF2B5EF4-FFF2-40B4-BE49-F238E27FC236}">
                <a16:creationId xmlns:a16="http://schemas.microsoft.com/office/drawing/2014/main" id="{EA394530-FD9D-44A5-A019-B42E6D976DD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HEDS</a:t>
            </a:r>
            <a:r>
              <a:rPr lang="zh-CN" altLang="en-US" dirty="0"/>
              <a:t> 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平台的两种网络交付模式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统一风格-文字 同一套华为云 VPC 能力，面向用户提供自主网络与预定义网络两种交付方式-3">
            <a:extLst>
              <a:ext uri="{FF2B5EF4-FFF2-40B4-BE49-F238E27FC236}">
                <a16:creationId xmlns:a16="http://schemas.microsoft.com/office/drawing/2014/main" id="{3B9D13A3-3A86-4A96-BB62-5756168A317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同一套华为云 VPC 能力，面向用户提供自主网络与预定义网络两种交付方式</a:t>
            </a:r>
          </a:p>
        </p:txBody>
      </p:sp>
      <p:sp>
        <p:nvSpPr>
          <p:cNvPr id="4" name="统一风格-页脚分隔-4">
            <a:extLst>
              <a:ext uri="{FF2B5EF4-FFF2-40B4-BE49-F238E27FC236}">
                <a16:creationId xmlns:a16="http://schemas.microsoft.com/office/drawing/2014/main" id="{F0B1F64C-54F5-479F-A7FB-A38576761F1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9525">
            <a:solidFill>
              <a:srgbClr val="B8CBE9"/>
            </a:solidFill>
          </a:ln>
        </p:spPr>
      </p:sp>
      <p:sp>
        <p:nvSpPr>
          <p:cNvPr id="5" name="统一风格-文字 “经典网络 / VPC 小网”为平台定义，底层均为华为云 VPC。不同用户小网网段重叠，跨小网互联前需解决地址冲突。-5">
            <a:extLst>
              <a:ext uri="{FF2B5EF4-FFF2-40B4-BE49-F238E27FC236}">
                <a16:creationId xmlns:a16="http://schemas.microsoft.com/office/drawing/2014/main" id="{FEEBB51D-E91A-4B55-B149-02E85AA2B17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“经典网络 / VPC 小网”为平台定义，底层均为华为云 VPC。不同用户小网网段重叠，跨小网互联前需解决地址冲突。</a:t>
            </a:r>
          </a:p>
        </p:txBody>
      </p:sp>
      <p:sp>
        <p:nvSpPr>
          <p:cNvPr id="6" name="统一风格-文字 05-6">
            <a:extLst>
              <a:ext uri="{FF2B5EF4-FFF2-40B4-BE49-F238E27FC236}">
                <a16:creationId xmlns:a16="http://schemas.microsoft.com/office/drawing/2014/main" id="{4C46801A-2FE2-40AE-806B-61E0135D771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统一风格-网络交付模式玻璃后沿-7">
            <a:extLst>
              <a:ext uri="{FF2B5EF4-FFF2-40B4-BE49-F238E27FC236}">
                <a16:creationId xmlns:a16="http://schemas.microsoft.com/office/drawing/2014/main" id="{BAD75841-92BC-4976-8E45-6B8A790EFC2E}"/>
              </a:ext>
            </a:extLst>
          </p:cNvPr>
          <p:cNvSpPr>
            <a:spLocks noGrp="1"/>
          </p:cNvSpPr>
          <p:nvPr/>
        </p:nvSpPr>
        <p:spPr>
          <a:xfrm>
            <a:off x="609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网络交付模式-8">
            <a:extLst>
              <a:ext uri="{FF2B5EF4-FFF2-40B4-BE49-F238E27FC236}">
                <a16:creationId xmlns:a16="http://schemas.microsoft.com/office/drawing/2014/main" id="{B5934CE4-DB13-44D1-A241-906E430BC498}"/>
              </a:ext>
            </a:extLst>
          </p:cNvPr>
          <p:cNvSpPr>
            <a:spLocks noGrp="1"/>
          </p:cNvSpPr>
          <p:nvPr/>
        </p:nvSpPr>
        <p:spPr>
          <a:xfrm>
            <a:off x="609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网络交付模式玻璃内沿-9">
            <a:extLst>
              <a:ext uri="{FF2B5EF4-FFF2-40B4-BE49-F238E27FC236}">
                <a16:creationId xmlns:a16="http://schemas.microsoft.com/office/drawing/2014/main" id="{D3C164E5-7A69-4E06-91B4-F5888FC58C8A}"/>
              </a:ext>
            </a:extLst>
          </p:cNvPr>
          <p:cNvSpPr>
            <a:spLocks noGrp="1"/>
          </p:cNvSpPr>
          <p:nvPr/>
        </p:nvSpPr>
        <p:spPr>
          <a:xfrm>
            <a:off x="622459" y="2003257"/>
            <a:ext cx="5232083" cy="3117533"/>
          </a:xfrm>
          <a:prstGeom prst="roundRect">
            <a:avLst>
              <a:gd name="adj" fmla="val 23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网络交付模式边缘高光-10">
            <a:extLst>
              <a:ext uri="{FF2B5EF4-FFF2-40B4-BE49-F238E27FC236}">
                <a16:creationId xmlns:a16="http://schemas.microsoft.com/office/drawing/2014/main" id="{3E290836-8408-49C8-8A04-FD56E9E24F6C}"/>
              </a:ext>
            </a:extLst>
          </p:cNvPr>
          <p:cNvSpPr>
            <a:spLocks noGrp="1"/>
          </p:cNvSpPr>
          <p:nvPr/>
        </p:nvSpPr>
        <p:spPr>
          <a:xfrm>
            <a:off x="609600" y="1990398"/>
            <a:ext cx="5257800" cy="3143250"/>
          </a:xfrm>
          <a:custGeom>
            <a:avLst/>
            <a:gdLst/>
            <a:ahLst/>
            <a:cxnLst/>
            <a:rect l="0" t="0" r="0" b="0"/>
            <a:pathLst>
              <a:path w="5257800" h="31432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网络交付模式玻璃后沿-11">
            <a:extLst>
              <a:ext uri="{FF2B5EF4-FFF2-40B4-BE49-F238E27FC236}">
                <a16:creationId xmlns:a16="http://schemas.microsoft.com/office/drawing/2014/main" id="{1D355EA6-8E4C-4E55-A784-E6D8255D6935}"/>
              </a:ext>
            </a:extLst>
          </p:cNvPr>
          <p:cNvSpPr>
            <a:spLocks noGrp="1"/>
          </p:cNvSpPr>
          <p:nvPr/>
        </p:nvSpPr>
        <p:spPr>
          <a:xfrm>
            <a:off x="6324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" name="统一风格-网络交付模式-12">
            <a:extLst>
              <a:ext uri="{FF2B5EF4-FFF2-40B4-BE49-F238E27FC236}">
                <a16:creationId xmlns:a16="http://schemas.microsoft.com/office/drawing/2014/main" id="{89AEFF9C-3386-4636-A65D-A65195924601}"/>
              </a:ext>
            </a:extLst>
          </p:cNvPr>
          <p:cNvSpPr>
            <a:spLocks noGrp="1"/>
          </p:cNvSpPr>
          <p:nvPr/>
        </p:nvSpPr>
        <p:spPr>
          <a:xfrm>
            <a:off x="6324600" y="1990398"/>
            <a:ext cx="5257800" cy="314325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3" name="统一风格-网络交付模式玻璃内沿-13">
            <a:extLst>
              <a:ext uri="{FF2B5EF4-FFF2-40B4-BE49-F238E27FC236}">
                <a16:creationId xmlns:a16="http://schemas.microsoft.com/office/drawing/2014/main" id="{D5104CE7-2EA2-47F1-A99D-952141FA1717}"/>
              </a:ext>
            </a:extLst>
          </p:cNvPr>
          <p:cNvSpPr>
            <a:spLocks noGrp="1"/>
          </p:cNvSpPr>
          <p:nvPr/>
        </p:nvSpPr>
        <p:spPr>
          <a:xfrm>
            <a:off x="6337459" y="2003257"/>
            <a:ext cx="5232083" cy="3117533"/>
          </a:xfrm>
          <a:prstGeom prst="roundRect">
            <a:avLst>
              <a:gd name="adj" fmla="val 23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4" name="统一风格-网络交付模式边缘高光-14">
            <a:extLst>
              <a:ext uri="{FF2B5EF4-FFF2-40B4-BE49-F238E27FC236}">
                <a16:creationId xmlns:a16="http://schemas.microsoft.com/office/drawing/2014/main" id="{1697D479-581B-4022-9613-DE97665F24F6}"/>
              </a:ext>
            </a:extLst>
          </p:cNvPr>
          <p:cNvSpPr>
            <a:spLocks noGrp="1"/>
          </p:cNvSpPr>
          <p:nvPr/>
        </p:nvSpPr>
        <p:spPr>
          <a:xfrm>
            <a:off x="6324600" y="1990398"/>
            <a:ext cx="5257800" cy="3143250"/>
          </a:xfrm>
          <a:custGeom>
            <a:avLst/>
            <a:gdLst/>
            <a:ahLst/>
            <a:cxnLst/>
            <a:rect l="0" t="0" r="0" b="0"/>
            <a:pathLst>
              <a:path w="5257800" h="31432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5" name="统一风格-cloud VPC 云轮廓-15">
            <a:extLst>
              <a:ext uri="{FF2B5EF4-FFF2-40B4-BE49-F238E27FC236}">
                <a16:creationId xmlns:a16="http://schemas.microsoft.com/office/drawing/2014/main" id="{989B20F8-9225-45AA-B323-2E6BE1B1D3B7}"/>
              </a:ext>
            </a:extLst>
          </p:cNvPr>
          <p:cNvSpPr>
            <a:spLocks noGrp="1"/>
          </p:cNvSpPr>
          <p:nvPr/>
        </p:nvSpPr>
        <p:spPr>
          <a:xfrm>
            <a:off x="800100" y="2171373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</p:sp>
      <p:sp>
        <p:nvSpPr>
          <p:cNvPr id="16" name="统一风格-文字 VPC 小网-16">
            <a:extLst>
              <a:ext uri="{FF2B5EF4-FFF2-40B4-BE49-F238E27FC236}">
                <a16:creationId xmlns:a16="http://schemas.microsoft.com/office/drawing/2014/main" id="{A6BF221C-453B-4D3F-AFBB-51F69A1A8B32}"/>
              </a:ext>
            </a:extLst>
          </p:cNvPr>
          <p:cNvSpPr>
            <a:spLocks noGrp="1"/>
          </p:cNvSpPr>
          <p:nvPr/>
        </p:nvSpPr>
        <p:spPr>
          <a:xfrm>
            <a:off x="1400175" y="2095173"/>
            <a:ext cx="4238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  <a:r>
              <a:rPr lang="zh-CN" altLang="en-US" sz="21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网络（小网）</a:t>
            </a:r>
            <a:endParaRPr sz="210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统一风格-文字 用户自主购买、规划、管理-17">
            <a:extLst>
              <a:ext uri="{FF2B5EF4-FFF2-40B4-BE49-F238E27FC236}">
                <a16:creationId xmlns:a16="http://schemas.microsoft.com/office/drawing/2014/main" id="{60D87B02-AB3A-4A10-9E4B-6AA4C6F25F80}"/>
              </a:ext>
            </a:extLst>
          </p:cNvPr>
          <p:cNvSpPr>
            <a:spLocks noGrp="1"/>
          </p:cNvSpPr>
          <p:nvPr/>
        </p:nvSpPr>
        <p:spPr>
          <a:xfrm>
            <a:off x="828675" y="2599998"/>
            <a:ext cx="4800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用户自主</a:t>
            </a: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订阅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、规划</a:t>
            </a: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策略管控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统一风格-用户 A 的 VPC玻璃后沿-18">
            <a:extLst>
              <a:ext uri="{FF2B5EF4-FFF2-40B4-BE49-F238E27FC236}">
                <a16:creationId xmlns:a16="http://schemas.microsoft.com/office/drawing/2014/main" id="{50349C59-7ADD-4B6C-9931-0AF862BCE5EC}"/>
              </a:ext>
            </a:extLst>
          </p:cNvPr>
          <p:cNvSpPr>
            <a:spLocks noGrp="1"/>
          </p:cNvSpPr>
          <p:nvPr/>
        </p:nvSpPr>
        <p:spPr>
          <a:xfrm>
            <a:off x="828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统一风格-用户 A 的 VPC-19">
            <a:extLst>
              <a:ext uri="{FF2B5EF4-FFF2-40B4-BE49-F238E27FC236}">
                <a16:creationId xmlns:a16="http://schemas.microsoft.com/office/drawing/2014/main" id="{11485575-382B-41FA-9657-E2C89E54F6BA}"/>
              </a:ext>
            </a:extLst>
          </p:cNvPr>
          <p:cNvSpPr>
            <a:spLocks noGrp="1"/>
          </p:cNvSpPr>
          <p:nvPr/>
        </p:nvSpPr>
        <p:spPr>
          <a:xfrm>
            <a:off x="828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用户 A 的 VPC玻璃内沿-20">
            <a:extLst>
              <a:ext uri="{FF2B5EF4-FFF2-40B4-BE49-F238E27FC236}">
                <a16:creationId xmlns:a16="http://schemas.microsoft.com/office/drawing/2014/main" id="{8BC618DE-C7CF-424A-A42F-211B785FB597}"/>
              </a:ext>
            </a:extLst>
          </p:cNvPr>
          <p:cNvSpPr>
            <a:spLocks noGrp="1"/>
          </p:cNvSpPr>
          <p:nvPr/>
        </p:nvSpPr>
        <p:spPr>
          <a:xfrm>
            <a:off x="8415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用户 A 的 VPC透光反射面-21">
            <a:extLst>
              <a:ext uri="{FF2B5EF4-FFF2-40B4-BE49-F238E27FC236}">
                <a16:creationId xmlns:a16="http://schemas.microsoft.com/office/drawing/2014/main" id="{909141C4-7598-46D9-9CB9-94B61FC22A29}"/>
              </a:ext>
            </a:extLst>
          </p:cNvPr>
          <p:cNvSpPr>
            <a:spLocks noGrp="1"/>
          </p:cNvSpPr>
          <p:nvPr/>
        </p:nvSpPr>
        <p:spPr>
          <a:xfrm>
            <a:off x="8477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2" name="统一风格-用户 A 的 VPC边缘高光-22">
            <a:extLst>
              <a:ext uri="{FF2B5EF4-FFF2-40B4-BE49-F238E27FC236}">
                <a16:creationId xmlns:a16="http://schemas.microsoft.com/office/drawing/2014/main" id="{728E4A40-B711-4DAF-B682-840E26555204}"/>
              </a:ext>
            </a:extLst>
          </p:cNvPr>
          <p:cNvSpPr>
            <a:spLocks noGrp="1"/>
          </p:cNvSpPr>
          <p:nvPr/>
        </p:nvSpPr>
        <p:spPr>
          <a:xfrm>
            <a:off x="8286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cloud VPC 云轮廓-23">
            <a:extLst>
              <a:ext uri="{FF2B5EF4-FFF2-40B4-BE49-F238E27FC236}">
                <a16:creationId xmlns:a16="http://schemas.microsoft.com/office/drawing/2014/main" id="{7EA2B63B-922C-405F-AA77-4AE7AA7335B0}"/>
              </a:ext>
            </a:extLst>
          </p:cNvPr>
          <p:cNvSpPr>
            <a:spLocks noGrp="1"/>
          </p:cNvSpPr>
          <p:nvPr/>
        </p:nvSpPr>
        <p:spPr>
          <a:xfrm>
            <a:off x="9525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24" name="统一风格-文字 用户 A 的 VPC-24">
            <a:extLst>
              <a:ext uri="{FF2B5EF4-FFF2-40B4-BE49-F238E27FC236}">
                <a16:creationId xmlns:a16="http://schemas.microsoft.com/office/drawing/2014/main" id="{A875BA86-FB83-452E-B7B6-15452CBCB5A7}"/>
              </a:ext>
            </a:extLst>
          </p:cNvPr>
          <p:cNvSpPr>
            <a:spLocks noGrp="1"/>
          </p:cNvSpPr>
          <p:nvPr/>
        </p:nvSpPr>
        <p:spPr>
          <a:xfrm>
            <a:off x="13525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用户</a:t>
            </a:r>
            <a:r>
              <a:rPr sz="15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A</a:t>
            </a:r>
          </a:p>
        </p:txBody>
      </p:sp>
      <p:sp>
        <p:nvSpPr>
          <p:cNvPr id="25" name="统一风格-文字 192.168.0.0/16-25">
            <a:extLst>
              <a:ext uri="{FF2B5EF4-FFF2-40B4-BE49-F238E27FC236}">
                <a16:creationId xmlns:a16="http://schemas.microsoft.com/office/drawing/2014/main" id="{C05EAB3B-39EF-4191-BAC9-A0D6B1EA4E5E}"/>
              </a:ext>
            </a:extLst>
          </p:cNvPr>
          <p:cNvSpPr>
            <a:spLocks noGrp="1"/>
          </p:cNvSpPr>
          <p:nvPr/>
        </p:nvSpPr>
        <p:spPr>
          <a:xfrm>
            <a:off x="9715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192.168.0.0/16</a:t>
            </a:r>
          </a:p>
        </p:txBody>
      </p:sp>
      <p:sp>
        <p:nvSpPr>
          <p:cNvPr id="26" name="统一风格-用户 B 的 VPC玻璃后沿-26">
            <a:extLst>
              <a:ext uri="{FF2B5EF4-FFF2-40B4-BE49-F238E27FC236}">
                <a16:creationId xmlns:a16="http://schemas.microsoft.com/office/drawing/2014/main" id="{A728F29B-D171-4C53-B03D-B32AF19B0934}"/>
              </a:ext>
            </a:extLst>
          </p:cNvPr>
          <p:cNvSpPr>
            <a:spLocks noGrp="1"/>
          </p:cNvSpPr>
          <p:nvPr/>
        </p:nvSpPr>
        <p:spPr>
          <a:xfrm>
            <a:off x="3343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7" name="统一风格-用户 B 的 VPC-27">
            <a:extLst>
              <a:ext uri="{FF2B5EF4-FFF2-40B4-BE49-F238E27FC236}">
                <a16:creationId xmlns:a16="http://schemas.microsoft.com/office/drawing/2014/main" id="{7D400A68-58C4-4499-B863-B2B11B3F2BEA}"/>
              </a:ext>
            </a:extLst>
          </p:cNvPr>
          <p:cNvSpPr>
            <a:spLocks noGrp="1"/>
          </p:cNvSpPr>
          <p:nvPr/>
        </p:nvSpPr>
        <p:spPr>
          <a:xfrm>
            <a:off x="3343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8" name="统一风格-用户 B 的 VPC玻璃内沿-28">
            <a:extLst>
              <a:ext uri="{FF2B5EF4-FFF2-40B4-BE49-F238E27FC236}">
                <a16:creationId xmlns:a16="http://schemas.microsoft.com/office/drawing/2014/main" id="{42AA8FD9-A164-4E4D-8D12-64257D466658}"/>
              </a:ext>
            </a:extLst>
          </p:cNvPr>
          <p:cNvSpPr>
            <a:spLocks noGrp="1"/>
          </p:cNvSpPr>
          <p:nvPr/>
        </p:nvSpPr>
        <p:spPr>
          <a:xfrm>
            <a:off x="33561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9" name="统一风格-用户 B 的 VPC透光反射面-29">
            <a:extLst>
              <a:ext uri="{FF2B5EF4-FFF2-40B4-BE49-F238E27FC236}">
                <a16:creationId xmlns:a16="http://schemas.microsoft.com/office/drawing/2014/main" id="{528D8E60-328D-4F92-A343-FAFA3E843681}"/>
              </a:ext>
            </a:extLst>
          </p:cNvPr>
          <p:cNvSpPr>
            <a:spLocks noGrp="1"/>
          </p:cNvSpPr>
          <p:nvPr/>
        </p:nvSpPr>
        <p:spPr>
          <a:xfrm>
            <a:off x="33623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0" name="统一风格-用户 B 的 VPC边缘高光-30">
            <a:extLst>
              <a:ext uri="{FF2B5EF4-FFF2-40B4-BE49-F238E27FC236}">
                <a16:creationId xmlns:a16="http://schemas.microsoft.com/office/drawing/2014/main" id="{8464B6D9-A73C-490F-AA32-D66500C0DA2B}"/>
              </a:ext>
            </a:extLst>
          </p:cNvPr>
          <p:cNvSpPr>
            <a:spLocks noGrp="1"/>
          </p:cNvSpPr>
          <p:nvPr/>
        </p:nvSpPr>
        <p:spPr>
          <a:xfrm>
            <a:off x="33432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1" name="统一风格-cloud VPC 云轮廓-31">
            <a:extLst>
              <a:ext uri="{FF2B5EF4-FFF2-40B4-BE49-F238E27FC236}">
                <a16:creationId xmlns:a16="http://schemas.microsoft.com/office/drawing/2014/main" id="{4CA9B975-EDA1-4CF4-9707-52CF4AC333FF}"/>
              </a:ext>
            </a:extLst>
          </p:cNvPr>
          <p:cNvSpPr>
            <a:spLocks noGrp="1"/>
          </p:cNvSpPr>
          <p:nvPr/>
        </p:nvSpPr>
        <p:spPr>
          <a:xfrm>
            <a:off x="34671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32" name="统一风格-文字 用户 B 的 VPC-32">
            <a:extLst>
              <a:ext uri="{FF2B5EF4-FFF2-40B4-BE49-F238E27FC236}">
                <a16:creationId xmlns:a16="http://schemas.microsoft.com/office/drawing/2014/main" id="{E9CB201D-FC8A-459F-9FBA-F0E092DC4E9D}"/>
              </a:ext>
            </a:extLst>
          </p:cNvPr>
          <p:cNvSpPr>
            <a:spLocks noGrp="1"/>
          </p:cNvSpPr>
          <p:nvPr/>
        </p:nvSpPr>
        <p:spPr>
          <a:xfrm>
            <a:off x="38671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用户</a:t>
            </a:r>
            <a:r>
              <a:rPr sz="15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B</a:t>
            </a:r>
          </a:p>
        </p:txBody>
      </p:sp>
      <p:sp>
        <p:nvSpPr>
          <p:cNvPr id="33" name="统一风格-文字 192.168.0.0/16-33">
            <a:extLst>
              <a:ext uri="{FF2B5EF4-FFF2-40B4-BE49-F238E27FC236}">
                <a16:creationId xmlns:a16="http://schemas.microsoft.com/office/drawing/2014/main" id="{469D095A-B62D-497E-AE0A-AEA90DA3C9D3}"/>
              </a:ext>
            </a:extLst>
          </p:cNvPr>
          <p:cNvSpPr>
            <a:spLocks noGrp="1"/>
          </p:cNvSpPr>
          <p:nvPr/>
        </p:nvSpPr>
        <p:spPr>
          <a:xfrm>
            <a:off x="34861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192.168.0.0/16</a:t>
            </a:r>
          </a:p>
        </p:txBody>
      </p:sp>
      <p:sp>
        <p:nvSpPr>
          <p:cNvPr id="34" name="统一风格-文字 每个用户 VPC 的网段固定为 /16。 用户自主规划子网并部署云资源。-34">
            <a:extLst>
              <a:ext uri="{FF2B5EF4-FFF2-40B4-BE49-F238E27FC236}">
                <a16:creationId xmlns:a16="http://schemas.microsoft.com/office/drawing/2014/main" id="{067AD2F8-B946-450B-95A9-09729C6CF4B7}"/>
              </a:ext>
            </a:extLst>
          </p:cNvPr>
          <p:cNvSpPr>
            <a:spLocks noGrp="1"/>
          </p:cNvSpPr>
          <p:nvPr/>
        </p:nvSpPr>
        <p:spPr>
          <a:xfrm>
            <a:off x="828675" y="4276398"/>
            <a:ext cx="4800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每个用户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的网段固定为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192.168.0.0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/16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用户自主规划子网并部署云资源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统一风格-cloud VPC 云轮廓-35">
            <a:extLst>
              <a:ext uri="{FF2B5EF4-FFF2-40B4-BE49-F238E27FC236}">
                <a16:creationId xmlns:a16="http://schemas.microsoft.com/office/drawing/2014/main" id="{8AFEB6E5-7ECE-4FCA-BEBA-4482507558C3}"/>
              </a:ext>
            </a:extLst>
          </p:cNvPr>
          <p:cNvSpPr>
            <a:spLocks noGrp="1"/>
          </p:cNvSpPr>
          <p:nvPr/>
        </p:nvSpPr>
        <p:spPr>
          <a:xfrm>
            <a:off x="6515100" y="2171373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</p:sp>
      <p:sp>
        <p:nvSpPr>
          <p:cNvPr id="36" name="统一风格-文字 经典网络-36">
            <a:extLst>
              <a:ext uri="{FF2B5EF4-FFF2-40B4-BE49-F238E27FC236}">
                <a16:creationId xmlns:a16="http://schemas.microsoft.com/office/drawing/2014/main" id="{56C65521-FF4B-4A8C-B999-20E67CB5AD68}"/>
              </a:ext>
            </a:extLst>
          </p:cNvPr>
          <p:cNvSpPr>
            <a:spLocks noGrp="1"/>
          </p:cNvSpPr>
          <p:nvPr/>
        </p:nvSpPr>
        <p:spPr>
          <a:xfrm>
            <a:off x="7115175" y="2095173"/>
            <a:ext cx="4238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经典网络</a:t>
            </a:r>
            <a:r>
              <a:rPr lang="zh-CN" altLang="en-US" sz="21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（大网）</a:t>
            </a:r>
            <a:endParaRPr sz="210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统一风格-文字 用户选择网络分区，平台自动调度-37">
            <a:extLst>
              <a:ext uri="{FF2B5EF4-FFF2-40B4-BE49-F238E27FC236}">
                <a16:creationId xmlns:a16="http://schemas.microsoft.com/office/drawing/2014/main" id="{1E36AD95-755E-479E-A6F8-E64387689FA0}"/>
              </a:ext>
            </a:extLst>
          </p:cNvPr>
          <p:cNvSpPr>
            <a:spLocks noGrp="1"/>
          </p:cNvSpPr>
          <p:nvPr/>
        </p:nvSpPr>
        <p:spPr>
          <a:xfrm>
            <a:off x="6543675" y="2599998"/>
            <a:ext cx="4800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用户选择网络分区，平台自动调度</a:t>
            </a:r>
          </a:p>
        </p:txBody>
      </p:sp>
      <p:sp>
        <p:nvSpPr>
          <p:cNvPr id="38" name="统一风格-网络分区 A玻璃后沿-38">
            <a:extLst>
              <a:ext uri="{FF2B5EF4-FFF2-40B4-BE49-F238E27FC236}">
                <a16:creationId xmlns:a16="http://schemas.microsoft.com/office/drawing/2014/main" id="{F14D9BE3-D317-48C2-8EB5-50DD4596717F}"/>
              </a:ext>
            </a:extLst>
          </p:cNvPr>
          <p:cNvSpPr>
            <a:spLocks noGrp="1"/>
          </p:cNvSpPr>
          <p:nvPr/>
        </p:nvSpPr>
        <p:spPr>
          <a:xfrm>
            <a:off x="6543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9" name="统一风格-网络分区 A-39">
            <a:extLst>
              <a:ext uri="{FF2B5EF4-FFF2-40B4-BE49-F238E27FC236}">
                <a16:creationId xmlns:a16="http://schemas.microsoft.com/office/drawing/2014/main" id="{D690AB04-D819-4481-A318-F4976FAEAAAA}"/>
              </a:ext>
            </a:extLst>
          </p:cNvPr>
          <p:cNvSpPr>
            <a:spLocks noGrp="1"/>
          </p:cNvSpPr>
          <p:nvPr/>
        </p:nvSpPr>
        <p:spPr>
          <a:xfrm>
            <a:off x="65436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0" name="统一风格-网络分区 A玻璃内沿-40">
            <a:extLst>
              <a:ext uri="{FF2B5EF4-FFF2-40B4-BE49-F238E27FC236}">
                <a16:creationId xmlns:a16="http://schemas.microsoft.com/office/drawing/2014/main" id="{67A84757-C80D-47C2-BA47-E36E69EECD02}"/>
              </a:ext>
            </a:extLst>
          </p:cNvPr>
          <p:cNvSpPr>
            <a:spLocks noGrp="1"/>
          </p:cNvSpPr>
          <p:nvPr/>
        </p:nvSpPr>
        <p:spPr>
          <a:xfrm>
            <a:off x="65565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1" name="统一风格-网络分区 A透光反射面-41">
            <a:extLst>
              <a:ext uri="{FF2B5EF4-FFF2-40B4-BE49-F238E27FC236}">
                <a16:creationId xmlns:a16="http://schemas.microsoft.com/office/drawing/2014/main" id="{EF760F87-0CC7-44E9-974D-5DB94AFB8518}"/>
              </a:ext>
            </a:extLst>
          </p:cNvPr>
          <p:cNvSpPr>
            <a:spLocks noGrp="1"/>
          </p:cNvSpPr>
          <p:nvPr/>
        </p:nvSpPr>
        <p:spPr>
          <a:xfrm>
            <a:off x="65627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2" name="统一风格-网络分区 A边缘高光-42">
            <a:extLst>
              <a:ext uri="{FF2B5EF4-FFF2-40B4-BE49-F238E27FC236}">
                <a16:creationId xmlns:a16="http://schemas.microsoft.com/office/drawing/2014/main" id="{2D15F9B3-F288-44FC-9984-A5392E079AF3}"/>
              </a:ext>
            </a:extLst>
          </p:cNvPr>
          <p:cNvSpPr>
            <a:spLocks noGrp="1"/>
          </p:cNvSpPr>
          <p:nvPr/>
        </p:nvSpPr>
        <p:spPr>
          <a:xfrm>
            <a:off x="65436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3" name="统一风格-cloud VPC 云轮廓-43">
            <a:extLst>
              <a:ext uri="{FF2B5EF4-FFF2-40B4-BE49-F238E27FC236}">
                <a16:creationId xmlns:a16="http://schemas.microsoft.com/office/drawing/2014/main" id="{68D1F736-922F-40F8-8699-04BDD62E0E92}"/>
              </a:ext>
            </a:extLst>
          </p:cNvPr>
          <p:cNvSpPr>
            <a:spLocks noGrp="1"/>
          </p:cNvSpPr>
          <p:nvPr/>
        </p:nvSpPr>
        <p:spPr>
          <a:xfrm>
            <a:off x="66675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44" name="统一风格-文字 网络分区 A-44">
            <a:extLst>
              <a:ext uri="{FF2B5EF4-FFF2-40B4-BE49-F238E27FC236}">
                <a16:creationId xmlns:a16="http://schemas.microsoft.com/office/drawing/2014/main" id="{861B152C-C115-40BC-9E18-177F759F6D00}"/>
              </a:ext>
            </a:extLst>
          </p:cNvPr>
          <p:cNvSpPr>
            <a:spLocks noGrp="1"/>
          </p:cNvSpPr>
          <p:nvPr/>
        </p:nvSpPr>
        <p:spPr>
          <a:xfrm>
            <a:off x="70675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网络分区 A</a:t>
            </a:r>
          </a:p>
        </p:txBody>
      </p:sp>
      <p:sp>
        <p:nvSpPr>
          <p:cNvPr id="45" name="统一风格-文字 平台预定义 VPC-45">
            <a:extLst>
              <a:ext uri="{FF2B5EF4-FFF2-40B4-BE49-F238E27FC236}">
                <a16:creationId xmlns:a16="http://schemas.microsoft.com/office/drawing/2014/main" id="{104B1D5D-0CA0-4E2B-A5D8-CEB5F4B7C9EE}"/>
              </a:ext>
            </a:extLst>
          </p:cNvPr>
          <p:cNvSpPr>
            <a:spLocks noGrp="1"/>
          </p:cNvSpPr>
          <p:nvPr/>
        </p:nvSpPr>
        <p:spPr>
          <a:xfrm>
            <a:off x="66865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平台预定义 VPC</a:t>
            </a:r>
          </a:p>
        </p:txBody>
      </p:sp>
      <p:sp>
        <p:nvSpPr>
          <p:cNvPr id="46" name="统一风格-网络分区 B玻璃后沿-46">
            <a:extLst>
              <a:ext uri="{FF2B5EF4-FFF2-40B4-BE49-F238E27FC236}">
                <a16:creationId xmlns:a16="http://schemas.microsoft.com/office/drawing/2014/main" id="{ABF65345-CD27-4D9A-880F-9B112FF53430}"/>
              </a:ext>
            </a:extLst>
          </p:cNvPr>
          <p:cNvSpPr>
            <a:spLocks noGrp="1"/>
          </p:cNvSpPr>
          <p:nvPr/>
        </p:nvSpPr>
        <p:spPr>
          <a:xfrm>
            <a:off x="9058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7" name="统一风格-网络分区 B-47">
            <a:extLst>
              <a:ext uri="{FF2B5EF4-FFF2-40B4-BE49-F238E27FC236}">
                <a16:creationId xmlns:a16="http://schemas.microsoft.com/office/drawing/2014/main" id="{2B8445FB-CB33-4ED4-99C9-2CC3777388D7}"/>
              </a:ext>
            </a:extLst>
          </p:cNvPr>
          <p:cNvSpPr>
            <a:spLocks noGrp="1"/>
          </p:cNvSpPr>
          <p:nvPr/>
        </p:nvSpPr>
        <p:spPr>
          <a:xfrm>
            <a:off x="9058275" y="3028623"/>
            <a:ext cx="2295525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8" name="统一风格-网络分区 B玻璃内沿-48">
            <a:extLst>
              <a:ext uri="{FF2B5EF4-FFF2-40B4-BE49-F238E27FC236}">
                <a16:creationId xmlns:a16="http://schemas.microsoft.com/office/drawing/2014/main" id="{EF871FE2-0D8F-495F-B283-921CCE7EB4B8}"/>
              </a:ext>
            </a:extLst>
          </p:cNvPr>
          <p:cNvSpPr>
            <a:spLocks noGrp="1"/>
          </p:cNvSpPr>
          <p:nvPr/>
        </p:nvSpPr>
        <p:spPr>
          <a:xfrm>
            <a:off x="9071134" y="3041482"/>
            <a:ext cx="2269808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9" name="统一风格-网络分区 B透光反射面-49">
            <a:extLst>
              <a:ext uri="{FF2B5EF4-FFF2-40B4-BE49-F238E27FC236}">
                <a16:creationId xmlns:a16="http://schemas.microsoft.com/office/drawing/2014/main" id="{BF0500F7-A23D-49D5-8D8A-6E15A335A590}"/>
              </a:ext>
            </a:extLst>
          </p:cNvPr>
          <p:cNvSpPr>
            <a:spLocks noGrp="1"/>
          </p:cNvSpPr>
          <p:nvPr/>
        </p:nvSpPr>
        <p:spPr>
          <a:xfrm>
            <a:off x="9077325" y="3047673"/>
            <a:ext cx="2257425" cy="942975"/>
          </a:xfrm>
          <a:custGeom>
            <a:avLst/>
            <a:gdLst/>
            <a:ahLst/>
            <a:cxnLst/>
            <a:rect l="0" t="0" r="0" b="0"/>
            <a:pathLst>
              <a:path w="2257425" h="942975">
                <a:moveTo>
                  <a:pt x="76200" y="0"/>
                </a:moveTo>
                <a:lnTo>
                  <a:pt x="1444752" y="0"/>
                </a:lnTo>
                <a:lnTo>
                  <a:pt x="586931" y="942975"/>
                </a:lnTo>
                <a:lnTo>
                  <a:pt x="76200" y="942975"/>
                </a:lnTo>
                <a:cubicBezTo>
                  <a:pt x="28575" y="942975"/>
                  <a:pt x="0" y="914400"/>
                  <a:pt x="0" y="8667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0" name="统一风格-网络分区 B边缘高光-50">
            <a:extLst>
              <a:ext uri="{FF2B5EF4-FFF2-40B4-BE49-F238E27FC236}">
                <a16:creationId xmlns:a16="http://schemas.microsoft.com/office/drawing/2014/main" id="{CD52DB6D-6560-429D-A4DF-69409BF23B18}"/>
              </a:ext>
            </a:extLst>
          </p:cNvPr>
          <p:cNvSpPr>
            <a:spLocks noGrp="1"/>
          </p:cNvSpPr>
          <p:nvPr/>
        </p:nvSpPr>
        <p:spPr>
          <a:xfrm>
            <a:off x="9058275" y="3028623"/>
            <a:ext cx="2295525" cy="981075"/>
          </a:xfrm>
          <a:custGeom>
            <a:avLst/>
            <a:gdLst/>
            <a:ahLst/>
            <a:cxnLst/>
            <a:rect l="0" t="0" r="0" b="0"/>
            <a:pathLst>
              <a:path w="2295525" h="981075">
                <a:moveTo>
                  <a:pt x="95250" y="9525"/>
                </a:moveTo>
                <a:lnTo>
                  <a:pt x="2200275" y="9525"/>
                </a:lnTo>
                <a:cubicBezTo>
                  <a:pt x="2247900" y="9525"/>
                  <a:pt x="2286000" y="47625"/>
                  <a:pt x="22860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1" name="统一风格-cloud VPC 云轮廓-51">
            <a:extLst>
              <a:ext uri="{FF2B5EF4-FFF2-40B4-BE49-F238E27FC236}">
                <a16:creationId xmlns:a16="http://schemas.microsoft.com/office/drawing/2014/main" id="{57FF3985-2B22-4FB1-8CF0-739E0AD641B2}"/>
              </a:ext>
            </a:extLst>
          </p:cNvPr>
          <p:cNvSpPr>
            <a:spLocks noGrp="1"/>
          </p:cNvSpPr>
          <p:nvPr/>
        </p:nvSpPr>
        <p:spPr>
          <a:xfrm>
            <a:off x="9182100" y="3181023"/>
            <a:ext cx="295275" cy="2952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1756" cap="rnd">
            <a:solidFill>
              <a:srgbClr val="2053C3"/>
            </a:solidFill>
            <a:round/>
          </a:ln>
        </p:spPr>
      </p:sp>
      <p:sp>
        <p:nvSpPr>
          <p:cNvPr id="52" name="统一风格-文字 网络分区 B-52">
            <a:extLst>
              <a:ext uri="{FF2B5EF4-FFF2-40B4-BE49-F238E27FC236}">
                <a16:creationId xmlns:a16="http://schemas.microsoft.com/office/drawing/2014/main" id="{D7E906ED-D676-43AE-B2E3-D7F37409A862}"/>
              </a:ext>
            </a:extLst>
          </p:cNvPr>
          <p:cNvSpPr>
            <a:spLocks noGrp="1"/>
          </p:cNvSpPr>
          <p:nvPr/>
        </p:nvSpPr>
        <p:spPr>
          <a:xfrm>
            <a:off x="9582150" y="3152448"/>
            <a:ext cx="1657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网络分区 B</a:t>
            </a:r>
          </a:p>
        </p:txBody>
      </p:sp>
      <p:sp>
        <p:nvSpPr>
          <p:cNvPr id="53" name="统一风格-文字 平台预定义 VPC-53">
            <a:extLst>
              <a:ext uri="{FF2B5EF4-FFF2-40B4-BE49-F238E27FC236}">
                <a16:creationId xmlns:a16="http://schemas.microsoft.com/office/drawing/2014/main" id="{52EC5268-8A8D-40FB-9238-C6AB6465B4F4}"/>
              </a:ext>
            </a:extLst>
          </p:cNvPr>
          <p:cNvSpPr>
            <a:spLocks noGrp="1"/>
          </p:cNvSpPr>
          <p:nvPr/>
        </p:nvSpPr>
        <p:spPr>
          <a:xfrm>
            <a:off x="9201150" y="3562023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平台预定义 VPC</a:t>
            </a:r>
          </a:p>
        </p:txBody>
      </p:sp>
      <p:sp>
        <p:nvSpPr>
          <p:cNvPr id="54" name="统一风格-文字 平台从 10.0.0.0/8 规划各分区 VPC。 用户仅在购买资源时选择分区。 分区 VPC 与子网由平台统一管理。-54">
            <a:extLst>
              <a:ext uri="{FF2B5EF4-FFF2-40B4-BE49-F238E27FC236}">
                <a16:creationId xmlns:a16="http://schemas.microsoft.com/office/drawing/2014/main" id="{683D60D4-CF31-41A4-8D1B-1778CFDB4BD4}"/>
              </a:ext>
            </a:extLst>
          </p:cNvPr>
          <p:cNvSpPr>
            <a:spLocks noGrp="1"/>
          </p:cNvSpPr>
          <p:nvPr/>
        </p:nvSpPr>
        <p:spPr>
          <a:xfrm>
            <a:off x="6543675" y="4133523"/>
            <a:ext cx="48006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平台从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10.0.0.0/8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规划各分区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用户仅在购买资源时选择分区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分区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与子网由平台统一管理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55" name="自主网络由原生 VPC 承载">
            <a:extLst>
              <a:ext uri="{FF2B5EF4-FFF2-40B4-BE49-F238E27FC236}">
                <a16:creationId xmlns:a16="http://schemas.microsoft.com/office/drawing/2014/main" id="{5DCFBA0D-2CBA-48B3-8466-59FFDF46624B}"/>
              </a:ext>
            </a:extLst>
          </p:cNvPr>
          <p:cNvCxnSpPr/>
          <p:nvPr/>
        </p:nvCxnSpPr>
        <p:spPr>
          <a:xfrm>
            <a:off x="3238500" y="5133648"/>
            <a:ext cx="0" cy="3048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56" name="经典网络由原生 VPC 承载">
            <a:extLst>
              <a:ext uri="{FF2B5EF4-FFF2-40B4-BE49-F238E27FC236}">
                <a16:creationId xmlns:a16="http://schemas.microsoft.com/office/drawing/2014/main" id="{E187C5FA-9765-4B5D-AB14-F0510B30AE19}"/>
              </a:ext>
            </a:extLst>
          </p:cNvPr>
          <p:cNvCxnSpPr/>
          <p:nvPr/>
        </p:nvCxnSpPr>
        <p:spPr>
          <a:xfrm>
            <a:off x="8953500" y="5133648"/>
            <a:ext cx="0" cy="3048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57" name="统一风格-共同的华为云网络底座玻璃后沿-55">
            <a:extLst>
              <a:ext uri="{FF2B5EF4-FFF2-40B4-BE49-F238E27FC236}">
                <a16:creationId xmlns:a16="http://schemas.microsoft.com/office/drawing/2014/main" id="{12783161-AEF1-4EBB-9699-4A7FC8DBCD2F}"/>
              </a:ext>
            </a:extLst>
          </p:cNvPr>
          <p:cNvSpPr>
            <a:spLocks noGrp="1"/>
          </p:cNvSpPr>
          <p:nvPr/>
        </p:nvSpPr>
        <p:spPr>
          <a:xfrm>
            <a:off x="609600" y="5438448"/>
            <a:ext cx="109728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统一风格-共同的华为云网络底座-56">
            <a:extLst>
              <a:ext uri="{FF2B5EF4-FFF2-40B4-BE49-F238E27FC236}">
                <a16:creationId xmlns:a16="http://schemas.microsoft.com/office/drawing/2014/main" id="{75AEB65A-AAD9-4B95-9D20-EF301B9DD9A1}"/>
              </a:ext>
            </a:extLst>
          </p:cNvPr>
          <p:cNvSpPr>
            <a:spLocks noGrp="1"/>
          </p:cNvSpPr>
          <p:nvPr/>
        </p:nvSpPr>
        <p:spPr>
          <a:xfrm>
            <a:off x="609600" y="5438448"/>
            <a:ext cx="109728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9" name="统一风格-共同的华为云网络底座玻璃内沿-57">
            <a:extLst>
              <a:ext uri="{FF2B5EF4-FFF2-40B4-BE49-F238E27FC236}">
                <a16:creationId xmlns:a16="http://schemas.microsoft.com/office/drawing/2014/main" id="{BBCBC85B-EEBD-4E05-BCF6-EBDCD1480345}"/>
              </a:ext>
            </a:extLst>
          </p:cNvPr>
          <p:cNvSpPr>
            <a:spLocks noGrp="1"/>
          </p:cNvSpPr>
          <p:nvPr/>
        </p:nvSpPr>
        <p:spPr>
          <a:xfrm>
            <a:off x="622459" y="5451307"/>
            <a:ext cx="10947083" cy="488633"/>
          </a:xfrm>
          <a:prstGeom prst="roundRect">
            <a:avLst>
              <a:gd name="adj" fmla="val 150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60" name="统一风格-共同的华为云网络底座边缘高光-58">
            <a:extLst>
              <a:ext uri="{FF2B5EF4-FFF2-40B4-BE49-F238E27FC236}">
                <a16:creationId xmlns:a16="http://schemas.microsoft.com/office/drawing/2014/main" id="{CA9F9BD0-0EC5-4C03-A290-200F3FF937C0}"/>
              </a:ext>
            </a:extLst>
          </p:cNvPr>
          <p:cNvSpPr>
            <a:spLocks noGrp="1"/>
          </p:cNvSpPr>
          <p:nvPr/>
        </p:nvSpPr>
        <p:spPr>
          <a:xfrm>
            <a:off x="609600" y="5438448"/>
            <a:ext cx="10972800" cy="514350"/>
          </a:xfrm>
          <a:custGeom>
            <a:avLst/>
            <a:gdLst/>
            <a:ahLst/>
            <a:cxnLst/>
            <a:rect l="0" t="0" r="0" b="0"/>
            <a:pathLst>
              <a:path w="10972800" h="5143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1" name="统一风格-cloud VPC 云轮廓-59">
            <a:extLst>
              <a:ext uri="{FF2B5EF4-FFF2-40B4-BE49-F238E27FC236}">
                <a16:creationId xmlns:a16="http://schemas.microsoft.com/office/drawing/2014/main" id="{743D36D8-0AF8-4633-96D5-BA5C600D495E}"/>
              </a:ext>
            </a:extLst>
          </p:cNvPr>
          <p:cNvSpPr>
            <a:spLocks noGrp="1"/>
          </p:cNvSpPr>
          <p:nvPr/>
        </p:nvSpPr>
        <p:spPr>
          <a:xfrm>
            <a:off x="800100" y="5505123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</p:sp>
      <p:sp>
        <p:nvSpPr>
          <p:cNvPr id="62" name="统一风格-文字 华为云原生 VPC-60">
            <a:extLst>
              <a:ext uri="{FF2B5EF4-FFF2-40B4-BE49-F238E27FC236}">
                <a16:creationId xmlns:a16="http://schemas.microsoft.com/office/drawing/2014/main" id="{30067731-CA01-4957-A4CD-486C87A50456}"/>
              </a:ext>
            </a:extLst>
          </p:cNvPr>
          <p:cNvSpPr>
            <a:spLocks noGrp="1"/>
          </p:cNvSpPr>
          <p:nvPr/>
        </p:nvSpPr>
        <p:spPr>
          <a:xfrm>
            <a:off x="1323975" y="5495598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华为云原生 VPC</a:t>
            </a:r>
          </a:p>
        </p:txBody>
      </p:sp>
      <p:sp>
        <p:nvSpPr>
          <p:cNvPr id="63" name="统一风格-文字 VPC / 子网 / 路由表 / 安全组-61">
            <a:extLst>
              <a:ext uri="{FF2B5EF4-FFF2-40B4-BE49-F238E27FC236}">
                <a16:creationId xmlns:a16="http://schemas.microsoft.com/office/drawing/2014/main" id="{1A16E986-B3DC-4B4E-B205-CA2D0FACC695}"/>
              </a:ext>
            </a:extLst>
          </p:cNvPr>
          <p:cNvSpPr>
            <a:spLocks noGrp="1"/>
          </p:cNvSpPr>
          <p:nvPr/>
        </p:nvSpPr>
        <p:spPr>
          <a:xfrm>
            <a:off x="5810250" y="5514648"/>
            <a:ext cx="552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/ 子网 / 路由表 / 安全组</a:t>
            </a:r>
          </a:p>
        </p:txBody>
      </p:sp>
    </p:spTree>
    <p:extLst>
      <p:ext uri="{BB962C8B-B14F-4D97-AF65-F5344CB8AC3E}">
        <p14:creationId xmlns:p14="http://schemas.microsoft.com/office/powerpoint/2010/main" val="140908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统一风格-文字 01  VPC 基础与规范-62">
            <a:extLst>
              <a:ext uri="{FF2B5EF4-FFF2-40B4-BE49-F238E27FC236}">
                <a16:creationId xmlns:a16="http://schemas.microsoft.com/office/drawing/2014/main" id="{3BECEBC6-D8F7-4F41-9561-4C870A2A016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经典网络的分区调度与子网承载-63">
            <a:extLst>
              <a:ext uri="{FF2B5EF4-FFF2-40B4-BE49-F238E27FC236}">
                <a16:creationId xmlns:a16="http://schemas.microsoft.com/office/drawing/2014/main" id="{11D4C854-1A06-4AF3-BF8B-E65CE4EDA28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经典网络的分区调度与子网承载</a:t>
            </a:r>
          </a:p>
        </p:txBody>
      </p:sp>
      <p:sp>
        <p:nvSpPr>
          <p:cNvPr id="3" name="统一风格-文字 平台预定义分区 VPC，部分分区按资源类型配置 IaaS、PaaS、RDS 子网-64">
            <a:extLst>
              <a:ext uri="{FF2B5EF4-FFF2-40B4-BE49-F238E27FC236}">
                <a16:creationId xmlns:a16="http://schemas.microsoft.com/office/drawing/2014/main" id="{DBAD24F9-2D6A-46A4-8CFA-AF274FF5A88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平台预定义分区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VPC，部分分区按资源类型配置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IaaS、PaaS、RDS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子网</a:t>
            </a:r>
            <a:endParaRPr sz="16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统一风格-页脚分隔-65">
            <a:extLst>
              <a:ext uri="{FF2B5EF4-FFF2-40B4-BE49-F238E27FC236}">
                <a16:creationId xmlns:a16="http://schemas.microsoft.com/office/drawing/2014/main" id="{F02BC1AB-DEE9-499E-9582-7D84C942F51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9525">
            <a:solidFill>
              <a:srgbClr val="B8CBE9"/>
            </a:solidFill>
          </a:ln>
        </p:spPr>
      </p:sp>
      <p:sp>
        <p:nvSpPr>
          <p:cNvPr id="5" name="统一风格-文字 IaaS / PaaS / RDS 为平台子网用途标签，不改变 CCE、RDS 等产品的云服务分层。分区间互通需另行设计。-66">
            <a:extLst>
              <a:ext uri="{FF2B5EF4-FFF2-40B4-BE49-F238E27FC236}">
                <a16:creationId xmlns:a16="http://schemas.microsoft.com/office/drawing/2014/main" id="{C92CE189-0BDE-4907-BA20-D8D3EF06DB5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IaaS / PaaS / RDS 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为平台子网用途标签，不改变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CCE、RDS 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等产品的云服务分层。分区间互通需另行设计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统一风格-文字 06-67">
            <a:extLst>
              <a:ext uri="{FF2B5EF4-FFF2-40B4-BE49-F238E27FC236}">
                <a16:creationId xmlns:a16="http://schemas.microsoft.com/office/drawing/2014/main" id="{72C4E5F6-2BDB-4BBD-A812-F875246CE14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统一风格-购买云服务资源玻璃后沿-68">
            <a:extLst>
              <a:ext uri="{FF2B5EF4-FFF2-40B4-BE49-F238E27FC236}">
                <a16:creationId xmlns:a16="http://schemas.microsoft.com/office/drawing/2014/main" id="{96BD0A05-5E36-4459-A245-45C67A9B87FB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" name="统一风格-购买云服务资源-69">
            <a:extLst>
              <a:ext uri="{FF2B5EF4-FFF2-40B4-BE49-F238E27FC236}">
                <a16:creationId xmlns:a16="http://schemas.microsoft.com/office/drawing/2014/main" id="{51A3704E-F27C-43BC-B156-FD1A2EBC3BAF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" name="统一风格-购买云服务资源玻璃内沿-70">
            <a:extLst>
              <a:ext uri="{FF2B5EF4-FFF2-40B4-BE49-F238E27FC236}">
                <a16:creationId xmlns:a16="http://schemas.microsoft.com/office/drawing/2014/main" id="{113664EC-5639-4180-9FDE-9A8467D334C9}"/>
              </a:ext>
            </a:extLst>
          </p:cNvPr>
          <p:cNvSpPr>
            <a:spLocks noGrp="1"/>
          </p:cNvSpPr>
          <p:nvPr/>
        </p:nvSpPr>
        <p:spPr>
          <a:xfrm>
            <a:off x="622459" y="2051209"/>
            <a:ext cx="30222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" name="统一风格-购买云服务资源边缘高光-71">
            <a:extLst>
              <a:ext uri="{FF2B5EF4-FFF2-40B4-BE49-F238E27FC236}">
                <a16:creationId xmlns:a16="http://schemas.microsoft.com/office/drawing/2014/main" id="{E274563A-2BBF-4B12-9D12-EC3008843BE7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048000" cy="628650"/>
          </a:xfrm>
          <a:custGeom>
            <a:avLst/>
            <a:gdLst/>
            <a:ahLst/>
            <a:cxnLst/>
            <a:rect l="0" t="0" r="0" b="0"/>
            <a:pathLst>
              <a:path w="3048000" h="62865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1" name="统一风格-server 服务器机架-72">
            <a:extLst>
              <a:ext uri="{FF2B5EF4-FFF2-40B4-BE49-F238E27FC236}">
                <a16:creationId xmlns:a16="http://schemas.microsoft.com/office/drawing/2014/main" id="{78AECF76-26D1-450B-83C7-B49248C48C90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12" name="统一风格-server 机架状态-73">
            <a:extLst>
              <a:ext uri="{FF2B5EF4-FFF2-40B4-BE49-F238E27FC236}">
                <a16:creationId xmlns:a16="http://schemas.microsoft.com/office/drawing/2014/main" id="{C6826DBC-3899-4985-93A7-8FD1B964E3B5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13" name="统一风格-server 指示灯-74">
            <a:extLst>
              <a:ext uri="{FF2B5EF4-FFF2-40B4-BE49-F238E27FC236}">
                <a16:creationId xmlns:a16="http://schemas.microsoft.com/office/drawing/2014/main" id="{4E9772DB-DC8F-412F-A7F0-EFD493678C9E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4" name="统一风格-server 服务器机架-75">
            <a:extLst>
              <a:ext uri="{FF2B5EF4-FFF2-40B4-BE49-F238E27FC236}">
                <a16:creationId xmlns:a16="http://schemas.microsoft.com/office/drawing/2014/main" id="{4AACBB42-F393-49E1-9AE0-B01808D468CA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15" name="统一风格-server 机架状态-76">
            <a:extLst>
              <a:ext uri="{FF2B5EF4-FFF2-40B4-BE49-F238E27FC236}">
                <a16:creationId xmlns:a16="http://schemas.microsoft.com/office/drawing/2014/main" id="{D6BE2249-403F-44E4-8A06-68077CBFCC16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16" name="统一风格-server 指示灯-77">
            <a:extLst>
              <a:ext uri="{FF2B5EF4-FFF2-40B4-BE49-F238E27FC236}">
                <a16:creationId xmlns:a16="http://schemas.microsoft.com/office/drawing/2014/main" id="{0CD7070A-F4B5-4460-9D97-9F295B058DCB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17" name="统一风格-server 服务器机架-78">
            <a:extLst>
              <a:ext uri="{FF2B5EF4-FFF2-40B4-BE49-F238E27FC236}">
                <a16:creationId xmlns:a16="http://schemas.microsoft.com/office/drawing/2014/main" id="{9514B55E-447F-4F59-9953-5E8E3760C64A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18" name="统一风格-server 机架状态-79">
            <a:extLst>
              <a:ext uri="{FF2B5EF4-FFF2-40B4-BE49-F238E27FC236}">
                <a16:creationId xmlns:a16="http://schemas.microsoft.com/office/drawing/2014/main" id="{BCCADF0A-1927-4976-948D-0B16EB5E34E9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19" name="统一风格-server 指示灯-80">
            <a:extLst>
              <a:ext uri="{FF2B5EF4-FFF2-40B4-BE49-F238E27FC236}">
                <a16:creationId xmlns:a16="http://schemas.microsoft.com/office/drawing/2014/main" id="{7512DE9A-888C-40EA-AB8A-9AF45D0A8C38}"/>
              </a:ext>
            </a:extLst>
          </p:cNvPr>
          <p:cNvSpPr>
            <a:spLocks noGrp="1"/>
          </p:cNvSpPr>
          <p:nvPr/>
        </p:nvSpPr>
        <p:spPr>
          <a:xfrm>
            <a:off x="7715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0" name="统一风格-文字 购买云服务资源-81">
            <a:extLst>
              <a:ext uri="{FF2B5EF4-FFF2-40B4-BE49-F238E27FC236}">
                <a16:creationId xmlns:a16="http://schemas.microsoft.com/office/drawing/2014/main" id="{384E18B5-85E0-4BAD-9B81-3ADADDAC96EF}"/>
              </a:ext>
            </a:extLst>
          </p:cNvPr>
          <p:cNvSpPr>
            <a:spLocks noGrp="1"/>
          </p:cNvSpPr>
          <p:nvPr/>
        </p:nvSpPr>
        <p:spPr>
          <a:xfrm>
            <a:off x="1276350" y="2133600"/>
            <a:ext cx="2209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购买云服务资源</a:t>
            </a:r>
          </a:p>
        </p:txBody>
      </p:sp>
      <p:sp>
        <p:nvSpPr>
          <p:cNvPr id="21" name="统一风格-选择网络分区玻璃后沿-82">
            <a:extLst>
              <a:ext uri="{FF2B5EF4-FFF2-40B4-BE49-F238E27FC236}">
                <a16:creationId xmlns:a16="http://schemas.microsoft.com/office/drawing/2014/main" id="{EBBB8796-D2F3-467F-9270-AD5C9AB43344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统一风格-选择网络分区-83">
            <a:extLst>
              <a:ext uri="{FF2B5EF4-FFF2-40B4-BE49-F238E27FC236}">
                <a16:creationId xmlns:a16="http://schemas.microsoft.com/office/drawing/2014/main" id="{C056EDCC-4EB3-42EA-B1F8-8E414AE834EE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3" name="统一风格-选择网络分区玻璃内沿-84">
            <a:extLst>
              <a:ext uri="{FF2B5EF4-FFF2-40B4-BE49-F238E27FC236}">
                <a16:creationId xmlns:a16="http://schemas.microsoft.com/office/drawing/2014/main" id="{BB9B6A04-E398-49F9-BC22-198AC5821287}"/>
              </a:ext>
            </a:extLst>
          </p:cNvPr>
          <p:cNvSpPr>
            <a:spLocks noGrp="1"/>
          </p:cNvSpPr>
          <p:nvPr/>
        </p:nvSpPr>
        <p:spPr>
          <a:xfrm>
            <a:off x="4584859" y="2051209"/>
            <a:ext cx="30222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4" name="统一风格-选择网络分区边缘高光-85">
            <a:extLst>
              <a:ext uri="{FF2B5EF4-FFF2-40B4-BE49-F238E27FC236}">
                <a16:creationId xmlns:a16="http://schemas.microsoft.com/office/drawing/2014/main" id="{9B7F26D3-1E84-4075-A728-7BF1125D430E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3048000" cy="628650"/>
          </a:xfrm>
          <a:custGeom>
            <a:avLst/>
            <a:gdLst/>
            <a:ahLst/>
            <a:cxnLst/>
            <a:rect l="0" t="0" r="0" b="0"/>
            <a:pathLst>
              <a:path w="3048000" h="62865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5" name="统一风格-route-table VPC 路由表外框-86">
            <a:extLst>
              <a:ext uri="{FF2B5EF4-FFF2-40B4-BE49-F238E27FC236}">
                <a16:creationId xmlns:a16="http://schemas.microsoft.com/office/drawing/2014/main" id="{5C8D9F57-EC23-4830-ABAF-18ACCCEBC44B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26" name="统一风格-route-table 路由表列与表头-87">
            <a:extLst>
              <a:ext uri="{FF2B5EF4-FFF2-40B4-BE49-F238E27FC236}">
                <a16:creationId xmlns:a16="http://schemas.microsoft.com/office/drawing/2014/main" id="{852E11AD-8692-4DF9-8EEB-5B71D2F51343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7" name="统一风格-route-table 目的网段条目-88">
            <a:extLst>
              <a:ext uri="{FF2B5EF4-FFF2-40B4-BE49-F238E27FC236}">
                <a16:creationId xmlns:a16="http://schemas.microsoft.com/office/drawing/2014/main" id="{2E493C26-80DB-4D7A-BBCA-20E0EF63AC25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8" name="统一风格-route-table 下一跳箭头-89">
            <a:extLst>
              <a:ext uri="{FF2B5EF4-FFF2-40B4-BE49-F238E27FC236}">
                <a16:creationId xmlns:a16="http://schemas.microsoft.com/office/drawing/2014/main" id="{8988B60B-D528-459E-BB20-E8C48B74E98A}"/>
              </a:ext>
            </a:extLst>
          </p:cNvPr>
          <p:cNvSpPr>
            <a:spLocks noGrp="1"/>
          </p:cNvSpPr>
          <p:nvPr/>
        </p:nvSpPr>
        <p:spPr>
          <a:xfrm>
            <a:off x="47339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29" name="统一风格-文字 选择网络分区-90">
            <a:extLst>
              <a:ext uri="{FF2B5EF4-FFF2-40B4-BE49-F238E27FC236}">
                <a16:creationId xmlns:a16="http://schemas.microsoft.com/office/drawing/2014/main" id="{B47D9C55-77CE-49BE-9C97-7F23622EC96F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2209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选择网络分区</a:t>
            </a:r>
          </a:p>
        </p:txBody>
      </p:sp>
      <p:sp>
        <p:nvSpPr>
          <p:cNvPr id="30" name="统一风格-平台自动调度玻璃后沿-91">
            <a:extLst>
              <a:ext uri="{FF2B5EF4-FFF2-40B4-BE49-F238E27FC236}">
                <a16:creationId xmlns:a16="http://schemas.microsoft.com/office/drawing/2014/main" id="{A23A24AE-C373-43A3-A4C8-A7209278C1F2}"/>
              </a:ext>
            </a:extLst>
          </p:cNvPr>
          <p:cNvSpPr>
            <a:spLocks noGrp="1"/>
          </p:cNvSpPr>
          <p:nvPr/>
        </p:nvSpPr>
        <p:spPr>
          <a:xfrm>
            <a:off x="85344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统一风格-平台自动调度-92">
            <a:extLst>
              <a:ext uri="{FF2B5EF4-FFF2-40B4-BE49-F238E27FC236}">
                <a16:creationId xmlns:a16="http://schemas.microsoft.com/office/drawing/2014/main" id="{0A4AD7AB-E7BE-4C0F-9EA2-319FDA5246AE}"/>
              </a:ext>
            </a:extLst>
          </p:cNvPr>
          <p:cNvSpPr>
            <a:spLocks noGrp="1"/>
          </p:cNvSpPr>
          <p:nvPr/>
        </p:nvSpPr>
        <p:spPr>
          <a:xfrm>
            <a:off x="8534400" y="2038350"/>
            <a:ext cx="30480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2" name="统一风格-平台自动调度玻璃内沿-93">
            <a:extLst>
              <a:ext uri="{FF2B5EF4-FFF2-40B4-BE49-F238E27FC236}">
                <a16:creationId xmlns:a16="http://schemas.microsoft.com/office/drawing/2014/main" id="{A1FB80DA-297A-494B-A2FD-86F19256107C}"/>
              </a:ext>
            </a:extLst>
          </p:cNvPr>
          <p:cNvSpPr>
            <a:spLocks noGrp="1"/>
          </p:cNvSpPr>
          <p:nvPr/>
        </p:nvSpPr>
        <p:spPr>
          <a:xfrm>
            <a:off x="8547259" y="2051209"/>
            <a:ext cx="30222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3" name="统一风格-平台自动调度边缘高光-94">
            <a:extLst>
              <a:ext uri="{FF2B5EF4-FFF2-40B4-BE49-F238E27FC236}">
                <a16:creationId xmlns:a16="http://schemas.microsoft.com/office/drawing/2014/main" id="{3589B583-C1A3-48A3-B4C0-0148CA791A76}"/>
              </a:ext>
            </a:extLst>
          </p:cNvPr>
          <p:cNvSpPr>
            <a:spLocks noGrp="1"/>
          </p:cNvSpPr>
          <p:nvPr/>
        </p:nvSpPr>
        <p:spPr>
          <a:xfrm>
            <a:off x="8534400" y="2038350"/>
            <a:ext cx="3048000" cy="628650"/>
          </a:xfrm>
          <a:custGeom>
            <a:avLst/>
            <a:gdLst/>
            <a:ahLst/>
            <a:cxnLst/>
            <a:rect l="0" t="0" r="0" b="0"/>
            <a:pathLst>
              <a:path w="3048000" h="62865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4" name="统一风格-router ER 路由器外形-95">
            <a:extLst>
              <a:ext uri="{FF2B5EF4-FFF2-40B4-BE49-F238E27FC236}">
                <a16:creationId xmlns:a16="http://schemas.microsoft.com/office/drawing/2014/main" id="{76F4F99E-2A19-42A5-B18E-7F5D785E6F72}"/>
              </a:ext>
            </a:extLst>
          </p:cNvPr>
          <p:cNvSpPr>
            <a:spLocks noGrp="1"/>
          </p:cNvSpPr>
          <p:nvPr/>
        </p:nvSpPr>
        <p:spPr>
          <a:xfrm>
            <a:off x="86963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652" cap="rnd">
            <a:solidFill>
              <a:srgbClr val="2053C3"/>
            </a:solidFill>
            <a:round/>
          </a:ln>
        </p:spPr>
      </p:sp>
      <p:sp>
        <p:nvSpPr>
          <p:cNvPr id="35" name="统一风格-router ER 四向路由-96">
            <a:extLst>
              <a:ext uri="{FF2B5EF4-FFF2-40B4-BE49-F238E27FC236}">
                <a16:creationId xmlns:a16="http://schemas.microsoft.com/office/drawing/2014/main" id="{65E54993-902F-4847-9629-E609C9EF52A4}"/>
              </a:ext>
            </a:extLst>
          </p:cNvPr>
          <p:cNvSpPr>
            <a:spLocks noGrp="1"/>
          </p:cNvSpPr>
          <p:nvPr/>
        </p:nvSpPr>
        <p:spPr>
          <a:xfrm>
            <a:off x="8696325" y="2181225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3652" cap="rnd">
            <a:solidFill>
              <a:srgbClr val="2053C3"/>
            </a:solidFill>
            <a:round/>
          </a:ln>
        </p:spPr>
      </p:sp>
      <p:sp>
        <p:nvSpPr>
          <p:cNvPr id="36" name="统一风格-文字 平台自动调度-97">
            <a:extLst>
              <a:ext uri="{FF2B5EF4-FFF2-40B4-BE49-F238E27FC236}">
                <a16:creationId xmlns:a16="http://schemas.microsoft.com/office/drawing/2014/main" id="{AF395712-0C69-4D3D-8683-93842C624206}"/>
              </a:ext>
            </a:extLst>
          </p:cNvPr>
          <p:cNvSpPr>
            <a:spLocks noGrp="1"/>
          </p:cNvSpPr>
          <p:nvPr/>
        </p:nvSpPr>
        <p:spPr>
          <a:xfrm>
            <a:off x="9201150" y="2133600"/>
            <a:ext cx="2209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平台自动调度</a:t>
            </a:r>
          </a:p>
        </p:txBody>
      </p:sp>
      <p:cxnSp>
        <p:nvCxnSpPr>
          <p:cNvPr id="37" name="购买后选择分区">
            <a:extLst>
              <a:ext uri="{FF2B5EF4-FFF2-40B4-BE49-F238E27FC236}">
                <a16:creationId xmlns:a16="http://schemas.microsoft.com/office/drawing/2014/main" id="{DB8071F7-E34F-4D10-BE36-E67F9A2DAD99}"/>
              </a:ext>
            </a:extLst>
          </p:cNvPr>
          <p:cNvCxnSpPr/>
          <p:nvPr/>
        </p:nvCxnSpPr>
        <p:spPr>
          <a:xfrm>
            <a:off x="3676650" y="2352675"/>
            <a:ext cx="8382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38" name="选择后调度资源">
            <a:extLst>
              <a:ext uri="{FF2B5EF4-FFF2-40B4-BE49-F238E27FC236}">
                <a16:creationId xmlns:a16="http://schemas.microsoft.com/office/drawing/2014/main" id="{D5FB6FB2-263D-4A15-930B-B1B2A962CC00}"/>
              </a:ext>
            </a:extLst>
          </p:cNvPr>
          <p:cNvCxnSpPr/>
          <p:nvPr/>
        </p:nvCxnSpPr>
        <p:spPr>
          <a:xfrm>
            <a:off x="7639050" y="2352675"/>
            <a:ext cx="83820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39" name="统一风格-分区调度总线-98">
            <a:extLst>
              <a:ext uri="{FF2B5EF4-FFF2-40B4-BE49-F238E27FC236}">
                <a16:creationId xmlns:a16="http://schemas.microsoft.com/office/drawing/2014/main" id="{378EB9BD-C542-4127-B2F2-7E4A5A760C75}"/>
              </a:ext>
            </a:extLst>
          </p:cNvPr>
          <p:cNvSpPr>
            <a:spLocks noGrp="1"/>
          </p:cNvSpPr>
          <p:nvPr/>
        </p:nvSpPr>
        <p:spPr>
          <a:xfrm>
            <a:off x="4381500" y="2943225"/>
            <a:ext cx="56769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0" name="统一风格-调度汇入分区总线-99">
            <a:extLst>
              <a:ext uri="{FF2B5EF4-FFF2-40B4-BE49-F238E27FC236}">
                <a16:creationId xmlns:a16="http://schemas.microsoft.com/office/drawing/2014/main" id="{2E0E0505-987F-4D0E-9AD4-A70C0F7BC7CE}"/>
              </a:ext>
            </a:extLst>
          </p:cNvPr>
          <p:cNvSpPr>
            <a:spLocks noGrp="1"/>
          </p:cNvSpPr>
          <p:nvPr/>
        </p:nvSpPr>
        <p:spPr>
          <a:xfrm>
            <a:off x="10058400" y="2667000"/>
            <a:ext cx="0" cy="27622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cxnSp>
        <p:nvCxnSpPr>
          <p:cNvPr id="41" name="发放至分区 A">
            <a:extLst>
              <a:ext uri="{FF2B5EF4-FFF2-40B4-BE49-F238E27FC236}">
                <a16:creationId xmlns:a16="http://schemas.microsoft.com/office/drawing/2014/main" id="{A1509007-E536-4A6D-97B7-71DA7FE169A4}"/>
              </a:ext>
            </a:extLst>
          </p:cNvPr>
          <p:cNvCxnSpPr/>
          <p:nvPr/>
        </p:nvCxnSpPr>
        <p:spPr>
          <a:xfrm>
            <a:off x="4381500" y="2943225"/>
            <a:ext cx="0" cy="29527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42" name="发放至分区 B">
            <a:extLst>
              <a:ext uri="{FF2B5EF4-FFF2-40B4-BE49-F238E27FC236}">
                <a16:creationId xmlns:a16="http://schemas.microsoft.com/office/drawing/2014/main" id="{DA55956E-0B46-4106-84CE-D82F52112790}"/>
              </a:ext>
            </a:extLst>
          </p:cNvPr>
          <p:cNvCxnSpPr/>
          <p:nvPr/>
        </p:nvCxnSpPr>
        <p:spPr>
          <a:xfrm>
            <a:off x="10058400" y="2943225"/>
            <a:ext cx="0" cy="29527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3" name="统一风格-文字 按所选分区发放资源-100">
            <a:extLst>
              <a:ext uri="{FF2B5EF4-FFF2-40B4-BE49-F238E27FC236}">
                <a16:creationId xmlns:a16="http://schemas.microsoft.com/office/drawing/2014/main" id="{08D9E821-843B-4722-93C9-84E8609C16EF}"/>
              </a:ext>
            </a:extLst>
          </p:cNvPr>
          <p:cNvSpPr>
            <a:spLocks noGrp="1"/>
          </p:cNvSpPr>
          <p:nvPr/>
        </p:nvSpPr>
        <p:spPr>
          <a:xfrm>
            <a:off x="5619750" y="2962275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按所选分区</a:t>
            </a:r>
            <a:r>
              <a:rPr lang="en-US" sz="12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调度网络</a:t>
            </a:r>
            <a:r>
              <a:rPr sz="12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资源</a:t>
            </a:r>
            <a:endParaRPr sz="1275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统一风格-经典网络分区 A VPC玻璃后沿-101">
            <a:extLst>
              <a:ext uri="{FF2B5EF4-FFF2-40B4-BE49-F238E27FC236}">
                <a16:creationId xmlns:a16="http://schemas.microsoft.com/office/drawing/2014/main" id="{5DDADB57-1444-40C9-B492-450728F5B45B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75438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统一风格-经典网络分区 A VPC-102">
            <a:extLst>
              <a:ext uri="{FF2B5EF4-FFF2-40B4-BE49-F238E27FC236}">
                <a16:creationId xmlns:a16="http://schemas.microsoft.com/office/drawing/2014/main" id="{6386B52D-7B96-482D-8220-BE79C11905AA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75438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经典网络分区 A VPC玻璃内沿-103">
            <a:extLst>
              <a:ext uri="{FF2B5EF4-FFF2-40B4-BE49-F238E27FC236}">
                <a16:creationId xmlns:a16="http://schemas.microsoft.com/office/drawing/2014/main" id="{D7666B8F-39DF-4497-BFDF-9876363E88D1}"/>
              </a:ext>
            </a:extLst>
          </p:cNvPr>
          <p:cNvSpPr>
            <a:spLocks noGrp="1"/>
          </p:cNvSpPr>
          <p:nvPr/>
        </p:nvSpPr>
        <p:spPr>
          <a:xfrm>
            <a:off x="622459" y="3251359"/>
            <a:ext cx="7518083" cy="2641283"/>
          </a:xfrm>
          <a:prstGeom prst="roundRect">
            <a:avLst>
              <a:gd name="adj" fmla="val 27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经典网络分区 A VPC边缘高光-104">
            <a:extLst>
              <a:ext uri="{FF2B5EF4-FFF2-40B4-BE49-F238E27FC236}">
                <a16:creationId xmlns:a16="http://schemas.microsoft.com/office/drawing/2014/main" id="{FBC54269-F5F5-4C2B-AFE8-0EEE2179818A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7543800" cy="2667000"/>
          </a:xfrm>
          <a:custGeom>
            <a:avLst/>
            <a:gdLst/>
            <a:ahLst/>
            <a:cxnLst/>
            <a:rect l="0" t="0" r="0" b="0"/>
            <a:pathLst>
              <a:path w="7543800" h="2667000">
                <a:moveTo>
                  <a:pt x="95250" y="9525"/>
                </a:moveTo>
                <a:lnTo>
                  <a:pt x="7448550" y="9525"/>
                </a:lnTo>
                <a:cubicBezTo>
                  <a:pt x="7496175" y="9525"/>
                  <a:pt x="7534275" y="47625"/>
                  <a:pt x="7534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8" name="统一风格-cloud VPC 云轮廓-105">
            <a:extLst>
              <a:ext uri="{FF2B5EF4-FFF2-40B4-BE49-F238E27FC236}">
                <a16:creationId xmlns:a16="http://schemas.microsoft.com/office/drawing/2014/main" id="{BCDF6634-18F4-4FE0-920D-85F6525B313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49" name="统一风格-文字 网络分区 A · 预定义 VPC-106">
            <a:extLst>
              <a:ext uri="{FF2B5EF4-FFF2-40B4-BE49-F238E27FC236}">
                <a16:creationId xmlns:a16="http://schemas.microsoft.com/office/drawing/2014/main" id="{EE46DE2E-4BE6-4189-8287-568A0963173C}"/>
              </a:ext>
            </a:extLst>
          </p:cNvPr>
          <p:cNvSpPr>
            <a:spLocks noGrp="1"/>
          </p:cNvSpPr>
          <p:nvPr/>
        </p:nvSpPr>
        <p:spPr>
          <a:xfrm>
            <a:off x="1362075" y="3333750"/>
            <a:ext cx="647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服务器侧通用区</a:t>
            </a:r>
            <a:r>
              <a:rPr lang="zh-CN" altLang="en-US" sz="19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</a:p>
        </p:txBody>
      </p:sp>
      <p:sp>
        <p:nvSpPr>
          <p:cNvPr id="50" name="统一风格-文字 平台在该 VPC 内按用途预建子网，再向对应子网发放资源-107">
            <a:extLst>
              <a:ext uri="{FF2B5EF4-FFF2-40B4-BE49-F238E27FC236}">
                <a16:creationId xmlns:a16="http://schemas.microsoft.com/office/drawing/2014/main" id="{AB65264C-AF79-4F13-ADAE-D3BB0DD7AC8C}"/>
              </a:ext>
            </a:extLst>
          </p:cNvPr>
          <p:cNvSpPr>
            <a:spLocks noGrp="1"/>
          </p:cNvSpPr>
          <p:nvPr/>
        </p:nvSpPr>
        <p:spPr>
          <a:xfrm>
            <a:off x="828675" y="3781425"/>
            <a:ext cx="7096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平台在该</a:t>
            </a:r>
            <a:r>
              <a:rPr sz="150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VPC </a:t>
            </a:r>
            <a:r>
              <a:rPr sz="150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内按用途预建子网，再</a:t>
            </a:r>
            <a:r>
              <a:rPr lang="en-US" sz="150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通过网络标签实现不同服务的网络资源调度</a:t>
            </a:r>
            <a:endParaRPr sz="150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统一风格-IaaS 子网玻璃后沿-108">
            <a:extLst>
              <a:ext uri="{FF2B5EF4-FFF2-40B4-BE49-F238E27FC236}">
                <a16:creationId xmlns:a16="http://schemas.microsoft.com/office/drawing/2014/main" id="{4D99EC8F-D5D3-4030-8850-C1D0C52BFEEB}"/>
              </a:ext>
            </a:extLst>
          </p:cNvPr>
          <p:cNvSpPr>
            <a:spLocks noGrp="1"/>
          </p:cNvSpPr>
          <p:nvPr/>
        </p:nvSpPr>
        <p:spPr>
          <a:xfrm>
            <a:off x="8286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统一风格-IaaS 子网-109">
            <a:extLst>
              <a:ext uri="{FF2B5EF4-FFF2-40B4-BE49-F238E27FC236}">
                <a16:creationId xmlns:a16="http://schemas.microsoft.com/office/drawing/2014/main" id="{4F60CB02-0432-43DB-952D-600C906022ED}"/>
              </a:ext>
            </a:extLst>
          </p:cNvPr>
          <p:cNvSpPr>
            <a:spLocks noGrp="1"/>
          </p:cNvSpPr>
          <p:nvPr/>
        </p:nvSpPr>
        <p:spPr>
          <a:xfrm>
            <a:off x="8286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3" name="统一风格-IaaS 子网玻璃内沿-110">
            <a:extLst>
              <a:ext uri="{FF2B5EF4-FFF2-40B4-BE49-F238E27FC236}">
                <a16:creationId xmlns:a16="http://schemas.microsoft.com/office/drawing/2014/main" id="{01059236-BFA3-4080-8C96-1799F229465D}"/>
              </a:ext>
            </a:extLst>
          </p:cNvPr>
          <p:cNvSpPr>
            <a:spLocks noGrp="1"/>
          </p:cNvSpPr>
          <p:nvPr/>
        </p:nvSpPr>
        <p:spPr>
          <a:xfrm>
            <a:off x="841534" y="4270534"/>
            <a:ext cx="2241233" cy="1412558"/>
          </a:xfrm>
          <a:prstGeom prst="roundRect">
            <a:avLst>
              <a:gd name="adj" fmla="val 519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4" name="统一风格-IaaS 子网透光反射面-111">
            <a:extLst>
              <a:ext uri="{FF2B5EF4-FFF2-40B4-BE49-F238E27FC236}">
                <a16:creationId xmlns:a16="http://schemas.microsoft.com/office/drawing/2014/main" id="{9CA2B8DB-0516-4AA5-890C-18CFC1215C12}"/>
              </a:ext>
            </a:extLst>
          </p:cNvPr>
          <p:cNvSpPr>
            <a:spLocks noGrp="1"/>
          </p:cNvSpPr>
          <p:nvPr/>
        </p:nvSpPr>
        <p:spPr>
          <a:xfrm>
            <a:off x="847725" y="4276725"/>
            <a:ext cx="2228850" cy="1400175"/>
          </a:xfrm>
          <a:custGeom>
            <a:avLst/>
            <a:gdLst/>
            <a:ahLst/>
            <a:cxnLst/>
            <a:rect l="0" t="0" r="0" b="0"/>
            <a:pathLst>
              <a:path w="2228850" h="1400175">
                <a:moveTo>
                  <a:pt x="76200" y="0"/>
                </a:moveTo>
                <a:lnTo>
                  <a:pt x="1426464" y="0"/>
                </a:lnTo>
                <a:lnTo>
                  <a:pt x="579501" y="1400175"/>
                </a:lnTo>
                <a:lnTo>
                  <a:pt x="76200" y="1400175"/>
                </a:lnTo>
                <a:cubicBezTo>
                  <a:pt x="28575" y="1400175"/>
                  <a:pt x="0" y="1371600"/>
                  <a:pt x="0" y="1323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5" name="统一风格-IaaS 子网边缘高光-112">
            <a:extLst>
              <a:ext uri="{FF2B5EF4-FFF2-40B4-BE49-F238E27FC236}">
                <a16:creationId xmlns:a16="http://schemas.microsoft.com/office/drawing/2014/main" id="{9C19A4F4-315C-4700-B7CF-6D88CD34BC8A}"/>
              </a:ext>
            </a:extLst>
          </p:cNvPr>
          <p:cNvSpPr>
            <a:spLocks noGrp="1"/>
          </p:cNvSpPr>
          <p:nvPr/>
        </p:nvSpPr>
        <p:spPr>
          <a:xfrm>
            <a:off x="828675" y="4257675"/>
            <a:ext cx="2266950" cy="1438275"/>
          </a:xfrm>
          <a:custGeom>
            <a:avLst/>
            <a:gdLst/>
            <a:ahLst/>
            <a:cxnLst/>
            <a:rect l="0" t="0" r="0" b="0"/>
            <a:pathLst>
              <a:path w="2266950" h="14382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56" name="统一风格-server 服务器机架-113">
            <a:extLst>
              <a:ext uri="{FF2B5EF4-FFF2-40B4-BE49-F238E27FC236}">
                <a16:creationId xmlns:a16="http://schemas.microsoft.com/office/drawing/2014/main" id="{52CD126B-309C-4493-87D2-95DD82FBB7E2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57" name="统一风格-server 机架状态-114">
            <a:extLst>
              <a:ext uri="{FF2B5EF4-FFF2-40B4-BE49-F238E27FC236}">
                <a16:creationId xmlns:a16="http://schemas.microsoft.com/office/drawing/2014/main" id="{12A40BB0-B85E-4B7B-B677-A06EA4CFB033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58" name="统一风格-server 指示灯-115">
            <a:extLst>
              <a:ext uri="{FF2B5EF4-FFF2-40B4-BE49-F238E27FC236}">
                <a16:creationId xmlns:a16="http://schemas.microsoft.com/office/drawing/2014/main" id="{85E4CFF1-A6D8-4D83-80FE-CFA5E5D39989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59" name="统一风格-server 服务器机架-116">
            <a:extLst>
              <a:ext uri="{FF2B5EF4-FFF2-40B4-BE49-F238E27FC236}">
                <a16:creationId xmlns:a16="http://schemas.microsoft.com/office/drawing/2014/main" id="{562E0E26-29A1-40C0-A90F-EB368784FA9F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0" name="统一风格-server 机架状态-117">
            <a:extLst>
              <a:ext uri="{FF2B5EF4-FFF2-40B4-BE49-F238E27FC236}">
                <a16:creationId xmlns:a16="http://schemas.microsoft.com/office/drawing/2014/main" id="{F3A2232B-0AD0-483B-BB1F-07D15F03DBF8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1" name="统一风格-server 指示灯-118">
            <a:extLst>
              <a:ext uri="{FF2B5EF4-FFF2-40B4-BE49-F238E27FC236}">
                <a16:creationId xmlns:a16="http://schemas.microsoft.com/office/drawing/2014/main" id="{8A527CA6-2066-4AB3-8E39-16D6DE16A88A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2" name="统一风格-server 服务器机架-119">
            <a:extLst>
              <a:ext uri="{FF2B5EF4-FFF2-40B4-BE49-F238E27FC236}">
                <a16:creationId xmlns:a16="http://schemas.microsoft.com/office/drawing/2014/main" id="{4F6F6405-D733-48FC-8077-A985F8C5655C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3" name="统一风格-server 机架状态-120">
            <a:extLst>
              <a:ext uri="{FF2B5EF4-FFF2-40B4-BE49-F238E27FC236}">
                <a16:creationId xmlns:a16="http://schemas.microsoft.com/office/drawing/2014/main" id="{492038F5-E960-4FF5-89C5-92CCFFDAD846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4" name="统一风格-server 指示灯-121">
            <a:extLst>
              <a:ext uri="{FF2B5EF4-FFF2-40B4-BE49-F238E27FC236}">
                <a16:creationId xmlns:a16="http://schemas.microsoft.com/office/drawing/2014/main" id="{B27DEA47-DE3F-482C-A6CD-295C61AF6264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5" name="统一风格-文字 IaaS 子网-122">
            <a:extLst>
              <a:ext uri="{FF2B5EF4-FFF2-40B4-BE49-F238E27FC236}">
                <a16:creationId xmlns:a16="http://schemas.microsoft.com/office/drawing/2014/main" id="{7792E1D6-6A3D-4E2A-BFF6-1AEAF73ACC27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157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IaaS 子网</a:t>
            </a:r>
          </a:p>
        </p:txBody>
      </p:sp>
      <p:sp>
        <p:nvSpPr>
          <p:cNvPr id="66" name="统一风格-文字 计算资源 ECS 等-123">
            <a:extLst>
              <a:ext uri="{FF2B5EF4-FFF2-40B4-BE49-F238E27FC236}">
                <a16:creationId xmlns:a16="http://schemas.microsoft.com/office/drawing/2014/main" id="{CD25331F-C1A6-4668-9C52-3FBAAAA14BD2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基础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BMS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" name="统一风格-PaaS 子网玻璃后沿-124">
            <a:extLst>
              <a:ext uri="{FF2B5EF4-FFF2-40B4-BE49-F238E27FC236}">
                <a16:creationId xmlns:a16="http://schemas.microsoft.com/office/drawing/2014/main" id="{A1CC4BA4-CBFC-454A-BAA5-EFBDA872EA6A}"/>
              </a:ext>
            </a:extLst>
          </p:cNvPr>
          <p:cNvSpPr>
            <a:spLocks noGrp="1"/>
          </p:cNvSpPr>
          <p:nvPr/>
        </p:nvSpPr>
        <p:spPr>
          <a:xfrm>
            <a:off x="324802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8" name="统一风格-PaaS 子网-125">
            <a:extLst>
              <a:ext uri="{FF2B5EF4-FFF2-40B4-BE49-F238E27FC236}">
                <a16:creationId xmlns:a16="http://schemas.microsoft.com/office/drawing/2014/main" id="{79F70BE7-1A87-4FE8-BB39-1D452D977D3D}"/>
              </a:ext>
            </a:extLst>
          </p:cNvPr>
          <p:cNvSpPr>
            <a:spLocks noGrp="1"/>
          </p:cNvSpPr>
          <p:nvPr/>
        </p:nvSpPr>
        <p:spPr>
          <a:xfrm>
            <a:off x="324802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9" name="统一风格-PaaS 子网玻璃内沿-126">
            <a:extLst>
              <a:ext uri="{FF2B5EF4-FFF2-40B4-BE49-F238E27FC236}">
                <a16:creationId xmlns:a16="http://schemas.microsoft.com/office/drawing/2014/main" id="{B874E392-9A2C-41AD-B202-C3F0FD82DE95}"/>
              </a:ext>
            </a:extLst>
          </p:cNvPr>
          <p:cNvSpPr>
            <a:spLocks noGrp="1"/>
          </p:cNvSpPr>
          <p:nvPr/>
        </p:nvSpPr>
        <p:spPr>
          <a:xfrm>
            <a:off x="3260884" y="4270534"/>
            <a:ext cx="2241233" cy="1412558"/>
          </a:xfrm>
          <a:prstGeom prst="roundRect">
            <a:avLst>
              <a:gd name="adj" fmla="val 519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0" name="统一风格-PaaS 子网透光反射面-127">
            <a:extLst>
              <a:ext uri="{FF2B5EF4-FFF2-40B4-BE49-F238E27FC236}">
                <a16:creationId xmlns:a16="http://schemas.microsoft.com/office/drawing/2014/main" id="{44C289F1-63AC-4E04-B6C8-C6F9E1818433}"/>
              </a:ext>
            </a:extLst>
          </p:cNvPr>
          <p:cNvSpPr>
            <a:spLocks noGrp="1"/>
          </p:cNvSpPr>
          <p:nvPr/>
        </p:nvSpPr>
        <p:spPr>
          <a:xfrm>
            <a:off x="3267075" y="4276725"/>
            <a:ext cx="2228850" cy="1400175"/>
          </a:xfrm>
          <a:custGeom>
            <a:avLst/>
            <a:gdLst/>
            <a:ahLst/>
            <a:cxnLst/>
            <a:rect l="0" t="0" r="0" b="0"/>
            <a:pathLst>
              <a:path w="2228850" h="1400175">
                <a:moveTo>
                  <a:pt x="76200" y="0"/>
                </a:moveTo>
                <a:lnTo>
                  <a:pt x="1426464" y="0"/>
                </a:lnTo>
                <a:lnTo>
                  <a:pt x="579501" y="1400175"/>
                </a:lnTo>
                <a:lnTo>
                  <a:pt x="76200" y="1400175"/>
                </a:lnTo>
                <a:cubicBezTo>
                  <a:pt x="28575" y="1400175"/>
                  <a:pt x="0" y="1371600"/>
                  <a:pt x="0" y="1323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1" name="统一风格-PaaS 子网边缘高光-128">
            <a:extLst>
              <a:ext uri="{FF2B5EF4-FFF2-40B4-BE49-F238E27FC236}">
                <a16:creationId xmlns:a16="http://schemas.microsoft.com/office/drawing/2014/main" id="{DB4C48FD-AD5E-4AE5-952A-AE5FD9DC4E5B}"/>
              </a:ext>
            </a:extLst>
          </p:cNvPr>
          <p:cNvSpPr>
            <a:spLocks noGrp="1"/>
          </p:cNvSpPr>
          <p:nvPr/>
        </p:nvSpPr>
        <p:spPr>
          <a:xfrm>
            <a:off x="3248025" y="4257675"/>
            <a:ext cx="2266950" cy="1438275"/>
          </a:xfrm>
          <a:custGeom>
            <a:avLst/>
            <a:gdLst/>
            <a:ahLst/>
            <a:cxnLst/>
            <a:rect l="0" t="0" r="0" b="0"/>
            <a:pathLst>
              <a:path w="2266950" h="14382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2" name="统一风格-CCE 容器平台-129">
            <a:extLst>
              <a:ext uri="{FF2B5EF4-FFF2-40B4-BE49-F238E27FC236}">
                <a16:creationId xmlns:a16="http://schemas.microsoft.com/office/drawing/2014/main" id="{9637C37A-C3E1-4F27-BD27-57478031129C}"/>
              </a:ext>
            </a:extLst>
          </p:cNvPr>
          <p:cNvSpPr>
            <a:spLocks noGrp="1"/>
          </p:cNvSpPr>
          <p:nvPr/>
        </p:nvSpPr>
        <p:spPr>
          <a:xfrm>
            <a:off x="339090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66675"/>
                </a:moveTo>
                <a:lnTo>
                  <a:pt x="257175" y="66675"/>
                </a:lnTo>
                <a:lnTo>
                  <a:pt x="257175" y="257175"/>
                </a:lnTo>
                <a:lnTo>
                  <a:pt x="66675" y="257175"/>
                </a:lnTo>
                <a:close/>
                <a:moveTo>
                  <a:pt x="352425" y="66675"/>
                </a:moveTo>
                <a:lnTo>
                  <a:pt x="542925" y="66675"/>
                </a:lnTo>
                <a:lnTo>
                  <a:pt x="542925" y="257175"/>
                </a:lnTo>
                <a:lnTo>
                  <a:pt x="352425" y="257175"/>
                </a:lnTo>
                <a:close/>
                <a:moveTo>
                  <a:pt x="66675" y="352425"/>
                </a:moveTo>
                <a:lnTo>
                  <a:pt x="257175" y="352425"/>
                </a:lnTo>
                <a:lnTo>
                  <a:pt x="257175" y="542925"/>
                </a:lnTo>
                <a:lnTo>
                  <a:pt x="66675" y="542925"/>
                </a:lnTo>
                <a:close/>
                <a:moveTo>
                  <a:pt x="352425" y="352425"/>
                </a:moveTo>
                <a:lnTo>
                  <a:pt x="542925" y="352425"/>
                </a:lnTo>
                <a:lnTo>
                  <a:pt x="542925" y="542925"/>
                </a:lnTo>
                <a:lnTo>
                  <a:pt x="352425" y="542925"/>
                </a:lnTo>
                <a:close/>
              </a:path>
            </a:pathLst>
          </a:custGeom>
          <a:solidFill>
            <a:srgbClr val="EEF5FF"/>
          </a:solidFill>
          <a:ln w="15240" cap="rnd">
            <a:solidFill>
              <a:srgbClr val="2053C3"/>
            </a:solidFill>
            <a:round/>
          </a:ln>
        </p:spPr>
      </p:sp>
      <p:sp>
        <p:nvSpPr>
          <p:cNvPr id="73" name="统一风格-文字 PaaS 子网-130">
            <a:extLst>
              <a:ext uri="{FF2B5EF4-FFF2-40B4-BE49-F238E27FC236}">
                <a16:creationId xmlns:a16="http://schemas.microsoft.com/office/drawing/2014/main" id="{221200BE-BF2F-41A8-BC23-1A9CF88B1CEC}"/>
              </a:ext>
            </a:extLst>
          </p:cNvPr>
          <p:cNvSpPr>
            <a:spLocks noGrp="1"/>
          </p:cNvSpPr>
          <p:nvPr/>
        </p:nvSpPr>
        <p:spPr>
          <a:xfrm>
            <a:off x="3829050" y="4343400"/>
            <a:ext cx="157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PaaS 子网</a:t>
            </a:r>
          </a:p>
        </p:txBody>
      </p:sp>
      <p:sp>
        <p:nvSpPr>
          <p:cNvPr id="74" name="统一风格-文字 高阶服务资源 CCE 等-131">
            <a:extLst>
              <a:ext uri="{FF2B5EF4-FFF2-40B4-BE49-F238E27FC236}">
                <a16:creationId xmlns:a16="http://schemas.microsoft.com/office/drawing/2014/main" id="{E453734C-CA0C-455A-A8D4-C2906AE12AC7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高阶服务资源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CCE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SFS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" name="统一风格-RDS 子网玻璃后沿-132">
            <a:extLst>
              <a:ext uri="{FF2B5EF4-FFF2-40B4-BE49-F238E27FC236}">
                <a16:creationId xmlns:a16="http://schemas.microsoft.com/office/drawing/2014/main" id="{4E1B7A94-3718-4C34-95F3-4F8B970DF944}"/>
              </a:ext>
            </a:extLst>
          </p:cNvPr>
          <p:cNvSpPr>
            <a:spLocks noGrp="1"/>
          </p:cNvSpPr>
          <p:nvPr/>
        </p:nvSpPr>
        <p:spPr>
          <a:xfrm>
            <a:off x="56673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6" name="统一风格-RDS 子网-133">
            <a:extLst>
              <a:ext uri="{FF2B5EF4-FFF2-40B4-BE49-F238E27FC236}">
                <a16:creationId xmlns:a16="http://schemas.microsoft.com/office/drawing/2014/main" id="{A2798FAD-D2E9-47EA-BBF7-C11F75684068}"/>
              </a:ext>
            </a:extLst>
          </p:cNvPr>
          <p:cNvSpPr>
            <a:spLocks noGrp="1"/>
          </p:cNvSpPr>
          <p:nvPr/>
        </p:nvSpPr>
        <p:spPr>
          <a:xfrm>
            <a:off x="5667375" y="4257675"/>
            <a:ext cx="2266950" cy="1438275"/>
          </a:xfrm>
          <a:prstGeom prst="roundRect">
            <a:avLst>
              <a:gd name="adj" fmla="val 596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77" name="统一风格-RDS 子网玻璃内沿-134">
            <a:extLst>
              <a:ext uri="{FF2B5EF4-FFF2-40B4-BE49-F238E27FC236}">
                <a16:creationId xmlns:a16="http://schemas.microsoft.com/office/drawing/2014/main" id="{D17D3688-537C-435D-8952-9A3AB2B2F111}"/>
              </a:ext>
            </a:extLst>
          </p:cNvPr>
          <p:cNvSpPr>
            <a:spLocks noGrp="1"/>
          </p:cNvSpPr>
          <p:nvPr/>
        </p:nvSpPr>
        <p:spPr>
          <a:xfrm>
            <a:off x="5680234" y="4270534"/>
            <a:ext cx="2241233" cy="1412558"/>
          </a:xfrm>
          <a:prstGeom prst="roundRect">
            <a:avLst>
              <a:gd name="adj" fmla="val 519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8" name="统一风格-RDS 子网透光反射面-135">
            <a:extLst>
              <a:ext uri="{FF2B5EF4-FFF2-40B4-BE49-F238E27FC236}">
                <a16:creationId xmlns:a16="http://schemas.microsoft.com/office/drawing/2014/main" id="{5EAFD050-BA30-4557-98D7-31B2DE10B3C5}"/>
              </a:ext>
            </a:extLst>
          </p:cNvPr>
          <p:cNvSpPr>
            <a:spLocks noGrp="1"/>
          </p:cNvSpPr>
          <p:nvPr/>
        </p:nvSpPr>
        <p:spPr>
          <a:xfrm>
            <a:off x="5686425" y="4276725"/>
            <a:ext cx="2228850" cy="1400175"/>
          </a:xfrm>
          <a:custGeom>
            <a:avLst/>
            <a:gdLst/>
            <a:ahLst/>
            <a:cxnLst/>
            <a:rect l="0" t="0" r="0" b="0"/>
            <a:pathLst>
              <a:path w="2228850" h="1400175">
                <a:moveTo>
                  <a:pt x="76200" y="0"/>
                </a:moveTo>
                <a:lnTo>
                  <a:pt x="1426464" y="0"/>
                </a:lnTo>
                <a:lnTo>
                  <a:pt x="579501" y="1400175"/>
                </a:lnTo>
                <a:lnTo>
                  <a:pt x="76200" y="1400175"/>
                </a:lnTo>
                <a:cubicBezTo>
                  <a:pt x="28575" y="1400175"/>
                  <a:pt x="0" y="1371600"/>
                  <a:pt x="0" y="13239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9" name="统一风格-RDS 子网边缘高光-136">
            <a:extLst>
              <a:ext uri="{FF2B5EF4-FFF2-40B4-BE49-F238E27FC236}">
                <a16:creationId xmlns:a16="http://schemas.microsoft.com/office/drawing/2014/main" id="{8D0E39E6-0258-4043-A7D3-2A75924E9328}"/>
              </a:ext>
            </a:extLst>
          </p:cNvPr>
          <p:cNvSpPr>
            <a:spLocks noGrp="1"/>
          </p:cNvSpPr>
          <p:nvPr/>
        </p:nvSpPr>
        <p:spPr>
          <a:xfrm>
            <a:off x="5667375" y="4257675"/>
            <a:ext cx="2266950" cy="1438275"/>
          </a:xfrm>
          <a:custGeom>
            <a:avLst/>
            <a:gdLst/>
            <a:ahLst/>
            <a:cxnLst/>
            <a:rect l="0" t="0" r="0" b="0"/>
            <a:pathLst>
              <a:path w="2266950" h="1438275">
                <a:moveTo>
                  <a:pt x="95250" y="9525"/>
                </a:moveTo>
                <a:lnTo>
                  <a:pt x="2171700" y="9525"/>
                </a:lnTo>
                <a:cubicBezTo>
                  <a:pt x="2219325" y="9525"/>
                  <a:pt x="2257425" y="47625"/>
                  <a:pt x="2257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0" name="统一风格-db 数据库柱体-137">
            <a:extLst>
              <a:ext uri="{FF2B5EF4-FFF2-40B4-BE49-F238E27FC236}">
                <a16:creationId xmlns:a16="http://schemas.microsoft.com/office/drawing/2014/main" id="{68A05BAB-5391-49F9-9696-9B3506093A54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81" name="统一风格-db 数据库分层-138">
            <a:extLst>
              <a:ext uri="{FF2B5EF4-FFF2-40B4-BE49-F238E27FC236}">
                <a16:creationId xmlns:a16="http://schemas.microsoft.com/office/drawing/2014/main" id="{FD338A7E-016D-4CA4-A50D-19578825EED7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82" name="统一风格-文字 RDS 子网-139">
            <a:extLst>
              <a:ext uri="{FF2B5EF4-FFF2-40B4-BE49-F238E27FC236}">
                <a16:creationId xmlns:a16="http://schemas.microsoft.com/office/drawing/2014/main" id="{B1992746-D3C0-41E4-9A63-7AE6F58E093A}"/>
              </a:ext>
            </a:extLst>
          </p:cNvPr>
          <p:cNvSpPr>
            <a:spLocks noGrp="1"/>
          </p:cNvSpPr>
          <p:nvPr/>
        </p:nvSpPr>
        <p:spPr>
          <a:xfrm>
            <a:off x="6248400" y="4343400"/>
            <a:ext cx="1571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服务专属</a:t>
            </a:r>
            <a:r>
              <a:rPr sz="16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</a:t>
            </a:r>
            <a:endParaRPr sz="16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统一风格-文字 数据库资源 RDS 等-140">
            <a:extLst>
              <a:ext uri="{FF2B5EF4-FFF2-40B4-BE49-F238E27FC236}">
                <a16:creationId xmlns:a16="http://schemas.microsoft.com/office/drawing/2014/main" id="{408AC829-C932-41F0-99ED-C2FC736568CB}"/>
              </a:ext>
            </a:extLst>
          </p:cNvPr>
          <p:cNvSpPr>
            <a:spLocks noGrp="1"/>
          </p:cNvSpPr>
          <p:nvPr/>
        </p:nvSpPr>
        <p:spPr>
          <a:xfrm>
            <a:off x="5848350" y="491490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特殊服务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zh-CN" alt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RDS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统一风格-经典网络分区 B VPC玻璃后沿-141">
            <a:extLst>
              <a:ext uri="{FF2B5EF4-FFF2-40B4-BE49-F238E27FC236}">
                <a16:creationId xmlns:a16="http://schemas.microsoft.com/office/drawing/2014/main" id="{98C488C9-29A0-4D58-9DAD-1A275ED8BCE2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480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5" name="统一风格-经典网络分区 B VPC-142">
            <a:extLst>
              <a:ext uri="{FF2B5EF4-FFF2-40B4-BE49-F238E27FC236}">
                <a16:creationId xmlns:a16="http://schemas.microsoft.com/office/drawing/2014/main" id="{1CA6F40A-B80D-42DE-8E7F-521520911D8E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48000" cy="2667000"/>
          </a:xfrm>
          <a:prstGeom prst="roundRect">
            <a:avLst>
              <a:gd name="adj" fmla="val 32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86" name="统一风格-经典网络分区 B VPC玻璃内沿-143">
            <a:extLst>
              <a:ext uri="{FF2B5EF4-FFF2-40B4-BE49-F238E27FC236}">
                <a16:creationId xmlns:a16="http://schemas.microsoft.com/office/drawing/2014/main" id="{1505B01C-9236-4AD3-97E3-24F91684A0AB}"/>
              </a:ext>
            </a:extLst>
          </p:cNvPr>
          <p:cNvSpPr>
            <a:spLocks noGrp="1"/>
          </p:cNvSpPr>
          <p:nvPr/>
        </p:nvSpPr>
        <p:spPr>
          <a:xfrm>
            <a:off x="8547259" y="3251359"/>
            <a:ext cx="3022283" cy="2641283"/>
          </a:xfrm>
          <a:prstGeom prst="roundRect">
            <a:avLst>
              <a:gd name="adj" fmla="val 27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87" name="统一风格-经典网络分区 B VPC边缘高光-144">
            <a:extLst>
              <a:ext uri="{FF2B5EF4-FFF2-40B4-BE49-F238E27FC236}">
                <a16:creationId xmlns:a16="http://schemas.microsoft.com/office/drawing/2014/main" id="{4CDACEBF-5F9F-469C-9E48-6DB3C8CE5411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048000" cy="2667000"/>
          </a:xfrm>
          <a:custGeom>
            <a:avLst/>
            <a:gdLst/>
            <a:ahLst/>
            <a:cxnLst/>
            <a:rect l="0" t="0" r="0" b="0"/>
            <a:pathLst>
              <a:path w="3048000" h="2667000">
                <a:moveTo>
                  <a:pt x="95250" y="9525"/>
                </a:moveTo>
                <a:lnTo>
                  <a:pt x="2952750" y="9525"/>
                </a:lnTo>
                <a:cubicBezTo>
                  <a:pt x="3000375" y="9525"/>
                  <a:pt x="3038475" y="47625"/>
                  <a:pt x="3038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8" name="统一风格-cloud VPC 云轮廓-145">
            <a:extLst>
              <a:ext uri="{FF2B5EF4-FFF2-40B4-BE49-F238E27FC236}">
                <a16:creationId xmlns:a16="http://schemas.microsoft.com/office/drawing/2014/main" id="{8E1F5FF8-3EC0-4986-9C37-2D13EECA7BCD}"/>
              </a:ext>
            </a:extLst>
          </p:cNvPr>
          <p:cNvSpPr>
            <a:spLocks noGrp="1"/>
          </p:cNvSpPr>
          <p:nvPr/>
        </p:nvSpPr>
        <p:spPr>
          <a:xfrm>
            <a:off x="8724900" y="3390900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89" name="统一风格-文字 网络分区 B-146">
            <a:extLst>
              <a:ext uri="{FF2B5EF4-FFF2-40B4-BE49-F238E27FC236}">
                <a16:creationId xmlns:a16="http://schemas.microsoft.com/office/drawing/2014/main" id="{E59E9DCA-B830-485A-91DA-848843402331}"/>
              </a:ext>
            </a:extLst>
          </p:cNvPr>
          <p:cNvSpPr>
            <a:spLocks noGrp="1"/>
          </p:cNvSpPr>
          <p:nvPr/>
        </p:nvSpPr>
        <p:spPr>
          <a:xfrm>
            <a:off x="9286875" y="3333750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更多</a:t>
            </a:r>
            <a:r>
              <a:rPr sz="1875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网络分区</a:t>
            </a:r>
            <a:r>
              <a:rPr lang="zh-CN" altLang="en-US" sz="18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875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  <a:endParaRPr sz="1875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统一风格-文字 另一个预定义 VPC-147">
            <a:extLst>
              <a:ext uri="{FF2B5EF4-FFF2-40B4-BE49-F238E27FC236}">
                <a16:creationId xmlns:a16="http://schemas.microsoft.com/office/drawing/2014/main" id="{70D05844-E772-428B-8AA1-A6244E044EC5}"/>
              </a:ext>
            </a:extLst>
          </p:cNvPr>
          <p:cNvSpPr>
            <a:spLocks noGrp="1"/>
          </p:cNvSpPr>
          <p:nvPr/>
        </p:nvSpPr>
        <p:spPr>
          <a:xfrm>
            <a:off x="8753475" y="3829050"/>
            <a:ext cx="2609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其他</a:t>
            </a:r>
            <a:r>
              <a:rPr sz="157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预定义</a:t>
            </a:r>
            <a:r>
              <a:rPr sz="157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VPC</a:t>
            </a:r>
          </a:p>
        </p:txBody>
      </p:sp>
      <p:sp>
        <p:nvSpPr>
          <p:cNvPr id="91" name="统一风格-分区 B 内容分隔-148">
            <a:extLst>
              <a:ext uri="{FF2B5EF4-FFF2-40B4-BE49-F238E27FC236}">
                <a16:creationId xmlns:a16="http://schemas.microsoft.com/office/drawing/2014/main" id="{EFFDF8DB-099D-434E-9B6D-AB860BDE11A6}"/>
              </a:ext>
            </a:extLst>
          </p:cNvPr>
          <p:cNvSpPr>
            <a:spLocks noGrp="1"/>
          </p:cNvSpPr>
          <p:nvPr/>
        </p:nvSpPr>
        <p:spPr>
          <a:xfrm>
            <a:off x="8753475" y="4286250"/>
            <a:ext cx="2609850" cy="0"/>
          </a:xfrm>
          <a:prstGeom prst="line">
            <a:avLst/>
          </a:prstGeom>
          <a:noFill/>
          <a:ln w="9525">
            <a:solidFill>
              <a:srgbClr val="B8CBE9"/>
            </a:solidFill>
          </a:ln>
        </p:spPr>
      </p:sp>
      <p:sp>
        <p:nvSpPr>
          <p:cNvPr id="92" name="统一风格-文字 子网与资源池按分区规划。  三类子网仅在部分经典 网络分区中配置， 各分区配置不必相同。-149">
            <a:extLst>
              <a:ext uri="{FF2B5EF4-FFF2-40B4-BE49-F238E27FC236}">
                <a16:creationId xmlns:a16="http://schemas.microsoft.com/office/drawing/2014/main" id="{4F57A0A8-8CAD-4465-ABBE-B94244A2CDA3}"/>
              </a:ext>
            </a:extLst>
          </p:cNvPr>
          <p:cNvSpPr>
            <a:spLocks noGrp="1"/>
          </p:cNvSpPr>
          <p:nvPr/>
        </p:nvSpPr>
        <p:spPr>
          <a:xfrm>
            <a:off x="8753475" y="4438650"/>
            <a:ext cx="260985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子网与资源池按分区规划</a:t>
            </a:r>
            <a:endParaRPr sz="1500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endParaRPr sz="1500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00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PaaS </a:t>
            </a:r>
            <a:r>
              <a:rPr lang="en-US" dirty="0" err="1"/>
              <a:t>子网和服务专属子网</a:t>
            </a:r>
            <a:r>
              <a:rPr sz="15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仅在部分网络分区中</a:t>
            </a:r>
            <a:r>
              <a:rPr lang="en-US" sz="1500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按需提供</a:t>
            </a:r>
            <a:endParaRPr sz="1500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7187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统一风格-文字 01  VPC 基础与规范-1">
            <a:extLst>
              <a:ext uri="{FF2B5EF4-FFF2-40B4-BE49-F238E27FC236}">
                <a16:creationId xmlns:a16="http://schemas.microsoft.com/office/drawing/2014/main" id="{534E5CD8-BC37-405B-9034-37ED84BB06B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小网与经典网络的互通及安全分工-2">
            <a:extLst>
              <a:ext uri="{FF2B5EF4-FFF2-40B4-BE49-F238E27FC236}">
                <a16:creationId xmlns:a16="http://schemas.microsoft.com/office/drawing/2014/main" id="{2A942FF9-ED66-4919-8854-67AE9DCE6A4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</a:t>
            </a:r>
            <a:r>
              <a:rPr lang="en-US" dirty="0" err="1"/>
              <a:t>网络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与经典网络的互通及安全</a:t>
            </a:r>
            <a:r>
              <a:rPr lang="en-US"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管控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统一风格-文字 本平台通过私网 NAT 中转地址接入经典网络，并按通信场景划分安全控制职责-3">
            <a:extLst>
              <a:ext uri="{FF2B5EF4-FFF2-40B4-BE49-F238E27FC236}">
                <a16:creationId xmlns:a16="http://schemas.microsoft.com/office/drawing/2014/main" id="{4B7A8FF2-6B97-43F2-831D-7B764DE686B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本平台通过私网 NAT 中转地址接入经典网络，并按通信场景划分安全控制职责</a:t>
            </a:r>
          </a:p>
        </p:txBody>
      </p:sp>
      <p:sp>
        <p:nvSpPr>
          <p:cNvPr id="4" name="统一风格-VPC 小网玻璃后沿-4">
            <a:extLst>
              <a:ext uri="{FF2B5EF4-FFF2-40B4-BE49-F238E27FC236}">
                <a16:creationId xmlns:a16="http://schemas.microsoft.com/office/drawing/2014/main" id="{9AC7B273-9B9F-452D-85E3-FB6B3AD6B84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统一风格-VPC 小网-5">
            <a:extLst>
              <a:ext uri="{FF2B5EF4-FFF2-40B4-BE49-F238E27FC236}">
                <a16:creationId xmlns:a16="http://schemas.microsoft.com/office/drawing/2014/main" id="{2B6550C0-4F2B-43AC-B820-614A2EB6931B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VPC 小网玻璃内沿-6">
            <a:extLst>
              <a:ext uri="{FF2B5EF4-FFF2-40B4-BE49-F238E27FC236}">
                <a16:creationId xmlns:a16="http://schemas.microsoft.com/office/drawing/2014/main" id="{56F09E8D-2A9F-49BA-A62E-7D8A436BC8FC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VPC 小网透光反射面-7">
            <a:extLst>
              <a:ext uri="{FF2B5EF4-FFF2-40B4-BE49-F238E27FC236}">
                <a16:creationId xmlns:a16="http://schemas.microsoft.com/office/drawing/2014/main" id="{E2F6E144-16D5-4745-86A9-CB1FB87F8047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8" name="统一风格-VPC 小网边缘高光-8">
            <a:extLst>
              <a:ext uri="{FF2B5EF4-FFF2-40B4-BE49-F238E27FC236}">
                <a16:creationId xmlns:a16="http://schemas.microsoft.com/office/drawing/2014/main" id="{6C5AC9DA-210F-4F4D-BFA1-4B2153F2651C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9" name="统一风格-cloud VPC 云轮廓-9">
            <a:extLst>
              <a:ext uri="{FF2B5EF4-FFF2-40B4-BE49-F238E27FC236}">
                <a16:creationId xmlns:a16="http://schemas.microsoft.com/office/drawing/2014/main" id="{3F3C8021-17E1-437A-AD63-C56B59F19D77}"/>
              </a:ext>
            </a:extLst>
          </p:cNvPr>
          <p:cNvSpPr>
            <a:spLocks noGrp="1"/>
          </p:cNvSpPr>
          <p:nvPr/>
        </p:nvSpPr>
        <p:spPr>
          <a:xfrm>
            <a:off x="7524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10" name="统一风格-文字 VPC 小网-10">
            <a:extLst>
              <a:ext uri="{FF2B5EF4-FFF2-40B4-BE49-F238E27FC236}">
                <a16:creationId xmlns:a16="http://schemas.microsoft.com/office/drawing/2014/main" id="{CDB77F51-A6D1-43B7-8043-EAD72BEB91E6}"/>
              </a:ext>
            </a:extLst>
          </p:cNvPr>
          <p:cNvSpPr>
            <a:spLocks noGrp="1"/>
          </p:cNvSpPr>
          <p:nvPr/>
        </p:nvSpPr>
        <p:spPr>
          <a:xfrm>
            <a:off x="12763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小网</a:t>
            </a:r>
          </a:p>
        </p:txBody>
      </p:sp>
      <p:sp>
        <p:nvSpPr>
          <p:cNvPr id="11" name="统一风格-文字 192.168.0.0/16-11">
            <a:extLst>
              <a:ext uri="{FF2B5EF4-FFF2-40B4-BE49-F238E27FC236}">
                <a16:creationId xmlns:a16="http://schemas.microsoft.com/office/drawing/2014/main" id="{F1B8EC00-F73A-4B4D-A0AB-960237198B8C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192.168.0.0/16</a:t>
            </a:r>
          </a:p>
        </p:txBody>
      </p:sp>
      <p:sp>
        <p:nvSpPr>
          <p:cNvPr id="12" name="统一风格-私网 NAT玻璃后沿-12">
            <a:extLst>
              <a:ext uri="{FF2B5EF4-FFF2-40B4-BE49-F238E27FC236}">
                <a16:creationId xmlns:a16="http://schemas.microsoft.com/office/drawing/2014/main" id="{9A97F778-2F6B-4569-A5B6-3EB69A2EF051}"/>
              </a:ext>
            </a:extLst>
          </p:cNvPr>
          <p:cNvSpPr>
            <a:spLocks noGrp="1"/>
          </p:cNvSpPr>
          <p:nvPr/>
        </p:nvSpPr>
        <p:spPr>
          <a:xfrm>
            <a:off x="35052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统一风格-私网 NAT-13">
            <a:extLst>
              <a:ext uri="{FF2B5EF4-FFF2-40B4-BE49-F238E27FC236}">
                <a16:creationId xmlns:a16="http://schemas.microsoft.com/office/drawing/2014/main" id="{3C780B8B-1EEC-4761-B727-628894E16304}"/>
              </a:ext>
            </a:extLst>
          </p:cNvPr>
          <p:cNvSpPr>
            <a:spLocks noGrp="1"/>
          </p:cNvSpPr>
          <p:nvPr/>
        </p:nvSpPr>
        <p:spPr>
          <a:xfrm>
            <a:off x="35052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4" name="统一风格-私网 NAT玻璃内沿-14">
            <a:extLst>
              <a:ext uri="{FF2B5EF4-FFF2-40B4-BE49-F238E27FC236}">
                <a16:creationId xmlns:a16="http://schemas.microsoft.com/office/drawing/2014/main" id="{E0AE8070-1D44-4C23-9D36-D34CACFAC5C5}"/>
              </a:ext>
            </a:extLst>
          </p:cNvPr>
          <p:cNvSpPr>
            <a:spLocks noGrp="1"/>
          </p:cNvSpPr>
          <p:nvPr/>
        </p:nvSpPr>
        <p:spPr>
          <a:xfrm>
            <a:off x="35180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5" name="统一风格-私网 NAT透光反射面-15">
            <a:extLst>
              <a:ext uri="{FF2B5EF4-FFF2-40B4-BE49-F238E27FC236}">
                <a16:creationId xmlns:a16="http://schemas.microsoft.com/office/drawing/2014/main" id="{C0CAE035-40FF-4E4E-ADE4-F606AE1F9213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6" name="统一风格-私网 NAT边缘高光-16">
            <a:extLst>
              <a:ext uri="{FF2B5EF4-FFF2-40B4-BE49-F238E27FC236}">
                <a16:creationId xmlns:a16="http://schemas.microsoft.com/office/drawing/2014/main" id="{ABB38631-BC33-408C-A0BB-0ED7F6D39F35}"/>
              </a:ext>
            </a:extLst>
          </p:cNvPr>
          <p:cNvSpPr>
            <a:spLocks noGrp="1"/>
          </p:cNvSpPr>
          <p:nvPr/>
        </p:nvSpPr>
        <p:spPr>
          <a:xfrm>
            <a:off x="35052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" name="统一风格-nat NAT 网关-17">
            <a:extLst>
              <a:ext uri="{FF2B5EF4-FFF2-40B4-BE49-F238E27FC236}">
                <a16:creationId xmlns:a16="http://schemas.microsoft.com/office/drawing/2014/main" id="{C700A143-28EF-44D1-A195-B657B81168E1}"/>
              </a:ext>
            </a:extLst>
          </p:cNvPr>
          <p:cNvSpPr>
            <a:spLocks noGrp="1"/>
          </p:cNvSpPr>
          <p:nvPr/>
        </p:nvSpPr>
        <p:spPr>
          <a:xfrm>
            <a:off x="36480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18" name="统一风格-nat 地址转换-18">
            <a:extLst>
              <a:ext uri="{FF2B5EF4-FFF2-40B4-BE49-F238E27FC236}">
                <a16:creationId xmlns:a16="http://schemas.microsoft.com/office/drawing/2014/main" id="{B98F425A-97A5-48DC-A47C-BE4162506839}"/>
              </a:ext>
            </a:extLst>
          </p:cNvPr>
          <p:cNvSpPr>
            <a:spLocks noGrp="1"/>
          </p:cNvSpPr>
          <p:nvPr/>
        </p:nvSpPr>
        <p:spPr>
          <a:xfrm>
            <a:off x="36480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4790" cap="rnd">
            <a:solidFill>
              <a:srgbClr val="2053C3"/>
            </a:solidFill>
            <a:round/>
          </a:ln>
        </p:spPr>
      </p:sp>
      <p:sp>
        <p:nvSpPr>
          <p:cNvPr id="19" name="统一风格-文字 私网 NAT-19">
            <a:extLst>
              <a:ext uri="{FF2B5EF4-FFF2-40B4-BE49-F238E27FC236}">
                <a16:creationId xmlns:a16="http://schemas.microsoft.com/office/drawing/2014/main" id="{4A78C554-8562-45C8-B450-8682D81FDFE0}"/>
              </a:ext>
            </a:extLst>
          </p:cNvPr>
          <p:cNvSpPr>
            <a:spLocks noGrp="1"/>
          </p:cNvSpPr>
          <p:nvPr/>
        </p:nvSpPr>
        <p:spPr>
          <a:xfrm>
            <a:off x="41719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0" name="统一风格-文字 绑定 10.x 中转 IP-20">
            <a:extLst>
              <a:ext uri="{FF2B5EF4-FFF2-40B4-BE49-F238E27FC236}">
                <a16:creationId xmlns:a16="http://schemas.microsoft.com/office/drawing/2014/main" id="{C03709A6-4721-4033-9006-13634144401F}"/>
              </a:ext>
            </a:extLst>
          </p:cNvPr>
          <p:cNvSpPr>
            <a:spLocks noGrp="1"/>
          </p:cNvSpPr>
          <p:nvPr/>
        </p:nvSpPr>
        <p:spPr>
          <a:xfrm>
            <a:off x="36576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绑定 10.x 中转 IP</a:t>
            </a:r>
          </a:p>
        </p:txBody>
      </p:sp>
      <p:sp>
        <p:nvSpPr>
          <p:cNvPr id="21" name="统一风格-防火墙玻璃后沿-21">
            <a:extLst>
              <a:ext uri="{FF2B5EF4-FFF2-40B4-BE49-F238E27FC236}">
                <a16:creationId xmlns:a16="http://schemas.microsoft.com/office/drawing/2014/main" id="{2752CC7B-2AF1-4D93-9900-6CDEE5201D90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统一风格-防火墙-22">
            <a:extLst>
              <a:ext uri="{FF2B5EF4-FFF2-40B4-BE49-F238E27FC236}">
                <a16:creationId xmlns:a16="http://schemas.microsoft.com/office/drawing/2014/main" id="{75C6A483-5320-42EC-A73E-FF42EF8CDCAB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3" name="统一风格-防火墙玻璃内沿-23">
            <a:extLst>
              <a:ext uri="{FF2B5EF4-FFF2-40B4-BE49-F238E27FC236}">
                <a16:creationId xmlns:a16="http://schemas.microsoft.com/office/drawing/2014/main" id="{017CFD04-41DF-46BB-B30D-FA9A39552E30}"/>
              </a:ext>
            </a:extLst>
          </p:cNvPr>
          <p:cNvSpPr>
            <a:spLocks noGrp="1"/>
          </p:cNvSpPr>
          <p:nvPr/>
        </p:nvSpPr>
        <p:spPr>
          <a:xfrm>
            <a:off x="64136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4" name="统一风格-防火墙透光反射面-24">
            <a:extLst>
              <a:ext uri="{FF2B5EF4-FFF2-40B4-BE49-F238E27FC236}">
                <a16:creationId xmlns:a16="http://schemas.microsoft.com/office/drawing/2014/main" id="{07FB99C4-88C7-4DDA-B1A6-B0027C0C4294}"/>
              </a:ext>
            </a:extLst>
          </p:cNvPr>
          <p:cNvSpPr>
            <a:spLocks noGrp="1"/>
          </p:cNvSpPr>
          <p:nvPr/>
        </p:nvSpPr>
        <p:spPr>
          <a:xfrm>
            <a:off x="64198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5" name="统一风格-防火墙边缘高光-25">
            <a:extLst>
              <a:ext uri="{FF2B5EF4-FFF2-40B4-BE49-F238E27FC236}">
                <a16:creationId xmlns:a16="http://schemas.microsoft.com/office/drawing/2014/main" id="{E5E23AFE-2BEE-43A2-9D5F-8047D2004ACF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6" name="统一风格-firewall CFW 砖墙-26">
            <a:extLst>
              <a:ext uri="{FF2B5EF4-FFF2-40B4-BE49-F238E27FC236}">
                <a16:creationId xmlns:a16="http://schemas.microsoft.com/office/drawing/2014/main" id="{9F3BD890-0AD8-4A37-8274-3952A371EA3B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27" name="统一风格-firewall CFW 砖缝-27">
            <a:extLst>
              <a:ext uri="{FF2B5EF4-FFF2-40B4-BE49-F238E27FC236}">
                <a16:creationId xmlns:a16="http://schemas.microsoft.com/office/drawing/2014/main" id="{26806058-FA4D-49F3-B239-B1543E73B2B0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4790" cap="rnd">
            <a:solidFill>
              <a:srgbClr val="2053C3"/>
            </a:solidFill>
            <a:round/>
          </a:ln>
        </p:spPr>
      </p:sp>
      <p:sp>
        <p:nvSpPr>
          <p:cNvPr id="28" name="统一风格-firewall CFW 前景衬底-28">
            <a:extLst>
              <a:ext uri="{FF2B5EF4-FFF2-40B4-BE49-F238E27FC236}">
                <a16:creationId xmlns:a16="http://schemas.microsoft.com/office/drawing/2014/main" id="{7CBD0FEF-F31A-492A-9C79-7CE821004D7F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29" name="统一风格-firewall CFW 简洁火焰-29">
            <a:extLst>
              <a:ext uri="{FF2B5EF4-FFF2-40B4-BE49-F238E27FC236}">
                <a16:creationId xmlns:a16="http://schemas.microsoft.com/office/drawing/2014/main" id="{3C91906D-A521-465B-8755-557807D9A2E1}"/>
              </a:ext>
            </a:extLst>
          </p:cNvPr>
          <p:cNvSpPr>
            <a:spLocks noGrp="1"/>
          </p:cNvSpPr>
          <p:nvPr/>
        </p:nvSpPr>
        <p:spPr>
          <a:xfrm>
            <a:off x="65436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4790" cap="rnd">
            <a:solidFill>
              <a:srgbClr val="2053C3"/>
            </a:solidFill>
            <a:round/>
          </a:ln>
        </p:spPr>
      </p:sp>
      <p:sp>
        <p:nvSpPr>
          <p:cNvPr id="30" name="统一风格-文字 防火墙-30">
            <a:extLst>
              <a:ext uri="{FF2B5EF4-FFF2-40B4-BE49-F238E27FC236}">
                <a16:creationId xmlns:a16="http://schemas.microsoft.com/office/drawing/2014/main" id="{4DE95A2E-5266-4C81-B73F-2DFB52AADE59}"/>
              </a:ext>
            </a:extLst>
          </p:cNvPr>
          <p:cNvSpPr>
            <a:spLocks noGrp="1"/>
          </p:cNvSpPr>
          <p:nvPr/>
        </p:nvSpPr>
        <p:spPr>
          <a:xfrm>
            <a:off x="70675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防火墙</a:t>
            </a:r>
          </a:p>
        </p:txBody>
      </p:sp>
      <p:sp>
        <p:nvSpPr>
          <p:cNvPr id="31" name="统一风格-文字 执行相应访问策略-31">
            <a:extLst>
              <a:ext uri="{FF2B5EF4-FFF2-40B4-BE49-F238E27FC236}">
                <a16:creationId xmlns:a16="http://schemas.microsoft.com/office/drawing/2014/main" id="{62874A51-D9CD-4E16-8DD8-54DAB8DE7197}"/>
              </a:ext>
            </a:extLst>
          </p:cNvPr>
          <p:cNvSpPr>
            <a:spLocks noGrp="1"/>
          </p:cNvSpPr>
          <p:nvPr/>
        </p:nvSpPr>
        <p:spPr>
          <a:xfrm>
            <a:off x="65532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执行相应访问策略</a:t>
            </a:r>
          </a:p>
        </p:txBody>
      </p:sp>
      <p:sp>
        <p:nvSpPr>
          <p:cNvPr id="32" name="统一风格-经典网络玻璃后沿-32">
            <a:extLst>
              <a:ext uri="{FF2B5EF4-FFF2-40B4-BE49-F238E27FC236}">
                <a16:creationId xmlns:a16="http://schemas.microsoft.com/office/drawing/2014/main" id="{87068688-BD9C-4D46-B0F6-72580ED8CFA0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3" name="统一风格-经典网络-33">
            <a:extLst>
              <a:ext uri="{FF2B5EF4-FFF2-40B4-BE49-F238E27FC236}">
                <a16:creationId xmlns:a16="http://schemas.microsoft.com/office/drawing/2014/main" id="{6EDCA9E8-9D11-402D-A649-D969B908F4D6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4" name="统一风格-经典网络玻璃内沿-34">
            <a:extLst>
              <a:ext uri="{FF2B5EF4-FFF2-40B4-BE49-F238E27FC236}">
                <a16:creationId xmlns:a16="http://schemas.microsoft.com/office/drawing/2014/main" id="{92B24976-E5E7-458C-99E3-DC94394E8A0B}"/>
              </a:ext>
            </a:extLst>
          </p:cNvPr>
          <p:cNvSpPr>
            <a:spLocks noGrp="1"/>
          </p:cNvSpPr>
          <p:nvPr/>
        </p:nvSpPr>
        <p:spPr>
          <a:xfrm>
            <a:off x="9309259" y="2108359"/>
            <a:ext cx="22602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5" name="统一风格-经典网络透光反射面-35">
            <a:extLst>
              <a:ext uri="{FF2B5EF4-FFF2-40B4-BE49-F238E27FC236}">
                <a16:creationId xmlns:a16="http://schemas.microsoft.com/office/drawing/2014/main" id="{A6F66A3C-647F-4C6B-A9F5-36B48852814D}"/>
              </a:ext>
            </a:extLst>
          </p:cNvPr>
          <p:cNvSpPr>
            <a:spLocks noGrp="1"/>
          </p:cNvSpPr>
          <p:nvPr/>
        </p:nvSpPr>
        <p:spPr>
          <a:xfrm>
            <a:off x="9315450" y="2114550"/>
            <a:ext cx="2247900" cy="1028700"/>
          </a:xfrm>
          <a:custGeom>
            <a:avLst/>
            <a:gdLst/>
            <a:ahLst/>
            <a:cxnLst/>
            <a:rect l="0" t="0" r="0" b="0"/>
            <a:pathLst>
              <a:path w="2247900" h="1028700">
                <a:moveTo>
                  <a:pt x="76200" y="0"/>
                </a:moveTo>
                <a:lnTo>
                  <a:pt x="1438656" y="0"/>
                </a:lnTo>
                <a:lnTo>
                  <a:pt x="584454" y="1028700"/>
                </a:lnTo>
                <a:lnTo>
                  <a:pt x="76200" y="1028700"/>
                </a:lnTo>
                <a:cubicBezTo>
                  <a:pt x="28575" y="1028700"/>
                  <a:pt x="0" y="1000125"/>
                  <a:pt x="0" y="9525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6" name="统一风格-经典网络边缘高光-36">
            <a:extLst>
              <a:ext uri="{FF2B5EF4-FFF2-40B4-BE49-F238E27FC236}">
                <a16:creationId xmlns:a16="http://schemas.microsoft.com/office/drawing/2014/main" id="{B91A6D9F-C68D-470D-AC4E-CDF4176E0B0A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066800"/>
          </a:xfrm>
          <a:custGeom>
            <a:avLst/>
            <a:gdLst/>
            <a:ahLst/>
            <a:cxnLst/>
            <a:rect l="0" t="0" r="0" b="0"/>
            <a:pathLst>
              <a:path w="2286000" h="1066800">
                <a:moveTo>
                  <a:pt x="95250" y="9525"/>
                </a:moveTo>
                <a:lnTo>
                  <a:pt x="2190750" y="9525"/>
                </a:lnTo>
                <a:cubicBezTo>
                  <a:pt x="2238375" y="9525"/>
                  <a:pt x="2276475" y="47625"/>
                  <a:pt x="2276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7" name="统一风格-cloud VPC 云轮廓-37">
            <a:extLst>
              <a:ext uri="{FF2B5EF4-FFF2-40B4-BE49-F238E27FC236}">
                <a16:creationId xmlns:a16="http://schemas.microsoft.com/office/drawing/2014/main" id="{1F113C48-A933-444E-9EA2-AA5B8E8969DE}"/>
              </a:ext>
            </a:extLst>
          </p:cNvPr>
          <p:cNvSpPr>
            <a:spLocks noGrp="1"/>
          </p:cNvSpPr>
          <p:nvPr/>
        </p:nvSpPr>
        <p:spPr>
          <a:xfrm>
            <a:off x="9439275" y="2257425"/>
            <a:ext cx="371475" cy="3714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790" cap="rnd">
            <a:solidFill>
              <a:srgbClr val="2053C3"/>
            </a:solidFill>
            <a:round/>
          </a:ln>
        </p:spPr>
      </p:sp>
      <p:sp>
        <p:nvSpPr>
          <p:cNvPr id="38" name="统一风格-文字 经典网络-38">
            <a:extLst>
              <a:ext uri="{FF2B5EF4-FFF2-40B4-BE49-F238E27FC236}">
                <a16:creationId xmlns:a16="http://schemas.microsoft.com/office/drawing/2014/main" id="{6557AFB7-8F03-474F-ADBF-7FF4AEA472EB}"/>
              </a:ext>
            </a:extLst>
          </p:cNvPr>
          <p:cNvSpPr>
            <a:spLocks noGrp="1"/>
          </p:cNvSpPr>
          <p:nvPr/>
        </p:nvSpPr>
        <p:spPr>
          <a:xfrm>
            <a:off x="9963150" y="2190750"/>
            <a:ext cx="1476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经典网络</a:t>
            </a:r>
          </a:p>
        </p:txBody>
      </p:sp>
      <p:sp>
        <p:nvSpPr>
          <p:cNvPr id="39" name="统一风格-文字 10.0.0.0/8 内的分区-39">
            <a:extLst>
              <a:ext uri="{FF2B5EF4-FFF2-40B4-BE49-F238E27FC236}">
                <a16:creationId xmlns:a16="http://schemas.microsoft.com/office/drawing/2014/main" id="{A63D1156-BA9E-43E1-A1E7-50E98DBF6E35}"/>
              </a:ext>
            </a:extLst>
          </p:cNvPr>
          <p:cNvSpPr>
            <a:spLocks noGrp="1"/>
          </p:cNvSpPr>
          <p:nvPr/>
        </p:nvSpPr>
        <p:spPr>
          <a:xfrm>
            <a:off x="9448800" y="2743200"/>
            <a:ext cx="1981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10.0.0.0/8 内的分区</a:t>
            </a:r>
          </a:p>
        </p:txBody>
      </p:sp>
      <p:cxnSp>
        <p:nvCxnSpPr>
          <p:cNvPr id="40" name="平台跨网通信方向">
            <a:extLst>
              <a:ext uri="{FF2B5EF4-FFF2-40B4-BE49-F238E27FC236}">
                <a16:creationId xmlns:a16="http://schemas.microsoft.com/office/drawing/2014/main" id="{6518C931-C82B-4DE3-9711-7F1027E4E94B}"/>
              </a:ext>
            </a:extLst>
          </p:cNvPr>
          <p:cNvCxnSpPr/>
          <p:nvPr/>
        </p:nvCxnSpPr>
        <p:spPr>
          <a:xfrm>
            <a:off x="2924175" y="2486025"/>
            <a:ext cx="552450" cy="0"/>
          </a:xfrm>
          <a:prstGeom prst="straightConnector1">
            <a:avLst/>
          </a:prstGeom>
          <a:ln w="15240">
            <a:solidFill>
              <a:srgbClr val="2053C3"/>
            </a:solidFill>
            <a:tailEnd type="triangle" w="sm" len="sm"/>
          </a:ln>
        </p:spPr>
      </p:cxnSp>
      <p:cxnSp>
        <p:nvCxnSpPr>
          <p:cNvPr id="41" name="平台跨网通信方向">
            <a:extLst>
              <a:ext uri="{FF2B5EF4-FFF2-40B4-BE49-F238E27FC236}">
                <a16:creationId xmlns:a16="http://schemas.microsoft.com/office/drawing/2014/main" id="{5DBB27F1-3E6F-4FD6-AE0A-CDC40078692C}"/>
              </a:ext>
            </a:extLst>
          </p:cNvPr>
          <p:cNvCxnSpPr/>
          <p:nvPr/>
        </p:nvCxnSpPr>
        <p:spPr>
          <a:xfrm flipH="1">
            <a:off x="2924175" y="2686050"/>
            <a:ext cx="552450" cy="0"/>
          </a:xfrm>
          <a:prstGeom prst="straightConnector1">
            <a:avLst/>
          </a:prstGeom>
          <a:ln w="15240">
            <a:solidFill>
              <a:srgbClr val="7293CE"/>
            </a:solidFill>
            <a:tailEnd type="triangle" w="sm" len="sm"/>
          </a:ln>
        </p:spPr>
      </p:cxnSp>
      <p:cxnSp>
        <p:nvCxnSpPr>
          <p:cNvPr id="42" name="平台跨网通信方向">
            <a:extLst>
              <a:ext uri="{FF2B5EF4-FFF2-40B4-BE49-F238E27FC236}">
                <a16:creationId xmlns:a16="http://schemas.microsoft.com/office/drawing/2014/main" id="{643F7A65-C0DC-421C-BE5F-76C0BCC2C509}"/>
              </a:ext>
            </a:extLst>
          </p:cNvPr>
          <p:cNvCxnSpPr/>
          <p:nvPr/>
        </p:nvCxnSpPr>
        <p:spPr>
          <a:xfrm>
            <a:off x="5819775" y="2486025"/>
            <a:ext cx="552450" cy="0"/>
          </a:xfrm>
          <a:prstGeom prst="straightConnector1">
            <a:avLst/>
          </a:prstGeom>
          <a:ln w="15240">
            <a:solidFill>
              <a:srgbClr val="2053C3"/>
            </a:solidFill>
            <a:tailEnd type="triangle" w="sm" len="sm"/>
          </a:ln>
        </p:spPr>
      </p:cxnSp>
      <p:cxnSp>
        <p:nvCxnSpPr>
          <p:cNvPr id="43" name="平台跨网通信方向">
            <a:extLst>
              <a:ext uri="{FF2B5EF4-FFF2-40B4-BE49-F238E27FC236}">
                <a16:creationId xmlns:a16="http://schemas.microsoft.com/office/drawing/2014/main" id="{D978BB56-7E15-4DF7-B2A2-B0301AF768FC}"/>
              </a:ext>
            </a:extLst>
          </p:cNvPr>
          <p:cNvCxnSpPr/>
          <p:nvPr/>
        </p:nvCxnSpPr>
        <p:spPr>
          <a:xfrm flipH="1">
            <a:off x="5819775" y="2686050"/>
            <a:ext cx="552450" cy="0"/>
          </a:xfrm>
          <a:prstGeom prst="straightConnector1">
            <a:avLst/>
          </a:prstGeom>
          <a:ln w="15240">
            <a:solidFill>
              <a:srgbClr val="7293CE"/>
            </a:solidFill>
            <a:tailEnd type="triangle" w="sm" len="sm"/>
          </a:ln>
        </p:spPr>
      </p:cxnSp>
      <p:cxnSp>
        <p:nvCxnSpPr>
          <p:cNvPr id="44" name="平台跨网通信方向">
            <a:extLst>
              <a:ext uri="{FF2B5EF4-FFF2-40B4-BE49-F238E27FC236}">
                <a16:creationId xmlns:a16="http://schemas.microsoft.com/office/drawing/2014/main" id="{12EC5330-9B97-4F44-A3EA-8F40BD3627C1}"/>
              </a:ext>
            </a:extLst>
          </p:cNvPr>
          <p:cNvCxnSpPr/>
          <p:nvPr/>
        </p:nvCxnSpPr>
        <p:spPr>
          <a:xfrm>
            <a:off x="8715375" y="2486025"/>
            <a:ext cx="552450" cy="0"/>
          </a:xfrm>
          <a:prstGeom prst="straightConnector1">
            <a:avLst/>
          </a:prstGeom>
          <a:ln w="15240">
            <a:solidFill>
              <a:srgbClr val="2053C3"/>
            </a:solidFill>
            <a:tailEnd type="triangle" w="sm" len="sm"/>
          </a:ln>
        </p:spPr>
      </p:cxnSp>
      <p:cxnSp>
        <p:nvCxnSpPr>
          <p:cNvPr id="45" name="平台跨网通信方向">
            <a:extLst>
              <a:ext uri="{FF2B5EF4-FFF2-40B4-BE49-F238E27FC236}">
                <a16:creationId xmlns:a16="http://schemas.microsoft.com/office/drawing/2014/main" id="{6BA4A155-4110-4D62-803C-C76A74D21C82}"/>
              </a:ext>
            </a:extLst>
          </p:cNvPr>
          <p:cNvCxnSpPr/>
          <p:nvPr/>
        </p:nvCxnSpPr>
        <p:spPr>
          <a:xfrm flipH="1">
            <a:off x="8715375" y="2686050"/>
            <a:ext cx="552450" cy="0"/>
          </a:xfrm>
          <a:prstGeom prst="straightConnector1">
            <a:avLst/>
          </a:prstGeom>
          <a:ln w="15240">
            <a:solidFill>
              <a:srgbClr val="7293CE"/>
            </a:solidFill>
            <a:tailEnd type="triangle" w="sm" len="sm"/>
          </a:ln>
        </p:spPr>
      </p:cxnSp>
      <p:sp>
        <p:nvSpPr>
          <p:cNvPr id="46" name="统一风格-文字 VPC 小网与经典网络通信，必须绑定私网 NAT 提供的 10.x 中转 IP。-40">
            <a:extLst>
              <a:ext uri="{FF2B5EF4-FFF2-40B4-BE49-F238E27FC236}">
                <a16:creationId xmlns:a16="http://schemas.microsoft.com/office/drawing/2014/main" id="{7C718CAD-8057-40CE-B4CC-8AFF2A8132B4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小网与经典网络通信，必须绑定私网 NAT 提供的 10.x 中转 IP。</a:t>
            </a:r>
          </a:p>
        </p:txBody>
      </p:sp>
      <p:sp>
        <p:nvSpPr>
          <p:cNvPr id="47" name="统一风格-平台安全分工表玻璃后沿-41">
            <a:extLst>
              <a:ext uri="{FF2B5EF4-FFF2-40B4-BE49-F238E27FC236}">
                <a16:creationId xmlns:a16="http://schemas.microsoft.com/office/drawing/2014/main" id="{C2377BEE-2F7C-422C-9421-9E178D832F9D}"/>
              </a:ext>
            </a:extLst>
          </p:cNvPr>
          <p:cNvSpPr>
            <a:spLocks noGrp="1"/>
          </p:cNvSpPr>
          <p:nvPr/>
        </p:nvSpPr>
        <p:spPr>
          <a:xfrm>
            <a:off x="542925" y="37909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48" name="统一风格-平台安全分工表-42">
            <a:extLst>
              <a:ext uri="{FF2B5EF4-FFF2-40B4-BE49-F238E27FC236}">
                <a16:creationId xmlns:a16="http://schemas.microsoft.com/office/drawing/2014/main" id="{A86D7992-E991-46E3-9BBB-190F94665134}"/>
              </a:ext>
            </a:extLst>
          </p:cNvPr>
          <p:cNvSpPr>
            <a:spLocks noGrp="1"/>
          </p:cNvSpPr>
          <p:nvPr/>
        </p:nvSpPr>
        <p:spPr>
          <a:xfrm>
            <a:off x="542925" y="37909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9" name="统一风格-平台安全分工表玻璃内沿-43">
            <a:extLst>
              <a:ext uri="{FF2B5EF4-FFF2-40B4-BE49-F238E27FC236}">
                <a16:creationId xmlns:a16="http://schemas.microsoft.com/office/drawing/2014/main" id="{8C85F898-CB66-46BE-AEE4-131149993F48}"/>
              </a:ext>
            </a:extLst>
          </p:cNvPr>
          <p:cNvSpPr>
            <a:spLocks noGrp="1"/>
          </p:cNvSpPr>
          <p:nvPr/>
        </p:nvSpPr>
        <p:spPr>
          <a:xfrm>
            <a:off x="555784" y="3803809"/>
            <a:ext cx="11080433" cy="2165033"/>
          </a:xfrm>
          <a:prstGeom prst="roundRect">
            <a:avLst>
              <a:gd name="adj" fmla="val 33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0" name="统一风格-平台安全分工表边缘高光-44">
            <a:extLst>
              <a:ext uri="{FF2B5EF4-FFF2-40B4-BE49-F238E27FC236}">
                <a16:creationId xmlns:a16="http://schemas.microsoft.com/office/drawing/2014/main" id="{7F186D28-1379-41DA-BEEC-F4A5183FCDDF}"/>
              </a:ext>
            </a:extLst>
          </p:cNvPr>
          <p:cNvSpPr>
            <a:spLocks noGrp="1"/>
          </p:cNvSpPr>
          <p:nvPr/>
        </p:nvSpPr>
        <p:spPr>
          <a:xfrm>
            <a:off x="542925" y="3790950"/>
            <a:ext cx="11106150" cy="2190750"/>
          </a:xfrm>
          <a:custGeom>
            <a:avLst/>
            <a:gdLst/>
            <a:ahLst/>
            <a:cxnLst/>
            <a:rect l="0" t="0" r="0" b="0"/>
            <a:pathLst>
              <a:path w="11106150" h="2190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7EDA4C99-01D6-4BFE-B039-EF308C9EDF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1369244"/>
              </p:ext>
            </p:extLst>
          </p:nvPr>
        </p:nvGraphicFramePr>
        <p:xfrm>
          <a:off x="609600" y="3857625"/>
          <a:ext cx="10972800" cy="205740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通信场景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安全控制组合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重点核验对象</a:t>
                      </a:r>
                      <a:endParaRPr sz="1575" b="1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之间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ACL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TW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TW" alt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zh-TW" alt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两端资源实例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网络绑定的中转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</a:t>
                      </a:r>
                      <a:r>
                        <a:rPr lang="zh-CN" alt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与经典网络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之间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防火墙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+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经典网络之间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防火墙 + 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两端资源实例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统一风格-页脚分隔-45">
            <a:extLst>
              <a:ext uri="{FF2B5EF4-FFF2-40B4-BE49-F238E27FC236}">
                <a16:creationId xmlns:a16="http://schemas.microsoft.com/office/drawing/2014/main" id="{4C28869F-F31A-4646-9E92-3F5274A4F14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</p:sp>
      <p:sp>
        <p:nvSpPr>
          <p:cNvPr id="53" name="统一风格-文字 本页为平台接入规范。中转 IP 仅解决地址接入，访问仍需满足相应控制层的授权要求。-46">
            <a:extLst>
              <a:ext uri="{FF2B5EF4-FFF2-40B4-BE49-F238E27FC236}">
                <a16:creationId xmlns:a16="http://schemas.microsoft.com/office/drawing/2014/main" id="{C203A5E5-C726-4306-93F8-0BBA631A6E0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经典网络资源实例关联的安全组通常默认允许内网互通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。中转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IP 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仅解决地址接入，访问仍需满足相应控制层的授权要求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4" name="统一风格-文字 07-47">
            <a:extLst>
              <a:ext uri="{FF2B5EF4-FFF2-40B4-BE49-F238E27FC236}">
                <a16:creationId xmlns:a16="http://schemas.microsoft.com/office/drawing/2014/main" id="{8049219E-FBFE-4C0F-B6CB-614B7A3EB6A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3555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文-01  VPC 基础与规范">
            <a:extLst>
              <a:ext uri="{FF2B5EF4-FFF2-40B4-BE49-F238E27FC236}">
                <a16:creationId xmlns:a16="http://schemas.microsoft.com/office/drawing/2014/main" id="{062FE273-7586-4398-B2D8-BB26C80EC9B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的通信条件与默认连通行为-2">
            <a:extLst>
              <a:ext uri="{FF2B5EF4-FFF2-40B4-BE49-F238E27FC236}">
                <a16:creationId xmlns:a16="http://schemas.microsoft.com/office/drawing/2014/main" id="{914BB594-150F-4128-9F66-A456DBBDAFE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VPC</a:t>
            </a:r>
            <a:r>
              <a:rPr lang="zh-CN" altLang="en-US" dirty="0"/>
              <a:t> </a:t>
            </a:r>
            <a:r>
              <a:rPr lang="en-US" dirty="0"/>
              <a:t>网络</a:t>
            </a:r>
            <a:r>
              <a:rPr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通信条件与默认连通行为</a:t>
            </a:r>
          </a:p>
        </p:txBody>
      </p:sp>
      <p:sp>
        <p:nvSpPr>
          <p:cNvPr id="3" name="正文-地址、双向路由与安全策略共同决定连通性，应用还需正常监听">
            <a:extLst>
              <a:ext uri="{FF2B5EF4-FFF2-40B4-BE49-F238E27FC236}">
                <a16:creationId xmlns:a16="http://schemas.microsoft.com/office/drawing/2014/main" id="{FFB20E80-2041-4771-B0BB-C4E33DC15E9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地址、双向路由与安全策略共同决定连通性，应用还需正常监听</a:t>
            </a:r>
          </a:p>
        </p:txBody>
      </p:sp>
      <p:cxnSp>
        <p:nvCxnSpPr>
          <p:cNvPr id="4" name="知识图示连接-1">
            <a:extLst>
              <a:ext uri="{FF2B5EF4-FFF2-40B4-BE49-F238E27FC236}">
                <a16:creationId xmlns:a16="http://schemas.microsoft.com/office/drawing/2014/main" id="{A30B961A-E65B-415C-83E3-F08DC1EE9F52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统一风格-文字 三项基础检查分别核验，端到端还需服务监听正常并完成真实业务测试。-4">
            <a:extLst>
              <a:ext uri="{FF2B5EF4-FFF2-40B4-BE49-F238E27FC236}">
                <a16:creationId xmlns:a16="http://schemas.microsoft.com/office/drawing/2014/main" id="{4712D8C2-0817-48C9-A39B-C7395E0E56A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三项基础检查分别核验，端到端还需服务监听正常并完成真实业务测试。</a:t>
            </a:r>
          </a:p>
        </p:txBody>
      </p:sp>
      <p:sp>
        <p:nvSpPr>
          <p:cNvPr id="6" name="正文-08">
            <a:extLst>
              <a:ext uri="{FF2B5EF4-FFF2-40B4-BE49-F238E27FC236}">
                <a16:creationId xmlns:a16="http://schemas.microsoft.com/office/drawing/2014/main" id="{63941B22-8AF9-4D01-866B-7C21E6C9A5E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统一风格-地址正确玻璃后沿-6">
            <a:extLst>
              <a:ext uri="{FF2B5EF4-FFF2-40B4-BE49-F238E27FC236}">
                <a16:creationId xmlns:a16="http://schemas.microsoft.com/office/drawing/2014/main" id="{DD2DE489-34F6-492D-A652-48CB7F343E4C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地址正确-7">
            <a:extLst>
              <a:ext uri="{FF2B5EF4-FFF2-40B4-BE49-F238E27FC236}">
                <a16:creationId xmlns:a16="http://schemas.microsoft.com/office/drawing/2014/main" id="{E12C29F7-14D5-45E2-B603-BD38D89F2D17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地址正确玻璃内沿-8">
            <a:extLst>
              <a:ext uri="{FF2B5EF4-FFF2-40B4-BE49-F238E27FC236}">
                <a16:creationId xmlns:a16="http://schemas.microsoft.com/office/drawing/2014/main" id="{BD721D56-5C6E-4C94-8379-7D8C41822BF4}"/>
              </a:ext>
            </a:extLst>
          </p:cNvPr>
          <p:cNvSpPr>
            <a:spLocks noGrp="1"/>
          </p:cNvSpPr>
          <p:nvPr/>
        </p:nvSpPr>
        <p:spPr>
          <a:xfrm>
            <a:off x="622459" y="2155984"/>
            <a:ext cx="3384233" cy="1545908"/>
          </a:xfrm>
          <a:prstGeom prst="roundRect">
            <a:avLst>
              <a:gd name="adj" fmla="val 474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地址正确透光反射面-9">
            <a:extLst>
              <a:ext uri="{FF2B5EF4-FFF2-40B4-BE49-F238E27FC236}">
                <a16:creationId xmlns:a16="http://schemas.microsoft.com/office/drawing/2014/main" id="{71A925FA-A54F-4418-9A06-F7489C9BBCF4}"/>
              </a:ext>
            </a:extLst>
          </p:cNvPr>
          <p:cNvSpPr>
            <a:spLocks noGrp="1"/>
          </p:cNvSpPr>
          <p:nvPr/>
        </p:nvSpPr>
        <p:spPr>
          <a:xfrm>
            <a:off x="628650" y="2162175"/>
            <a:ext cx="3371850" cy="1533525"/>
          </a:xfrm>
          <a:custGeom>
            <a:avLst/>
            <a:gdLst/>
            <a:ahLst/>
            <a:cxnLst/>
            <a:rect l="0" t="0" r="0" b="0"/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地址正确边缘高光-10">
            <a:extLst>
              <a:ext uri="{FF2B5EF4-FFF2-40B4-BE49-F238E27FC236}">
                <a16:creationId xmlns:a16="http://schemas.microsoft.com/office/drawing/2014/main" id="{CDFFAF51-BD2A-4979-8DA6-34347EB64E9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409950" cy="1571625"/>
          </a:xfrm>
          <a:custGeom>
            <a:avLst/>
            <a:gdLst/>
            <a:ahLst/>
            <a:cxnLst/>
            <a:rect l="0" t="0" r="0" b="0"/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11">
            <a:extLst>
              <a:ext uri="{FF2B5EF4-FFF2-40B4-BE49-F238E27FC236}">
                <a16:creationId xmlns:a16="http://schemas.microsoft.com/office/drawing/2014/main" id="{580356D4-8A02-4F92-BD56-55CC50B6F20F}"/>
              </a:ext>
            </a:extLst>
          </p:cNvPr>
          <p:cNvSpPr>
            <a:spLocks noGrp="1"/>
          </p:cNvSpPr>
          <p:nvPr/>
        </p:nvSpPr>
        <p:spPr>
          <a:xfrm>
            <a:off x="790575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地址正确-12">
            <a:extLst>
              <a:ext uri="{FF2B5EF4-FFF2-40B4-BE49-F238E27FC236}">
                <a16:creationId xmlns:a16="http://schemas.microsoft.com/office/drawing/2014/main" id="{F593C334-59C8-41F6-A1B3-B2C8B731B005}"/>
              </a:ext>
            </a:extLst>
          </p:cNvPr>
          <p:cNvSpPr>
            <a:spLocks noGrp="1"/>
          </p:cNvSpPr>
          <p:nvPr/>
        </p:nvSpPr>
        <p:spPr>
          <a:xfrm>
            <a:off x="1409700" y="23431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地址正确</a:t>
            </a:r>
          </a:p>
        </p:txBody>
      </p:sp>
      <p:sp>
        <p:nvSpPr>
          <p:cNvPr id="14" name="统一风格-文字 确认目标 IP、VPC 与子网， 排除地址冲突或访问错对象。-13">
            <a:extLst>
              <a:ext uri="{FF2B5EF4-FFF2-40B4-BE49-F238E27FC236}">
                <a16:creationId xmlns:a16="http://schemas.microsoft.com/office/drawing/2014/main" id="{0D8CB36F-30EB-4F30-A120-3FF9477DE06D}"/>
              </a:ext>
            </a:extLst>
          </p:cNvPr>
          <p:cNvSpPr>
            <a:spLocks noGrp="1"/>
          </p:cNvSpPr>
          <p:nvPr/>
        </p:nvSpPr>
        <p:spPr>
          <a:xfrm>
            <a:off x="790575" y="29432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</a:t>
            </a:r>
            <a:r>
              <a:rPr 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访问的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 </a:t>
            </a:r>
            <a:r>
              <a:rPr lang="en-US" dirty="0"/>
              <a:t>IP</a:t>
            </a:r>
            <a:r>
              <a:rPr lang="zh-CN" altLang="en-US" dirty="0"/>
              <a:t> 为内网已规划的</a:t>
            </a:r>
            <a:r>
              <a:rPr lang="en-US" altLang="zh-CN" dirty="0"/>
              <a:t> 10.x </a:t>
            </a:r>
            <a:r>
              <a:rPr lang="zh-CN" altLang="en-US" dirty="0"/>
              <a:t>地址。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5" name="知识图示连接-2">
            <a:extLst>
              <a:ext uri="{FF2B5EF4-FFF2-40B4-BE49-F238E27FC236}">
                <a16:creationId xmlns:a16="http://schemas.microsoft.com/office/drawing/2014/main" id="{EFE3A1A1-A305-40AA-BCD4-72AD9051B579}"/>
              </a:ext>
            </a:extLst>
          </p:cNvPr>
          <p:cNvCxnSpPr/>
          <p:nvPr/>
        </p:nvCxnSpPr>
        <p:spPr>
          <a:xfrm>
            <a:off x="4019550" y="2924175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16" name="统一风格-路由可达玻璃后沿-14">
            <a:extLst>
              <a:ext uri="{FF2B5EF4-FFF2-40B4-BE49-F238E27FC236}">
                <a16:creationId xmlns:a16="http://schemas.microsoft.com/office/drawing/2014/main" id="{AAE79D20-FD49-4088-A6C0-8A022C2ABA35}"/>
              </a:ext>
            </a:extLst>
          </p:cNvPr>
          <p:cNvSpPr>
            <a:spLocks noGrp="1"/>
          </p:cNvSpPr>
          <p:nvPr/>
        </p:nvSpPr>
        <p:spPr>
          <a:xfrm>
            <a:off x="4391025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路由可达-15">
            <a:extLst>
              <a:ext uri="{FF2B5EF4-FFF2-40B4-BE49-F238E27FC236}">
                <a16:creationId xmlns:a16="http://schemas.microsoft.com/office/drawing/2014/main" id="{65811BFB-F40B-44A2-BD29-5011715AFCAE}"/>
              </a:ext>
            </a:extLst>
          </p:cNvPr>
          <p:cNvSpPr>
            <a:spLocks noGrp="1"/>
          </p:cNvSpPr>
          <p:nvPr/>
        </p:nvSpPr>
        <p:spPr>
          <a:xfrm>
            <a:off x="4391025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路由可达玻璃内沿-16">
            <a:extLst>
              <a:ext uri="{FF2B5EF4-FFF2-40B4-BE49-F238E27FC236}">
                <a16:creationId xmlns:a16="http://schemas.microsoft.com/office/drawing/2014/main" id="{109AAE4F-B220-488F-AF69-73AB396AE813}"/>
              </a:ext>
            </a:extLst>
          </p:cNvPr>
          <p:cNvSpPr>
            <a:spLocks noGrp="1"/>
          </p:cNvSpPr>
          <p:nvPr/>
        </p:nvSpPr>
        <p:spPr>
          <a:xfrm>
            <a:off x="4403884" y="2155984"/>
            <a:ext cx="3384233" cy="1545908"/>
          </a:xfrm>
          <a:prstGeom prst="roundRect">
            <a:avLst>
              <a:gd name="adj" fmla="val 474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路由可达透光反射面-17">
            <a:extLst>
              <a:ext uri="{FF2B5EF4-FFF2-40B4-BE49-F238E27FC236}">
                <a16:creationId xmlns:a16="http://schemas.microsoft.com/office/drawing/2014/main" id="{E6410BA0-4089-4E90-AEB4-E19D92B73A56}"/>
              </a:ext>
            </a:extLst>
          </p:cNvPr>
          <p:cNvSpPr>
            <a:spLocks noGrp="1"/>
          </p:cNvSpPr>
          <p:nvPr/>
        </p:nvSpPr>
        <p:spPr>
          <a:xfrm>
            <a:off x="4410075" y="2162175"/>
            <a:ext cx="3371850" cy="1533525"/>
          </a:xfrm>
          <a:custGeom>
            <a:avLst/>
            <a:gdLst/>
            <a:ahLst/>
            <a:cxnLst/>
            <a:rect l="0" t="0" r="0" b="0"/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路由可达边缘高光-18">
            <a:extLst>
              <a:ext uri="{FF2B5EF4-FFF2-40B4-BE49-F238E27FC236}">
                <a16:creationId xmlns:a16="http://schemas.microsoft.com/office/drawing/2014/main" id="{ECEAB584-20A6-4548-BE95-F7A55036E0BE}"/>
              </a:ext>
            </a:extLst>
          </p:cNvPr>
          <p:cNvSpPr>
            <a:spLocks noGrp="1"/>
          </p:cNvSpPr>
          <p:nvPr/>
        </p:nvSpPr>
        <p:spPr>
          <a:xfrm>
            <a:off x="4391025" y="2143125"/>
            <a:ext cx="3409950" cy="1571625"/>
          </a:xfrm>
          <a:custGeom>
            <a:avLst/>
            <a:gdLst/>
            <a:ahLst/>
            <a:cxnLst/>
            <a:rect l="0" t="0" r="0" b="0"/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route-table VPC 路由表外框-19">
            <a:extLst>
              <a:ext uri="{FF2B5EF4-FFF2-40B4-BE49-F238E27FC236}">
                <a16:creationId xmlns:a16="http://schemas.microsoft.com/office/drawing/2014/main" id="{043BAE05-F232-4958-87DB-B68284742DF7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route-table 路由表列与表头-20">
            <a:extLst>
              <a:ext uri="{FF2B5EF4-FFF2-40B4-BE49-F238E27FC236}">
                <a16:creationId xmlns:a16="http://schemas.microsoft.com/office/drawing/2014/main" id="{E9E3EDA4-2FA9-4C68-96AD-522B7524CD11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route-table 目的网段条目-21">
            <a:extLst>
              <a:ext uri="{FF2B5EF4-FFF2-40B4-BE49-F238E27FC236}">
                <a16:creationId xmlns:a16="http://schemas.microsoft.com/office/drawing/2014/main" id="{80F5D534-9BD1-4061-943F-24B034CF3DB5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route-table 下一跳箭头-22">
            <a:extLst>
              <a:ext uri="{FF2B5EF4-FFF2-40B4-BE49-F238E27FC236}">
                <a16:creationId xmlns:a16="http://schemas.microsoft.com/office/drawing/2014/main" id="{315CB0E5-E975-409E-B8A3-13780FBB997F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路由可达-23">
            <a:extLst>
              <a:ext uri="{FF2B5EF4-FFF2-40B4-BE49-F238E27FC236}">
                <a16:creationId xmlns:a16="http://schemas.microsoft.com/office/drawing/2014/main" id="{3E5CAB81-A2CE-420A-BA90-E76CA6C808DB}"/>
              </a:ext>
            </a:extLst>
          </p:cNvPr>
          <p:cNvSpPr>
            <a:spLocks noGrp="1"/>
          </p:cNvSpPr>
          <p:nvPr/>
        </p:nvSpPr>
        <p:spPr>
          <a:xfrm>
            <a:off x="5191125" y="23431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路由可达</a:t>
            </a:r>
          </a:p>
        </p:txBody>
      </p:sp>
      <p:sp>
        <p:nvSpPr>
          <p:cNvPr id="26" name="统一风格-文字 核对子网实际关联路由表， 检查去程与回程的下一跳。-24">
            <a:extLst>
              <a:ext uri="{FF2B5EF4-FFF2-40B4-BE49-F238E27FC236}">
                <a16:creationId xmlns:a16="http://schemas.microsoft.com/office/drawing/2014/main" id="{4CE2E80B-BF6D-4E6A-8B89-AE75FD74A86E}"/>
              </a:ext>
            </a:extLst>
          </p:cNvPr>
          <p:cNvSpPr>
            <a:spLocks noGrp="1"/>
          </p:cNvSpPr>
          <p:nvPr/>
        </p:nvSpPr>
        <p:spPr>
          <a:xfrm>
            <a:off x="4572000" y="29432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lang="zh-CN" altLang="en-US" dirty="0"/>
              <a:t>执行 </a:t>
            </a:r>
            <a:r>
              <a:rPr lang="en-US" altLang="zh-CN" dirty="0"/>
              <a:t>Ping</a:t>
            </a:r>
            <a:r>
              <a:rPr lang="zh-CN" altLang="en-US" dirty="0"/>
              <a:t> 命令确认访问的目标 </a:t>
            </a:r>
            <a:r>
              <a:rPr lang="en-US" altLang="zh-CN" dirty="0"/>
              <a:t>IP</a:t>
            </a:r>
            <a:r>
              <a:rPr lang="zh-CN" altLang="en-US" dirty="0"/>
              <a:t> 地址是否路由可达</a:t>
            </a: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cxnSp>
        <p:nvCxnSpPr>
          <p:cNvPr id="27" name="知识图示连接-3">
            <a:extLst>
              <a:ext uri="{FF2B5EF4-FFF2-40B4-BE49-F238E27FC236}">
                <a16:creationId xmlns:a16="http://schemas.microsoft.com/office/drawing/2014/main" id="{8A62DCF4-0F0A-4EA7-A392-883F677B74EB}"/>
              </a:ext>
            </a:extLst>
          </p:cNvPr>
          <p:cNvCxnSpPr/>
          <p:nvPr/>
        </p:nvCxnSpPr>
        <p:spPr>
          <a:xfrm>
            <a:off x="7800975" y="2924175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28" name="统一风格-策略允许玻璃后沿-25">
            <a:extLst>
              <a:ext uri="{FF2B5EF4-FFF2-40B4-BE49-F238E27FC236}">
                <a16:creationId xmlns:a16="http://schemas.microsoft.com/office/drawing/2014/main" id="{694BE0AA-D37B-4C90-BFD4-FE8845CFB4CD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统一风格-策略允许-26">
            <a:extLst>
              <a:ext uri="{FF2B5EF4-FFF2-40B4-BE49-F238E27FC236}">
                <a16:creationId xmlns:a16="http://schemas.microsoft.com/office/drawing/2014/main" id="{BC1C9DA7-9DD6-416F-9CDB-1CEB26AA8116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3409950" cy="157162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策略允许玻璃内沿-27">
            <a:extLst>
              <a:ext uri="{FF2B5EF4-FFF2-40B4-BE49-F238E27FC236}">
                <a16:creationId xmlns:a16="http://schemas.microsoft.com/office/drawing/2014/main" id="{F0D3753D-189E-4B84-BEAF-95ABDBD6AE50}"/>
              </a:ext>
            </a:extLst>
          </p:cNvPr>
          <p:cNvSpPr>
            <a:spLocks noGrp="1"/>
          </p:cNvSpPr>
          <p:nvPr/>
        </p:nvSpPr>
        <p:spPr>
          <a:xfrm>
            <a:off x="8185309" y="2155984"/>
            <a:ext cx="3384233" cy="1545908"/>
          </a:xfrm>
          <a:prstGeom prst="roundRect">
            <a:avLst>
              <a:gd name="adj" fmla="val 474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策略允许透光反射面-28">
            <a:extLst>
              <a:ext uri="{FF2B5EF4-FFF2-40B4-BE49-F238E27FC236}">
                <a16:creationId xmlns:a16="http://schemas.microsoft.com/office/drawing/2014/main" id="{26A103C9-DB30-4CE3-8A30-7087E1986BF1}"/>
              </a:ext>
            </a:extLst>
          </p:cNvPr>
          <p:cNvSpPr>
            <a:spLocks noGrp="1"/>
          </p:cNvSpPr>
          <p:nvPr/>
        </p:nvSpPr>
        <p:spPr>
          <a:xfrm>
            <a:off x="8191500" y="2162175"/>
            <a:ext cx="3371850" cy="1533525"/>
          </a:xfrm>
          <a:custGeom>
            <a:avLst/>
            <a:gdLst/>
            <a:ahLst/>
            <a:cxnLst/>
            <a:rect l="0" t="0" r="0" b="0"/>
            <a:pathLst>
              <a:path w="3371850" h="1533525">
                <a:moveTo>
                  <a:pt x="76200" y="0"/>
                </a:moveTo>
                <a:lnTo>
                  <a:pt x="2157984" y="0"/>
                </a:lnTo>
                <a:lnTo>
                  <a:pt x="876681" y="1533525"/>
                </a:lnTo>
                <a:lnTo>
                  <a:pt x="76200" y="1533525"/>
                </a:lnTo>
                <a:cubicBezTo>
                  <a:pt x="28575" y="1533525"/>
                  <a:pt x="0" y="1504950"/>
                  <a:pt x="0" y="1457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策略允许边缘高光-29">
            <a:extLst>
              <a:ext uri="{FF2B5EF4-FFF2-40B4-BE49-F238E27FC236}">
                <a16:creationId xmlns:a16="http://schemas.microsoft.com/office/drawing/2014/main" id="{E5F7BB14-0A56-4386-BC23-D46CFF3E5B8B}"/>
              </a:ext>
            </a:extLst>
          </p:cNvPr>
          <p:cNvSpPr>
            <a:spLocks noGrp="1"/>
          </p:cNvSpPr>
          <p:nvPr/>
        </p:nvSpPr>
        <p:spPr>
          <a:xfrm>
            <a:off x="8172450" y="2143125"/>
            <a:ext cx="3409950" cy="1571625"/>
          </a:xfrm>
          <a:custGeom>
            <a:avLst/>
            <a:gdLst/>
            <a:ahLst/>
            <a:cxnLst/>
            <a:rect l="0" t="0" r="0" b="0"/>
            <a:pathLst>
              <a:path w="3409950" h="1571625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hield 安全盾-30">
            <a:extLst>
              <a:ext uri="{FF2B5EF4-FFF2-40B4-BE49-F238E27FC236}">
                <a16:creationId xmlns:a16="http://schemas.microsoft.com/office/drawing/2014/main" id="{5F4DF0DB-B1B3-4959-913A-9F3D4FD14A60}"/>
              </a:ext>
            </a:extLst>
          </p:cNvPr>
          <p:cNvSpPr>
            <a:spLocks noGrp="1"/>
          </p:cNvSpPr>
          <p:nvPr/>
        </p:nvSpPr>
        <p:spPr>
          <a:xfrm>
            <a:off x="8353425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hield 核验标记-31">
            <a:extLst>
              <a:ext uri="{FF2B5EF4-FFF2-40B4-BE49-F238E27FC236}">
                <a16:creationId xmlns:a16="http://schemas.microsoft.com/office/drawing/2014/main" id="{336A3B27-8892-47FC-9AB1-7A46196A465C}"/>
              </a:ext>
            </a:extLst>
          </p:cNvPr>
          <p:cNvSpPr>
            <a:spLocks noGrp="1"/>
          </p:cNvSpPr>
          <p:nvPr/>
        </p:nvSpPr>
        <p:spPr>
          <a:xfrm>
            <a:off x="8353425" y="23241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策略允许-32">
            <a:extLst>
              <a:ext uri="{FF2B5EF4-FFF2-40B4-BE49-F238E27FC236}">
                <a16:creationId xmlns:a16="http://schemas.microsoft.com/office/drawing/2014/main" id="{1DCCE35B-65E6-45A4-BEEA-00E71BE595C8}"/>
              </a:ext>
            </a:extLst>
          </p:cNvPr>
          <p:cNvSpPr>
            <a:spLocks noGrp="1"/>
          </p:cNvSpPr>
          <p:nvPr/>
        </p:nvSpPr>
        <p:spPr>
          <a:xfrm>
            <a:off x="8972550" y="2343150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策略允许</a:t>
            </a:r>
          </a:p>
        </p:txBody>
      </p:sp>
      <p:sp>
        <p:nvSpPr>
          <p:cNvPr id="36" name="统一风格-文字 核验源出方向、目的入方向， 以及实际经过的其他控制层。-33">
            <a:extLst>
              <a:ext uri="{FF2B5EF4-FFF2-40B4-BE49-F238E27FC236}">
                <a16:creationId xmlns:a16="http://schemas.microsoft.com/office/drawing/2014/main" id="{13829ABE-5DC1-4CBD-88C7-46FF8C9CBC33}"/>
              </a:ext>
            </a:extLst>
          </p:cNvPr>
          <p:cNvSpPr>
            <a:spLocks noGrp="1"/>
          </p:cNvSpPr>
          <p:nvPr/>
        </p:nvSpPr>
        <p:spPr>
          <a:xfrm>
            <a:off x="8353425" y="294322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TW" altLang="en-US" dirty="0"/>
              <a:t>通过执行 </a:t>
            </a:r>
            <a:r>
              <a:rPr lang="en-US" altLang="zh-CN" dirty="0"/>
              <a:t>Telnet </a:t>
            </a:r>
            <a:r>
              <a:rPr lang="zh-TW" altLang="en-US" dirty="0"/>
              <a:t>命令确认访问的目标 </a:t>
            </a:r>
            <a:r>
              <a:rPr lang="en-US" altLang="zh-CN" dirty="0"/>
              <a:t>IP </a:t>
            </a:r>
            <a:r>
              <a:rPr lang="zh-TW" altLang="en-US" dirty="0"/>
              <a:t>后端服务端口是否开放。</a:t>
            </a:r>
          </a:p>
        </p:txBody>
      </p:sp>
      <p:sp>
        <p:nvSpPr>
          <p:cNvPr id="37" name="统一风格-默认行为玻璃后沿-34">
            <a:extLst>
              <a:ext uri="{FF2B5EF4-FFF2-40B4-BE49-F238E27FC236}">
                <a16:creationId xmlns:a16="http://schemas.microsoft.com/office/drawing/2014/main" id="{91B5DC59-99E8-4607-BD5D-265E95888587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1847850"/>
          </a:xfrm>
          <a:prstGeom prst="roundRect">
            <a:avLst>
              <a:gd name="adj" fmla="val 463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默认行为-35">
            <a:extLst>
              <a:ext uri="{FF2B5EF4-FFF2-40B4-BE49-F238E27FC236}">
                <a16:creationId xmlns:a16="http://schemas.microsoft.com/office/drawing/2014/main" id="{64369438-AF5A-48A4-8B6F-32484BF6B7F7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1847850"/>
          </a:xfrm>
          <a:prstGeom prst="roundRect">
            <a:avLst>
              <a:gd name="adj" fmla="val 463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默认行为玻璃内沿-36">
            <a:extLst>
              <a:ext uri="{FF2B5EF4-FFF2-40B4-BE49-F238E27FC236}">
                <a16:creationId xmlns:a16="http://schemas.microsoft.com/office/drawing/2014/main" id="{0972E44B-C947-449A-8E59-A99F5EE9C7C0}"/>
              </a:ext>
            </a:extLst>
          </p:cNvPr>
          <p:cNvSpPr>
            <a:spLocks noGrp="1"/>
          </p:cNvSpPr>
          <p:nvPr/>
        </p:nvSpPr>
        <p:spPr>
          <a:xfrm>
            <a:off x="622459" y="4032409"/>
            <a:ext cx="10947083" cy="1822133"/>
          </a:xfrm>
          <a:prstGeom prst="roundRect">
            <a:avLst>
              <a:gd name="adj" fmla="val 402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默认行为边缘高光-37">
            <a:extLst>
              <a:ext uri="{FF2B5EF4-FFF2-40B4-BE49-F238E27FC236}">
                <a16:creationId xmlns:a16="http://schemas.microsoft.com/office/drawing/2014/main" id="{E96271A2-7670-415D-BBE0-F5633B033102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1847850"/>
          </a:xfrm>
          <a:custGeom>
            <a:avLst/>
            <a:gdLst/>
            <a:ahLst/>
            <a:cxnLst/>
            <a:rect l="0" t="0" r="0" b="0"/>
            <a:pathLst>
              <a:path w="10972800" h="18478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同一 VPC-38">
            <a:extLst>
              <a:ext uri="{FF2B5EF4-FFF2-40B4-BE49-F238E27FC236}">
                <a16:creationId xmlns:a16="http://schemas.microsoft.com/office/drawing/2014/main" id="{1C941147-AD93-458E-ADB8-23A282EF843E}"/>
              </a:ext>
            </a:extLst>
          </p:cNvPr>
          <p:cNvSpPr>
            <a:spLocks noGrp="1"/>
          </p:cNvSpPr>
          <p:nvPr/>
        </p:nvSpPr>
        <p:spPr>
          <a:xfrm>
            <a:off x="809625" y="4219575"/>
            <a:ext cx="18764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VPC</a:t>
            </a:r>
          </a:p>
        </p:txBody>
      </p:sp>
      <p:sp>
        <p:nvSpPr>
          <p:cNvPr id="42" name="统一风格-文字 不同子网默认网络互通，仍需安全策略允许并验证服务监听。-39">
            <a:extLst>
              <a:ext uri="{FF2B5EF4-FFF2-40B4-BE49-F238E27FC236}">
                <a16:creationId xmlns:a16="http://schemas.microsoft.com/office/drawing/2014/main" id="{47EC968F-3EE5-4DB2-8FFF-2C277BCBBC8C}"/>
              </a:ext>
            </a:extLst>
          </p:cNvPr>
          <p:cNvSpPr>
            <a:spLocks noGrp="1"/>
          </p:cNvSpPr>
          <p:nvPr/>
        </p:nvSpPr>
        <p:spPr>
          <a:xfrm>
            <a:off x="2933700" y="4181475"/>
            <a:ext cx="84105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 err="1"/>
              <a:t>默认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lang="en-US"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互通，</a:t>
            </a:r>
            <a:r>
              <a:rPr lang="en-US"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无需申请防火墙策略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cxnSp>
        <p:nvCxnSpPr>
          <p:cNvPr id="43" name="知识图示连接-4">
            <a:extLst>
              <a:ext uri="{FF2B5EF4-FFF2-40B4-BE49-F238E27FC236}">
                <a16:creationId xmlns:a16="http://schemas.microsoft.com/office/drawing/2014/main" id="{189181CA-3236-451B-9B3F-DC8FEF90EBD7}"/>
              </a:ext>
            </a:extLst>
          </p:cNvPr>
          <p:cNvCxnSpPr/>
          <p:nvPr/>
        </p:nvCxnSpPr>
        <p:spPr>
          <a:xfrm>
            <a:off x="809625" y="4810125"/>
            <a:ext cx="10572750" cy="0"/>
          </a:xfrm>
          <a:prstGeom prst="straightConnector1">
            <a:avLst/>
          </a:prstGeom>
          <a:ln w="6668">
            <a:solidFill>
              <a:srgbClr val="B8CBE9"/>
            </a:solidFill>
          </a:ln>
        </p:spPr>
      </p:cxnSp>
      <p:sp>
        <p:nvSpPr>
          <p:cNvPr id="44" name="统一风格-文字 不同 VPC-40">
            <a:extLst>
              <a:ext uri="{FF2B5EF4-FFF2-40B4-BE49-F238E27FC236}">
                <a16:creationId xmlns:a16="http://schemas.microsoft.com/office/drawing/2014/main" id="{2EFC3F81-C99E-4EA9-B90F-C5AC5EC04007}"/>
              </a:ext>
            </a:extLst>
          </p:cNvPr>
          <p:cNvSpPr>
            <a:spLocks noGrp="1"/>
          </p:cNvSpPr>
          <p:nvPr/>
        </p:nvSpPr>
        <p:spPr>
          <a:xfrm>
            <a:off x="809625" y="5095875"/>
            <a:ext cx="18764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VPC</a:t>
            </a:r>
          </a:p>
        </p:txBody>
      </p:sp>
      <p:sp>
        <p:nvSpPr>
          <p:cNvPr id="45" name="统一风格-文字 默认不互通，需选择对等连接、ER 或 VPCEP 等适合的连接方式。-41">
            <a:extLst>
              <a:ext uri="{FF2B5EF4-FFF2-40B4-BE49-F238E27FC236}">
                <a16:creationId xmlns:a16="http://schemas.microsoft.com/office/drawing/2014/main" id="{00707D3E-68F0-4C50-90A4-BC17DB53C3AA}"/>
              </a:ext>
            </a:extLst>
          </p:cNvPr>
          <p:cNvSpPr>
            <a:spLocks noGrp="1"/>
          </p:cNvSpPr>
          <p:nvPr/>
        </p:nvSpPr>
        <p:spPr>
          <a:xfrm>
            <a:off x="2933700" y="5057775"/>
            <a:ext cx="8410575" cy="6286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默认</a:t>
            </a:r>
            <a:r>
              <a:rPr lang="zh-TW" altLang="en-US"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不互通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需选择对等连接、ER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VPCEP </a:t>
            </a:r>
            <a:r>
              <a:rPr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等适合的连接方式</a:t>
            </a:r>
            <a:r>
              <a:rPr lang="en-US" sz="172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建立网络连接</a:t>
            </a:r>
            <a:r>
              <a:rPr lang="zh-CN" altLang="en-US"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，所有跨</a:t>
            </a:r>
            <a:r>
              <a:rPr lang="zh-CN" altLang="en-US" dirty="0"/>
              <a:t> </a:t>
            </a:r>
            <a:r>
              <a:rPr lang="en-US" altLang="zh-CN" dirty="0"/>
              <a:t>VPC</a:t>
            </a:r>
            <a:r>
              <a:rPr lang="zh-CN" altLang="en-US" dirty="0"/>
              <a:t> 访问请求均需申请防火墙策略</a:t>
            </a:r>
            <a:r>
              <a:rPr sz="172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5160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文-01  VPC 基础与规范">
            <a:extLst>
              <a:ext uri="{FF2B5EF4-FFF2-40B4-BE49-F238E27FC236}">
                <a16:creationId xmlns:a16="http://schemas.microsoft.com/office/drawing/2014/main" id="{49ED803C-FA4B-4C47-B3DC-55B64F267F9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如何实现逻辑网络-95">
            <a:extLst>
              <a:ext uri="{FF2B5EF4-FFF2-40B4-BE49-F238E27FC236}">
                <a16:creationId xmlns:a16="http://schemas.microsoft.com/office/drawing/2014/main" id="{34148957-64EC-4AA9-A29C-A5C7688AB58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如何实现逻辑网络</a:t>
            </a:r>
          </a:p>
        </p:txBody>
      </p:sp>
      <p:sp>
        <p:nvSpPr>
          <p:cNvPr id="3" name="统一风格-文字 网络虚拟化与 SDN 思路：控制面管理逻辑配置，数据面执行隔离与转发-96">
            <a:extLst>
              <a:ext uri="{FF2B5EF4-FFF2-40B4-BE49-F238E27FC236}">
                <a16:creationId xmlns:a16="http://schemas.microsoft.com/office/drawing/2014/main" id="{334260AA-7B80-43BD-B7FB-6E501599F35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网络虚拟化与 SDN 思路：控制面管理逻辑配置，数据面执行隔离与转发</a:t>
            </a:r>
          </a:p>
        </p:txBody>
      </p:sp>
      <p:cxnSp>
        <p:nvCxnSpPr>
          <p:cNvPr id="4" name="网络连接-12">
            <a:extLst>
              <a:ext uri="{FF2B5EF4-FFF2-40B4-BE49-F238E27FC236}">
                <a16:creationId xmlns:a16="http://schemas.microsoft.com/office/drawing/2014/main" id="{0CE3527D-0B96-4C13-8F34-34BE3A0B001E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原理示意：华为云公开说明使用隧道技术隔离 VPC。图中控制面与数据面为通用原理模型。">
            <a:extLst>
              <a:ext uri="{FF2B5EF4-FFF2-40B4-BE49-F238E27FC236}">
                <a16:creationId xmlns:a16="http://schemas.microsoft.com/office/drawing/2014/main" id="{0DD3099B-3CF1-4EA9-9B29-91D5AF450D7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原理示意：华为云公开说明使用隧道技术隔离 VPC。图中控制面与数据面为通用原理模型。</a:t>
            </a:r>
          </a:p>
        </p:txBody>
      </p:sp>
      <p:sp>
        <p:nvSpPr>
          <p:cNvPr id="6" name="正文-06">
            <a:extLst>
              <a:ext uri="{FF2B5EF4-FFF2-40B4-BE49-F238E27FC236}">
                <a16:creationId xmlns:a16="http://schemas.microsoft.com/office/drawing/2014/main" id="{B9FE951F-9D82-4486-9048-629AD714795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统一风格-配置入口玻璃后沿-99">
            <a:extLst>
              <a:ext uri="{FF2B5EF4-FFF2-40B4-BE49-F238E27FC236}">
                <a16:creationId xmlns:a16="http://schemas.microsoft.com/office/drawing/2014/main" id="{C36A821A-E3C7-413F-A6A7-FDF7F7EA5CCD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71750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配置入口-100">
            <a:extLst>
              <a:ext uri="{FF2B5EF4-FFF2-40B4-BE49-F238E27FC236}">
                <a16:creationId xmlns:a16="http://schemas.microsoft.com/office/drawing/2014/main" id="{0C30E289-C9AA-4A5C-8344-19C5FE98F361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71750" cy="1000125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配置入口玻璃内沿-101">
            <a:extLst>
              <a:ext uri="{FF2B5EF4-FFF2-40B4-BE49-F238E27FC236}">
                <a16:creationId xmlns:a16="http://schemas.microsoft.com/office/drawing/2014/main" id="{09903FF8-325E-4122-9DC9-55D4657A6364}"/>
              </a:ext>
            </a:extLst>
          </p:cNvPr>
          <p:cNvSpPr>
            <a:spLocks noGrp="1"/>
          </p:cNvSpPr>
          <p:nvPr/>
        </p:nvSpPr>
        <p:spPr>
          <a:xfrm>
            <a:off x="622459" y="2194084"/>
            <a:ext cx="2546033" cy="974408"/>
          </a:xfrm>
          <a:prstGeom prst="roundRect">
            <a:avLst>
              <a:gd name="adj" fmla="val 7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配置入口透光反射面-102">
            <a:extLst>
              <a:ext uri="{FF2B5EF4-FFF2-40B4-BE49-F238E27FC236}">
                <a16:creationId xmlns:a16="http://schemas.microsoft.com/office/drawing/2014/main" id="{ED801575-A8B0-4977-942C-CE47F6D9A86E}"/>
              </a:ext>
            </a:extLst>
          </p:cNvPr>
          <p:cNvSpPr>
            <a:spLocks noGrp="1"/>
          </p:cNvSpPr>
          <p:nvPr/>
        </p:nvSpPr>
        <p:spPr>
          <a:xfrm>
            <a:off x="628650" y="2200275"/>
            <a:ext cx="2533650" cy="962025"/>
          </a:xfrm>
          <a:custGeom>
            <a:avLst/>
            <a:gdLst/>
            <a:ahLst/>
            <a:cxnLst/>
            <a:rect l="0" t="0" r="0" b="0"/>
            <a:pathLst>
              <a:path w="2533650" h="962025">
                <a:moveTo>
                  <a:pt x="76200" y="0"/>
                </a:moveTo>
                <a:lnTo>
                  <a:pt x="1621536" y="0"/>
                </a:lnTo>
                <a:lnTo>
                  <a:pt x="658749" y="962025"/>
                </a:lnTo>
                <a:lnTo>
                  <a:pt x="76200" y="962025"/>
                </a:lnTo>
                <a:cubicBezTo>
                  <a:pt x="28575" y="962025"/>
                  <a:pt x="0" y="933450"/>
                  <a:pt x="0" y="885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配置入口边缘高光-103">
            <a:extLst>
              <a:ext uri="{FF2B5EF4-FFF2-40B4-BE49-F238E27FC236}">
                <a16:creationId xmlns:a16="http://schemas.microsoft.com/office/drawing/2014/main" id="{5EA37A7E-113B-4B46-AAE4-5E9E3CE4C9C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71750" cy="1000125"/>
          </a:xfrm>
          <a:custGeom>
            <a:avLst/>
            <a:gdLst/>
            <a:ahLst/>
            <a:cxnLst/>
            <a:rect l="0" t="0" r="0" b="0"/>
            <a:pathLst>
              <a:path w="2571750" h="1000125">
                <a:moveTo>
                  <a:pt x="95250" y="9525"/>
                </a:moveTo>
                <a:lnTo>
                  <a:pt x="2476500" y="9525"/>
                </a:lnTo>
                <a:cubicBezTo>
                  <a:pt x="2524125" y="9525"/>
                  <a:pt x="2562225" y="47625"/>
                  <a:pt x="2562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104">
            <a:extLst>
              <a:ext uri="{FF2B5EF4-FFF2-40B4-BE49-F238E27FC236}">
                <a16:creationId xmlns:a16="http://schemas.microsoft.com/office/drawing/2014/main" id="{634411AA-84E6-41E7-9DEF-030D25528895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105">
            <a:extLst>
              <a:ext uri="{FF2B5EF4-FFF2-40B4-BE49-F238E27FC236}">
                <a16:creationId xmlns:a16="http://schemas.microsoft.com/office/drawing/2014/main" id="{6A033D2B-42BD-4535-8332-8D84F9FBB054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2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106">
            <a:extLst>
              <a:ext uri="{FF2B5EF4-FFF2-40B4-BE49-F238E27FC236}">
                <a16:creationId xmlns:a16="http://schemas.microsoft.com/office/drawing/2014/main" id="{DD9A89AD-C997-4BE5-A127-C4DFBCBB2897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2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配置入口-107">
            <a:extLst>
              <a:ext uri="{FF2B5EF4-FFF2-40B4-BE49-F238E27FC236}">
                <a16:creationId xmlns:a16="http://schemas.microsoft.com/office/drawing/2014/main" id="{47EFE3FA-7DA5-421D-914A-7A83BB3D3E05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配置入口</a:t>
            </a:r>
          </a:p>
        </p:txBody>
      </p:sp>
      <p:sp>
        <p:nvSpPr>
          <p:cNvPr id="16" name="统一风格-文字 控制台 / API-108">
            <a:extLst>
              <a:ext uri="{FF2B5EF4-FFF2-40B4-BE49-F238E27FC236}">
                <a16:creationId xmlns:a16="http://schemas.microsoft.com/office/drawing/2014/main" id="{31DAED3E-0DD8-4086-AC8D-CE49EE4F3BAE}"/>
              </a:ext>
            </a:extLst>
          </p:cNvPr>
          <p:cNvSpPr>
            <a:spLocks noGrp="1"/>
          </p:cNvSpPr>
          <p:nvPr/>
        </p:nvSpPr>
        <p:spPr>
          <a:xfrm>
            <a:off x="1352550" y="26765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控制台 / API</a:t>
            </a:r>
          </a:p>
        </p:txBody>
      </p:sp>
      <p:cxnSp>
        <p:nvCxnSpPr>
          <p:cNvPr id="17" name="网络连接-13">
            <a:extLst>
              <a:ext uri="{FF2B5EF4-FFF2-40B4-BE49-F238E27FC236}">
                <a16:creationId xmlns:a16="http://schemas.microsoft.com/office/drawing/2014/main" id="{15CC5CC1-8318-40F6-B2B2-A66512A946DF}"/>
              </a:ext>
            </a:extLst>
          </p:cNvPr>
          <p:cNvCxnSpPr/>
          <p:nvPr/>
        </p:nvCxnSpPr>
        <p:spPr>
          <a:xfrm>
            <a:off x="3181350" y="2676525"/>
            <a:ext cx="53340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8" name="统一风格-网络控制面玻璃后沿-109">
            <a:extLst>
              <a:ext uri="{FF2B5EF4-FFF2-40B4-BE49-F238E27FC236}">
                <a16:creationId xmlns:a16="http://schemas.microsoft.com/office/drawing/2014/main" id="{5DB24154-EC99-42B9-9F6C-30B3BA49493A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867650" cy="1171575"/>
          </a:xfrm>
          <a:prstGeom prst="roundRect">
            <a:avLst>
              <a:gd name="adj" fmla="val 73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统一风格-网络控制面-110">
            <a:extLst>
              <a:ext uri="{FF2B5EF4-FFF2-40B4-BE49-F238E27FC236}">
                <a16:creationId xmlns:a16="http://schemas.microsoft.com/office/drawing/2014/main" id="{2A934220-20D3-4558-8F90-01B08AA1514D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867650" cy="1171575"/>
          </a:xfrm>
          <a:prstGeom prst="roundRect">
            <a:avLst>
              <a:gd name="adj" fmla="val 73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网络控制面玻璃内沿-111">
            <a:extLst>
              <a:ext uri="{FF2B5EF4-FFF2-40B4-BE49-F238E27FC236}">
                <a16:creationId xmlns:a16="http://schemas.microsoft.com/office/drawing/2014/main" id="{647E2378-E605-4BC5-817A-1D3EC38B1B58}"/>
              </a:ext>
            </a:extLst>
          </p:cNvPr>
          <p:cNvSpPr>
            <a:spLocks noGrp="1"/>
          </p:cNvSpPr>
          <p:nvPr/>
        </p:nvSpPr>
        <p:spPr>
          <a:xfrm>
            <a:off x="3727609" y="2108359"/>
            <a:ext cx="7841933" cy="1145858"/>
          </a:xfrm>
          <a:prstGeom prst="roundRect">
            <a:avLst>
              <a:gd name="adj" fmla="val 64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网络控制面透光反射面-112">
            <a:extLst>
              <a:ext uri="{FF2B5EF4-FFF2-40B4-BE49-F238E27FC236}">
                <a16:creationId xmlns:a16="http://schemas.microsoft.com/office/drawing/2014/main" id="{793749A3-F9FD-4503-B969-801FC7183838}"/>
              </a:ext>
            </a:extLst>
          </p:cNvPr>
          <p:cNvSpPr>
            <a:spLocks noGrp="1"/>
          </p:cNvSpPr>
          <p:nvPr/>
        </p:nvSpPr>
        <p:spPr>
          <a:xfrm>
            <a:off x="3733800" y="2114550"/>
            <a:ext cx="7829550" cy="1133475"/>
          </a:xfrm>
          <a:custGeom>
            <a:avLst/>
            <a:gdLst/>
            <a:ahLst/>
            <a:cxnLst/>
            <a:rect l="0" t="0" r="0" b="0"/>
            <a:pathLst>
              <a:path w="7829550" h="1133475">
                <a:moveTo>
                  <a:pt x="76200" y="0"/>
                </a:moveTo>
                <a:lnTo>
                  <a:pt x="5010912" y="0"/>
                </a:lnTo>
                <a:lnTo>
                  <a:pt x="2035683" y="1133475"/>
                </a:lnTo>
                <a:lnTo>
                  <a:pt x="76200" y="1133475"/>
                </a:lnTo>
                <a:cubicBezTo>
                  <a:pt x="28575" y="1133475"/>
                  <a:pt x="0" y="1104900"/>
                  <a:pt x="0" y="10572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网络控制面边缘高光-113">
            <a:extLst>
              <a:ext uri="{FF2B5EF4-FFF2-40B4-BE49-F238E27FC236}">
                <a16:creationId xmlns:a16="http://schemas.microsoft.com/office/drawing/2014/main" id="{D7FCEC28-9488-4673-976E-AA0D3FDFDAA8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867650" cy="1171575"/>
          </a:xfrm>
          <a:custGeom>
            <a:avLst/>
            <a:gdLst/>
            <a:ahLst/>
            <a:cxnLst/>
            <a:rect l="0" t="0" r="0" b="0"/>
            <a:pathLst>
              <a:path w="7867650" h="1171575">
                <a:moveTo>
                  <a:pt x="95250" y="9525"/>
                </a:moveTo>
                <a:lnTo>
                  <a:pt x="7772400" y="9525"/>
                </a:lnTo>
                <a:cubicBezTo>
                  <a:pt x="7820025" y="9525"/>
                  <a:pt x="7858125" y="47625"/>
                  <a:pt x="78581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文字 控制面-114">
            <a:extLst>
              <a:ext uri="{FF2B5EF4-FFF2-40B4-BE49-F238E27FC236}">
                <a16:creationId xmlns:a16="http://schemas.microsoft.com/office/drawing/2014/main" id="{03658053-29AA-494C-B068-9C472B6E0100}"/>
              </a:ext>
            </a:extLst>
          </p:cNvPr>
          <p:cNvSpPr>
            <a:spLocks noGrp="1"/>
          </p:cNvSpPr>
          <p:nvPr/>
        </p:nvSpPr>
        <p:spPr>
          <a:xfrm>
            <a:off x="3924300" y="2228850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24" name="统一风格-文字 维护逻辑对象，计算并分发转发与隔离策略-115">
            <a:extLst>
              <a:ext uri="{FF2B5EF4-FFF2-40B4-BE49-F238E27FC236}">
                <a16:creationId xmlns:a16="http://schemas.microsoft.com/office/drawing/2014/main" id="{7D47C5CB-CFEA-4C69-A2F4-DF31F712CEE0}"/>
              </a:ext>
            </a:extLst>
          </p:cNvPr>
          <p:cNvSpPr>
            <a:spLocks noGrp="1"/>
          </p:cNvSpPr>
          <p:nvPr/>
        </p:nvSpPr>
        <p:spPr>
          <a:xfrm>
            <a:off x="5410200" y="2228850"/>
            <a:ext cx="5867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维护逻辑对象，计算并分发转发与隔离策略</a:t>
            </a:r>
          </a:p>
        </p:txBody>
      </p:sp>
      <p:sp>
        <p:nvSpPr>
          <p:cNvPr id="25" name="统一风格-文字 VPC / 子网 / 网卡 / 路由表 / 访问控制-116">
            <a:extLst>
              <a:ext uri="{FF2B5EF4-FFF2-40B4-BE49-F238E27FC236}">
                <a16:creationId xmlns:a16="http://schemas.microsoft.com/office/drawing/2014/main" id="{858314A6-F286-4B35-BD2E-45EEF90CB3F1}"/>
              </a:ext>
            </a:extLst>
          </p:cNvPr>
          <p:cNvSpPr>
            <a:spLocks noGrp="1"/>
          </p:cNvSpPr>
          <p:nvPr/>
        </p:nvSpPr>
        <p:spPr>
          <a:xfrm>
            <a:off x="3924300" y="2714625"/>
            <a:ext cx="7239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/ 子网 / 网卡 / 路由表 / 访问控制</a:t>
            </a:r>
          </a:p>
        </p:txBody>
      </p:sp>
      <p:cxnSp>
        <p:nvCxnSpPr>
          <p:cNvPr id="26" name="网络连接-14">
            <a:extLst>
              <a:ext uri="{FF2B5EF4-FFF2-40B4-BE49-F238E27FC236}">
                <a16:creationId xmlns:a16="http://schemas.microsoft.com/office/drawing/2014/main" id="{79875D49-23E6-4375-84FD-79437D161836}"/>
              </a:ext>
            </a:extLst>
          </p:cNvPr>
          <p:cNvCxnSpPr/>
          <p:nvPr/>
        </p:nvCxnSpPr>
        <p:spPr>
          <a:xfrm>
            <a:off x="7629525" y="3267075"/>
            <a:ext cx="0" cy="47625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27" name="统一风格-业务数据面玻璃后沿-117">
            <a:extLst>
              <a:ext uri="{FF2B5EF4-FFF2-40B4-BE49-F238E27FC236}">
                <a16:creationId xmlns:a16="http://schemas.microsoft.com/office/drawing/2014/main" id="{534E0BF2-2985-4FA5-A582-A34FC5ADEC07}"/>
              </a:ext>
            </a:extLst>
          </p:cNvPr>
          <p:cNvSpPr>
            <a:spLocks noGrp="1"/>
          </p:cNvSpPr>
          <p:nvPr/>
        </p:nvSpPr>
        <p:spPr>
          <a:xfrm>
            <a:off x="3714750" y="3743325"/>
            <a:ext cx="786765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统一风格-业务数据面-118">
            <a:extLst>
              <a:ext uri="{FF2B5EF4-FFF2-40B4-BE49-F238E27FC236}">
                <a16:creationId xmlns:a16="http://schemas.microsoft.com/office/drawing/2014/main" id="{F36CEA92-1D49-4C6C-99A7-4D63B41A2863}"/>
              </a:ext>
            </a:extLst>
          </p:cNvPr>
          <p:cNvSpPr>
            <a:spLocks noGrp="1"/>
          </p:cNvSpPr>
          <p:nvPr/>
        </p:nvSpPr>
        <p:spPr>
          <a:xfrm>
            <a:off x="3714750" y="3743325"/>
            <a:ext cx="7867650" cy="1333500"/>
          </a:xfrm>
          <a:prstGeom prst="roundRect">
            <a:avLst>
              <a:gd name="adj" fmla="val 64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业务数据面玻璃内沿-119">
            <a:extLst>
              <a:ext uri="{FF2B5EF4-FFF2-40B4-BE49-F238E27FC236}">
                <a16:creationId xmlns:a16="http://schemas.microsoft.com/office/drawing/2014/main" id="{E2B0B14A-8F43-4DEA-8988-94C565115B8F}"/>
              </a:ext>
            </a:extLst>
          </p:cNvPr>
          <p:cNvSpPr>
            <a:spLocks noGrp="1"/>
          </p:cNvSpPr>
          <p:nvPr/>
        </p:nvSpPr>
        <p:spPr>
          <a:xfrm>
            <a:off x="3727609" y="3756184"/>
            <a:ext cx="7841933" cy="1307783"/>
          </a:xfrm>
          <a:prstGeom prst="roundRect">
            <a:avLst>
              <a:gd name="adj" fmla="val 56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业务数据面透光反射面-120">
            <a:extLst>
              <a:ext uri="{FF2B5EF4-FFF2-40B4-BE49-F238E27FC236}">
                <a16:creationId xmlns:a16="http://schemas.microsoft.com/office/drawing/2014/main" id="{86FB8606-0869-4A87-AD0E-BDC3BC0F050F}"/>
              </a:ext>
            </a:extLst>
          </p:cNvPr>
          <p:cNvSpPr>
            <a:spLocks noGrp="1"/>
          </p:cNvSpPr>
          <p:nvPr/>
        </p:nvSpPr>
        <p:spPr>
          <a:xfrm>
            <a:off x="3733800" y="3762375"/>
            <a:ext cx="7829550" cy="1295400"/>
          </a:xfrm>
          <a:custGeom>
            <a:avLst/>
            <a:gdLst/>
            <a:ahLst/>
            <a:cxnLst/>
            <a:rect l="0" t="0" r="0" b="0"/>
            <a:pathLst>
              <a:path w="7829550" h="1295400">
                <a:moveTo>
                  <a:pt x="76200" y="0"/>
                </a:moveTo>
                <a:lnTo>
                  <a:pt x="5010912" y="0"/>
                </a:lnTo>
                <a:lnTo>
                  <a:pt x="2035683" y="1295400"/>
                </a:lnTo>
                <a:lnTo>
                  <a:pt x="76200" y="1295400"/>
                </a:lnTo>
                <a:cubicBezTo>
                  <a:pt x="28575" y="1295400"/>
                  <a:pt x="0" y="1266825"/>
                  <a:pt x="0" y="1219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业务数据面边缘高光-121">
            <a:extLst>
              <a:ext uri="{FF2B5EF4-FFF2-40B4-BE49-F238E27FC236}">
                <a16:creationId xmlns:a16="http://schemas.microsoft.com/office/drawing/2014/main" id="{959FA70A-F55C-4855-868E-59E3F79C0EB4}"/>
              </a:ext>
            </a:extLst>
          </p:cNvPr>
          <p:cNvSpPr>
            <a:spLocks noGrp="1"/>
          </p:cNvSpPr>
          <p:nvPr/>
        </p:nvSpPr>
        <p:spPr>
          <a:xfrm>
            <a:off x="3714750" y="3743325"/>
            <a:ext cx="7867650" cy="1333500"/>
          </a:xfrm>
          <a:custGeom>
            <a:avLst/>
            <a:gdLst/>
            <a:ahLst/>
            <a:cxnLst/>
            <a:rect l="0" t="0" r="0" b="0"/>
            <a:pathLst>
              <a:path w="7867650" h="1333500">
                <a:moveTo>
                  <a:pt x="95250" y="9525"/>
                </a:moveTo>
                <a:lnTo>
                  <a:pt x="7772400" y="9525"/>
                </a:lnTo>
                <a:cubicBezTo>
                  <a:pt x="7820025" y="9525"/>
                  <a:pt x="7858125" y="47625"/>
                  <a:pt x="78581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文字 数据面-122">
            <a:extLst>
              <a:ext uri="{FF2B5EF4-FFF2-40B4-BE49-F238E27FC236}">
                <a16:creationId xmlns:a16="http://schemas.microsoft.com/office/drawing/2014/main" id="{8544EF4C-84F7-4718-A092-ACA7C9CB3053}"/>
              </a:ext>
            </a:extLst>
          </p:cNvPr>
          <p:cNvSpPr>
            <a:spLocks noGrp="1"/>
          </p:cNvSpPr>
          <p:nvPr/>
        </p:nvSpPr>
        <p:spPr>
          <a:xfrm>
            <a:off x="3924300" y="3876675"/>
            <a:ext cx="138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33" name="统一风格-文字 执行隔离与转发，承载真实业务流量-123">
            <a:extLst>
              <a:ext uri="{FF2B5EF4-FFF2-40B4-BE49-F238E27FC236}">
                <a16:creationId xmlns:a16="http://schemas.microsoft.com/office/drawing/2014/main" id="{78A3C4E9-513C-4F1E-8E7E-1251AFAC7129}"/>
              </a:ext>
            </a:extLst>
          </p:cNvPr>
          <p:cNvSpPr>
            <a:spLocks noGrp="1"/>
          </p:cNvSpPr>
          <p:nvPr/>
        </p:nvSpPr>
        <p:spPr>
          <a:xfrm>
            <a:off x="5410200" y="3876675"/>
            <a:ext cx="5867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执行隔离与转发，承载真实业务流量</a:t>
            </a:r>
          </a:p>
        </p:txBody>
      </p:sp>
      <p:sp>
        <p:nvSpPr>
          <p:cNvPr id="34" name="统一风格-server 服务器机架-124">
            <a:extLst>
              <a:ext uri="{FF2B5EF4-FFF2-40B4-BE49-F238E27FC236}">
                <a16:creationId xmlns:a16="http://schemas.microsoft.com/office/drawing/2014/main" id="{2F17BA4F-E264-4749-8488-6EE1A4C32C68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机架状态-125">
            <a:extLst>
              <a:ext uri="{FF2B5EF4-FFF2-40B4-BE49-F238E27FC236}">
                <a16:creationId xmlns:a16="http://schemas.microsoft.com/office/drawing/2014/main" id="{D79AD0F5-7B7F-44BA-9C73-A6C3462AFA6B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指示灯-126">
            <a:extLst>
              <a:ext uri="{FF2B5EF4-FFF2-40B4-BE49-F238E27FC236}">
                <a16:creationId xmlns:a16="http://schemas.microsoft.com/office/drawing/2014/main" id="{73E5AFD0-391D-42B3-8808-E8D4DD945706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erver 服务器机架-127">
            <a:extLst>
              <a:ext uri="{FF2B5EF4-FFF2-40B4-BE49-F238E27FC236}">
                <a16:creationId xmlns:a16="http://schemas.microsoft.com/office/drawing/2014/main" id="{590DBB89-0549-4859-8E2E-F758A4A290D3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server 机架状态-128">
            <a:extLst>
              <a:ext uri="{FF2B5EF4-FFF2-40B4-BE49-F238E27FC236}">
                <a16:creationId xmlns:a16="http://schemas.microsoft.com/office/drawing/2014/main" id="{0A9B3378-4BBB-4B86-B004-DA80EB61C9CB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指示灯-129">
            <a:extLst>
              <a:ext uri="{FF2B5EF4-FFF2-40B4-BE49-F238E27FC236}">
                <a16:creationId xmlns:a16="http://schemas.microsoft.com/office/drawing/2014/main" id="{6E516B25-22BD-4BCB-BF0F-3AFE65F47E66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server 服务器机架-130">
            <a:extLst>
              <a:ext uri="{FF2B5EF4-FFF2-40B4-BE49-F238E27FC236}">
                <a16:creationId xmlns:a16="http://schemas.microsoft.com/office/drawing/2014/main" id="{F08119CC-8E4E-422A-A07D-417108ED5970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server 机架状态-131">
            <a:extLst>
              <a:ext uri="{FF2B5EF4-FFF2-40B4-BE49-F238E27FC236}">
                <a16:creationId xmlns:a16="http://schemas.microsoft.com/office/drawing/2014/main" id="{7B723C2A-A114-43F4-A2E5-4B37766F11F6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server 指示灯-132">
            <a:extLst>
              <a:ext uri="{FF2B5EF4-FFF2-40B4-BE49-F238E27FC236}">
                <a16:creationId xmlns:a16="http://schemas.microsoft.com/office/drawing/2014/main" id="{58CB9BB7-13F9-461C-804F-AE157D762655}"/>
              </a:ext>
            </a:extLst>
          </p:cNvPr>
          <p:cNvSpPr>
            <a:spLocks noGrp="1"/>
          </p:cNvSpPr>
          <p:nvPr/>
        </p:nvSpPr>
        <p:spPr>
          <a:xfrm>
            <a:off x="3971925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源实例-133">
            <a:extLst>
              <a:ext uri="{FF2B5EF4-FFF2-40B4-BE49-F238E27FC236}">
                <a16:creationId xmlns:a16="http://schemas.microsoft.com/office/drawing/2014/main" id="{F6E895DE-59FC-4776-ABD6-83BEC543C3C5}"/>
              </a:ext>
            </a:extLst>
          </p:cNvPr>
          <p:cNvSpPr>
            <a:spLocks noGrp="1"/>
          </p:cNvSpPr>
          <p:nvPr/>
        </p:nvSpPr>
        <p:spPr>
          <a:xfrm>
            <a:off x="4543425" y="4391025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源实例</a:t>
            </a:r>
          </a:p>
        </p:txBody>
      </p:sp>
      <p:cxnSp>
        <p:nvCxnSpPr>
          <p:cNvPr id="44" name="网络连接-15">
            <a:extLst>
              <a:ext uri="{FF2B5EF4-FFF2-40B4-BE49-F238E27FC236}">
                <a16:creationId xmlns:a16="http://schemas.microsoft.com/office/drawing/2014/main" id="{1F5CE67A-1C71-4636-86CA-5FE90054E4DA}"/>
              </a:ext>
            </a:extLst>
          </p:cNvPr>
          <p:cNvCxnSpPr/>
          <p:nvPr/>
        </p:nvCxnSpPr>
        <p:spPr>
          <a:xfrm>
            <a:off x="5800725" y="4591050"/>
            <a:ext cx="360045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5" name="统一风格-文字 逻辑网络内的受控转发-134">
            <a:extLst>
              <a:ext uri="{FF2B5EF4-FFF2-40B4-BE49-F238E27FC236}">
                <a16:creationId xmlns:a16="http://schemas.microsoft.com/office/drawing/2014/main" id="{B63A8516-7391-42B4-997D-0BBBDE606489}"/>
              </a:ext>
            </a:extLst>
          </p:cNvPr>
          <p:cNvSpPr>
            <a:spLocks noGrp="1"/>
          </p:cNvSpPr>
          <p:nvPr/>
        </p:nvSpPr>
        <p:spPr>
          <a:xfrm>
            <a:off x="6086475" y="4238625"/>
            <a:ext cx="3057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逻辑网络内的受控转发</a:t>
            </a:r>
          </a:p>
        </p:txBody>
      </p:sp>
      <p:sp>
        <p:nvSpPr>
          <p:cNvPr id="46" name="统一风格-server 服务器机架-135">
            <a:extLst>
              <a:ext uri="{FF2B5EF4-FFF2-40B4-BE49-F238E27FC236}">
                <a16:creationId xmlns:a16="http://schemas.microsoft.com/office/drawing/2014/main" id="{4954622D-35EE-457C-809D-612964723B48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机架状态-136">
            <a:extLst>
              <a:ext uri="{FF2B5EF4-FFF2-40B4-BE49-F238E27FC236}">
                <a16:creationId xmlns:a16="http://schemas.microsoft.com/office/drawing/2014/main" id="{956E459F-E46B-462D-8720-024BCD81E5E1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server 指示灯-137">
            <a:extLst>
              <a:ext uri="{FF2B5EF4-FFF2-40B4-BE49-F238E27FC236}">
                <a16:creationId xmlns:a16="http://schemas.microsoft.com/office/drawing/2014/main" id="{3FC89CAA-07D8-4F9A-A258-54725778C3F9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server 服务器机架-138">
            <a:extLst>
              <a:ext uri="{FF2B5EF4-FFF2-40B4-BE49-F238E27FC236}">
                <a16:creationId xmlns:a16="http://schemas.microsoft.com/office/drawing/2014/main" id="{1F29F81D-A628-4F3C-B18D-258A8BA528BC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server 机架状态-139">
            <a:extLst>
              <a:ext uri="{FF2B5EF4-FFF2-40B4-BE49-F238E27FC236}">
                <a16:creationId xmlns:a16="http://schemas.microsoft.com/office/drawing/2014/main" id="{D0B549F1-FF72-4C50-9E70-658B8E6F97D9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erver 指示灯-140">
            <a:extLst>
              <a:ext uri="{FF2B5EF4-FFF2-40B4-BE49-F238E27FC236}">
                <a16:creationId xmlns:a16="http://schemas.microsoft.com/office/drawing/2014/main" id="{52265AD5-61FC-44E3-AAF6-9DCCF8F21D09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server 服务器机架-141">
            <a:extLst>
              <a:ext uri="{FF2B5EF4-FFF2-40B4-BE49-F238E27FC236}">
                <a16:creationId xmlns:a16="http://schemas.microsoft.com/office/drawing/2014/main" id="{C7C77F44-5EF5-4ACE-A5CF-43C6C7F96827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server 机架状态-142">
            <a:extLst>
              <a:ext uri="{FF2B5EF4-FFF2-40B4-BE49-F238E27FC236}">
                <a16:creationId xmlns:a16="http://schemas.microsoft.com/office/drawing/2014/main" id="{EB13FCFB-50EF-41F3-8340-692FD0792B16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server 指示灯-143">
            <a:extLst>
              <a:ext uri="{FF2B5EF4-FFF2-40B4-BE49-F238E27FC236}">
                <a16:creationId xmlns:a16="http://schemas.microsoft.com/office/drawing/2014/main" id="{250EE8CA-6425-4A92-BBE5-BB84E236F3FE}"/>
              </a:ext>
            </a:extLst>
          </p:cNvPr>
          <p:cNvSpPr>
            <a:spLocks noGrp="1"/>
          </p:cNvSpPr>
          <p:nvPr/>
        </p:nvSpPr>
        <p:spPr>
          <a:xfrm>
            <a:off x="9620250" y="43910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目标实例-144">
            <a:extLst>
              <a:ext uri="{FF2B5EF4-FFF2-40B4-BE49-F238E27FC236}">
                <a16:creationId xmlns:a16="http://schemas.microsoft.com/office/drawing/2014/main" id="{F8C1D430-69D1-4259-9D50-A09CC0CD59AE}"/>
              </a:ext>
            </a:extLst>
          </p:cNvPr>
          <p:cNvSpPr>
            <a:spLocks noGrp="1"/>
          </p:cNvSpPr>
          <p:nvPr/>
        </p:nvSpPr>
        <p:spPr>
          <a:xfrm>
            <a:off x="10182225" y="4391025"/>
            <a:ext cx="12668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目标实例</a:t>
            </a:r>
          </a:p>
        </p:txBody>
      </p:sp>
      <p:cxnSp>
        <p:nvCxnSpPr>
          <p:cNvPr id="56" name="网络连接-16">
            <a:extLst>
              <a:ext uri="{FF2B5EF4-FFF2-40B4-BE49-F238E27FC236}">
                <a16:creationId xmlns:a16="http://schemas.microsoft.com/office/drawing/2014/main" id="{30D05EDA-D177-4BED-8698-F6FD3918DE1A}"/>
              </a:ext>
            </a:extLst>
          </p:cNvPr>
          <p:cNvCxnSpPr/>
          <p:nvPr/>
        </p:nvCxnSpPr>
        <p:spPr>
          <a:xfrm>
            <a:off x="609600" y="3686175"/>
            <a:ext cx="2628900" cy="0"/>
          </a:xfrm>
          <a:prstGeom prst="straightConnector1">
            <a:avLst/>
          </a:prstGeom>
          <a:ln w="7620">
            <a:solidFill>
              <a:srgbClr val="C5D6F0"/>
            </a:solidFill>
            <a:prstDash val="solid"/>
          </a:ln>
        </p:spPr>
      </p:cxnSp>
      <p:sp>
        <p:nvSpPr>
          <p:cNvPr id="57" name="统一风格-文字 共享底座-145">
            <a:extLst>
              <a:ext uri="{FF2B5EF4-FFF2-40B4-BE49-F238E27FC236}">
                <a16:creationId xmlns:a16="http://schemas.microsoft.com/office/drawing/2014/main" id="{6215DC5D-236A-4BEB-AA8B-35313C2248CC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共享底座</a:t>
            </a:r>
          </a:p>
        </p:txBody>
      </p:sp>
      <p:sp>
        <p:nvSpPr>
          <p:cNvPr id="58" name="统一风格-文字 物理网络和虚拟化设施 支撑多个隔离的 VPC。-146">
            <a:extLst>
              <a:ext uri="{FF2B5EF4-FFF2-40B4-BE49-F238E27FC236}">
                <a16:creationId xmlns:a16="http://schemas.microsoft.com/office/drawing/2014/main" id="{20659AA1-7808-42D6-B889-2C94329461A4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2628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物理网络和虚拟化设施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支撑多个隔离的 VPC。</a:t>
            </a:r>
          </a:p>
        </p:txBody>
      </p:sp>
      <p:sp>
        <p:nvSpPr>
          <p:cNvPr id="59" name="统一风格-运维关注玻璃后沿-147">
            <a:extLst>
              <a:ext uri="{FF2B5EF4-FFF2-40B4-BE49-F238E27FC236}">
                <a16:creationId xmlns:a16="http://schemas.microsoft.com/office/drawing/2014/main" id="{3DA9662D-DB69-4796-A2E7-A30D04DB1A9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运维关注-148">
            <a:extLst>
              <a:ext uri="{FF2B5EF4-FFF2-40B4-BE49-F238E27FC236}">
                <a16:creationId xmlns:a16="http://schemas.microsoft.com/office/drawing/2014/main" id="{5523F4B6-02A1-4DF7-8DD2-4BEE78B0FB90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运维关注玻璃内沿-149">
            <a:extLst>
              <a:ext uri="{FF2B5EF4-FFF2-40B4-BE49-F238E27FC236}">
                <a16:creationId xmlns:a16="http://schemas.microsoft.com/office/drawing/2014/main" id="{C4D4C96F-C545-482A-ABF6-0C5F6655F9AC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运维关注边缘高光-150">
            <a:extLst>
              <a:ext uri="{FF2B5EF4-FFF2-40B4-BE49-F238E27FC236}">
                <a16:creationId xmlns:a16="http://schemas.microsoft.com/office/drawing/2014/main" id="{0C131869-95D6-4338-AFDF-3CB1CF70388C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文字 运维关注-151">
            <a:extLst>
              <a:ext uri="{FF2B5EF4-FFF2-40B4-BE49-F238E27FC236}">
                <a16:creationId xmlns:a16="http://schemas.microsoft.com/office/drawing/2014/main" id="{B9714C21-7557-403F-9E78-7D287D63D3E8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隔离与加密</a:t>
            </a:r>
          </a:p>
        </p:txBody>
      </p:sp>
      <p:sp>
        <p:nvSpPr>
          <p:cNvPr id="64" name="统一风格-文字 配置对象是否正确、策略是否生效、业务包是否经过预期路径。-152">
            <a:extLst>
              <a:ext uri="{FF2B5EF4-FFF2-40B4-BE49-F238E27FC236}">
                <a16:creationId xmlns:a16="http://schemas.microsoft.com/office/drawing/2014/main" id="{8EB41EC0-6A8E-4D72-9CC8-95A2C05EE736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逻辑隔离依赖隧道与转发策略；敏感业务仍需 TLS 等加密。</a:t>
            </a:r>
          </a:p>
        </p:txBody>
      </p:sp>
    </p:spTree>
    <p:extLst>
      <p:ext uri="{BB962C8B-B14F-4D97-AF65-F5344CB8AC3E}">
        <p14:creationId xmlns:p14="http://schemas.microsoft.com/office/powerpoint/2010/main" val="185061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正文-01  VPC 基础与规范">
            <a:extLst>
              <a:ext uri="{FF2B5EF4-FFF2-40B4-BE49-F238E27FC236}">
                <a16:creationId xmlns:a16="http://schemas.microsoft.com/office/drawing/2014/main" id="{F5D261A1-1B07-411A-B30E-CFC696197E4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Overlay 与 Underlay：逻辑网络与承载网络-154">
            <a:extLst>
              <a:ext uri="{FF2B5EF4-FFF2-40B4-BE49-F238E27FC236}">
                <a16:creationId xmlns:a16="http://schemas.microsoft.com/office/drawing/2014/main" id="{7210DCF0-548F-4FF9-B0A5-2A27FCE6802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Overlay 与 Underlay：逻辑网络与承载网络</a:t>
            </a:r>
          </a:p>
        </p:txBody>
      </p:sp>
      <p:sp>
        <p:nvSpPr>
          <p:cNvPr id="3" name="统一风格-文字 封装把租户报文放入隧道，底层 IP 网络负责送达隧道对端-155">
            <a:extLst>
              <a:ext uri="{FF2B5EF4-FFF2-40B4-BE49-F238E27FC236}">
                <a16:creationId xmlns:a16="http://schemas.microsoft.com/office/drawing/2014/main" id="{EFA3B7C1-1C10-48E8-BE05-7BE44A127B8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封装把租户报文放入隧道，底层 IP 网络负责送达隧道对端</a:t>
            </a:r>
          </a:p>
        </p:txBody>
      </p:sp>
      <p:cxnSp>
        <p:nvCxnSpPr>
          <p:cNvPr id="4" name="网络连接-17">
            <a:extLst>
              <a:ext uri="{FF2B5EF4-FFF2-40B4-BE49-F238E27FC236}">
                <a16:creationId xmlns:a16="http://schemas.microsoft.com/office/drawing/2014/main" id="{941E4058-AEC3-4A8A-8850-C8FC9F53CC4F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VXLAN 为 RFC 7348 标准技术示例，用于解释原理，不指认华为云具体区域的内部封装。-156">
            <a:extLst>
              <a:ext uri="{FF2B5EF4-FFF2-40B4-BE49-F238E27FC236}">
                <a16:creationId xmlns:a16="http://schemas.microsoft.com/office/drawing/2014/main" id="{138380E5-42A4-4D74-8931-9376F5BB85B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VXLAN 为 RFC 7348 标准技术示例，用于解释原理，不指认华为云具体区域的内部封装。</a:t>
            </a:r>
          </a:p>
        </p:txBody>
      </p:sp>
      <p:sp>
        <p:nvSpPr>
          <p:cNvPr id="6" name="正文-07">
            <a:extLst>
              <a:ext uri="{FF2B5EF4-FFF2-40B4-BE49-F238E27FC236}">
                <a16:creationId xmlns:a16="http://schemas.microsoft.com/office/drawing/2014/main" id="{715DAD4B-F0B4-4712-9280-356B39697EE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统一风格-租户源实例玻璃后沿-158">
            <a:extLst>
              <a:ext uri="{FF2B5EF4-FFF2-40B4-BE49-F238E27FC236}">
                <a16:creationId xmlns:a16="http://schemas.microsoft.com/office/drawing/2014/main" id="{9372D1FD-BE44-4F1F-91D1-6842F4BBFF19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租户源实例-159">
            <a:extLst>
              <a:ext uri="{FF2B5EF4-FFF2-40B4-BE49-F238E27FC236}">
                <a16:creationId xmlns:a16="http://schemas.microsoft.com/office/drawing/2014/main" id="{55DF5B58-0253-42B9-9F41-D79289EB6781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租户源实例玻璃内沿-160">
            <a:extLst>
              <a:ext uri="{FF2B5EF4-FFF2-40B4-BE49-F238E27FC236}">
                <a16:creationId xmlns:a16="http://schemas.microsoft.com/office/drawing/2014/main" id="{98EF2974-91A4-43E1-87A0-A8A564EB7038}"/>
              </a:ext>
            </a:extLst>
          </p:cNvPr>
          <p:cNvSpPr>
            <a:spLocks noGrp="1"/>
          </p:cNvSpPr>
          <p:nvPr/>
        </p:nvSpPr>
        <p:spPr>
          <a:xfrm>
            <a:off x="622459" y="2194084"/>
            <a:ext cx="2565083" cy="907733"/>
          </a:xfrm>
          <a:prstGeom prst="roundRect">
            <a:avLst>
              <a:gd name="adj" fmla="val 808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租户源实例透光反射面-161">
            <a:extLst>
              <a:ext uri="{FF2B5EF4-FFF2-40B4-BE49-F238E27FC236}">
                <a16:creationId xmlns:a16="http://schemas.microsoft.com/office/drawing/2014/main" id="{91FF176A-AD4D-4D90-93E0-962A7E00A029}"/>
              </a:ext>
            </a:extLst>
          </p:cNvPr>
          <p:cNvSpPr>
            <a:spLocks noGrp="1"/>
          </p:cNvSpPr>
          <p:nvPr/>
        </p:nvSpPr>
        <p:spPr>
          <a:xfrm>
            <a:off x="628650" y="2200275"/>
            <a:ext cx="2552700" cy="895350"/>
          </a:xfrm>
          <a:custGeom>
            <a:avLst/>
            <a:gdLst/>
            <a:ahLst/>
            <a:cxnLst/>
            <a:rect l="0" t="0" r="0" b="0"/>
            <a:pathLst>
              <a:path w="2552700" h="895350">
                <a:moveTo>
                  <a:pt x="76200" y="0"/>
                </a:moveTo>
                <a:lnTo>
                  <a:pt x="1633728" y="0"/>
                </a:lnTo>
                <a:lnTo>
                  <a:pt x="663702" y="895350"/>
                </a:lnTo>
                <a:lnTo>
                  <a:pt x="76200" y="895350"/>
                </a:lnTo>
                <a:cubicBezTo>
                  <a:pt x="28575" y="895350"/>
                  <a:pt x="0" y="866775"/>
                  <a:pt x="0" y="8191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租户源实例边缘高光-162">
            <a:extLst>
              <a:ext uri="{FF2B5EF4-FFF2-40B4-BE49-F238E27FC236}">
                <a16:creationId xmlns:a16="http://schemas.microsoft.com/office/drawing/2014/main" id="{FE26C93C-DB98-4D20-A223-5ACB75CCED3C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590800" cy="933450"/>
          </a:xfrm>
          <a:custGeom>
            <a:avLst/>
            <a:gdLst/>
            <a:ahLst/>
            <a:cxnLst/>
            <a:rect l="0" t="0" r="0" b="0"/>
            <a:pathLst>
              <a:path w="2590800" h="933450">
                <a:moveTo>
                  <a:pt x="95250" y="9525"/>
                </a:moveTo>
                <a:lnTo>
                  <a:pt x="2495550" y="9525"/>
                </a:lnTo>
                <a:cubicBezTo>
                  <a:pt x="2543175" y="9525"/>
                  <a:pt x="2581275" y="47625"/>
                  <a:pt x="2581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erver 服务器机架-163">
            <a:extLst>
              <a:ext uri="{FF2B5EF4-FFF2-40B4-BE49-F238E27FC236}">
                <a16:creationId xmlns:a16="http://schemas.microsoft.com/office/drawing/2014/main" id="{833B7053-1AFB-4D46-B774-243F47B96031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server 机架状态-164">
            <a:extLst>
              <a:ext uri="{FF2B5EF4-FFF2-40B4-BE49-F238E27FC236}">
                <a16:creationId xmlns:a16="http://schemas.microsoft.com/office/drawing/2014/main" id="{73BAFB50-4E5C-4547-94CE-1273B29022BC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erver 指示灯-165">
            <a:extLst>
              <a:ext uri="{FF2B5EF4-FFF2-40B4-BE49-F238E27FC236}">
                <a16:creationId xmlns:a16="http://schemas.microsoft.com/office/drawing/2014/main" id="{B26E8903-6C59-4887-AF66-4AF563B727B7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erver 服务器机架-166">
            <a:extLst>
              <a:ext uri="{FF2B5EF4-FFF2-40B4-BE49-F238E27FC236}">
                <a16:creationId xmlns:a16="http://schemas.microsoft.com/office/drawing/2014/main" id="{16A666E4-5494-4EC2-9A34-C9899A99F753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erver 机架状态-167">
            <a:extLst>
              <a:ext uri="{FF2B5EF4-FFF2-40B4-BE49-F238E27FC236}">
                <a16:creationId xmlns:a16="http://schemas.microsoft.com/office/drawing/2014/main" id="{BF2F55DF-628A-425D-A153-2E7C6445BC18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指示灯-168">
            <a:extLst>
              <a:ext uri="{FF2B5EF4-FFF2-40B4-BE49-F238E27FC236}">
                <a16:creationId xmlns:a16="http://schemas.microsoft.com/office/drawing/2014/main" id="{2B1E87E7-70F0-412E-8324-94DA8691C556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服务器机架-169">
            <a:extLst>
              <a:ext uri="{FF2B5EF4-FFF2-40B4-BE49-F238E27FC236}">
                <a16:creationId xmlns:a16="http://schemas.microsoft.com/office/drawing/2014/main" id="{1844C867-AD1E-40B9-B2ED-A06E78741738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机架状态-170">
            <a:extLst>
              <a:ext uri="{FF2B5EF4-FFF2-40B4-BE49-F238E27FC236}">
                <a16:creationId xmlns:a16="http://schemas.microsoft.com/office/drawing/2014/main" id="{0F4554E5-235B-4DEE-A041-08F56E0506C1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指示灯-171">
            <a:extLst>
              <a:ext uri="{FF2B5EF4-FFF2-40B4-BE49-F238E27FC236}">
                <a16:creationId xmlns:a16="http://schemas.microsoft.com/office/drawing/2014/main" id="{B11670CD-C1CD-44B6-95E9-25E0DEB3679A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租户源实例-172">
            <a:extLst>
              <a:ext uri="{FF2B5EF4-FFF2-40B4-BE49-F238E27FC236}">
                <a16:creationId xmlns:a16="http://schemas.microsoft.com/office/drawing/2014/main" id="{E4DAA55C-29DF-4E76-A0F3-ECC24C2F80B4}"/>
              </a:ext>
            </a:extLst>
          </p:cNvPr>
          <p:cNvSpPr>
            <a:spLocks noGrp="1"/>
          </p:cNvSpPr>
          <p:nvPr/>
        </p:nvSpPr>
        <p:spPr>
          <a:xfrm>
            <a:off x="1343025" y="2324100"/>
            <a:ext cx="1704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租户源实例</a:t>
            </a:r>
          </a:p>
        </p:txBody>
      </p:sp>
      <p:sp>
        <p:nvSpPr>
          <p:cNvPr id="22" name="统一风格-文字 内层私网报文-173">
            <a:extLst>
              <a:ext uri="{FF2B5EF4-FFF2-40B4-BE49-F238E27FC236}">
                <a16:creationId xmlns:a16="http://schemas.microsoft.com/office/drawing/2014/main" id="{1959130E-C14D-46E0-88AE-353C8E83FF09}"/>
              </a:ext>
            </a:extLst>
          </p:cNvPr>
          <p:cNvSpPr>
            <a:spLocks noGrp="1"/>
          </p:cNvSpPr>
          <p:nvPr/>
        </p:nvSpPr>
        <p:spPr>
          <a:xfrm>
            <a:off x="1343025" y="2676525"/>
            <a:ext cx="17049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内层私网报文</a:t>
            </a:r>
          </a:p>
        </p:txBody>
      </p:sp>
      <p:sp>
        <p:nvSpPr>
          <p:cNvPr id="23" name="统一风格-租户目标实例玻璃后沿-174">
            <a:extLst>
              <a:ext uri="{FF2B5EF4-FFF2-40B4-BE49-F238E27FC236}">
                <a16:creationId xmlns:a16="http://schemas.microsoft.com/office/drawing/2014/main" id="{A8FBAFF0-2DF8-41B9-99BF-8100553137C7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租户目标实例-175">
            <a:extLst>
              <a:ext uri="{FF2B5EF4-FFF2-40B4-BE49-F238E27FC236}">
                <a16:creationId xmlns:a16="http://schemas.microsoft.com/office/drawing/2014/main" id="{D50BF091-03E7-4BD1-9A96-34A0E44F2749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590800" cy="933450"/>
          </a:xfrm>
          <a:prstGeom prst="roundRect">
            <a:avLst>
              <a:gd name="adj" fmla="val 918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租户目标实例玻璃内沿-176">
            <a:extLst>
              <a:ext uri="{FF2B5EF4-FFF2-40B4-BE49-F238E27FC236}">
                <a16:creationId xmlns:a16="http://schemas.microsoft.com/office/drawing/2014/main" id="{479D387C-41FB-447F-83E0-22AD7E702889}"/>
              </a:ext>
            </a:extLst>
          </p:cNvPr>
          <p:cNvSpPr>
            <a:spLocks noGrp="1"/>
          </p:cNvSpPr>
          <p:nvPr/>
        </p:nvSpPr>
        <p:spPr>
          <a:xfrm>
            <a:off x="9004459" y="2194084"/>
            <a:ext cx="2565083" cy="907733"/>
          </a:xfrm>
          <a:prstGeom prst="roundRect">
            <a:avLst>
              <a:gd name="adj" fmla="val 808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租户目标实例透光反射面-177">
            <a:extLst>
              <a:ext uri="{FF2B5EF4-FFF2-40B4-BE49-F238E27FC236}">
                <a16:creationId xmlns:a16="http://schemas.microsoft.com/office/drawing/2014/main" id="{6CD855AF-0F00-454E-BA42-DE779598E91A}"/>
              </a:ext>
            </a:extLst>
          </p:cNvPr>
          <p:cNvSpPr>
            <a:spLocks noGrp="1"/>
          </p:cNvSpPr>
          <p:nvPr/>
        </p:nvSpPr>
        <p:spPr>
          <a:xfrm>
            <a:off x="9010650" y="2200275"/>
            <a:ext cx="2552700" cy="895350"/>
          </a:xfrm>
          <a:custGeom>
            <a:avLst/>
            <a:gdLst/>
            <a:ahLst/>
            <a:cxnLst/>
            <a:rect l="0" t="0" r="0" b="0"/>
            <a:pathLst>
              <a:path w="2552700" h="895350">
                <a:moveTo>
                  <a:pt x="76200" y="0"/>
                </a:moveTo>
                <a:lnTo>
                  <a:pt x="1633728" y="0"/>
                </a:lnTo>
                <a:lnTo>
                  <a:pt x="663702" y="895350"/>
                </a:lnTo>
                <a:lnTo>
                  <a:pt x="76200" y="895350"/>
                </a:lnTo>
                <a:cubicBezTo>
                  <a:pt x="28575" y="895350"/>
                  <a:pt x="0" y="866775"/>
                  <a:pt x="0" y="8191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租户目标实例边缘高光-178">
            <a:extLst>
              <a:ext uri="{FF2B5EF4-FFF2-40B4-BE49-F238E27FC236}">
                <a16:creationId xmlns:a16="http://schemas.microsoft.com/office/drawing/2014/main" id="{2145A06A-8FEC-4517-9DB3-BEF9D8B064C3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2590800" cy="933450"/>
          </a:xfrm>
          <a:custGeom>
            <a:avLst/>
            <a:gdLst/>
            <a:ahLst/>
            <a:cxnLst/>
            <a:rect l="0" t="0" r="0" b="0"/>
            <a:pathLst>
              <a:path w="2590800" h="933450">
                <a:moveTo>
                  <a:pt x="95250" y="9525"/>
                </a:moveTo>
                <a:lnTo>
                  <a:pt x="2495550" y="9525"/>
                </a:lnTo>
                <a:cubicBezTo>
                  <a:pt x="2543175" y="9525"/>
                  <a:pt x="2581275" y="47625"/>
                  <a:pt x="2581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server 服务器机架-179">
            <a:extLst>
              <a:ext uri="{FF2B5EF4-FFF2-40B4-BE49-F238E27FC236}">
                <a16:creationId xmlns:a16="http://schemas.microsoft.com/office/drawing/2014/main" id="{A567DD19-23B1-491A-A3F5-97C369943E5A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server 机架状态-180">
            <a:extLst>
              <a:ext uri="{FF2B5EF4-FFF2-40B4-BE49-F238E27FC236}">
                <a16:creationId xmlns:a16="http://schemas.microsoft.com/office/drawing/2014/main" id="{164EB970-3B61-43DF-89E4-16DA46C71F0A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server 指示灯-181">
            <a:extLst>
              <a:ext uri="{FF2B5EF4-FFF2-40B4-BE49-F238E27FC236}">
                <a16:creationId xmlns:a16="http://schemas.microsoft.com/office/drawing/2014/main" id="{64C7A813-BEED-4A2E-9ADC-0F5E5358F065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erver 服务器机架-182">
            <a:extLst>
              <a:ext uri="{FF2B5EF4-FFF2-40B4-BE49-F238E27FC236}">
                <a16:creationId xmlns:a16="http://schemas.microsoft.com/office/drawing/2014/main" id="{054C7198-B471-4953-8B23-BDBCFFDC9500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机架状态-183">
            <a:extLst>
              <a:ext uri="{FF2B5EF4-FFF2-40B4-BE49-F238E27FC236}">
                <a16:creationId xmlns:a16="http://schemas.microsoft.com/office/drawing/2014/main" id="{A7AEBABF-841F-4900-9C64-C3C74F3183A0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指示灯-184">
            <a:extLst>
              <a:ext uri="{FF2B5EF4-FFF2-40B4-BE49-F238E27FC236}">
                <a16:creationId xmlns:a16="http://schemas.microsoft.com/office/drawing/2014/main" id="{E5457675-6E0D-460D-BF68-E305A080DDB7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服务器机架-185">
            <a:extLst>
              <a:ext uri="{FF2B5EF4-FFF2-40B4-BE49-F238E27FC236}">
                <a16:creationId xmlns:a16="http://schemas.microsoft.com/office/drawing/2014/main" id="{90F227C2-1F3F-403F-A7CF-F0F9D75D3384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机架状态-186">
            <a:extLst>
              <a:ext uri="{FF2B5EF4-FFF2-40B4-BE49-F238E27FC236}">
                <a16:creationId xmlns:a16="http://schemas.microsoft.com/office/drawing/2014/main" id="{AFFDEC4C-E694-4B86-9917-7204471A48AB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指示灯-187">
            <a:extLst>
              <a:ext uri="{FF2B5EF4-FFF2-40B4-BE49-F238E27FC236}">
                <a16:creationId xmlns:a16="http://schemas.microsoft.com/office/drawing/2014/main" id="{047AF263-1BC8-4612-A791-4DB496A81B61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租户目标实例-188">
            <a:extLst>
              <a:ext uri="{FF2B5EF4-FFF2-40B4-BE49-F238E27FC236}">
                <a16:creationId xmlns:a16="http://schemas.microsoft.com/office/drawing/2014/main" id="{F24D87B1-DEF2-4532-AAC2-0712E770D156}"/>
              </a:ext>
            </a:extLst>
          </p:cNvPr>
          <p:cNvSpPr>
            <a:spLocks noGrp="1"/>
          </p:cNvSpPr>
          <p:nvPr/>
        </p:nvSpPr>
        <p:spPr>
          <a:xfrm>
            <a:off x="9725025" y="2324100"/>
            <a:ext cx="1704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租户目标实例</a:t>
            </a:r>
          </a:p>
        </p:txBody>
      </p:sp>
      <p:sp>
        <p:nvSpPr>
          <p:cNvPr id="38" name="统一风格-文字 解封装后交付-189">
            <a:extLst>
              <a:ext uri="{FF2B5EF4-FFF2-40B4-BE49-F238E27FC236}">
                <a16:creationId xmlns:a16="http://schemas.microsoft.com/office/drawing/2014/main" id="{EC846A98-FBB5-440F-A595-3913ABAF9347}"/>
              </a:ext>
            </a:extLst>
          </p:cNvPr>
          <p:cNvSpPr>
            <a:spLocks noGrp="1"/>
          </p:cNvSpPr>
          <p:nvPr/>
        </p:nvSpPr>
        <p:spPr>
          <a:xfrm>
            <a:off x="9725025" y="2676525"/>
            <a:ext cx="17049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解封装后交付</a:t>
            </a:r>
          </a:p>
        </p:txBody>
      </p:sp>
      <p:cxnSp>
        <p:nvCxnSpPr>
          <p:cNvPr id="39" name="网络连接-18">
            <a:extLst>
              <a:ext uri="{FF2B5EF4-FFF2-40B4-BE49-F238E27FC236}">
                <a16:creationId xmlns:a16="http://schemas.microsoft.com/office/drawing/2014/main" id="{BAC9CFF9-7CD6-451F-B49F-5A32F3EDF05F}"/>
              </a:ext>
            </a:extLst>
          </p:cNvPr>
          <p:cNvCxnSpPr/>
          <p:nvPr/>
        </p:nvCxnSpPr>
        <p:spPr>
          <a:xfrm>
            <a:off x="3200400" y="2647950"/>
            <a:ext cx="579120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0" name="统一风格-文字 Overlay：租户逻辑网络-190">
            <a:extLst>
              <a:ext uri="{FF2B5EF4-FFF2-40B4-BE49-F238E27FC236}">
                <a16:creationId xmlns:a16="http://schemas.microsoft.com/office/drawing/2014/main" id="{DD994374-812A-4412-AD0D-593108D3F60F}"/>
              </a:ext>
            </a:extLst>
          </p:cNvPr>
          <p:cNvSpPr>
            <a:spLocks noGrp="1"/>
          </p:cNvSpPr>
          <p:nvPr/>
        </p:nvSpPr>
        <p:spPr>
          <a:xfrm>
            <a:off x="3886200" y="2238375"/>
            <a:ext cx="4343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Overlay：租户逻辑网络</a:t>
            </a:r>
          </a:p>
        </p:txBody>
      </p:sp>
      <p:sp>
        <p:nvSpPr>
          <p:cNvPr id="41" name="统一风格-标准隧道封装示意玻璃后沿-191">
            <a:extLst>
              <a:ext uri="{FF2B5EF4-FFF2-40B4-BE49-F238E27FC236}">
                <a16:creationId xmlns:a16="http://schemas.microsoft.com/office/drawing/2014/main" id="{BBAAB8DB-F064-49D9-B7C5-D363FB35E5EA}"/>
              </a:ext>
            </a:extLst>
          </p:cNvPr>
          <p:cNvSpPr>
            <a:spLocks noGrp="1"/>
          </p:cNvSpPr>
          <p:nvPr/>
        </p:nvSpPr>
        <p:spPr>
          <a:xfrm>
            <a:off x="2085975" y="3419475"/>
            <a:ext cx="8020050" cy="120015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标准隧道封装示意-192">
            <a:extLst>
              <a:ext uri="{FF2B5EF4-FFF2-40B4-BE49-F238E27FC236}">
                <a16:creationId xmlns:a16="http://schemas.microsoft.com/office/drawing/2014/main" id="{56B1DDB3-3D8E-4DFD-8ADA-00FEE602F912}"/>
              </a:ext>
            </a:extLst>
          </p:cNvPr>
          <p:cNvSpPr>
            <a:spLocks noGrp="1"/>
          </p:cNvSpPr>
          <p:nvPr/>
        </p:nvSpPr>
        <p:spPr>
          <a:xfrm>
            <a:off x="2085975" y="3419475"/>
            <a:ext cx="8020050" cy="120015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标准隧道封装示意玻璃内沿-193">
            <a:extLst>
              <a:ext uri="{FF2B5EF4-FFF2-40B4-BE49-F238E27FC236}">
                <a16:creationId xmlns:a16="http://schemas.microsoft.com/office/drawing/2014/main" id="{F72BF628-99E1-4113-B6FA-0DCF12EF7063}"/>
              </a:ext>
            </a:extLst>
          </p:cNvPr>
          <p:cNvSpPr>
            <a:spLocks noGrp="1"/>
          </p:cNvSpPr>
          <p:nvPr/>
        </p:nvSpPr>
        <p:spPr>
          <a:xfrm>
            <a:off x="2098834" y="3432334"/>
            <a:ext cx="7994333" cy="1174433"/>
          </a:xfrm>
          <a:prstGeom prst="roundRect">
            <a:avLst>
              <a:gd name="adj" fmla="val 62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标准隧道封装示意边缘高光-194">
            <a:extLst>
              <a:ext uri="{FF2B5EF4-FFF2-40B4-BE49-F238E27FC236}">
                <a16:creationId xmlns:a16="http://schemas.microsoft.com/office/drawing/2014/main" id="{94178391-D6E4-4FA5-BF86-72D70C1E6916}"/>
              </a:ext>
            </a:extLst>
          </p:cNvPr>
          <p:cNvSpPr>
            <a:spLocks noGrp="1"/>
          </p:cNvSpPr>
          <p:nvPr/>
        </p:nvSpPr>
        <p:spPr>
          <a:xfrm>
            <a:off x="2085975" y="3419475"/>
            <a:ext cx="8020050" cy="1200150"/>
          </a:xfrm>
          <a:custGeom>
            <a:avLst/>
            <a:gdLst/>
            <a:ahLst/>
            <a:cxnLst/>
            <a:rect l="0" t="0" r="0" b="0"/>
            <a:pathLst>
              <a:path w="8020050" h="1200150">
                <a:moveTo>
                  <a:pt x="95250" y="9525"/>
                </a:moveTo>
                <a:lnTo>
                  <a:pt x="7924800" y="9525"/>
                </a:lnTo>
                <a:cubicBezTo>
                  <a:pt x="7972425" y="9525"/>
                  <a:pt x="8010525" y="47625"/>
                  <a:pt x="8010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文字 标准隧道封装示意-195">
            <a:extLst>
              <a:ext uri="{FF2B5EF4-FFF2-40B4-BE49-F238E27FC236}">
                <a16:creationId xmlns:a16="http://schemas.microsoft.com/office/drawing/2014/main" id="{F5E7C6E7-86D5-4DB7-BEDF-928EEBB2FC2A}"/>
              </a:ext>
            </a:extLst>
          </p:cNvPr>
          <p:cNvSpPr>
            <a:spLocks noGrp="1"/>
          </p:cNvSpPr>
          <p:nvPr/>
        </p:nvSpPr>
        <p:spPr>
          <a:xfrm>
            <a:off x="2276475" y="3552825"/>
            <a:ext cx="7524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标准隧道封装示意</a:t>
            </a:r>
          </a:p>
        </p:txBody>
      </p:sp>
      <p:sp>
        <p:nvSpPr>
          <p:cNvPr id="46" name="统一风格-外层隧道地址-196">
            <a:extLst>
              <a:ext uri="{FF2B5EF4-FFF2-40B4-BE49-F238E27FC236}">
                <a16:creationId xmlns:a16="http://schemas.microsoft.com/office/drawing/2014/main" id="{F08519D8-559F-48F1-8176-B416666420DC}"/>
              </a:ext>
            </a:extLst>
          </p:cNvPr>
          <p:cNvSpPr>
            <a:spLocks noGrp="1"/>
          </p:cNvSpPr>
          <p:nvPr/>
        </p:nvSpPr>
        <p:spPr>
          <a:xfrm>
            <a:off x="2286000" y="3962400"/>
            <a:ext cx="2447925" cy="457200"/>
          </a:xfrm>
          <a:prstGeom prst="rect">
            <a:avLst/>
          </a:prstGeom>
          <a:solidFill>
            <a:srgbClr val="F2F7FF">
              <a:alpha val="95000"/>
            </a:srgbClr>
          </a:solidFill>
          <a:ln w="7620">
            <a:solidFill>
              <a:srgbClr val="C1D3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外层隧道地址-197">
            <a:extLst>
              <a:ext uri="{FF2B5EF4-FFF2-40B4-BE49-F238E27FC236}">
                <a16:creationId xmlns:a16="http://schemas.microsoft.com/office/drawing/2014/main" id="{47CA49CC-6973-4D72-9B1F-28779C6A6799}"/>
              </a:ext>
            </a:extLst>
          </p:cNvPr>
          <p:cNvSpPr>
            <a:spLocks noGrp="1"/>
          </p:cNvSpPr>
          <p:nvPr/>
        </p:nvSpPr>
        <p:spPr>
          <a:xfrm>
            <a:off x="2362200" y="4019550"/>
            <a:ext cx="2295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外层隧道地址</a:t>
            </a:r>
          </a:p>
        </p:txBody>
      </p:sp>
      <p:sp>
        <p:nvSpPr>
          <p:cNvPr id="48" name="统一风格-逻辑网络标识-198">
            <a:extLst>
              <a:ext uri="{FF2B5EF4-FFF2-40B4-BE49-F238E27FC236}">
                <a16:creationId xmlns:a16="http://schemas.microsoft.com/office/drawing/2014/main" id="{78F940D9-7924-41C3-A166-22751665BE23}"/>
              </a:ext>
            </a:extLst>
          </p:cNvPr>
          <p:cNvSpPr>
            <a:spLocks noGrp="1"/>
          </p:cNvSpPr>
          <p:nvPr/>
        </p:nvSpPr>
        <p:spPr>
          <a:xfrm>
            <a:off x="4733925" y="3962400"/>
            <a:ext cx="2228850" cy="457200"/>
          </a:xfrm>
          <a:prstGeom prst="rect">
            <a:avLst/>
          </a:prstGeom>
          <a:solidFill>
            <a:srgbClr val="F2F7FF">
              <a:alpha val="95000"/>
            </a:srgbClr>
          </a:solidFill>
          <a:ln w="7620">
            <a:solidFill>
              <a:srgbClr val="C1D3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逻辑网络标识-199">
            <a:extLst>
              <a:ext uri="{FF2B5EF4-FFF2-40B4-BE49-F238E27FC236}">
                <a16:creationId xmlns:a16="http://schemas.microsoft.com/office/drawing/2014/main" id="{7D3082C0-C0E2-46A9-A6A8-DBDC2C028674}"/>
              </a:ext>
            </a:extLst>
          </p:cNvPr>
          <p:cNvSpPr>
            <a:spLocks noGrp="1"/>
          </p:cNvSpPr>
          <p:nvPr/>
        </p:nvSpPr>
        <p:spPr>
          <a:xfrm>
            <a:off x="4810125" y="4019550"/>
            <a:ext cx="2076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逻辑网络标识</a:t>
            </a:r>
          </a:p>
        </p:txBody>
      </p:sp>
      <p:sp>
        <p:nvSpPr>
          <p:cNvPr id="50" name="统一风格-原始租户报文-200">
            <a:extLst>
              <a:ext uri="{FF2B5EF4-FFF2-40B4-BE49-F238E27FC236}">
                <a16:creationId xmlns:a16="http://schemas.microsoft.com/office/drawing/2014/main" id="{38D8F91B-8F85-4653-BA91-92AD705B19B8}"/>
              </a:ext>
            </a:extLst>
          </p:cNvPr>
          <p:cNvSpPr>
            <a:spLocks noGrp="1"/>
          </p:cNvSpPr>
          <p:nvPr/>
        </p:nvSpPr>
        <p:spPr>
          <a:xfrm>
            <a:off x="6962775" y="3962400"/>
            <a:ext cx="2924175" cy="457200"/>
          </a:xfrm>
          <a:prstGeom prst="rect">
            <a:avLst/>
          </a:prstGeom>
          <a:solidFill>
            <a:srgbClr val="E0EBFD">
              <a:alpha val="95000"/>
            </a:srgbClr>
          </a:solidFill>
          <a:ln w="7620">
            <a:solidFill>
              <a:srgbClr val="C1D3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文字 原始租户报文-201">
            <a:extLst>
              <a:ext uri="{FF2B5EF4-FFF2-40B4-BE49-F238E27FC236}">
                <a16:creationId xmlns:a16="http://schemas.microsoft.com/office/drawing/2014/main" id="{DEE0EC3A-606D-4A67-8926-B087270AD4AB}"/>
              </a:ext>
            </a:extLst>
          </p:cNvPr>
          <p:cNvSpPr>
            <a:spLocks noGrp="1"/>
          </p:cNvSpPr>
          <p:nvPr/>
        </p:nvSpPr>
        <p:spPr>
          <a:xfrm>
            <a:off x="7038975" y="4019550"/>
            <a:ext cx="27717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原始租户报文</a:t>
            </a:r>
          </a:p>
        </p:txBody>
      </p:sp>
      <p:cxnSp>
        <p:nvCxnSpPr>
          <p:cNvPr id="52" name="网络连接-19">
            <a:extLst>
              <a:ext uri="{FF2B5EF4-FFF2-40B4-BE49-F238E27FC236}">
                <a16:creationId xmlns:a16="http://schemas.microsoft.com/office/drawing/2014/main" id="{0D52FD2E-0B91-4D44-A278-DE2D059A6A61}"/>
              </a:ext>
            </a:extLst>
          </p:cNvPr>
          <p:cNvCxnSpPr/>
          <p:nvPr/>
        </p:nvCxnSpPr>
        <p:spPr>
          <a:xfrm>
            <a:off x="1905000" y="3114675"/>
            <a:ext cx="0" cy="2009775"/>
          </a:xfrm>
          <a:prstGeom prst="straightConnector1">
            <a:avLst/>
          </a:prstGeom>
          <a:ln w="14288">
            <a:solidFill>
              <a:srgbClr val="8DA8D2"/>
            </a:solidFill>
            <a:prstDash val="solid"/>
          </a:ln>
        </p:spPr>
      </p:cxnSp>
      <p:cxnSp>
        <p:nvCxnSpPr>
          <p:cNvPr id="53" name="网络连接-20">
            <a:extLst>
              <a:ext uri="{FF2B5EF4-FFF2-40B4-BE49-F238E27FC236}">
                <a16:creationId xmlns:a16="http://schemas.microsoft.com/office/drawing/2014/main" id="{6EA8D2CC-98F0-48E8-AA72-88CEE2CD05BB}"/>
              </a:ext>
            </a:extLst>
          </p:cNvPr>
          <p:cNvCxnSpPr/>
          <p:nvPr/>
        </p:nvCxnSpPr>
        <p:spPr>
          <a:xfrm>
            <a:off x="1905000" y="5124450"/>
            <a:ext cx="8382000" cy="0"/>
          </a:xfrm>
          <a:prstGeom prst="straightConnector1">
            <a:avLst/>
          </a:prstGeom>
          <a:ln w="14288">
            <a:solidFill>
              <a:srgbClr val="8DA8D2"/>
            </a:solidFill>
            <a:prstDash val="solid"/>
          </a:ln>
        </p:spPr>
      </p:cxnSp>
      <p:cxnSp>
        <p:nvCxnSpPr>
          <p:cNvPr id="54" name="网络连接-21">
            <a:extLst>
              <a:ext uri="{FF2B5EF4-FFF2-40B4-BE49-F238E27FC236}">
                <a16:creationId xmlns:a16="http://schemas.microsoft.com/office/drawing/2014/main" id="{BFB76460-8903-4EE5-9AE1-6E6EEAA4BB43}"/>
              </a:ext>
            </a:extLst>
          </p:cNvPr>
          <p:cNvCxnSpPr/>
          <p:nvPr/>
        </p:nvCxnSpPr>
        <p:spPr>
          <a:xfrm flipV="1">
            <a:off x="10287000" y="3114675"/>
            <a:ext cx="0" cy="2009775"/>
          </a:xfrm>
          <a:prstGeom prst="straightConnector1">
            <a:avLst/>
          </a:prstGeom>
          <a:ln w="14288">
            <a:solidFill>
              <a:srgbClr val="8DA8D2"/>
            </a:solidFill>
            <a:prstDash val="solid"/>
            <a:tailEnd type="triangle" w="sm" len="sm"/>
          </a:ln>
        </p:spPr>
      </p:cxnSp>
      <p:sp>
        <p:nvSpPr>
          <p:cNvPr id="55" name="统一风格-文字 Underlay：共享的物理 / IP 承载网络-202">
            <a:extLst>
              <a:ext uri="{FF2B5EF4-FFF2-40B4-BE49-F238E27FC236}">
                <a16:creationId xmlns:a16="http://schemas.microsoft.com/office/drawing/2014/main" id="{7649035B-F92F-4A96-A995-757C7709201D}"/>
              </a:ext>
            </a:extLst>
          </p:cNvPr>
          <p:cNvSpPr>
            <a:spLocks noGrp="1"/>
          </p:cNvSpPr>
          <p:nvPr/>
        </p:nvSpPr>
        <p:spPr>
          <a:xfrm>
            <a:off x="3114675" y="4743450"/>
            <a:ext cx="600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Underlay：共享的物理 / IP 承载网络</a:t>
            </a:r>
          </a:p>
        </p:txBody>
      </p:sp>
      <p:sp>
        <p:nvSpPr>
          <p:cNvPr id="56" name="统一风格-运维区分玻璃后沿-203">
            <a:extLst>
              <a:ext uri="{FF2B5EF4-FFF2-40B4-BE49-F238E27FC236}">
                <a16:creationId xmlns:a16="http://schemas.microsoft.com/office/drawing/2014/main" id="{8C1216CF-35E5-44D4-84F6-5EA164D1877E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运维区分-204">
            <a:extLst>
              <a:ext uri="{FF2B5EF4-FFF2-40B4-BE49-F238E27FC236}">
                <a16:creationId xmlns:a16="http://schemas.microsoft.com/office/drawing/2014/main" id="{3A0536C3-B88E-4306-B79C-080C3C89F8E5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运维区分玻璃内沿-205">
            <a:extLst>
              <a:ext uri="{FF2B5EF4-FFF2-40B4-BE49-F238E27FC236}">
                <a16:creationId xmlns:a16="http://schemas.microsoft.com/office/drawing/2014/main" id="{BEE898AC-9FCE-4C71-AA8C-4107657970E8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运维区分边缘高光-206">
            <a:extLst>
              <a:ext uri="{FF2B5EF4-FFF2-40B4-BE49-F238E27FC236}">
                <a16:creationId xmlns:a16="http://schemas.microsoft.com/office/drawing/2014/main" id="{FC674A5A-52C8-4826-BCAA-0BB9C9DC8FDE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文字 运维区分-207">
            <a:extLst>
              <a:ext uri="{FF2B5EF4-FFF2-40B4-BE49-F238E27FC236}">
                <a16:creationId xmlns:a16="http://schemas.microsoft.com/office/drawing/2014/main" id="{D077A628-0487-4CCE-8134-0712F13E87BA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排障范围</a:t>
            </a:r>
          </a:p>
        </p:txBody>
      </p:sp>
      <p:sp>
        <p:nvSpPr>
          <p:cNvPr id="61" name="统一风格-文字 租户私网地址与外层隧道地址分别承担业务寻址和底层运输。-208">
            <a:extLst>
              <a:ext uri="{FF2B5EF4-FFF2-40B4-BE49-F238E27FC236}">
                <a16:creationId xmlns:a16="http://schemas.microsoft.com/office/drawing/2014/main" id="{41B4AB83-E948-42B3-93E6-6902A8F1B2AA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先查 VPC 路由、安全组和服务日志；底层承载异常联系云侧支持。</a:t>
            </a:r>
          </a:p>
        </p:txBody>
      </p:sp>
    </p:spTree>
    <p:extLst>
      <p:ext uri="{BB962C8B-B14F-4D97-AF65-F5344CB8AC3E}">
        <p14:creationId xmlns:p14="http://schemas.microsoft.com/office/powerpoint/2010/main" val="196443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1  VPC 基础与规范">
            <a:extLst>
              <a:ext uri="{FF2B5EF4-FFF2-40B4-BE49-F238E27FC236}">
                <a16:creationId xmlns:a16="http://schemas.microsoft.com/office/drawing/2014/main" id="{C5BADE16-1B8D-4529-872E-0AF692150DA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统一风格-文字 VPC 约束：区域、地址与子网容量-210">
            <a:extLst>
              <a:ext uri="{FF2B5EF4-FFF2-40B4-BE49-F238E27FC236}">
                <a16:creationId xmlns:a16="http://schemas.microsoft.com/office/drawing/2014/main" id="{D02B1959-5F79-4E69-BAD6-AA4845BFAF1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约束：区域、地址与子网容量</a:t>
            </a:r>
          </a:p>
        </p:txBody>
      </p:sp>
      <p:sp>
        <p:nvSpPr>
          <p:cNvPr id="3" name="统一风格-文字 先确定互联边界和容量，再创建长期使用的网络资源-211">
            <a:extLst>
              <a:ext uri="{FF2B5EF4-FFF2-40B4-BE49-F238E27FC236}">
                <a16:creationId xmlns:a16="http://schemas.microsoft.com/office/drawing/2014/main" id="{9D521DE0-C979-4CE1-AAFA-A34322E2D28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先确定互联边界和容量，再创建长期使用的网络资源</a:t>
            </a:r>
          </a:p>
        </p:txBody>
      </p:sp>
      <p:cxnSp>
        <p:nvCxnSpPr>
          <p:cNvPr id="4" name="网络连接-22">
            <a:extLst>
              <a:ext uri="{FF2B5EF4-FFF2-40B4-BE49-F238E27FC236}">
                <a16:creationId xmlns:a16="http://schemas.microsoft.com/office/drawing/2014/main" id="{F016052F-F5A8-420E-B5C6-87769868B6DA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主网段变更存在区域与 API 条件差异，扩容应先评估扩展网段和关联资源。-212">
            <a:extLst>
              <a:ext uri="{FF2B5EF4-FFF2-40B4-BE49-F238E27FC236}">
                <a16:creationId xmlns:a16="http://schemas.microsoft.com/office/drawing/2014/main" id="{4D60035F-7FCE-4857-8A73-6C1284970EE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主网段变更存在区域与 API 条件差异，扩容应先评估扩展网段和关联资源。</a:t>
            </a:r>
          </a:p>
        </p:txBody>
      </p:sp>
      <p:sp>
        <p:nvSpPr>
          <p:cNvPr id="6" name="正文-10">
            <a:extLst>
              <a:ext uri="{FF2B5EF4-FFF2-40B4-BE49-F238E27FC236}">
                <a16:creationId xmlns:a16="http://schemas.microsoft.com/office/drawing/2014/main" id="{21ED917C-44DD-455C-8605-934CA15E80A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统一风格-路由与配置表玻璃后沿-214">
            <a:extLst>
              <a:ext uri="{FF2B5EF4-FFF2-40B4-BE49-F238E27FC236}">
                <a16:creationId xmlns:a16="http://schemas.microsoft.com/office/drawing/2014/main" id="{632931F9-1666-4C67-9DE3-8FE0B1B56BAF}"/>
              </a:ext>
            </a:extLst>
          </p:cNvPr>
          <p:cNvSpPr>
            <a:spLocks noGrp="1"/>
          </p:cNvSpPr>
          <p:nvPr/>
        </p:nvSpPr>
        <p:spPr>
          <a:xfrm>
            <a:off x="542925" y="2066925"/>
            <a:ext cx="11106150" cy="3609975"/>
          </a:xfrm>
          <a:prstGeom prst="roundRect">
            <a:avLst>
              <a:gd name="adj" fmla="val 23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215">
            <a:extLst>
              <a:ext uri="{FF2B5EF4-FFF2-40B4-BE49-F238E27FC236}">
                <a16:creationId xmlns:a16="http://schemas.microsoft.com/office/drawing/2014/main" id="{650BBE8A-2E04-4B2B-A6FC-21C3892DCDBD}"/>
              </a:ext>
            </a:extLst>
          </p:cNvPr>
          <p:cNvSpPr>
            <a:spLocks noGrp="1"/>
          </p:cNvSpPr>
          <p:nvPr/>
        </p:nvSpPr>
        <p:spPr>
          <a:xfrm>
            <a:off x="542925" y="2066925"/>
            <a:ext cx="11106150" cy="3609975"/>
          </a:xfrm>
          <a:prstGeom prst="roundRect">
            <a:avLst>
              <a:gd name="adj" fmla="val 23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216">
            <a:extLst>
              <a:ext uri="{FF2B5EF4-FFF2-40B4-BE49-F238E27FC236}">
                <a16:creationId xmlns:a16="http://schemas.microsoft.com/office/drawing/2014/main" id="{0291F000-3DCC-4443-A4D7-DAEE6B261ECF}"/>
              </a:ext>
            </a:extLst>
          </p:cNvPr>
          <p:cNvSpPr>
            <a:spLocks noGrp="1"/>
          </p:cNvSpPr>
          <p:nvPr/>
        </p:nvSpPr>
        <p:spPr>
          <a:xfrm>
            <a:off x="555784" y="2079784"/>
            <a:ext cx="11080433" cy="3584258"/>
          </a:xfrm>
          <a:prstGeom prst="roundRect">
            <a:avLst>
              <a:gd name="adj" fmla="val 204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217">
            <a:extLst>
              <a:ext uri="{FF2B5EF4-FFF2-40B4-BE49-F238E27FC236}">
                <a16:creationId xmlns:a16="http://schemas.microsoft.com/office/drawing/2014/main" id="{C40227D9-EBA4-4083-81FC-A368C8BCB844}"/>
              </a:ext>
            </a:extLst>
          </p:cNvPr>
          <p:cNvSpPr>
            <a:spLocks noGrp="1"/>
          </p:cNvSpPr>
          <p:nvPr/>
        </p:nvSpPr>
        <p:spPr>
          <a:xfrm>
            <a:off x="542925" y="2066925"/>
            <a:ext cx="11106150" cy="3609975"/>
          </a:xfrm>
          <a:custGeom>
            <a:avLst/>
            <a:gdLst/>
            <a:ahLst/>
            <a:cxnLst/>
            <a:rect l="0" t="0" r="0" b="0"/>
            <a:pathLst>
              <a:path w="11106150" h="36099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6192AD-499A-49E5-B4DF-87638F0236F2}"/>
              </a:ext>
            </a:extLst>
          </p:cNvPr>
          <p:cNvGraphicFramePr/>
          <p:nvPr/>
        </p:nvGraphicFramePr>
        <p:xfrm>
          <a:off x="609600" y="2133600"/>
          <a:ext cx="10972800" cy="347662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服务约束 / 注意事项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规划动作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 Region 分别建立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Region 单独设计 CC / ER 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主网段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变更受支持条件与资源依赖约束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先查当前能力，扩容评估扩展网段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互联地址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整网对等连接两端网段不能重叠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统一管理未来互联的地址池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 VPC 地址空间，子网间不重叠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预留后续业务与服务地址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 IP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192.168.0.0/24 示例预留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.0、.1、.253、.254、.255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 251 个可分配地址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仍以实际子网可分配数为准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7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-01  VPC 基础与规范">
            <a:extLst>
              <a:ext uri="{FF2B5EF4-FFF2-40B4-BE49-F238E27FC236}">
                <a16:creationId xmlns:a16="http://schemas.microsoft.com/office/drawing/2014/main" id="{636F03FE-120D-4955-8623-E9EEA5EAAED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CA7AD289-DBF9-4311-94B1-52DF6965D7C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</a:t>
            </a:r>
            <a:r>
              <a:rPr lang="zh-CN" altLang="en-US"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子网网段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52E541FF-37D7-4AA7-AC7E-A77B310152C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地址池优先采用 RFC 1918 私网段，统一核对 VPC、IDC、VPN 与容器网段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A34CF40-6AFC-452A-A475-4F09C3754AD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示例地址不代表可直接套用的企业地址池。可分配 IP 数需扣除平台保留地址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4A1D7F9-BD60-4AD6-82B3-4190CD3E54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2">
            <a:extLst>
              <a:ext uri="{FF2B5EF4-FFF2-40B4-BE49-F238E27FC236}">
                <a16:creationId xmlns:a16="http://schemas.microsoft.com/office/drawing/2014/main" id="{B4263E45-C688-44B1-9EDF-8239B17FBAF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xt-6">
            <a:extLst>
              <a:ext uri="{FF2B5EF4-FFF2-40B4-BE49-F238E27FC236}">
                <a16:creationId xmlns:a16="http://schemas.microsoft.com/office/drawing/2014/main" id="{D108EDF3-B0ED-4B50-9E86-B7AA4090E27D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10.20.0.0/16</a:t>
            </a:r>
          </a:p>
        </p:txBody>
      </p:sp>
      <p:sp>
        <p:nvSpPr>
          <p:cNvPr id="8" name="txt-7">
            <a:extLst>
              <a:ext uri="{FF2B5EF4-FFF2-40B4-BE49-F238E27FC236}">
                <a16:creationId xmlns:a16="http://schemas.microsoft.com/office/drawing/2014/main" id="{532E19F0-4585-4AC3-99E6-659F457EEAA2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生产应用地址池</a:t>
            </a:r>
          </a:p>
        </p:txBody>
      </p:sp>
      <p:sp>
        <p:nvSpPr>
          <p:cNvPr id="9" name="txt-8">
            <a:extLst>
              <a:ext uri="{FF2B5EF4-FFF2-40B4-BE49-F238E27FC236}">
                <a16:creationId xmlns:a16="http://schemas.microsoft.com/office/drawing/2014/main" id="{EBD5CD25-E376-41FA-8ACB-C9A7A4AA14CD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4381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台账关联区域、环境、业务、</a:t>
            </a:r>
          </a:p>
          <a:p>
            <a:pPr algn="l">
              <a:def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负责人和工单。</a:t>
            </a:r>
          </a:p>
        </p:txBody>
      </p:sp>
      <p:sp>
        <p:nvSpPr>
          <p:cNvPr id="10" name="txt-9">
            <a:extLst>
              <a:ext uri="{FF2B5EF4-FFF2-40B4-BE49-F238E27FC236}">
                <a16:creationId xmlns:a16="http://schemas.microsoft.com/office/drawing/2014/main" id="{6886D9D0-19F9-41FC-A4C6-CCE9F9FFEF5E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互联前统一查冲突，</a:t>
            </a:r>
          </a:p>
          <a:p>
            <a:pPr algn="l">
              <a:def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/24 容量扣除平台保留地址。</a:t>
            </a:r>
          </a:p>
        </p:txBody>
      </p:sp>
      <p:sp>
        <p:nvSpPr>
          <p:cNvPr id="11" name="统一风格-表格玻璃容器玻璃后沿-127">
            <a:extLst>
              <a:ext uri="{FF2B5EF4-FFF2-40B4-BE49-F238E27FC236}">
                <a16:creationId xmlns:a16="http://schemas.microsoft.com/office/drawing/2014/main" id="{3979598C-1A36-46D0-A5AD-36FED35FE2BE}"/>
              </a:ext>
            </a:extLst>
          </p:cNvPr>
          <p:cNvSpPr>
            <a:spLocks noGrp="1"/>
          </p:cNvSpPr>
          <p:nvPr/>
        </p:nvSpPr>
        <p:spPr>
          <a:xfrm>
            <a:off x="5600700" y="2105025"/>
            <a:ext cx="60579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表格玻璃容器-128">
            <a:extLst>
              <a:ext uri="{FF2B5EF4-FFF2-40B4-BE49-F238E27FC236}">
                <a16:creationId xmlns:a16="http://schemas.microsoft.com/office/drawing/2014/main" id="{3205B136-989E-4504-81A6-8181B82A15A9}"/>
              </a:ext>
            </a:extLst>
          </p:cNvPr>
          <p:cNvSpPr>
            <a:spLocks noGrp="1"/>
          </p:cNvSpPr>
          <p:nvPr/>
        </p:nvSpPr>
        <p:spPr>
          <a:xfrm>
            <a:off x="5600700" y="2105025"/>
            <a:ext cx="60579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表格玻璃容器玻璃内沿-129">
            <a:extLst>
              <a:ext uri="{FF2B5EF4-FFF2-40B4-BE49-F238E27FC236}">
                <a16:creationId xmlns:a16="http://schemas.microsoft.com/office/drawing/2014/main" id="{17A650C9-BA7D-4F96-97D5-7A0CC20BDD8B}"/>
              </a:ext>
            </a:extLst>
          </p:cNvPr>
          <p:cNvSpPr>
            <a:spLocks noGrp="1"/>
          </p:cNvSpPr>
          <p:nvPr/>
        </p:nvSpPr>
        <p:spPr>
          <a:xfrm>
            <a:off x="5613559" y="2117884"/>
            <a:ext cx="6032183" cy="3460433"/>
          </a:xfrm>
          <a:prstGeom prst="roundRect">
            <a:avLst>
              <a:gd name="adj" fmla="val 21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边缘高光-130">
            <a:extLst>
              <a:ext uri="{FF2B5EF4-FFF2-40B4-BE49-F238E27FC236}">
                <a16:creationId xmlns:a16="http://schemas.microsoft.com/office/drawing/2014/main" id="{AB398238-9E2B-40B6-8D4E-19789483C03C}"/>
              </a:ext>
            </a:extLst>
          </p:cNvPr>
          <p:cNvSpPr>
            <a:spLocks noGrp="1"/>
          </p:cNvSpPr>
          <p:nvPr/>
        </p:nvSpPr>
        <p:spPr>
          <a:xfrm>
            <a:off x="5600700" y="2105025"/>
            <a:ext cx="6057900" cy="3486150"/>
          </a:xfrm>
          <a:custGeom>
            <a:avLst/>
            <a:gdLst/>
            <a:ahLst/>
            <a:cxnLst/>
            <a:rect l="0" t="0" r="0" b="0"/>
            <a:pathLst>
              <a:path w="6057900" h="3486150">
                <a:moveTo>
                  <a:pt x="95250" y="9525"/>
                </a:moveTo>
                <a:lnTo>
                  <a:pt x="5962650" y="9525"/>
                </a:lnTo>
                <a:cubicBezTo>
                  <a:pt x="6010275" y="9525"/>
                  <a:pt x="6048375" y="47625"/>
                  <a:pt x="6048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2868D8E-3F3F-4A46-950B-CBB5EB0A03BE}"/>
              </a:ext>
            </a:extLst>
          </p:cNvPr>
          <p:cNvGraphicFramePr/>
          <p:nvPr/>
        </p:nvGraphicFramePr>
        <p:xfrm>
          <a:off x="5676900" y="2181225"/>
          <a:ext cx="5905500" cy="33337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子网用途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示例网段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应用服务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10.20.10.0/24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入口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10.20.20.0/24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预留未分配范围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91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文-01  VPC 基础与规范">
            <a:extLst>
              <a:ext uri="{FF2B5EF4-FFF2-40B4-BE49-F238E27FC236}">
                <a16:creationId xmlns:a16="http://schemas.microsoft.com/office/drawing/2014/main" id="{963832ED-EF7F-42E5-BEC1-1E960E461AB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正文-业务场景与网络信任域">
            <a:extLst>
              <a:ext uri="{FF2B5EF4-FFF2-40B4-BE49-F238E27FC236}">
                <a16:creationId xmlns:a16="http://schemas.microsoft.com/office/drawing/2014/main" id="{E741CAE0-6EEC-4AFC-B60A-43E2E23539B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业务场景与网络信任域</a:t>
            </a:r>
          </a:p>
        </p:txBody>
      </p:sp>
      <p:sp>
        <p:nvSpPr>
          <p:cNvPr id="3" name="正文-订单服务跨 VPC 访问自建 ECS 数据库，该场景默认无 NAT 或代理">
            <a:extLst>
              <a:ext uri="{FF2B5EF4-FFF2-40B4-BE49-F238E27FC236}">
                <a16:creationId xmlns:a16="http://schemas.microsoft.com/office/drawing/2014/main" id="{6BB352A0-3FB3-4F6E-BDCF-3EEB8C13419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订单服务跨 VPC 访问自建 ECS 数据库，该场景默认无 NAT 或代理</a:t>
            </a:r>
          </a:p>
        </p:txBody>
      </p:sp>
      <p:sp>
        <p:nvSpPr>
          <p:cNvPr id="4" name="正文-地址为虚构示例。图中连接表示批准的业务关系，详细 ER 引流见第 38 页">
            <a:extLst>
              <a:ext uri="{FF2B5EF4-FFF2-40B4-BE49-F238E27FC236}">
                <a16:creationId xmlns:a16="http://schemas.microsoft.com/office/drawing/2014/main" id="{F0EA4B48-6C27-4445-A812-327E774DF1D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地址为虚构示例。图中连接表示批准的业务关系，详细 ER 引流见第 57 页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F1341055-202C-4611-A18D-7A6C4F0BEAA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3">
            <a:extLst>
              <a:ext uri="{FF2B5EF4-FFF2-40B4-BE49-F238E27FC236}">
                <a16:creationId xmlns:a16="http://schemas.microsoft.com/office/drawing/2014/main" id="{3C484C2C-11F7-4610-96A5-3E896D87DC1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统一风格-flat-zones 生产应用 VPC玻璃后沿-31">
            <a:extLst>
              <a:ext uri="{FF2B5EF4-FFF2-40B4-BE49-F238E27FC236}">
                <a16:creationId xmlns:a16="http://schemas.microsoft.com/office/drawing/2014/main" id="{0EA22640-E9B2-45BB-9CD4-76B044BE7C2D}"/>
              </a:ext>
            </a:extLst>
          </p:cNvPr>
          <p:cNvSpPr>
            <a:spLocks noGrp="1"/>
          </p:cNvSpPr>
          <p:nvPr/>
        </p:nvSpPr>
        <p:spPr>
          <a:xfrm>
            <a:off x="609600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zones 生产应用 VPC-32">
            <a:extLst>
              <a:ext uri="{FF2B5EF4-FFF2-40B4-BE49-F238E27FC236}">
                <a16:creationId xmlns:a16="http://schemas.microsoft.com/office/drawing/2014/main" id="{6684A65D-B944-4AD2-9FCF-CE5A739D621F}"/>
              </a:ext>
            </a:extLst>
          </p:cNvPr>
          <p:cNvSpPr>
            <a:spLocks noGrp="1"/>
          </p:cNvSpPr>
          <p:nvPr/>
        </p:nvSpPr>
        <p:spPr>
          <a:xfrm>
            <a:off x="609600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zones 生产应用 VPC玻璃内沿-33">
            <a:extLst>
              <a:ext uri="{FF2B5EF4-FFF2-40B4-BE49-F238E27FC236}">
                <a16:creationId xmlns:a16="http://schemas.microsoft.com/office/drawing/2014/main" id="{B5880563-6AF9-4499-ABAF-F1B6BAA1882F}"/>
              </a:ext>
            </a:extLst>
          </p:cNvPr>
          <p:cNvSpPr>
            <a:spLocks noGrp="1"/>
          </p:cNvSpPr>
          <p:nvPr/>
        </p:nvSpPr>
        <p:spPr>
          <a:xfrm>
            <a:off x="622459" y="2228918"/>
            <a:ext cx="2310175" cy="1076824"/>
          </a:xfrm>
          <a:prstGeom prst="roundRect">
            <a:avLst>
              <a:gd name="adj" fmla="val 68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zones 生产应用 VPC透光反射面-34">
            <a:extLst>
              <a:ext uri="{FF2B5EF4-FFF2-40B4-BE49-F238E27FC236}">
                <a16:creationId xmlns:a16="http://schemas.microsoft.com/office/drawing/2014/main" id="{E346C928-EDF4-4C16-8D2E-CBCAF53F5C40}"/>
              </a:ext>
            </a:extLst>
          </p:cNvPr>
          <p:cNvSpPr>
            <a:spLocks noGrp="1"/>
          </p:cNvSpPr>
          <p:nvPr/>
        </p:nvSpPr>
        <p:spPr>
          <a:xfrm>
            <a:off x="628650" y="2235109"/>
            <a:ext cx="2297793" cy="1064441"/>
          </a:xfrm>
          <a:custGeom>
            <a:avLst/>
            <a:gdLst/>
            <a:ahLst/>
            <a:cxnLst/>
            <a:rect l="0" t="0" r="0" b="0"/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zones 生产应用 VPC边缘高光-35">
            <a:extLst>
              <a:ext uri="{FF2B5EF4-FFF2-40B4-BE49-F238E27FC236}">
                <a16:creationId xmlns:a16="http://schemas.microsoft.com/office/drawing/2014/main" id="{DFF9C004-7189-40A9-A6D0-3A9454CBE2A3}"/>
              </a:ext>
            </a:extLst>
          </p:cNvPr>
          <p:cNvSpPr>
            <a:spLocks noGrp="1"/>
          </p:cNvSpPr>
          <p:nvPr/>
        </p:nvSpPr>
        <p:spPr>
          <a:xfrm>
            <a:off x="609600" y="2216059"/>
            <a:ext cx="2335893" cy="1102541"/>
          </a:xfrm>
          <a:custGeom>
            <a:avLst/>
            <a:gdLst/>
            <a:ahLst/>
            <a:cxnLst/>
            <a:rect l="0" t="0" r="0" b="0"/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36">
            <a:extLst>
              <a:ext uri="{FF2B5EF4-FFF2-40B4-BE49-F238E27FC236}">
                <a16:creationId xmlns:a16="http://schemas.microsoft.com/office/drawing/2014/main" id="{0AB58321-E217-4421-A744-BF968608CFD4}"/>
              </a:ext>
            </a:extLst>
          </p:cNvPr>
          <p:cNvSpPr>
            <a:spLocks noGrp="1"/>
          </p:cNvSpPr>
          <p:nvPr/>
        </p:nvSpPr>
        <p:spPr>
          <a:xfrm>
            <a:off x="768441" y="244030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生产应用 VPC-37">
            <a:extLst>
              <a:ext uri="{FF2B5EF4-FFF2-40B4-BE49-F238E27FC236}">
                <a16:creationId xmlns:a16="http://schemas.microsoft.com/office/drawing/2014/main" id="{A614A369-FBFD-45BD-98BF-9996A4B9921F}"/>
              </a:ext>
            </a:extLst>
          </p:cNvPr>
          <p:cNvSpPr>
            <a:spLocks noGrp="1"/>
          </p:cNvSpPr>
          <p:nvPr/>
        </p:nvSpPr>
        <p:spPr>
          <a:xfrm>
            <a:off x="1385116" y="237490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生产应用 VPC</a:t>
            </a:r>
          </a:p>
        </p:txBody>
      </p:sp>
      <p:sp>
        <p:nvSpPr>
          <p:cNvPr id="14" name="统一风格-文字 Web / App 子网-38">
            <a:extLst>
              <a:ext uri="{FF2B5EF4-FFF2-40B4-BE49-F238E27FC236}">
                <a16:creationId xmlns:a16="http://schemas.microsoft.com/office/drawing/2014/main" id="{31D17775-AB31-4EDD-B1E0-F54D9EF43ED7}"/>
              </a:ext>
            </a:extLst>
          </p:cNvPr>
          <p:cNvSpPr>
            <a:spLocks noGrp="1"/>
          </p:cNvSpPr>
          <p:nvPr/>
        </p:nvSpPr>
        <p:spPr>
          <a:xfrm>
            <a:off x="1385116" y="270192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Web / App 子网</a:t>
            </a:r>
          </a:p>
        </p:txBody>
      </p:sp>
      <p:sp>
        <p:nvSpPr>
          <p:cNvPr id="15" name="统一风格-flat-zones 生产数据 VPC玻璃后沿-39">
            <a:extLst>
              <a:ext uri="{FF2B5EF4-FFF2-40B4-BE49-F238E27FC236}">
                <a16:creationId xmlns:a16="http://schemas.microsoft.com/office/drawing/2014/main" id="{F6AE844D-5A95-4EBA-8BAE-4E0D4ABEC48C}"/>
              </a:ext>
            </a:extLst>
          </p:cNvPr>
          <p:cNvSpPr>
            <a:spLocks noGrp="1"/>
          </p:cNvSpPr>
          <p:nvPr/>
        </p:nvSpPr>
        <p:spPr>
          <a:xfrm>
            <a:off x="3365954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flat-zones 生产数据 VPC-40">
            <a:extLst>
              <a:ext uri="{FF2B5EF4-FFF2-40B4-BE49-F238E27FC236}">
                <a16:creationId xmlns:a16="http://schemas.microsoft.com/office/drawing/2014/main" id="{671EDA5B-00F7-484B-ADFD-CF9B335D4203}"/>
              </a:ext>
            </a:extLst>
          </p:cNvPr>
          <p:cNvSpPr>
            <a:spLocks noGrp="1"/>
          </p:cNvSpPr>
          <p:nvPr/>
        </p:nvSpPr>
        <p:spPr>
          <a:xfrm>
            <a:off x="3365954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flat-zones 生产数据 VPC玻璃内沿-41">
            <a:extLst>
              <a:ext uri="{FF2B5EF4-FFF2-40B4-BE49-F238E27FC236}">
                <a16:creationId xmlns:a16="http://schemas.microsoft.com/office/drawing/2014/main" id="{2C0A1104-9647-47D4-B7A8-4E28E22D1C8E}"/>
              </a:ext>
            </a:extLst>
          </p:cNvPr>
          <p:cNvSpPr>
            <a:spLocks noGrp="1"/>
          </p:cNvSpPr>
          <p:nvPr/>
        </p:nvSpPr>
        <p:spPr>
          <a:xfrm>
            <a:off x="3378812" y="2228918"/>
            <a:ext cx="2310175" cy="1076824"/>
          </a:xfrm>
          <a:prstGeom prst="roundRect">
            <a:avLst>
              <a:gd name="adj" fmla="val 68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zones 生产数据 VPC透光反射面-42">
            <a:extLst>
              <a:ext uri="{FF2B5EF4-FFF2-40B4-BE49-F238E27FC236}">
                <a16:creationId xmlns:a16="http://schemas.microsoft.com/office/drawing/2014/main" id="{48201EFC-03DC-4CD5-8DD8-ACF72E07A1AD}"/>
              </a:ext>
            </a:extLst>
          </p:cNvPr>
          <p:cNvSpPr>
            <a:spLocks noGrp="1"/>
          </p:cNvSpPr>
          <p:nvPr/>
        </p:nvSpPr>
        <p:spPr>
          <a:xfrm>
            <a:off x="3385004" y="2235109"/>
            <a:ext cx="2297793" cy="1064441"/>
          </a:xfrm>
          <a:custGeom>
            <a:avLst/>
            <a:gdLst/>
            <a:ahLst/>
            <a:cxnLst/>
            <a:rect l="0" t="0" r="0" b="0"/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zones 生产数据 VPC边缘高光-43">
            <a:extLst>
              <a:ext uri="{FF2B5EF4-FFF2-40B4-BE49-F238E27FC236}">
                <a16:creationId xmlns:a16="http://schemas.microsoft.com/office/drawing/2014/main" id="{A006DE28-CD89-4B34-BE98-F52AA67BC1A5}"/>
              </a:ext>
            </a:extLst>
          </p:cNvPr>
          <p:cNvSpPr>
            <a:spLocks noGrp="1"/>
          </p:cNvSpPr>
          <p:nvPr/>
        </p:nvSpPr>
        <p:spPr>
          <a:xfrm>
            <a:off x="3365954" y="2216059"/>
            <a:ext cx="2335893" cy="1102541"/>
          </a:xfrm>
          <a:custGeom>
            <a:avLst/>
            <a:gdLst/>
            <a:ahLst/>
            <a:cxnLst/>
            <a:rect l="0" t="0" r="0" b="0"/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loud VPC 云轮廓-44">
            <a:extLst>
              <a:ext uri="{FF2B5EF4-FFF2-40B4-BE49-F238E27FC236}">
                <a16:creationId xmlns:a16="http://schemas.microsoft.com/office/drawing/2014/main" id="{43338063-C751-4797-94DB-497B717DABC5}"/>
              </a:ext>
            </a:extLst>
          </p:cNvPr>
          <p:cNvSpPr>
            <a:spLocks noGrp="1"/>
          </p:cNvSpPr>
          <p:nvPr/>
        </p:nvSpPr>
        <p:spPr>
          <a:xfrm>
            <a:off x="3524794" y="244030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生产数据 VPC-45">
            <a:extLst>
              <a:ext uri="{FF2B5EF4-FFF2-40B4-BE49-F238E27FC236}">
                <a16:creationId xmlns:a16="http://schemas.microsoft.com/office/drawing/2014/main" id="{19E64C09-BE3A-4ABE-A1DA-F72769A97CF9}"/>
              </a:ext>
            </a:extLst>
          </p:cNvPr>
          <p:cNvSpPr>
            <a:spLocks noGrp="1"/>
          </p:cNvSpPr>
          <p:nvPr/>
        </p:nvSpPr>
        <p:spPr>
          <a:xfrm>
            <a:off x="4141470" y="237490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生产数据 VPC</a:t>
            </a:r>
          </a:p>
        </p:txBody>
      </p:sp>
      <p:sp>
        <p:nvSpPr>
          <p:cNvPr id="22" name="统一风格-文字 DB 子网-46">
            <a:extLst>
              <a:ext uri="{FF2B5EF4-FFF2-40B4-BE49-F238E27FC236}">
                <a16:creationId xmlns:a16="http://schemas.microsoft.com/office/drawing/2014/main" id="{263DC001-A0C5-4058-B513-55F799BAE2FC}"/>
              </a:ext>
            </a:extLst>
          </p:cNvPr>
          <p:cNvSpPr>
            <a:spLocks noGrp="1"/>
          </p:cNvSpPr>
          <p:nvPr/>
        </p:nvSpPr>
        <p:spPr>
          <a:xfrm>
            <a:off x="4141470" y="270192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DB 子网</a:t>
            </a:r>
          </a:p>
        </p:txBody>
      </p:sp>
      <p:sp>
        <p:nvSpPr>
          <p:cNvPr id="23" name="统一风格-flat-zones 运维 VPC玻璃后沿-47">
            <a:extLst>
              <a:ext uri="{FF2B5EF4-FFF2-40B4-BE49-F238E27FC236}">
                <a16:creationId xmlns:a16="http://schemas.microsoft.com/office/drawing/2014/main" id="{76E0C45D-EBF2-443C-B799-7B9610C46522}"/>
              </a:ext>
            </a:extLst>
          </p:cNvPr>
          <p:cNvSpPr>
            <a:spLocks noGrp="1"/>
          </p:cNvSpPr>
          <p:nvPr/>
        </p:nvSpPr>
        <p:spPr>
          <a:xfrm>
            <a:off x="6122307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flat-zones 运维 VPC-48">
            <a:extLst>
              <a:ext uri="{FF2B5EF4-FFF2-40B4-BE49-F238E27FC236}">
                <a16:creationId xmlns:a16="http://schemas.microsoft.com/office/drawing/2014/main" id="{5B0AB15E-FA09-479B-A32B-DF69F7348FF4}"/>
              </a:ext>
            </a:extLst>
          </p:cNvPr>
          <p:cNvSpPr>
            <a:spLocks noGrp="1"/>
          </p:cNvSpPr>
          <p:nvPr/>
        </p:nvSpPr>
        <p:spPr>
          <a:xfrm>
            <a:off x="6122307" y="2216059"/>
            <a:ext cx="2335893" cy="1102541"/>
          </a:xfrm>
          <a:prstGeom prst="roundRect">
            <a:avLst>
              <a:gd name="adj" fmla="val 77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flat-zones 运维 VPC玻璃内沿-49">
            <a:extLst>
              <a:ext uri="{FF2B5EF4-FFF2-40B4-BE49-F238E27FC236}">
                <a16:creationId xmlns:a16="http://schemas.microsoft.com/office/drawing/2014/main" id="{30501876-F54F-4707-B13F-16A18F2AFE82}"/>
              </a:ext>
            </a:extLst>
          </p:cNvPr>
          <p:cNvSpPr>
            <a:spLocks noGrp="1"/>
          </p:cNvSpPr>
          <p:nvPr/>
        </p:nvSpPr>
        <p:spPr>
          <a:xfrm>
            <a:off x="6135166" y="2228918"/>
            <a:ext cx="2310175" cy="1076824"/>
          </a:xfrm>
          <a:prstGeom prst="roundRect">
            <a:avLst>
              <a:gd name="adj" fmla="val 681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flat-zones 运维 VPC透光反射面-50">
            <a:extLst>
              <a:ext uri="{FF2B5EF4-FFF2-40B4-BE49-F238E27FC236}">
                <a16:creationId xmlns:a16="http://schemas.microsoft.com/office/drawing/2014/main" id="{634BDA7E-4CCB-4197-BD1C-82C55CBAA326}"/>
              </a:ext>
            </a:extLst>
          </p:cNvPr>
          <p:cNvSpPr>
            <a:spLocks noGrp="1"/>
          </p:cNvSpPr>
          <p:nvPr/>
        </p:nvSpPr>
        <p:spPr>
          <a:xfrm>
            <a:off x="6141357" y="2235109"/>
            <a:ext cx="2297793" cy="1064441"/>
          </a:xfrm>
          <a:custGeom>
            <a:avLst/>
            <a:gdLst/>
            <a:ahLst/>
            <a:cxnLst/>
            <a:rect l="0" t="0" r="0" b="0"/>
            <a:pathLst>
              <a:path w="2297793" h="1064441">
                <a:moveTo>
                  <a:pt x="76200" y="0"/>
                </a:moveTo>
                <a:lnTo>
                  <a:pt x="1470587" y="0"/>
                </a:lnTo>
                <a:lnTo>
                  <a:pt x="597426" y="1064441"/>
                </a:lnTo>
                <a:lnTo>
                  <a:pt x="76200" y="1064441"/>
                </a:lnTo>
                <a:cubicBezTo>
                  <a:pt x="28575" y="1064441"/>
                  <a:pt x="0" y="1035866"/>
                  <a:pt x="0" y="98824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flat-zones 运维 VPC边缘高光-51">
            <a:extLst>
              <a:ext uri="{FF2B5EF4-FFF2-40B4-BE49-F238E27FC236}">
                <a16:creationId xmlns:a16="http://schemas.microsoft.com/office/drawing/2014/main" id="{57583735-1A06-45D2-987B-69033E3FF262}"/>
              </a:ext>
            </a:extLst>
          </p:cNvPr>
          <p:cNvSpPr>
            <a:spLocks noGrp="1"/>
          </p:cNvSpPr>
          <p:nvPr/>
        </p:nvSpPr>
        <p:spPr>
          <a:xfrm>
            <a:off x="6122307" y="2216059"/>
            <a:ext cx="2335893" cy="1102541"/>
          </a:xfrm>
          <a:custGeom>
            <a:avLst/>
            <a:gdLst/>
            <a:ahLst/>
            <a:cxnLst/>
            <a:rect l="0" t="0" r="0" b="0"/>
            <a:pathLst>
              <a:path w="2335893" h="1102541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cloud VPC 云轮廓-52">
            <a:extLst>
              <a:ext uri="{FF2B5EF4-FFF2-40B4-BE49-F238E27FC236}">
                <a16:creationId xmlns:a16="http://schemas.microsoft.com/office/drawing/2014/main" id="{75826BED-A6EC-4AF3-B1DD-3797EC25FD64}"/>
              </a:ext>
            </a:extLst>
          </p:cNvPr>
          <p:cNvSpPr>
            <a:spLocks noGrp="1"/>
          </p:cNvSpPr>
          <p:nvPr/>
        </p:nvSpPr>
        <p:spPr>
          <a:xfrm>
            <a:off x="6281148" y="244030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文字 运维 VPC-53">
            <a:extLst>
              <a:ext uri="{FF2B5EF4-FFF2-40B4-BE49-F238E27FC236}">
                <a16:creationId xmlns:a16="http://schemas.microsoft.com/office/drawing/2014/main" id="{FC54F6CA-1A39-47F6-BC9C-65DE664DCC3E}"/>
              </a:ext>
            </a:extLst>
          </p:cNvPr>
          <p:cNvSpPr>
            <a:spLocks noGrp="1"/>
          </p:cNvSpPr>
          <p:nvPr/>
        </p:nvSpPr>
        <p:spPr>
          <a:xfrm>
            <a:off x="6897824" y="237490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 VPC</a:t>
            </a:r>
          </a:p>
        </p:txBody>
      </p:sp>
      <p:sp>
        <p:nvSpPr>
          <p:cNvPr id="30" name="统一风格-文字 堡垒机-54">
            <a:extLst>
              <a:ext uri="{FF2B5EF4-FFF2-40B4-BE49-F238E27FC236}">
                <a16:creationId xmlns:a16="http://schemas.microsoft.com/office/drawing/2014/main" id="{4E690415-B8DE-44C0-8CAD-3EBC127D0C68}"/>
              </a:ext>
            </a:extLst>
          </p:cNvPr>
          <p:cNvSpPr>
            <a:spLocks noGrp="1"/>
          </p:cNvSpPr>
          <p:nvPr/>
        </p:nvSpPr>
        <p:spPr>
          <a:xfrm>
            <a:off x="6897824" y="270192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堡垒机</a:t>
            </a:r>
          </a:p>
        </p:txBody>
      </p:sp>
      <p:cxnSp>
        <p:nvCxnSpPr>
          <p:cNvPr id="31" name="统一拓扑-flat-zones-连线-1">
            <a:extLst>
              <a:ext uri="{FF2B5EF4-FFF2-40B4-BE49-F238E27FC236}">
                <a16:creationId xmlns:a16="http://schemas.microsoft.com/office/drawing/2014/main" id="{D9A2FDDE-7FBA-403B-A2D8-789B8970B6F6}"/>
              </a:ext>
            </a:extLst>
          </p:cNvPr>
          <p:cNvCxnSpPr/>
          <p:nvPr/>
        </p:nvCxnSpPr>
        <p:spPr>
          <a:xfrm>
            <a:off x="2945493" y="2767330"/>
            <a:ext cx="420461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2" name="统一风格-flat-zones 关系文字衬底-55">
            <a:extLst>
              <a:ext uri="{FF2B5EF4-FFF2-40B4-BE49-F238E27FC236}">
                <a16:creationId xmlns:a16="http://schemas.microsoft.com/office/drawing/2014/main" id="{20C082D3-8F90-4118-9460-F39828F13435}"/>
              </a:ext>
            </a:extLst>
          </p:cNvPr>
          <p:cNvSpPr>
            <a:spLocks noGrp="1"/>
          </p:cNvSpPr>
          <p:nvPr/>
        </p:nvSpPr>
        <p:spPr>
          <a:xfrm>
            <a:off x="2366191" y="3384006"/>
            <a:ext cx="1401536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文字 TCP 3306-56">
            <a:extLst>
              <a:ext uri="{FF2B5EF4-FFF2-40B4-BE49-F238E27FC236}">
                <a16:creationId xmlns:a16="http://schemas.microsoft.com/office/drawing/2014/main" id="{5A4EF6DB-275D-40F5-99F8-6E9B10AE9B18}"/>
              </a:ext>
            </a:extLst>
          </p:cNvPr>
          <p:cNvSpPr>
            <a:spLocks noGrp="1"/>
          </p:cNvSpPr>
          <p:nvPr/>
        </p:nvSpPr>
        <p:spPr>
          <a:xfrm>
            <a:off x="2403566" y="3384006"/>
            <a:ext cx="1326787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3306</a:t>
            </a:r>
          </a:p>
        </p:txBody>
      </p:sp>
      <p:cxnSp>
        <p:nvCxnSpPr>
          <p:cNvPr id="34" name="统一拓扑-flat-zones-连线-2">
            <a:extLst>
              <a:ext uri="{FF2B5EF4-FFF2-40B4-BE49-F238E27FC236}">
                <a16:creationId xmlns:a16="http://schemas.microsoft.com/office/drawing/2014/main" id="{C1941977-01F9-45E2-9D1A-823B09A129CE}"/>
              </a:ext>
            </a:extLst>
          </p:cNvPr>
          <p:cNvCxnSpPr/>
          <p:nvPr/>
        </p:nvCxnSpPr>
        <p:spPr>
          <a:xfrm>
            <a:off x="7290254" y="3318601"/>
            <a:ext cx="0" cy="766173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35" name="统一拓扑-flat-zones-连线-3">
            <a:extLst>
              <a:ext uri="{FF2B5EF4-FFF2-40B4-BE49-F238E27FC236}">
                <a16:creationId xmlns:a16="http://schemas.microsoft.com/office/drawing/2014/main" id="{E01D024D-3EE0-4FA7-9E63-0D6633D27A17}"/>
              </a:ext>
            </a:extLst>
          </p:cNvPr>
          <p:cNvCxnSpPr/>
          <p:nvPr/>
        </p:nvCxnSpPr>
        <p:spPr>
          <a:xfrm flipH="1">
            <a:off x="1777546" y="4084774"/>
            <a:ext cx="551270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36" name="统一拓扑-flat-zones-连线-4">
            <a:extLst>
              <a:ext uri="{FF2B5EF4-FFF2-40B4-BE49-F238E27FC236}">
                <a16:creationId xmlns:a16="http://schemas.microsoft.com/office/drawing/2014/main" id="{014B6B55-E610-406D-99ED-148EC4BEF5AF}"/>
              </a:ext>
            </a:extLst>
          </p:cNvPr>
          <p:cNvCxnSpPr/>
          <p:nvPr/>
        </p:nvCxnSpPr>
        <p:spPr>
          <a:xfrm flipV="1">
            <a:off x="1777546" y="3318601"/>
            <a:ext cx="0" cy="766173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7" name="统一风格-flat-zones 关系文字衬底-57">
            <a:extLst>
              <a:ext uri="{FF2B5EF4-FFF2-40B4-BE49-F238E27FC236}">
                <a16:creationId xmlns:a16="http://schemas.microsoft.com/office/drawing/2014/main" id="{2BECEF6A-81B0-4CF7-97C0-FE73E413247E}"/>
              </a:ext>
            </a:extLst>
          </p:cNvPr>
          <p:cNvSpPr>
            <a:spLocks noGrp="1"/>
          </p:cNvSpPr>
          <p:nvPr/>
        </p:nvSpPr>
        <p:spPr>
          <a:xfrm>
            <a:off x="4066721" y="3767092"/>
            <a:ext cx="2177052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文字 TCP 22 · 管理连接-58">
            <a:extLst>
              <a:ext uri="{FF2B5EF4-FFF2-40B4-BE49-F238E27FC236}">
                <a16:creationId xmlns:a16="http://schemas.microsoft.com/office/drawing/2014/main" id="{3671371D-58C6-49E6-AE4B-F128D15328BA}"/>
              </a:ext>
            </a:extLst>
          </p:cNvPr>
          <p:cNvSpPr>
            <a:spLocks noGrp="1"/>
          </p:cNvSpPr>
          <p:nvPr/>
        </p:nvSpPr>
        <p:spPr>
          <a:xfrm>
            <a:off x="4104096" y="3767092"/>
            <a:ext cx="2102304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22 · 管理连接</a:t>
            </a:r>
          </a:p>
        </p:txBody>
      </p:sp>
      <p:sp>
        <p:nvSpPr>
          <p:cNvPr id="39" name="统一风格-flat-zones 测试 VPC玻璃后沿-59">
            <a:extLst>
              <a:ext uri="{FF2B5EF4-FFF2-40B4-BE49-F238E27FC236}">
                <a16:creationId xmlns:a16="http://schemas.microsoft.com/office/drawing/2014/main" id="{17724776-B90D-4988-ABA2-FA849DDFA75A}"/>
              </a:ext>
            </a:extLst>
          </p:cNvPr>
          <p:cNvSpPr>
            <a:spLocks noGrp="1"/>
          </p:cNvSpPr>
          <p:nvPr/>
        </p:nvSpPr>
        <p:spPr>
          <a:xfrm>
            <a:off x="609600" y="4701449"/>
            <a:ext cx="2335893" cy="1046480"/>
          </a:xfrm>
          <a:prstGeom prst="roundRect">
            <a:avLst>
              <a:gd name="adj" fmla="val 819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统一风格-flat-zones 测试 VPC-60">
            <a:extLst>
              <a:ext uri="{FF2B5EF4-FFF2-40B4-BE49-F238E27FC236}">
                <a16:creationId xmlns:a16="http://schemas.microsoft.com/office/drawing/2014/main" id="{F288B092-94BA-43DF-B018-4D70CF83B1A7}"/>
              </a:ext>
            </a:extLst>
          </p:cNvPr>
          <p:cNvSpPr>
            <a:spLocks noGrp="1"/>
          </p:cNvSpPr>
          <p:nvPr/>
        </p:nvSpPr>
        <p:spPr>
          <a:xfrm>
            <a:off x="609600" y="4701449"/>
            <a:ext cx="2335893" cy="1046480"/>
          </a:xfrm>
          <a:prstGeom prst="roundRect">
            <a:avLst>
              <a:gd name="adj" fmla="val 819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flat-zones 测试 VPC玻璃内沿-61">
            <a:extLst>
              <a:ext uri="{FF2B5EF4-FFF2-40B4-BE49-F238E27FC236}">
                <a16:creationId xmlns:a16="http://schemas.microsoft.com/office/drawing/2014/main" id="{F66F4F72-AF6F-4E49-B2AB-95E34446D33E}"/>
              </a:ext>
            </a:extLst>
          </p:cNvPr>
          <p:cNvSpPr>
            <a:spLocks noGrp="1"/>
          </p:cNvSpPr>
          <p:nvPr/>
        </p:nvSpPr>
        <p:spPr>
          <a:xfrm>
            <a:off x="622459" y="4714308"/>
            <a:ext cx="2310175" cy="1020762"/>
          </a:xfrm>
          <a:prstGeom prst="roundRect">
            <a:avLst>
              <a:gd name="adj" fmla="val 718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flat-zones 测试 VPC透光反射面-62">
            <a:extLst>
              <a:ext uri="{FF2B5EF4-FFF2-40B4-BE49-F238E27FC236}">
                <a16:creationId xmlns:a16="http://schemas.microsoft.com/office/drawing/2014/main" id="{69DEAB95-C085-40A2-A2B1-7C8C31D095AC}"/>
              </a:ext>
            </a:extLst>
          </p:cNvPr>
          <p:cNvSpPr>
            <a:spLocks noGrp="1"/>
          </p:cNvSpPr>
          <p:nvPr/>
        </p:nvSpPr>
        <p:spPr>
          <a:xfrm>
            <a:off x="628650" y="4720499"/>
            <a:ext cx="2297793" cy="1008380"/>
          </a:xfrm>
          <a:custGeom>
            <a:avLst/>
            <a:gdLst/>
            <a:ahLst/>
            <a:cxnLst/>
            <a:rect l="0" t="0" r="0" b="0"/>
            <a:pathLst>
              <a:path w="2297793" h="1008380">
                <a:moveTo>
                  <a:pt x="76200" y="0"/>
                </a:moveTo>
                <a:lnTo>
                  <a:pt x="1470587" y="0"/>
                </a:lnTo>
                <a:lnTo>
                  <a:pt x="597426" y="1008380"/>
                </a:lnTo>
                <a:lnTo>
                  <a:pt x="76200" y="1008380"/>
                </a:lnTo>
                <a:cubicBezTo>
                  <a:pt x="28575" y="1008380"/>
                  <a:pt x="0" y="979805"/>
                  <a:pt x="0" y="93218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flat-zones 测试 VPC边缘高光-63">
            <a:extLst>
              <a:ext uri="{FF2B5EF4-FFF2-40B4-BE49-F238E27FC236}">
                <a16:creationId xmlns:a16="http://schemas.microsoft.com/office/drawing/2014/main" id="{B28386E0-B51E-4103-9A7C-CFA531AB1E5B}"/>
              </a:ext>
            </a:extLst>
          </p:cNvPr>
          <p:cNvSpPr>
            <a:spLocks noGrp="1"/>
          </p:cNvSpPr>
          <p:nvPr/>
        </p:nvSpPr>
        <p:spPr>
          <a:xfrm>
            <a:off x="609600" y="4701449"/>
            <a:ext cx="2335893" cy="1046480"/>
          </a:xfrm>
          <a:custGeom>
            <a:avLst/>
            <a:gdLst/>
            <a:ahLst/>
            <a:cxnLst/>
            <a:rect l="0" t="0" r="0" b="0"/>
            <a:pathLst>
              <a:path w="2335893" h="1046480">
                <a:moveTo>
                  <a:pt x="95250" y="9525"/>
                </a:moveTo>
                <a:lnTo>
                  <a:pt x="2240643" y="9525"/>
                </a:lnTo>
                <a:cubicBezTo>
                  <a:pt x="2288268" y="9525"/>
                  <a:pt x="2326368" y="47625"/>
                  <a:pt x="232636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cloud VPC 云轮廓-64">
            <a:extLst>
              <a:ext uri="{FF2B5EF4-FFF2-40B4-BE49-F238E27FC236}">
                <a16:creationId xmlns:a16="http://schemas.microsoft.com/office/drawing/2014/main" id="{9EA95269-4A06-422F-B34D-1FB516A65CA5}"/>
              </a:ext>
            </a:extLst>
          </p:cNvPr>
          <p:cNvSpPr>
            <a:spLocks noGrp="1"/>
          </p:cNvSpPr>
          <p:nvPr/>
        </p:nvSpPr>
        <p:spPr>
          <a:xfrm>
            <a:off x="768441" y="49256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文字 测试 VPC-65">
            <a:extLst>
              <a:ext uri="{FF2B5EF4-FFF2-40B4-BE49-F238E27FC236}">
                <a16:creationId xmlns:a16="http://schemas.microsoft.com/office/drawing/2014/main" id="{54D501C6-A373-4B3F-840C-97F0315D66C4}"/>
              </a:ext>
            </a:extLst>
          </p:cNvPr>
          <p:cNvSpPr>
            <a:spLocks noGrp="1"/>
          </p:cNvSpPr>
          <p:nvPr/>
        </p:nvSpPr>
        <p:spPr>
          <a:xfrm>
            <a:off x="1385116" y="4860290"/>
            <a:ext cx="1457597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测试 VPC</a:t>
            </a:r>
          </a:p>
        </p:txBody>
      </p:sp>
      <p:sp>
        <p:nvSpPr>
          <p:cNvPr id="46" name="统一风格-文字 测试服务器-66">
            <a:extLst>
              <a:ext uri="{FF2B5EF4-FFF2-40B4-BE49-F238E27FC236}">
                <a16:creationId xmlns:a16="http://schemas.microsoft.com/office/drawing/2014/main" id="{E300A552-9EDE-43C3-8C5A-8D325EF4B6A9}"/>
              </a:ext>
            </a:extLst>
          </p:cNvPr>
          <p:cNvSpPr>
            <a:spLocks noGrp="1"/>
          </p:cNvSpPr>
          <p:nvPr/>
        </p:nvSpPr>
        <p:spPr>
          <a:xfrm>
            <a:off x="1385116" y="5187315"/>
            <a:ext cx="1457597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测试服务器</a:t>
            </a:r>
          </a:p>
        </p:txBody>
      </p:sp>
      <p:cxnSp>
        <p:nvCxnSpPr>
          <p:cNvPr id="47" name="统一拓扑-flat-zones-连线-5">
            <a:extLst>
              <a:ext uri="{FF2B5EF4-FFF2-40B4-BE49-F238E27FC236}">
                <a16:creationId xmlns:a16="http://schemas.microsoft.com/office/drawing/2014/main" id="{434ADC4F-2E9E-40FE-971E-FE0EE05B4A2A}"/>
              </a:ext>
            </a:extLst>
          </p:cNvPr>
          <p:cNvCxnSpPr/>
          <p:nvPr/>
        </p:nvCxnSpPr>
        <p:spPr>
          <a:xfrm>
            <a:off x="2945493" y="5224689"/>
            <a:ext cx="1588407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</a:ln>
        </p:spPr>
      </p:cxnSp>
      <p:cxnSp>
        <p:nvCxnSpPr>
          <p:cNvPr id="48" name="统一拓扑-flat-zones-连线-6">
            <a:extLst>
              <a:ext uri="{FF2B5EF4-FFF2-40B4-BE49-F238E27FC236}">
                <a16:creationId xmlns:a16="http://schemas.microsoft.com/office/drawing/2014/main" id="{C833B08F-241A-414E-B0F2-62F2E8E10685}"/>
              </a:ext>
            </a:extLst>
          </p:cNvPr>
          <p:cNvCxnSpPr/>
          <p:nvPr/>
        </p:nvCxnSpPr>
        <p:spPr>
          <a:xfrm flipV="1">
            <a:off x="4533900" y="4383768"/>
            <a:ext cx="0" cy="840921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49" name="统一拓扑-flat-zones-连线-7">
            <a:extLst>
              <a:ext uri="{FF2B5EF4-FFF2-40B4-BE49-F238E27FC236}">
                <a16:creationId xmlns:a16="http://schemas.microsoft.com/office/drawing/2014/main" id="{B29BC633-CD10-4A62-B8C6-12FB4A261C5F}"/>
              </a:ext>
            </a:extLst>
          </p:cNvPr>
          <p:cNvCxnSpPr/>
          <p:nvPr/>
        </p:nvCxnSpPr>
        <p:spPr>
          <a:xfrm>
            <a:off x="4449808" y="4477204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0" name="统一拓扑-flat-zones-连线-8">
            <a:extLst>
              <a:ext uri="{FF2B5EF4-FFF2-40B4-BE49-F238E27FC236}">
                <a16:creationId xmlns:a16="http://schemas.microsoft.com/office/drawing/2014/main" id="{1EBAEB6C-4029-4C3E-9E51-8FBC44F9EF85}"/>
              </a:ext>
            </a:extLst>
          </p:cNvPr>
          <p:cNvCxnSpPr/>
          <p:nvPr/>
        </p:nvCxnSpPr>
        <p:spPr>
          <a:xfrm flipH="1">
            <a:off x="4449808" y="4477204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1" name="统一风格-flat-zones 关系文字衬底-67">
            <a:extLst>
              <a:ext uri="{FF2B5EF4-FFF2-40B4-BE49-F238E27FC236}">
                <a16:creationId xmlns:a16="http://schemas.microsoft.com/office/drawing/2014/main" id="{C4C247C3-A8AB-4579-A840-46FE6A67E41A}"/>
              </a:ext>
            </a:extLst>
          </p:cNvPr>
          <p:cNvSpPr>
            <a:spLocks noGrp="1"/>
          </p:cNvSpPr>
          <p:nvPr/>
        </p:nvSpPr>
        <p:spPr>
          <a:xfrm>
            <a:off x="4888956" y="4888321"/>
            <a:ext cx="2410641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默认无互访授权-68">
            <a:extLst>
              <a:ext uri="{FF2B5EF4-FFF2-40B4-BE49-F238E27FC236}">
                <a16:creationId xmlns:a16="http://schemas.microsoft.com/office/drawing/2014/main" id="{9CBB370D-3E17-4F50-9AAF-A023A3A312C7}"/>
              </a:ext>
            </a:extLst>
          </p:cNvPr>
          <p:cNvSpPr>
            <a:spLocks noGrp="1"/>
          </p:cNvSpPr>
          <p:nvPr/>
        </p:nvSpPr>
        <p:spPr>
          <a:xfrm>
            <a:off x="4926330" y="4888321"/>
            <a:ext cx="2335893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默认无互访授权</a:t>
            </a:r>
          </a:p>
        </p:txBody>
      </p:sp>
      <p:sp>
        <p:nvSpPr>
          <p:cNvPr id="53" name="统一风格-文字 10.20.10.15-69">
            <a:extLst>
              <a:ext uri="{FF2B5EF4-FFF2-40B4-BE49-F238E27FC236}">
                <a16:creationId xmlns:a16="http://schemas.microsoft.com/office/drawing/2014/main" id="{7CF0424E-A333-4693-8DD9-90A502D0CE5F}"/>
              </a:ext>
            </a:extLst>
          </p:cNvPr>
          <p:cNvSpPr>
            <a:spLocks noGrp="1"/>
          </p:cNvSpPr>
          <p:nvPr/>
        </p:nvSpPr>
        <p:spPr>
          <a:xfrm>
            <a:off x="609600" y="2907484"/>
            <a:ext cx="2335893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54" name="统一风格-文字 10.30.20.10-70">
            <a:extLst>
              <a:ext uri="{FF2B5EF4-FFF2-40B4-BE49-F238E27FC236}">
                <a16:creationId xmlns:a16="http://schemas.microsoft.com/office/drawing/2014/main" id="{D7624B2B-44F2-4FC9-87CE-0D8CB38CD9E0}"/>
              </a:ext>
            </a:extLst>
          </p:cNvPr>
          <p:cNvSpPr>
            <a:spLocks noGrp="1"/>
          </p:cNvSpPr>
          <p:nvPr/>
        </p:nvSpPr>
        <p:spPr>
          <a:xfrm>
            <a:off x="3365954" y="2907484"/>
            <a:ext cx="2335893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sp>
        <p:nvSpPr>
          <p:cNvPr id="55" name="版式分隔线">
            <a:extLst>
              <a:ext uri="{FF2B5EF4-FFF2-40B4-BE49-F238E27FC236}">
                <a16:creationId xmlns:a16="http://schemas.microsoft.com/office/drawing/2014/main" id="{F46DF32E-19DC-4B47-AADF-EED788A586B6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版式分隔线">
            <a:extLst>
              <a:ext uri="{FF2B5EF4-FFF2-40B4-BE49-F238E27FC236}">
                <a16:creationId xmlns:a16="http://schemas.microsoft.com/office/drawing/2014/main" id="{BDB32FBB-BE01-4110-B547-70A40EC1B9CA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xt-56">
            <a:extLst>
              <a:ext uri="{FF2B5EF4-FFF2-40B4-BE49-F238E27FC236}">
                <a16:creationId xmlns:a16="http://schemas.microsoft.com/office/drawing/2014/main" id="{D4712E20-5252-4309-891E-66FBC1E4A42D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8" name="txt-57">
            <a:extLst>
              <a:ext uri="{FF2B5EF4-FFF2-40B4-BE49-F238E27FC236}">
                <a16:creationId xmlns:a16="http://schemas.microsoft.com/office/drawing/2014/main" id="{969F5BFA-0ECB-4259-A41E-132603E4F233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所在 VPC 10.20.0.0/16</a:t>
            </a:r>
          </a:p>
        </p:txBody>
      </p:sp>
      <p:sp>
        <p:nvSpPr>
          <p:cNvPr id="59" name="版式分隔线">
            <a:extLst>
              <a:ext uri="{FF2B5EF4-FFF2-40B4-BE49-F238E27FC236}">
                <a16:creationId xmlns:a16="http://schemas.microsoft.com/office/drawing/2014/main" id="{1BEF555E-559B-4AA6-9D91-7D3E25DFA523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xt-59">
            <a:extLst>
              <a:ext uri="{FF2B5EF4-FFF2-40B4-BE49-F238E27FC236}">
                <a16:creationId xmlns:a16="http://schemas.microsoft.com/office/drawing/2014/main" id="{4FB95AA8-B5D6-4554-AD58-E68DAECF8F22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61" name="txt-60">
            <a:extLst>
              <a:ext uri="{FF2B5EF4-FFF2-40B4-BE49-F238E27FC236}">
                <a16:creationId xmlns:a16="http://schemas.microsoft.com/office/drawing/2014/main" id="{34F4C6D2-E12F-478E-B2BA-6324374055CA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仅需 TCP 3306</a:t>
            </a:r>
          </a:p>
        </p:txBody>
      </p:sp>
      <p:sp>
        <p:nvSpPr>
          <p:cNvPr id="62" name="版式分隔线">
            <a:extLst>
              <a:ext uri="{FF2B5EF4-FFF2-40B4-BE49-F238E27FC236}">
                <a16:creationId xmlns:a16="http://schemas.microsoft.com/office/drawing/2014/main" id="{A5FA7AC7-BDDC-4C73-812E-CA016EA940A9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xt-62">
            <a:extLst>
              <a:ext uri="{FF2B5EF4-FFF2-40B4-BE49-F238E27FC236}">
                <a16:creationId xmlns:a16="http://schemas.microsoft.com/office/drawing/2014/main" id="{A11934D6-B10C-427E-87CC-D6D0090C71D2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64" name="txt-63">
            <a:extLst>
              <a:ext uri="{FF2B5EF4-FFF2-40B4-BE49-F238E27FC236}">
                <a16:creationId xmlns:a16="http://schemas.microsoft.com/office/drawing/2014/main" id="{42EC5739-0F23-46B3-80B7-4C8777B55A37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堡垒机发起管理连接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1157120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-01  VPC 基础与规范">
            <a:extLst>
              <a:ext uri="{FF2B5EF4-FFF2-40B4-BE49-F238E27FC236}">
                <a16:creationId xmlns:a16="http://schemas.microsoft.com/office/drawing/2014/main" id="{F99F13F9-921A-42E9-909B-1F4C263C675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0B436A5A-07FC-4D59-98D4-FC8B7F5457A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</a:t>
            </a:r>
            <a:r>
              <a:rPr lang="en-US"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控制的职责与</a:t>
            </a:r>
            <a:r>
              <a:rPr lang="en-US"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使用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场景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8382C184-BAE2-4D32-AD53-96ABC6491A3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先确定需要保护的对象，再选择控制层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CD20A16-3BD7-447E-B7B0-29DA378F7A8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这些控制层共同作用。实际路径、关联对象与接入状态需要分别核验</a:t>
            </a:r>
            <a:r>
              <a:rPr lang="zh-CN" altLang="en-US" sz="1125" b="0" dirty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125" b="0" dirty="0">
              <a:solidFill>
                <a:srgbClr val="62769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BD89E16F-6B07-462A-ACB3-7B360CECD56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4">
            <a:extLst>
              <a:ext uri="{FF2B5EF4-FFF2-40B4-BE49-F238E27FC236}">
                <a16:creationId xmlns:a16="http://schemas.microsoft.com/office/drawing/2014/main" id="{9C37102C-1722-4040-A1B0-DE5FA432292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统一风格-表格玻璃容器玻璃后沿-199">
            <a:extLst>
              <a:ext uri="{FF2B5EF4-FFF2-40B4-BE49-F238E27FC236}">
                <a16:creationId xmlns:a16="http://schemas.microsoft.com/office/drawing/2014/main" id="{DD365188-FB4A-4BFB-8DA7-4F6C2FC4FDFA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3200400"/>
          </a:xfrm>
          <a:prstGeom prst="roundRect">
            <a:avLst>
              <a:gd name="adj" fmla="val 267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200">
            <a:extLst>
              <a:ext uri="{FF2B5EF4-FFF2-40B4-BE49-F238E27FC236}">
                <a16:creationId xmlns:a16="http://schemas.microsoft.com/office/drawing/2014/main" id="{BDD12765-45BB-409C-96F4-8E5AA92CDED5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3200400"/>
          </a:xfrm>
          <a:prstGeom prst="roundRect">
            <a:avLst>
              <a:gd name="adj" fmla="val 267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201">
            <a:extLst>
              <a:ext uri="{FF2B5EF4-FFF2-40B4-BE49-F238E27FC236}">
                <a16:creationId xmlns:a16="http://schemas.microsoft.com/office/drawing/2014/main" id="{A1B4E739-D775-4B45-AF18-9ADC1C9F96A3}"/>
              </a:ext>
            </a:extLst>
          </p:cNvPr>
          <p:cNvSpPr>
            <a:spLocks noGrp="1"/>
          </p:cNvSpPr>
          <p:nvPr/>
        </p:nvSpPr>
        <p:spPr>
          <a:xfrm>
            <a:off x="546259" y="2089309"/>
            <a:ext cx="11099483" cy="3174683"/>
          </a:xfrm>
          <a:prstGeom prst="roundRect">
            <a:avLst>
              <a:gd name="adj" fmla="val 23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202">
            <a:extLst>
              <a:ext uri="{FF2B5EF4-FFF2-40B4-BE49-F238E27FC236}">
                <a16:creationId xmlns:a16="http://schemas.microsoft.com/office/drawing/2014/main" id="{7BAB8AC4-2A92-4FF8-A78E-5241A73F50A8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3200400"/>
          </a:xfrm>
          <a:custGeom>
            <a:avLst/>
            <a:gdLst/>
            <a:ahLst/>
            <a:cxnLst/>
            <a:rect l="0" t="0" r="0" b="0"/>
            <a:pathLst>
              <a:path w="11125200" h="32004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2BD120-A069-453B-A1BA-77172707DF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867580"/>
              </p:ext>
            </p:extLst>
          </p:nvPr>
        </p:nvGraphicFramePr>
        <p:xfrm>
          <a:off x="609600" y="2152650"/>
          <a:ext cx="10972800" cy="30480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保护对象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典型使用场景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关联实例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实例入出方向访问约束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网络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数据库仅允许</a:t>
                      </a:r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应用源访问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ACL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关联子网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对子网实施整体访问约束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子网内的云资源仅允许特定源访问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CFW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已接入的网络边界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统一访问策略、检测与日志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经典网络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</a:t>
                      </a:r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网络分区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lang="zh-CN" altLang="en-US"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互联网访问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WAF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HTTP(S) Web 应用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识别并拦截</a:t>
                      </a:r>
                      <a:r>
                        <a:rPr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Web 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应用攻击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网站入口的</a:t>
                      </a:r>
                      <a:r>
                        <a:rPr sz="1650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SQL </a:t>
                      </a:r>
                      <a:r>
                        <a:rPr sz="1650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注入防护</a:t>
                      </a:r>
                      <a:endParaRPr sz="1650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正文-业务示例">
            <a:extLst>
              <a:ext uri="{FF2B5EF4-FFF2-40B4-BE49-F238E27FC236}">
                <a16:creationId xmlns:a16="http://schemas.microsoft.com/office/drawing/2014/main" id="{A1C74B0C-DF63-4BD9-AB73-ABA60A288AF2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业务示例</a:t>
            </a:r>
          </a:p>
        </p:txBody>
      </p:sp>
      <p:sp>
        <p:nvSpPr>
          <p:cNvPr id="13" name="txt-11">
            <a:extLst>
              <a:ext uri="{FF2B5EF4-FFF2-40B4-BE49-F238E27FC236}">
                <a16:creationId xmlns:a16="http://schemas.microsoft.com/office/drawing/2014/main" id="{D4EB29A9-6B96-4465-9899-5FEFAE282388}"/>
              </a:ext>
            </a:extLst>
          </p:cNvPr>
          <p:cNvSpPr>
            <a:spLocks noGrp="1"/>
          </p:cNvSpPr>
          <p:nvPr/>
        </p:nvSpPr>
        <p:spPr>
          <a:xfrm>
            <a:off x="2876550" y="55245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TCP 3306 访问需核对源安全组出方向、目的安全组入方向、CFW 与服务监听。</a:t>
            </a:r>
          </a:p>
        </p:txBody>
      </p:sp>
    </p:spTree>
    <p:extLst>
      <p:ext uri="{BB962C8B-B14F-4D97-AF65-F5344CB8AC3E}">
        <p14:creationId xmlns:p14="http://schemas.microsoft.com/office/powerpoint/2010/main" val="473262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文-01  VPC 基础与规范">
            <a:extLst>
              <a:ext uri="{FF2B5EF4-FFF2-40B4-BE49-F238E27FC236}">
                <a16:creationId xmlns:a16="http://schemas.microsoft.com/office/drawing/2014/main" id="{F35BEB0A-2FC6-4618-9DBD-E64E926B353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10D15708-304F-4C79-9BE8-F825C9B50C7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路由审核需要看实际命中的路径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CDA64476-0D35-4791-8792-067B32A81F1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VPC 默认路由指向 ER 存在场景约束，需与 ER 内部引流路由分别判断</a:t>
            </a:r>
          </a:p>
        </p:txBody>
      </p:sp>
      <p:sp>
        <p:nvSpPr>
          <p:cNvPr id="4" name="正文-下表为示例配置。每次变更都需确认子网关联、去回程与更具体路由的影响">
            <a:extLst>
              <a:ext uri="{FF2B5EF4-FFF2-40B4-BE49-F238E27FC236}">
                <a16:creationId xmlns:a16="http://schemas.microsoft.com/office/drawing/2014/main" id="{00797354-4F61-4FEE-8DF9-0352D03154E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下表为示例配置。每次变更都需确认子网关联、去回程与更具体路由的影响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28F5CFEA-068A-4F01-B6F8-AD46105B27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5">
            <a:extLst>
              <a:ext uri="{FF2B5EF4-FFF2-40B4-BE49-F238E27FC236}">
                <a16:creationId xmlns:a16="http://schemas.microsoft.com/office/drawing/2014/main" id="{7942416D-2284-4A4A-9AB5-9138507DCE5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统一风格-表格玻璃容器玻璃后沿-203">
            <a:extLst>
              <a:ext uri="{FF2B5EF4-FFF2-40B4-BE49-F238E27FC236}">
                <a16:creationId xmlns:a16="http://schemas.microsoft.com/office/drawing/2014/main" id="{762522D1-0D4D-40AD-84EA-750B449E2676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11125200" cy="248602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204">
            <a:extLst>
              <a:ext uri="{FF2B5EF4-FFF2-40B4-BE49-F238E27FC236}">
                <a16:creationId xmlns:a16="http://schemas.microsoft.com/office/drawing/2014/main" id="{0E26E8EC-50AE-43D8-94DF-ECEF24DEDEB9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11125200" cy="248602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205">
            <a:extLst>
              <a:ext uri="{FF2B5EF4-FFF2-40B4-BE49-F238E27FC236}">
                <a16:creationId xmlns:a16="http://schemas.microsoft.com/office/drawing/2014/main" id="{EAB6FE3C-7B64-4BCB-BFB5-C3740FC837A1}"/>
              </a:ext>
            </a:extLst>
          </p:cNvPr>
          <p:cNvSpPr>
            <a:spLocks noGrp="1"/>
          </p:cNvSpPr>
          <p:nvPr/>
        </p:nvSpPr>
        <p:spPr>
          <a:xfrm>
            <a:off x="546259" y="2136934"/>
            <a:ext cx="11099483" cy="2460308"/>
          </a:xfrm>
          <a:prstGeom prst="roundRect">
            <a:avLst>
              <a:gd name="adj" fmla="val 298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206">
            <a:extLst>
              <a:ext uri="{FF2B5EF4-FFF2-40B4-BE49-F238E27FC236}">
                <a16:creationId xmlns:a16="http://schemas.microsoft.com/office/drawing/2014/main" id="{47BC2D22-0419-49F5-9CDD-2D9FD29A0A89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11125200" cy="2486025"/>
          </a:xfrm>
          <a:custGeom>
            <a:avLst/>
            <a:gdLst/>
            <a:ahLst/>
            <a:cxnLst/>
            <a:rect l="0" t="0" r="0" b="0"/>
            <a:pathLst>
              <a:path w="11125200" h="248602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5769D7-B4AE-4D86-99C3-FB4036497274}"/>
              </a:ext>
            </a:extLst>
          </p:cNvPr>
          <p:cNvGraphicFramePr/>
          <p:nvPr/>
        </p:nvGraphicFramePr>
        <p:xfrm>
          <a:off x="609600" y="2200275"/>
          <a:ext cx="10972800" cy="233362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审核判断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10.30.0.0/16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预期跨 VPC 检查路径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10.30.20.0/24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旧对等连接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更具体目标范围可能走旧路径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版式分隔线">
            <a:extLst>
              <a:ext uri="{FF2B5EF4-FFF2-40B4-BE49-F238E27FC236}">
                <a16:creationId xmlns:a16="http://schemas.microsoft.com/office/drawing/2014/main" id="{CE5A15B9-545D-4CD8-BB60-15F36DF01C1E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xt-11">
            <a:extLst>
              <a:ext uri="{FF2B5EF4-FFF2-40B4-BE49-F238E27FC236}">
                <a16:creationId xmlns:a16="http://schemas.microsoft.com/office/drawing/2014/main" id="{1A65B478-8E99-4C06-BE5F-0ACF3D0B519F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子网关联</a:t>
            </a:r>
          </a:p>
        </p:txBody>
      </p:sp>
      <p:sp>
        <p:nvSpPr>
          <p:cNvPr id="14" name="txt-12">
            <a:extLst>
              <a:ext uri="{FF2B5EF4-FFF2-40B4-BE49-F238E27FC236}">
                <a16:creationId xmlns:a16="http://schemas.microsoft.com/office/drawing/2014/main" id="{D6DCB632-0700-45F4-A682-FF7DEB734964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核对子网实际关联，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确认修改的表会生效。</a:t>
            </a:r>
          </a:p>
        </p:txBody>
      </p:sp>
      <p:sp>
        <p:nvSpPr>
          <p:cNvPr id="15" name="版式分隔线">
            <a:extLst>
              <a:ext uri="{FF2B5EF4-FFF2-40B4-BE49-F238E27FC236}">
                <a16:creationId xmlns:a16="http://schemas.microsoft.com/office/drawing/2014/main" id="{38DEE5B0-C3C9-4100-AC3C-2FF7C5A0B569}"/>
              </a:ext>
            </a:extLst>
          </p:cNvPr>
          <p:cNvSpPr>
            <a:spLocks noGrp="1"/>
          </p:cNvSpPr>
          <p:nvPr/>
        </p:nvSpPr>
        <p:spPr>
          <a:xfrm>
            <a:off x="4552950" y="48006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xt-14">
            <a:extLst>
              <a:ext uri="{FF2B5EF4-FFF2-40B4-BE49-F238E27FC236}">
                <a16:creationId xmlns:a16="http://schemas.microsoft.com/office/drawing/2014/main" id="{9A5E4A6A-116F-42C6-B31F-A65EC7B8393B}"/>
              </a:ext>
            </a:extLst>
          </p:cNvPr>
          <p:cNvSpPr>
            <a:spLocks noGrp="1"/>
          </p:cNvSpPr>
          <p:nvPr/>
        </p:nvSpPr>
        <p:spPr>
          <a:xfrm>
            <a:off x="4552950" y="4886325"/>
            <a:ext cx="3190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实际命中</a:t>
            </a:r>
          </a:p>
        </p:txBody>
      </p:sp>
      <p:sp>
        <p:nvSpPr>
          <p:cNvPr id="17" name="txt-15">
            <a:extLst>
              <a:ext uri="{FF2B5EF4-FFF2-40B4-BE49-F238E27FC236}">
                <a16:creationId xmlns:a16="http://schemas.microsoft.com/office/drawing/2014/main" id="{8081714A-C5B9-417A-967A-968AA8A24572}"/>
              </a:ext>
            </a:extLst>
          </p:cNvPr>
          <p:cNvSpPr>
            <a:spLocks noGrp="1"/>
          </p:cNvSpPr>
          <p:nvPr/>
        </p:nvSpPr>
        <p:spPr>
          <a:xfrm>
            <a:off x="4552950" y="5295900"/>
            <a:ext cx="31908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对具体目标查更具体路由，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核对真实下一跳。</a:t>
            </a:r>
          </a:p>
        </p:txBody>
      </p:sp>
      <p:sp>
        <p:nvSpPr>
          <p:cNvPr id="18" name="版式分隔线">
            <a:extLst>
              <a:ext uri="{FF2B5EF4-FFF2-40B4-BE49-F238E27FC236}">
                <a16:creationId xmlns:a16="http://schemas.microsoft.com/office/drawing/2014/main" id="{10535E9D-1D27-4C57-8EAE-631E8C8EC210}"/>
              </a:ext>
            </a:extLst>
          </p:cNvPr>
          <p:cNvSpPr>
            <a:spLocks noGrp="1"/>
          </p:cNvSpPr>
          <p:nvPr/>
        </p:nvSpPr>
        <p:spPr>
          <a:xfrm>
            <a:off x="8496300" y="48006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xt-17">
            <a:extLst>
              <a:ext uri="{FF2B5EF4-FFF2-40B4-BE49-F238E27FC236}">
                <a16:creationId xmlns:a16="http://schemas.microsoft.com/office/drawing/2014/main" id="{F73CB752-2970-46CB-A6E6-08B1137536F9}"/>
              </a:ext>
            </a:extLst>
          </p:cNvPr>
          <p:cNvSpPr>
            <a:spLocks noGrp="1"/>
          </p:cNvSpPr>
          <p:nvPr/>
        </p:nvSpPr>
        <p:spPr>
          <a:xfrm>
            <a:off x="8496300" y="4886325"/>
            <a:ext cx="3086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双向验证</a:t>
            </a:r>
          </a:p>
        </p:txBody>
      </p:sp>
      <p:sp>
        <p:nvSpPr>
          <p:cNvPr id="20" name="txt-18">
            <a:extLst>
              <a:ext uri="{FF2B5EF4-FFF2-40B4-BE49-F238E27FC236}">
                <a16:creationId xmlns:a16="http://schemas.microsoft.com/office/drawing/2014/main" id="{B2DE3A83-D0D9-46DA-A346-E567DF447F11}"/>
              </a:ext>
            </a:extLst>
          </p:cNvPr>
          <p:cNvSpPr>
            <a:spLocks noGrp="1"/>
          </p:cNvSpPr>
          <p:nvPr/>
        </p:nvSpPr>
        <p:spPr>
          <a:xfrm>
            <a:off x="8496300" y="5295900"/>
            <a:ext cx="30861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核验去回程；涉及 EIP 等服务，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另查默认路由兼容性。</a:t>
            </a:r>
          </a:p>
        </p:txBody>
      </p:sp>
    </p:spTree>
    <p:extLst>
      <p:ext uri="{BB962C8B-B14F-4D97-AF65-F5344CB8AC3E}">
        <p14:creationId xmlns:p14="http://schemas.microsoft.com/office/powerpoint/2010/main" val="2026051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正文-01  VPC 基础与规范">
            <a:extLst>
              <a:ext uri="{FF2B5EF4-FFF2-40B4-BE49-F238E27FC236}">
                <a16:creationId xmlns:a16="http://schemas.microsoft.com/office/drawing/2014/main" id="{92607BF6-C587-4915-95DB-E4B64B6C77B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VPC 基础与规范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FA08FD3-D623-463B-9118-16BA3C6AFC9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运维接入与公网暴露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57FFBC2D-7BB8-4803-8B28-F91F0AE1C8E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生产管理集中接入并审计；经 NAT、WAF、CDN 或代理后需核对观测源地址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4FE11CD7-0AA1-4C44-A62E-82C0AAD0A31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图示为建议的组织基线，具体接入方式需结合企业现有架构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64FCAC9F-8151-4BB9-99DE-34D8302495F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16">
            <a:extLst>
              <a:ext uri="{FF2B5EF4-FFF2-40B4-BE49-F238E27FC236}">
                <a16:creationId xmlns:a16="http://schemas.microsoft.com/office/drawing/2014/main" id="{2B4AA9F2-3558-408C-978D-2CF90519039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统一风格-ops 运维终端玻璃后沿-207">
            <a:extLst>
              <a:ext uri="{FF2B5EF4-FFF2-40B4-BE49-F238E27FC236}">
                <a16:creationId xmlns:a16="http://schemas.microsoft.com/office/drawing/2014/main" id="{21954838-49A0-40E8-B9F1-72CEDD2766D7}"/>
              </a:ext>
            </a:extLst>
          </p:cNvPr>
          <p:cNvSpPr>
            <a:spLocks noGrp="1"/>
          </p:cNvSpPr>
          <p:nvPr/>
        </p:nvSpPr>
        <p:spPr>
          <a:xfrm>
            <a:off x="60960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ops 运维终端-208">
            <a:extLst>
              <a:ext uri="{FF2B5EF4-FFF2-40B4-BE49-F238E27FC236}">
                <a16:creationId xmlns:a16="http://schemas.microsoft.com/office/drawing/2014/main" id="{2DB2B0A5-A8A5-4C8F-918E-66AAE0880161}"/>
              </a:ext>
            </a:extLst>
          </p:cNvPr>
          <p:cNvSpPr>
            <a:spLocks noGrp="1"/>
          </p:cNvSpPr>
          <p:nvPr/>
        </p:nvSpPr>
        <p:spPr>
          <a:xfrm>
            <a:off x="60960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ops 运维终端玻璃内沿-209">
            <a:extLst>
              <a:ext uri="{FF2B5EF4-FFF2-40B4-BE49-F238E27FC236}">
                <a16:creationId xmlns:a16="http://schemas.microsoft.com/office/drawing/2014/main" id="{25EB59E6-5387-4618-AA1D-B3C558413852}"/>
              </a:ext>
            </a:extLst>
          </p:cNvPr>
          <p:cNvSpPr>
            <a:spLocks noGrp="1"/>
          </p:cNvSpPr>
          <p:nvPr/>
        </p:nvSpPr>
        <p:spPr>
          <a:xfrm>
            <a:off x="62245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ops 运维终端透光反射面-210">
            <a:extLst>
              <a:ext uri="{FF2B5EF4-FFF2-40B4-BE49-F238E27FC236}">
                <a16:creationId xmlns:a16="http://schemas.microsoft.com/office/drawing/2014/main" id="{E2EBFEC9-2AE7-4D1C-B986-F18B7E683E71}"/>
              </a:ext>
            </a:extLst>
          </p:cNvPr>
          <p:cNvSpPr>
            <a:spLocks noGrp="1"/>
          </p:cNvSpPr>
          <p:nvPr/>
        </p:nvSpPr>
        <p:spPr>
          <a:xfrm>
            <a:off x="62865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ops 运维终端边缘高光-211">
            <a:extLst>
              <a:ext uri="{FF2B5EF4-FFF2-40B4-BE49-F238E27FC236}">
                <a16:creationId xmlns:a16="http://schemas.microsoft.com/office/drawing/2014/main" id="{66DD3CD6-9FF0-457B-AB6E-72FD1DB0216D}"/>
              </a:ext>
            </a:extLst>
          </p:cNvPr>
          <p:cNvSpPr>
            <a:spLocks noGrp="1"/>
          </p:cNvSpPr>
          <p:nvPr/>
        </p:nvSpPr>
        <p:spPr>
          <a:xfrm>
            <a:off x="60960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212">
            <a:extLst>
              <a:ext uri="{FF2B5EF4-FFF2-40B4-BE49-F238E27FC236}">
                <a16:creationId xmlns:a16="http://schemas.microsoft.com/office/drawing/2014/main" id="{645D5195-5498-49B4-921D-A84F7F3985C3}"/>
              </a:ext>
            </a:extLst>
          </p:cNvPr>
          <p:cNvSpPr>
            <a:spLocks noGrp="1"/>
          </p:cNvSpPr>
          <p:nvPr/>
        </p:nvSpPr>
        <p:spPr>
          <a:xfrm>
            <a:off x="115152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213">
            <a:extLst>
              <a:ext uri="{FF2B5EF4-FFF2-40B4-BE49-F238E27FC236}">
                <a16:creationId xmlns:a16="http://schemas.microsoft.com/office/drawing/2014/main" id="{B7EF4C90-80AE-4AD9-B610-7842019D21C9}"/>
              </a:ext>
            </a:extLst>
          </p:cNvPr>
          <p:cNvSpPr>
            <a:spLocks noGrp="1"/>
          </p:cNvSpPr>
          <p:nvPr/>
        </p:nvSpPr>
        <p:spPr>
          <a:xfrm>
            <a:off x="115152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214">
            <a:extLst>
              <a:ext uri="{FF2B5EF4-FFF2-40B4-BE49-F238E27FC236}">
                <a16:creationId xmlns:a16="http://schemas.microsoft.com/office/drawing/2014/main" id="{54B1A862-095C-4533-A420-C4A65F588FAE}"/>
              </a:ext>
            </a:extLst>
          </p:cNvPr>
          <p:cNvSpPr>
            <a:spLocks noGrp="1"/>
          </p:cNvSpPr>
          <p:nvPr/>
        </p:nvSpPr>
        <p:spPr>
          <a:xfrm>
            <a:off x="115152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运维终端-215">
            <a:extLst>
              <a:ext uri="{FF2B5EF4-FFF2-40B4-BE49-F238E27FC236}">
                <a16:creationId xmlns:a16="http://schemas.microsoft.com/office/drawing/2014/main" id="{4912F510-6D68-4EC4-9851-C564ED35AE5C}"/>
              </a:ext>
            </a:extLst>
          </p:cNvPr>
          <p:cNvSpPr>
            <a:spLocks noGrp="1"/>
          </p:cNvSpPr>
          <p:nvPr/>
        </p:nvSpPr>
        <p:spPr>
          <a:xfrm>
            <a:off x="67500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运维终端</a:t>
            </a:r>
          </a:p>
        </p:txBody>
      </p:sp>
      <p:sp>
        <p:nvSpPr>
          <p:cNvPr id="16" name="统一风格-ops VPN玻璃后沿-216">
            <a:extLst>
              <a:ext uri="{FF2B5EF4-FFF2-40B4-BE49-F238E27FC236}">
                <a16:creationId xmlns:a16="http://schemas.microsoft.com/office/drawing/2014/main" id="{5DE309EA-F3C2-4188-8A6B-E5FE3C36405B}"/>
              </a:ext>
            </a:extLst>
          </p:cNvPr>
          <p:cNvSpPr>
            <a:spLocks noGrp="1"/>
          </p:cNvSpPr>
          <p:nvPr/>
        </p:nvSpPr>
        <p:spPr>
          <a:xfrm>
            <a:off x="270256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ops VPN-217">
            <a:extLst>
              <a:ext uri="{FF2B5EF4-FFF2-40B4-BE49-F238E27FC236}">
                <a16:creationId xmlns:a16="http://schemas.microsoft.com/office/drawing/2014/main" id="{F39583C2-4E96-4BDF-B069-7D466E859A15}"/>
              </a:ext>
            </a:extLst>
          </p:cNvPr>
          <p:cNvSpPr>
            <a:spLocks noGrp="1"/>
          </p:cNvSpPr>
          <p:nvPr/>
        </p:nvSpPr>
        <p:spPr>
          <a:xfrm>
            <a:off x="270256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ops VPN玻璃内沿-218">
            <a:extLst>
              <a:ext uri="{FF2B5EF4-FFF2-40B4-BE49-F238E27FC236}">
                <a16:creationId xmlns:a16="http://schemas.microsoft.com/office/drawing/2014/main" id="{D2BDD676-53A4-4988-B3DE-248E3C04D23C}"/>
              </a:ext>
            </a:extLst>
          </p:cNvPr>
          <p:cNvSpPr>
            <a:spLocks noGrp="1"/>
          </p:cNvSpPr>
          <p:nvPr/>
        </p:nvSpPr>
        <p:spPr>
          <a:xfrm>
            <a:off x="271541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ops VPN透光反射面-219">
            <a:extLst>
              <a:ext uri="{FF2B5EF4-FFF2-40B4-BE49-F238E27FC236}">
                <a16:creationId xmlns:a16="http://schemas.microsoft.com/office/drawing/2014/main" id="{B605D978-94E5-444C-9245-8B114E7155A6}"/>
              </a:ext>
            </a:extLst>
          </p:cNvPr>
          <p:cNvSpPr>
            <a:spLocks noGrp="1"/>
          </p:cNvSpPr>
          <p:nvPr/>
        </p:nvSpPr>
        <p:spPr>
          <a:xfrm>
            <a:off x="272161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ops VPN边缘高光-220">
            <a:extLst>
              <a:ext uri="{FF2B5EF4-FFF2-40B4-BE49-F238E27FC236}">
                <a16:creationId xmlns:a16="http://schemas.microsoft.com/office/drawing/2014/main" id="{4B240C09-8A13-4A54-87E5-C1E635E93E35}"/>
              </a:ext>
            </a:extLst>
          </p:cNvPr>
          <p:cNvSpPr>
            <a:spLocks noGrp="1"/>
          </p:cNvSpPr>
          <p:nvPr/>
        </p:nvSpPr>
        <p:spPr>
          <a:xfrm>
            <a:off x="270256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lock 安全盾-221">
            <a:extLst>
              <a:ext uri="{FF2B5EF4-FFF2-40B4-BE49-F238E27FC236}">
                <a16:creationId xmlns:a16="http://schemas.microsoft.com/office/drawing/2014/main" id="{BD7BDCF0-6B33-4F53-AF45-DA9C81C912D3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lock 锁梁-222">
            <a:extLst>
              <a:ext uri="{FF2B5EF4-FFF2-40B4-BE49-F238E27FC236}">
                <a16:creationId xmlns:a16="http://schemas.microsoft.com/office/drawing/2014/main" id="{A71128B0-B31B-4FA3-B8F7-0EA9B165440E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lock 锁体-223">
            <a:extLst>
              <a:ext uri="{FF2B5EF4-FFF2-40B4-BE49-F238E27FC236}">
                <a16:creationId xmlns:a16="http://schemas.microsoft.com/office/drawing/2014/main" id="{3863B964-96D2-4D4E-866E-777B21ED376D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lock 锁孔-224">
            <a:extLst>
              <a:ext uri="{FF2B5EF4-FFF2-40B4-BE49-F238E27FC236}">
                <a16:creationId xmlns:a16="http://schemas.microsoft.com/office/drawing/2014/main" id="{7254FF40-1907-44A5-A3C2-870217E96F69}"/>
              </a:ext>
            </a:extLst>
          </p:cNvPr>
          <p:cNvSpPr>
            <a:spLocks noGrp="1"/>
          </p:cNvSpPr>
          <p:nvPr/>
        </p:nvSpPr>
        <p:spPr>
          <a:xfrm>
            <a:off x="324448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VPN-225">
            <a:extLst>
              <a:ext uri="{FF2B5EF4-FFF2-40B4-BE49-F238E27FC236}">
                <a16:creationId xmlns:a16="http://schemas.microsoft.com/office/drawing/2014/main" id="{F4CEBF9F-0E16-42C4-B8EE-2304CB85C280}"/>
              </a:ext>
            </a:extLst>
          </p:cNvPr>
          <p:cNvSpPr>
            <a:spLocks noGrp="1"/>
          </p:cNvSpPr>
          <p:nvPr/>
        </p:nvSpPr>
        <p:spPr>
          <a:xfrm>
            <a:off x="276796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VPN</a:t>
            </a:r>
          </a:p>
        </p:txBody>
      </p:sp>
      <p:sp>
        <p:nvSpPr>
          <p:cNvPr id="26" name="统一风格-ops 堡垒机玻璃后沿-226">
            <a:extLst>
              <a:ext uri="{FF2B5EF4-FFF2-40B4-BE49-F238E27FC236}">
                <a16:creationId xmlns:a16="http://schemas.microsoft.com/office/drawing/2014/main" id="{BD05DB2D-3513-45D8-A8D3-066AE0DE0E27}"/>
              </a:ext>
            </a:extLst>
          </p:cNvPr>
          <p:cNvSpPr>
            <a:spLocks noGrp="1"/>
          </p:cNvSpPr>
          <p:nvPr/>
        </p:nvSpPr>
        <p:spPr>
          <a:xfrm>
            <a:off x="479552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ops 堡垒机-227">
            <a:extLst>
              <a:ext uri="{FF2B5EF4-FFF2-40B4-BE49-F238E27FC236}">
                <a16:creationId xmlns:a16="http://schemas.microsoft.com/office/drawing/2014/main" id="{4ED31926-BFEA-4B2E-83DF-0B2532EBE7FF}"/>
              </a:ext>
            </a:extLst>
          </p:cNvPr>
          <p:cNvSpPr>
            <a:spLocks noGrp="1"/>
          </p:cNvSpPr>
          <p:nvPr/>
        </p:nvSpPr>
        <p:spPr>
          <a:xfrm>
            <a:off x="479552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ops 堡垒机玻璃内沿-228">
            <a:extLst>
              <a:ext uri="{FF2B5EF4-FFF2-40B4-BE49-F238E27FC236}">
                <a16:creationId xmlns:a16="http://schemas.microsoft.com/office/drawing/2014/main" id="{2A980878-547D-4EF5-8F99-9C9DA8BC800C}"/>
              </a:ext>
            </a:extLst>
          </p:cNvPr>
          <p:cNvSpPr>
            <a:spLocks noGrp="1"/>
          </p:cNvSpPr>
          <p:nvPr/>
        </p:nvSpPr>
        <p:spPr>
          <a:xfrm>
            <a:off x="480837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ops 堡垒机透光反射面-229">
            <a:extLst>
              <a:ext uri="{FF2B5EF4-FFF2-40B4-BE49-F238E27FC236}">
                <a16:creationId xmlns:a16="http://schemas.microsoft.com/office/drawing/2014/main" id="{248FE3BA-159C-4621-8026-2B7E47ADA451}"/>
              </a:ext>
            </a:extLst>
          </p:cNvPr>
          <p:cNvSpPr>
            <a:spLocks noGrp="1"/>
          </p:cNvSpPr>
          <p:nvPr/>
        </p:nvSpPr>
        <p:spPr>
          <a:xfrm>
            <a:off x="481457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ops 堡垒机边缘高光-230">
            <a:extLst>
              <a:ext uri="{FF2B5EF4-FFF2-40B4-BE49-F238E27FC236}">
                <a16:creationId xmlns:a16="http://schemas.microsoft.com/office/drawing/2014/main" id="{0CE65711-807C-4062-AA99-3262AFC41E99}"/>
              </a:ext>
            </a:extLst>
          </p:cNvPr>
          <p:cNvSpPr>
            <a:spLocks noGrp="1"/>
          </p:cNvSpPr>
          <p:nvPr/>
        </p:nvSpPr>
        <p:spPr>
          <a:xfrm>
            <a:off x="479552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erver 服务器机架-231">
            <a:extLst>
              <a:ext uri="{FF2B5EF4-FFF2-40B4-BE49-F238E27FC236}">
                <a16:creationId xmlns:a16="http://schemas.microsoft.com/office/drawing/2014/main" id="{DD58CDDF-4994-49A5-AF7C-5B73DDB6455D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机架状态-232">
            <a:extLst>
              <a:ext uri="{FF2B5EF4-FFF2-40B4-BE49-F238E27FC236}">
                <a16:creationId xmlns:a16="http://schemas.microsoft.com/office/drawing/2014/main" id="{8C40C293-1FE2-4C33-B346-BB1697867B9F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指示灯-233">
            <a:extLst>
              <a:ext uri="{FF2B5EF4-FFF2-40B4-BE49-F238E27FC236}">
                <a16:creationId xmlns:a16="http://schemas.microsoft.com/office/drawing/2014/main" id="{2EAB647C-1487-425E-A79E-C73828BAA901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服务器机架-234">
            <a:extLst>
              <a:ext uri="{FF2B5EF4-FFF2-40B4-BE49-F238E27FC236}">
                <a16:creationId xmlns:a16="http://schemas.microsoft.com/office/drawing/2014/main" id="{56CE09C7-CB21-4E27-9DC9-4365A566B48B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机架状态-235">
            <a:extLst>
              <a:ext uri="{FF2B5EF4-FFF2-40B4-BE49-F238E27FC236}">
                <a16:creationId xmlns:a16="http://schemas.microsoft.com/office/drawing/2014/main" id="{21D3969D-2BE7-43C6-A45F-F4615EF34205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指示灯-236">
            <a:extLst>
              <a:ext uri="{FF2B5EF4-FFF2-40B4-BE49-F238E27FC236}">
                <a16:creationId xmlns:a16="http://schemas.microsoft.com/office/drawing/2014/main" id="{58AC706E-D45B-40AA-819C-7A476E0F6D1B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erver 服务器机架-237">
            <a:extLst>
              <a:ext uri="{FF2B5EF4-FFF2-40B4-BE49-F238E27FC236}">
                <a16:creationId xmlns:a16="http://schemas.microsoft.com/office/drawing/2014/main" id="{D305D8C6-F90D-4830-9163-1FD77EA9A5BA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server 机架状态-238">
            <a:extLst>
              <a:ext uri="{FF2B5EF4-FFF2-40B4-BE49-F238E27FC236}">
                <a16:creationId xmlns:a16="http://schemas.microsoft.com/office/drawing/2014/main" id="{A57239EE-A6B4-4416-B34D-32CEEF3E245A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指示灯-239">
            <a:extLst>
              <a:ext uri="{FF2B5EF4-FFF2-40B4-BE49-F238E27FC236}">
                <a16:creationId xmlns:a16="http://schemas.microsoft.com/office/drawing/2014/main" id="{91857F2A-38C7-4B25-B57C-06F9D547F035}"/>
              </a:ext>
            </a:extLst>
          </p:cNvPr>
          <p:cNvSpPr>
            <a:spLocks noGrp="1"/>
          </p:cNvSpPr>
          <p:nvPr/>
        </p:nvSpPr>
        <p:spPr>
          <a:xfrm>
            <a:off x="533744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文字 堡垒机-240">
            <a:extLst>
              <a:ext uri="{FF2B5EF4-FFF2-40B4-BE49-F238E27FC236}">
                <a16:creationId xmlns:a16="http://schemas.microsoft.com/office/drawing/2014/main" id="{7A4375AD-1CC2-4EAE-AE84-162474B1607A}"/>
              </a:ext>
            </a:extLst>
          </p:cNvPr>
          <p:cNvSpPr>
            <a:spLocks noGrp="1"/>
          </p:cNvSpPr>
          <p:nvPr/>
        </p:nvSpPr>
        <p:spPr>
          <a:xfrm>
            <a:off x="486092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</a:t>
            </a:r>
          </a:p>
        </p:txBody>
      </p:sp>
      <p:sp>
        <p:nvSpPr>
          <p:cNvPr id="41" name="统一风格-ops 生产 VPC玻璃后沿-241">
            <a:extLst>
              <a:ext uri="{FF2B5EF4-FFF2-40B4-BE49-F238E27FC236}">
                <a16:creationId xmlns:a16="http://schemas.microsoft.com/office/drawing/2014/main" id="{77935DC7-C37B-4C8D-A1CA-060A57212C76}"/>
              </a:ext>
            </a:extLst>
          </p:cNvPr>
          <p:cNvSpPr>
            <a:spLocks noGrp="1"/>
          </p:cNvSpPr>
          <p:nvPr/>
        </p:nvSpPr>
        <p:spPr>
          <a:xfrm>
            <a:off x="688848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统一风格-ops 生产 VPC-242">
            <a:extLst>
              <a:ext uri="{FF2B5EF4-FFF2-40B4-BE49-F238E27FC236}">
                <a16:creationId xmlns:a16="http://schemas.microsoft.com/office/drawing/2014/main" id="{E3849301-2B18-4E6E-9505-3B67566C7DB3}"/>
              </a:ext>
            </a:extLst>
          </p:cNvPr>
          <p:cNvSpPr>
            <a:spLocks noGrp="1"/>
          </p:cNvSpPr>
          <p:nvPr/>
        </p:nvSpPr>
        <p:spPr>
          <a:xfrm>
            <a:off x="6888480" y="2197372"/>
            <a:ext cx="1532346" cy="1111885"/>
          </a:xfrm>
          <a:prstGeom prst="roundRect">
            <a:avLst>
              <a:gd name="adj" fmla="val 771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ops 生产 VPC玻璃内沿-243">
            <a:extLst>
              <a:ext uri="{FF2B5EF4-FFF2-40B4-BE49-F238E27FC236}">
                <a16:creationId xmlns:a16="http://schemas.microsoft.com/office/drawing/2014/main" id="{627E1B8B-2EE9-43B9-A919-88096008D230}"/>
              </a:ext>
            </a:extLst>
          </p:cNvPr>
          <p:cNvSpPr>
            <a:spLocks noGrp="1"/>
          </p:cNvSpPr>
          <p:nvPr/>
        </p:nvSpPr>
        <p:spPr>
          <a:xfrm>
            <a:off x="6901339" y="2210231"/>
            <a:ext cx="1506628" cy="1086168"/>
          </a:xfrm>
          <a:prstGeom prst="roundRect">
            <a:avLst>
              <a:gd name="adj" fmla="val 67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ops 生产 VPC透光反射面-244">
            <a:extLst>
              <a:ext uri="{FF2B5EF4-FFF2-40B4-BE49-F238E27FC236}">
                <a16:creationId xmlns:a16="http://schemas.microsoft.com/office/drawing/2014/main" id="{D34F8B53-2596-4B8B-80D9-A9D784C7EF6E}"/>
              </a:ext>
            </a:extLst>
          </p:cNvPr>
          <p:cNvSpPr>
            <a:spLocks noGrp="1"/>
          </p:cNvSpPr>
          <p:nvPr/>
        </p:nvSpPr>
        <p:spPr>
          <a:xfrm>
            <a:off x="6907530" y="2216422"/>
            <a:ext cx="1494246" cy="1073785"/>
          </a:xfrm>
          <a:custGeom>
            <a:avLst/>
            <a:gdLst/>
            <a:ahLst/>
            <a:cxnLst/>
            <a:rect l="0" t="0" r="0" b="0"/>
            <a:pathLst>
              <a:path w="1494246" h="1073785">
                <a:moveTo>
                  <a:pt x="76200" y="0"/>
                </a:moveTo>
                <a:lnTo>
                  <a:pt x="956317" y="0"/>
                </a:lnTo>
                <a:lnTo>
                  <a:pt x="388504" y="1073785"/>
                </a:lnTo>
                <a:lnTo>
                  <a:pt x="76200" y="1073785"/>
                </a:lnTo>
                <a:cubicBezTo>
                  <a:pt x="28575" y="1073785"/>
                  <a:pt x="0" y="1045210"/>
                  <a:pt x="0" y="99758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ops 生产 VPC边缘高光-245">
            <a:extLst>
              <a:ext uri="{FF2B5EF4-FFF2-40B4-BE49-F238E27FC236}">
                <a16:creationId xmlns:a16="http://schemas.microsoft.com/office/drawing/2014/main" id="{4161BCEA-A6B1-47E9-B62A-A4749BE00D11}"/>
              </a:ext>
            </a:extLst>
          </p:cNvPr>
          <p:cNvSpPr>
            <a:spLocks noGrp="1"/>
          </p:cNvSpPr>
          <p:nvPr/>
        </p:nvSpPr>
        <p:spPr>
          <a:xfrm>
            <a:off x="6888480" y="2197372"/>
            <a:ext cx="1532346" cy="1111885"/>
          </a:xfrm>
          <a:custGeom>
            <a:avLst/>
            <a:gdLst/>
            <a:ahLst/>
            <a:cxnLst/>
            <a:rect l="0" t="0" r="0" b="0"/>
            <a:pathLst>
              <a:path w="1532346" h="1111885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cloud VPC 云轮廓-246">
            <a:extLst>
              <a:ext uri="{FF2B5EF4-FFF2-40B4-BE49-F238E27FC236}">
                <a16:creationId xmlns:a16="http://schemas.microsoft.com/office/drawing/2014/main" id="{005AF39F-DA95-4E17-A399-8BB3DBCB1D9E}"/>
              </a:ext>
            </a:extLst>
          </p:cNvPr>
          <p:cNvSpPr>
            <a:spLocks noGrp="1"/>
          </p:cNvSpPr>
          <p:nvPr/>
        </p:nvSpPr>
        <p:spPr>
          <a:xfrm>
            <a:off x="7430407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生产 VPC-247">
            <a:extLst>
              <a:ext uri="{FF2B5EF4-FFF2-40B4-BE49-F238E27FC236}">
                <a16:creationId xmlns:a16="http://schemas.microsoft.com/office/drawing/2014/main" id="{9271268E-795B-4597-891B-322F490546FE}"/>
              </a:ext>
            </a:extLst>
          </p:cNvPr>
          <p:cNvSpPr>
            <a:spLocks noGrp="1"/>
          </p:cNvSpPr>
          <p:nvPr/>
        </p:nvSpPr>
        <p:spPr>
          <a:xfrm>
            <a:off x="6953885" y="2842079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 VPC</a:t>
            </a:r>
          </a:p>
        </p:txBody>
      </p:sp>
      <p:cxnSp>
        <p:nvCxnSpPr>
          <p:cNvPr id="48" name="统一拓扑-ops-连线-1">
            <a:extLst>
              <a:ext uri="{FF2B5EF4-FFF2-40B4-BE49-F238E27FC236}">
                <a16:creationId xmlns:a16="http://schemas.microsoft.com/office/drawing/2014/main" id="{97DFE45F-3395-41AB-B6BC-0C5A4D8DDA92}"/>
              </a:ext>
            </a:extLst>
          </p:cNvPr>
          <p:cNvCxnSpPr/>
          <p:nvPr/>
        </p:nvCxnSpPr>
        <p:spPr>
          <a:xfrm>
            <a:off x="2141946" y="2753315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49" name="统一拓扑-ops-连线-2">
            <a:extLst>
              <a:ext uri="{FF2B5EF4-FFF2-40B4-BE49-F238E27FC236}">
                <a16:creationId xmlns:a16="http://schemas.microsoft.com/office/drawing/2014/main" id="{8DF020CA-EFBA-488D-A4FF-AC192B5B9C4A}"/>
              </a:ext>
            </a:extLst>
          </p:cNvPr>
          <p:cNvCxnSpPr/>
          <p:nvPr/>
        </p:nvCxnSpPr>
        <p:spPr>
          <a:xfrm>
            <a:off x="4234906" y="2753315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0" name="统一拓扑-ops-连线-3">
            <a:extLst>
              <a:ext uri="{FF2B5EF4-FFF2-40B4-BE49-F238E27FC236}">
                <a16:creationId xmlns:a16="http://schemas.microsoft.com/office/drawing/2014/main" id="{43404B0B-FFCD-44EF-A56D-D87894C786A6}"/>
              </a:ext>
            </a:extLst>
          </p:cNvPr>
          <p:cNvCxnSpPr/>
          <p:nvPr/>
        </p:nvCxnSpPr>
        <p:spPr>
          <a:xfrm>
            <a:off x="6327866" y="2753315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51" name="统一风格-ops 关系文字衬底-248">
            <a:extLst>
              <a:ext uri="{FF2B5EF4-FFF2-40B4-BE49-F238E27FC236}">
                <a16:creationId xmlns:a16="http://schemas.microsoft.com/office/drawing/2014/main" id="{DC91323F-6C54-4759-98F2-F5BBF819B7E1}"/>
              </a:ext>
            </a:extLst>
          </p:cNvPr>
          <p:cNvSpPr>
            <a:spLocks noGrp="1"/>
          </p:cNvSpPr>
          <p:nvPr/>
        </p:nvSpPr>
        <p:spPr>
          <a:xfrm>
            <a:off x="4505869" y="3561534"/>
            <a:ext cx="3513183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身份认证与操作审计-249">
            <a:extLst>
              <a:ext uri="{FF2B5EF4-FFF2-40B4-BE49-F238E27FC236}">
                <a16:creationId xmlns:a16="http://schemas.microsoft.com/office/drawing/2014/main" id="{45B154A1-0F0B-453E-94F4-63C13B25EAD5}"/>
              </a:ext>
            </a:extLst>
          </p:cNvPr>
          <p:cNvSpPr>
            <a:spLocks noGrp="1"/>
          </p:cNvSpPr>
          <p:nvPr/>
        </p:nvSpPr>
        <p:spPr>
          <a:xfrm>
            <a:off x="4543244" y="3561534"/>
            <a:ext cx="3438434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身份认证与操作审计</a:t>
            </a:r>
          </a:p>
        </p:txBody>
      </p:sp>
      <p:sp>
        <p:nvSpPr>
          <p:cNvPr id="53" name="统一风格-ops 任意公网来源玻璃后沿-250">
            <a:extLst>
              <a:ext uri="{FF2B5EF4-FFF2-40B4-BE49-F238E27FC236}">
                <a16:creationId xmlns:a16="http://schemas.microsoft.com/office/drawing/2014/main" id="{28A5D9A4-3216-4BFE-84F7-AB946DCA36AB}"/>
              </a:ext>
            </a:extLst>
          </p:cNvPr>
          <p:cNvSpPr>
            <a:spLocks noGrp="1"/>
          </p:cNvSpPr>
          <p:nvPr/>
        </p:nvSpPr>
        <p:spPr>
          <a:xfrm>
            <a:off x="60960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4" name="统一风格-ops 任意公网来源-251">
            <a:extLst>
              <a:ext uri="{FF2B5EF4-FFF2-40B4-BE49-F238E27FC236}">
                <a16:creationId xmlns:a16="http://schemas.microsoft.com/office/drawing/2014/main" id="{A0ED3169-7524-4811-9B08-17CA26C2F957}"/>
              </a:ext>
            </a:extLst>
          </p:cNvPr>
          <p:cNvSpPr>
            <a:spLocks noGrp="1"/>
          </p:cNvSpPr>
          <p:nvPr/>
        </p:nvSpPr>
        <p:spPr>
          <a:xfrm>
            <a:off x="60960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ops 任意公网来源玻璃内沿-252">
            <a:extLst>
              <a:ext uri="{FF2B5EF4-FFF2-40B4-BE49-F238E27FC236}">
                <a16:creationId xmlns:a16="http://schemas.microsoft.com/office/drawing/2014/main" id="{B0F1845D-708B-4910-A69D-861198F56B55}"/>
              </a:ext>
            </a:extLst>
          </p:cNvPr>
          <p:cNvSpPr>
            <a:spLocks noGrp="1"/>
          </p:cNvSpPr>
          <p:nvPr/>
        </p:nvSpPr>
        <p:spPr>
          <a:xfrm>
            <a:off x="622459" y="4490062"/>
            <a:ext cx="1506628" cy="1058137"/>
          </a:xfrm>
          <a:prstGeom prst="roundRect">
            <a:avLst>
              <a:gd name="adj" fmla="val 693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ops 任意公网来源透光反射面-253">
            <a:extLst>
              <a:ext uri="{FF2B5EF4-FFF2-40B4-BE49-F238E27FC236}">
                <a16:creationId xmlns:a16="http://schemas.microsoft.com/office/drawing/2014/main" id="{FBD37754-3E5F-45E8-969D-098E5EF2BEFF}"/>
              </a:ext>
            </a:extLst>
          </p:cNvPr>
          <p:cNvSpPr>
            <a:spLocks noGrp="1"/>
          </p:cNvSpPr>
          <p:nvPr/>
        </p:nvSpPr>
        <p:spPr>
          <a:xfrm>
            <a:off x="628650" y="4496254"/>
            <a:ext cx="1494246" cy="1045754"/>
          </a:xfrm>
          <a:custGeom>
            <a:avLst/>
            <a:gdLst/>
            <a:ahLst/>
            <a:cxnLst/>
            <a:rect l="0" t="0" r="0" b="0"/>
            <a:pathLst>
              <a:path w="1494246" h="1045754">
                <a:moveTo>
                  <a:pt x="76200" y="0"/>
                </a:moveTo>
                <a:lnTo>
                  <a:pt x="956317" y="0"/>
                </a:lnTo>
                <a:lnTo>
                  <a:pt x="388504" y="1045754"/>
                </a:lnTo>
                <a:lnTo>
                  <a:pt x="76200" y="1045754"/>
                </a:lnTo>
                <a:cubicBezTo>
                  <a:pt x="28575" y="1045754"/>
                  <a:pt x="0" y="1017179"/>
                  <a:pt x="0" y="96955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ops 任意公网来源边缘高光-254">
            <a:extLst>
              <a:ext uri="{FF2B5EF4-FFF2-40B4-BE49-F238E27FC236}">
                <a16:creationId xmlns:a16="http://schemas.microsoft.com/office/drawing/2014/main" id="{376A46C6-8FD4-479A-A189-B75DF3BE126D}"/>
              </a:ext>
            </a:extLst>
          </p:cNvPr>
          <p:cNvSpPr>
            <a:spLocks noGrp="1"/>
          </p:cNvSpPr>
          <p:nvPr/>
        </p:nvSpPr>
        <p:spPr>
          <a:xfrm>
            <a:off x="609600" y="4477204"/>
            <a:ext cx="1532346" cy="1083854"/>
          </a:xfrm>
          <a:custGeom>
            <a:avLst/>
            <a:gdLst/>
            <a:ahLst/>
            <a:cxnLst/>
            <a:rect l="0" t="0" r="0" b="0"/>
            <a:pathLst>
              <a:path w="1532346" h="1083854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globe 互联网外形-255">
            <a:extLst>
              <a:ext uri="{FF2B5EF4-FFF2-40B4-BE49-F238E27FC236}">
                <a16:creationId xmlns:a16="http://schemas.microsoft.com/office/drawing/2014/main" id="{54289E84-7F70-4AC7-9F31-5EFBD80FB1A6}"/>
              </a:ext>
            </a:extLst>
          </p:cNvPr>
          <p:cNvSpPr>
            <a:spLocks noGrp="1"/>
          </p:cNvSpPr>
          <p:nvPr/>
        </p:nvSpPr>
        <p:spPr>
          <a:xfrm>
            <a:off x="115152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globe 经纬线-256">
            <a:extLst>
              <a:ext uri="{FF2B5EF4-FFF2-40B4-BE49-F238E27FC236}">
                <a16:creationId xmlns:a16="http://schemas.microsoft.com/office/drawing/2014/main" id="{8D96B632-4D4E-429F-9400-677D09F03774}"/>
              </a:ext>
            </a:extLst>
          </p:cNvPr>
          <p:cNvSpPr>
            <a:spLocks noGrp="1"/>
          </p:cNvSpPr>
          <p:nvPr/>
        </p:nvSpPr>
        <p:spPr>
          <a:xfrm>
            <a:off x="115152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文字 任意公网来源-257">
            <a:extLst>
              <a:ext uri="{FF2B5EF4-FFF2-40B4-BE49-F238E27FC236}">
                <a16:creationId xmlns:a16="http://schemas.microsoft.com/office/drawing/2014/main" id="{636321D9-C17F-47D5-ADC2-B7BEF14FBFD8}"/>
              </a:ext>
            </a:extLst>
          </p:cNvPr>
          <p:cNvSpPr>
            <a:spLocks noGrp="1"/>
          </p:cNvSpPr>
          <p:nvPr/>
        </p:nvSpPr>
        <p:spPr>
          <a:xfrm>
            <a:off x="675005" y="5121910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任意公网来源</a:t>
            </a:r>
          </a:p>
        </p:txBody>
      </p:sp>
      <p:sp>
        <p:nvSpPr>
          <p:cNvPr id="61" name="统一风格-ops 管理端口玻璃后沿-258">
            <a:extLst>
              <a:ext uri="{FF2B5EF4-FFF2-40B4-BE49-F238E27FC236}">
                <a16:creationId xmlns:a16="http://schemas.microsoft.com/office/drawing/2014/main" id="{2B2DD18F-2739-4E17-AB4F-F39B25563915}"/>
              </a:ext>
            </a:extLst>
          </p:cNvPr>
          <p:cNvSpPr>
            <a:spLocks noGrp="1"/>
          </p:cNvSpPr>
          <p:nvPr/>
        </p:nvSpPr>
        <p:spPr>
          <a:xfrm>
            <a:off x="688848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2" name="统一风格-ops 管理端口-259">
            <a:extLst>
              <a:ext uri="{FF2B5EF4-FFF2-40B4-BE49-F238E27FC236}">
                <a16:creationId xmlns:a16="http://schemas.microsoft.com/office/drawing/2014/main" id="{57DDC669-99EF-4D35-AA52-3F03E99FD7B5}"/>
              </a:ext>
            </a:extLst>
          </p:cNvPr>
          <p:cNvSpPr>
            <a:spLocks noGrp="1"/>
          </p:cNvSpPr>
          <p:nvPr/>
        </p:nvSpPr>
        <p:spPr>
          <a:xfrm>
            <a:off x="6888480" y="4477204"/>
            <a:ext cx="1532346" cy="1083854"/>
          </a:xfrm>
          <a:prstGeom prst="roundRect">
            <a:avLst>
              <a:gd name="adj" fmla="val 79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ops 管理端口玻璃内沿-260">
            <a:extLst>
              <a:ext uri="{FF2B5EF4-FFF2-40B4-BE49-F238E27FC236}">
                <a16:creationId xmlns:a16="http://schemas.microsoft.com/office/drawing/2014/main" id="{C4D86104-892B-4954-9FEA-063294ED6B7E}"/>
              </a:ext>
            </a:extLst>
          </p:cNvPr>
          <p:cNvSpPr>
            <a:spLocks noGrp="1"/>
          </p:cNvSpPr>
          <p:nvPr/>
        </p:nvSpPr>
        <p:spPr>
          <a:xfrm>
            <a:off x="6901339" y="4490062"/>
            <a:ext cx="1506628" cy="1058137"/>
          </a:xfrm>
          <a:prstGeom prst="roundRect">
            <a:avLst>
              <a:gd name="adj" fmla="val 693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ops 管理端口透光反射面-261">
            <a:extLst>
              <a:ext uri="{FF2B5EF4-FFF2-40B4-BE49-F238E27FC236}">
                <a16:creationId xmlns:a16="http://schemas.microsoft.com/office/drawing/2014/main" id="{9A19F0AC-8725-4922-9BD8-4AC9FDF4BDAC}"/>
              </a:ext>
            </a:extLst>
          </p:cNvPr>
          <p:cNvSpPr>
            <a:spLocks noGrp="1"/>
          </p:cNvSpPr>
          <p:nvPr/>
        </p:nvSpPr>
        <p:spPr>
          <a:xfrm>
            <a:off x="6907530" y="4496254"/>
            <a:ext cx="1494246" cy="1045754"/>
          </a:xfrm>
          <a:custGeom>
            <a:avLst/>
            <a:gdLst/>
            <a:ahLst/>
            <a:cxnLst/>
            <a:rect l="0" t="0" r="0" b="0"/>
            <a:pathLst>
              <a:path w="1494246" h="1045754">
                <a:moveTo>
                  <a:pt x="76200" y="0"/>
                </a:moveTo>
                <a:lnTo>
                  <a:pt x="956317" y="0"/>
                </a:lnTo>
                <a:lnTo>
                  <a:pt x="388504" y="1045754"/>
                </a:lnTo>
                <a:lnTo>
                  <a:pt x="76200" y="1045754"/>
                </a:lnTo>
                <a:cubicBezTo>
                  <a:pt x="28575" y="1045754"/>
                  <a:pt x="0" y="1017179"/>
                  <a:pt x="0" y="969554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ops 管理端口边缘高光-262">
            <a:extLst>
              <a:ext uri="{FF2B5EF4-FFF2-40B4-BE49-F238E27FC236}">
                <a16:creationId xmlns:a16="http://schemas.microsoft.com/office/drawing/2014/main" id="{DEA10C63-298D-442F-901C-055181AA9EC0}"/>
              </a:ext>
            </a:extLst>
          </p:cNvPr>
          <p:cNvSpPr>
            <a:spLocks noGrp="1"/>
          </p:cNvSpPr>
          <p:nvPr/>
        </p:nvSpPr>
        <p:spPr>
          <a:xfrm>
            <a:off x="6888480" y="4477204"/>
            <a:ext cx="1532346" cy="1083854"/>
          </a:xfrm>
          <a:custGeom>
            <a:avLst/>
            <a:gdLst/>
            <a:ahLst/>
            <a:cxnLst/>
            <a:rect l="0" t="0" r="0" b="0"/>
            <a:pathLst>
              <a:path w="1532346" h="1083854">
                <a:moveTo>
                  <a:pt x="95250" y="9525"/>
                </a:moveTo>
                <a:lnTo>
                  <a:pt x="1437096" y="9525"/>
                </a:lnTo>
                <a:cubicBezTo>
                  <a:pt x="1484721" y="9525"/>
                  <a:pt x="1522821" y="47625"/>
                  <a:pt x="152282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server 服务器机架-263">
            <a:extLst>
              <a:ext uri="{FF2B5EF4-FFF2-40B4-BE49-F238E27FC236}">
                <a16:creationId xmlns:a16="http://schemas.microsoft.com/office/drawing/2014/main" id="{4B8E5777-A975-435A-BFF7-A836BEB33433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server 机架状态-264">
            <a:extLst>
              <a:ext uri="{FF2B5EF4-FFF2-40B4-BE49-F238E27FC236}">
                <a16:creationId xmlns:a16="http://schemas.microsoft.com/office/drawing/2014/main" id="{B0E40AFA-731C-43D1-BE3D-28B90E26DBF8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server 指示灯-265">
            <a:extLst>
              <a:ext uri="{FF2B5EF4-FFF2-40B4-BE49-F238E27FC236}">
                <a16:creationId xmlns:a16="http://schemas.microsoft.com/office/drawing/2014/main" id="{8979AD0E-D6B5-48D6-890B-02E16CA8DAC3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server 服务器机架-266">
            <a:extLst>
              <a:ext uri="{FF2B5EF4-FFF2-40B4-BE49-F238E27FC236}">
                <a16:creationId xmlns:a16="http://schemas.microsoft.com/office/drawing/2014/main" id="{5EB12508-AC6F-4FE6-A297-EC105F06B4F3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server 机架状态-267">
            <a:extLst>
              <a:ext uri="{FF2B5EF4-FFF2-40B4-BE49-F238E27FC236}">
                <a16:creationId xmlns:a16="http://schemas.microsoft.com/office/drawing/2014/main" id="{03FADA1B-37E3-45BE-BBC9-830F1C4C22E1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server 指示灯-268">
            <a:extLst>
              <a:ext uri="{FF2B5EF4-FFF2-40B4-BE49-F238E27FC236}">
                <a16:creationId xmlns:a16="http://schemas.microsoft.com/office/drawing/2014/main" id="{4BC7097E-4640-40AF-9316-AE51943903ED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server 服务器机架-269">
            <a:extLst>
              <a:ext uri="{FF2B5EF4-FFF2-40B4-BE49-F238E27FC236}">
                <a16:creationId xmlns:a16="http://schemas.microsoft.com/office/drawing/2014/main" id="{FBF197BF-04CA-4745-850F-1664DC46BF37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server 机架状态-270">
            <a:extLst>
              <a:ext uri="{FF2B5EF4-FFF2-40B4-BE49-F238E27FC236}">
                <a16:creationId xmlns:a16="http://schemas.microsoft.com/office/drawing/2014/main" id="{C0987D4A-EEFE-4DAB-A2C7-C7F1D25D0225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server 指示灯-271">
            <a:extLst>
              <a:ext uri="{FF2B5EF4-FFF2-40B4-BE49-F238E27FC236}">
                <a16:creationId xmlns:a16="http://schemas.microsoft.com/office/drawing/2014/main" id="{C6AA6A8A-9B9E-41E5-B74D-4622AB997BF5}"/>
              </a:ext>
            </a:extLst>
          </p:cNvPr>
          <p:cNvSpPr>
            <a:spLocks noGrp="1"/>
          </p:cNvSpPr>
          <p:nvPr/>
        </p:nvSpPr>
        <p:spPr>
          <a:xfrm>
            <a:off x="7430407" y="458932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文字 管理端口-272">
            <a:extLst>
              <a:ext uri="{FF2B5EF4-FFF2-40B4-BE49-F238E27FC236}">
                <a16:creationId xmlns:a16="http://schemas.microsoft.com/office/drawing/2014/main" id="{D543F4D9-43AA-4ED5-9AA8-09DF69305A3D}"/>
              </a:ext>
            </a:extLst>
          </p:cNvPr>
          <p:cNvSpPr>
            <a:spLocks noGrp="1"/>
          </p:cNvSpPr>
          <p:nvPr/>
        </p:nvSpPr>
        <p:spPr>
          <a:xfrm>
            <a:off x="6953885" y="5121910"/>
            <a:ext cx="14015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管理端口</a:t>
            </a:r>
          </a:p>
        </p:txBody>
      </p:sp>
      <p:cxnSp>
        <p:nvCxnSpPr>
          <p:cNvPr id="76" name="统一拓扑-ops-连线-4">
            <a:extLst>
              <a:ext uri="{FF2B5EF4-FFF2-40B4-BE49-F238E27FC236}">
                <a16:creationId xmlns:a16="http://schemas.microsoft.com/office/drawing/2014/main" id="{7E8B39EE-7534-4F81-8583-6D7770B117C0}"/>
              </a:ext>
            </a:extLst>
          </p:cNvPr>
          <p:cNvCxnSpPr/>
          <p:nvPr/>
        </p:nvCxnSpPr>
        <p:spPr>
          <a:xfrm>
            <a:off x="2141946" y="5019131"/>
            <a:ext cx="4746534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77" name="统一拓扑-ops-连线-5">
            <a:extLst>
              <a:ext uri="{FF2B5EF4-FFF2-40B4-BE49-F238E27FC236}">
                <a16:creationId xmlns:a16="http://schemas.microsoft.com/office/drawing/2014/main" id="{9C13A6EE-41A3-46D8-B86B-36B178B8BAE7}"/>
              </a:ext>
            </a:extLst>
          </p:cNvPr>
          <p:cNvCxnSpPr/>
          <p:nvPr/>
        </p:nvCxnSpPr>
        <p:spPr>
          <a:xfrm>
            <a:off x="4421777" y="4907008"/>
            <a:ext cx="224246" cy="224246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78" name="统一拓扑-ops-连线-6">
            <a:extLst>
              <a:ext uri="{FF2B5EF4-FFF2-40B4-BE49-F238E27FC236}">
                <a16:creationId xmlns:a16="http://schemas.microsoft.com/office/drawing/2014/main" id="{6E6EEB72-1A1B-44CE-9B8A-AB49350AA5F0}"/>
              </a:ext>
            </a:extLst>
          </p:cNvPr>
          <p:cNvCxnSpPr/>
          <p:nvPr/>
        </p:nvCxnSpPr>
        <p:spPr>
          <a:xfrm flipH="1">
            <a:off x="4421777" y="4907008"/>
            <a:ext cx="224246" cy="224246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79" name="统一风格-ops 关系文字衬底-273">
            <a:extLst>
              <a:ext uri="{FF2B5EF4-FFF2-40B4-BE49-F238E27FC236}">
                <a16:creationId xmlns:a16="http://schemas.microsoft.com/office/drawing/2014/main" id="{1951123A-641F-445D-A61D-187DDBCBE6A2}"/>
              </a:ext>
            </a:extLst>
          </p:cNvPr>
          <p:cNvSpPr>
            <a:spLocks noGrp="1"/>
          </p:cNvSpPr>
          <p:nvPr/>
        </p:nvSpPr>
        <p:spPr>
          <a:xfrm>
            <a:off x="2889431" y="5355499"/>
            <a:ext cx="3288937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文字 直接公网管理默认不开放-274">
            <a:extLst>
              <a:ext uri="{FF2B5EF4-FFF2-40B4-BE49-F238E27FC236}">
                <a16:creationId xmlns:a16="http://schemas.microsoft.com/office/drawing/2014/main" id="{A9B7D5A7-9CA7-4FA5-8148-AF109C46572A}"/>
              </a:ext>
            </a:extLst>
          </p:cNvPr>
          <p:cNvSpPr>
            <a:spLocks noGrp="1"/>
          </p:cNvSpPr>
          <p:nvPr/>
        </p:nvSpPr>
        <p:spPr>
          <a:xfrm>
            <a:off x="2926806" y="5355499"/>
            <a:ext cx="3214189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直接公网管理默认不开放</a:t>
            </a:r>
          </a:p>
        </p:txBody>
      </p:sp>
      <p:sp>
        <p:nvSpPr>
          <p:cNvPr id="81" name="版式分隔线">
            <a:extLst>
              <a:ext uri="{FF2B5EF4-FFF2-40B4-BE49-F238E27FC236}">
                <a16:creationId xmlns:a16="http://schemas.microsoft.com/office/drawing/2014/main" id="{49F935AE-8C55-4559-85CE-D308A88C9165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版式分隔线">
            <a:extLst>
              <a:ext uri="{FF2B5EF4-FFF2-40B4-BE49-F238E27FC236}">
                <a16:creationId xmlns:a16="http://schemas.microsoft.com/office/drawing/2014/main" id="{E699796F-7207-4CFD-9EF8-7A0DC3ADEE73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xt-82">
            <a:extLst>
              <a:ext uri="{FF2B5EF4-FFF2-40B4-BE49-F238E27FC236}">
                <a16:creationId xmlns:a16="http://schemas.microsoft.com/office/drawing/2014/main" id="{676932CF-A550-4A8D-9ED5-C0DCEDD74E75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84" name="txt-83">
            <a:extLst>
              <a:ext uri="{FF2B5EF4-FFF2-40B4-BE49-F238E27FC236}">
                <a16:creationId xmlns:a16="http://schemas.microsoft.com/office/drawing/2014/main" id="{8284B266-12E4-46A4-957B-F6D7BFB8B6D8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通过 VPN </a:t>
            </a: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或企业批准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的方式接入</a:t>
            </a:r>
            <a:endParaRPr sz="1575" b="0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版式分隔线">
            <a:extLst>
              <a:ext uri="{FF2B5EF4-FFF2-40B4-BE49-F238E27FC236}">
                <a16:creationId xmlns:a16="http://schemas.microsoft.com/office/drawing/2014/main" id="{D2CC5FEB-7E5C-4C4E-9976-69E951BA3F26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txt-85">
            <a:extLst>
              <a:ext uri="{FF2B5EF4-FFF2-40B4-BE49-F238E27FC236}">
                <a16:creationId xmlns:a16="http://schemas.microsoft.com/office/drawing/2014/main" id="{F780B8F7-B1E2-4F5F-BAA1-0969802E1C3C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87" name="txt-86">
            <a:extLst>
              <a:ext uri="{FF2B5EF4-FFF2-40B4-BE49-F238E27FC236}">
                <a16:creationId xmlns:a16="http://schemas.microsoft.com/office/drawing/2014/main" id="{DD601A02-7D2D-436A-A2B4-1CFB628F96EA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堡垒机控制身份、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目标与操作权限</a:t>
            </a:r>
          </a:p>
        </p:txBody>
      </p:sp>
      <p:sp>
        <p:nvSpPr>
          <p:cNvPr id="88" name="版式分隔线">
            <a:extLst>
              <a:ext uri="{FF2B5EF4-FFF2-40B4-BE49-F238E27FC236}">
                <a16:creationId xmlns:a16="http://schemas.microsoft.com/office/drawing/2014/main" id="{C49825D6-1DE8-4856-999E-C2F646BE0A06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xt-88">
            <a:extLst>
              <a:ext uri="{FF2B5EF4-FFF2-40B4-BE49-F238E27FC236}">
                <a16:creationId xmlns:a16="http://schemas.microsoft.com/office/drawing/2014/main" id="{2B3897EB-9018-4550-B576-8A03D97034AF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暴露面</a:t>
            </a:r>
          </a:p>
        </p:txBody>
      </p:sp>
      <p:sp>
        <p:nvSpPr>
          <p:cNvPr id="90" name="txt-89">
            <a:extLst>
              <a:ext uri="{FF2B5EF4-FFF2-40B4-BE49-F238E27FC236}">
                <a16:creationId xmlns:a16="http://schemas.microsoft.com/office/drawing/2014/main" id="{C522A288-CC61-4381-8266-1719AB11DAFB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IPv4 / IPv6 都需验证，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临时公网管理按例外限时。</a:t>
            </a:r>
          </a:p>
        </p:txBody>
      </p:sp>
    </p:spTree>
    <p:extLst>
      <p:ext uri="{BB962C8B-B14F-4D97-AF65-F5344CB8AC3E}">
        <p14:creationId xmlns:p14="http://schemas.microsoft.com/office/powerpoint/2010/main" val="174602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2  网络互联方案">
            <a:extLst>
              <a:ext uri="{FF2B5EF4-FFF2-40B4-BE49-F238E27FC236}">
                <a16:creationId xmlns:a16="http://schemas.microsoft.com/office/drawing/2014/main" id="{2D97EF87-2C0B-46B9-A96F-C663848CCA6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 网络连接方式总览-260">
            <a:extLst>
              <a:ext uri="{FF2B5EF4-FFF2-40B4-BE49-F238E27FC236}">
                <a16:creationId xmlns:a16="http://schemas.microsoft.com/office/drawing/2014/main" id="{3D1EC5E4-51DF-4C1B-B8F6-845EEE7DDF1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</a:t>
            </a:r>
            <a:r>
              <a:rPr sz="285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lang="en-US" dirty="0" err="1"/>
              <a:t>互联方式</a:t>
            </a:r>
            <a:endParaRPr sz="285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统一风格-文字 先区分整网互联、服务访问、云下接入与公网访问-261">
            <a:extLst>
              <a:ext uri="{FF2B5EF4-FFF2-40B4-BE49-F238E27FC236}">
                <a16:creationId xmlns:a16="http://schemas.microsoft.com/office/drawing/2014/main" id="{01F050DE-C822-4301-BA06-2BA3D433B03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先区分整网互联、服务访问、云下接入与公网访问</a:t>
            </a:r>
          </a:p>
        </p:txBody>
      </p:sp>
      <p:cxnSp>
        <p:nvCxnSpPr>
          <p:cNvPr id="4" name="网络连接-24">
            <a:extLst>
              <a:ext uri="{FF2B5EF4-FFF2-40B4-BE49-F238E27FC236}">
                <a16:creationId xmlns:a16="http://schemas.microsoft.com/office/drawing/2014/main" id="{A50A4FF8-AB25-4FE5-A225-A7CE0419E17E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连接服务解决可达路径。源端、目的端安全策略以及 CFW 覆盖需要另外验证。-262">
            <a:extLst>
              <a:ext uri="{FF2B5EF4-FFF2-40B4-BE49-F238E27FC236}">
                <a16:creationId xmlns:a16="http://schemas.microsoft.com/office/drawing/2014/main" id="{6AEC3439-B9C1-4522-9DD4-DA46DC1B28C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连接服务解决可达路径。源端、目的端安全策略以及 CFW 覆盖需要另外验证。</a:t>
            </a:r>
          </a:p>
        </p:txBody>
      </p:sp>
      <p:sp>
        <p:nvSpPr>
          <p:cNvPr id="6" name="正文-17">
            <a:extLst>
              <a:ext uri="{FF2B5EF4-FFF2-40B4-BE49-F238E27FC236}">
                <a16:creationId xmlns:a16="http://schemas.microsoft.com/office/drawing/2014/main" id="{31F355FB-74CF-4848-BC1C-4BF77DA7DB7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" name="统一风格-路由与配置表玻璃后沿-264">
            <a:extLst>
              <a:ext uri="{FF2B5EF4-FFF2-40B4-BE49-F238E27FC236}">
                <a16:creationId xmlns:a16="http://schemas.microsoft.com/office/drawing/2014/main" id="{F50CFF0F-367A-4AC6-B670-38E26E47D6A1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11106150" cy="3771900"/>
          </a:xfrm>
          <a:prstGeom prst="roundRect">
            <a:avLst>
              <a:gd name="adj" fmla="val 227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265">
            <a:extLst>
              <a:ext uri="{FF2B5EF4-FFF2-40B4-BE49-F238E27FC236}">
                <a16:creationId xmlns:a16="http://schemas.microsoft.com/office/drawing/2014/main" id="{7FEFD7A1-EDEE-4A7F-A957-661F694C5E4E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11106150" cy="3771900"/>
          </a:xfrm>
          <a:prstGeom prst="roundRect">
            <a:avLst>
              <a:gd name="adj" fmla="val 227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266">
            <a:extLst>
              <a:ext uri="{FF2B5EF4-FFF2-40B4-BE49-F238E27FC236}">
                <a16:creationId xmlns:a16="http://schemas.microsoft.com/office/drawing/2014/main" id="{DD475305-74EB-483B-9F1B-C64C0B888848}"/>
              </a:ext>
            </a:extLst>
          </p:cNvPr>
          <p:cNvSpPr>
            <a:spLocks noGrp="1"/>
          </p:cNvSpPr>
          <p:nvPr/>
        </p:nvSpPr>
        <p:spPr>
          <a:xfrm>
            <a:off x="555784" y="2070259"/>
            <a:ext cx="11080433" cy="3746183"/>
          </a:xfrm>
          <a:prstGeom prst="roundRect">
            <a:avLst>
              <a:gd name="adj" fmla="val 19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267">
            <a:extLst>
              <a:ext uri="{FF2B5EF4-FFF2-40B4-BE49-F238E27FC236}">
                <a16:creationId xmlns:a16="http://schemas.microsoft.com/office/drawing/2014/main" id="{4283911B-F31E-4762-BD59-D1212EBA4353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11106150" cy="3771900"/>
          </a:xfrm>
          <a:custGeom>
            <a:avLst/>
            <a:gdLst/>
            <a:ahLst/>
            <a:cxnLst/>
            <a:rect l="0" t="0" r="0" b="0"/>
            <a:pathLst>
              <a:path w="11106150" h="377190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7E059D-03DC-45DC-93AC-6402804F2117}"/>
              </a:ext>
            </a:extLst>
          </p:cNvPr>
          <p:cNvGraphicFramePr/>
          <p:nvPr/>
        </p:nvGraphicFramePr>
        <p:xfrm>
          <a:off x="609600" y="2124075"/>
          <a:ext cx="10972800" cy="3638551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7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主要连接方式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VPC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子网与本地路由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检查子网关联路由和访问控制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跨 VPC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对等连接 / ER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分别管理直连关系或集中路由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私网服务访问 / 地址转换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VPCEP / 私网 NAT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终端节点访问服务，或中转 IP 地址映射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Region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中心网络 + ER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 ER 接入中心网络并分配带宽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IDC / 分支接入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VPN / 云专线 DC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规划云下路由、地址与接入冗余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7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公网访问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 / 公网 NAT 等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核对公网暴露面与转换后的地址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168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1">
            <a:extLst>
              <a:ext uri="{FF2B5EF4-FFF2-40B4-BE49-F238E27FC236}">
                <a16:creationId xmlns:a16="http://schemas.microsoft.com/office/drawing/2014/main" id="{8053680A-93E2-409D-A9BD-8DFE706A72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跨 VPC 连接产品的概念与分工-2">
            <a:extLst>
              <a:ext uri="{FF2B5EF4-FFF2-40B4-BE49-F238E27FC236}">
                <a16:creationId xmlns:a16="http://schemas.microsoft.com/office/drawing/2014/main" id="{9922A807-B044-4317-BCE8-A337884B786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连接产品的概念与分工</a:t>
            </a:r>
          </a:p>
        </p:txBody>
      </p:sp>
      <p:sp>
        <p:nvSpPr>
          <p:cNvPr id="3" name="统一风格-文字 先区分网络互通、服务接入与私网地址转换，再设计路由和授权-3">
            <a:extLst>
              <a:ext uri="{FF2B5EF4-FFF2-40B4-BE49-F238E27FC236}">
                <a16:creationId xmlns:a16="http://schemas.microsoft.com/office/drawing/2014/main" id="{5AB372DB-70E2-482E-946D-2879C852CD7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先区分网络互通、服务接入与私网地址转换，再设计路由和授权</a:t>
            </a:r>
          </a:p>
        </p:txBody>
      </p:sp>
      <p:sp>
        <p:nvSpPr>
          <p:cNvPr id="4" name="统一风格-页脚分隔线-4">
            <a:extLst>
              <a:ext uri="{FF2B5EF4-FFF2-40B4-BE49-F238E27FC236}">
                <a16:creationId xmlns:a16="http://schemas.microsoft.com/office/drawing/2014/main" id="{2A5DDB2E-B57E-4136-B19B-BD930A412B8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私网 NAT 用中转 IP 完成地址映射，路由要求按具体方案判断，安全与 CFW 覆盖仍需验证。-5">
            <a:extLst>
              <a:ext uri="{FF2B5EF4-FFF2-40B4-BE49-F238E27FC236}">
                <a16:creationId xmlns:a16="http://schemas.microsoft.com/office/drawing/2014/main" id="{F3F26C3D-AFAF-45D3-BD06-F99BB950035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用中转 IP 完成地址映射，路由要求按具体方案判断，安全与 CFW 覆盖仍需验证。</a:t>
            </a:r>
          </a:p>
        </p:txBody>
      </p:sp>
      <p:sp>
        <p:nvSpPr>
          <p:cNvPr id="6" name="统一风格-文字 18-6">
            <a:extLst>
              <a:ext uri="{FF2B5EF4-FFF2-40B4-BE49-F238E27FC236}">
                <a16:creationId xmlns:a16="http://schemas.microsoft.com/office/drawing/2014/main" id="{9423E4E5-C894-4D4A-8123-33FBC8D4ADC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统一风格-可编辑配置表玻璃后沿-7">
            <a:extLst>
              <a:ext uri="{FF2B5EF4-FFF2-40B4-BE49-F238E27FC236}">
                <a16:creationId xmlns:a16="http://schemas.microsoft.com/office/drawing/2014/main" id="{C88F64CC-4F36-4934-9055-D19450ABC3B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8">
            <a:extLst>
              <a:ext uri="{FF2B5EF4-FFF2-40B4-BE49-F238E27FC236}">
                <a16:creationId xmlns:a16="http://schemas.microsoft.com/office/drawing/2014/main" id="{21065AA7-6B0B-4829-BB59-0224B6F6631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9">
            <a:extLst>
              <a:ext uri="{FF2B5EF4-FFF2-40B4-BE49-F238E27FC236}">
                <a16:creationId xmlns:a16="http://schemas.microsoft.com/office/drawing/2014/main" id="{2C66FD2F-7576-43B7-ACAB-24499F7CA42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0">
            <a:extLst>
              <a:ext uri="{FF2B5EF4-FFF2-40B4-BE49-F238E27FC236}">
                <a16:creationId xmlns:a16="http://schemas.microsoft.com/office/drawing/2014/main" id="{73CCCE12-483B-4F02-A823-46A1DD0B31E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6F2804-9AF3-4BC6-96D2-8F0E24BC2FBE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核心概念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作用范围与配置重点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对等连接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Peering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的 VPC 之间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建立私网连接关系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核验两端实际路由表与访问权限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传递组网需显式配置相关路由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企业路由器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 VPC 或本地网络的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集中路由枢纽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通过连接接入网络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使用关联与传播组织路由表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 NAT 网关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Private NAT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跨 VPC 私网地址转换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转换源，DNAT 映射服务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规划中转 IP、转换规则与安全策略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 DNAT ELB 与 SNAT 中转组网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VPCEP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消费端通过终端节点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私网访问已发布的服务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按服务授权与端口映射接入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用于指定服务访问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云连接中心网络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 + ER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连接不同 Region 的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实现跨区域网络互通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 VPC 接入本地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中心网络配置连接策略与带宽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统一风格-文字 02  网络互联方案-11">
            <a:extLst>
              <a:ext uri="{FF2B5EF4-FFF2-40B4-BE49-F238E27FC236}">
                <a16:creationId xmlns:a16="http://schemas.microsoft.com/office/drawing/2014/main" id="{ADBC00F3-057F-4CB3-B86D-FC388D9EE60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互联选型：按访问范围和管理方式判断-12">
            <a:extLst>
              <a:ext uri="{FF2B5EF4-FFF2-40B4-BE49-F238E27FC236}">
                <a16:creationId xmlns:a16="http://schemas.microsoft.com/office/drawing/2014/main" id="{89EE631C-FDEC-4773-85D8-58C2E736D3B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互联选型：按访问范围和管理方式判断</a:t>
            </a:r>
          </a:p>
        </p:txBody>
      </p:sp>
      <p:sp>
        <p:nvSpPr>
          <p:cNvPr id="3" name="统一风格-文字 同 Region 跨 VPC 访问，先判断需要路由互通还是地址映射-13">
            <a:extLst>
              <a:ext uri="{FF2B5EF4-FFF2-40B4-BE49-F238E27FC236}">
                <a16:creationId xmlns:a16="http://schemas.microsoft.com/office/drawing/2014/main" id="{4A951D33-1450-43D5-91DA-4A9A8709B50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Region 跨 VPC 访问，先判断需要路由互通还是地址映射</a:t>
            </a:r>
          </a:p>
        </p:txBody>
      </p:sp>
      <p:sp>
        <p:nvSpPr>
          <p:cNvPr id="4" name="统一风格-页脚分隔线-14">
            <a:extLst>
              <a:ext uri="{FF2B5EF4-FFF2-40B4-BE49-F238E27FC236}">
                <a16:creationId xmlns:a16="http://schemas.microsoft.com/office/drawing/2014/main" id="{3C51E685-E49B-4C03-BA80-0202D405EC0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私网 NAT 选型需细分：ELB 服务映射用 DNAT，指定源 IP 访问用 SNAT，重叠网段另行设计。-15">
            <a:extLst>
              <a:ext uri="{FF2B5EF4-FFF2-40B4-BE49-F238E27FC236}">
                <a16:creationId xmlns:a16="http://schemas.microsoft.com/office/drawing/2014/main" id="{F99086D9-84AC-410D-9DB8-BB4708C3101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选型需细分：ELB 服务映射用 DNAT，指定源 IP 访问用 SNAT，重叠网段另行设计。</a:t>
            </a:r>
          </a:p>
        </p:txBody>
      </p:sp>
      <p:sp>
        <p:nvSpPr>
          <p:cNvPr id="6" name="统一风格-文字 19-16">
            <a:extLst>
              <a:ext uri="{FF2B5EF4-FFF2-40B4-BE49-F238E27FC236}">
                <a16:creationId xmlns:a16="http://schemas.microsoft.com/office/drawing/2014/main" id="{DEDF308B-92AC-490F-A96B-A80671F7AB2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统一风格-文字 只访问已发布的服务-17">
            <a:extLst>
              <a:ext uri="{FF2B5EF4-FFF2-40B4-BE49-F238E27FC236}">
                <a16:creationId xmlns:a16="http://schemas.microsoft.com/office/drawing/2014/main" id="{176ED1D4-076A-44B6-8C99-CA91AD32DB57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只访问已发布的服务</a:t>
            </a:r>
          </a:p>
        </p:txBody>
      </p:sp>
      <p:cxnSp>
        <p:nvCxnSpPr>
          <p:cNvPr id="8" name="私网访问连接">
            <a:extLst>
              <a:ext uri="{FF2B5EF4-FFF2-40B4-BE49-F238E27FC236}">
                <a16:creationId xmlns:a16="http://schemas.microsoft.com/office/drawing/2014/main" id="{1CD62963-90B5-4102-B642-76D03708B185}"/>
              </a:ext>
            </a:extLst>
          </p:cNvPr>
          <p:cNvCxnSpPr/>
          <p:nvPr/>
        </p:nvCxnSpPr>
        <p:spPr>
          <a:xfrm>
            <a:off x="4810125" y="2428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9" name="统一风格-VPCEP玻璃后沿-18">
            <a:extLst>
              <a:ext uri="{FF2B5EF4-FFF2-40B4-BE49-F238E27FC236}">
                <a16:creationId xmlns:a16="http://schemas.microsoft.com/office/drawing/2014/main" id="{53334E57-92A0-4ABA-AA72-4D85C46253A5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VPCEP-19">
            <a:extLst>
              <a:ext uri="{FF2B5EF4-FFF2-40B4-BE49-F238E27FC236}">
                <a16:creationId xmlns:a16="http://schemas.microsoft.com/office/drawing/2014/main" id="{E7820DDF-05E9-40F7-B327-31D8DCBF149D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VPCEP玻璃内沿-20">
            <a:extLst>
              <a:ext uri="{FF2B5EF4-FFF2-40B4-BE49-F238E27FC236}">
                <a16:creationId xmlns:a16="http://schemas.microsoft.com/office/drawing/2014/main" id="{7D509DAB-83E5-4588-B75B-D399EB2003F1}"/>
              </a:ext>
            </a:extLst>
          </p:cNvPr>
          <p:cNvSpPr>
            <a:spLocks noGrp="1"/>
          </p:cNvSpPr>
          <p:nvPr/>
        </p:nvSpPr>
        <p:spPr>
          <a:xfrm>
            <a:off x="5480209" y="2108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VPCEP边缘高光-21">
            <a:extLst>
              <a:ext uri="{FF2B5EF4-FFF2-40B4-BE49-F238E27FC236}">
                <a16:creationId xmlns:a16="http://schemas.microsoft.com/office/drawing/2014/main" id="{6DFB729D-4EAC-42EF-8934-563C2075478F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终端节点图标-22">
            <a:extLst>
              <a:ext uri="{FF2B5EF4-FFF2-40B4-BE49-F238E27FC236}">
                <a16:creationId xmlns:a16="http://schemas.microsoft.com/office/drawing/2014/main" id="{0F3A7AC1-6A7C-4F5C-9A33-EB61585E6DDF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终端节点服务端口-23">
            <a:extLst>
              <a:ext uri="{FF2B5EF4-FFF2-40B4-BE49-F238E27FC236}">
                <a16:creationId xmlns:a16="http://schemas.microsoft.com/office/drawing/2014/main" id="{7A469B77-1BE7-499E-9EDD-B542899B7EEA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VPCEP-24">
            <a:extLst>
              <a:ext uri="{FF2B5EF4-FFF2-40B4-BE49-F238E27FC236}">
                <a16:creationId xmlns:a16="http://schemas.microsoft.com/office/drawing/2014/main" id="{860920D8-6FD3-4D12-A69A-2C748C35E4D9}"/>
              </a:ext>
            </a:extLst>
          </p:cNvPr>
          <p:cNvSpPr>
            <a:spLocks noGrp="1"/>
          </p:cNvSpPr>
          <p:nvPr/>
        </p:nvSpPr>
        <p:spPr>
          <a:xfrm>
            <a:off x="6257925" y="2162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</a:t>
            </a:r>
          </a:p>
        </p:txBody>
      </p:sp>
      <p:sp>
        <p:nvSpPr>
          <p:cNvPr id="16" name="统一风格-文字 通过终端节点接入服务入口-25">
            <a:extLst>
              <a:ext uri="{FF2B5EF4-FFF2-40B4-BE49-F238E27FC236}">
                <a16:creationId xmlns:a16="http://schemas.microsoft.com/office/drawing/2014/main" id="{D286D76C-C89C-4CC4-A313-28D919070A0B}"/>
              </a:ext>
            </a:extLst>
          </p:cNvPr>
          <p:cNvSpPr>
            <a:spLocks noGrp="1"/>
          </p:cNvSpPr>
          <p:nvPr/>
        </p:nvSpPr>
        <p:spPr>
          <a:xfrm>
            <a:off x="6257925" y="2466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通过终端节点接入服务入口</a:t>
            </a:r>
          </a:p>
        </p:txBody>
      </p:sp>
      <p:sp>
        <p:nvSpPr>
          <p:cNvPr id="17" name="统一风格-文字 同 Region 跨 VPC 地址转换-26">
            <a:extLst>
              <a:ext uri="{FF2B5EF4-FFF2-40B4-BE49-F238E27FC236}">
                <a16:creationId xmlns:a16="http://schemas.microsoft.com/office/drawing/2014/main" id="{368E62A8-482D-4C13-B923-D9BF617B51FF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跨 VPC 地址转换</a:t>
            </a:r>
          </a:p>
        </p:txBody>
      </p:sp>
      <p:cxnSp>
        <p:nvCxnSpPr>
          <p:cNvPr id="18" name="私网访问连接">
            <a:extLst>
              <a:ext uri="{FF2B5EF4-FFF2-40B4-BE49-F238E27FC236}">
                <a16:creationId xmlns:a16="http://schemas.microsoft.com/office/drawing/2014/main" id="{90C3A48F-51B5-476D-893A-9DFFC665EB91}"/>
              </a:ext>
            </a:extLst>
          </p:cNvPr>
          <p:cNvCxnSpPr/>
          <p:nvPr/>
        </p:nvCxnSpPr>
        <p:spPr>
          <a:xfrm>
            <a:off x="4810125" y="3190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19" name="统一风格-私网 NAT玻璃后沿-27">
            <a:extLst>
              <a:ext uri="{FF2B5EF4-FFF2-40B4-BE49-F238E27FC236}">
                <a16:creationId xmlns:a16="http://schemas.microsoft.com/office/drawing/2014/main" id="{BBE132AF-B108-48C5-8E93-F65902911C86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私网 NAT-28">
            <a:extLst>
              <a:ext uri="{FF2B5EF4-FFF2-40B4-BE49-F238E27FC236}">
                <a16:creationId xmlns:a16="http://schemas.microsoft.com/office/drawing/2014/main" id="{963CBD0B-6227-4674-843E-62C811093ED9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私网 NAT玻璃内沿-29">
            <a:extLst>
              <a:ext uri="{FF2B5EF4-FFF2-40B4-BE49-F238E27FC236}">
                <a16:creationId xmlns:a16="http://schemas.microsoft.com/office/drawing/2014/main" id="{06DE6B12-3837-4E1A-98F4-7209BC5800B7}"/>
              </a:ext>
            </a:extLst>
          </p:cNvPr>
          <p:cNvSpPr>
            <a:spLocks noGrp="1"/>
          </p:cNvSpPr>
          <p:nvPr/>
        </p:nvSpPr>
        <p:spPr>
          <a:xfrm>
            <a:off x="5480209" y="2870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私网 NAT边缘高光-30">
            <a:extLst>
              <a:ext uri="{FF2B5EF4-FFF2-40B4-BE49-F238E27FC236}">
                <a16:creationId xmlns:a16="http://schemas.microsoft.com/office/drawing/2014/main" id="{0E94DC26-6052-4D64-9345-B2623AB344B1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nat NAT 网关-31">
            <a:extLst>
              <a:ext uri="{FF2B5EF4-FFF2-40B4-BE49-F238E27FC236}">
                <a16:creationId xmlns:a16="http://schemas.microsoft.com/office/drawing/2014/main" id="{388D610F-A0D0-4F69-9389-402561A75EB9}"/>
              </a:ext>
            </a:extLst>
          </p:cNvPr>
          <p:cNvSpPr>
            <a:spLocks noGrp="1"/>
          </p:cNvSpPr>
          <p:nvPr/>
        </p:nvSpPr>
        <p:spPr>
          <a:xfrm>
            <a:off x="5619750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nat 地址转换-32">
            <a:extLst>
              <a:ext uri="{FF2B5EF4-FFF2-40B4-BE49-F238E27FC236}">
                <a16:creationId xmlns:a16="http://schemas.microsoft.com/office/drawing/2014/main" id="{E5A664F6-C738-48F5-B021-24EA3044FADC}"/>
              </a:ext>
            </a:extLst>
          </p:cNvPr>
          <p:cNvSpPr>
            <a:spLocks noGrp="1"/>
          </p:cNvSpPr>
          <p:nvPr/>
        </p:nvSpPr>
        <p:spPr>
          <a:xfrm>
            <a:off x="5619750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私网 NAT-33">
            <a:extLst>
              <a:ext uri="{FF2B5EF4-FFF2-40B4-BE49-F238E27FC236}">
                <a16:creationId xmlns:a16="http://schemas.microsoft.com/office/drawing/2014/main" id="{B2BB6702-72EC-4D0B-B245-21DC69812F71}"/>
              </a:ext>
            </a:extLst>
          </p:cNvPr>
          <p:cNvSpPr>
            <a:spLocks noGrp="1"/>
          </p:cNvSpPr>
          <p:nvPr/>
        </p:nvSpPr>
        <p:spPr>
          <a:xfrm>
            <a:off x="6257925" y="2924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6" name="统一风格-文字 DNAT 映射 ELB，SNAT 统一访问源 IP-34">
            <a:extLst>
              <a:ext uri="{FF2B5EF4-FFF2-40B4-BE49-F238E27FC236}">
                <a16:creationId xmlns:a16="http://schemas.microsoft.com/office/drawing/2014/main" id="{5D2C3C5C-A166-45BF-873B-D255BD0B22A4}"/>
              </a:ext>
            </a:extLst>
          </p:cNvPr>
          <p:cNvSpPr>
            <a:spLocks noGrp="1"/>
          </p:cNvSpPr>
          <p:nvPr/>
        </p:nvSpPr>
        <p:spPr>
          <a:xfrm>
            <a:off x="6257925" y="3228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DNAT 映射 ELB，SNAT 统一访问源 IP</a:t>
            </a:r>
          </a:p>
        </p:txBody>
      </p:sp>
      <p:sp>
        <p:nvSpPr>
          <p:cNvPr id="27" name="统一风格-文字 同 Region 少量 VPC 互访-35">
            <a:extLst>
              <a:ext uri="{FF2B5EF4-FFF2-40B4-BE49-F238E27FC236}">
                <a16:creationId xmlns:a16="http://schemas.microsoft.com/office/drawing/2014/main" id="{D30B171F-97BE-43ED-998D-F7DEB0A297E9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少量 VPC 互访</a:t>
            </a:r>
          </a:p>
        </p:txBody>
      </p:sp>
      <p:cxnSp>
        <p:nvCxnSpPr>
          <p:cNvPr id="28" name="私网访问连接">
            <a:extLst>
              <a:ext uri="{FF2B5EF4-FFF2-40B4-BE49-F238E27FC236}">
                <a16:creationId xmlns:a16="http://schemas.microsoft.com/office/drawing/2014/main" id="{FCC8A564-9D16-41D6-9652-186D8460109C}"/>
              </a:ext>
            </a:extLst>
          </p:cNvPr>
          <p:cNvCxnSpPr/>
          <p:nvPr/>
        </p:nvCxnSpPr>
        <p:spPr>
          <a:xfrm>
            <a:off x="4810125" y="3952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29" name="统一风格-对等连接玻璃后沿-36">
            <a:extLst>
              <a:ext uri="{FF2B5EF4-FFF2-40B4-BE49-F238E27FC236}">
                <a16:creationId xmlns:a16="http://schemas.microsoft.com/office/drawing/2014/main" id="{1EB37383-884D-4EA7-9137-F65C486709B2}"/>
              </a:ext>
            </a:extLst>
          </p:cNvPr>
          <p:cNvSpPr>
            <a:spLocks noGrp="1"/>
          </p:cNvSpPr>
          <p:nvPr/>
        </p:nvSpPr>
        <p:spPr>
          <a:xfrm>
            <a:off x="5467350" y="3619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对等连接-37">
            <a:extLst>
              <a:ext uri="{FF2B5EF4-FFF2-40B4-BE49-F238E27FC236}">
                <a16:creationId xmlns:a16="http://schemas.microsoft.com/office/drawing/2014/main" id="{BCEF0454-B5E1-487E-867D-CA318F5F76B8}"/>
              </a:ext>
            </a:extLst>
          </p:cNvPr>
          <p:cNvSpPr>
            <a:spLocks noGrp="1"/>
          </p:cNvSpPr>
          <p:nvPr/>
        </p:nvSpPr>
        <p:spPr>
          <a:xfrm>
            <a:off x="5467350" y="3619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对等连接玻璃内沿-38">
            <a:extLst>
              <a:ext uri="{FF2B5EF4-FFF2-40B4-BE49-F238E27FC236}">
                <a16:creationId xmlns:a16="http://schemas.microsoft.com/office/drawing/2014/main" id="{243720AB-D556-48EE-862C-075FACA118F5}"/>
              </a:ext>
            </a:extLst>
          </p:cNvPr>
          <p:cNvSpPr>
            <a:spLocks noGrp="1"/>
          </p:cNvSpPr>
          <p:nvPr/>
        </p:nvSpPr>
        <p:spPr>
          <a:xfrm>
            <a:off x="5480209" y="3632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对等连接边缘高光-39">
            <a:extLst>
              <a:ext uri="{FF2B5EF4-FFF2-40B4-BE49-F238E27FC236}">
                <a16:creationId xmlns:a16="http://schemas.microsoft.com/office/drawing/2014/main" id="{6256F9BB-ACE9-4046-9015-9475B4FACF2C}"/>
              </a:ext>
            </a:extLst>
          </p:cNvPr>
          <p:cNvSpPr>
            <a:spLocks noGrp="1"/>
          </p:cNvSpPr>
          <p:nvPr/>
        </p:nvSpPr>
        <p:spPr>
          <a:xfrm>
            <a:off x="5467350" y="3619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对等连接图标-40">
            <a:extLst>
              <a:ext uri="{FF2B5EF4-FFF2-40B4-BE49-F238E27FC236}">
                <a16:creationId xmlns:a16="http://schemas.microsoft.com/office/drawing/2014/main" id="{45808E98-7149-4356-966B-5C03B63B299F}"/>
              </a:ext>
            </a:extLst>
          </p:cNvPr>
          <p:cNvSpPr>
            <a:spLocks noGrp="1"/>
          </p:cNvSpPr>
          <p:nvPr/>
        </p:nvSpPr>
        <p:spPr>
          <a:xfrm>
            <a:off x="5619750" y="3752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对等连接-41">
            <a:extLst>
              <a:ext uri="{FF2B5EF4-FFF2-40B4-BE49-F238E27FC236}">
                <a16:creationId xmlns:a16="http://schemas.microsoft.com/office/drawing/2014/main" id="{457B3B77-CE70-44EB-A49E-4EE9F5B0784D}"/>
              </a:ext>
            </a:extLst>
          </p:cNvPr>
          <p:cNvSpPr>
            <a:spLocks noGrp="1"/>
          </p:cNvSpPr>
          <p:nvPr/>
        </p:nvSpPr>
        <p:spPr>
          <a:xfrm>
            <a:off x="6257925" y="3686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</a:t>
            </a:r>
          </a:p>
        </p:txBody>
      </p:sp>
      <p:sp>
        <p:nvSpPr>
          <p:cNvPr id="35" name="统一风格-文字 维护两端路由与连接关系-42">
            <a:extLst>
              <a:ext uri="{FF2B5EF4-FFF2-40B4-BE49-F238E27FC236}">
                <a16:creationId xmlns:a16="http://schemas.microsoft.com/office/drawing/2014/main" id="{5DF3F2BD-3654-4565-8B06-96625BC9AE7C}"/>
              </a:ext>
            </a:extLst>
          </p:cNvPr>
          <p:cNvSpPr>
            <a:spLocks noGrp="1"/>
          </p:cNvSpPr>
          <p:nvPr/>
        </p:nvSpPr>
        <p:spPr>
          <a:xfrm>
            <a:off x="6257925" y="3990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维护两端路由与连接关系</a:t>
            </a:r>
          </a:p>
        </p:txBody>
      </p:sp>
      <p:sp>
        <p:nvSpPr>
          <p:cNvPr id="36" name="统一风格-文字 同 Region 多 VPC 集中组网-43">
            <a:extLst>
              <a:ext uri="{FF2B5EF4-FFF2-40B4-BE49-F238E27FC236}">
                <a16:creationId xmlns:a16="http://schemas.microsoft.com/office/drawing/2014/main" id="{9F5609AE-8B6E-46F2-BE68-EF52DAF78688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 Region 多 VPC 集中组网</a:t>
            </a:r>
          </a:p>
        </p:txBody>
      </p:sp>
      <p:cxnSp>
        <p:nvCxnSpPr>
          <p:cNvPr id="37" name="私网访问连接">
            <a:extLst>
              <a:ext uri="{FF2B5EF4-FFF2-40B4-BE49-F238E27FC236}">
                <a16:creationId xmlns:a16="http://schemas.microsoft.com/office/drawing/2014/main" id="{97440076-EBE2-4C79-A2F5-7D7F1D3CDC9F}"/>
              </a:ext>
            </a:extLst>
          </p:cNvPr>
          <p:cNvCxnSpPr/>
          <p:nvPr/>
        </p:nvCxnSpPr>
        <p:spPr>
          <a:xfrm>
            <a:off x="4810125" y="4714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38" name="统一风格-ER玻璃后沿-44">
            <a:extLst>
              <a:ext uri="{FF2B5EF4-FFF2-40B4-BE49-F238E27FC236}">
                <a16:creationId xmlns:a16="http://schemas.microsoft.com/office/drawing/2014/main" id="{7626332B-E41F-498E-8AD7-BB1D2D928324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ER-45">
            <a:extLst>
              <a:ext uri="{FF2B5EF4-FFF2-40B4-BE49-F238E27FC236}">
                <a16:creationId xmlns:a16="http://schemas.microsoft.com/office/drawing/2014/main" id="{A512D225-4CD2-4B7A-B84B-487A8CACC0E3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ER玻璃内沿-46">
            <a:extLst>
              <a:ext uri="{FF2B5EF4-FFF2-40B4-BE49-F238E27FC236}">
                <a16:creationId xmlns:a16="http://schemas.microsoft.com/office/drawing/2014/main" id="{BAC68A4A-BFFA-43FD-A926-5F491447AECC}"/>
              </a:ext>
            </a:extLst>
          </p:cNvPr>
          <p:cNvSpPr>
            <a:spLocks noGrp="1"/>
          </p:cNvSpPr>
          <p:nvPr/>
        </p:nvSpPr>
        <p:spPr>
          <a:xfrm>
            <a:off x="5480209" y="4394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ER边缘高光-47">
            <a:extLst>
              <a:ext uri="{FF2B5EF4-FFF2-40B4-BE49-F238E27FC236}">
                <a16:creationId xmlns:a16="http://schemas.microsoft.com/office/drawing/2014/main" id="{C205E81B-FAED-426D-ADBD-B3CE0099D42C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router ER 路由器外形-48">
            <a:extLst>
              <a:ext uri="{FF2B5EF4-FFF2-40B4-BE49-F238E27FC236}">
                <a16:creationId xmlns:a16="http://schemas.microsoft.com/office/drawing/2014/main" id="{E4609621-186F-46CA-8047-7600672E3A79}"/>
              </a:ext>
            </a:extLst>
          </p:cNvPr>
          <p:cNvSpPr>
            <a:spLocks noGrp="1"/>
          </p:cNvSpPr>
          <p:nvPr/>
        </p:nvSpPr>
        <p:spPr>
          <a:xfrm>
            <a:off x="5619750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router ER 四向路由-49">
            <a:extLst>
              <a:ext uri="{FF2B5EF4-FFF2-40B4-BE49-F238E27FC236}">
                <a16:creationId xmlns:a16="http://schemas.microsoft.com/office/drawing/2014/main" id="{912279C7-48B7-467F-8EC9-7CD51E55B399}"/>
              </a:ext>
            </a:extLst>
          </p:cNvPr>
          <p:cNvSpPr>
            <a:spLocks noGrp="1"/>
          </p:cNvSpPr>
          <p:nvPr/>
        </p:nvSpPr>
        <p:spPr>
          <a:xfrm>
            <a:off x="5619750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ER-50">
            <a:extLst>
              <a:ext uri="{FF2B5EF4-FFF2-40B4-BE49-F238E27FC236}">
                <a16:creationId xmlns:a16="http://schemas.microsoft.com/office/drawing/2014/main" id="{A1BB3A7C-D3DD-4B3B-893A-8AF2DFFA4453}"/>
              </a:ext>
            </a:extLst>
          </p:cNvPr>
          <p:cNvSpPr>
            <a:spLocks noGrp="1"/>
          </p:cNvSpPr>
          <p:nvPr/>
        </p:nvSpPr>
        <p:spPr>
          <a:xfrm>
            <a:off x="6257925" y="4448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45" name="统一风格-文字 集中管理路由域和连接-51">
            <a:extLst>
              <a:ext uri="{FF2B5EF4-FFF2-40B4-BE49-F238E27FC236}">
                <a16:creationId xmlns:a16="http://schemas.microsoft.com/office/drawing/2014/main" id="{293BE825-D426-4DAA-98E6-0D8A54E1EA7E}"/>
              </a:ext>
            </a:extLst>
          </p:cNvPr>
          <p:cNvSpPr>
            <a:spLocks noGrp="1"/>
          </p:cNvSpPr>
          <p:nvPr/>
        </p:nvSpPr>
        <p:spPr>
          <a:xfrm>
            <a:off x="6257925" y="4752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集中管理路由域和连接</a:t>
            </a:r>
          </a:p>
        </p:txBody>
      </p:sp>
      <p:sp>
        <p:nvSpPr>
          <p:cNvPr id="46" name="统一风格-文字 不同 Region 的 VPC 互访-52">
            <a:extLst>
              <a:ext uri="{FF2B5EF4-FFF2-40B4-BE49-F238E27FC236}">
                <a16:creationId xmlns:a16="http://schemas.microsoft.com/office/drawing/2014/main" id="{D190B4E2-D19C-4E59-9CD3-94D7EF845F24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不同 Region 的 VPC 互访</a:t>
            </a:r>
          </a:p>
        </p:txBody>
      </p:sp>
      <p:cxnSp>
        <p:nvCxnSpPr>
          <p:cNvPr id="47" name="私网访问连接">
            <a:extLst>
              <a:ext uri="{FF2B5EF4-FFF2-40B4-BE49-F238E27FC236}">
                <a16:creationId xmlns:a16="http://schemas.microsoft.com/office/drawing/2014/main" id="{69F491A9-CD23-462D-B3EB-E8F80B6C16C9}"/>
              </a:ext>
            </a:extLst>
          </p:cNvPr>
          <p:cNvCxnSpPr/>
          <p:nvPr/>
        </p:nvCxnSpPr>
        <p:spPr>
          <a:xfrm>
            <a:off x="4810125" y="5476875"/>
            <a:ext cx="4286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48" name="统一风格-CC 中心网络 + ER玻璃后沿-53">
            <a:extLst>
              <a:ext uri="{FF2B5EF4-FFF2-40B4-BE49-F238E27FC236}">
                <a16:creationId xmlns:a16="http://schemas.microsoft.com/office/drawing/2014/main" id="{9BFE96E1-8E4A-430A-964A-9C5FCFE40BAF}"/>
              </a:ext>
            </a:extLst>
          </p:cNvPr>
          <p:cNvSpPr>
            <a:spLocks noGrp="1"/>
          </p:cNvSpPr>
          <p:nvPr/>
        </p:nvSpPr>
        <p:spPr>
          <a:xfrm>
            <a:off x="5467350" y="5143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CC 中心网络 + ER-54">
            <a:extLst>
              <a:ext uri="{FF2B5EF4-FFF2-40B4-BE49-F238E27FC236}">
                <a16:creationId xmlns:a16="http://schemas.microsoft.com/office/drawing/2014/main" id="{69772538-E599-4D16-93D3-F660B9B87997}"/>
              </a:ext>
            </a:extLst>
          </p:cNvPr>
          <p:cNvSpPr>
            <a:spLocks noGrp="1"/>
          </p:cNvSpPr>
          <p:nvPr/>
        </p:nvSpPr>
        <p:spPr>
          <a:xfrm>
            <a:off x="5467350" y="5143500"/>
            <a:ext cx="611505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CC 中心网络 + ER玻璃内沿-55">
            <a:extLst>
              <a:ext uri="{FF2B5EF4-FFF2-40B4-BE49-F238E27FC236}">
                <a16:creationId xmlns:a16="http://schemas.microsoft.com/office/drawing/2014/main" id="{A9FCB72B-1327-4513-92A9-FE2224297C38}"/>
              </a:ext>
            </a:extLst>
          </p:cNvPr>
          <p:cNvSpPr>
            <a:spLocks noGrp="1"/>
          </p:cNvSpPr>
          <p:nvPr/>
        </p:nvSpPr>
        <p:spPr>
          <a:xfrm>
            <a:off x="5480209" y="5156359"/>
            <a:ext cx="608933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CC 中心网络 + ER边缘高光-56">
            <a:extLst>
              <a:ext uri="{FF2B5EF4-FFF2-40B4-BE49-F238E27FC236}">
                <a16:creationId xmlns:a16="http://schemas.microsoft.com/office/drawing/2014/main" id="{229930C3-A6B7-46B1-A689-70BADA9F8E8E}"/>
              </a:ext>
            </a:extLst>
          </p:cNvPr>
          <p:cNvSpPr>
            <a:spLocks noGrp="1"/>
          </p:cNvSpPr>
          <p:nvPr/>
        </p:nvSpPr>
        <p:spPr>
          <a:xfrm>
            <a:off x="5467350" y="5143500"/>
            <a:ext cx="6115050" cy="666750"/>
          </a:xfrm>
          <a:custGeom>
            <a:avLst/>
            <a:gdLst/>
            <a:ahLst/>
            <a:cxnLst/>
            <a:rect l="0" t="0" r="0" b="0"/>
            <a:pathLst>
              <a:path w="6115050" h="666750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中心网络枢纽-57">
            <a:extLst>
              <a:ext uri="{FF2B5EF4-FFF2-40B4-BE49-F238E27FC236}">
                <a16:creationId xmlns:a16="http://schemas.microsoft.com/office/drawing/2014/main" id="{CD7DEF0E-0172-4C6C-A2EB-C1CFD23FD1A5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区域连接点-58">
            <a:extLst>
              <a:ext uri="{FF2B5EF4-FFF2-40B4-BE49-F238E27FC236}">
                <a16:creationId xmlns:a16="http://schemas.microsoft.com/office/drawing/2014/main" id="{FF8DD533-92B4-4D8A-BA62-85C3EDE3B412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区域连接点-59">
            <a:extLst>
              <a:ext uri="{FF2B5EF4-FFF2-40B4-BE49-F238E27FC236}">
                <a16:creationId xmlns:a16="http://schemas.microsoft.com/office/drawing/2014/main" id="{174689F8-EEFC-40C6-9380-205880BDE029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区域连接点-60">
            <a:extLst>
              <a:ext uri="{FF2B5EF4-FFF2-40B4-BE49-F238E27FC236}">
                <a16:creationId xmlns:a16="http://schemas.microsoft.com/office/drawing/2014/main" id="{963AA177-FC30-4770-8C27-A6F1A85CF7CC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区域连接点-61">
            <a:extLst>
              <a:ext uri="{FF2B5EF4-FFF2-40B4-BE49-F238E27FC236}">
                <a16:creationId xmlns:a16="http://schemas.microsoft.com/office/drawing/2014/main" id="{309A3364-009F-4E45-8217-14BA492FA55F}"/>
              </a:ext>
            </a:extLst>
          </p:cNvPr>
          <p:cNvSpPr>
            <a:spLocks noGrp="1"/>
          </p:cNvSpPr>
          <p:nvPr/>
        </p:nvSpPr>
        <p:spPr>
          <a:xfrm>
            <a:off x="5619750" y="5276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CC 中心网络 + ER-62">
            <a:extLst>
              <a:ext uri="{FF2B5EF4-FFF2-40B4-BE49-F238E27FC236}">
                <a16:creationId xmlns:a16="http://schemas.microsoft.com/office/drawing/2014/main" id="{67ACCF73-12BB-41FF-9E39-EE631B4BA2D6}"/>
              </a:ext>
            </a:extLst>
          </p:cNvPr>
          <p:cNvSpPr>
            <a:spLocks noGrp="1"/>
          </p:cNvSpPr>
          <p:nvPr/>
        </p:nvSpPr>
        <p:spPr>
          <a:xfrm>
            <a:off x="6257925" y="5210175"/>
            <a:ext cx="5124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 + ER</a:t>
            </a:r>
          </a:p>
        </p:txBody>
      </p:sp>
      <p:sp>
        <p:nvSpPr>
          <p:cNvPr id="58" name="统一风格-文字 规划区域互联策略与带宽-63">
            <a:extLst>
              <a:ext uri="{FF2B5EF4-FFF2-40B4-BE49-F238E27FC236}">
                <a16:creationId xmlns:a16="http://schemas.microsoft.com/office/drawing/2014/main" id="{12E97074-35B0-4A99-B486-A9B119BC3B02}"/>
              </a:ext>
            </a:extLst>
          </p:cNvPr>
          <p:cNvSpPr>
            <a:spLocks noGrp="1"/>
          </p:cNvSpPr>
          <p:nvPr/>
        </p:nvSpPr>
        <p:spPr>
          <a:xfrm>
            <a:off x="6257925" y="5514975"/>
            <a:ext cx="5124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规划区域互联策略与带宽</a:t>
            </a:r>
          </a:p>
        </p:txBody>
      </p:sp>
    </p:spTree>
    <p:extLst>
      <p:ext uri="{BB962C8B-B14F-4D97-AF65-F5344CB8AC3E}">
        <p14:creationId xmlns:p14="http://schemas.microsoft.com/office/powerpoint/2010/main" val="205482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统一风格-文字 02  网络互联方案-64">
            <a:extLst>
              <a:ext uri="{FF2B5EF4-FFF2-40B4-BE49-F238E27FC236}">
                <a16:creationId xmlns:a16="http://schemas.microsoft.com/office/drawing/2014/main" id="{F4961283-718C-4F36-8578-C070ADB272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互联已建立，CFW 检查仍需独立证明-65">
            <a:extLst>
              <a:ext uri="{FF2B5EF4-FFF2-40B4-BE49-F238E27FC236}">
                <a16:creationId xmlns:a16="http://schemas.microsoft.com/office/drawing/2014/main" id="{F8BC3360-4FBD-4B7F-8B1D-CDEAB598E9C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互联已建立，CFW 检查仍需独立证明</a:t>
            </a:r>
          </a:p>
        </p:txBody>
      </p:sp>
      <p:sp>
        <p:nvSpPr>
          <p:cNvPr id="3" name="统一风格-文字 按业务实际路径、转换前后地址和日志证据确认防护范围-66">
            <a:extLst>
              <a:ext uri="{FF2B5EF4-FFF2-40B4-BE49-F238E27FC236}">
                <a16:creationId xmlns:a16="http://schemas.microsoft.com/office/drawing/2014/main" id="{AE43D5BF-9B2A-440B-AF42-611768B6AEE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按业务实际路径、转换前后地址和日志证据确认防护范围</a:t>
            </a:r>
          </a:p>
        </p:txBody>
      </p:sp>
      <p:sp>
        <p:nvSpPr>
          <p:cNvPr id="4" name="统一风格-页脚分隔线-67">
            <a:extLst>
              <a:ext uri="{FF2B5EF4-FFF2-40B4-BE49-F238E27FC236}">
                <a16:creationId xmlns:a16="http://schemas.microsoft.com/office/drawing/2014/main" id="{23BE12DE-71B8-406D-85CF-5E5589B163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连接可达与 CFW 检查分别验收。私网 NAT 映射成功，也不能单独证明流量经过 CFW。-68">
            <a:extLst>
              <a:ext uri="{FF2B5EF4-FFF2-40B4-BE49-F238E27FC236}">
                <a16:creationId xmlns:a16="http://schemas.microsoft.com/office/drawing/2014/main" id="{4296E159-452C-4B76-A705-DCCF048E967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连接可达与 CFW 检查分别验收。私网 NAT 映射成功，也不能单独证明流量经过 CFW。</a:t>
            </a:r>
          </a:p>
        </p:txBody>
      </p:sp>
      <p:sp>
        <p:nvSpPr>
          <p:cNvPr id="6" name="统一风格-文字 20-69">
            <a:extLst>
              <a:ext uri="{FF2B5EF4-FFF2-40B4-BE49-F238E27FC236}">
                <a16:creationId xmlns:a16="http://schemas.microsoft.com/office/drawing/2014/main" id="{DD9DB8CC-6801-4BE7-B363-D87FB0292DA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统一风格-对等连接玻璃后沿-70">
            <a:extLst>
              <a:ext uri="{FF2B5EF4-FFF2-40B4-BE49-F238E27FC236}">
                <a16:creationId xmlns:a16="http://schemas.microsoft.com/office/drawing/2014/main" id="{2F489565-F085-4DEF-AF2D-29A33A5CDDB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对等连接-71">
            <a:extLst>
              <a:ext uri="{FF2B5EF4-FFF2-40B4-BE49-F238E27FC236}">
                <a16:creationId xmlns:a16="http://schemas.microsoft.com/office/drawing/2014/main" id="{3CC78C02-8F97-4690-8E2F-7058E712B65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对等连接玻璃内沿-72">
            <a:extLst>
              <a:ext uri="{FF2B5EF4-FFF2-40B4-BE49-F238E27FC236}">
                <a16:creationId xmlns:a16="http://schemas.microsoft.com/office/drawing/2014/main" id="{F64628FE-7534-4620-855F-95F6D1879133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对等连接边缘高光-73">
            <a:extLst>
              <a:ext uri="{FF2B5EF4-FFF2-40B4-BE49-F238E27FC236}">
                <a16:creationId xmlns:a16="http://schemas.microsoft.com/office/drawing/2014/main" id="{5A14FDBD-BE0D-4205-8530-5B54676AA03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对等连接图标-74">
            <a:extLst>
              <a:ext uri="{FF2B5EF4-FFF2-40B4-BE49-F238E27FC236}">
                <a16:creationId xmlns:a16="http://schemas.microsoft.com/office/drawing/2014/main" id="{75874C8F-2573-4F4E-BF68-76F1C9AE4501}"/>
              </a:ext>
            </a:extLst>
          </p:cNvPr>
          <p:cNvSpPr>
            <a:spLocks noGrp="1"/>
          </p:cNvSpPr>
          <p:nvPr/>
        </p:nvSpPr>
        <p:spPr>
          <a:xfrm>
            <a:off x="790575" y="2228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对等连接-75">
            <a:extLst>
              <a:ext uri="{FF2B5EF4-FFF2-40B4-BE49-F238E27FC236}">
                <a16:creationId xmlns:a16="http://schemas.microsoft.com/office/drawing/2014/main" id="{EA4D4D4E-86BB-4CDF-87C7-171BC72952F7}"/>
              </a:ext>
            </a:extLst>
          </p:cNvPr>
          <p:cNvSpPr>
            <a:spLocks noGrp="1"/>
          </p:cNvSpPr>
          <p:nvPr/>
        </p:nvSpPr>
        <p:spPr>
          <a:xfrm>
            <a:off x="1438275" y="2266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</a:t>
            </a:r>
          </a:p>
        </p:txBody>
      </p:sp>
      <p:sp>
        <p:nvSpPr>
          <p:cNvPr id="13" name="统一风格-文字 核对更具体路由是否改变实际下一跳。-76">
            <a:extLst>
              <a:ext uri="{FF2B5EF4-FFF2-40B4-BE49-F238E27FC236}">
                <a16:creationId xmlns:a16="http://schemas.microsoft.com/office/drawing/2014/main" id="{0D570B0B-4392-4DB4-987D-761ECFE0BA3A}"/>
              </a:ext>
            </a:extLst>
          </p:cNvPr>
          <p:cNvSpPr>
            <a:spLocks noGrp="1"/>
          </p:cNvSpPr>
          <p:nvPr/>
        </p:nvSpPr>
        <p:spPr>
          <a:xfrm>
            <a:off x="3228975" y="2219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核对更具体路由是否改变实际下一跳。</a:t>
            </a:r>
          </a:p>
        </p:txBody>
      </p:sp>
      <p:sp>
        <p:nvSpPr>
          <p:cNvPr id="14" name="统一风格-私网 NAT玻璃后沿-77">
            <a:extLst>
              <a:ext uri="{FF2B5EF4-FFF2-40B4-BE49-F238E27FC236}">
                <a16:creationId xmlns:a16="http://schemas.microsoft.com/office/drawing/2014/main" id="{84CF09C2-35FD-44ED-9C61-FC7338102FB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私网 NAT-78">
            <a:extLst>
              <a:ext uri="{FF2B5EF4-FFF2-40B4-BE49-F238E27FC236}">
                <a16:creationId xmlns:a16="http://schemas.microsoft.com/office/drawing/2014/main" id="{95978A5F-F253-4E4B-860A-CAFE9E0A4ED8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私网 NAT玻璃内沿-79">
            <a:extLst>
              <a:ext uri="{FF2B5EF4-FFF2-40B4-BE49-F238E27FC236}">
                <a16:creationId xmlns:a16="http://schemas.microsoft.com/office/drawing/2014/main" id="{CAD4CD94-48C9-4877-A74E-C007DB229F56}"/>
              </a:ext>
            </a:extLst>
          </p:cNvPr>
          <p:cNvSpPr>
            <a:spLocks noGrp="1"/>
          </p:cNvSpPr>
          <p:nvPr/>
        </p:nvSpPr>
        <p:spPr>
          <a:xfrm>
            <a:off x="622459" y="2870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私网 NAT边缘高光-80">
            <a:extLst>
              <a:ext uri="{FF2B5EF4-FFF2-40B4-BE49-F238E27FC236}">
                <a16:creationId xmlns:a16="http://schemas.microsoft.com/office/drawing/2014/main" id="{18F67067-9BC3-460D-8324-CEABE3CA8671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nat NAT 网关-81">
            <a:extLst>
              <a:ext uri="{FF2B5EF4-FFF2-40B4-BE49-F238E27FC236}">
                <a16:creationId xmlns:a16="http://schemas.microsoft.com/office/drawing/2014/main" id="{F9306610-C59E-471A-BE12-9318D03B2132}"/>
              </a:ext>
            </a:extLst>
          </p:cNvPr>
          <p:cNvSpPr>
            <a:spLocks noGrp="1"/>
          </p:cNvSpPr>
          <p:nvPr/>
        </p:nvSpPr>
        <p:spPr>
          <a:xfrm>
            <a:off x="790575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nat 地址转换-82">
            <a:extLst>
              <a:ext uri="{FF2B5EF4-FFF2-40B4-BE49-F238E27FC236}">
                <a16:creationId xmlns:a16="http://schemas.microsoft.com/office/drawing/2014/main" id="{39839353-A1B1-4D8F-954D-DBD50EA69890}"/>
              </a:ext>
            </a:extLst>
          </p:cNvPr>
          <p:cNvSpPr>
            <a:spLocks noGrp="1"/>
          </p:cNvSpPr>
          <p:nvPr/>
        </p:nvSpPr>
        <p:spPr>
          <a:xfrm>
            <a:off x="790575" y="2990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文字 私网 NAT-83">
            <a:extLst>
              <a:ext uri="{FF2B5EF4-FFF2-40B4-BE49-F238E27FC236}">
                <a16:creationId xmlns:a16="http://schemas.microsoft.com/office/drawing/2014/main" id="{F23FBC94-261D-494E-A3CB-690CE0A0C7ED}"/>
              </a:ext>
            </a:extLst>
          </p:cNvPr>
          <p:cNvSpPr>
            <a:spLocks noGrp="1"/>
          </p:cNvSpPr>
          <p:nvPr/>
        </p:nvSpPr>
        <p:spPr>
          <a:xfrm>
            <a:off x="1438275" y="3028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21" name="统一风格-文字 记录转换前后地址，复核安全控制与日志。-84">
            <a:extLst>
              <a:ext uri="{FF2B5EF4-FFF2-40B4-BE49-F238E27FC236}">
                <a16:creationId xmlns:a16="http://schemas.microsoft.com/office/drawing/2014/main" id="{FA303FCD-AA1F-41A8-8141-57396BA8F501}"/>
              </a:ext>
            </a:extLst>
          </p:cNvPr>
          <p:cNvSpPr>
            <a:spLocks noGrp="1"/>
          </p:cNvSpPr>
          <p:nvPr/>
        </p:nvSpPr>
        <p:spPr>
          <a:xfrm>
            <a:off x="3228975" y="2981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记录转换前后地址，复核安全控制与日志。</a:t>
            </a:r>
          </a:p>
        </p:txBody>
      </p:sp>
      <p:sp>
        <p:nvSpPr>
          <p:cNvPr id="22" name="统一风格-VPCEP玻璃后沿-85">
            <a:extLst>
              <a:ext uri="{FF2B5EF4-FFF2-40B4-BE49-F238E27FC236}">
                <a16:creationId xmlns:a16="http://schemas.microsoft.com/office/drawing/2014/main" id="{852AF9A8-7269-47A1-89CB-FBF57137C26A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VPCEP-86">
            <a:extLst>
              <a:ext uri="{FF2B5EF4-FFF2-40B4-BE49-F238E27FC236}">
                <a16:creationId xmlns:a16="http://schemas.microsoft.com/office/drawing/2014/main" id="{FDD69CFE-2DF6-46B1-B14B-3E56F3D7889D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VPCEP玻璃内沿-87">
            <a:extLst>
              <a:ext uri="{FF2B5EF4-FFF2-40B4-BE49-F238E27FC236}">
                <a16:creationId xmlns:a16="http://schemas.microsoft.com/office/drawing/2014/main" id="{465BA235-E8DC-405D-9C2D-4C487BE45CDA}"/>
              </a:ext>
            </a:extLst>
          </p:cNvPr>
          <p:cNvSpPr>
            <a:spLocks noGrp="1"/>
          </p:cNvSpPr>
          <p:nvPr/>
        </p:nvSpPr>
        <p:spPr>
          <a:xfrm>
            <a:off x="622459" y="3632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VPCEP边缘高光-88">
            <a:extLst>
              <a:ext uri="{FF2B5EF4-FFF2-40B4-BE49-F238E27FC236}">
                <a16:creationId xmlns:a16="http://schemas.microsoft.com/office/drawing/2014/main" id="{024CF53F-A1A0-4FD5-9314-2146BDA9825E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终端节点图标-89">
            <a:extLst>
              <a:ext uri="{FF2B5EF4-FFF2-40B4-BE49-F238E27FC236}">
                <a16:creationId xmlns:a16="http://schemas.microsoft.com/office/drawing/2014/main" id="{27C466A2-ADDA-4700-8256-8559AF407DA7}"/>
              </a:ext>
            </a:extLst>
          </p:cNvPr>
          <p:cNvSpPr>
            <a:spLocks noGrp="1"/>
          </p:cNvSpPr>
          <p:nvPr/>
        </p:nvSpPr>
        <p:spPr>
          <a:xfrm>
            <a:off x="790575" y="3752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终端节点服务端口-90">
            <a:extLst>
              <a:ext uri="{FF2B5EF4-FFF2-40B4-BE49-F238E27FC236}">
                <a16:creationId xmlns:a16="http://schemas.microsoft.com/office/drawing/2014/main" id="{D70866CF-D067-41A1-9003-7428E01C40B0}"/>
              </a:ext>
            </a:extLst>
          </p:cNvPr>
          <p:cNvSpPr>
            <a:spLocks noGrp="1"/>
          </p:cNvSpPr>
          <p:nvPr/>
        </p:nvSpPr>
        <p:spPr>
          <a:xfrm>
            <a:off x="790575" y="3752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VPCEP-91">
            <a:extLst>
              <a:ext uri="{FF2B5EF4-FFF2-40B4-BE49-F238E27FC236}">
                <a16:creationId xmlns:a16="http://schemas.microsoft.com/office/drawing/2014/main" id="{8FE2B19C-CCEB-4C33-8017-0F8C8B50FDD7}"/>
              </a:ext>
            </a:extLst>
          </p:cNvPr>
          <p:cNvSpPr>
            <a:spLocks noGrp="1"/>
          </p:cNvSpPr>
          <p:nvPr/>
        </p:nvSpPr>
        <p:spPr>
          <a:xfrm>
            <a:off x="1438275" y="3790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</a:t>
            </a:r>
          </a:p>
        </p:txBody>
      </p:sp>
      <p:sp>
        <p:nvSpPr>
          <p:cNvPr id="29" name="统一风格-文字 核对服务授权、消费源与后端可见地址。-92">
            <a:extLst>
              <a:ext uri="{FF2B5EF4-FFF2-40B4-BE49-F238E27FC236}">
                <a16:creationId xmlns:a16="http://schemas.microsoft.com/office/drawing/2014/main" id="{61709BCD-4DA3-4675-B0E1-35B7B2D5F76D}"/>
              </a:ext>
            </a:extLst>
          </p:cNvPr>
          <p:cNvSpPr>
            <a:spLocks noGrp="1"/>
          </p:cNvSpPr>
          <p:nvPr/>
        </p:nvSpPr>
        <p:spPr>
          <a:xfrm>
            <a:off x="3228975" y="3743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核对服务授权、消费源与后端可见地址。</a:t>
            </a:r>
          </a:p>
        </p:txBody>
      </p:sp>
      <p:sp>
        <p:nvSpPr>
          <p:cNvPr id="30" name="统一风格-CC + ER玻璃后沿-93">
            <a:extLst>
              <a:ext uri="{FF2B5EF4-FFF2-40B4-BE49-F238E27FC236}">
                <a16:creationId xmlns:a16="http://schemas.microsoft.com/office/drawing/2014/main" id="{CD283327-FAE1-46DD-93C5-9688441B55CB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CC + ER-94">
            <a:extLst>
              <a:ext uri="{FF2B5EF4-FFF2-40B4-BE49-F238E27FC236}">
                <a16:creationId xmlns:a16="http://schemas.microsoft.com/office/drawing/2014/main" id="{6319DF91-1D0A-4C7E-BACD-68D15D1A6BB2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953375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CC + ER玻璃内沿-95">
            <a:extLst>
              <a:ext uri="{FF2B5EF4-FFF2-40B4-BE49-F238E27FC236}">
                <a16:creationId xmlns:a16="http://schemas.microsoft.com/office/drawing/2014/main" id="{E76E7F1B-FAED-44B9-868C-BC31DEF509F1}"/>
              </a:ext>
            </a:extLst>
          </p:cNvPr>
          <p:cNvSpPr>
            <a:spLocks noGrp="1"/>
          </p:cNvSpPr>
          <p:nvPr/>
        </p:nvSpPr>
        <p:spPr>
          <a:xfrm>
            <a:off x="622459" y="4394359"/>
            <a:ext cx="7927658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CC + ER边缘高光-96">
            <a:extLst>
              <a:ext uri="{FF2B5EF4-FFF2-40B4-BE49-F238E27FC236}">
                <a16:creationId xmlns:a16="http://schemas.microsoft.com/office/drawing/2014/main" id="{87446AA3-98A0-4FE2-BA29-09C5D197EE7D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7953375" cy="666750"/>
          </a:xfrm>
          <a:custGeom>
            <a:avLst/>
            <a:gdLst/>
            <a:ahLst/>
            <a:cxnLst/>
            <a:rect l="0" t="0" r="0" b="0"/>
            <a:pathLst>
              <a:path w="7953375" h="666750">
                <a:moveTo>
                  <a:pt x="95250" y="9525"/>
                </a:moveTo>
                <a:lnTo>
                  <a:pt x="7858125" y="9525"/>
                </a:lnTo>
                <a:cubicBezTo>
                  <a:pt x="7905750" y="9525"/>
                  <a:pt x="7943850" y="47625"/>
                  <a:pt x="79438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中心网络枢纽-97">
            <a:extLst>
              <a:ext uri="{FF2B5EF4-FFF2-40B4-BE49-F238E27FC236}">
                <a16:creationId xmlns:a16="http://schemas.microsoft.com/office/drawing/2014/main" id="{C7F1CCCB-554E-48D6-8C17-186F4BF995A5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区域连接点-98">
            <a:extLst>
              <a:ext uri="{FF2B5EF4-FFF2-40B4-BE49-F238E27FC236}">
                <a16:creationId xmlns:a16="http://schemas.microsoft.com/office/drawing/2014/main" id="{3DEED9AE-1755-454A-944A-77E9AE511B67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区域连接点-99">
            <a:extLst>
              <a:ext uri="{FF2B5EF4-FFF2-40B4-BE49-F238E27FC236}">
                <a16:creationId xmlns:a16="http://schemas.microsoft.com/office/drawing/2014/main" id="{B2890218-95F3-4265-B105-3A47A5F60AB9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区域连接点-100">
            <a:extLst>
              <a:ext uri="{FF2B5EF4-FFF2-40B4-BE49-F238E27FC236}">
                <a16:creationId xmlns:a16="http://schemas.microsoft.com/office/drawing/2014/main" id="{F7ECD54F-1584-4CF9-9277-26D21D34BA9E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区域连接点-101">
            <a:extLst>
              <a:ext uri="{FF2B5EF4-FFF2-40B4-BE49-F238E27FC236}">
                <a16:creationId xmlns:a16="http://schemas.microsoft.com/office/drawing/2014/main" id="{5DF8688F-A14A-4440-954F-614E185DBF2F}"/>
              </a:ext>
            </a:extLst>
          </p:cNvPr>
          <p:cNvSpPr>
            <a:spLocks noGrp="1"/>
          </p:cNvSpPr>
          <p:nvPr/>
        </p:nvSpPr>
        <p:spPr>
          <a:xfrm>
            <a:off x="790575" y="45148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CC + ER-102">
            <a:extLst>
              <a:ext uri="{FF2B5EF4-FFF2-40B4-BE49-F238E27FC236}">
                <a16:creationId xmlns:a16="http://schemas.microsoft.com/office/drawing/2014/main" id="{66504E68-1A11-45C4-BB08-9B783F9191F4}"/>
              </a:ext>
            </a:extLst>
          </p:cNvPr>
          <p:cNvSpPr>
            <a:spLocks noGrp="1"/>
          </p:cNvSpPr>
          <p:nvPr/>
        </p:nvSpPr>
        <p:spPr>
          <a:xfrm>
            <a:off x="1438275" y="4552950"/>
            <a:ext cx="1733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+ ER</a:t>
            </a:r>
          </a:p>
        </p:txBody>
      </p:sp>
      <p:sp>
        <p:nvSpPr>
          <p:cNvPr id="40" name="统一风格-文字 核对区域路由域与跨区域返回路径。-103">
            <a:extLst>
              <a:ext uri="{FF2B5EF4-FFF2-40B4-BE49-F238E27FC236}">
                <a16:creationId xmlns:a16="http://schemas.microsoft.com/office/drawing/2014/main" id="{EB698245-8BA1-4E88-87C1-0821C05F95B2}"/>
              </a:ext>
            </a:extLst>
          </p:cNvPr>
          <p:cNvSpPr>
            <a:spLocks noGrp="1"/>
          </p:cNvSpPr>
          <p:nvPr/>
        </p:nvSpPr>
        <p:spPr>
          <a:xfrm>
            <a:off x="3228975" y="45053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核对区域路由域与跨区域返回路径。</a:t>
            </a:r>
          </a:p>
        </p:txBody>
      </p:sp>
      <p:sp>
        <p:nvSpPr>
          <p:cNvPr id="41" name="统一风格-CFW 覆盖核验玻璃后沿-104">
            <a:extLst>
              <a:ext uri="{FF2B5EF4-FFF2-40B4-BE49-F238E27FC236}">
                <a16:creationId xmlns:a16="http://schemas.microsoft.com/office/drawing/2014/main" id="{93A37A16-A916-4603-AACB-ED5DD7252AB9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628900" cy="2952750"/>
          </a:xfrm>
          <a:prstGeom prst="roundRect">
            <a:avLst>
              <a:gd name="adj" fmla="val 326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CFW 覆盖核验-105">
            <a:extLst>
              <a:ext uri="{FF2B5EF4-FFF2-40B4-BE49-F238E27FC236}">
                <a16:creationId xmlns:a16="http://schemas.microsoft.com/office/drawing/2014/main" id="{DE63592A-5E42-412C-8B14-D48A13DC15B3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628900" cy="2952750"/>
          </a:xfrm>
          <a:prstGeom prst="roundRect">
            <a:avLst>
              <a:gd name="adj" fmla="val 326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CFW 覆盖核验玻璃内沿-106">
            <a:extLst>
              <a:ext uri="{FF2B5EF4-FFF2-40B4-BE49-F238E27FC236}">
                <a16:creationId xmlns:a16="http://schemas.microsoft.com/office/drawing/2014/main" id="{214363DF-9025-43A8-90DD-974E973292A6}"/>
              </a:ext>
            </a:extLst>
          </p:cNvPr>
          <p:cNvSpPr>
            <a:spLocks noGrp="1"/>
          </p:cNvSpPr>
          <p:nvPr/>
        </p:nvSpPr>
        <p:spPr>
          <a:xfrm>
            <a:off x="8966359" y="2108359"/>
            <a:ext cx="2603183" cy="2927033"/>
          </a:xfrm>
          <a:prstGeom prst="roundRect">
            <a:avLst>
              <a:gd name="adj" fmla="val 281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CFW 覆盖核验边缘高光-107">
            <a:extLst>
              <a:ext uri="{FF2B5EF4-FFF2-40B4-BE49-F238E27FC236}">
                <a16:creationId xmlns:a16="http://schemas.microsoft.com/office/drawing/2014/main" id="{70B6DAD8-80CF-410E-8830-AEBFEDA389FD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628900" cy="2952750"/>
          </a:xfrm>
          <a:custGeom>
            <a:avLst/>
            <a:gdLst/>
            <a:ahLst/>
            <a:cxnLst/>
            <a:rect l="0" t="0" r="0" b="0"/>
            <a:pathLst>
              <a:path w="2628900" h="2952750">
                <a:moveTo>
                  <a:pt x="95250" y="9525"/>
                </a:moveTo>
                <a:lnTo>
                  <a:pt x="2533650" y="9525"/>
                </a:lnTo>
                <a:cubicBezTo>
                  <a:pt x="2581275" y="9525"/>
                  <a:pt x="2619375" y="47625"/>
                  <a:pt x="26193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firewall CFW 砖墙-108">
            <a:extLst>
              <a:ext uri="{FF2B5EF4-FFF2-40B4-BE49-F238E27FC236}">
                <a16:creationId xmlns:a16="http://schemas.microsoft.com/office/drawing/2014/main" id="{960BD415-2D3D-4C8B-98EE-FA97B64FE81A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333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irewall CFW 砖缝-109">
            <a:extLst>
              <a:ext uri="{FF2B5EF4-FFF2-40B4-BE49-F238E27FC236}">
                <a16:creationId xmlns:a16="http://schemas.microsoft.com/office/drawing/2014/main" id="{7DDAF771-05F8-4B5C-97FB-F09689DBF80A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333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firewall CFW 前景衬底-110">
            <a:extLst>
              <a:ext uri="{FF2B5EF4-FFF2-40B4-BE49-F238E27FC236}">
                <a16:creationId xmlns:a16="http://schemas.microsoft.com/office/drawing/2014/main" id="{54F6C9A1-02C3-4689-B0FF-D7D49A7BE731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firewall CFW 简洁火焰-111">
            <a:extLst>
              <a:ext uri="{FF2B5EF4-FFF2-40B4-BE49-F238E27FC236}">
                <a16:creationId xmlns:a16="http://schemas.microsoft.com/office/drawing/2014/main" id="{C82741CD-4738-4A0E-878E-5B179836397F}"/>
              </a:ext>
            </a:extLst>
          </p:cNvPr>
          <p:cNvSpPr>
            <a:spLocks noGrp="1"/>
          </p:cNvSpPr>
          <p:nvPr/>
        </p:nvSpPr>
        <p:spPr>
          <a:xfrm>
            <a:off x="9829800" y="2276475"/>
            <a:ext cx="838200" cy="838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333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CFW 覆盖核验-112">
            <a:extLst>
              <a:ext uri="{FF2B5EF4-FFF2-40B4-BE49-F238E27FC236}">
                <a16:creationId xmlns:a16="http://schemas.microsoft.com/office/drawing/2014/main" id="{FC115F8B-9D85-47C2-9DEA-B1FEA91BC50C}"/>
              </a:ext>
            </a:extLst>
          </p:cNvPr>
          <p:cNvSpPr>
            <a:spLocks noGrp="1"/>
          </p:cNvSpPr>
          <p:nvPr/>
        </p:nvSpPr>
        <p:spPr>
          <a:xfrm>
            <a:off x="9134475" y="3295650"/>
            <a:ext cx="2266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覆盖核验</a:t>
            </a:r>
          </a:p>
        </p:txBody>
      </p:sp>
      <p:sp>
        <p:nvSpPr>
          <p:cNvPr id="50" name="统一风格-文字 实际路径 转换地址 新会话与对应日志-113">
            <a:extLst>
              <a:ext uri="{FF2B5EF4-FFF2-40B4-BE49-F238E27FC236}">
                <a16:creationId xmlns:a16="http://schemas.microsoft.com/office/drawing/2014/main" id="{8FA3564B-23EF-4C3F-92A5-B4FD8C730288}"/>
              </a:ext>
            </a:extLst>
          </p:cNvPr>
          <p:cNvSpPr>
            <a:spLocks noGrp="1"/>
          </p:cNvSpPr>
          <p:nvPr/>
        </p:nvSpPr>
        <p:spPr>
          <a:xfrm>
            <a:off x="9134475" y="3781425"/>
            <a:ext cx="22669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实际路径</a:t>
            </a:r>
          </a:p>
          <a:p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转换地址</a:t>
            </a:r>
          </a:p>
          <a:p>
            <a:pPr algn="ctr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新会话与对应日志</a:t>
            </a:r>
          </a:p>
        </p:txBody>
      </p:sp>
      <p:sp>
        <p:nvSpPr>
          <p:cNvPr id="51" name="统一风格-变更验收玻璃后沿-114">
            <a:extLst>
              <a:ext uri="{FF2B5EF4-FFF2-40B4-BE49-F238E27FC236}">
                <a16:creationId xmlns:a16="http://schemas.microsoft.com/office/drawing/2014/main" id="{A5D6A8D4-654C-4575-8599-199B62A2804D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变更验收-115">
            <a:extLst>
              <a:ext uri="{FF2B5EF4-FFF2-40B4-BE49-F238E27FC236}">
                <a16:creationId xmlns:a16="http://schemas.microsoft.com/office/drawing/2014/main" id="{DFF0705B-7A67-40AF-8ED5-9313399A9EC0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变更验收玻璃内沿-116">
            <a:extLst>
              <a:ext uri="{FF2B5EF4-FFF2-40B4-BE49-F238E27FC236}">
                <a16:creationId xmlns:a16="http://schemas.microsoft.com/office/drawing/2014/main" id="{BF76A10A-AAA9-4443-ADA9-72FD6346A32D}"/>
              </a:ext>
            </a:extLst>
          </p:cNvPr>
          <p:cNvSpPr>
            <a:spLocks noGrp="1"/>
          </p:cNvSpPr>
          <p:nvPr/>
        </p:nvSpPr>
        <p:spPr>
          <a:xfrm>
            <a:off x="622459" y="5289709"/>
            <a:ext cx="109470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变更验收边缘高光-117">
            <a:extLst>
              <a:ext uri="{FF2B5EF4-FFF2-40B4-BE49-F238E27FC236}">
                <a16:creationId xmlns:a16="http://schemas.microsoft.com/office/drawing/2014/main" id="{25F73C17-816B-4944-84F9-716B3AF4F276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custGeom>
            <a:avLst/>
            <a:gdLst/>
            <a:ahLst/>
            <a:cxnLst/>
            <a:rect l="0" t="0" r="0" b="0"/>
            <a:pathLst>
              <a:path w="10972800" h="609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变更验收-118">
            <a:extLst>
              <a:ext uri="{FF2B5EF4-FFF2-40B4-BE49-F238E27FC236}">
                <a16:creationId xmlns:a16="http://schemas.microsoft.com/office/drawing/2014/main" id="{675CB016-CCC0-4517-9C65-D4398346D7FB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变更验收</a:t>
            </a:r>
          </a:p>
        </p:txBody>
      </p:sp>
      <p:sp>
        <p:nvSpPr>
          <p:cNvPr id="56" name="统一风格-文字 各案例独立选型，主路径和故障切换路径都需验证路由、防护与日志。-119">
            <a:extLst>
              <a:ext uri="{FF2B5EF4-FFF2-40B4-BE49-F238E27FC236}">
                <a16:creationId xmlns:a16="http://schemas.microsoft.com/office/drawing/2014/main" id="{E6499164-F05B-4818-859D-FCEF69FF9D67}"/>
              </a:ext>
            </a:extLst>
          </p:cNvPr>
          <p:cNvSpPr>
            <a:spLocks noGrp="1"/>
          </p:cNvSpPr>
          <p:nvPr/>
        </p:nvSpPr>
        <p:spPr>
          <a:xfrm>
            <a:off x="2524125" y="5391150"/>
            <a:ext cx="883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各案例独立选型，主路径和故障切换路径都需验证路由、防护与日志。</a:t>
            </a:r>
          </a:p>
        </p:txBody>
      </p:sp>
    </p:spTree>
    <p:extLst>
      <p:ext uri="{BB962C8B-B14F-4D97-AF65-F5344CB8AC3E}">
        <p14:creationId xmlns:p14="http://schemas.microsoft.com/office/powerpoint/2010/main" val="2147000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文-02  网络互联方案">
            <a:extLst>
              <a:ext uri="{FF2B5EF4-FFF2-40B4-BE49-F238E27FC236}">
                <a16:creationId xmlns:a16="http://schemas.microsoft.com/office/drawing/2014/main" id="{985F930E-E6B4-4760-8049-9ACC4E4FBA6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案例：同 Region 的应用访问数据库-317">
            <a:extLst>
              <a:ext uri="{FF2B5EF4-FFF2-40B4-BE49-F238E27FC236}">
                <a16:creationId xmlns:a16="http://schemas.microsoft.com/office/drawing/2014/main" id="{121F5265-BA74-4D4E-8660-8C235244F7F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对等连接案例：同 Region 的应用访问数据库</a:t>
            </a:r>
          </a:p>
        </p:txBody>
      </p:sp>
      <p:sp>
        <p:nvSpPr>
          <p:cNvPr id="3" name="统一风格-文字 应用 VPC 与数据 VPC 建立 Peering-AB，两端路由分别指向该连接-318">
            <a:extLst>
              <a:ext uri="{FF2B5EF4-FFF2-40B4-BE49-F238E27FC236}">
                <a16:creationId xmlns:a16="http://schemas.microsoft.com/office/drawing/2014/main" id="{BC46A29A-8226-47E7-B017-F8E192C1552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Peering-AB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承载双向路由；仅授权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1</a:t>
            </a:r>
            <a:r>
              <a:rPr lang="en-US" altLang="zh-CN"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92.168.1.10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访问目标</a:t>
            </a:r>
            <a:r>
              <a:rPr lang="en-US"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r>
              <a:rPr lang="zh-CN" altLang="en-US"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192.168.128.20</a:t>
            </a:r>
            <a:endParaRPr sz="16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" name="网络连接-30">
            <a:extLst>
              <a:ext uri="{FF2B5EF4-FFF2-40B4-BE49-F238E27FC236}">
                <a16:creationId xmlns:a16="http://schemas.microsoft.com/office/drawing/2014/main" id="{F65C8172-493B-4490-B956-2C97230274ED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配置示例：仅批准应用主机访问数据库 TCP 3306，路由可达范围与业务授权范围分别管理。">
            <a:extLst>
              <a:ext uri="{FF2B5EF4-FFF2-40B4-BE49-F238E27FC236}">
                <a16:creationId xmlns:a16="http://schemas.microsoft.com/office/drawing/2014/main" id="{BC0D345B-108D-4DBB-AF5C-66DC6C870E6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路由可达范围与业务</a:t>
            </a:r>
            <a:r>
              <a:rPr lang="en-US"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端口授权</a:t>
            </a:r>
            <a:r>
              <a:rPr sz="1125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范围分别管理</a:t>
            </a:r>
            <a:r>
              <a:rPr sz="11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正文-21">
            <a:extLst>
              <a:ext uri="{FF2B5EF4-FFF2-40B4-BE49-F238E27FC236}">
                <a16:creationId xmlns:a16="http://schemas.microsoft.com/office/drawing/2014/main" id="{55CC967E-49AC-4F8A-8EE6-391156257BA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统一风格-应用VPC玻璃后沿-321">
            <a:extLst>
              <a:ext uri="{FF2B5EF4-FFF2-40B4-BE49-F238E27FC236}">
                <a16:creationId xmlns:a16="http://schemas.microsoft.com/office/drawing/2014/main" id="{2CA8B482-A594-459E-8935-338CD45D3715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应用VPC-322">
            <a:extLst>
              <a:ext uri="{FF2B5EF4-FFF2-40B4-BE49-F238E27FC236}">
                <a16:creationId xmlns:a16="http://schemas.microsoft.com/office/drawing/2014/main" id="{2E73EB68-321E-4772-9B0B-3F03666A8CD5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应用VPC玻璃内沿-323">
            <a:extLst>
              <a:ext uri="{FF2B5EF4-FFF2-40B4-BE49-F238E27FC236}">
                <a16:creationId xmlns:a16="http://schemas.microsoft.com/office/drawing/2014/main" id="{C61659A0-E904-465D-B556-216D74AC36A2}"/>
              </a:ext>
            </a:extLst>
          </p:cNvPr>
          <p:cNvSpPr>
            <a:spLocks noGrp="1"/>
          </p:cNvSpPr>
          <p:nvPr/>
        </p:nvSpPr>
        <p:spPr>
          <a:xfrm>
            <a:off x="622459" y="2155984"/>
            <a:ext cx="4108133" cy="2050733"/>
          </a:xfrm>
          <a:prstGeom prst="roundRect">
            <a:avLst>
              <a:gd name="adj" fmla="val 35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应用VPC边缘高光-324">
            <a:extLst>
              <a:ext uri="{FF2B5EF4-FFF2-40B4-BE49-F238E27FC236}">
                <a16:creationId xmlns:a16="http://schemas.microsoft.com/office/drawing/2014/main" id="{C1F12628-0221-4D45-8157-18A41C4F9F81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133850" cy="2076450"/>
          </a:xfrm>
          <a:custGeom>
            <a:avLst/>
            <a:gdLst/>
            <a:ahLst/>
            <a:cxnLst/>
            <a:rect l="0" t="0" r="0" b="0"/>
            <a:pathLst>
              <a:path w="4133850" h="2076450">
                <a:moveTo>
                  <a:pt x="95250" y="9525"/>
                </a:moveTo>
                <a:lnTo>
                  <a:pt x="4038600" y="9525"/>
                </a:lnTo>
                <a:cubicBezTo>
                  <a:pt x="4086225" y="9525"/>
                  <a:pt x="4124325" y="47625"/>
                  <a:pt x="4124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325">
            <a:extLst>
              <a:ext uri="{FF2B5EF4-FFF2-40B4-BE49-F238E27FC236}">
                <a16:creationId xmlns:a16="http://schemas.microsoft.com/office/drawing/2014/main" id="{0856DEFD-EB47-4D26-A4AC-F233CF874600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应用 VPC-326">
            <a:extLst>
              <a:ext uri="{FF2B5EF4-FFF2-40B4-BE49-F238E27FC236}">
                <a16:creationId xmlns:a16="http://schemas.microsoft.com/office/drawing/2014/main" id="{263E76E8-70C5-4195-A29B-D96E8FA611E0}"/>
              </a:ext>
            </a:extLst>
          </p:cNvPr>
          <p:cNvSpPr>
            <a:spLocks noGrp="1"/>
          </p:cNvSpPr>
          <p:nvPr/>
        </p:nvSpPr>
        <p:spPr>
          <a:xfrm>
            <a:off x="1400175" y="2343150"/>
            <a:ext cx="3086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3" name="统一风格-文字 10.50.0.0/16-327">
            <a:extLst>
              <a:ext uri="{FF2B5EF4-FFF2-40B4-BE49-F238E27FC236}">
                <a16:creationId xmlns:a16="http://schemas.microsoft.com/office/drawing/2014/main" id="{2438B54D-C03C-46A6-933A-E308BB340702}"/>
              </a:ext>
            </a:extLst>
          </p:cNvPr>
          <p:cNvSpPr>
            <a:spLocks noGrp="1"/>
          </p:cNvSpPr>
          <p:nvPr/>
        </p:nvSpPr>
        <p:spPr>
          <a:xfrm>
            <a:off x="1400175" y="2676525"/>
            <a:ext cx="3086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en-US" altLang="zh-CN"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92</a:t>
            </a:r>
            <a:r>
              <a:rPr lang="en-US" altLang="zh-CN" dirty="0"/>
              <a:t>.168</a:t>
            </a:r>
            <a:r>
              <a:rPr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.0.0/1</a:t>
            </a:r>
            <a:r>
              <a:rPr lang="en-US" sz="1425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425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统一风格-应用 ECS玻璃后沿-328">
            <a:extLst>
              <a:ext uri="{FF2B5EF4-FFF2-40B4-BE49-F238E27FC236}">
                <a16:creationId xmlns:a16="http://schemas.microsoft.com/office/drawing/2014/main" id="{EFB8FD71-694F-4FDF-A06A-92347B5785EC}"/>
              </a:ext>
            </a:extLst>
          </p:cNvPr>
          <p:cNvSpPr>
            <a:spLocks noGrp="1"/>
          </p:cNvSpPr>
          <p:nvPr/>
        </p:nvSpPr>
        <p:spPr>
          <a:xfrm>
            <a:off x="80010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统一风格-应用 ECS-329">
            <a:extLst>
              <a:ext uri="{FF2B5EF4-FFF2-40B4-BE49-F238E27FC236}">
                <a16:creationId xmlns:a16="http://schemas.microsoft.com/office/drawing/2014/main" id="{3A3C27B4-6074-4D16-BB5F-3C22EAB1C436}"/>
              </a:ext>
            </a:extLst>
          </p:cNvPr>
          <p:cNvSpPr>
            <a:spLocks noGrp="1"/>
          </p:cNvSpPr>
          <p:nvPr/>
        </p:nvSpPr>
        <p:spPr>
          <a:xfrm>
            <a:off x="80010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应用 ECS玻璃内沿-330">
            <a:extLst>
              <a:ext uri="{FF2B5EF4-FFF2-40B4-BE49-F238E27FC236}">
                <a16:creationId xmlns:a16="http://schemas.microsoft.com/office/drawing/2014/main" id="{9550F238-4F72-4FCF-8C61-BDCBB07FB4A4}"/>
              </a:ext>
            </a:extLst>
          </p:cNvPr>
          <p:cNvSpPr>
            <a:spLocks noGrp="1"/>
          </p:cNvSpPr>
          <p:nvPr/>
        </p:nvSpPr>
        <p:spPr>
          <a:xfrm>
            <a:off x="812959" y="3127534"/>
            <a:ext cx="3717608" cy="860108"/>
          </a:xfrm>
          <a:prstGeom prst="roundRect">
            <a:avLst>
              <a:gd name="adj" fmla="val 8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应用 ECS透光反射面-331">
            <a:extLst>
              <a:ext uri="{FF2B5EF4-FFF2-40B4-BE49-F238E27FC236}">
                <a16:creationId xmlns:a16="http://schemas.microsoft.com/office/drawing/2014/main" id="{CA47F779-B85D-4269-9E63-E6258A4CAF27}"/>
              </a:ext>
            </a:extLst>
          </p:cNvPr>
          <p:cNvSpPr>
            <a:spLocks noGrp="1"/>
          </p:cNvSpPr>
          <p:nvPr/>
        </p:nvSpPr>
        <p:spPr>
          <a:xfrm>
            <a:off x="819150" y="3133725"/>
            <a:ext cx="3705225" cy="847725"/>
          </a:xfrm>
          <a:custGeom>
            <a:avLst/>
            <a:gdLst/>
            <a:ahLst/>
            <a:cxnLst/>
            <a:rect l="0" t="0" r="0" b="0"/>
            <a:pathLst>
              <a:path w="3705225" h="847725">
                <a:moveTo>
                  <a:pt x="76200" y="0"/>
                </a:moveTo>
                <a:lnTo>
                  <a:pt x="2371344" y="0"/>
                </a:lnTo>
                <a:lnTo>
                  <a:pt x="963359" y="847725"/>
                </a:lnTo>
                <a:lnTo>
                  <a:pt x="76200" y="847725"/>
                </a:lnTo>
                <a:cubicBezTo>
                  <a:pt x="28575" y="847725"/>
                  <a:pt x="0" y="819150"/>
                  <a:pt x="0" y="7715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应用 ECS边缘高光-332">
            <a:extLst>
              <a:ext uri="{FF2B5EF4-FFF2-40B4-BE49-F238E27FC236}">
                <a16:creationId xmlns:a16="http://schemas.microsoft.com/office/drawing/2014/main" id="{4ECD747F-D881-4CA2-89D8-E8B4556139BA}"/>
              </a:ext>
            </a:extLst>
          </p:cNvPr>
          <p:cNvSpPr>
            <a:spLocks noGrp="1"/>
          </p:cNvSpPr>
          <p:nvPr/>
        </p:nvSpPr>
        <p:spPr>
          <a:xfrm>
            <a:off x="800100" y="3114675"/>
            <a:ext cx="3743325" cy="885825"/>
          </a:xfrm>
          <a:custGeom>
            <a:avLst/>
            <a:gdLst/>
            <a:ahLst/>
            <a:cxnLst/>
            <a:rect l="0" t="0" r="0" b="0"/>
            <a:pathLst>
              <a:path w="3743325" h="885825">
                <a:moveTo>
                  <a:pt x="95250" y="9525"/>
                </a:moveTo>
                <a:lnTo>
                  <a:pt x="3648075" y="9525"/>
                </a:lnTo>
                <a:cubicBezTo>
                  <a:pt x="3695700" y="9525"/>
                  <a:pt x="3733800" y="47625"/>
                  <a:pt x="37338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服务器机架-333">
            <a:extLst>
              <a:ext uri="{FF2B5EF4-FFF2-40B4-BE49-F238E27FC236}">
                <a16:creationId xmlns:a16="http://schemas.microsoft.com/office/drawing/2014/main" id="{5C0744AE-61FC-4197-B8AF-3D57E76E999A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机架状态-334">
            <a:extLst>
              <a:ext uri="{FF2B5EF4-FFF2-40B4-BE49-F238E27FC236}">
                <a16:creationId xmlns:a16="http://schemas.microsoft.com/office/drawing/2014/main" id="{EFC2F82F-A058-4B23-9493-767E9601E153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指示灯-335">
            <a:extLst>
              <a:ext uri="{FF2B5EF4-FFF2-40B4-BE49-F238E27FC236}">
                <a16:creationId xmlns:a16="http://schemas.microsoft.com/office/drawing/2014/main" id="{B4F7CD35-2276-40D4-9571-B478EC6DB307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服务器机架-336">
            <a:extLst>
              <a:ext uri="{FF2B5EF4-FFF2-40B4-BE49-F238E27FC236}">
                <a16:creationId xmlns:a16="http://schemas.microsoft.com/office/drawing/2014/main" id="{24CE7B08-8F14-4FF0-9220-6FBF51EB6DE4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机架状态-337">
            <a:extLst>
              <a:ext uri="{FF2B5EF4-FFF2-40B4-BE49-F238E27FC236}">
                <a16:creationId xmlns:a16="http://schemas.microsoft.com/office/drawing/2014/main" id="{A5FAAA82-36B6-44B9-9EA4-3E5264151964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指示灯-338">
            <a:extLst>
              <a:ext uri="{FF2B5EF4-FFF2-40B4-BE49-F238E27FC236}">
                <a16:creationId xmlns:a16="http://schemas.microsoft.com/office/drawing/2014/main" id="{36909545-AFD8-4B87-889C-6107C01CFF78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服务器机架-339">
            <a:extLst>
              <a:ext uri="{FF2B5EF4-FFF2-40B4-BE49-F238E27FC236}">
                <a16:creationId xmlns:a16="http://schemas.microsoft.com/office/drawing/2014/main" id="{83A4C2F3-21E6-4C69-8893-4D4C18C4B543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server 机架状态-340">
            <a:extLst>
              <a:ext uri="{FF2B5EF4-FFF2-40B4-BE49-F238E27FC236}">
                <a16:creationId xmlns:a16="http://schemas.microsoft.com/office/drawing/2014/main" id="{26FE5958-F1FE-444C-BB47-A58788DD63E9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指示灯-341">
            <a:extLst>
              <a:ext uri="{FF2B5EF4-FFF2-40B4-BE49-F238E27FC236}">
                <a16:creationId xmlns:a16="http://schemas.microsoft.com/office/drawing/2014/main" id="{1CEFDA76-39DF-4753-9617-9AB5F6131B4B}"/>
              </a:ext>
            </a:extLst>
          </p:cNvPr>
          <p:cNvSpPr>
            <a:spLocks noGrp="1"/>
          </p:cNvSpPr>
          <p:nvPr/>
        </p:nvSpPr>
        <p:spPr>
          <a:xfrm>
            <a:off x="95250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应用 ECS-342">
            <a:extLst>
              <a:ext uri="{FF2B5EF4-FFF2-40B4-BE49-F238E27FC236}">
                <a16:creationId xmlns:a16="http://schemas.microsoft.com/office/drawing/2014/main" id="{3A4FEC7E-C771-4E5C-AE44-2E0DBC40ABF2}"/>
              </a:ext>
            </a:extLst>
          </p:cNvPr>
          <p:cNvSpPr>
            <a:spLocks noGrp="1"/>
          </p:cNvSpPr>
          <p:nvPr/>
        </p:nvSpPr>
        <p:spPr>
          <a:xfrm>
            <a:off x="1495425" y="32575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ECS</a:t>
            </a:r>
          </a:p>
        </p:txBody>
      </p:sp>
      <p:sp>
        <p:nvSpPr>
          <p:cNvPr id="29" name="统一风格-文字 10.50.1.10-343">
            <a:extLst>
              <a:ext uri="{FF2B5EF4-FFF2-40B4-BE49-F238E27FC236}">
                <a16:creationId xmlns:a16="http://schemas.microsoft.com/office/drawing/2014/main" id="{8066CC4A-154C-42E1-B7A5-C6D501C8CFB6}"/>
              </a:ext>
            </a:extLst>
          </p:cNvPr>
          <p:cNvSpPr>
            <a:spLocks noGrp="1"/>
          </p:cNvSpPr>
          <p:nvPr/>
        </p:nvSpPr>
        <p:spPr>
          <a:xfrm>
            <a:off x="1495425" y="3609975"/>
            <a:ext cx="2895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en-US"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92.168</a:t>
            </a:r>
            <a:r>
              <a:rPr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.1.10</a:t>
            </a:r>
          </a:p>
        </p:txBody>
      </p:sp>
      <p:sp>
        <p:nvSpPr>
          <p:cNvPr id="30" name="统一风格-数据VPC玻璃后沿-344">
            <a:extLst>
              <a:ext uri="{FF2B5EF4-FFF2-40B4-BE49-F238E27FC236}">
                <a16:creationId xmlns:a16="http://schemas.microsoft.com/office/drawing/2014/main" id="{D1B810FB-E1C7-4097-B2B1-6934AF966D0A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数据VPC-345">
            <a:extLst>
              <a:ext uri="{FF2B5EF4-FFF2-40B4-BE49-F238E27FC236}">
                <a16:creationId xmlns:a16="http://schemas.microsoft.com/office/drawing/2014/main" id="{99F0D73E-7768-4801-B68C-D931187B2189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4133850" cy="2076450"/>
          </a:xfrm>
          <a:prstGeom prst="roundRect">
            <a:avLst>
              <a:gd name="adj" fmla="val 412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数据VPC玻璃内沿-346">
            <a:extLst>
              <a:ext uri="{FF2B5EF4-FFF2-40B4-BE49-F238E27FC236}">
                <a16:creationId xmlns:a16="http://schemas.microsoft.com/office/drawing/2014/main" id="{FB823831-0CEC-4EF8-88F1-AA9E0DD8D1FD}"/>
              </a:ext>
            </a:extLst>
          </p:cNvPr>
          <p:cNvSpPr>
            <a:spLocks noGrp="1"/>
          </p:cNvSpPr>
          <p:nvPr/>
        </p:nvSpPr>
        <p:spPr>
          <a:xfrm>
            <a:off x="7461409" y="2155984"/>
            <a:ext cx="4108133" cy="2050733"/>
          </a:xfrm>
          <a:prstGeom prst="roundRect">
            <a:avLst>
              <a:gd name="adj" fmla="val 35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数据VPC边缘高光-347">
            <a:extLst>
              <a:ext uri="{FF2B5EF4-FFF2-40B4-BE49-F238E27FC236}">
                <a16:creationId xmlns:a16="http://schemas.microsoft.com/office/drawing/2014/main" id="{1132F3F2-2068-4B8B-ACF5-A4EC3F27A65F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4133850" cy="2076450"/>
          </a:xfrm>
          <a:custGeom>
            <a:avLst/>
            <a:gdLst/>
            <a:ahLst/>
            <a:cxnLst/>
            <a:rect l="0" t="0" r="0" b="0"/>
            <a:pathLst>
              <a:path w="4133850" h="2076450">
                <a:moveTo>
                  <a:pt x="95250" y="9525"/>
                </a:moveTo>
                <a:lnTo>
                  <a:pt x="4038600" y="9525"/>
                </a:lnTo>
                <a:cubicBezTo>
                  <a:pt x="4086225" y="9525"/>
                  <a:pt x="4124325" y="47625"/>
                  <a:pt x="4124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cloud VPC 云轮廓-348">
            <a:extLst>
              <a:ext uri="{FF2B5EF4-FFF2-40B4-BE49-F238E27FC236}">
                <a16:creationId xmlns:a16="http://schemas.microsoft.com/office/drawing/2014/main" id="{BAC12216-2CD9-4424-9E17-7D5916FF7EEA}"/>
              </a:ext>
            </a:extLst>
          </p:cNvPr>
          <p:cNvSpPr>
            <a:spLocks noGrp="1"/>
          </p:cNvSpPr>
          <p:nvPr/>
        </p:nvSpPr>
        <p:spPr>
          <a:xfrm>
            <a:off x="7620000" y="22764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数据 VPC-349">
            <a:extLst>
              <a:ext uri="{FF2B5EF4-FFF2-40B4-BE49-F238E27FC236}">
                <a16:creationId xmlns:a16="http://schemas.microsoft.com/office/drawing/2014/main" id="{91A1D782-F11B-4CD0-8336-DF53B3E38BC4}"/>
              </a:ext>
            </a:extLst>
          </p:cNvPr>
          <p:cNvSpPr>
            <a:spLocks noGrp="1"/>
          </p:cNvSpPr>
          <p:nvPr/>
        </p:nvSpPr>
        <p:spPr>
          <a:xfrm>
            <a:off x="8239125" y="2343150"/>
            <a:ext cx="3086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36" name="统一风格-文字 10.60.0.0/16-350">
            <a:extLst>
              <a:ext uri="{FF2B5EF4-FFF2-40B4-BE49-F238E27FC236}">
                <a16:creationId xmlns:a16="http://schemas.microsoft.com/office/drawing/2014/main" id="{10E76EC1-0DE0-41A0-B621-47C898AD4388}"/>
              </a:ext>
            </a:extLst>
          </p:cNvPr>
          <p:cNvSpPr>
            <a:spLocks noGrp="1"/>
          </p:cNvSpPr>
          <p:nvPr/>
        </p:nvSpPr>
        <p:spPr>
          <a:xfrm>
            <a:off x="8239125" y="2676525"/>
            <a:ext cx="3086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1</a:t>
            </a:r>
            <a:r>
              <a:rPr lang="en-US" altLang="zh-CN" dirty="0"/>
              <a:t>92.168</a:t>
            </a:r>
            <a:r>
              <a:rPr lang="en-US" dirty="0"/>
              <a:t>.128.0/17</a:t>
            </a:r>
          </a:p>
        </p:txBody>
      </p:sp>
      <p:sp>
        <p:nvSpPr>
          <p:cNvPr id="37" name="统一风格-数据库 ECS玻璃后沿-351">
            <a:extLst>
              <a:ext uri="{FF2B5EF4-FFF2-40B4-BE49-F238E27FC236}">
                <a16:creationId xmlns:a16="http://schemas.microsoft.com/office/drawing/2014/main" id="{6CE46455-CA07-4E90-AE30-0BA3C599FEA5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8" name="统一风格-数据库 ECS-352">
            <a:extLst>
              <a:ext uri="{FF2B5EF4-FFF2-40B4-BE49-F238E27FC236}">
                <a16:creationId xmlns:a16="http://schemas.microsoft.com/office/drawing/2014/main" id="{83F2F768-4B14-4C0E-AE9B-C0689B1B1AB2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43325" cy="885825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数据库 ECS玻璃内沿-353">
            <a:extLst>
              <a:ext uri="{FF2B5EF4-FFF2-40B4-BE49-F238E27FC236}">
                <a16:creationId xmlns:a16="http://schemas.microsoft.com/office/drawing/2014/main" id="{F20481EC-02D2-4ED1-AE52-263027DBD344}"/>
              </a:ext>
            </a:extLst>
          </p:cNvPr>
          <p:cNvSpPr>
            <a:spLocks noGrp="1"/>
          </p:cNvSpPr>
          <p:nvPr/>
        </p:nvSpPr>
        <p:spPr>
          <a:xfrm>
            <a:off x="7651909" y="3127534"/>
            <a:ext cx="3717608" cy="860108"/>
          </a:xfrm>
          <a:prstGeom prst="roundRect">
            <a:avLst>
              <a:gd name="adj" fmla="val 852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数据库 ECS透光反射面-354">
            <a:extLst>
              <a:ext uri="{FF2B5EF4-FFF2-40B4-BE49-F238E27FC236}">
                <a16:creationId xmlns:a16="http://schemas.microsoft.com/office/drawing/2014/main" id="{27D94AE4-B5CF-4B42-AB24-C9EE6878C355}"/>
              </a:ext>
            </a:extLst>
          </p:cNvPr>
          <p:cNvSpPr>
            <a:spLocks noGrp="1"/>
          </p:cNvSpPr>
          <p:nvPr/>
        </p:nvSpPr>
        <p:spPr>
          <a:xfrm>
            <a:off x="7658100" y="3133725"/>
            <a:ext cx="3705225" cy="847725"/>
          </a:xfrm>
          <a:custGeom>
            <a:avLst/>
            <a:gdLst/>
            <a:ahLst/>
            <a:cxnLst/>
            <a:rect l="0" t="0" r="0" b="0"/>
            <a:pathLst>
              <a:path w="3705225" h="847725">
                <a:moveTo>
                  <a:pt x="76200" y="0"/>
                </a:moveTo>
                <a:lnTo>
                  <a:pt x="2371344" y="0"/>
                </a:lnTo>
                <a:lnTo>
                  <a:pt x="963359" y="847725"/>
                </a:lnTo>
                <a:lnTo>
                  <a:pt x="76200" y="847725"/>
                </a:lnTo>
                <a:cubicBezTo>
                  <a:pt x="28575" y="847725"/>
                  <a:pt x="0" y="819150"/>
                  <a:pt x="0" y="7715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数据库 ECS边缘高光-355">
            <a:extLst>
              <a:ext uri="{FF2B5EF4-FFF2-40B4-BE49-F238E27FC236}">
                <a16:creationId xmlns:a16="http://schemas.microsoft.com/office/drawing/2014/main" id="{B9D8C861-1150-4450-92AE-BDC06C9B92F4}"/>
              </a:ext>
            </a:extLst>
          </p:cNvPr>
          <p:cNvSpPr>
            <a:spLocks noGrp="1"/>
          </p:cNvSpPr>
          <p:nvPr/>
        </p:nvSpPr>
        <p:spPr>
          <a:xfrm>
            <a:off x="7639050" y="3114675"/>
            <a:ext cx="3743325" cy="885825"/>
          </a:xfrm>
          <a:custGeom>
            <a:avLst/>
            <a:gdLst/>
            <a:ahLst/>
            <a:cxnLst/>
            <a:rect l="0" t="0" r="0" b="0"/>
            <a:pathLst>
              <a:path w="3743325" h="885825">
                <a:moveTo>
                  <a:pt x="95250" y="9525"/>
                </a:moveTo>
                <a:lnTo>
                  <a:pt x="3648075" y="9525"/>
                </a:lnTo>
                <a:cubicBezTo>
                  <a:pt x="3695700" y="9525"/>
                  <a:pt x="3733800" y="47625"/>
                  <a:pt x="37338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db 数据库柱体-356">
            <a:extLst>
              <a:ext uri="{FF2B5EF4-FFF2-40B4-BE49-F238E27FC236}">
                <a16:creationId xmlns:a16="http://schemas.microsoft.com/office/drawing/2014/main" id="{26844050-FD1A-49CD-B9C3-F48BD6209C0C}"/>
              </a:ext>
            </a:extLst>
          </p:cNvPr>
          <p:cNvSpPr>
            <a:spLocks noGrp="1"/>
          </p:cNvSpPr>
          <p:nvPr/>
        </p:nvSpPr>
        <p:spPr>
          <a:xfrm>
            <a:off x="779145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db 数据库分层-357">
            <a:extLst>
              <a:ext uri="{FF2B5EF4-FFF2-40B4-BE49-F238E27FC236}">
                <a16:creationId xmlns:a16="http://schemas.microsoft.com/office/drawing/2014/main" id="{92A3C8C0-9359-4654-8ED6-DF568124033E}"/>
              </a:ext>
            </a:extLst>
          </p:cNvPr>
          <p:cNvSpPr>
            <a:spLocks noGrp="1"/>
          </p:cNvSpPr>
          <p:nvPr/>
        </p:nvSpPr>
        <p:spPr>
          <a:xfrm>
            <a:off x="7791450" y="3357563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数据库 ECS-358">
            <a:extLst>
              <a:ext uri="{FF2B5EF4-FFF2-40B4-BE49-F238E27FC236}">
                <a16:creationId xmlns:a16="http://schemas.microsoft.com/office/drawing/2014/main" id="{FDB6A05E-88D2-400A-8E12-30D5AC0D36AB}"/>
              </a:ext>
            </a:extLst>
          </p:cNvPr>
          <p:cNvSpPr>
            <a:spLocks noGrp="1"/>
          </p:cNvSpPr>
          <p:nvPr/>
        </p:nvSpPr>
        <p:spPr>
          <a:xfrm>
            <a:off x="8334375" y="325755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 ECS</a:t>
            </a:r>
          </a:p>
        </p:txBody>
      </p:sp>
      <p:sp>
        <p:nvSpPr>
          <p:cNvPr id="45" name="统一风格-文字 10.60.2.20 : 3306-359">
            <a:extLst>
              <a:ext uri="{FF2B5EF4-FFF2-40B4-BE49-F238E27FC236}">
                <a16:creationId xmlns:a16="http://schemas.microsoft.com/office/drawing/2014/main" id="{A79B5DB4-4D93-442B-B347-5F01A21BAD0B}"/>
              </a:ext>
            </a:extLst>
          </p:cNvPr>
          <p:cNvSpPr>
            <a:spLocks noGrp="1"/>
          </p:cNvSpPr>
          <p:nvPr/>
        </p:nvSpPr>
        <p:spPr>
          <a:xfrm>
            <a:off x="8334375" y="3609975"/>
            <a:ext cx="2895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192.168.128.20</a:t>
            </a:r>
            <a:endParaRPr sz="13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6" name="网络连接-31">
            <a:extLst>
              <a:ext uri="{FF2B5EF4-FFF2-40B4-BE49-F238E27FC236}">
                <a16:creationId xmlns:a16="http://schemas.microsoft.com/office/drawing/2014/main" id="{DEC521A7-546F-41DC-80FE-ABBCF96741B8}"/>
              </a:ext>
            </a:extLst>
          </p:cNvPr>
          <p:cNvCxnSpPr/>
          <p:nvPr/>
        </p:nvCxnSpPr>
        <p:spPr>
          <a:xfrm>
            <a:off x="4743450" y="3152775"/>
            <a:ext cx="238125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cxnSp>
        <p:nvCxnSpPr>
          <p:cNvPr id="47" name="网络连接-32">
            <a:extLst>
              <a:ext uri="{FF2B5EF4-FFF2-40B4-BE49-F238E27FC236}">
                <a16:creationId xmlns:a16="http://schemas.microsoft.com/office/drawing/2014/main" id="{A2888B58-79C3-4574-8CF4-827DECE44A86}"/>
              </a:ext>
            </a:extLst>
          </p:cNvPr>
          <p:cNvCxnSpPr/>
          <p:nvPr/>
        </p:nvCxnSpPr>
        <p:spPr>
          <a:xfrm>
            <a:off x="7210425" y="3152775"/>
            <a:ext cx="238125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sp>
        <p:nvSpPr>
          <p:cNvPr id="48" name="统一风格-Peering-AB玻璃后沿-360">
            <a:extLst>
              <a:ext uri="{FF2B5EF4-FFF2-40B4-BE49-F238E27FC236}">
                <a16:creationId xmlns:a16="http://schemas.microsoft.com/office/drawing/2014/main" id="{40AFDDAA-7D4D-4A9B-AAE9-E9095F78765B}"/>
              </a:ext>
            </a:extLst>
          </p:cNvPr>
          <p:cNvSpPr>
            <a:spLocks noGrp="1"/>
          </p:cNvSpPr>
          <p:nvPr/>
        </p:nvSpPr>
        <p:spPr>
          <a:xfrm>
            <a:off x="4981575" y="2524125"/>
            <a:ext cx="222885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统一风格-Peering-AB-361">
            <a:extLst>
              <a:ext uri="{FF2B5EF4-FFF2-40B4-BE49-F238E27FC236}">
                <a16:creationId xmlns:a16="http://schemas.microsoft.com/office/drawing/2014/main" id="{78BAB14C-3F6C-45F0-A201-76F584545742}"/>
              </a:ext>
            </a:extLst>
          </p:cNvPr>
          <p:cNvSpPr>
            <a:spLocks noGrp="1"/>
          </p:cNvSpPr>
          <p:nvPr/>
        </p:nvSpPr>
        <p:spPr>
          <a:xfrm>
            <a:off x="4981575" y="2524125"/>
            <a:ext cx="222885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Peering-AB玻璃内沿-362">
            <a:extLst>
              <a:ext uri="{FF2B5EF4-FFF2-40B4-BE49-F238E27FC236}">
                <a16:creationId xmlns:a16="http://schemas.microsoft.com/office/drawing/2014/main" id="{C8A37F08-4A3A-4E83-B8A8-1971527137A0}"/>
              </a:ext>
            </a:extLst>
          </p:cNvPr>
          <p:cNvSpPr>
            <a:spLocks noGrp="1"/>
          </p:cNvSpPr>
          <p:nvPr/>
        </p:nvSpPr>
        <p:spPr>
          <a:xfrm>
            <a:off x="4994434" y="2536984"/>
            <a:ext cx="220313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Peering-AB透光反射面-363">
            <a:extLst>
              <a:ext uri="{FF2B5EF4-FFF2-40B4-BE49-F238E27FC236}">
                <a16:creationId xmlns:a16="http://schemas.microsoft.com/office/drawing/2014/main" id="{10D02C49-31E3-4515-B467-68FBCA5749FE}"/>
              </a:ext>
            </a:extLst>
          </p:cNvPr>
          <p:cNvSpPr>
            <a:spLocks noGrp="1"/>
          </p:cNvSpPr>
          <p:nvPr/>
        </p:nvSpPr>
        <p:spPr>
          <a:xfrm>
            <a:off x="5000625" y="2543175"/>
            <a:ext cx="2190750" cy="1219200"/>
          </a:xfrm>
          <a:custGeom>
            <a:avLst/>
            <a:gdLst/>
            <a:ahLst/>
            <a:cxnLst/>
            <a:rect l="0" t="0" r="0" b="0"/>
            <a:pathLst>
              <a:path w="2190750" h="1219200">
                <a:moveTo>
                  <a:pt x="76200" y="0"/>
                </a:moveTo>
                <a:lnTo>
                  <a:pt x="1402080" y="0"/>
                </a:lnTo>
                <a:lnTo>
                  <a:pt x="569595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Peering-AB边缘高光-364">
            <a:extLst>
              <a:ext uri="{FF2B5EF4-FFF2-40B4-BE49-F238E27FC236}">
                <a16:creationId xmlns:a16="http://schemas.microsoft.com/office/drawing/2014/main" id="{21382E3D-904F-4161-8FC1-4F1DF65ED049}"/>
              </a:ext>
            </a:extLst>
          </p:cNvPr>
          <p:cNvSpPr>
            <a:spLocks noGrp="1"/>
          </p:cNvSpPr>
          <p:nvPr/>
        </p:nvSpPr>
        <p:spPr>
          <a:xfrm>
            <a:off x="4981575" y="2524125"/>
            <a:ext cx="2228850" cy="1257300"/>
          </a:xfrm>
          <a:custGeom>
            <a:avLst/>
            <a:gdLst/>
            <a:ahLst/>
            <a:cxnLst/>
            <a:rect l="0" t="0" r="0" b="0"/>
            <a:pathLst>
              <a:path w="2228850" h="1257300">
                <a:moveTo>
                  <a:pt x="95250" y="9525"/>
                </a:moveTo>
                <a:lnTo>
                  <a:pt x="2133600" y="9525"/>
                </a:lnTo>
                <a:cubicBezTo>
                  <a:pt x="2181225" y="9525"/>
                  <a:pt x="2219325" y="47625"/>
                  <a:pt x="2219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统一互联图标 双向连接-365">
            <a:extLst>
              <a:ext uri="{FF2B5EF4-FFF2-40B4-BE49-F238E27FC236}">
                <a16:creationId xmlns:a16="http://schemas.microsoft.com/office/drawing/2014/main" id="{1EB2936E-FCE0-424E-A6AB-29B062146C43}"/>
              </a:ext>
            </a:extLst>
          </p:cNvPr>
          <p:cNvSpPr>
            <a:spLocks noGrp="1"/>
          </p:cNvSpPr>
          <p:nvPr/>
        </p:nvSpPr>
        <p:spPr>
          <a:xfrm>
            <a:off x="5133975" y="26860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523875" y="219075"/>
                </a:lnTo>
                <a:moveTo>
                  <a:pt x="447675" y="142875"/>
                </a:moveTo>
                <a:lnTo>
                  <a:pt x="523875" y="219075"/>
                </a:lnTo>
                <a:lnTo>
                  <a:pt x="447675" y="295275"/>
                </a:lnTo>
                <a:moveTo>
                  <a:pt x="542925" y="409575"/>
                </a:moveTo>
                <a:lnTo>
                  <a:pt x="85725" y="409575"/>
                </a:lnTo>
                <a:moveTo>
                  <a:pt x="161925" y="333375"/>
                </a:moveTo>
                <a:lnTo>
                  <a:pt x="85725" y="409575"/>
                </a:lnTo>
                <a:lnTo>
                  <a:pt x="161925" y="4857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文字 Peering-AB-366">
            <a:extLst>
              <a:ext uri="{FF2B5EF4-FFF2-40B4-BE49-F238E27FC236}">
                <a16:creationId xmlns:a16="http://schemas.microsoft.com/office/drawing/2014/main" id="{29A831A4-2151-407C-9029-126EBF90ADB1}"/>
              </a:ext>
            </a:extLst>
          </p:cNvPr>
          <p:cNvSpPr>
            <a:spLocks noGrp="1"/>
          </p:cNvSpPr>
          <p:nvPr/>
        </p:nvSpPr>
        <p:spPr>
          <a:xfrm>
            <a:off x="5705475" y="2638425"/>
            <a:ext cx="1371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Peering-AB</a:t>
            </a:r>
          </a:p>
        </p:txBody>
      </p:sp>
      <p:sp>
        <p:nvSpPr>
          <p:cNvPr id="55" name="统一风格-文字 双向网络路径-367">
            <a:extLst>
              <a:ext uri="{FF2B5EF4-FFF2-40B4-BE49-F238E27FC236}">
                <a16:creationId xmlns:a16="http://schemas.microsoft.com/office/drawing/2014/main" id="{FE7CEC68-9836-454B-856A-618BA20DF476}"/>
              </a:ext>
            </a:extLst>
          </p:cNvPr>
          <p:cNvSpPr>
            <a:spLocks noGrp="1"/>
          </p:cNvSpPr>
          <p:nvPr/>
        </p:nvSpPr>
        <p:spPr>
          <a:xfrm>
            <a:off x="5133975" y="3143250"/>
            <a:ext cx="19240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双向网络路径</a:t>
            </a:r>
          </a:p>
        </p:txBody>
      </p:sp>
      <p:sp>
        <p:nvSpPr>
          <p:cNvPr id="56" name="统一风格-路由与配置表玻璃后沿-368">
            <a:extLst>
              <a:ext uri="{FF2B5EF4-FFF2-40B4-BE49-F238E27FC236}">
                <a16:creationId xmlns:a16="http://schemas.microsoft.com/office/drawing/2014/main" id="{7D41789C-850A-4647-AE67-75843D18AE65}"/>
              </a:ext>
            </a:extLst>
          </p:cNvPr>
          <p:cNvSpPr>
            <a:spLocks noGrp="1"/>
          </p:cNvSpPr>
          <p:nvPr/>
        </p:nvSpPr>
        <p:spPr>
          <a:xfrm>
            <a:off x="542925" y="4429125"/>
            <a:ext cx="11106150" cy="1447800"/>
          </a:xfrm>
          <a:prstGeom prst="roundRect">
            <a:avLst>
              <a:gd name="adj" fmla="val 592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路由与配置表-369">
            <a:extLst>
              <a:ext uri="{FF2B5EF4-FFF2-40B4-BE49-F238E27FC236}">
                <a16:creationId xmlns:a16="http://schemas.microsoft.com/office/drawing/2014/main" id="{A7CEE5E7-0EC3-4B5A-996D-3B8B0782ED8A}"/>
              </a:ext>
            </a:extLst>
          </p:cNvPr>
          <p:cNvSpPr>
            <a:spLocks noGrp="1"/>
          </p:cNvSpPr>
          <p:nvPr/>
        </p:nvSpPr>
        <p:spPr>
          <a:xfrm>
            <a:off x="542925" y="4429125"/>
            <a:ext cx="11106150" cy="1447800"/>
          </a:xfrm>
          <a:prstGeom prst="roundRect">
            <a:avLst>
              <a:gd name="adj" fmla="val 592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路由与配置表玻璃内沿-370">
            <a:extLst>
              <a:ext uri="{FF2B5EF4-FFF2-40B4-BE49-F238E27FC236}">
                <a16:creationId xmlns:a16="http://schemas.microsoft.com/office/drawing/2014/main" id="{A7E2DD91-EDE1-43AE-858E-32674ECADCAC}"/>
              </a:ext>
            </a:extLst>
          </p:cNvPr>
          <p:cNvSpPr>
            <a:spLocks noGrp="1"/>
          </p:cNvSpPr>
          <p:nvPr/>
        </p:nvSpPr>
        <p:spPr>
          <a:xfrm>
            <a:off x="555784" y="4441984"/>
            <a:ext cx="11080433" cy="1422083"/>
          </a:xfrm>
          <a:prstGeom prst="roundRect">
            <a:avLst>
              <a:gd name="adj" fmla="val 515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路由与配置表边缘高光-371">
            <a:extLst>
              <a:ext uri="{FF2B5EF4-FFF2-40B4-BE49-F238E27FC236}">
                <a16:creationId xmlns:a16="http://schemas.microsoft.com/office/drawing/2014/main" id="{D71D16E6-724B-4DA8-9462-7B109A66C77C}"/>
              </a:ext>
            </a:extLst>
          </p:cNvPr>
          <p:cNvSpPr>
            <a:spLocks noGrp="1"/>
          </p:cNvSpPr>
          <p:nvPr/>
        </p:nvSpPr>
        <p:spPr>
          <a:xfrm>
            <a:off x="542925" y="4429125"/>
            <a:ext cx="11106150" cy="1447800"/>
          </a:xfrm>
          <a:custGeom>
            <a:avLst/>
            <a:gdLst/>
            <a:ahLst/>
            <a:cxnLst/>
            <a:rect l="0" t="0" r="0" b="0"/>
            <a:pathLst>
              <a:path w="11106150" h="144780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70FBB8C-BE20-42D0-9309-41EF525AD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581424"/>
              </p:ext>
            </p:extLst>
          </p:nvPr>
        </p:nvGraphicFramePr>
        <p:xfrm>
          <a:off x="609600" y="4495800"/>
          <a:ext cx="10972800" cy="13144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实际关联路由表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应用子网路由表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92.168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.0/1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数据子网路由表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192.168.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.0/1</a:t>
                      </a:r>
                      <a:r>
                        <a:rPr lang="en-US" altLang="zh-CN" sz="1575" b="0" dirty="0">
                          <a:solidFill>
                            <a:srgbClr val="16335F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1575" b="0" dirty="0">
                        <a:solidFill>
                          <a:srgbClr val="16335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40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2  网络互联方案">
            <a:extLst>
              <a:ext uri="{FF2B5EF4-FFF2-40B4-BE49-F238E27FC236}">
                <a16:creationId xmlns:a16="http://schemas.microsoft.com/office/drawing/2014/main" id="{5F99C3BF-B31D-4FE6-A717-B4195A990E3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：配置顺序与验收证据-373">
            <a:extLst>
              <a:ext uri="{FF2B5EF4-FFF2-40B4-BE49-F238E27FC236}">
                <a16:creationId xmlns:a16="http://schemas.microsoft.com/office/drawing/2014/main" id="{9AD1E9F1-39CC-455F-A648-5F537ABFD13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对等连接：配置顺序与验收证据</a:t>
            </a:r>
          </a:p>
        </p:txBody>
      </p:sp>
      <p:sp>
        <p:nvSpPr>
          <p:cNvPr id="3" name="统一风格-文字 创建连接后，继续完成路由、权限和业务测试-374">
            <a:extLst>
              <a:ext uri="{FF2B5EF4-FFF2-40B4-BE49-F238E27FC236}">
                <a16:creationId xmlns:a16="http://schemas.microsoft.com/office/drawing/2014/main" id="{AD23425F-F0F1-46C9-836B-F1086740812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创建连接后，继续完成路由、权限和业务测试</a:t>
            </a:r>
          </a:p>
        </p:txBody>
      </p:sp>
      <p:cxnSp>
        <p:nvCxnSpPr>
          <p:cNvPr id="4" name="网络连接-33">
            <a:extLst>
              <a:ext uri="{FF2B5EF4-FFF2-40B4-BE49-F238E27FC236}">
                <a16:creationId xmlns:a16="http://schemas.microsoft.com/office/drawing/2014/main" id="{517FF470-DFE1-44F1-8FA2-0F407AFB37A1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华为云支持按路由配置的对等传递组网。不要把创建连接等同于自动形成全部访问路径。-375">
            <a:extLst>
              <a:ext uri="{FF2B5EF4-FFF2-40B4-BE49-F238E27FC236}">
                <a16:creationId xmlns:a16="http://schemas.microsoft.com/office/drawing/2014/main" id="{A77B3430-1D89-4252-BC98-C4F52896A30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华为云支持按路由配置的对等传递组网。不要把创建连接等同于自动形成全部访问路径。</a:t>
            </a:r>
          </a:p>
        </p:txBody>
      </p:sp>
      <p:sp>
        <p:nvSpPr>
          <p:cNvPr id="6" name="正文-22">
            <a:extLst>
              <a:ext uri="{FF2B5EF4-FFF2-40B4-BE49-F238E27FC236}">
                <a16:creationId xmlns:a16="http://schemas.microsoft.com/office/drawing/2014/main" id="{D30FAC29-BE4D-43AB-81F1-A53F8ADB157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统一风格-路由与配置表玻璃后沿-377">
            <a:extLst>
              <a:ext uri="{FF2B5EF4-FFF2-40B4-BE49-F238E27FC236}">
                <a16:creationId xmlns:a16="http://schemas.microsoft.com/office/drawing/2014/main" id="{236E23D0-5053-42A0-98E7-C4E1284B845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019425"/>
          </a:xfrm>
          <a:prstGeom prst="roundRect">
            <a:avLst>
              <a:gd name="adj" fmla="val 283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378">
            <a:extLst>
              <a:ext uri="{FF2B5EF4-FFF2-40B4-BE49-F238E27FC236}">
                <a16:creationId xmlns:a16="http://schemas.microsoft.com/office/drawing/2014/main" id="{78A130C4-48AF-49D6-9C4B-ED0D47632E8E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019425"/>
          </a:xfrm>
          <a:prstGeom prst="roundRect">
            <a:avLst>
              <a:gd name="adj" fmla="val 283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379">
            <a:extLst>
              <a:ext uri="{FF2B5EF4-FFF2-40B4-BE49-F238E27FC236}">
                <a16:creationId xmlns:a16="http://schemas.microsoft.com/office/drawing/2014/main" id="{B0C1BE8F-4F92-4659-B886-7CCC1ADCFB33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993708"/>
          </a:xfrm>
          <a:prstGeom prst="roundRect">
            <a:avLst>
              <a:gd name="adj" fmla="val 245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380">
            <a:extLst>
              <a:ext uri="{FF2B5EF4-FFF2-40B4-BE49-F238E27FC236}">
                <a16:creationId xmlns:a16="http://schemas.microsoft.com/office/drawing/2014/main" id="{745E25B1-31C1-458A-AD6E-8C726D8E35D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019425"/>
          </a:xfrm>
          <a:custGeom>
            <a:avLst/>
            <a:gdLst/>
            <a:ahLst/>
            <a:cxnLst/>
            <a:rect l="0" t="0" r="0" b="0"/>
            <a:pathLst>
              <a:path w="11106150" h="30194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CA189FF-0C73-434B-9D19-411095AA2DBB}"/>
              </a:ext>
            </a:extLst>
          </p:cNvPr>
          <p:cNvGraphicFramePr/>
          <p:nvPr/>
        </p:nvGraphicFramePr>
        <p:xfrm>
          <a:off x="609600" y="2143125"/>
          <a:ext cx="10972800" cy="28860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实施与检查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连接状态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 Peering-AB，按账号关系完成接受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连接可用，两端 VPC 选择正确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双向路由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核对两端子网关联表及目的 / 下一跳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到对端的实际命中均为 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业务权限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核对源出方向、目的入方向与监听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仅批准的源主机访问 TCP 3306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验收留证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3306 / 22 连接并做业务查询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3306 与查询成功，22 不获额外放行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统一风格-传递组网玻璃后沿-381">
            <a:extLst>
              <a:ext uri="{FF2B5EF4-FFF2-40B4-BE49-F238E27FC236}">
                <a16:creationId xmlns:a16="http://schemas.microsoft.com/office/drawing/2014/main" id="{57CC7862-696D-4A35-ADFB-61FC8774F575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传递组网-382">
            <a:extLst>
              <a:ext uri="{FF2B5EF4-FFF2-40B4-BE49-F238E27FC236}">
                <a16:creationId xmlns:a16="http://schemas.microsoft.com/office/drawing/2014/main" id="{3ABE8C74-661E-4429-B60E-6BCAB13A2A6A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传递组网玻璃内沿-383">
            <a:extLst>
              <a:ext uri="{FF2B5EF4-FFF2-40B4-BE49-F238E27FC236}">
                <a16:creationId xmlns:a16="http://schemas.microsoft.com/office/drawing/2014/main" id="{AF7160D8-177A-46E1-83EA-231D8C1113AD}"/>
              </a:ext>
            </a:extLst>
          </p:cNvPr>
          <p:cNvSpPr>
            <a:spLocks noGrp="1"/>
          </p:cNvSpPr>
          <p:nvPr/>
        </p:nvSpPr>
        <p:spPr>
          <a:xfrm>
            <a:off x="622459" y="52992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传递组网边缘高光-384">
            <a:extLst>
              <a:ext uri="{FF2B5EF4-FFF2-40B4-BE49-F238E27FC236}">
                <a16:creationId xmlns:a16="http://schemas.microsoft.com/office/drawing/2014/main" id="{1079E2A3-4A49-412D-AD6B-E44626DE0164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传递组网-385">
            <a:extLst>
              <a:ext uri="{FF2B5EF4-FFF2-40B4-BE49-F238E27FC236}">
                <a16:creationId xmlns:a16="http://schemas.microsoft.com/office/drawing/2014/main" id="{899710B8-A2F2-43FF-88B5-E1AB7B31A53C}"/>
              </a:ext>
            </a:extLst>
          </p:cNvPr>
          <p:cNvSpPr>
            <a:spLocks noGrp="1"/>
          </p:cNvSpPr>
          <p:nvPr/>
        </p:nvSpPr>
        <p:spPr>
          <a:xfrm>
            <a:off x="790575" y="54102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传递组网</a:t>
            </a:r>
          </a:p>
        </p:txBody>
      </p:sp>
      <p:sp>
        <p:nvSpPr>
          <p:cNvPr id="17" name="统一风格-文字 另行配置中转路由并审查安全边界，不能仅凭两条对等连接判断可达。-386">
            <a:extLst>
              <a:ext uri="{FF2B5EF4-FFF2-40B4-BE49-F238E27FC236}">
                <a16:creationId xmlns:a16="http://schemas.microsoft.com/office/drawing/2014/main" id="{74E69F44-00D3-4D18-A14B-899B9CA3052A}"/>
              </a:ext>
            </a:extLst>
          </p:cNvPr>
          <p:cNvSpPr>
            <a:spLocks noGrp="1"/>
          </p:cNvSpPr>
          <p:nvPr/>
        </p:nvSpPr>
        <p:spPr>
          <a:xfrm>
            <a:off x="2524125" y="53911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另行配置中转路由并审查安全边界，不能仅凭两条对等连接判断可达。</a:t>
            </a:r>
          </a:p>
        </p:txBody>
      </p:sp>
    </p:spTree>
    <p:extLst>
      <p:ext uri="{BB962C8B-B14F-4D97-AF65-F5344CB8AC3E}">
        <p14:creationId xmlns:p14="http://schemas.microsoft.com/office/powerpoint/2010/main" val="1524954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正文-02  网络互联方案">
            <a:extLst>
              <a:ext uri="{FF2B5EF4-FFF2-40B4-BE49-F238E27FC236}">
                <a16:creationId xmlns:a16="http://schemas.microsoft.com/office/drawing/2014/main" id="{53124B72-2230-4235-B40B-2FEE63B1345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的传递路由示例-43">
            <a:extLst>
              <a:ext uri="{FF2B5EF4-FFF2-40B4-BE49-F238E27FC236}">
                <a16:creationId xmlns:a16="http://schemas.microsoft.com/office/drawing/2014/main" id="{927C2995-C3DF-498D-8DA7-0C419BAE02A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对等连接的传递路由示例</a:t>
            </a:r>
          </a:p>
        </p:txBody>
      </p:sp>
      <p:sp>
        <p:nvSpPr>
          <p:cNvPr id="3" name="统一风格-文字 华为云支持显式配置传递路由。本例 B 经 A 访问 C，需核对三端路由。-44">
            <a:extLst>
              <a:ext uri="{FF2B5EF4-FFF2-40B4-BE49-F238E27FC236}">
                <a16:creationId xmlns:a16="http://schemas.microsoft.com/office/drawing/2014/main" id="{E1136238-31DE-4548-A9BD-228ACC9AD2A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华为云支持显式配置传递路由。本例 B 经 A 访问 C，需核对三端路由。</a:t>
            </a:r>
          </a:p>
        </p:txBody>
      </p:sp>
      <p:cxnSp>
        <p:nvCxnSpPr>
          <p:cNvPr id="4" name="知识图示连接-5">
            <a:extLst>
              <a:ext uri="{FF2B5EF4-FFF2-40B4-BE49-F238E27FC236}">
                <a16:creationId xmlns:a16="http://schemas.microsoft.com/office/drawing/2014/main" id="{8E4BE14C-F2F9-4850-A99E-39AF73AA3903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独立 IPv4 组网示例。整网互联要求网段不重叠，访问权限与 CFW 覆盖另行核验。">
            <a:extLst>
              <a:ext uri="{FF2B5EF4-FFF2-40B4-BE49-F238E27FC236}">
                <a16:creationId xmlns:a16="http://schemas.microsoft.com/office/drawing/2014/main" id="{B1F81234-451E-41BF-8B0C-BE921F894F4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独立 IPv4 组网示例。整网互联要求网段不重叠，访问权限与 CFW 覆盖另行核验。</a:t>
            </a:r>
          </a:p>
        </p:txBody>
      </p:sp>
      <p:sp>
        <p:nvSpPr>
          <p:cNvPr id="6" name="正文-23">
            <a:extLst>
              <a:ext uri="{FF2B5EF4-FFF2-40B4-BE49-F238E27FC236}">
                <a16:creationId xmlns:a16="http://schemas.microsoft.com/office/drawing/2014/main" id="{3A70E705-DDCC-42C2-AD6F-01C2B1E575A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统一风格-VPC-B玻璃后沿-47">
            <a:extLst>
              <a:ext uri="{FF2B5EF4-FFF2-40B4-BE49-F238E27FC236}">
                <a16:creationId xmlns:a16="http://schemas.microsoft.com/office/drawing/2014/main" id="{16A8088B-0D97-427D-B643-B6AB0BBFD47F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VPC-B-48">
            <a:extLst>
              <a:ext uri="{FF2B5EF4-FFF2-40B4-BE49-F238E27FC236}">
                <a16:creationId xmlns:a16="http://schemas.microsoft.com/office/drawing/2014/main" id="{7B97E462-4470-44AB-9592-6E1F4B0CA578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VPC-B玻璃内沿-49">
            <a:extLst>
              <a:ext uri="{FF2B5EF4-FFF2-40B4-BE49-F238E27FC236}">
                <a16:creationId xmlns:a16="http://schemas.microsoft.com/office/drawing/2014/main" id="{B0B7A39A-862D-4BE0-A573-86D641BA8D07}"/>
              </a:ext>
            </a:extLst>
          </p:cNvPr>
          <p:cNvSpPr>
            <a:spLocks noGrp="1"/>
          </p:cNvSpPr>
          <p:nvPr/>
        </p:nvSpPr>
        <p:spPr>
          <a:xfrm>
            <a:off x="622459" y="2260759"/>
            <a:ext cx="28317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VPC-B透光反射面-50">
            <a:extLst>
              <a:ext uri="{FF2B5EF4-FFF2-40B4-BE49-F238E27FC236}">
                <a16:creationId xmlns:a16="http://schemas.microsoft.com/office/drawing/2014/main" id="{8961AD4E-3DB2-4F73-92EC-01DFB3178EB6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819400" cy="981075"/>
          </a:xfrm>
          <a:custGeom>
            <a:avLst/>
            <a:gdLst/>
            <a:ahLst/>
            <a:cxnLst/>
            <a:rect l="0" t="0" r="0" b="0"/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VPC-B边缘高光-51">
            <a:extLst>
              <a:ext uri="{FF2B5EF4-FFF2-40B4-BE49-F238E27FC236}">
                <a16:creationId xmlns:a16="http://schemas.microsoft.com/office/drawing/2014/main" id="{52834064-5790-4330-8E11-DE8A39FC856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1019175"/>
          </a:xfrm>
          <a:custGeom>
            <a:avLst/>
            <a:gdLst/>
            <a:ahLst/>
            <a:cxnLst/>
            <a:rect l="0" t="0" r="0" b="0"/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52">
            <a:extLst>
              <a:ext uri="{FF2B5EF4-FFF2-40B4-BE49-F238E27FC236}">
                <a16:creationId xmlns:a16="http://schemas.microsoft.com/office/drawing/2014/main" id="{ABC31064-E4AE-4972-956E-E44E2281FB04}"/>
              </a:ext>
            </a:extLst>
          </p:cNvPr>
          <p:cNvSpPr>
            <a:spLocks noGrp="1"/>
          </p:cNvSpPr>
          <p:nvPr/>
        </p:nvSpPr>
        <p:spPr>
          <a:xfrm>
            <a:off x="781050" y="2505075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VPC-B-53">
            <a:extLst>
              <a:ext uri="{FF2B5EF4-FFF2-40B4-BE49-F238E27FC236}">
                <a16:creationId xmlns:a16="http://schemas.microsoft.com/office/drawing/2014/main" id="{4BA50204-4C37-492F-9467-F2C89733BF2C}"/>
              </a:ext>
            </a:extLst>
          </p:cNvPr>
          <p:cNvSpPr>
            <a:spLocks noGrp="1"/>
          </p:cNvSpPr>
          <p:nvPr/>
        </p:nvSpPr>
        <p:spPr>
          <a:xfrm>
            <a:off x="1428750" y="2371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VPC-B</a:t>
            </a:r>
          </a:p>
        </p:txBody>
      </p:sp>
      <p:sp>
        <p:nvSpPr>
          <p:cNvPr id="14" name="统一风格-文字 10.52.0.0/16-54">
            <a:extLst>
              <a:ext uri="{FF2B5EF4-FFF2-40B4-BE49-F238E27FC236}">
                <a16:creationId xmlns:a16="http://schemas.microsoft.com/office/drawing/2014/main" id="{605CB84B-4E1C-47E2-B026-A619BD9AD8DF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1857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10.52.0.0/16</a:t>
            </a:r>
          </a:p>
        </p:txBody>
      </p:sp>
      <p:sp>
        <p:nvSpPr>
          <p:cNvPr id="15" name="统一风格-VPC-A玻璃后沿-55">
            <a:extLst>
              <a:ext uri="{FF2B5EF4-FFF2-40B4-BE49-F238E27FC236}">
                <a16:creationId xmlns:a16="http://schemas.microsoft.com/office/drawing/2014/main" id="{04880165-FA85-4430-B2BA-1944F51C62AF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VPC-A-56">
            <a:extLst>
              <a:ext uri="{FF2B5EF4-FFF2-40B4-BE49-F238E27FC236}">
                <a16:creationId xmlns:a16="http://schemas.microsoft.com/office/drawing/2014/main" id="{D30149BB-3283-4EA3-8540-DAD1159658CA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VPC-A玻璃内沿-57">
            <a:extLst>
              <a:ext uri="{FF2B5EF4-FFF2-40B4-BE49-F238E27FC236}">
                <a16:creationId xmlns:a16="http://schemas.microsoft.com/office/drawing/2014/main" id="{D04C95DB-C86F-4CC5-BB37-D3D9EA5AC7EF}"/>
              </a:ext>
            </a:extLst>
          </p:cNvPr>
          <p:cNvSpPr>
            <a:spLocks noGrp="1"/>
          </p:cNvSpPr>
          <p:nvPr/>
        </p:nvSpPr>
        <p:spPr>
          <a:xfrm>
            <a:off x="4680109" y="2260759"/>
            <a:ext cx="28317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VPC-A透光反射面-58">
            <a:extLst>
              <a:ext uri="{FF2B5EF4-FFF2-40B4-BE49-F238E27FC236}">
                <a16:creationId xmlns:a16="http://schemas.microsoft.com/office/drawing/2014/main" id="{C353B3EB-815A-4100-BF50-69B752EA841C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819400" cy="981075"/>
          </a:xfrm>
          <a:custGeom>
            <a:avLst/>
            <a:gdLst/>
            <a:ahLst/>
            <a:cxnLst/>
            <a:rect l="0" t="0" r="0" b="0"/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VPC-A边缘高光-59">
            <a:extLst>
              <a:ext uri="{FF2B5EF4-FFF2-40B4-BE49-F238E27FC236}">
                <a16:creationId xmlns:a16="http://schemas.microsoft.com/office/drawing/2014/main" id="{A49F9581-5DD7-48F7-8E7F-50EB7A4CB685}"/>
              </a:ext>
            </a:extLst>
          </p:cNvPr>
          <p:cNvSpPr>
            <a:spLocks noGrp="1"/>
          </p:cNvSpPr>
          <p:nvPr/>
        </p:nvSpPr>
        <p:spPr>
          <a:xfrm>
            <a:off x="4667250" y="2247900"/>
            <a:ext cx="2857500" cy="1019175"/>
          </a:xfrm>
          <a:custGeom>
            <a:avLst/>
            <a:gdLst/>
            <a:ahLst/>
            <a:cxnLst/>
            <a:rect l="0" t="0" r="0" b="0"/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loud VPC 云轮廓-60">
            <a:extLst>
              <a:ext uri="{FF2B5EF4-FFF2-40B4-BE49-F238E27FC236}">
                <a16:creationId xmlns:a16="http://schemas.microsoft.com/office/drawing/2014/main" id="{A5C9FB68-F758-4BE9-9508-CC0D3A9916F6}"/>
              </a:ext>
            </a:extLst>
          </p:cNvPr>
          <p:cNvSpPr>
            <a:spLocks noGrp="1"/>
          </p:cNvSpPr>
          <p:nvPr/>
        </p:nvSpPr>
        <p:spPr>
          <a:xfrm>
            <a:off x="4838700" y="2505075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VPC-A-61">
            <a:extLst>
              <a:ext uri="{FF2B5EF4-FFF2-40B4-BE49-F238E27FC236}">
                <a16:creationId xmlns:a16="http://schemas.microsoft.com/office/drawing/2014/main" id="{40FE2C85-C218-4E9B-9211-F09033641D27}"/>
              </a:ext>
            </a:extLst>
          </p:cNvPr>
          <p:cNvSpPr>
            <a:spLocks noGrp="1"/>
          </p:cNvSpPr>
          <p:nvPr/>
        </p:nvSpPr>
        <p:spPr>
          <a:xfrm>
            <a:off x="5486400" y="2371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</a:t>
            </a:r>
          </a:p>
        </p:txBody>
      </p:sp>
      <p:sp>
        <p:nvSpPr>
          <p:cNvPr id="22" name="统一风格-文字 10.51.0.0/16-62">
            <a:extLst>
              <a:ext uri="{FF2B5EF4-FFF2-40B4-BE49-F238E27FC236}">
                <a16:creationId xmlns:a16="http://schemas.microsoft.com/office/drawing/2014/main" id="{61F7C564-616A-4FF4-BFF7-2F468C39EC65}"/>
              </a:ext>
            </a:extLst>
          </p:cNvPr>
          <p:cNvSpPr>
            <a:spLocks noGrp="1"/>
          </p:cNvSpPr>
          <p:nvPr/>
        </p:nvSpPr>
        <p:spPr>
          <a:xfrm>
            <a:off x="5486400" y="2809875"/>
            <a:ext cx="1857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10.51.0.0/16</a:t>
            </a:r>
          </a:p>
        </p:txBody>
      </p:sp>
      <p:sp>
        <p:nvSpPr>
          <p:cNvPr id="23" name="统一风格-VPC-C玻璃后沿-63">
            <a:extLst>
              <a:ext uri="{FF2B5EF4-FFF2-40B4-BE49-F238E27FC236}">
                <a16:creationId xmlns:a16="http://schemas.microsoft.com/office/drawing/2014/main" id="{37B71210-4EA6-4DB8-BE97-A710F09C021C}"/>
              </a:ext>
            </a:extLst>
          </p:cNvPr>
          <p:cNvSpPr>
            <a:spLocks noGrp="1"/>
          </p:cNvSpPr>
          <p:nvPr/>
        </p:nvSpPr>
        <p:spPr>
          <a:xfrm>
            <a:off x="87249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VPC-C-64">
            <a:extLst>
              <a:ext uri="{FF2B5EF4-FFF2-40B4-BE49-F238E27FC236}">
                <a16:creationId xmlns:a16="http://schemas.microsoft.com/office/drawing/2014/main" id="{ED943F7C-48EC-4136-936E-49226F68322F}"/>
              </a:ext>
            </a:extLst>
          </p:cNvPr>
          <p:cNvSpPr>
            <a:spLocks noGrp="1"/>
          </p:cNvSpPr>
          <p:nvPr/>
        </p:nvSpPr>
        <p:spPr>
          <a:xfrm>
            <a:off x="8724900" y="2247900"/>
            <a:ext cx="28575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VPC-C玻璃内沿-65">
            <a:extLst>
              <a:ext uri="{FF2B5EF4-FFF2-40B4-BE49-F238E27FC236}">
                <a16:creationId xmlns:a16="http://schemas.microsoft.com/office/drawing/2014/main" id="{BE2D7417-82D8-4A10-ABFA-05B047A930E3}"/>
              </a:ext>
            </a:extLst>
          </p:cNvPr>
          <p:cNvSpPr>
            <a:spLocks noGrp="1"/>
          </p:cNvSpPr>
          <p:nvPr/>
        </p:nvSpPr>
        <p:spPr>
          <a:xfrm>
            <a:off x="8737759" y="2260759"/>
            <a:ext cx="28317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VPC-C透光反射面-66">
            <a:extLst>
              <a:ext uri="{FF2B5EF4-FFF2-40B4-BE49-F238E27FC236}">
                <a16:creationId xmlns:a16="http://schemas.microsoft.com/office/drawing/2014/main" id="{6FAD0F4C-93C3-4A94-84CE-74E24B14F027}"/>
              </a:ext>
            </a:extLst>
          </p:cNvPr>
          <p:cNvSpPr>
            <a:spLocks noGrp="1"/>
          </p:cNvSpPr>
          <p:nvPr/>
        </p:nvSpPr>
        <p:spPr>
          <a:xfrm>
            <a:off x="8743950" y="2266950"/>
            <a:ext cx="2819400" cy="981075"/>
          </a:xfrm>
          <a:custGeom>
            <a:avLst/>
            <a:gdLst/>
            <a:ahLst/>
            <a:cxnLst/>
            <a:rect l="0" t="0" r="0" b="0"/>
            <a:pathLst>
              <a:path w="2819400" h="981075">
                <a:moveTo>
                  <a:pt x="76200" y="0"/>
                </a:moveTo>
                <a:lnTo>
                  <a:pt x="1804416" y="0"/>
                </a:lnTo>
                <a:lnTo>
                  <a:pt x="733044" y="981075"/>
                </a:lnTo>
                <a:lnTo>
                  <a:pt x="76200" y="981075"/>
                </a:lnTo>
                <a:cubicBezTo>
                  <a:pt x="28575" y="981075"/>
                  <a:pt x="0" y="952500"/>
                  <a:pt x="0" y="9048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VPC-C边缘高光-67">
            <a:extLst>
              <a:ext uri="{FF2B5EF4-FFF2-40B4-BE49-F238E27FC236}">
                <a16:creationId xmlns:a16="http://schemas.microsoft.com/office/drawing/2014/main" id="{C22BB5FD-B0E6-4643-BF8E-06536A95C67E}"/>
              </a:ext>
            </a:extLst>
          </p:cNvPr>
          <p:cNvSpPr>
            <a:spLocks noGrp="1"/>
          </p:cNvSpPr>
          <p:nvPr/>
        </p:nvSpPr>
        <p:spPr>
          <a:xfrm>
            <a:off x="8724900" y="2247900"/>
            <a:ext cx="2857500" cy="1019175"/>
          </a:xfrm>
          <a:custGeom>
            <a:avLst/>
            <a:gdLst/>
            <a:ahLst/>
            <a:cxnLst/>
            <a:rect l="0" t="0" r="0" b="0"/>
            <a:pathLst>
              <a:path w="2857500" h="10191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cloud VPC 云轮廓-68">
            <a:extLst>
              <a:ext uri="{FF2B5EF4-FFF2-40B4-BE49-F238E27FC236}">
                <a16:creationId xmlns:a16="http://schemas.microsoft.com/office/drawing/2014/main" id="{9F11B04D-EB11-45DC-AD6D-4D7EAF861473}"/>
              </a:ext>
            </a:extLst>
          </p:cNvPr>
          <p:cNvSpPr>
            <a:spLocks noGrp="1"/>
          </p:cNvSpPr>
          <p:nvPr/>
        </p:nvSpPr>
        <p:spPr>
          <a:xfrm>
            <a:off x="8896350" y="2505075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文字 VPC-C-69">
            <a:extLst>
              <a:ext uri="{FF2B5EF4-FFF2-40B4-BE49-F238E27FC236}">
                <a16:creationId xmlns:a16="http://schemas.microsoft.com/office/drawing/2014/main" id="{5258559E-85C2-4E70-BB22-8512F1457AD1}"/>
              </a:ext>
            </a:extLst>
          </p:cNvPr>
          <p:cNvSpPr>
            <a:spLocks noGrp="1"/>
          </p:cNvSpPr>
          <p:nvPr/>
        </p:nvSpPr>
        <p:spPr>
          <a:xfrm>
            <a:off x="9544050" y="2371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VPC-C</a:t>
            </a:r>
          </a:p>
        </p:txBody>
      </p:sp>
      <p:sp>
        <p:nvSpPr>
          <p:cNvPr id="30" name="统一风格-文字 10.53.0.0/16-70">
            <a:extLst>
              <a:ext uri="{FF2B5EF4-FFF2-40B4-BE49-F238E27FC236}">
                <a16:creationId xmlns:a16="http://schemas.microsoft.com/office/drawing/2014/main" id="{7B6FA1B0-C6C8-4D27-A7BD-A73D18602C82}"/>
              </a:ext>
            </a:extLst>
          </p:cNvPr>
          <p:cNvSpPr>
            <a:spLocks noGrp="1"/>
          </p:cNvSpPr>
          <p:nvPr/>
        </p:nvSpPr>
        <p:spPr>
          <a:xfrm>
            <a:off x="9544050" y="2809875"/>
            <a:ext cx="1857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10.53.0.0/16</a:t>
            </a:r>
          </a:p>
        </p:txBody>
      </p:sp>
      <p:cxnSp>
        <p:nvCxnSpPr>
          <p:cNvPr id="31" name="知识图示连接-6">
            <a:extLst>
              <a:ext uri="{FF2B5EF4-FFF2-40B4-BE49-F238E27FC236}">
                <a16:creationId xmlns:a16="http://schemas.microsoft.com/office/drawing/2014/main" id="{FCA5A7CE-77B9-483D-8486-19A083D7F902}"/>
              </a:ext>
            </a:extLst>
          </p:cNvPr>
          <p:cNvCxnSpPr/>
          <p:nvPr/>
        </p:nvCxnSpPr>
        <p:spPr>
          <a:xfrm>
            <a:off x="3467100" y="2771775"/>
            <a:ext cx="120015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32" name="知识图示连接-7">
            <a:extLst>
              <a:ext uri="{FF2B5EF4-FFF2-40B4-BE49-F238E27FC236}">
                <a16:creationId xmlns:a16="http://schemas.microsoft.com/office/drawing/2014/main" id="{C9DEA376-9734-41BF-986D-33B5B7855903}"/>
              </a:ext>
            </a:extLst>
          </p:cNvPr>
          <p:cNvCxnSpPr/>
          <p:nvPr/>
        </p:nvCxnSpPr>
        <p:spPr>
          <a:xfrm>
            <a:off x="7524750" y="2771775"/>
            <a:ext cx="120015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sp>
        <p:nvSpPr>
          <p:cNvPr id="33" name="统一风格-文字 Peering-AB-71">
            <a:extLst>
              <a:ext uri="{FF2B5EF4-FFF2-40B4-BE49-F238E27FC236}">
                <a16:creationId xmlns:a16="http://schemas.microsoft.com/office/drawing/2014/main" id="{89FA1751-E039-4455-B8C7-3BAF5E5BD7B0}"/>
              </a:ext>
            </a:extLst>
          </p:cNvPr>
          <p:cNvSpPr>
            <a:spLocks noGrp="1"/>
          </p:cNvSpPr>
          <p:nvPr/>
        </p:nvSpPr>
        <p:spPr>
          <a:xfrm>
            <a:off x="3448050" y="33337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Peering-AB</a:t>
            </a:r>
          </a:p>
        </p:txBody>
      </p:sp>
      <p:sp>
        <p:nvSpPr>
          <p:cNvPr id="34" name="统一风格-文字 Peering-AC-72">
            <a:extLst>
              <a:ext uri="{FF2B5EF4-FFF2-40B4-BE49-F238E27FC236}">
                <a16:creationId xmlns:a16="http://schemas.microsoft.com/office/drawing/2014/main" id="{92D4649F-05AC-4438-9A35-724093AC9AF3}"/>
              </a:ext>
            </a:extLst>
          </p:cNvPr>
          <p:cNvSpPr>
            <a:spLocks noGrp="1"/>
          </p:cNvSpPr>
          <p:nvPr/>
        </p:nvSpPr>
        <p:spPr>
          <a:xfrm>
            <a:off x="7505700" y="333375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Peering-AC</a:t>
            </a:r>
          </a:p>
        </p:txBody>
      </p:sp>
      <p:sp>
        <p:nvSpPr>
          <p:cNvPr id="35" name="统一风格-知识重点表玻璃后沿-73">
            <a:extLst>
              <a:ext uri="{FF2B5EF4-FFF2-40B4-BE49-F238E27FC236}">
                <a16:creationId xmlns:a16="http://schemas.microsoft.com/office/drawing/2014/main" id="{A8B3536E-3730-47D5-9D39-F97BE693741F}"/>
              </a:ext>
            </a:extLst>
          </p:cNvPr>
          <p:cNvSpPr>
            <a:spLocks noGrp="1"/>
          </p:cNvSpPr>
          <p:nvPr/>
        </p:nvSpPr>
        <p:spPr>
          <a:xfrm>
            <a:off x="542925" y="36766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知识重点表-74">
            <a:extLst>
              <a:ext uri="{FF2B5EF4-FFF2-40B4-BE49-F238E27FC236}">
                <a16:creationId xmlns:a16="http://schemas.microsoft.com/office/drawing/2014/main" id="{A2493D05-6C4C-4E95-8ACD-E8D564F37ED2}"/>
              </a:ext>
            </a:extLst>
          </p:cNvPr>
          <p:cNvSpPr>
            <a:spLocks noGrp="1"/>
          </p:cNvSpPr>
          <p:nvPr/>
        </p:nvSpPr>
        <p:spPr>
          <a:xfrm>
            <a:off x="542925" y="3676650"/>
            <a:ext cx="11106150" cy="21907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知识重点表玻璃内沿-75">
            <a:extLst>
              <a:ext uri="{FF2B5EF4-FFF2-40B4-BE49-F238E27FC236}">
                <a16:creationId xmlns:a16="http://schemas.microsoft.com/office/drawing/2014/main" id="{9F77B5AC-757F-4C0A-99A4-08903CDC41A0}"/>
              </a:ext>
            </a:extLst>
          </p:cNvPr>
          <p:cNvSpPr>
            <a:spLocks noGrp="1"/>
          </p:cNvSpPr>
          <p:nvPr/>
        </p:nvSpPr>
        <p:spPr>
          <a:xfrm>
            <a:off x="555784" y="3689509"/>
            <a:ext cx="11080433" cy="2165033"/>
          </a:xfrm>
          <a:prstGeom prst="roundRect">
            <a:avLst>
              <a:gd name="adj" fmla="val 33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知识重点表边缘高光-76">
            <a:extLst>
              <a:ext uri="{FF2B5EF4-FFF2-40B4-BE49-F238E27FC236}">
                <a16:creationId xmlns:a16="http://schemas.microsoft.com/office/drawing/2014/main" id="{F0212023-72C7-4EA4-B95B-3D9E0F942323}"/>
              </a:ext>
            </a:extLst>
          </p:cNvPr>
          <p:cNvSpPr>
            <a:spLocks noGrp="1"/>
          </p:cNvSpPr>
          <p:nvPr/>
        </p:nvSpPr>
        <p:spPr>
          <a:xfrm>
            <a:off x="542925" y="3676650"/>
            <a:ext cx="11106150" cy="2190750"/>
          </a:xfrm>
          <a:custGeom>
            <a:avLst/>
            <a:gdLst/>
            <a:ahLst/>
            <a:cxnLst/>
            <a:rect l="0" t="0" r="0" b="0"/>
            <a:pathLst>
              <a:path w="11106150" h="2190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238444B-2EB3-43B5-AAFF-EEAE2E253552}"/>
              </a:ext>
            </a:extLst>
          </p:cNvPr>
          <p:cNvGraphicFramePr/>
          <p:nvPr/>
        </p:nvGraphicFramePr>
        <p:xfrm>
          <a:off x="609600" y="3743325"/>
          <a:ext cx="10972800" cy="20574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下一跳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10.53.0.0/16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10.52.0.0/16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10.53.0.0/16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10.52.0.0/16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Peering-AC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82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25">
            <a:extLst>
              <a:ext uri="{FF2B5EF4-FFF2-40B4-BE49-F238E27FC236}">
                <a16:creationId xmlns:a16="http://schemas.microsoft.com/office/drawing/2014/main" id="{EF558C30-E2F5-4604-A71C-05C4F493E4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对等连接：约束限制与业务建议-326">
            <a:extLst>
              <a:ext uri="{FF2B5EF4-FFF2-40B4-BE49-F238E27FC236}">
                <a16:creationId xmlns:a16="http://schemas.microsoft.com/office/drawing/2014/main" id="{1ED6AF4A-B8CB-424E-9074-0C8D0CE6976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对等连接：约束限制与业务建议</a:t>
            </a:r>
          </a:p>
        </p:txBody>
      </p:sp>
      <p:sp>
        <p:nvSpPr>
          <p:cNvPr id="3" name="统一风格-文字 适合同 Region 的少量 VPC 互访，地址、路由与跨账号协作需提前确认-327">
            <a:extLst>
              <a:ext uri="{FF2B5EF4-FFF2-40B4-BE49-F238E27FC236}">
                <a16:creationId xmlns:a16="http://schemas.microsoft.com/office/drawing/2014/main" id="{B153F787-E7AB-456E-8B21-BB24E34DB38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适合</a:t>
            </a:r>
            <a:r>
              <a:rPr lang="en-US"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不同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</a:t>
            </a:r>
            <a:r>
              <a:rPr sz="1650" b="0" dirty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sz="1650" b="0" dirty="0" err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互访，地址、路由与跨账号协作需提前确认</a:t>
            </a:r>
            <a:endParaRPr sz="1650" b="0" dirty="0">
              <a:solidFill>
                <a:srgbClr val="647B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统一风格-页脚分隔线-328">
            <a:extLst>
              <a:ext uri="{FF2B5EF4-FFF2-40B4-BE49-F238E27FC236}">
                <a16:creationId xmlns:a16="http://schemas.microsoft.com/office/drawing/2014/main" id="{E36B6891-FDCC-4754-9B53-768B8C6F5A1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生产发布前保留双方路由、安全策略与连接状态，确保变更和回退可追溯。-329">
            <a:extLst>
              <a:ext uri="{FF2B5EF4-FFF2-40B4-BE49-F238E27FC236}">
                <a16:creationId xmlns:a16="http://schemas.microsoft.com/office/drawing/2014/main" id="{EC9B7035-105E-4C4C-90B3-87C92029682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生产发布前保留双方路由、安全策略与连接状态，确保变更和回退可追溯。</a:t>
            </a:r>
          </a:p>
        </p:txBody>
      </p:sp>
      <p:sp>
        <p:nvSpPr>
          <p:cNvPr id="6" name="统一风格-文字 24-330">
            <a:extLst>
              <a:ext uri="{FF2B5EF4-FFF2-40B4-BE49-F238E27FC236}">
                <a16:creationId xmlns:a16="http://schemas.microsoft.com/office/drawing/2014/main" id="{6876EE99-33B6-439B-83D0-37555F20A58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统一风格-可编辑配置表玻璃后沿-331">
            <a:extLst>
              <a:ext uri="{FF2B5EF4-FFF2-40B4-BE49-F238E27FC236}">
                <a16:creationId xmlns:a16="http://schemas.microsoft.com/office/drawing/2014/main" id="{76E3F4A6-B20A-4459-AD3B-DD5D8299E31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32">
            <a:extLst>
              <a:ext uri="{FF2B5EF4-FFF2-40B4-BE49-F238E27FC236}">
                <a16:creationId xmlns:a16="http://schemas.microsoft.com/office/drawing/2014/main" id="{B251AB0F-DE6A-4623-A50A-3F52F1A9E1A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33">
            <a:extLst>
              <a:ext uri="{FF2B5EF4-FFF2-40B4-BE49-F238E27FC236}">
                <a16:creationId xmlns:a16="http://schemas.microsoft.com/office/drawing/2014/main" id="{8405053E-A81B-465A-9230-F5F7BB5ED17D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34">
            <a:extLst>
              <a:ext uri="{FF2B5EF4-FFF2-40B4-BE49-F238E27FC236}">
                <a16:creationId xmlns:a16="http://schemas.microsoft.com/office/drawing/2014/main" id="{7D37A055-7026-4891-A377-175367F6BA60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1C5B27-F405-4644-968C-D04CB45E8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776802"/>
              </p:ext>
            </p:extLst>
          </p:nvPr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仅同 Region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 VPC 间只能建立一条对等连接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 VPC 可采用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连接增多时评估 ER 集中管理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地址规划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互通子网不能重叠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CCE 还需检查容器网段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统一维护地址台账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重叠场景评估 NAT 或服务级接入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路由与权限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连接已创建，不代表业务已放通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仍需两端有效路由与实例授权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按批准的子网配置双向路由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核对实际关联路由表与源目的安全组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</a:t>
                      </a:r>
                      <a:r>
                        <a:rPr lang="en-US"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传递组网需显式配置相关路由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逐段核对去程与回程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跨账号协作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需对端账号接受连接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删除连接或修改路由影响通信双方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仅接受可信账号申请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登记双方负责人、变更窗口与回退前态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78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35">
            <a:extLst>
              <a:ext uri="{FF2B5EF4-FFF2-40B4-BE49-F238E27FC236}">
                <a16:creationId xmlns:a16="http://schemas.microsoft.com/office/drawing/2014/main" id="{6619378E-BFAA-4747-9D3F-0999E617EAA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ER：约束限制与集中组网建议-336">
            <a:extLst>
              <a:ext uri="{FF2B5EF4-FFF2-40B4-BE49-F238E27FC236}">
                <a16:creationId xmlns:a16="http://schemas.microsoft.com/office/drawing/2014/main" id="{94B8347E-0BA1-4C1B-8674-B19DFECFE27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ER：约束限制与集中组网建议</a:t>
            </a:r>
          </a:p>
        </p:txBody>
      </p:sp>
      <p:sp>
        <p:nvSpPr>
          <p:cNvPr id="3" name="统一风格-文字 路由关联、路由传播和业务兼容性共同决定互通与隔离效果-337">
            <a:extLst>
              <a:ext uri="{FF2B5EF4-FFF2-40B4-BE49-F238E27FC236}">
                <a16:creationId xmlns:a16="http://schemas.microsoft.com/office/drawing/2014/main" id="{06F6D637-92A1-4990-8EED-04EE48E6BC1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路由关联、路由传播和业务兼容性共同决定互通与隔离效果</a:t>
            </a:r>
          </a:p>
        </p:txBody>
      </p:sp>
      <p:sp>
        <p:nvSpPr>
          <p:cNvPr id="4" name="统一风格-页脚分隔线-338">
            <a:extLst>
              <a:ext uri="{FF2B5EF4-FFF2-40B4-BE49-F238E27FC236}">
                <a16:creationId xmlns:a16="http://schemas.microsoft.com/office/drawing/2014/main" id="{E3F93D79-6934-40B5-A59D-DC6415B2A90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普通互通与集中 CFW 检查使用不同的路由设计，不能直接复用默认关联、传播设置。-339">
            <a:extLst>
              <a:ext uri="{FF2B5EF4-FFF2-40B4-BE49-F238E27FC236}">
                <a16:creationId xmlns:a16="http://schemas.microsoft.com/office/drawing/2014/main" id="{BA985C71-DBCD-4832-ADC0-161F6A53F7D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普通互通与集中 CFW 检查使用不同的路由设计，不能直接复用默认关联、传播设置。</a:t>
            </a:r>
          </a:p>
        </p:txBody>
      </p:sp>
      <p:sp>
        <p:nvSpPr>
          <p:cNvPr id="6" name="统一风格-文字 25-340">
            <a:extLst>
              <a:ext uri="{FF2B5EF4-FFF2-40B4-BE49-F238E27FC236}">
                <a16:creationId xmlns:a16="http://schemas.microsoft.com/office/drawing/2014/main" id="{415056CF-5E1E-48C8-BFF8-2E8ACA17BC0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统一风格-可编辑配置表玻璃后沿-341">
            <a:extLst>
              <a:ext uri="{FF2B5EF4-FFF2-40B4-BE49-F238E27FC236}">
                <a16:creationId xmlns:a16="http://schemas.microsoft.com/office/drawing/2014/main" id="{963CEF23-971B-4D2F-A707-C4EBEBD2764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42">
            <a:extLst>
              <a:ext uri="{FF2B5EF4-FFF2-40B4-BE49-F238E27FC236}">
                <a16:creationId xmlns:a16="http://schemas.microsoft.com/office/drawing/2014/main" id="{45C34092-1195-44A6-AFB6-BF20E8616E1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43">
            <a:extLst>
              <a:ext uri="{FF2B5EF4-FFF2-40B4-BE49-F238E27FC236}">
                <a16:creationId xmlns:a16="http://schemas.microsoft.com/office/drawing/2014/main" id="{A0CAF7DA-CCF3-4ADD-9958-9A1BFBB1B69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44">
            <a:extLst>
              <a:ext uri="{FF2B5EF4-FFF2-40B4-BE49-F238E27FC236}">
                <a16:creationId xmlns:a16="http://schemas.microsoft.com/office/drawing/2014/main" id="{CF0D4141-10C9-4E10-91DF-2FF7DB465AE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153E72-9033-4603-A9EC-3476B485F595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关联与传播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一个连接仅关联一张 ER 路由表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可向多张路由表传播路由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按业务域划分路由表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只传播需要互通的业务路由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地址与选路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重叠前缀可能引起冲突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更具体路由或同前缀优先级会改变路径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接入前核对 VPC、子网与容器地址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检查有效路由，避免只看路由条目存在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EIP、ELB、NAT、VPCEP 等场景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0.0.0.0/0 指 ER 可能无法按预期转发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使用明确的业务目的前缀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按服务兼容性评估中转 VPC 组网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集中安全检查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默认传播可能跨越隔离域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或让业务绕开预期 CFW 检查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CFW 方案配置关联与传播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去程、回程与备用路径一起核验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业务连续性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直接接入需检查服务兼容性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切换、扩缩容等可能影响部分长连接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客户端配置超时与重连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上线前检查连接、路由配额及切换行为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751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统一风格-文字 02  网络互联方案-120">
            <a:extLst>
              <a:ext uri="{FF2B5EF4-FFF2-40B4-BE49-F238E27FC236}">
                <a16:creationId xmlns:a16="http://schemas.microsoft.com/office/drawing/2014/main" id="{06DD2AFF-5095-4ED4-9523-20E9F464459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私网 NAT：同 Region 跨 VPC 的地址映射-121">
            <a:extLst>
              <a:ext uri="{FF2B5EF4-FFF2-40B4-BE49-F238E27FC236}">
                <a16:creationId xmlns:a16="http://schemas.microsoft.com/office/drawing/2014/main" id="{B2221F11-3A80-4CFD-9AD3-C6C3E4EAD94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NAT：同 Region 跨 VPC 的地址映射</a:t>
            </a:r>
          </a:p>
        </p:txBody>
      </p:sp>
      <p:sp>
        <p:nvSpPr>
          <p:cNvPr id="3" name="统一风格-文字 通过中转 IP 建立私网访问入口，按需求选择 DNAT 或 SNAT-122">
            <a:extLst>
              <a:ext uri="{FF2B5EF4-FFF2-40B4-BE49-F238E27FC236}">
                <a16:creationId xmlns:a16="http://schemas.microsoft.com/office/drawing/2014/main" id="{DB64CBC7-98A1-4489-898C-90CF398F5BC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通过中转 IP 建立私网访问入口，按需求选择 DNAT 或 SNAT</a:t>
            </a:r>
          </a:p>
        </p:txBody>
      </p:sp>
      <p:sp>
        <p:nvSpPr>
          <p:cNvPr id="4" name="统一风格-页脚分隔线-123">
            <a:extLst>
              <a:ext uri="{FF2B5EF4-FFF2-40B4-BE49-F238E27FC236}">
                <a16:creationId xmlns:a16="http://schemas.microsoft.com/office/drawing/2014/main" id="{9BE902A3-9C2A-4B13-96B5-67DA6261B23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中转 IP 是私网地址，不使用 EIP。重叠网段需单独规划两侧 NAT 与中转网络，不能套用普通互通配置。-124">
            <a:extLst>
              <a:ext uri="{FF2B5EF4-FFF2-40B4-BE49-F238E27FC236}">
                <a16:creationId xmlns:a16="http://schemas.microsoft.com/office/drawing/2014/main" id="{C4BCC742-7CB4-4BFE-A314-9DF9B9319BF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中转 IP 是私网地址，不使用 EIP。重叠网段需单独规划两侧 NAT 与中转网络，不能套用普通互通配置。</a:t>
            </a:r>
          </a:p>
        </p:txBody>
      </p:sp>
      <p:sp>
        <p:nvSpPr>
          <p:cNvPr id="6" name="统一风格-文字 24-125">
            <a:extLst>
              <a:ext uri="{FF2B5EF4-FFF2-40B4-BE49-F238E27FC236}">
                <a16:creationId xmlns:a16="http://schemas.microsoft.com/office/drawing/2014/main" id="{5B66BDF6-823F-4926-AFF6-0041DD10BB6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统一风格-DNAT：映射服务入口玻璃后沿-126">
            <a:extLst>
              <a:ext uri="{FF2B5EF4-FFF2-40B4-BE49-F238E27FC236}">
                <a16:creationId xmlns:a16="http://schemas.microsoft.com/office/drawing/2014/main" id="{26625854-1BA7-4BCD-AD9E-6D6D81D6EF06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DNAT：映射服务入口-127">
            <a:extLst>
              <a:ext uri="{FF2B5EF4-FFF2-40B4-BE49-F238E27FC236}">
                <a16:creationId xmlns:a16="http://schemas.microsoft.com/office/drawing/2014/main" id="{8C7C1A33-8A68-485A-BC5B-0F3F40028A93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DNAT：映射服务入口玻璃内沿-128">
            <a:extLst>
              <a:ext uri="{FF2B5EF4-FFF2-40B4-BE49-F238E27FC236}">
                <a16:creationId xmlns:a16="http://schemas.microsoft.com/office/drawing/2014/main" id="{F261054A-8FF4-4D89-823F-5621C43A1F31}"/>
              </a:ext>
            </a:extLst>
          </p:cNvPr>
          <p:cNvSpPr>
            <a:spLocks noGrp="1"/>
          </p:cNvSpPr>
          <p:nvPr/>
        </p:nvSpPr>
        <p:spPr>
          <a:xfrm>
            <a:off x="622459" y="2117884"/>
            <a:ext cx="5232083" cy="1079183"/>
          </a:xfrm>
          <a:prstGeom prst="roundRect">
            <a:avLst>
              <a:gd name="adj" fmla="val 67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DNAT：映射服务入口边缘高光-129">
            <a:extLst>
              <a:ext uri="{FF2B5EF4-FFF2-40B4-BE49-F238E27FC236}">
                <a16:creationId xmlns:a16="http://schemas.microsoft.com/office/drawing/2014/main" id="{FCEB9EFB-906E-4464-B234-0BCE56BF4AB7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1104900"/>
          </a:xfrm>
          <a:custGeom>
            <a:avLst/>
            <a:gdLst/>
            <a:ahLst/>
            <a:cxnLst/>
            <a:rect l="0" t="0" r="0" b="0"/>
            <a:pathLst>
              <a:path w="5257800" h="11049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DNAT：映射服务入口-130">
            <a:extLst>
              <a:ext uri="{FF2B5EF4-FFF2-40B4-BE49-F238E27FC236}">
                <a16:creationId xmlns:a16="http://schemas.microsoft.com/office/drawing/2014/main" id="{50044BBF-323E-494B-BF5D-02F3CE4732EE}"/>
              </a:ext>
            </a:extLst>
          </p:cNvPr>
          <p:cNvSpPr>
            <a:spLocks noGrp="1"/>
          </p:cNvSpPr>
          <p:nvPr/>
        </p:nvSpPr>
        <p:spPr>
          <a:xfrm>
            <a:off x="809625" y="22288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DNAT：映射服务入口</a:t>
            </a:r>
          </a:p>
        </p:txBody>
      </p:sp>
      <p:sp>
        <p:nvSpPr>
          <p:cNvPr id="12" name="统一风格-文字 跨 VPC 访问指定 ELB 服务 消费端访问本 VPC 的中转 IP-131">
            <a:extLst>
              <a:ext uri="{FF2B5EF4-FFF2-40B4-BE49-F238E27FC236}">
                <a16:creationId xmlns:a16="http://schemas.microsoft.com/office/drawing/2014/main" id="{C1F25BDE-5BF5-4E7E-9812-D071E27C9054}"/>
              </a:ext>
            </a:extLst>
          </p:cNvPr>
          <p:cNvSpPr>
            <a:spLocks noGrp="1"/>
          </p:cNvSpPr>
          <p:nvPr/>
        </p:nvSpPr>
        <p:spPr>
          <a:xfrm>
            <a:off x="809625" y="2590800"/>
            <a:ext cx="4857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访问指定 ELB 服务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消费端访问本 VPC 的中转 IP</a:t>
            </a:r>
          </a:p>
        </p:txBody>
      </p:sp>
      <p:sp>
        <p:nvSpPr>
          <p:cNvPr id="13" name="统一风格-SNAT：统一访问源 IP玻璃后沿-132">
            <a:extLst>
              <a:ext uri="{FF2B5EF4-FFF2-40B4-BE49-F238E27FC236}">
                <a16:creationId xmlns:a16="http://schemas.microsoft.com/office/drawing/2014/main" id="{8E17D4F4-7532-439C-9ADA-F3ADE63FAEF2}"/>
              </a:ext>
            </a:extLst>
          </p:cNvPr>
          <p:cNvSpPr>
            <a:spLocks noGrp="1"/>
          </p:cNvSpPr>
          <p:nvPr/>
        </p:nvSpPr>
        <p:spPr>
          <a:xfrm>
            <a:off x="6324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NAT：统一访问源 IP-133">
            <a:extLst>
              <a:ext uri="{FF2B5EF4-FFF2-40B4-BE49-F238E27FC236}">
                <a16:creationId xmlns:a16="http://schemas.microsoft.com/office/drawing/2014/main" id="{A50E098A-B2B3-47D6-A27F-12A7185D2FA2}"/>
              </a:ext>
            </a:extLst>
          </p:cNvPr>
          <p:cNvSpPr>
            <a:spLocks noGrp="1"/>
          </p:cNvSpPr>
          <p:nvPr/>
        </p:nvSpPr>
        <p:spPr>
          <a:xfrm>
            <a:off x="6324600" y="2105025"/>
            <a:ext cx="5257800" cy="1104900"/>
          </a:xfrm>
          <a:prstGeom prst="roundRect">
            <a:avLst>
              <a:gd name="adj" fmla="val 77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NAT：统一访问源 IP玻璃内沿-134">
            <a:extLst>
              <a:ext uri="{FF2B5EF4-FFF2-40B4-BE49-F238E27FC236}">
                <a16:creationId xmlns:a16="http://schemas.microsoft.com/office/drawing/2014/main" id="{C8399C42-71AE-40A8-8F38-F317B412A86C}"/>
              </a:ext>
            </a:extLst>
          </p:cNvPr>
          <p:cNvSpPr>
            <a:spLocks noGrp="1"/>
          </p:cNvSpPr>
          <p:nvPr/>
        </p:nvSpPr>
        <p:spPr>
          <a:xfrm>
            <a:off x="6337459" y="2117884"/>
            <a:ext cx="5232083" cy="1079183"/>
          </a:xfrm>
          <a:prstGeom prst="roundRect">
            <a:avLst>
              <a:gd name="adj" fmla="val 67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NAT：统一访问源 IP边缘高光-135">
            <a:extLst>
              <a:ext uri="{FF2B5EF4-FFF2-40B4-BE49-F238E27FC236}">
                <a16:creationId xmlns:a16="http://schemas.microsoft.com/office/drawing/2014/main" id="{204DE8B0-316C-4821-9957-F1C2307039E9}"/>
              </a:ext>
            </a:extLst>
          </p:cNvPr>
          <p:cNvSpPr>
            <a:spLocks noGrp="1"/>
          </p:cNvSpPr>
          <p:nvPr/>
        </p:nvSpPr>
        <p:spPr>
          <a:xfrm>
            <a:off x="6324600" y="2105025"/>
            <a:ext cx="5257800" cy="1104900"/>
          </a:xfrm>
          <a:custGeom>
            <a:avLst/>
            <a:gdLst/>
            <a:ahLst/>
            <a:cxnLst/>
            <a:rect l="0" t="0" r="0" b="0"/>
            <a:pathLst>
              <a:path w="5257800" h="11049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SNAT：统一访问源 IP-136">
            <a:extLst>
              <a:ext uri="{FF2B5EF4-FFF2-40B4-BE49-F238E27FC236}">
                <a16:creationId xmlns:a16="http://schemas.microsoft.com/office/drawing/2014/main" id="{D2DE279F-4469-432F-8A1C-A5F890D329FC}"/>
              </a:ext>
            </a:extLst>
          </p:cNvPr>
          <p:cNvSpPr>
            <a:spLocks noGrp="1"/>
          </p:cNvSpPr>
          <p:nvPr/>
        </p:nvSpPr>
        <p:spPr>
          <a:xfrm>
            <a:off x="6524625" y="222885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SNAT：统一访问源 IP</a:t>
            </a:r>
          </a:p>
        </p:txBody>
      </p:sp>
      <p:sp>
        <p:nvSpPr>
          <p:cNvPr id="18" name="统一风格-文字 多个业务实例共享指定私网源地址 远端按中转 IP 授权与审计-137">
            <a:extLst>
              <a:ext uri="{FF2B5EF4-FFF2-40B4-BE49-F238E27FC236}">
                <a16:creationId xmlns:a16="http://schemas.microsoft.com/office/drawing/2014/main" id="{6A1D9B78-07A8-4D1A-8D57-7BD677FB289E}"/>
              </a:ext>
            </a:extLst>
          </p:cNvPr>
          <p:cNvSpPr>
            <a:spLocks noGrp="1"/>
          </p:cNvSpPr>
          <p:nvPr/>
        </p:nvSpPr>
        <p:spPr>
          <a:xfrm>
            <a:off x="6524625" y="2590800"/>
            <a:ext cx="4857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多个业务实例共享指定私网源地址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远端按中转 IP 授权与审计</a:t>
            </a:r>
          </a:p>
        </p:txBody>
      </p:sp>
      <p:sp>
        <p:nvSpPr>
          <p:cNvPr id="19" name="统一风格-可编辑配置表玻璃后沿-138">
            <a:extLst>
              <a:ext uri="{FF2B5EF4-FFF2-40B4-BE49-F238E27FC236}">
                <a16:creationId xmlns:a16="http://schemas.microsoft.com/office/drawing/2014/main" id="{5A2BBE1C-2C57-4367-A452-C35AEFC91EE4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1110615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可编辑配置表-139">
            <a:extLst>
              <a:ext uri="{FF2B5EF4-FFF2-40B4-BE49-F238E27FC236}">
                <a16:creationId xmlns:a16="http://schemas.microsoft.com/office/drawing/2014/main" id="{664CEC6D-1BCD-411B-B360-C77049457347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1110615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可编辑配置表玻璃内沿-140">
            <a:extLst>
              <a:ext uri="{FF2B5EF4-FFF2-40B4-BE49-F238E27FC236}">
                <a16:creationId xmlns:a16="http://schemas.microsoft.com/office/drawing/2014/main" id="{95AF59DA-6391-4B2E-93C2-4AE26A2001AE}"/>
              </a:ext>
            </a:extLst>
          </p:cNvPr>
          <p:cNvSpPr>
            <a:spLocks noGrp="1"/>
          </p:cNvSpPr>
          <p:nvPr/>
        </p:nvSpPr>
        <p:spPr>
          <a:xfrm>
            <a:off x="555784" y="3441859"/>
            <a:ext cx="11080433" cy="2384108"/>
          </a:xfrm>
          <a:prstGeom prst="roundRect">
            <a:avLst>
              <a:gd name="adj" fmla="val 30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可编辑配置表边缘高光-141">
            <a:extLst>
              <a:ext uri="{FF2B5EF4-FFF2-40B4-BE49-F238E27FC236}">
                <a16:creationId xmlns:a16="http://schemas.microsoft.com/office/drawing/2014/main" id="{169B9F0F-73F8-4293-BE9A-E9FD5274000F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11106150" cy="2409825"/>
          </a:xfrm>
          <a:custGeom>
            <a:avLst/>
            <a:gdLst/>
            <a:ahLst/>
            <a:cxnLst/>
            <a:rect l="0" t="0" r="0" b="0"/>
            <a:pathLst>
              <a:path w="11106150" h="24098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80AACC0-91B5-40D6-B411-B117A0C1E124}"/>
              </a:ext>
            </a:extLst>
          </p:cNvPr>
          <p:cNvGraphicFramePr/>
          <p:nvPr/>
        </p:nvGraphicFramePr>
        <p:xfrm>
          <a:off x="609600" y="3495675"/>
          <a:ext cx="10972800" cy="227647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方案要素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访问跨 VPC ELB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访问远端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网关与中转 IP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网关在提供方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VPC</a:t>
                      </a:r>
                    </a:p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IP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在消费方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网关在业务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IP 在中转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网络与路由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ELB 案例无需另配路由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不展开两个 VPC 的整网互通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VPC 通过对等连接接入远端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业务去程与远端回程配套配置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映射协议、端口与 ELB 后端健康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命中、中转源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IP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与双向路径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954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统一风格-文字 02  网络互联方案-142">
            <a:extLst>
              <a:ext uri="{FF2B5EF4-FFF2-40B4-BE49-F238E27FC236}">
                <a16:creationId xmlns:a16="http://schemas.microsoft.com/office/drawing/2014/main" id="{DC29BB7B-4046-4133-A696-B39C2F72140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DNAT 案例：跨 VPC 访问私网 ELB-143">
            <a:extLst>
              <a:ext uri="{FF2B5EF4-FFF2-40B4-BE49-F238E27FC236}">
                <a16:creationId xmlns:a16="http://schemas.microsoft.com/office/drawing/2014/main" id="{B7EB0F3E-B9D3-4E84-B032-4EDE533BCA8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案例：跨 VPC 访问私网 ELB</a:t>
            </a:r>
          </a:p>
        </p:txBody>
      </p:sp>
      <p:sp>
        <p:nvSpPr>
          <p:cNvPr id="3" name="统一风格-文字 同一 Region 内，以消费方中转 IP 映射提供方 ELB 的 TCP 80 服务-144">
            <a:extLst>
              <a:ext uri="{FF2B5EF4-FFF2-40B4-BE49-F238E27FC236}">
                <a16:creationId xmlns:a16="http://schemas.microsoft.com/office/drawing/2014/main" id="{0E506E7F-AF5E-4F0B-9859-E76F973E4EC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 Region 内，以消费方中转 IP 映射提供方 ELB 的 TCP 80 服务</a:t>
            </a:r>
          </a:p>
        </p:txBody>
      </p:sp>
      <p:sp>
        <p:nvSpPr>
          <p:cNvPr id="4" name="统一风格-页脚分隔线-145">
            <a:extLst>
              <a:ext uri="{FF2B5EF4-FFF2-40B4-BE49-F238E27FC236}">
                <a16:creationId xmlns:a16="http://schemas.microsoft.com/office/drawing/2014/main" id="{D7704772-B8FC-4637-9875-22E2C9E78D2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依据华为云跨 VPC ELB 最佳实践重绘。该 ELB 案例无需另配路由，不代表任意目标或所有 NAT 场景均如此。-146">
            <a:extLst>
              <a:ext uri="{FF2B5EF4-FFF2-40B4-BE49-F238E27FC236}">
                <a16:creationId xmlns:a16="http://schemas.microsoft.com/office/drawing/2014/main" id="{A63BFA03-AD51-4E1E-8EB3-D6F1B1910A3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依据华为云跨 VPC ELB 最佳实践重绘。该 ELB 案例无需另配路由，不代表任意目标或所有 NAT 场景均如此。</a:t>
            </a:r>
          </a:p>
        </p:txBody>
      </p:sp>
      <p:sp>
        <p:nvSpPr>
          <p:cNvPr id="6" name="统一风格-文字 25-147">
            <a:extLst>
              <a:ext uri="{FF2B5EF4-FFF2-40B4-BE49-F238E27FC236}">
                <a16:creationId xmlns:a16="http://schemas.microsoft.com/office/drawing/2014/main" id="{4A0275E3-3720-440D-9F3B-5BC8688C731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统一风格-同 Region 消费 VPC玻璃后沿-148">
            <a:extLst>
              <a:ext uri="{FF2B5EF4-FFF2-40B4-BE49-F238E27FC236}">
                <a16:creationId xmlns:a16="http://schemas.microsoft.com/office/drawing/2014/main" id="{FE9E85FB-051B-4287-877D-4169CD500117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9624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同 Region 消费 VPC-149">
            <a:extLst>
              <a:ext uri="{FF2B5EF4-FFF2-40B4-BE49-F238E27FC236}">
                <a16:creationId xmlns:a16="http://schemas.microsoft.com/office/drawing/2014/main" id="{AB7A5582-8BE9-4314-BF2D-AC3F86D59E4A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9624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同 Region 消费 VPC玻璃内沿-150">
            <a:extLst>
              <a:ext uri="{FF2B5EF4-FFF2-40B4-BE49-F238E27FC236}">
                <a16:creationId xmlns:a16="http://schemas.microsoft.com/office/drawing/2014/main" id="{67786A11-5A22-40C6-A15B-5B83DB393F30}"/>
              </a:ext>
            </a:extLst>
          </p:cNvPr>
          <p:cNvSpPr>
            <a:spLocks noGrp="1"/>
          </p:cNvSpPr>
          <p:nvPr/>
        </p:nvSpPr>
        <p:spPr>
          <a:xfrm>
            <a:off x="622459" y="2117884"/>
            <a:ext cx="3936683" cy="2384108"/>
          </a:xfrm>
          <a:prstGeom prst="roundRect">
            <a:avLst>
              <a:gd name="adj" fmla="val 30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同 Region 消费 VPC边缘高光-151">
            <a:extLst>
              <a:ext uri="{FF2B5EF4-FFF2-40B4-BE49-F238E27FC236}">
                <a16:creationId xmlns:a16="http://schemas.microsoft.com/office/drawing/2014/main" id="{95B74772-31D5-43EB-8A4D-F8C362022AE6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962400" cy="2409825"/>
          </a:xfrm>
          <a:custGeom>
            <a:avLst/>
            <a:gdLst/>
            <a:ahLst/>
            <a:cxnLst/>
            <a:rect l="0" t="0" r="0" b="0"/>
            <a:pathLst>
              <a:path w="3962400" h="2409825">
                <a:moveTo>
                  <a:pt x="95250" y="9525"/>
                </a:moveTo>
                <a:lnTo>
                  <a:pt x="3867150" y="9525"/>
                </a:lnTo>
                <a:cubicBezTo>
                  <a:pt x="3914775" y="9525"/>
                  <a:pt x="3952875" y="47625"/>
                  <a:pt x="39528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152">
            <a:extLst>
              <a:ext uri="{FF2B5EF4-FFF2-40B4-BE49-F238E27FC236}">
                <a16:creationId xmlns:a16="http://schemas.microsoft.com/office/drawing/2014/main" id="{52ED7579-8A59-41C4-99ED-89E8B1EB2AF0}"/>
              </a:ext>
            </a:extLst>
          </p:cNvPr>
          <p:cNvSpPr>
            <a:spLocks noGrp="1"/>
          </p:cNvSpPr>
          <p:nvPr/>
        </p:nvSpPr>
        <p:spPr>
          <a:xfrm>
            <a:off x="790575" y="22193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VPC-A  消费方-153">
            <a:extLst>
              <a:ext uri="{FF2B5EF4-FFF2-40B4-BE49-F238E27FC236}">
                <a16:creationId xmlns:a16="http://schemas.microsoft.com/office/drawing/2014/main" id="{59CAF6E3-88B8-403D-A625-71870E129882}"/>
              </a:ext>
            </a:extLst>
          </p:cNvPr>
          <p:cNvSpPr>
            <a:spLocks noGrp="1"/>
          </p:cNvSpPr>
          <p:nvPr/>
        </p:nvSpPr>
        <p:spPr>
          <a:xfrm>
            <a:off x="1343025" y="2247900"/>
            <a:ext cx="30099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  消费方</a:t>
            </a:r>
          </a:p>
        </p:txBody>
      </p:sp>
      <p:sp>
        <p:nvSpPr>
          <p:cNvPr id="13" name="统一风格-应用 ECS-A玻璃后沿-154">
            <a:extLst>
              <a:ext uri="{FF2B5EF4-FFF2-40B4-BE49-F238E27FC236}">
                <a16:creationId xmlns:a16="http://schemas.microsoft.com/office/drawing/2014/main" id="{C23CAB60-8A81-4C32-A181-EFC67E3A1A25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3543300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应用 ECS-A-155">
            <a:extLst>
              <a:ext uri="{FF2B5EF4-FFF2-40B4-BE49-F238E27FC236}">
                <a16:creationId xmlns:a16="http://schemas.microsoft.com/office/drawing/2014/main" id="{863DA5E6-D075-4D97-BE46-ED615E07AB3F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3543300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应用 ECS-A玻璃内沿-156">
            <a:extLst>
              <a:ext uri="{FF2B5EF4-FFF2-40B4-BE49-F238E27FC236}">
                <a16:creationId xmlns:a16="http://schemas.microsoft.com/office/drawing/2014/main" id="{13300E9E-5494-47A3-BE72-DF17E8345DEC}"/>
              </a:ext>
            </a:extLst>
          </p:cNvPr>
          <p:cNvSpPr>
            <a:spLocks noGrp="1"/>
          </p:cNvSpPr>
          <p:nvPr/>
        </p:nvSpPr>
        <p:spPr>
          <a:xfrm>
            <a:off x="832009" y="2813209"/>
            <a:ext cx="3517583" cy="679133"/>
          </a:xfrm>
          <a:prstGeom prst="roundRect">
            <a:avLst>
              <a:gd name="adj" fmla="val 1079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应用 ECS-A边缘高光-157">
            <a:extLst>
              <a:ext uri="{FF2B5EF4-FFF2-40B4-BE49-F238E27FC236}">
                <a16:creationId xmlns:a16="http://schemas.microsoft.com/office/drawing/2014/main" id="{F7016166-B993-4C2C-9CF7-F84FEE7970E2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3543300" cy="704850"/>
          </a:xfrm>
          <a:custGeom>
            <a:avLst/>
            <a:gdLst/>
            <a:ahLst/>
            <a:cxnLst/>
            <a:rect l="0" t="0" r="0" b="0"/>
            <a:pathLst>
              <a:path w="3543300" h="704850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服务器机架-158">
            <a:extLst>
              <a:ext uri="{FF2B5EF4-FFF2-40B4-BE49-F238E27FC236}">
                <a16:creationId xmlns:a16="http://schemas.microsoft.com/office/drawing/2014/main" id="{40BF767B-94EB-4380-9255-B9312AC0B9AB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机架状态-159">
            <a:extLst>
              <a:ext uri="{FF2B5EF4-FFF2-40B4-BE49-F238E27FC236}">
                <a16:creationId xmlns:a16="http://schemas.microsoft.com/office/drawing/2014/main" id="{C2C66F6E-3E05-4E83-887E-49DA5AB56699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指示灯-160">
            <a:extLst>
              <a:ext uri="{FF2B5EF4-FFF2-40B4-BE49-F238E27FC236}">
                <a16:creationId xmlns:a16="http://schemas.microsoft.com/office/drawing/2014/main" id="{962085B8-2ECC-4E04-9FD5-6ED903F686A3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服务器机架-161">
            <a:extLst>
              <a:ext uri="{FF2B5EF4-FFF2-40B4-BE49-F238E27FC236}">
                <a16:creationId xmlns:a16="http://schemas.microsoft.com/office/drawing/2014/main" id="{8CE87D6E-0980-4EB0-B257-24C21EEFAF4F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机架状态-162">
            <a:extLst>
              <a:ext uri="{FF2B5EF4-FFF2-40B4-BE49-F238E27FC236}">
                <a16:creationId xmlns:a16="http://schemas.microsoft.com/office/drawing/2014/main" id="{C41AB509-34F5-485B-A8A6-D118ADFF9E17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指示灯-163">
            <a:extLst>
              <a:ext uri="{FF2B5EF4-FFF2-40B4-BE49-F238E27FC236}">
                <a16:creationId xmlns:a16="http://schemas.microsoft.com/office/drawing/2014/main" id="{4DB5499E-4D7C-44E0-ADAC-989948BAE5D9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服务器机架-164">
            <a:extLst>
              <a:ext uri="{FF2B5EF4-FFF2-40B4-BE49-F238E27FC236}">
                <a16:creationId xmlns:a16="http://schemas.microsoft.com/office/drawing/2014/main" id="{8B4B8A3F-817C-4DF2-992E-85185A66CCEF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机架状态-165">
            <a:extLst>
              <a:ext uri="{FF2B5EF4-FFF2-40B4-BE49-F238E27FC236}">
                <a16:creationId xmlns:a16="http://schemas.microsoft.com/office/drawing/2014/main" id="{D4A36991-77CB-4B27-85C6-DD663CE12740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指示灯-166">
            <a:extLst>
              <a:ext uri="{FF2B5EF4-FFF2-40B4-BE49-F238E27FC236}">
                <a16:creationId xmlns:a16="http://schemas.microsoft.com/office/drawing/2014/main" id="{EB111E40-1D80-4CAC-A42F-1BA343F25AA4}"/>
              </a:ext>
            </a:extLst>
          </p:cNvPr>
          <p:cNvSpPr>
            <a:spLocks noGrp="1"/>
          </p:cNvSpPr>
          <p:nvPr/>
        </p:nvSpPr>
        <p:spPr>
          <a:xfrm>
            <a:off x="9620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应用 ECS-A-167">
            <a:extLst>
              <a:ext uri="{FF2B5EF4-FFF2-40B4-BE49-F238E27FC236}">
                <a16:creationId xmlns:a16="http://schemas.microsoft.com/office/drawing/2014/main" id="{6F1DD850-0991-4952-A263-3DF987F132D0}"/>
              </a:ext>
            </a:extLst>
          </p:cNvPr>
          <p:cNvSpPr>
            <a:spLocks noGrp="1"/>
          </p:cNvSpPr>
          <p:nvPr/>
        </p:nvSpPr>
        <p:spPr>
          <a:xfrm>
            <a:off x="1533525" y="2857500"/>
            <a:ext cx="2676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ECS-A</a:t>
            </a:r>
          </a:p>
        </p:txBody>
      </p:sp>
      <p:sp>
        <p:nvSpPr>
          <p:cNvPr id="27" name="统一风格-文字 10.70.1.20-168">
            <a:extLst>
              <a:ext uri="{FF2B5EF4-FFF2-40B4-BE49-F238E27FC236}">
                <a16:creationId xmlns:a16="http://schemas.microsoft.com/office/drawing/2014/main" id="{F7388534-B26C-4261-BAF2-B4A0AAE751A1}"/>
              </a:ext>
            </a:extLst>
          </p:cNvPr>
          <p:cNvSpPr>
            <a:spLocks noGrp="1"/>
          </p:cNvSpPr>
          <p:nvPr/>
        </p:nvSpPr>
        <p:spPr>
          <a:xfrm>
            <a:off x="1533525" y="3152775"/>
            <a:ext cx="2676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10.70.1.20</a:t>
            </a:r>
          </a:p>
        </p:txBody>
      </p:sp>
      <p:sp>
        <p:nvSpPr>
          <p:cNvPr id="28" name="统一风格-中转 IP玻璃后沿-169">
            <a:extLst>
              <a:ext uri="{FF2B5EF4-FFF2-40B4-BE49-F238E27FC236}">
                <a16:creationId xmlns:a16="http://schemas.microsoft.com/office/drawing/2014/main" id="{697587BD-65D2-4DC5-B3F8-1E1804AEE8C4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35433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中转 IP-170">
            <a:extLst>
              <a:ext uri="{FF2B5EF4-FFF2-40B4-BE49-F238E27FC236}">
                <a16:creationId xmlns:a16="http://schemas.microsoft.com/office/drawing/2014/main" id="{59987818-CC08-49F4-AD0B-B9D2852B7D92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35433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中转 IP玻璃内沿-171">
            <a:extLst>
              <a:ext uri="{FF2B5EF4-FFF2-40B4-BE49-F238E27FC236}">
                <a16:creationId xmlns:a16="http://schemas.microsoft.com/office/drawing/2014/main" id="{A9EDFE8D-B044-419A-B163-4CE8244C059A}"/>
              </a:ext>
            </a:extLst>
          </p:cNvPr>
          <p:cNvSpPr>
            <a:spLocks noGrp="1"/>
          </p:cNvSpPr>
          <p:nvPr/>
        </p:nvSpPr>
        <p:spPr>
          <a:xfrm>
            <a:off x="832009" y="3699034"/>
            <a:ext cx="35175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中转 IP边缘高光-172">
            <a:extLst>
              <a:ext uri="{FF2B5EF4-FFF2-40B4-BE49-F238E27FC236}">
                <a16:creationId xmlns:a16="http://schemas.microsoft.com/office/drawing/2014/main" id="{091C3939-78AB-4B37-8F45-DC02C23F6944}"/>
              </a:ext>
            </a:extLst>
          </p:cNvPr>
          <p:cNvSpPr>
            <a:spLocks noGrp="1"/>
          </p:cNvSpPr>
          <p:nvPr/>
        </p:nvSpPr>
        <p:spPr>
          <a:xfrm>
            <a:off x="819150" y="3686175"/>
            <a:ext cx="3543300" cy="619125"/>
          </a:xfrm>
          <a:custGeom>
            <a:avLst/>
            <a:gdLst/>
            <a:ahLst/>
            <a:cxnLst/>
            <a:rect l="0" t="0" r="0" b="0"/>
            <a:pathLst>
              <a:path w="3543300" h="619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nat NAT 网关-173">
            <a:extLst>
              <a:ext uri="{FF2B5EF4-FFF2-40B4-BE49-F238E27FC236}">
                <a16:creationId xmlns:a16="http://schemas.microsoft.com/office/drawing/2014/main" id="{614CF2EC-2841-4298-ACC8-0D7E71430719}"/>
              </a:ext>
            </a:extLst>
          </p:cNvPr>
          <p:cNvSpPr>
            <a:spLocks noGrp="1"/>
          </p:cNvSpPr>
          <p:nvPr/>
        </p:nvSpPr>
        <p:spPr>
          <a:xfrm>
            <a:off x="962025" y="378618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nat 地址转换-174">
            <a:extLst>
              <a:ext uri="{FF2B5EF4-FFF2-40B4-BE49-F238E27FC236}">
                <a16:creationId xmlns:a16="http://schemas.microsoft.com/office/drawing/2014/main" id="{91DF4EC8-0ACD-4D26-A886-E70C4DC856DE}"/>
              </a:ext>
            </a:extLst>
          </p:cNvPr>
          <p:cNvSpPr>
            <a:spLocks noGrp="1"/>
          </p:cNvSpPr>
          <p:nvPr/>
        </p:nvSpPr>
        <p:spPr>
          <a:xfrm>
            <a:off x="962025" y="378618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中转 IP-175">
            <a:extLst>
              <a:ext uri="{FF2B5EF4-FFF2-40B4-BE49-F238E27FC236}">
                <a16:creationId xmlns:a16="http://schemas.microsoft.com/office/drawing/2014/main" id="{140DDA56-3859-4F62-9E80-0D8D4B62D63A}"/>
              </a:ext>
            </a:extLst>
          </p:cNvPr>
          <p:cNvSpPr>
            <a:spLocks noGrp="1"/>
          </p:cNvSpPr>
          <p:nvPr/>
        </p:nvSpPr>
        <p:spPr>
          <a:xfrm>
            <a:off x="1533525" y="3743325"/>
            <a:ext cx="2676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</a:t>
            </a:r>
          </a:p>
        </p:txBody>
      </p:sp>
      <p:sp>
        <p:nvSpPr>
          <p:cNvPr id="35" name="统一风格-文字 10.70.1.144:80-176">
            <a:extLst>
              <a:ext uri="{FF2B5EF4-FFF2-40B4-BE49-F238E27FC236}">
                <a16:creationId xmlns:a16="http://schemas.microsoft.com/office/drawing/2014/main" id="{60A10D30-3E7E-477C-904D-66760AB3D48F}"/>
              </a:ext>
            </a:extLst>
          </p:cNvPr>
          <p:cNvSpPr>
            <a:spLocks noGrp="1"/>
          </p:cNvSpPr>
          <p:nvPr/>
        </p:nvSpPr>
        <p:spPr>
          <a:xfrm>
            <a:off x="1533525" y="4038600"/>
            <a:ext cx="2676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10.70.1.144:80</a:t>
            </a:r>
          </a:p>
        </p:txBody>
      </p:sp>
      <p:sp>
        <p:nvSpPr>
          <p:cNvPr id="36" name="统一风格-同 Region 提供 VPC玻璃后沿-177">
            <a:extLst>
              <a:ext uri="{FF2B5EF4-FFF2-40B4-BE49-F238E27FC236}">
                <a16:creationId xmlns:a16="http://schemas.microsoft.com/office/drawing/2014/main" id="{847A7430-EB99-46CC-A509-A1B6010663E7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63627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同 Region 提供 VPC-178">
            <a:extLst>
              <a:ext uri="{FF2B5EF4-FFF2-40B4-BE49-F238E27FC236}">
                <a16:creationId xmlns:a16="http://schemas.microsoft.com/office/drawing/2014/main" id="{63914068-D5EC-4BA6-A076-124E0C326B54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6362700" cy="2409825"/>
          </a:xfrm>
          <a:prstGeom prst="roundRect">
            <a:avLst>
              <a:gd name="adj" fmla="val 35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同 Region 提供 VPC玻璃内沿-179">
            <a:extLst>
              <a:ext uri="{FF2B5EF4-FFF2-40B4-BE49-F238E27FC236}">
                <a16:creationId xmlns:a16="http://schemas.microsoft.com/office/drawing/2014/main" id="{2A65E5E3-F5B8-4A4A-B685-23D8F2B4FFC3}"/>
              </a:ext>
            </a:extLst>
          </p:cNvPr>
          <p:cNvSpPr>
            <a:spLocks noGrp="1"/>
          </p:cNvSpPr>
          <p:nvPr/>
        </p:nvSpPr>
        <p:spPr>
          <a:xfrm>
            <a:off x="5232559" y="2117884"/>
            <a:ext cx="6336983" cy="2384108"/>
          </a:xfrm>
          <a:prstGeom prst="roundRect">
            <a:avLst>
              <a:gd name="adj" fmla="val 307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同 Region 提供 VPC边缘高光-180">
            <a:extLst>
              <a:ext uri="{FF2B5EF4-FFF2-40B4-BE49-F238E27FC236}">
                <a16:creationId xmlns:a16="http://schemas.microsoft.com/office/drawing/2014/main" id="{43B1A780-6150-4885-8306-765F88ED03FC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6362700" cy="2409825"/>
          </a:xfrm>
          <a:custGeom>
            <a:avLst/>
            <a:gdLst/>
            <a:ahLst/>
            <a:cxnLst/>
            <a:rect l="0" t="0" r="0" b="0"/>
            <a:pathLst>
              <a:path w="6362700" h="2409825">
                <a:moveTo>
                  <a:pt x="95250" y="9525"/>
                </a:moveTo>
                <a:lnTo>
                  <a:pt x="6267450" y="9525"/>
                </a:lnTo>
                <a:cubicBezTo>
                  <a:pt x="6315075" y="9525"/>
                  <a:pt x="6353175" y="47625"/>
                  <a:pt x="6353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cloud VPC 云轮廓-181">
            <a:extLst>
              <a:ext uri="{FF2B5EF4-FFF2-40B4-BE49-F238E27FC236}">
                <a16:creationId xmlns:a16="http://schemas.microsoft.com/office/drawing/2014/main" id="{2239D597-C8AB-41B9-A4B4-38208654E3F3}"/>
              </a:ext>
            </a:extLst>
          </p:cNvPr>
          <p:cNvSpPr>
            <a:spLocks noGrp="1"/>
          </p:cNvSpPr>
          <p:nvPr/>
        </p:nvSpPr>
        <p:spPr>
          <a:xfrm>
            <a:off x="5400675" y="22193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VPC-B  提供方-182">
            <a:extLst>
              <a:ext uri="{FF2B5EF4-FFF2-40B4-BE49-F238E27FC236}">
                <a16:creationId xmlns:a16="http://schemas.microsoft.com/office/drawing/2014/main" id="{91EF3125-C940-40A3-969A-E2EE3D80FAB5}"/>
              </a:ext>
            </a:extLst>
          </p:cNvPr>
          <p:cNvSpPr>
            <a:spLocks noGrp="1"/>
          </p:cNvSpPr>
          <p:nvPr/>
        </p:nvSpPr>
        <p:spPr>
          <a:xfrm>
            <a:off x="5953125" y="2247900"/>
            <a:ext cx="5410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VPC-B  提供方</a:t>
            </a:r>
          </a:p>
        </p:txBody>
      </p:sp>
      <p:sp>
        <p:nvSpPr>
          <p:cNvPr id="42" name="统一风格-私网 NAT玻璃后沿-183">
            <a:extLst>
              <a:ext uri="{FF2B5EF4-FFF2-40B4-BE49-F238E27FC236}">
                <a16:creationId xmlns:a16="http://schemas.microsoft.com/office/drawing/2014/main" id="{D001839A-C1B0-42A9-ADF3-B3A2E4D040FA}"/>
              </a:ext>
            </a:extLst>
          </p:cNvPr>
          <p:cNvSpPr>
            <a:spLocks noGrp="1"/>
          </p:cNvSpPr>
          <p:nvPr/>
        </p:nvSpPr>
        <p:spPr>
          <a:xfrm>
            <a:off x="5429250" y="2800350"/>
            <a:ext cx="269557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私网 NAT-184">
            <a:extLst>
              <a:ext uri="{FF2B5EF4-FFF2-40B4-BE49-F238E27FC236}">
                <a16:creationId xmlns:a16="http://schemas.microsoft.com/office/drawing/2014/main" id="{42627615-B511-439D-9397-69D0EF89B11E}"/>
              </a:ext>
            </a:extLst>
          </p:cNvPr>
          <p:cNvSpPr>
            <a:spLocks noGrp="1"/>
          </p:cNvSpPr>
          <p:nvPr/>
        </p:nvSpPr>
        <p:spPr>
          <a:xfrm>
            <a:off x="5429250" y="2800350"/>
            <a:ext cx="269557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私网 NAT玻璃内沿-185">
            <a:extLst>
              <a:ext uri="{FF2B5EF4-FFF2-40B4-BE49-F238E27FC236}">
                <a16:creationId xmlns:a16="http://schemas.microsoft.com/office/drawing/2014/main" id="{0FCAF820-9FE7-489D-AB65-24389C518F1C}"/>
              </a:ext>
            </a:extLst>
          </p:cNvPr>
          <p:cNvSpPr>
            <a:spLocks noGrp="1"/>
          </p:cNvSpPr>
          <p:nvPr/>
        </p:nvSpPr>
        <p:spPr>
          <a:xfrm>
            <a:off x="5442109" y="2813209"/>
            <a:ext cx="2669858" cy="679133"/>
          </a:xfrm>
          <a:prstGeom prst="roundRect">
            <a:avLst>
              <a:gd name="adj" fmla="val 1079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私网 NAT边缘高光-186">
            <a:extLst>
              <a:ext uri="{FF2B5EF4-FFF2-40B4-BE49-F238E27FC236}">
                <a16:creationId xmlns:a16="http://schemas.microsoft.com/office/drawing/2014/main" id="{A2D5DF53-BCD4-4333-ABC5-6C512BF242E6}"/>
              </a:ext>
            </a:extLst>
          </p:cNvPr>
          <p:cNvSpPr>
            <a:spLocks noGrp="1"/>
          </p:cNvSpPr>
          <p:nvPr/>
        </p:nvSpPr>
        <p:spPr>
          <a:xfrm>
            <a:off x="5429250" y="2800350"/>
            <a:ext cx="2695575" cy="704850"/>
          </a:xfrm>
          <a:custGeom>
            <a:avLst/>
            <a:gdLst/>
            <a:ahLst/>
            <a:cxnLst/>
            <a:rect l="0" t="0" r="0" b="0"/>
            <a:pathLst>
              <a:path w="2695575" h="704850">
                <a:moveTo>
                  <a:pt x="95250" y="9525"/>
                </a:moveTo>
                <a:lnTo>
                  <a:pt x="2600325" y="9525"/>
                </a:lnTo>
                <a:cubicBezTo>
                  <a:pt x="2647950" y="9525"/>
                  <a:pt x="2686050" y="47625"/>
                  <a:pt x="26860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nat NAT 网关-187">
            <a:extLst>
              <a:ext uri="{FF2B5EF4-FFF2-40B4-BE49-F238E27FC236}">
                <a16:creationId xmlns:a16="http://schemas.microsoft.com/office/drawing/2014/main" id="{91DAE56B-45B0-4354-871B-F6E20139681F}"/>
              </a:ext>
            </a:extLst>
          </p:cNvPr>
          <p:cNvSpPr>
            <a:spLocks noGrp="1"/>
          </p:cNvSpPr>
          <p:nvPr/>
        </p:nvSpPr>
        <p:spPr>
          <a:xfrm>
            <a:off x="55721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nat 地址转换-188">
            <a:extLst>
              <a:ext uri="{FF2B5EF4-FFF2-40B4-BE49-F238E27FC236}">
                <a16:creationId xmlns:a16="http://schemas.microsoft.com/office/drawing/2014/main" id="{3749A233-E87C-4968-B81E-5522929BAB77}"/>
              </a:ext>
            </a:extLst>
          </p:cNvPr>
          <p:cNvSpPr>
            <a:spLocks noGrp="1"/>
          </p:cNvSpPr>
          <p:nvPr/>
        </p:nvSpPr>
        <p:spPr>
          <a:xfrm>
            <a:off x="5572125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私网 NAT-189">
            <a:extLst>
              <a:ext uri="{FF2B5EF4-FFF2-40B4-BE49-F238E27FC236}">
                <a16:creationId xmlns:a16="http://schemas.microsoft.com/office/drawing/2014/main" id="{E271FDE3-EFDE-4C79-93E8-3465E6110A69}"/>
              </a:ext>
            </a:extLst>
          </p:cNvPr>
          <p:cNvSpPr>
            <a:spLocks noGrp="1"/>
          </p:cNvSpPr>
          <p:nvPr/>
        </p:nvSpPr>
        <p:spPr>
          <a:xfrm>
            <a:off x="6143625" y="2857500"/>
            <a:ext cx="1828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49" name="统一风格-文字 DNAT：TCP 80-190">
            <a:extLst>
              <a:ext uri="{FF2B5EF4-FFF2-40B4-BE49-F238E27FC236}">
                <a16:creationId xmlns:a16="http://schemas.microsoft.com/office/drawing/2014/main" id="{59BCD697-8E5C-4769-9335-089913FA95A4}"/>
              </a:ext>
            </a:extLst>
          </p:cNvPr>
          <p:cNvSpPr>
            <a:spLocks noGrp="1"/>
          </p:cNvSpPr>
          <p:nvPr/>
        </p:nvSpPr>
        <p:spPr>
          <a:xfrm>
            <a:off x="6143625" y="3152775"/>
            <a:ext cx="1828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DNAT：TCP 80</a:t>
            </a:r>
          </a:p>
        </p:txBody>
      </p:sp>
      <p:sp>
        <p:nvSpPr>
          <p:cNvPr id="50" name="统一风格-私网 ELB玻璃后沿-191">
            <a:extLst>
              <a:ext uri="{FF2B5EF4-FFF2-40B4-BE49-F238E27FC236}">
                <a16:creationId xmlns:a16="http://schemas.microsoft.com/office/drawing/2014/main" id="{C8FC06EC-8D63-4866-A201-DC17D292EC04}"/>
              </a:ext>
            </a:extLst>
          </p:cNvPr>
          <p:cNvSpPr>
            <a:spLocks noGrp="1"/>
          </p:cNvSpPr>
          <p:nvPr/>
        </p:nvSpPr>
        <p:spPr>
          <a:xfrm>
            <a:off x="8391525" y="2800350"/>
            <a:ext cx="298132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私网 ELB-192">
            <a:extLst>
              <a:ext uri="{FF2B5EF4-FFF2-40B4-BE49-F238E27FC236}">
                <a16:creationId xmlns:a16="http://schemas.microsoft.com/office/drawing/2014/main" id="{B83F49F4-45FF-4E81-9DDF-335CFB4D5617}"/>
              </a:ext>
            </a:extLst>
          </p:cNvPr>
          <p:cNvSpPr>
            <a:spLocks noGrp="1"/>
          </p:cNvSpPr>
          <p:nvPr/>
        </p:nvSpPr>
        <p:spPr>
          <a:xfrm>
            <a:off x="8391525" y="2800350"/>
            <a:ext cx="2981325" cy="704850"/>
          </a:xfrm>
          <a:prstGeom prst="roundRect">
            <a:avLst>
              <a:gd name="adj" fmla="val 121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私网 ELB玻璃内沿-193">
            <a:extLst>
              <a:ext uri="{FF2B5EF4-FFF2-40B4-BE49-F238E27FC236}">
                <a16:creationId xmlns:a16="http://schemas.microsoft.com/office/drawing/2014/main" id="{4460AEF8-DB74-484D-9A1E-B8DBBE6BADF1}"/>
              </a:ext>
            </a:extLst>
          </p:cNvPr>
          <p:cNvSpPr>
            <a:spLocks noGrp="1"/>
          </p:cNvSpPr>
          <p:nvPr/>
        </p:nvSpPr>
        <p:spPr>
          <a:xfrm>
            <a:off x="8404384" y="2813209"/>
            <a:ext cx="2955608" cy="679133"/>
          </a:xfrm>
          <a:prstGeom prst="roundRect">
            <a:avLst>
              <a:gd name="adj" fmla="val 1079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私网 ELB边缘高光-194">
            <a:extLst>
              <a:ext uri="{FF2B5EF4-FFF2-40B4-BE49-F238E27FC236}">
                <a16:creationId xmlns:a16="http://schemas.microsoft.com/office/drawing/2014/main" id="{76890F53-E460-42C9-BB06-E7FE7ADB6FC5}"/>
              </a:ext>
            </a:extLst>
          </p:cNvPr>
          <p:cNvSpPr>
            <a:spLocks noGrp="1"/>
          </p:cNvSpPr>
          <p:nvPr/>
        </p:nvSpPr>
        <p:spPr>
          <a:xfrm>
            <a:off x="8391525" y="2800350"/>
            <a:ext cx="2981325" cy="704850"/>
          </a:xfrm>
          <a:custGeom>
            <a:avLst/>
            <a:gdLst/>
            <a:ahLst/>
            <a:cxnLst/>
            <a:rect l="0" t="0" r="0" b="0"/>
            <a:pathLst>
              <a:path w="2981325" h="704850">
                <a:moveTo>
                  <a:pt x="95250" y="9525"/>
                </a:moveTo>
                <a:lnTo>
                  <a:pt x="2886075" y="9525"/>
                </a:lnTo>
                <a:cubicBezTo>
                  <a:pt x="2933700" y="9525"/>
                  <a:pt x="2971800" y="47625"/>
                  <a:pt x="29718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ELB 入口-195">
            <a:extLst>
              <a:ext uri="{FF2B5EF4-FFF2-40B4-BE49-F238E27FC236}">
                <a16:creationId xmlns:a16="http://schemas.microsoft.com/office/drawing/2014/main" id="{1A8D0B14-9B12-44E3-AFA1-3087A2EADCF2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219075" y="219075"/>
                </a:lnTo>
                <a:lnTo>
                  <a:pt x="219075" y="390525"/>
                </a:lnTo>
                <a:lnTo>
                  <a:pt x="66675" y="3905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ELB 分发路径-196">
            <a:extLst>
              <a:ext uri="{FF2B5EF4-FFF2-40B4-BE49-F238E27FC236}">
                <a16:creationId xmlns:a16="http://schemas.microsoft.com/office/drawing/2014/main" id="{503193F4-4E71-4068-8FC9-24CF41563C47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19075" y="304800"/>
                </a:moveTo>
                <a:lnTo>
                  <a:pt x="333375" y="304800"/>
                </a:lnTo>
                <a:lnTo>
                  <a:pt x="333375" y="114300"/>
                </a:lnTo>
                <a:lnTo>
                  <a:pt x="457200" y="114300"/>
                </a:lnTo>
                <a:moveTo>
                  <a:pt x="333375" y="304800"/>
                </a:moveTo>
                <a:lnTo>
                  <a:pt x="457200" y="304800"/>
                </a:lnTo>
                <a:moveTo>
                  <a:pt x="333375" y="304800"/>
                </a:moveTo>
                <a:lnTo>
                  <a:pt x="333375" y="495300"/>
                </a:lnTo>
                <a:lnTo>
                  <a:pt x="457200" y="4953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ELB 后端节点-197">
            <a:extLst>
              <a:ext uri="{FF2B5EF4-FFF2-40B4-BE49-F238E27FC236}">
                <a16:creationId xmlns:a16="http://schemas.microsoft.com/office/drawing/2014/main" id="{49AA32E3-28E0-4AD1-97F1-B8A744726C45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66675"/>
                </a:moveTo>
                <a:lnTo>
                  <a:pt x="561975" y="66675"/>
                </a:lnTo>
                <a:lnTo>
                  <a:pt x="561975" y="161925"/>
                </a:lnTo>
                <a:lnTo>
                  <a:pt x="457200" y="1619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ELB 后端节点-198">
            <a:extLst>
              <a:ext uri="{FF2B5EF4-FFF2-40B4-BE49-F238E27FC236}">
                <a16:creationId xmlns:a16="http://schemas.microsoft.com/office/drawing/2014/main" id="{6E3DE3A8-F1BD-4BBC-9F92-16643D6008A4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257175"/>
                </a:moveTo>
                <a:lnTo>
                  <a:pt x="561975" y="257175"/>
                </a:lnTo>
                <a:lnTo>
                  <a:pt x="561975" y="352425"/>
                </a:lnTo>
                <a:lnTo>
                  <a:pt x="457200" y="3524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ELB 后端节点-199">
            <a:extLst>
              <a:ext uri="{FF2B5EF4-FFF2-40B4-BE49-F238E27FC236}">
                <a16:creationId xmlns:a16="http://schemas.microsoft.com/office/drawing/2014/main" id="{61AEDF59-644F-4C0E-B6AA-83EC9725F900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447675"/>
                </a:moveTo>
                <a:lnTo>
                  <a:pt x="561975" y="447675"/>
                </a:lnTo>
                <a:lnTo>
                  <a:pt x="561975" y="542925"/>
                </a:lnTo>
                <a:lnTo>
                  <a:pt x="457200" y="542925"/>
                </a:lnTo>
                <a:close/>
              </a:path>
            </a:pathLst>
          </a:custGeom>
          <a:solidFill>
            <a:srgbClr val="EAF2FF"/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私网 ELB-200">
            <a:extLst>
              <a:ext uri="{FF2B5EF4-FFF2-40B4-BE49-F238E27FC236}">
                <a16:creationId xmlns:a16="http://schemas.microsoft.com/office/drawing/2014/main" id="{1AE0F3BC-54FC-41A6-A93D-E48F1B1A730E}"/>
              </a:ext>
            </a:extLst>
          </p:cNvPr>
          <p:cNvSpPr>
            <a:spLocks noGrp="1"/>
          </p:cNvSpPr>
          <p:nvPr/>
        </p:nvSpPr>
        <p:spPr>
          <a:xfrm>
            <a:off x="9105900" y="2857500"/>
            <a:ext cx="2114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ELB</a:t>
            </a:r>
          </a:p>
        </p:txBody>
      </p:sp>
      <p:sp>
        <p:nvSpPr>
          <p:cNvPr id="60" name="统一风格-文字 10.80.1.10:80-201">
            <a:extLst>
              <a:ext uri="{FF2B5EF4-FFF2-40B4-BE49-F238E27FC236}">
                <a16:creationId xmlns:a16="http://schemas.microsoft.com/office/drawing/2014/main" id="{5A078DEF-6F15-4075-8C1A-E2E2CD9642E1}"/>
              </a:ext>
            </a:extLst>
          </p:cNvPr>
          <p:cNvSpPr>
            <a:spLocks noGrp="1"/>
          </p:cNvSpPr>
          <p:nvPr/>
        </p:nvSpPr>
        <p:spPr>
          <a:xfrm>
            <a:off x="9105900" y="3152775"/>
            <a:ext cx="211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10.80.1.10:80</a:t>
            </a:r>
          </a:p>
        </p:txBody>
      </p:sp>
      <p:sp>
        <p:nvSpPr>
          <p:cNvPr id="61" name="统一风格-文字 后端 ECS-B  10.80.1.20:80-202">
            <a:extLst>
              <a:ext uri="{FF2B5EF4-FFF2-40B4-BE49-F238E27FC236}">
                <a16:creationId xmlns:a16="http://schemas.microsoft.com/office/drawing/2014/main" id="{C059A0F2-20B0-4006-BBDE-5C24172FD9CE}"/>
              </a:ext>
            </a:extLst>
          </p:cNvPr>
          <p:cNvSpPr>
            <a:spLocks noGrp="1"/>
          </p:cNvSpPr>
          <p:nvPr/>
        </p:nvSpPr>
        <p:spPr>
          <a:xfrm>
            <a:off x="8382000" y="3781425"/>
            <a:ext cx="2990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ECS-B  10.80.1.20:80</a:t>
            </a:r>
          </a:p>
        </p:txBody>
      </p:sp>
      <p:cxnSp>
        <p:nvCxnSpPr>
          <p:cNvPr id="62" name="私网访问连接">
            <a:extLst>
              <a:ext uri="{FF2B5EF4-FFF2-40B4-BE49-F238E27FC236}">
                <a16:creationId xmlns:a16="http://schemas.microsoft.com/office/drawing/2014/main" id="{0FF3BA2F-A65D-4644-BD67-167D12520107}"/>
              </a:ext>
            </a:extLst>
          </p:cNvPr>
          <p:cNvCxnSpPr/>
          <p:nvPr/>
        </p:nvCxnSpPr>
        <p:spPr>
          <a:xfrm>
            <a:off x="2590800" y="3505200"/>
            <a:ext cx="0" cy="180975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3" name="私网访问连接">
            <a:extLst>
              <a:ext uri="{FF2B5EF4-FFF2-40B4-BE49-F238E27FC236}">
                <a16:creationId xmlns:a16="http://schemas.microsoft.com/office/drawing/2014/main" id="{E066446D-6A3D-4FDD-8AEB-2CC1F03FF66E}"/>
              </a:ext>
            </a:extLst>
          </p:cNvPr>
          <p:cNvCxnSpPr/>
          <p:nvPr/>
        </p:nvCxnSpPr>
        <p:spPr>
          <a:xfrm>
            <a:off x="4362450" y="3990975"/>
            <a:ext cx="53340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64" name="私网访问连接">
            <a:extLst>
              <a:ext uri="{FF2B5EF4-FFF2-40B4-BE49-F238E27FC236}">
                <a16:creationId xmlns:a16="http://schemas.microsoft.com/office/drawing/2014/main" id="{8701E6C6-193E-4A23-9309-7B2FF4E839C2}"/>
              </a:ext>
            </a:extLst>
          </p:cNvPr>
          <p:cNvCxnSpPr/>
          <p:nvPr/>
        </p:nvCxnSpPr>
        <p:spPr>
          <a:xfrm flipV="1">
            <a:off x="4895850" y="3152775"/>
            <a:ext cx="0" cy="83820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65" name="私网访问连接">
            <a:extLst>
              <a:ext uri="{FF2B5EF4-FFF2-40B4-BE49-F238E27FC236}">
                <a16:creationId xmlns:a16="http://schemas.microsoft.com/office/drawing/2014/main" id="{3C881230-EE7B-47D3-9DBE-96427F0A95A9}"/>
              </a:ext>
            </a:extLst>
          </p:cNvPr>
          <p:cNvCxnSpPr/>
          <p:nvPr/>
        </p:nvCxnSpPr>
        <p:spPr>
          <a:xfrm>
            <a:off x="4895850" y="3152775"/>
            <a:ext cx="5334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6" name="私网访问连接">
            <a:extLst>
              <a:ext uri="{FF2B5EF4-FFF2-40B4-BE49-F238E27FC236}">
                <a16:creationId xmlns:a16="http://schemas.microsoft.com/office/drawing/2014/main" id="{93B9804B-06B9-40B4-AC42-24145B2B4653}"/>
              </a:ext>
            </a:extLst>
          </p:cNvPr>
          <p:cNvCxnSpPr/>
          <p:nvPr/>
        </p:nvCxnSpPr>
        <p:spPr>
          <a:xfrm>
            <a:off x="8124825" y="3152775"/>
            <a:ext cx="2667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7" name="私网访问连接">
            <a:extLst>
              <a:ext uri="{FF2B5EF4-FFF2-40B4-BE49-F238E27FC236}">
                <a16:creationId xmlns:a16="http://schemas.microsoft.com/office/drawing/2014/main" id="{D3E9B808-9CCE-4CD2-9412-9F79211B9178}"/>
              </a:ext>
            </a:extLst>
          </p:cNvPr>
          <p:cNvCxnSpPr/>
          <p:nvPr/>
        </p:nvCxnSpPr>
        <p:spPr>
          <a:xfrm>
            <a:off x="9877425" y="3505200"/>
            <a:ext cx="0" cy="276225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68" name="统一风格-文字 逻辑映射-203">
            <a:extLst>
              <a:ext uri="{FF2B5EF4-FFF2-40B4-BE49-F238E27FC236}">
                <a16:creationId xmlns:a16="http://schemas.microsoft.com/office/drawing/2014/main" id="{B7DCD1BB-7951-4479-8107-DC7D9A7D4FB1}"/>
              </a:ext>
            </a:extLst>
          </p:cNvPr>
          <p:cNvSpPr>
            <a:spLocks noGrp="1"/>
          </p:cNvSpPr>
          <p:nvPr/>
        </p:nvSpPr>
        <p:spPr>
          <a:xfrm>
            <a:off x="4429125" y="41624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逻辑映射</a:t>
            </a:r>
          </a:p>
        </p:txBody>
      </p:sp>
      <p:sp>
        <p:nvSpPr>
          <p:cNvPr id="69" name="统一风格-配置与验证玻璃后沿-204">
            <a:extLst>
              <a:ext uri="{FF2B5EF4-FFF2-40B4-BE49-F238E27FC236}">
                <a16:creationId xmlns:a16="http://schemas.microsoft.com/office/drawing/2014/main" id="{A59B94A3-A9AF-4E35-8C96-CECE69E5ADA4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配置与验证-205">
            <a:extLst>
              <a:ext uri="{FF2B5EF4-FFF2-40B4-BE49-F238E27FC236}">
                <a16:creationId xmlns:a16="http://schemas.microsoft.com/office/drawing/2014/main" id="{D2E7912C-77C3-4292-95AD-DAFB28D09A1E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配置与验证玻璃内沿-206">
            <a:extLst>
              <a:ext uri="{FF2B5EF4-FFF2-40B4-BE49-F238E27FC236}">
                <a16:creationId xmlns:a16="http://schemas.microsoft.com/office/drawing/2014/main" id="{445179A6-A16B-48FF-B71F-A0142AC1FEA0}"/>
              </a:ext>
            </a:extLst>
          </p:cNvPr>
          <p:cNvSpPr>
            <a:spLocks noGrp="1"/>
          </p:cNvSpPr>
          <p:nvPr/>
        </p:nvSpPr>
        <p:spPr>
          <a:xfrm>
            <a:off x="622459" y="4756309"/>
            <a:ext cx="523208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配置与验证边缘高光-207">
            <a:extLst>
              <a:ext uri="{FF2B5EF4-FFF2-40B4-BE49-F238E27FC236}">
                <a16:creationId xmlns:a16="http://schemas.microsoft.com/office/drawing/2014/main" id="{EDE88325-CC2A-43D4-A7DD-2ED7E113A9F1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257800" cy="1143000"/>
          </a:xfrm>
          <a:custGeom>
            <a:avLst/>
            <a:gdLst/>
            <a:ahLst/>
            <a:cxnLst/>
            <a:rect l="0" t="0" r="0" b="0"/>
            <a:pathLst>
              <a:path w="5257800" h="11430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文字 配置与验证-208">
            <a:extLst>
              <a:ext uri="{FF2B5EF4-FFF2-40B4-BE49-F238E27FC236}">
                <a16:creationId xmlns:a16="http://schemas.microsoft.com/office/drawing/2014/main" id="{1BA250D5-FE95-43DB-B63D-7E6EDD0579BA}"/>
              </a:ext>
            </a:extLst>
          </p:cNvPr>
          <p:cNvSpPr>
            <a:spLocks noGrp="1"/>
          </p:cNvSpPr>
          <p:nvPr/>
        </p:nvSpPr>
        <p:spPr>
          <a:xfrm>
            <a:off x="809625" y="48672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配置与验证</a:t>
            </a:r>
          </a:p>
        </p:txBody>
      </p:sp>
      <p:sp>
        <p:nvSpPr>
          <p:cNvPr id="74" name="统一风格-文字 中转 IP 选 VPC-A，NAT 选 VPC-B DNAT 选择 ELB，验证端口与后端健康-209">
            <a:extLst>
              <a:ext uri="{FF2B5EF4-FFF2-40B4-BE49-F238E27FC236}">
                <a16:creationId xmlns:a16="http://schemas.microsoft.com/office/drawing/2014/main" id="{6EC02541-3FC6-4742-8122-9C31B6AF2BD7}"/>
              </a:ext>
            </a:extLst>
          </p:cNvPr>
          <p:cNvSpPr>
            <a:spLocks noGrp="1"/>
          </p:cNvSpPr>
          <p:nvPr/>
        </p:nvSpPr>
        <p:spPr>
          <a:xfrm>
            <a:off x="809625" y="5229225"/>
            <a:ext cx="4857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 选 VPC-A，NAT 选 VPC-B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选择 ELB，验证端口与后端健康</a:t>
            </a:r>
          </a:p>
        </p:txBody>
      </p:sp>
      <p:sp>
        <p:nvSpPr>
          <p:cNvPr id="75" name="统一风格-能力边界玻璃后沿-210">
            <a:extLst>
              <a:ext uri="{FF2B5EF4-FFF2-40B4-BE49-F238E27FC236}">
                <a16:creationId xmlns:a16="http://schemas.microsoft.com/office/drawing/2014/main" id="{B25702A1-C0E1-42D6-BF00-B3A28558FBF6}"/>
              </a:ext>
            </a:extLst>
          </p:cNvPr>
          <p:cNvSpPr>
            <a:spLocks noGrp="1"/>
          </p:cNvSpPr>
          <p:nvPr/>
        </p:nvSpPr>
        <p:spPr>
          <a:xfrm>
            <a:off x="6324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能力边界-211">
            <a:extLst>
              <a:ext uri="{FF2B5EF4-FFF2-40B4-BE49-F238E27FC236}">
                <a16:creationId xmlns:a16="http://schemas.microsoft.com/office/drawing/2014/main" id="{730D92F7-0519-4A60-8429-283F3D2B0DDF}"/>
              </a:ext>
            </a:extLst>
          </p:cNvPr>
          <p:cNvSpPr>
            <a:spLocks noGrp="1"/>
          </p:cNvSpPr>
          <p:nvPr/>
        </p:nvSpPr>
        <p:spPr>
          <a:xfrm>
            <a:off x="6324600" y="4743450"/>
            <a:ext cx="525780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能力边界玻璃内沿-212">
            <a:extLst>
              <a:ext uri="{FF2B5EF4-FFF2-40B4-BE49-F238E27FC236}">
                <a16:creationId xmlns:a16="http://schemas.microsoft.com/office/drawing/2014/main" id="{88BA17EB-2B72-435E-B836-3680655524A4}"/>
              </a:ext>
            </a:extLst>
          </p:cNvPr>
          <p:cNvSpPr>
            <a:spLocks noGrp="1"/>
          </p:cNvSpPr>
          <p:nvPr/>
        </p:nvSpPr>
        <p:spPr>
          <a:xfrm>
            <a:off x="6337459" y="4756309"/>
            <a:ext cx="523208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能力边界边缘高光-213">
            <a:extLst>
              <a:ext uri="{FF2B5EF4-FFF2-40B4-BE49-F238E27FC236}">
                <a16:creationId xmlns:a16="http://schemas.microsoft.com/office/drawing/2014/main" id="{51D164F9-5B52-4469-BAB2-921C74B8027A}"/>
              </a:ext>
            </a:extLst>
          </p:cNvPr>
          <p:cNvSpPr>
            <a:spLocks noGrp="1"/>
          </p:cNvSpPr>
          <p:nvPr/>
        </p:nvSpPr>
        <p:spPr>
          <a:xfrm>
            <a:off x="6324600" y="4743450"/>
            <a:ext cx="5257800" cy="1143000"/>
          </a:xfrm>
          <a:custGeom>
            <a:avLst/>
            <a:gdLst/>
            <a:ahLst/>
            <a:cxnLst/>
            <a:rect l="0" t="0" r="0" b="0"/>
            <a:pathLst>
              <a:path w="5257800" h="11430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文字 能力边界-214">
            <a:extLst>
              <a:ext uri="{FF2B5EF4-FFF2-40B4-BE49-F238E27FC236}">
                <a16:creationId xmlns:a16="http://schemas.microsoft.com/office/drawing/2014/main" id="{EEF97B36-A7C3-4F35-9E83-C6770590E6CF}"/>
              </a:ext>
            </a:extLst>
          </p:cNvPr>
          <p:cNvSpPr>
            <a:spLocks noGrp="1"/>
          </p:cNvSpPr>
          <p:nvPr/>
        </p:nvSpPr>
        <p:spPr>
          <a:xfrm>
            <a:off x="6524625" y="48672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80" name="统一风格-文字 同一 ELB 仅支持一个 VPC 内的一条 DNAT 规则 多消费 VPC 分别映射同一 ELB 不受支持-215">
            <a:extLst>
              <a:ext uri="{FF2B5EF4-FFF2-40B4-BE49-F238E27FC236}">
                <a16:creationId xmlns:a16="http://schemas.microsoft.com/office/drawing/2014/main" id="{978C34A1-FA37-476F-9EA8-4632E3800775}"/>
              </a:ext>
            </a:extLst>
          </p:cNvPr>
          <p:cNvSpPr>
            <a:spLocks noGrp="1"/>
          </p:cNvSpPr>
          <p:nvPr/>
        </p:nvSpPr>
        <p:spPr>
          <a:xfrm>
            <a:off x="6524625" y="5229225"/>
            <a:ext cx="48577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ELB 仅支持一个 VPC 内的一条 DNAT 规则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多消费 VPC 分别映射同一 ELB 不受支持</a:t>
            </a:r>
          </a:p>
        </p:txBody>
      </p:sp>
    </p:spTree>
    <p:extLst>
      <p:ext uri="{BB962C8B-B14F-4D97-AF65-F5344CB8AC3E}">
        <p14:creationId xmlns:p14="http://schemas.microsoft.com/office/powerpoint/2010/main" val="1829662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统一风格-文字 02  网络互联方案-216">
            <a:extLst>
              <a:ext uri="{FF2B5EF4-FFF2-40B4-BE49-F238E27FC236}">
                <a16:creationId xmlns:a16="http://schemas.microsoft.com/office/drawing/2014/main" id="{A103B769-DD2F-44A6-B44E-7FB43DEE470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NAT 案例：以指定私网源 IP 访问远端 VPC-217">
            <a:extLst>
              <a:ext uri="{FF2B5EF4-FFF2-40B4-BE49-F238E27FC236}">
                <a16:creationId xmlns:a16="http://schemas.microsoft.com/office/drawing/2014/main" id="{E7B9F800-DD36-4EDA-9727-0B7A643E26B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 案例：以指定私网源 IP 访问远端 VPC</a:t>
            </a:r>
          </a:p>
        </p:txBody>
      </p:sp>
      <p:sp>
        <p:nvSpPr>
          <p:cNvPr id="3" name="统一风格-文字 同一 Region 内，业务源地址经私网 NAT 转换后，通过中转 VPC 和对等连接访问-218">
            <a:extLst>
              <a:ext uri="{FF2B5EF4-FFF2-40B4-BE49-F238E27FC236}">
                <a16:creationId xmlns:a16="http://schemas.microsoft.com/office/drawing/2014/main" id="{186B6E97-B5F8-445E-A022-66CA964A0E9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 Region 内，业务源地址经私网 NAT 转换后，通过中转 VPC 和对等连接访问</a:t>
            </a:r>
          </a:p>
        </p:txBody>
      </p:sp>
      <p:sp>
        <p:nvSpPr>
          <p:cNvPr id="4" name="统一风格-页脚分隔线-219">
            <a:extLst>
              <a:ext uri="{FF2B5EF4-FFF2-40B4-BE49-F238E27FC236}">
                <a16:creationId xmlns:a16="http://schemas.microsoft.com/office/drawing/2014/main" id="{02875954-8C7E-4A1D-A021-DF7D6357021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地址为虚构示例。返回流量按 NAT 会话反向转换，远端独立发起访问需另行配置 DNAT 或其他接入方案。-220">
            <a:extLst>
              <a:ext uri="{FF2B5EF4-FFF2-40B4-BE49-F238E27FC236}">
                <a16:creationId xmlns:a16="http://schemas.microsoft.com/office/drawing/2014/main" id="{61CBB01F-A5E3-485F-B285-A3EAA92D739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地址为虚构示例。返回流量按 NAT 会话反向转换，远端独立发起访问需另行配置 DNAT 或其他接入方案。</a:t>
            </a:r>
          </a:p>
        </p:txBody>
      </p:sp>
      <p:sp>
        <p:nvSpPr>
          <p:cNvPr id="6" name="统一风格-文字 26-221">
            <a:extLst>
              <a:ext uri="{FF2B5EF4-FFF2-40B4-BE49-F238E27FC236}">
                <a16:creationId xmlns:a16="http://schemas.microsoft.com/office/drawing/2014/main" id="{E5EDE044-0794-4271-A995-FC3DBFABFE0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7" name="统一风格-业务 VPC-A玻璃后沿-222">
            <a:extLst>
              <a:ext uri="{FF2B5EF4-FFF2-40B4-BE49-F238E27FC236}">
                <a16:creationId xmlns:a16="http://schemas.microsoft.com/office/drawing/2014/main" id="{962140C0-DA92-45F8-B983-FCE7FA969140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业务 VPC-A-223">
            <a:extLst>
              <a:ext uri="{FF2B5EF4-FFF2-40B4-BE49-F238E27FC236}">
                <a16:creationId xmlns:a16="http://schemas.microsoft.com/office/drawing/2014/main" id="{E6DDEB2C-9CC8-4225-8A30-2651E54CB232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业务 VPC-A玻璃内沿-224">
            <a:extLst>
              <a:ext uri="{FF2B5EF4-FFF2-40B4-BE49-F238E27FC236}">
                <a16:creationId xmlns:a16="http://schemas.microsoft.com/office/drawing/2014/main" id="{542CF168-0589-4A54-B53A-25E14D0B3D6D}"/>
              </a:ext>
            </a:extLst>
          </p:cNvPr>
          <p:cNvSpPr>
            <a:spLocks noGrp="1"/>
          </p:cNvSpPr>
          <p:nvPr/>
        </p:nvSpPr>
        <p:spPr>
          <a:xfrm>
            <a:off x="622459" y="2117884"/>
            <a:ext cx="3517583" cy="2498408"/>
          </a:xfrm>
          <a:prstGeom prst="roundRect">
            <a:avLst>
              <a:gd name="adj" fmla="val 29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业务 VPC-A边缘高光-225">
            <a:extLst>
              <a:ext uri="{FF2B5EF4-FFF2-40B4-BE49-F238E27FC236}">
                <a16:creationId xmlns:a16="http://schemas.microsoft.com/office/drawing/2014/main" id="{456CDFF9-5309-4142-B02D-00A1D4B41202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3543300" cy="2524125"/>
          </a:xfrm>
          <a:custGeom>
            <a:avLst/>
            <a:gdLst/>
            <a:ahLst/>
            <a:cxnLst/>
            <a:rect l="0" t="0" r="0" b="0"/>
            <a:pathLst>
              <a:path w="3543300" h="2524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226">
            <a:extLst>
              <a:ext uri="{FF2B5EF4-FFF2-40B4-BE49-F238E27FC236}">
                <a16:creationId xmlns:a16="http://schemas.microsoft.com/office/drawing/2014/main" id="{1F50E9DA-F5E6-4586-93AD-89981DF05FF4}"/>
              </a:ext>
            </a:extLst>
          </p:cNvPr>
          <p:cNvSpPr>
            <a:spLocks noGrp="1"/>
          </p:cNvSpPr>
          <p:nvPr/>
        </p:nvSpPr>
        <p:spPr>
          <a:xfrm>
            <a:off x="752475" y="22383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业务 VPC-A-227">
            <a:extLst>
              <a:ext uri="{FF2B5EF4-FFF2-40B4-BE49-F238E27FC236}">
                <a16:creationId xmlns:a16="http://schemas.microsoft.com/office/drawing/2014/main" id="{F1EACB7D-26FF-4DD1-8F00-98AECFD4969F}"/>
              </a:ext>
            </a:extLst>
          </p:cNvPr>
          <p:cNvSpPr>
            <a:spLocks noGrp="1"/>
          </p:cNvSpPr>
          <p:nvPr/>
        </p:nvSpPr>
        <p:spPr>
          <a:xfrm>
            <a:off x="1323975" y="2209800"/>
            <a:ext cx="2657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VPC-A</a:t>
            </a:r>
          </a:p>
        </p:txBody>
      </p:sp>
      <p:sp>
        <p:nvSpPr>
          <p:cNvPr id="13" name="统一风格-文字 10.60.0.0/16-228">
            <a:extLst>
              <a:ext uri="{FF2B5EF4-FFF2-40B4-BE49-F238E27FC236}">
                <a16:creationId xmlns:a16="http://schemas.microsoft.com/office/drawing/2014/main" id="{0F5D1D50-ED4A-4454-9339-9BBEC86ED60D}"/>
              </a:ext>
            </a:extLst>
          </p:cNvPr>
          <p:cNvSpPr>
            <a:spLocks noGrp="1"/>
          </p:cNvSpPr>
          <p:nvPr/>
        </p:nvSpPr>
        <p:spPr>
          <a:xfrm>
            <a:off x="1323975" y="2552700"/>
            <a:ext cx="2657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10.60.0.0/16</a:t>
            </a:r>
          </a:p>
        </p:txBody>
      </p:sp>
      <p:sp>
        <p:nvSpPr>
          <p:cNvPr id="14" name="统一风格-中转 VPC-T玻璃后沿-229">
            <a:extLst>
              <a:ext uri="{FF2B5EF4-FFF2-40B4-BE49-F238E27FC236}">
                <a16:creationId xmlns:a16="http://schemas.microsoft.com/office/drawing/2014/main" id="{A1B5AEEE-47B3-44D6-ADD0-558236277F1D}"/>
              </a:ext>
            </a:extLst>
          </p:cNvPr>
          <p:cNvSpPr>
            <a:spLocks noGrp="1"/>
          </p:cNvSpPr>
          <p:nvPr/>
        </p:nvSpPr>
        <p:spPr>
          <a:xfrm>
            <a:off x="4467225" y="2105025"/>
            <a:ext cx="325755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中转 VPC-T-230">
            <a:extLst>
              <a:ext uri="{FF2B5EF4-FFF2-40B4-BE49-F238E27FC236}">
                <a16:creationId xmlns:a16="http://schemas.microsoft.com/office/drawing/2014/main" id="{68FC203F-C736-47AB-9146-E1D858A2831C}"/>
              </a:ext>
            </a:extLst>
          </p:cNvPr>
          <p:cNvSpPr>
            <a:spLocks noGrp="1"/>
          </p:cNvSpPr>
          <p:nvPr/>
        </p:nvSpPr>
        <p:spPr>
          <a:xfrm>
            <a:off x="4467225" y="2105025"/>
            <a:ext cx="325755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中转 VPC-T玻璃内沿-231">
            <a:extLst>
              <a:ext uri="{FF2B5EF4-FFF2-40B4-BE49-F238E27FC236}">
                <a16:creationId xmlns:a16="http://schemas.microsoft.com/office/drawing/2014/main" id="{6239CF01-6D2D-49A7-BF4B-3B0C0C8883E2}"/>
              </a:ext>
            </a:extLst>
          </p:cNvPr>
          <p:cNvSpPr>
            <a:spLocks noGrp="1"/>
          </p:cNvSpPr>
          <p:nvPr/>
        </p:nvSpPr>
        <p:spPr>
          <a:xfrm>
            <a:off x="4480084" y="2117884"/>
            <a:ext cx="3231833" cy="2498408"/>
          </a:xfrm>
          <a:prstGeom prst="roundRect">
            <a:avLst>
              <a:gd name="adj" fmla="val 29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中转 VPC-T边缘高光-232">
            <a:extLst>
              <a:ext uri="{FF2B5EF4-FFF2-40B4-BE49-F238E27FC236}">
                <a16:creationId xmlns:a16="http://schemas.microsoft.com/office/drawing/2014/main" id="{ABF2C143-CBE8-41FB-A3E1-C76641CC88CD}"/>
              </a:ext>
            </a:extLst>
          </p:cNvPr>
          <p:cNvSpPr>
            <a:spLocks noGrp="1"/>
          </p:cNvSpPr>
          <p:nvPr/>
        </p:nvSpPr>
        <p:spPr>
          <a:xfrm>
            <a:off x="4467225" y="2105025"/>
            <a:ext cx="3257550" cy="2524125"/>
          </a:xfrm>
          <a:custGeom>
            <a:avLst/>
            <a:gdLst/>
            <a:ahLst/>
            <a:cxnLst/>
            <a:rect l="0" t="0" r="0" b="0"/>
            <a:pathLst>
              <a:path w="3257550" h="2524125">
                <a:moveTo>
                  <a:pt x="95250" y="9525"/>
                </a:moveTo>
                <a:lnTo>
                  <a:pt x="3162300" y="9525"/>
                </a:lnTo>
                <a:cubicBezTo>
                  <a:pt x="3209925" y="9525"/>
                  <a:pt x="3248025" y="47625"/>
                  <a:pt x="3248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cloud VPC 云轮廓-233">
            <a:extLst>
              <a:ext uri="{FF2B5EF4-FFF2-40B4-BE49-F238E27FC236}">
                <a16:creationId xmlns:a16="http://schemas.microsoft.com/office/drawing/2014/main" id="{578C082D-4B00-444B-A12F-1C1F0E9F96E5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文字 中转 VPC-T-234">
            <a:extLst>
              <a:ext uri="{FF2B5EF4-FFF2-40B4-BE49-F238E27FC236}">
                <a16:creationId xmlns:a16="http://schemas.microsoft.com/office/drawing/2014/main" id="{EBC52C80-77BD-47E4-B1F0-30E96C351DBF}"/>
              </a:ext>
            </a:extLst>
          </p:cNvPr>
          <p:cNvSpPr>
            <a:spLocks noGrp="1"/>
          </p:cNvSpPr>
          <p:nvPr/>
        </p:nvSpPr>
        <p:spPr>
          <a:xfrm>
            <a:off x="5181600" y="2209800"/>
            <a:ext cx="23717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VPC-T</a:t>
            </a:r>
          </a:p>
        </p:txBody>
      </p:sp>
      <p:sp>
        <p:nvSpPr>
          <p:cNvPr id="20" name="统一风格-文字 10.61.0.0/24-235">
            <a:extLst>
              <a:ext uri="{FF2B5EF4-FFF2-40B4-BE49-F238E27FC236}">
                <a16:creationId xmlns:a16="http://schemas.microsoft.com/office/drawing/2014/main" id="{30D8036A-4AB7-42A9-AB7F-83102467E7F1}"/>
              </a:ext>
            </a:extLst>
          </p:cNvPr>
          <p:cNvSpPr>
            <a:spLocks noGrp="1"/>
          </p:cNvSpPr>
          <p:nvPr/>
        </p:nvSpPr>
        <p:spPr>
          <a:xfrm>
            <a:off x="5181600" y="2552700"/>
            <a:ext cx="23717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10.61.0.0/24</a:t>
            </a:r>
          </a:p>
        </p:txBody>
      </p:sp>
      <p:sp>
        <p:nvSpPr>
          <p:cNvPr id="21" name="统一风格-远端 VPC-B玻璃后沿-236">
            <a:extLst>
              <a:ext uri="{FF2B5EF4-FFF2-40B4-BE49-F238E27FC236}">
                <a16:creationId xmlns:a16="http://schemas.microsoft.com/office/drawing/2014/main" id="{4EF3B102-F20F-4E17-991C-4F68C1BA53C7}"/>
              </a:ext>
            </a:extLst>
          </p:cNvPr>
          <p:cNvSpPr>
            <a:spLocks noGrp="1"/>
          </p:cNvSpPr>
          <p:nvPr/>
        </p:nvSpPr>
        <p:spPr>
          <a:xfrm>
            <a:off x="80391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远端 VPC-B-237">
            <a:extLst>
              <a:ext uri="{FF2B5EF4-FFF2-40B4-BE49-F238E27FC236}">
                <a16:creationId xmlns:a16="http://schemas.microsoft.com/office/drawing/2014/main" id="{DD30A4C1-7003-4198-9297-3FBF4FB5D7CD}"/>
              </a:ext>
            </a:extLst>
          </p:cNvPr>
          <p:cNvSpPr>
            <a:spLocks noGrp="1"/>
          </p:cNvSpPr>
          <p:nvPr/>
        </p:nvSpPr>
        <p:spPr>
          <a:xfrm>
            <a:off x="8039100" y="2105025"/>
            <a:ext cx="3543300" cy="2524125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远端 VPC-B玻璃内沿-238">
            <a:extLst>
              <a:ext uri="{FF2B5EF4-FFF2-40B4-BE49-F238E27FC236}">
                <a16:creationId xmlns:a16="http://schemas.microsoft.com/office/drawing/2014/main" id="{79C055CC-DFEF-47C6-9CBE-DDB868DFAD4D}"/>
              </a:ext>
            </a:extLst>
          </p:cNvPr>
          <p:cNvSpPr>
            <a:spLocks noGrp="1"/>
          </p:cNvSpPr>
          <p:nvPr/>
        </p:nvSpPr>
        <p:spPr>
          <a:xfrm>
            <a:off x="8051959" y="2117884"/>
            <a:ext cx="3517583" cy="2498408"/>
          </a:xfrm>
          <a:prstGeom prst="roundRect">
            <a:avLst>
              <a:gd name="adj" fmla="val 29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远端 VPC-B边缘高光-239">
            <a:extLst>
              <a:ext uri="{FF2B5EF4-FFF2-40B4-BE49-F238E27FC236}">
                <a16:creationId xmlns:a16="http://schemas.microsoft.com/office/drawing/2014/main" id="{203B04C0-1C7B-46E2-9569-7D960CFAC4E2}"/>
              </a:ext>
            </a:extLst>
          </p:cNvPr>
          <p:cNvSpPr>
            <a:spLocks noGrp="1"/>
          </p:cNvSpPr>
          <p:nvPr/>
        </p:nvSpPr>
        <p:spPr>
          <a:xfrm>
            <a:off x="8039100" y="2105025"/>
            <a:ext cx="3543300" cy="2524125"/>
          </a:xfrm>
          <a:custGeom>
            <a:avLst/>
            <a:gdLst/>
            <a:ahLst/>
            <a:cxnLst/>
            <a:rect l="0" t="0" r="0" b="0"/>
            <a:pathLst>
              <a:path w="3543300" h="2524125">
                <a:moveTo>
                  <a:pt x="95250" y="9525"/>
                </a:moveTo>
                <a:lnTo>
                  <a:pt x="3448050" y="9525"/>
                </a:lnTo>
                <a:cubicBezTo>
                  <a:pt x="3495675" y="9525"/>
                  <a:pt x="3533775" y="47625"/>
                  <a:pt x="3533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cloud VPC 云轮廓-240">
            <a:extLst>
              <a:ext uri="{FF2B5EF4-FFF2-40B4-BE49-F238E27FC236}">
                <a16:creationId xmlns:a16="http://schemas.microsoft.com/office/drawing/2014/main" id="{F4C48185-AFEB-4DF0-8D6F-E1378D7E84C2}"/>
              </a:ext>
            </a:extLst>
          </p:cNvPr>
          <p:cNvSpPr>
            <a:spLocks noGrp="1"/>
          </p:cNvSpPr>
          <p:nvPr/>
        </p:nvSpPr>
        <p:spPr>
          <a:xfrm>
            <a:off x="8181975" y="2238375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远端 VPC-B-241">
            <a:extLst>
              <a:ext uri="{FF2B5EF4-FFF2-40B4-BE49-F238E27FC236}">
                <a16:creationId xmlns:a16="http://schemas.microsoft.com/office/drawing/2014/main" id="{7182E773-A81B-47E6-8A68-2B94BBAC1CA8}"/>
              </a:ext>
            </a:extLst>
          </p:cNvPr>
          <p:cNvSpPr>
            <a:spLocks noGrp="1"/>
          </p:cNvSpPr>
          <p:nvPr/>
        </p:nvSpPr>
        <p:spPr>
          <a:xfrm>
            <a:off x="8753475" y="2209800"/>
            <a:ext cx="26574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远端 VPC-B</a:t>
            </a:r>
          </a:p>
        </p:txBody>
      </p:sp>
      <p:sp>
        <p:nvSpPr>
          <p:cNvPr id="27" name="统一风格-文字 10.62.0.0/16-242">
            <a:extLst>
              <a:ext uri="{FF2B5EF4-FFF2-40B4-BE49-F238E27FC236}">
                <a16:creationId xmlns:a16="http://schemas.microsoft.com/office/drawing/2014/main" id="{048D1D1A-FAE7-4DBE-B0AB-3B835CF3519B}"/>
              </a:ext>
            </a:extLst>
          </p:cNvPr>
          <p:cNvSpPr>
            <a:spLocks noGrp="1"/>
          </p:cNvSpPr>
          <p:nvPr/>
        </p:nvSpPr>
        <p:spPr>
          <a:xfrm>
            <a:off x="8753475" y="2552700"/>
            <a:ext cx="2657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10.62.0.0/16</a:t>
            </a:r>
          </a:p>
        </p:txBody>
      </p:sp>
      <p:sp>
        <p:nvSpPr>
          <p:cNvPr id="28" name="统一风格-源 ECS玻璃后沿-243">
            <a:extLst>
              <a:ext uri="{FF2B5EF4-FFF2-40B4-BE49-F238E27FC236}">
                <a16:creationId xmlns:a16="http://schemas.microsoft.com/office/drawing/2014/main" id="{0BC7A69E-34B6-4275-AD40-A6AAC67B1175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162300" cy="638175"/>
          </a:xfrm>
          <a:prstGeom prst="roundRect">
            <a:avLst>
              <a:gd name="adj" fmla="val 1343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源 ECS-244">
            <a:extLst>
              <a:ext uri="{FF2B5EF4-FFF2-40B4-BE49-F238E27FC236}">
                <a16:creationId xmlns:a16="http://schemas.microsoft.com/office/drawing/2014/main" id="{2C1E5EB9-4D5E-48B0-8633-7CA20D2D7FF5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162300" cy="638175"/>
          </a:xfrm>
          <a:prstGeom prst="roundRect">
            <a:avLst>
              <a:gd name="adj" fmla="val 1343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源 ECS玻璃内沿-245">
            <a:extLst>
              <a:ext uri="{FF2B5EF4-FFF2-40B4-BE49-F238E27FC236}">
                <a16:creationId xmlns:a16="http://schemas.microsoft.com/office/drawing/2014/main" id="{217388B2-D6D0-4B23-A25B-C76BF1B00F5A}"/>
              </a:ext>
            </a:extLst>
          </p:cNvPr>
          <p:cNvSpPr>
            <a:spLocks noGrp="1"/>
          </p:cNvSpPr>
          <p:nvPr/>
        </p:nvSpPr>
        <p:spPr>
          <a:xfrm>
            <a:off x="812959" y="3022759"/>
            <a:ext cx="3136583" cy="612458"/>
          </a:xfrm>
          <a:prstGeom prst="roundRect">
            <a:avLst>
              <a:gd name="adj" fmla="val 1197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源 ECS边缘高光-246">
            <a:extLst>
              <a:ext uri="{FF2B5EF4-FFF2-40B4-BE49-F238E27FC236}">
                <a16:creationId xmlns:a16="http://schemas.microsoft.com/office/drawing/2014/main" id="{60BF2D09-331A-4B22-8208-E2FC49C29D14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162300" cy="638175"/>
          </a:xfrm>
          <a:custGeom>
            <a:avLst/>
            <a:gdLst/>
            <a:ahLst/>
            <a:cxnLst/>
            <a:rect l="0" t="0" r="0" b="0"/>
            <a:pathLst>
              <a:path w="3162300" h="638175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erver 服务器机架-247">
            <a:extLst>
              <a:ext uri="{FF2B5EF4-FFF2-40B4-BE49-F238E27FC236}">
                <a16:creationId xmlns:a16="http://schemas.microsoft.com/office/drawing/2014/main" id="{C68F6DA9-F64C-4321-8E0D-D869B2A3184A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erver 机架状态-248">
            <a:extLst>
              <a:ext uri="{FF2B5EF4-FFF2-40B4-BE49-F238E27FC236}">
                <a16:creationId xmlns:a16="http://schemas.microsoft.com/office/drawing/2014/main" id="{810EEA6E-D21B-43A2-BD7F-C011289084C0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erver 指示灯-249">
            <a:extLst>
              <a:ext uri="{FF2B5EF4-FFF2-40B4-BE49-F238E27FC236}">
                <a16:creationId xmlns:a16="http://schemas.microsoft.com/office/drawing/2014/main" id="{BD99DE98-7299-479C-BF38-57C1E88A5FBB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erver 服务器机架-250">
            <a:extLst>
              <a:ext uri="{FF2B5EF4-FFF2-40B4-BE49-F238E27FC236}">
                <a16:creationId xmlns:a16="http://schemas.microsoft.com/office/drawing/2014/main" id="{920F58F7-379F-4B5A-ADA5-E109F7E2E541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erver 机架状态-251">
            <a:extLst>
              <a:ext uri="{FF2B5EF4-FFF2-40B4-BE49-F238E27FC236}">
                <a16:creationId xmlns:a16="http://schemas.microsoft.com/office/drawing/2014/main" id="{8CD60119-5C2C-4B10-A769-D6E8533E8220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erver 指示灯-252">
            <a:extLst>
              <a:ext uri="{FF2B5EF4-FFF2-40B4-BE49-F238E27FC236}">
                <a16:creationId xmlns:a16="http://schemas.microsoft.com/office/drawing/2014/main" id="{0B891793-C5C5-4C44-97DB-7C8AF01BD051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server 服务器机架-253">
            <a:extLst>
              <a:ext uri="{FF2B5EF4-FFF2-40B4-BE49-F238E27FC236}">
                <a16:creationId xmlns:a16="http://schemas.microsoft.com/office/drawing/2014/main" id="{2D377068-B2B7-46D3-92C9-514CB07DB3A5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机架状态-254">
            <a:extLst>
              <a:ext uri="{FF2B5EF4-FFF2-40B4-BE49-F238E27FC236}">
                <a16:creationId xmlns:a16="http://schemas.microsoft.com/office/drawing/2014/main" id="{D01CFD8B-5283-48F5-A348-6DBCA9ACAD6F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server 指示灯-255">
            <a:extLst>
              <a:ext uri="{FF2B5EF4-FFF2-40B4-BE49-F238E27FC236}">
                <a16:creationId xmlns:a16="http://schemas.microsoft.com/office/drawing/2014/main" id="{DACD32C7-5F5C-4C3D-8581-FAF8DA9371AB}"/>
              </a:ext>
            </a:extLst>
          </p:cNvPr>
          <p:cNvSpPr>
            <a:spLocks noGrp="1"/>
          </p:cNvSpPr>
          <p:nvPr/>
        </p:nvSpPr>
        <p:spPr>
          <a:xfrm>
            <a:off x="942975" y="3119438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源 ECS-256">
            <a:extLst>
              <a:ext uri="{FF2B5EF4-FFF2-40B4-BE49-F238E27FC236}">
                <a16:creationId xmlns:a16="http://schemas.microsoft.com/office/drawing/2014/main" id="{252BAF6E-F9A7-4AE2-A602-C8CE47120E0F}"/>
              </a:ext>
            </a:extLst>
          </p:cNvPr>
          <p:cNvSpPr>
            <a:spLocks noGrp="1"/>
          </p:cNvSpPr>
          <p:nvPr/>
        </p:nvSpPr>
        <p:spPr>
          <a:xfrm>
            <a:off x="1514475" y="306705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ECS</a:t>
            </a:r>
          </a:p>
        </p:txBody>
      </p:sp>
      <p:sp>
        <p:nvSpPr>
          <p:cNvPr id="42" name="统一风格-文字 10.60.1.20-257">
            <a:extLst>
              <a:ext uri="{FF2B5EF4-FFF2-40B4-BE49-F238E27FC236}">
                <a16:creationId xmlns:a16="http://schemas.microsoft.com/office/drawing/2014/main" id="{242DB2E7-EDBD-424B-9579-A378F8BE8985}"/>
              </a:ext>
            </a:extLst>
          </p:cNvPr>
          <p:cNvSpPr>
            <a:spLocks noGrp="1"/>
          </p:cNvSpPr>
          <p:nvPr/>
        </p:nvSpPr>
        <p:spPr>
          <a:xfrm>
            <a:off x="1514475" y="3362325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10.60.1.20</a:t>
            </a:r>
          </a:p>
        </p:txBody>
      </p:sp>
      <p:sp>
        <p:nvSpPr>
          <p:cNvPr id="43" name="统一风格-私网 NAT玻璃后沿-258">
            <a:extLst>
              <a:ext uri="{FF2B5EF4-FFF2-40B4-BE49-F238E27FC236}">
                <a16:creationId xmlns:a16="http://schemas.microsoft.com/office/drawing/2014/main" id="{2C98DC39-053F-4C6E-81F7-46EE8B4F78E0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1623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私网 NAT-259">
            <a:extLst>
              <a:ext uri="{FF2B5EF4-FFF2-40B4-BE49-F238E27FC236}">
                <a16:creationId xmlns:a16="http://schemas.microsoft.com/office/drawing/2014/main" id="{E9895F8A-F361-45BA-BDD9-6EDC5CD55D5A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1623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私网 NAT玻璃内沿-260">
            <a:extLst>
              <a:ext uri="{FF2B5EF4-FFF2-40B4-BE49-F238E27FC236}">
                <a16:creationId xmlns:a16="http://schemas.microsoft.com/office/drawing/2014/main" id="{27BC46B0-454A-464B-8A2F-4C539DF0CECB}"/>
              </a:ext>
            </a:extLst>
          </p:cNvPr>
          <p:cNvSpPr>
            <a:spLocks noGrp="1"/>
          </p:cNvSpPr>
          <p:nvPr/>
        </p:nvSpPr>
        <p:spPr>
          <a:xfrm>
            <a:off x="812959" y="3841909"/>
            <a:ext cx="31365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私网 NAT边缘高光-261">
            <a:extLst>
              <a:ext uri="{FF2B5EF4-FFF2-40B4-BE49-F238E27FC236}">
                <a16:creationId xmlns:a16="http://schemas.microsoft.com/office/drawing/2014/main" id="{2931F6A9-7B8C-429B-B6C5-0EDEE85FC877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162300" cy="609600"/>
          </a:xfrm>
          <a:custGeom>
            <a:avLst/>
            <a:gdLst/>
            <a:ahLst/>
            <a:cxnLst/>
            <a:rect l="0" t="0" r="0" b="0"/>
            <a:pathLst>
              <a:path w="3162300" h="609600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nat NAT 网关-262">
            <a:extLst>
              <a:ext uri="{FF2B5EF4-FFF2-40B4-BE49-F238E27FC236}">
                <a16:creationId xmlns:a16="http://schemas.microsoft.com/office/drawing/2014/main" id="{E02F0B45-FFA8-4E43-9494-19787814C0F4}"/>
              </a:ext>
            </a:extLst>
          </p:cNvPr>
          <p:cNvSpPr>
            <a:spLocks noGrp="1"/>
          </p:cNvSpPr>
          <p:nvPr/>
        </p:nvSpPr>
        <p:spPr>
          <a:xfrm>
            <a:off x="942975" y="3924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nat 地址转换-263">
            <a:extLst>
              <a:ext uri="{FF2B5EF4-FFF2-40B4-BE49-F238E27FC236}">
                <a16:creationId xmlns:a16="http://schemas.microsoft.com/office/drawing/2014/main" id="{4DAC8969-57EA-4B28-9044-442BAAEFE4D1}"/>
              </a:ext>
            </a:extLst>
          </p:cNvPr>
          <p:cNvSpPr>
            <a:spLocks noGrp="1"/>
          </p:cNvSpPr>
          <p:nvPr/>
        </p:nvSpPr>
        <p:spPr>
          <a:xfrm>
            <a:off x="942975" y="3924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私网 NAT-264">
            <a:extLst>
              <a:ext uri="{FF2B5EF4-FFF2-40B4-BE49-F238E27FC236}">
                <a16:creationId xmlns:a16="http://schemas.microsoft.com/office/drawing/2014/main" id="{E7E6ABAD-D3A5-4DDE-A268-11030F446DE6}"/>
              </a:ext>
            </a:extLst>
          </p:cNvPr>
          <p:cNvSpPr>
            <a:spLocks noGrp="1"/>
          </p:cNvSpPr>
          <p:nvPr/>
        </p:nvSpPr>
        <p:spPr>
          <a:xfrm>
            <a:off x="1514475" y="388620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</a:t>
            </a:r>
          </a:p>
        </p:txBody>
      </p:sp>
      <p:sp>
        <p:nvSpPr>
          <p:cNvPr id="50" name="统一风格-文字 SNAT 统一源 IP-265">
            <a:extLst>
              <a:ext uri="{FF2B5EF4-FFF2-40B4-BE49-F238E27FC236}">
                <a16:creationId xmlns:a16="http://schemas.microsoft.com/office/drawing/2014/main" id="{FFF115BE-F6BC-4DBF-915E-F7D3DE6E5DD3}"/>
              </a:ext>
            </a:extLst>
          </p:cNvPr>
          <p:cNvSpPr>
            <a:spLocks noGrp="1"/>
          </p:cNvSpPr>
          <p:nvPr/>
        </p:nvSpPr>
        <p:spPr>
          <a:xfrm>
            <a:off x="1514475" y="4181475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统一源 IP</a:t>
            </a:r>
          </a:p>
        </p:txBody>
      </p:sp>
      <p:sp>
        <p:nvSpPr>
          <p:cNvPr id="51" name="统一风格-中转 IP玻璃后沿-266">
            <a:extLst>
              <a:ext uri="{FF2B5EF4-FFF2-40B4-BE49-F238E27FC236}">
                <a16:creationId xmlns:a16="http://schemas.microsoft.com/office/drawing/2014/main" id="{9A6F0B11-4AE2-4B03-86CC-B82272285700}"/>
              </a:ext>
            </a:extLst>
          </p:cNvPr>
          <p:cNvSpPr>
            <a:spLocks noGrp="1"/>
          </p:cNvSpPr>
          <p:nvPr/>
        </p:nvSpPr>
        <p:spPr>
          <a:xfrm>
            <a:off x="4657725" y="3019425"/>
            <a:ext cx="287655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中转 IP-267">
            <a:extLst>
              <a:ext uri="{FF2B5EF4-FFF2-40B4-BE49-F238E27FC236}">
                <a16:creationId xmlns:a16="http://schemas.microsoft.com/office/drawing/2014/main" id="{54C42362-2DCC-42A2-91DF-E23F67DE937D}"/>
              </a:ext>
            </a:extLst>
          </p:cNvPr>
          <p:cNvSpPr>
            <a:spLocks noGrp="1"/>
          </p:cNvSpPr>
          <p:nvPr/>
        </p:nvSpPr>
        <p:spPr>
          <a:xfrm>
            <a:off x="4657725" y="3019425"/>
            <a:ext cx="287655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中转 IP玻璃内沿-268">
            <a:extLst>
              <a:ext uri="{FF2B5EF4-FFF2-40B4-BE49-F238E27FC236}">
                <a16:creationId xmlns:a16="http://schemas.microsoft.com/office/drawing/2014/main" id="{52E04C31-D9D4-47BF-B400-DD9A26402115}"/>
              </a:ext>
            </a:extLst>
          </p:cNvPr>
          <p:cNvSpPr>
            <a:spLocks noGrp="1"/>
          </p:cNvSpPr>
          <p:nvPr/>
        </p:nvSpPr>
        <p:spPr>
          <a:xfrm>
            <a:off x="4670584" y="3032284"/>
            <a:ext cx="2850833" cy="698183"/>
          </a:xfrm>
          <a:prstGeom prst="roundRect">
            <a:avLst>
              <a:gd name="adj" fmla="val 105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中转 IP边缘高光-269">
            <a:extLst>
              <a:ext uri="{FF2B5EF4-FFF2-40B4-BE49-F238E27FC236}">
                <a16:creationId xmlns:a16="http://schemas.microsoft.com/office/drawing/2014/main" id="{BD085D79-506F-4BD0-8535-920E8CC04793}"/>
              </a:ext>
            </a:extLst>
          </p:cNvPr>
          <p:cNvSpPr>
            <a:spLocks noGrp="1"/>
          </p:cNvSpPr>
          <p:nvPr/>
        </p:nvSpPr>
        <p:spPr>
          <a:xfrm>
            <a:off x="4657725" y="3019425"/>
            <a:ext cx="2876550" cy="723900"/>
          </a:xfrm>
          <a:custGeom>
            <a:avLst/>
            <a:gdLst/>
            <a:ahLst/>
            <a:cxnLst/>
            <a:rect l="0" t="0" r="0" b="0"/>
            <a:pathLst>
              <a:path w="2876550" h="723900">
                <a:moveTo>
                  <a:pt x="95250" y="9525"/>
                </a:moveTo>
                <a:lnTo>
                  <a:pt x="2781300" y="9525"/>
                </a:lnTo>
                <a:cubicBezTo>
                  <a:pt x="2828925" y="9525"/>
                  <a:pt x="2867025" y="47625"/>
                  <a:pt x="28670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nat NAT 网关-270">
            <a:extLst>
              <a:ext uri="{FF2B5EF4-FFF2-40B4-BE49-F238E27FC236}">
                <a16:creationId xmlns:a16="http://schemas.microsoft.com/office/drawing/2014/main" id="{C3E8FA4B-88DD-48A7-A4FD-3AD11F509D98}"/>
              </a:ext>
            </a:extLst>
          </p:cNvPr>
          <p:cNvSpPr>
            <a:spLocks noGrp="1"/>
          </p:cNvSpPr>
          <p:nvPr/>
        </p:nvSpPr>
        <p:spPr>
          <a:xfrm>
            <a:off x="4800600" y="3171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nat 地址转换-271">
            <a:extLst>
              <a:ext uri="{FF2B5EF4-FFF2-40B4-BE49-F238E27FC236}">
                <a16:creationId xmlns:a16="http://schemas.microsoft.com/office/drawing/2014/main" id="{EEED78C4-8FE4-4BC2-B5F2-AF051E543A51}"/>
              </a:ext>
            </a:extLst>
          </p:cNvPr>
          <p:cNvSpPr>
            <a:spLocks noGrp="1"/>
          </p:cNvSpPr>
          <p:nvPr/>
        </p:nvSpPr>
        <p:spPr>
          <a:xfrm>
            <a:off x="4800600" y="31718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中转 IP-272">
            <a:extLst>
              <a:ext uri="{FF2B5EF4-FFF2-40B4-BE49-F238E27FC236}">
                <a16:creationId xmlns:a16="http://schemas.microsoft.com/office/drawing/2014/main" id="{5CDD0B30-62A4-448B-BDDF-47EBC66CC276}"/>
              </a:ext>
            </a:extLst>
          </p:cNvPr>
          <p:cNvSpPr>
            <a:spLocks noGrp="1"/>
          </p:cNvSpPr>
          <p:nvPr/>
        </p:nvSpPr>
        <p:spPr>
          <a:xfrm>
            <a:off x="5372100" y="3076575"/>
            <a:ext cx="20097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中转 IP</a:t>
            </a:r>
          </a:p>
        </p:txBody>
      </p:sp>
      <p:sp>
        <p:nvSpPr>
          <p:cNvPr id="58" name="统一风格-文字 10.61.0.10-273">
            <a:extLst>
              <a:ext uri="{FF2B5EF4-FFF2-40B4-BE49-F238E27FC236}">
                <a16:creationId xmlns:a16="http://schemas.microsoft.com/office/drawing/2014/main" id="{24FE0934-66E9-4998-8394-2AAE11BA1ED3}"/>
              </a:ext>
            </a:extLst>
          </p:cNvPr>
          <p:cNvSpPr>
            <a:spLocks noGrp="1"/>
          </p:cNvSpPr>
          <p:nvPr/>
        </p:nvSpPr>
        <p:spPr>
          <a:xfrm>
            <a:off x="5372100" y="3371850"/>
            <a:ext cx="20097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10.61.0.10</a:t>
            </a:r>
          </a:p>
        </p:txBody>
      </p:sp>
      <p:sp>
        <p:nvSpPr>
          <p:cNvPr id="59" name="统一风格-目标服务玻璃后沿-274">
            <a:extLst>
              <a:ext uri="{FF2B5EF4-FFF2-40B4-BE49-F238E27FC236}">
                <a16:creationId xmlns:a16="http://schemas.microsoft.com/office/drawing/2014/main" id="{9DF11952-E040-4D94-AF3B-41D84ACE6E9E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31623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目标服务-275">
            <a:extLst>
              <a:ext uri="{FF2B5EF4-FFF2-40B4-BE49-F238E27FC236}">
                <a16:creationId xmlns:a16="http://schemas.microsoft.com/office/drawing/2014/main" id="{A78E1F9D-D42C-4908-A761-5FFDA7B9749C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31623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目标服务玻璃内沿-276">
            <a:extLst>
              <a:ext uri="{FF2B5EF4-FFF2-40B4-BE49-F238E27FC236}">
                <a16:creationId xmlns:a16="http://schemas.microsoft.com/office/drawing/2014/main" id="{09157CD6-F3C6-4FCE-A959-B2A5E5A42EAF}"/>
              </a:ext>
            </a:extLst>
          </p:cNvPr>
          <p:cNvSpPr>
            <a:spLocks noGrp="1"/>
          </p:cNvSpPr>
          <p:nvPr/>
        </p:nvSpPr>
        <p:spPr>
          <a:xfrm>
            <a:off x="8242459" y="3022759"/>
            <a:ext cx="3136583" cy="698183"/>
          </a:xfrm>
          <a:prstGeom prst="roundRect">
            <a:avLst>
              <a:gd name="adj" fmla="val 1050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目标服务边缘高光-277">
            <a:extLst>
              <a:ext uri="{FF2B5EF4-FFF2-40B4-BE49-F238E27FC236}">
                <a16:creationId xmlns:a16="http://schemas.microsoft.com/office/drawing/2014/main" id="{1DFB06BC-0FCD-41ED-B4F5-F98CC2A4D14E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3162300" cy="723900"/>
          </a:xfrm>
          <a:custGeom>
            <a:avLst/>
            <a:gdLst/>
            <a:ahLst/>
            <a:cxnLst/>
            <a:rect l="0" t="0" r="0" b="0"/>
            <a:pathLst>
              <a:path w="3162300" h="723900">
                <a:moveTo>
                  <a:pt x="95250" y="9525"/>
                </a:moveTo>
                <a:lnTo>
                  <a:pt x="3067050" y="9525"/>
                </a:lnTo>
                <a:cubicBezTo>
                  <a:pt x="3114675" y="9525"/>
                  <a:pt x="3152775" y="47625"/>
                  <a:pt x="3152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server 服务器机架-278">
            <a:extLst>
              <a:ext uri="{FF2B5EF4-FFF2-40B4-BE49-F238E27FC236}">
                <a16:creationId xmlns:a16="http://schemas.microsoft.com/office/drawing/2014/main" id="{CD8DB568-12E5-4E2E-9091-6B5943A58560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server 机架状态-279">
            <a:extLst>
              <a:ext uri="{FF2B5EF4-FFF2-40B4-BE49-F238E27FC236}">
                <a16:creationId xmlns:a16="http://schemas.microsoft.com/office/drawing/2014/main" id="{F7088662-E2C7-4C64-B2D8-B6DED58AA910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server 指示灯-280">
            <a:extLst>
              <a:ext uri="{FF2B5EF4-FFF2-40B4-BE49-F238E27FC236}">
                <a16:creationId xmlns:a16="http://schemas.microsoft.com/office/drawing/2014/main" id="{7B8989CB-7ABB-4C43-A2F1-4B695B08B2C9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server 服务器机架-281">
            <a:extLst>
              <a:ext uri="{FF2B5EF4-FFF2-40B4-BE49-F238E27FC236}">
                <a16:creationId xmlns:a16="http://schemas.microsoft.com/office/drawing/2014/main" id="{F918A2C3-18F6-4E2A-AB08-0DB779A8C077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server 机架状态-282">
            <a:extLst>
              <a:ext uri="{FF2B5EF4-FFF2-40B4-BE49-F238E27FC236}">
                <a16:creationId xmlns:a16="http://schemas.microsoft.com/office/drawing/2014/main" id="{563EA57E-B539-40EC-B370-642BB40ACF0E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server 指示灯-283">
            <a:extLst>
              <a:ext uri="{FF2B5EF4-FFF2-40B4-BE49-F238E27FC236}">
                <a16:creationId xmlns:a16="http://schemas.microsoft.com/office/drawing/2014/main" id="{9EF34435-FF10-437C-839A-F740C20D884C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server 服务器机架-284">
            <a:extLst>
              <a:ext uri="{FF2B5EF4-FFF2-40B4-BE49-F238E27FC236}">
                <a16:creationId xmlns:a16="http://schemas.microsoft.com/office/drawing/2014/main" id="{3A2A38C2-299B-42DB-AF3E-8C312CD1338D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server 机架状态-285">
            <a:extLst>
              <a:ext uri="{FF2B5EF4-FFF2-40B4-BE49-F238E27FC236}">
                <a16:creationId xmlns:a16="http://schemas.microsoft.com/office/drawing/2014/main" id="{BE141F34-46BB-4CA0-8093-D16D1630D551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server 指示灯-286">
            <a:extLst>
              <a:ext uri="{FF2B5EF4-FFF2-40B4-BE49-F238E27FC236}">
                <a16:creationId xmlns:a16="http://schemas.microsoft.com/office/drawing/2014/main" id="{67FCA699-32B3-4FA1-BCDB-ABA269F8000C}"/>
              </a:ext>
            </a:extLst>
          </p:cNvPr>
          <p:cNvSpPr>
            <a:spLocks noGrp="1"/>
          </p:cNvSpPr>
          <p:nvPr/>
        </p:nvSpPr>
        <p:spPr>
          <a:xfrm>
            <a:off x="8372475" y="3162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文字 目标服务-287">
            <a:extLst>
              <a:ext uri="{FF2B5EF4-FFF2-40B4-BE49-F238E27FC236}">
                <a16:creationId xmlns:a16="http://schemas.microsoft.com/office/drawing/2014/main" id="{42A79AD9-2727-4E62-9338-1A98F3651FA2}"/>
              </a:ext>
            </a:extLst>
          </p:cNvPr>
          <p:cNvSpPr>
            <a:spLocks noGrp="1"/>
          </p:cNvSpPr>
          <p:nvPr/>
        </p:nvSpPr>
        <p:spPr>
          <a:xfrm>
            <a:off x="8943975" y="306705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3" name="统一风格-文字 10.62.1.10:443-288">
            <a:extLst>
              <a:ext uri="{FF2B5EF4-FFF2-40B4-BE49-F238E27FC236}">
                <a16:creationId xmlns:a16="http://schemas.microsoft.com/office/drawing/2014/main" id="{0570A03C-8DC6-49BC-8B79-D3023C7188AC}"/>
              </a:ext>
            </a:extLst>
          </p:cNvPr>
          <p:cNvSpPr>
            <a:spLocks noGrp="1"/>
          </p:cNvSpPr>
          <p:nvPr/>
        </p:nvSpPr>
        <p:spPr>
          <a:xfrm>
            <a:off x="8943975" y="3362325"/>
            <a:ext cx="22955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10.62.1.10:443</a:t>
            </a:r>
          </a:p>
        </p:txBody>
      </p:sp>
      <p:sp>
        <p:nvSpPr>
          <p:cNvPr id="74" name="统一风格-文字 由中转 VPC 的 对等连接到远端-289">
            <a:extLst>
              <a:ext uri="{FF2B5EF4-FFF2-40B4-BE49-F238E27FC236}">
                <a16:creationId xmlns:a16="http://schemas.microsoft.com/office/drawing/2014/main" id="{43C2AB7A-114A-410E-BBF0-82DEE53EB50C}"/>
              </a:ext>
            </a:extLst>
          </p:cNvPr>
          <p:cNvSpPr>
            <a:spLocks noGrp="1"/>
          </p:cNvSpPr>
          <p:nvPr/>
        </p:nvSpPr>
        <p:spPr>
          <a:xfrm>
            <a:off x="4657725" y="3990975"/>
            <a:ext cx="2876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由中转 VPC 的</a:t>
            </a:r>
          </a:p>
          <a:p>
            <a:pPr algn="ctr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对等连接到远端</a:t>
            </a:r>
          </a:p>
        </p:txBody>
      </p:sp>
      <p:cxnSp>
        <p:nvCxnSpPr>
          <p:cNvPr id="75" name="私网访问连接">
            <a:extLst>
              <a:ext uri="{FF2B5EF4-FFF2-40B4-BE49-F238E27FC236}">
                <a16:creationId xmlns:a16="http://schemas.microsoft.com/office/drawing/2014/main" id="{116A9CAA-93A6-4ED9-8871-0F320E2AC5AE}"/>
              </a:ext>
            </a:extLst>
          </p:cNvPr>
          <p:cNvCxnSpPr/>
          <p:nvPr/>
        </p:nvCxnSpPr>
        <p:spPr>
          <a:xfrm>
            <a:off x="2381250" y="3648075"/>
            <a:ext cx="0" cy="180975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76" name="私网访问连接">
            <a:extLst>
              <a:ext uri="{FF2B5EF4-FFF2-40B4-BE49-F238E27FC236}">
                <a16:creationId xmlns:a16="http://schemas.microsoft.com/office/drawing/2014/main" id="{7F92EA58-DEF4-4E74-9A82-32498CB07D11}"/>
              </a:ext>
            </a:extLst>
          </p:cNvPr>
          <p:cNvCxnSpPr/>
          <p:nvPr/>
        </p:nvCxnSpPr>
        <p:spPr>
          <a:xfrm>
            <a:off x="3962400" y="4133850"/>
            <a:ext cx="342900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77" name="私网访问连接">
            <a:extLst>
              <a:ext uri="{FF2B5EF4-FFF2-40B4-BE49-F238E27FC236}">
                <a16:creationId xmlns:a16="http://schemas.microsoft.com/office/drawing/2014/main" id="{7ADF3642-3A49-43CF-923B-03E224E0A24B}"/>
              </a:ext>
            </a:extLst>
          </p:cNvPr>
          <p:cNvCxnSpPr/>
          <p:nvPr/>
        </p:nvCxnSpPr>
        <p:spPr>
          <a:xfrm flipV="1">
            <a:off x="4305300" y="3381375"/>
            <a:ext cx="0" cy="752475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78" name="私网访问连接">
            <a:extLst>
              <a:ext uri="{FF2B5EF4-FFF2-40B4-BE49-F238E27FC236}">
                <a16:creationId xmlns:a16="http://schemas.microsoft.com/office/drawing/2014/main" id="{E3D1EA51-D2FC-4C7E-B1EC-A77A5CD8EA97}"/>
              </a:ext>
            </a:extLst>
          </p:cNvPr>
          <p:cNvCxnSpPr/>
          <p:nvPr/>
        </p:nvCxnSpPr>
        <p:spPr>
          <a:xfrm>
            <a:off x="4305300" y="3381375"/>
            <a:ext cx="3524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79" name="私网访问连接">
            <a:extLst>
              <a:ext uri="{FF2B5EF4-FFF2-40B4-BE49-F238E27FC236}">
                <a16:creationId xmlns:a16="http://schemas.microsoft.com/office/drawing/2014/main" id="{5B7417DC-3D9C-46DF-908F-5395A598A440}"/>
              </a:ext>
            </a:extLst>
          </p:cNvPr>
          <p:cNvCxnSpPr/>
          <p:nvPr/>
        </p:nvCxnSpPr>
        <p:spPr>
          <a:xfrm>
            <a:off x="7534275" y="3381375"/>
            <a:ext cx="69532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80" name="统一风格-文字 Peering-290">
            <a:extLst>
              <a:ext uri="{FF2B5EF4-FFF2-40B4-BE49-F238E27FC236}">
                <a16:creationId xmlns:a16="http://schemas.microsoft.com/office/drawing/2014/main" id="{636A542F-1046-4F11-9BB9-F2395A823949}"/>
              </a:ext>
            </a:extLst>
          </p:cNvPr>
          <p:cNvSpPr>
            <a:spLocks noGrp="1"/>
          </p:cNvSpPr>
          <p:nvPr/>
        </p:nvSpPr>
        <p:spPr>
          <a:xfrm>
            <a:off x="7515225" y="2914650"/>
            <a:ext cx="7524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Peering</a:t>
            </a:r>
          </a:p>
        </p:txBody>
      </p:sp>
      <p:sp>
        <p:nvSpPr>
          <p:cNvPr id="81" name="统一风格-转换前：源业务地址玻璃后沿-291">
            <a:extLst>
              <a:ext uri="{FF2B5EF4-FFF2-40B4-BE49-F238E27FC236}">
                <a16:creationId xmlns:a16="http://schemas.microsoft.com/office/drawing/2014/main" id="{256B176D-5D5A-442E-A72A-B861A1568043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转换前：源业务地址-292">
            <a:extLst>
              <a:ext uri="{FF2B5EF4-FFF2-40B4-BE49-F238E27FC236}">
                <a16:creationId xmlns:a16="http://schemas.microsoft.com/office/drawing/2014/main" id="{6EC088B7-9134-4576-8849-DC20684951C7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转换前：源业务地址玻璃内沿-293">
            <a:extLst>
              <a:ext uri="{FF2B5EF4-FFF2-40B4-BE49-F238E27FC236}">
                <a16:creationId xmlns:a16="http://schemas.microsoft.com/office/drawing/2014/main" id="{22236232-EF89-4CA9-BAC0-485516BE734E}"/>
              </a:ext>
            </a:extLst>
          </p:cNvPr>
          <p:cNvSpPr>
            <a:spLocks noGrp="1"/>
          </p:cNvSpPr>
          <p:nvPr/>
        </p:nvSpPr>
        <p:spPr>
          <a:xfrm>
            <a:off x="622459" y="4889659"/>
            <a:ext cx="5232083" cy="983933"/>
          </a:xfrm>
          <a:prstGeom prst="roundRect">
            <a:avLst>
              <a:gd name="adj" fmla="val 745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统一风格-转换前：源业务地址边缘高光-294">
            <a:extLst>
              <a:ext uri="{FF2B5EF4-FFF2-40B4-BE49-F238E27FC236}">
                <a16:creationId xmlns:a16="http://schemas.microsoft.com/office/drawing/2014/main" id="{84BCB34B-C836-46BC-8441-EE4DD5C5E8E3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257800" cy="1009650"/>
          </a:xfrm>
          <a:custGeom>
            <a:avLst/>
            <a:gdLst/>
            <a:ahLst/>
            <a:cxnLst/>
            <a:rect l="0" t="0" r="0" b="0"/>
            <a:pathLst>
              <a:path w="5257800" h="10096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5" name="统一风格-文字 转换前：源业务地址-295">
            <a:extLst>
              <a:ext uri="{FF2B5EF4-FFF2-40B4-BE49-F238E27FC236}">
                <a16:creationId xmlns:a16="http://schemas.microsoft.com/office/drawing/2014/main" id="{4D7630CE-11FA-49D5-B9D0-3CAECA1DFD81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转换前：源业务地址</a:t>
            </a:r>
          </a:p>
        </p:txBody>
      </p:sp>
      <p:sp>
        <p:nvSpPr>
          <p:cNvPr id="86" name="统一风格-文字 10.60.1.20 访问 10.62.1.10:443-296">
            <a:extLst>
              <a:ext uri="{FF2B5EF4-FFF2-40B4-BE49-F238E27FC236}">
                <a16:creationId xmlns:a16="http://schemas.microsoft.com/office/drawing/2014/main" id="{485DC64A-F158-4FA0-9B46-646FC4B33AFA}"/>
              </a:ext>
            </a:extLst>
          </p:cNvPr>
          <p:cNvSpPr>
            <a:spLocks noGrp="1"/>
          </p:cNvSpPr>
          <p:nvPr/>
        </p:nvSpPr>
        <p:spPr>
          <a:xfrm>
            <a:off x="809625" y="5362575"/>
            <a:ext cx="4857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10.60.1.20 访问 10.62.1.10:443</a:t>
            </a:r>
          </a:p>
        </p:txBody>
      </p:sp>
      <p:sp>
        <p:nvSpPr>
          <p:cNvPr id="87" name="统一风格-转换后：远端可见源玻璃后沿-297">
            <a:extLst>
              <a:ext uri="{FF2B5EF4-FFF2-40B4-BE49-F238E27FC236}">
                <a16:creationId xmlns:a16="http://schemas.microsoft.com/office/drawing/2014/main" id="{B4D5EB95-0173-4A3F-997C-1C7B6C1025B0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统一风格-转换后：远端可见源-298">
            <a:extLst>
              <a:ext uri="{FF2B5EF4-FFF2-40B4-BE49-F238E27FC236}">
                <a16:creationId xmlns:a16="http://schemas.microsoft.com/office/drawing/2014/main" id="{F679B8C4-9885-44C8-8227-4630809FC034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5257800" cy="1009650"/>
          </a:xfrm>
          <a:prstGeom prst="roundRect">
            <a:avLst>
              <a:gd name="adj" fmla="val 849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转换后：远端可见源玻璃内沿-299">
            <a:extLst>
              <a:ext uri="{FF2B5EF4-FFF2-40B4-BE49-F238E27FC236}">
                <a16:creationId xmlns:a16="http://schemas.microsoft.com/office/drawing/2014/main" id="{1C38A566-1DBB-4524-97B7-B7B192349943}"/>
              </a:ext>
            </a:extLst>
          </p:cNvPr>
          <p:cNvSpPr>
            <a:spLocks noGrp="1"/>
          </p:cNvSpPr>
          <p:nvPr/>
        </p:nvSpPr>
        <p:spPr>
          <a:xfrm>
            <a:off x="6337459" y="4889659"/>
            <a:ext cx="5232083" cy="983933"/>
          </a:xfrm>
          <a:prstGeom prst="roundRect">
            <a:avLst>
              <a:gd name="adj" fmla="val 745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转换后：远端可见源边缘高光-300">
            <a:extLst>
              <a:ext uri="{FF2B5EF4-FFF2-40B4-BE49-F238E27FC236}">
                <a16:creationId xmlns:a16="http://schemas.microsoft.com/office/drawing/2014/main" id="{27A90297-9E5F-42C2-8885-9E36F4513C8D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5257800" cy="1009650"/>
          </a:xfrm>
          <a:custGeom>
            <a:avLst/>
            <a:gdLst/>
            <a:ahLst/>
            <a:cxnLst/>
            <a:rect l="0" t="0" r="0" b="0"/>
            <a:pathLst>
              <a:path w="5257800" h="10096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文字 转换后：远端可见源-301">
            <a:extLst>
              <a:ext uri="{FF2B5EF4-FFF2-40B4-BE49-F238E27FC236}">
                <a16:creationId xmlns:a16="http://schemas.microsoft.com/office/drawing/2014/main" id="{06FD3942-AD53-4F09-9729-6A9E1F23737E}"/>
              </a:ext>
            </a:extLst>
          </p:cNvPr>
          <p:cNvSpPr>
            <a:spLocks noGrp="1"/>
          </p:cNvSpPr>
          <p:nvPr/>
        </p:nvSpPr>
        <p:spPr>
          <a:xfrm>
            <a:off x="6524625" y="50006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转换后：远端可见源</a:t>
            </a:r>
          </a:p>
        </p:txBody>
      </p:sp>
      <p:sp>
        <p:nvSpPr>
          <p:cNvPr id="92" name="统一风格-文字 10.61.0.10 访问 10.62.1.10:443-302">
            <a:extLst>
              <a:ext uri="{FF2B5EF4-FFF2-40B4-BE49-F238E27FC236}">
                <a16:creationId xmlns:a16="http://schemas.microsoft.com/office/drawing/2014/main" id="{AA988CDE-5DA5-4576-AAC5-BA1EF5952E36}"/>
              </a:ext>
            </a:extLst>
          </p:cNvPr>
          <p:cNvSpPr>
            <a:spLocks noGrp="1"/>
          </p:cNvSpPr>
          <p:nvPr/>
        </p:nvSpPr>
        <p:spPr>
          <a:xfrm>
            <a:off x="6524625" y="5362575"/>
            <a:ext cx="4857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10.61.0.10 访问 10.62.1.10:443</a:t>
            </a:r>
          </a:p>
        </p:txBody>
      </p:sp>
    </p:spTree>
    <p:extLst>
      <p:ext uri="{BB962C8B-B14F-4D97-AF65-F5344CB8AC3E}">
        <p14:creationId xmlns:p14="http://schemas.microsoft.com/office/powerpoint/2010/main" val="885703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统一风格-文字 02  网络互联方案-303">
            <a:extLst>
              <a:ext uri="{FF2B5EF4-FFF2-40B4-BE49-F238E27FC236}">
                <a16:creationId xmlns:a16="http://schemas.microsoft.com/office/drawing/2014/main" id="{3DC27CD5-2796-40E4-95FA-1DD2A9F96B4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私网 NAT：路由、安全与访问验收-304">
            <a:extLst>
              <a:ext uri="{FF2B5EF4-FFF2-40B4-BE49-F238E27FC236}">
                <a16:creationId xmlns:a16="http://schemas.microsoft.com/office/drawing/2014/main" id="{2DEC403C-B9EF-4C1A-8676-285DC910D70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NAT：路由、安全与访问验收</a:t>
            </a:r>
          </a:p>
        </p:txBody>
      </p:sp>
      <p:sp>
        <p:nvSpPr>
          <p:cNvPr id="3" name="统一风格-文字 SNAT 中转组网逐段查路由，DNAT ELB 按服务映射与监听配置验收-305">
            <a:extLst>
              <a:ext uri="{FF2B5EF4-FFF2-40B4-BE49-F238E27FC236}">
                <a16:creationId xmlns:a16="http://schemas.microsoft.com/office/drawing/2014/main" id="{A71C4EC1-04BD-4C49-864B-C5C50BE2EB0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中转组网逐段查路由，DNAT ELB 按服务映射与监听配置验收</a:t>
            </a:r>
          </a:p>
        </p:txBody>
      </p:sp>
      <p:sp>
        <p:nvSpPr>
          <p:cNvPr id="4" name="统一风格-页脚分隔线-306">
            <a:extLst>
              <a:ext uri="{FF2B5EF4-FFF2-40B4-BE49-F238E27FC236}">
                <a16:creationId xmlns:a16="http://schemas.microsoft.com/office/drawing/2014/main" id="{6E26A480-077F-4013-A086-35E3696385C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NAT 地址转换与安全授权分别配置。CFW 是否检查此流量，应以实际路径、转换地址及对应日志证明。-307">
            <a:extLst>
              <a:ext uri="{FF2B5EF4-FFF2-40B4-BE49-F238E27FC236}">
                <a16:creationId xmlns:a16="http://schemas.microsoft.com/office/drawing/2014/main" id="{BA39F41D-A815-464C-8FD7-BF19345C233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NAT 地址转换与安全授权分别配置。CFW 是否检查此流量，应以实际路径、转换地址及对应日志证明。</a:t>
            </a:r>
          </a:p>
        </p:txBody>
      </p:sp>
      <p:sp>
        <p:nvSpPr>
          <p:cNvPr id="6" name="统一风格-文字 27-308">
            <a:extLst>
              <a:ext uri="{FF2B5EF4-FFF2-40B4-BE49-F238E27FC236}">
                <a16:creationId xmlns:a16="http://schemas.microsoft.com/office/drawing/2014/main" id="{CC2113C8-1BED-4792-8A78-D67F108DAED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统一风格-可编辑配置表玻璃后沿-309">
            <a:extLst>
              <a:ext uri="{FF2B5EF4-FFF2-40B4-BE49-F238E27FC236}">
                <a16:creationId xmlns:a16="http://schemas.microsoft.com/office/drawing/2014/main" id="{C26D840A-88FE-4224-9002-AC917F6AE3E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09850"/>
          </a:xfrm>
          <a:prstGeom prst="roundRect">
            <a:avLst>
              <a:gd name="adj" fmla="val 328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10">
            <a:extLst>
              <a:ext uri="{FF2B5EF4-FFF2-40B4-BE49-F238E27FC236}">
                <a16:creationId xmlns:a16="http://schemas.microsoft.com/office/drawing/2014/main" id="{5BCADD9A-D6CF-4B50-A342-18ACA5B60E1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09850"/>
          </a:xfrm>
          <a:prstGeom prst="roundRect">
            <a:avLst>
              <a:gd name="adj" fmla="val 328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11">
            <a:extLst>
              <a:ext uri="{FF2B5EF4-FFF2-40B4-BE49-F238E27FC236}">
                <a16:creationId xmlns:a16="http://schemas.microsoft.com/office/drawing/2014/main" id="{AE51828C-F56E-4496-B4FB-D24E44E7839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584133"/>
          </a:xfrm>
          <a:prstGeom prst="roundRect">
            <a:avLst>
              <a:gd name="adj" fmla="val 28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12">
            <a:extLst>
              <a:ext uri="{FF2B5EF4-FFF2-40B4-BE49-F238E27FC236}">
                <a16:creationId xmlns:a16="http://schemas.microsoft.com/office/drawing/2014/main" id="{2DD47BF1-B0B8-4080-89CE-7C76A81995F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09850"/>
          </a:xfrm>
          <a:custGeom>
            <a:avLst/>
            <a:gdLst/>
            <a:ahLst/>
            <a:cxnLst/>
            <a:rect l="0" t="0" r="0" b="0"/>
            <a:pathLst>
              <a:path w="11106150" h="26098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C60752-D751-4C58-93BA-0EAF0501BAE8}"/>
              </a:ext>
            </a:extLst>
          </p:cNvPr>
          <p:cNvGraphicFramePr/>
          <p:nvPr/>
        </p:nvGraphicFramePr>
        <p:xfrm>
          <a:off x="609600" y="2143125"/>
          <a:ext cx="10972800" cy="2476500"/>
        </p:xfrm>
        <a:graphic>
          <a:graphicData uri="http://schemas.openxmlformats.org/drawingml/2006/table">
            <a:tbl>
              <a:tblPr/>
              <a:tblGrid>
                <a:gridCol w="28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示例配置或验证重点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VPC-A 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10.62.0.0/16，下一跳私网 NAT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 VPC-T 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10.62.0.0/16，下一跳对等连接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 VPC-B 回程路由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10.61.0.10/32，下一跳同一对等连接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安全策略与应用监听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源端允许批准访问，远端按转换后的源 IP 放行 443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正反验证与审计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批准的 443 成功，未批准端口拒绝，记录转换地址与日志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统一风格-DNAT ELB 验收玻璃后沿-313">
            <a:extLst>
              <a:ext uri="{FF2B5EF4-FFF2-40B4-BE49-F238E27FC236}">
                <a16:creationId xmlns:a16="http://schemas.microsoft.com/office/drawing/2014/main" id="{C08BC45F-6A39-4690-84E7-903FCC8CDE8A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DNAT ELB 验收-314">
            <a:extLst>
              <a:ext uri="{FF2B5EF4-FFF2-40B4-BE49-F238E27FC236}">
                <a16:creationId xmlns:a16="http://schemas.microsoft.com/office/drawing/2014/main" id="{057F2BB7-04AA-45E1-9CA2-7F17B01BB141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DNAT ELB 验收玻璃内沿-315">
            <a:extLst>
              <a:ext uri="{FF2B5EF4-FFF2-40B4-BE49-F238E27FC236}">
                <a16:creationId xmlns:a16="http://schemas.microsoft.com/office/drawing/2014/main" id="{5429C3C8-2A8E-4937-9154-286F83EB4AE2}"/>
              </a:ext>
            </a:extLst>
          </p:cNvPr>
          <p:cNvSpPr>
            <a:spLocks noGrp="1"/>
          </p:cNvSpPr>
          <p:nvPr/>
        </p:nvSpPr>
        <p:spPr>
          <a:xfrm>
            <a:off x="622459" y="4880134"/>
            <a:ext cx="52320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DNAT ELB 验收边缘高光-316">
            <a:extLst>
              <a:ext uri="{FF2B5EF4-FFF2-40B4-BE49-F238E27FC236}">
                <a16:creationId xmlns:a16="http://schemas.microsoft.com/office/drawing/2014/main" id="{F92CD770-F119-403B-9136-FBC1C0673F8A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257800" cy="1019175"/>
          </a:xfrm>
          <a:custGeom>
            <a:avLst/>
            <a:gdLst/>
            <a:ahLst/>
            <a:cxnLst/>
            <a:rect l="0" t="0" r="0" b="0"/>
            <a:pathLst>
              <a:path w="5257800" h="101917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DNAT ELB 验收-317">
            <a:extLst>
              <a:ext uri="{FF2B5EF4-FFF2-40B4-BE49-F238E27FC236}">
                <a16:creationId xmlns:a16="http://schemas.microsoft.com/office/drawing/2014/main" id="{91C63790-C00A-4EAF-84E1-C5272DF196CD}"/>
              </a:ext>
            </a:extLst>
          </p:cNvPr>
          <p:cNvSpPr>
            <a:spLocks noGrp="1"/>
          </p:cNvSpPr>
          <p:nvPr/>
        </p:nvSpPr>
        <p:spPr>
          <a:xfrm>
            <a:off x="809625" y="49911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DNAT ELB 验收</a:t>
            </a:r>
          </a:p>
        </p:txBody>
      </p:sp>
      <p:sp>
        <p:nvSpPr>
          <p:cNvPr id="17" name="统一风格-文字 映射端口、监听器与后端健康同时正常 禁止把该案例的免配路由要求泛化-318">
            <a:extLst>
              <a:ext uri="{FF2B5EF4-FFF2-40B4-BE49-F238E27FC236}">
                <a16:creationId xmlns:a16="http://schemas.microsoft.com/office/drawing/2014/main" id="{859355E1-3B71-4886-ADD5-0BD3F92EE199}"/>
              </a:ext>
            </a:extLst>
          </p:cNvPr>
          <p:cNvSpPr>
            <a:spLocks noGrp="1"/>
          </p:cNvSpPr>
          <p:nvPr/>
        </p:nvSpPr>
        <p:spPr>
          <a:xfrm>
            <a:off x="809625" y="53530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映射端口、监听器与后端健康同时正常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禁止把该案例的免配路由要求泛化</a:t>
            </a:r>
          </a:p>
        </p:txBody>
      </p:sp>
      <p:sp>
        <p:nvSpPr>
          <p:cNvPr id="18" name="统一风格-容量与配置限制玻璃后沿-319">
            <a:extLst>
              <a:ext uri="{FF2B5EF4-FFF2-40B4-BE49-F238E27FC236}">
                <a16:creationId xmlns:a16="http://schemas.microsoft.com/office/drawing/2014/main" id="{3AE328AA-499D-4A2E-88DF-ECDB5A0635CD}"/>
              </a:ext>
            </a:extLst>
          </p:cNvPr>
          <p:cNvSpPr>
            <a:spLocks noGrp="1"/>
          </p:cNvSpPr>
          <p:nvPr/>
        </p:nvSpPr>
        <p:spPr>
          <a:xfrm>
            <a:off x="6324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容量与配置限制-320">
            <a:extLst>
              <a:ext uri="{FF2B5EF4-FFF2-40B4-BE49-F238E27FC236}">
                <a16:creationId xmlns:a16="http://schemas.microsoft.com/office/drawing/2014/main" id="{70EB3E34-6159-46E4-B7B3-5D06E8535226}"/>
              </a:ext>
            </a:extLst>
          </p:cNvPr>
          <p:cNvSpPr>
            <a:spLocks noGrp="1"/>
          </p:cNvSpPr>
          <p:nvPr/>
        </p:nvSpPr>
        <p:spPr>
          <a:xfrm>
            <a:off x="6324600" y="4867275"/>
            <a:ext cx="5257800" cy="101917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容量与配置限制玻璃内沿-321">
            <a:extLst>
              <a:ext uri="{FF2B5EF4-FFF2-40B4-BE49-F238E27FC236}">
                <a16:creationId xmlns:a16="http://schemas.microsoft.com/office/drawing/2014/main" id="{593D8BB1-2924-42CE-81C3-9939D5EA851D}"/>
              </a:ext>
            </a:extLst>
          </p:cNvPr>
          <p:cNvSpPr>
            <a:spLocks noGrp="1"/>
          </p:cNvSpPr>
          <p:nvPr/>
        </p:nvSpPr>
        <p:spPr>
          <a:xfrm>
            <a:off x="6337459" y="4880134"/>
            <a:ext cx="5232083" cy="993458"/>
          </a:xfrm>
          <a:prstGeom prst="roundRect">
            <a:avLst>
              <a:gd name="adj" fmla="val 73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容量与配置限制边缘高光-322">
            <a:extLst>
              <a:ext uri="{FF2B5EF4-FFF2-40B4-BE49-F238E27FC236}">
                <a16:creationId xmlns:a16="http://schemas.microsoft.com/office/drawing/2014/main" id="{0897A061-C97D-4867-957C-CF97BEA88949}"/>
              </a:ext>
            </a:extLst>
          </p:cNvPr>
          <p:cNvSpPr>
            <a:spLocks noGrp="1"/>
          </p:cNvSpPr>
          <p:nvPr/>
        </p:nvSpPr>
        <p:spPr>
          <a:xfrm>
            <a:off x="6324600" y="4867275"/>
            <a:ext cx="5257800" cy="1019175"/>
          </a:xfrm>
          <a:custGeom>
            <a:avLst/>
            <a:gdLst/>
            <a:ahLst/>
            <a:cxnLst/>
            <a:rect l="0" t="0" r="0" b="0"/>
            <a:pathLst>
              <a:path w="5257800" h="101917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文字 容量与配置限制-323">
            <a:extLst>
              <a:ext uri="{FF2B5EF4-FFF2-40B4-BE49-F238E27FC236}">
                <a16:creationId xmlns:a16="http://schemas.microsoft.com/office/drawing/2014/main" id="{020A9B0B-43B1-48EC-A59E-1390A7092303}"/>
              </a:ext>
            </a:extLst>
          </p:cNvPr>
          <p:cNvSpPr>
            <a:spLocks noGrp="1"/>
          </p:cNvSpPr>
          <p:nvPr/>
        </p:nvSpPr>
        <p:spPr>
          <a:xfrm>
            <a:off x="6524625" y="4991100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容量与配置限制</a:t>
            </a:r>
          </a:p>
        </p:txBody>
      </p:sp>
      <p:sp>
        <p:nvSpPr>
          <p:cNvPr id="23" name="统一风格-文字 每子网仅一条 SNAT，核验规则数与连接数 重叠网段按双侧 NAT 与中转网络设计-324">
            <a:extLst>
              <a:ext uri="{FF2B5EF4-FFF2-40B4-BE49-F238E27FC236}">
                <a16:creationId xmlns:a16="http://schemas.microsoft.com/office/drawing/2014/main" id="{85EEC49C-9714-466D-9993-498FB0823121}"/>
              </a:ext>
            </a:extLst>
          </p:cNvPr>
          <p:cNvSpPr>
            <a:spLocks noGrp="1"/>
          </p:cNvSpPr>
          <p:nvPr/>
        </p:nvSpPr>
        <p:spPr>
          <a:xfrm>
            <a:off x="6524625" y="53530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每子网仅一条 SNAT，核验规则数与连接数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重叠网段按双侧 NAT 与中转网络设计</a:t>
            </a:r>
          </a:p>
        </p:txBody>
      </p:sp>
    </p:spTree>
    <p:extLst>
      <p:ext uri="{BB962C8B-B14F-4D97-AF65-F5344CB8AC3E}">
        <p14:creationId xmlns:p14="http://schemas.microsoft.com/office/powerpoint/2010/main" val="950701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45">
            <a:extLst>
              <a:ext uri="{FF2B5EF4-FFF2-40B4-BE49-F238E27FC236}">
                <a16:creationId xmlns:a16="http://schemas.microsoft.com/office/drawing/2014/main" id="{7376F7FF-635D-47E8-AF84-03703461759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私网 NAT：业务使用的限制与建议-346">
            <a:extLst>
              <a:ext uri="{FF2B5EF4-FFF2-40B4-BE49-F238E27FC236}">
                <a16:creationId xmlns:a16="http://schemas.microsoft.com/office/drawing/2014/main" id="{7DAD2394-8F3A-4E87-932E-111D29BEB38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NAT：业务使用的限制与建议</a:t>
            </a:r>
          </a:p>
        </p:txBody>
      </p:sp>
      <p:sp>
        <p:nvSpPr>
          <p:cNvPr id="3" name="统一风格-文字 上线前同时确定映射范围、可见源地址、连接容量与运维责任-347">
            <a:extLst>
              <a:ext uri="{FF2B5EF4-FFF2-40B4-BE49-F238E27FC236}">
                <a16:creationId xmlns:a16="http://schemas.microsoft.com/office/drawing/2014/main" id="{B3ECCC7A-8F3E-4A24-A1B6-05C06771030C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上线前同时确定映射范围、可见源地址、连接容量与运维责任</a:t>
            </a:r>
          </a:p>
        </p:txBody>
      </p:sp>
      <p:sp>
        <p:nvSpPr>
          <p:cNvPr id="4" name="统一风格-页脚分隔线-348">
            <a:extLst>
              <a:ext uri="{FF2B5EF4-FFF2-40B4-BE49-F238E27FC236}">
                <a16:creationId xmlns:a16="http://schemas.microsoft.com/office/drawing/2014/main" id="{8F41554F-17B5-41EB-A041-C1762473FA0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私网 NAT 不替代应用鉴权，地址映射表应随发布、变更和资源回收同步维护。-349">
            <a:extLst>
              <a:ext uri="{FF2B5EF4-FFF2-40B4-BE49-F238E27FC236}">
                <a16:creationId xmlns:a16="http://schemas.microsoft.com/office/drawing/2014/main" id="{969A6BDE-5174-414E-B4F4-15383C41808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NAT 不替代应用鉴权，地址映射表应随发布、变更和资源回收同步维护。</a:t>
            </a:r>
          </a:p>
        </p:txBody>
      </p:sp>
      <p:sp>
        <p:nvSpPr>
          <p:cNvPr id="6" name="统一风格-文字 30-350">
            <a:extLst>
              <a:ext uri="{FF2B5EF4-FFF2-40B4-BE49-F238E27FC236}">
                <a16:creationId xmlns:a16="http://schemas.microsoft.com/office/drawing/2014/main" id="{71BF49C8-1F51-4FAB-A167-39308E399B2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7" name="统一风格-可编辑配置表玻璃后沿-351">
            <a:extLst>
              <a:ext uri="{FF2B5EF4-FFF2-40B4-BE49-F238E27FC236}">
                <a16:creationId xmlns:a16="http://schemas.microsoft.com/office/drawing/2014/main" id="{4E3DE367-22A8-4302-B483-DCF89B3ADDAA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52">
            <a:extLst>
              <a:ext uri="{FF2B5EF4-FFF2-40B4-BE49-F238E27FC236}">
                <a16:creationId xmlns:a16="http://schemas.microsoft.com/office/drawing/2014/main" id="{E635FCB8-C6CA-486E-8378-B324D48207F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53">
            <a:extLst>
              <a:ext uri="{FF2B5EF4-FFF2-40B4-BE49-F238E27FC236}">
                <a16:creationId xmlns:a16="http://schemas.microsoft.com/office/drawing/2014/main" id="{F7750994-6C38-4DAC-BC79-BA268452E6D6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54">
            <a:extLst>
              <a:ext uri="{FF2B5EF4-FFF2-40B4-BE49-F238E27FC236}">
                <a16:creationId xmlns:a16="http://schemas.microsoft.com/office/drawing/2014/main" id="{1FE1FE99-E380-487B-B215-0C54788564F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7E4349-19C4-45C7-B11E-5FBB11CFBBB7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方案边界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ELB 免配路由仅限该官方案例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ELB 不支持多消费 VPC 分别映射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按目标类型核验区域支持能力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多消费者接入同时比较 VPCEP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可见源与审计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SNAT 后远端看到中转源 IP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多个实例共享源 IP，不能据此区分原主机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安全规则按实际可见地址配置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结合请求标识与访问日志关联业务来源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重叠网段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SNAT 与对等连接不能直接解决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两侧重叠子网的主机互访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按官方方案设计双侧 NAT 与中转网络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只向业务提供已批准的映射入口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规则与端口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每子网仅一条 SNAT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DNAT 全端口与具体端口不可共用中转 IP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按系统维护协议、端口与中转 IP 台账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优先发布必要端口，变更前检查冲突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容量与生命周期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规则数、并发连接与转换资源有上限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闲置映射或误删中转 IP 会产生风险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按峰值连接数压测并设置告警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删除前检查调用方，保留映射回退配置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325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正文-02  网络互联方案">
            <a:extLst>
              <a:ext uri="{FF2B5EF4-FFF2-40B4-BE49-F238E27FC236}">
                <a16:creationId xmlns:a16="http://schemas.microsoft.com/office/drawing/2014/main" id="{CE9B5C4A-8630-4403-8869-840BCDD85BA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 案例：私网消费另一个 VPC 的 API-388">
            <a:extLst>
              <a:ext uri="{FF2B5EF4-FFF2-40B4-BE49-F238E27FC236}">
                <a16:creationId xmlns:a16="http://schemas.microsoft.com/office/drawing/2014/main" id="{8EC70EB1-8739-4E7F-A62A-0D783713C56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案例：私网消费另一个 VPC 的 API</a:t>
            </a:r>
          </a:p>
        </p:txBody>
      </p:sp>
      <p:sp>
        <p:nvSpPr>
          <p:cNvPr id="3" name="统一风格-文字 通过终端节点访问服务方发布的私网 ELB，只开放批准的服务入口-389">
            <a:extLst>
              <a:ext uri="{FF2B5EF4-FFF2-40B4-BE49-F238E27FC236}">
                <a16:creationId xmlns:a16="http://schemas.microsoft.com/office/drawing/2014/main" id="{8100C8B5-2526-47CF-AE4C-EC86053AC00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消费端主动访问已发布服务，响应返回；VPCEP 不提供两端任意地址互访</a:t>
            </a:r>
          </a:p>
        </p:txBody>
      </p:sp>
      <p:cxnSp>
        <p:nvCxnSpPr>
          <p:cNvPr id="4" name="网络连接-34">
            <a:extLst>
              <a:ext uri="{FF2B5EF4-FFF2-40B4-BE49-F238E27FC236}">
                <a16:creationId xmlns:a16="http://schemas.microsoft.com/office/drawing/2014/main" id="{179358CE-7129-42DA-AB3B-E635F49416C1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同账号、同 Region 连接示例。消费者发起到服务端的访问，响应沿该连接返回。">
            <a:extLst>
              <a:ext uri="{FF2B5EF4-FFF2-40B4-BE49-F238E27FC236}">
                <a16:creationId xmlns:a16="http://schemas.microsoft.com/office/drawing/2014/main" id="{70F692BA-817A-45E8-8FC4-4B9A854267C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同账号、同 Region 连接示例。消费者发起到服务端的访问，响应沿该连接返回。</a:t>
            </a:r>
          </a:p>
        </p:txBody>
      </p:sp>
      <p:sp>
        <p:nvSpPr>
          <p:cNvPr id="6" name="正文-24">
            <a:extLst>
              <a:ext uri="{FF2B5EF4-FFF2-40B4-BE49-F238E27FC236}">
                <a16:creationId xmlns:a16="http://schemas.microsoft.com/office/drawing/2014/main" id="{CCA8B134-A99B-40D6-8E01-66A8B883362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" name="统一风格-消费VPC玻璃后沿-392">
            <a:extLst>
              <a:ext uri="{FF2B5EF4-FFF2-40B4-BE49-F238E27FC236}">
                <a16:creationId xmlns:a16="http://schemas.microsoft.com/office/drawing/2014/main" id="{5D259BB7-DEAA-4CEE-9E62-8BB0BB4A8147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010025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消费VPC-393">
            <a:extLst>
              <a:ext uri="{FF2B5EF4-FFF2-40B4-BE49-F238E27FC236}">
                <a16:creationId xmlns:a16="http://schemas.microsoft.com/office/drawing/2014/main" id="{9D7274B0-5B45-44A0-AA69-EBDCF40C36E4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010025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消费VPC玻璃内沿-394">
            <a:extLst>
              <a:ext uri="{FF2B5EF4-FFF2-40B4-BE49-F238E27FC236}">
                <a16:creationId xmlns:a16="http://schemas.microsoft.com/office/drawing/2014/main" id="{FBC2BB79-1A95-4338-BEF7-AFCA13792389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3984308" cy="3041333"/>
          </a:xfrm>
          <a:prstGeom prst="roundRect">
            <a:avLst>
              <a:gd name="adj" fmla="val 241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消费VPC边缘高光-395">
            <a:extLst>
              <a:ext uri="{FF2B5EF4-FFF2-40B4-BE49-F238E27FC236}">
                <a16:creationId xmlns:a16="http://schemas.microsoft.com/office/drawing/2014/main" id="{09387D84-EA70-4414-8C1C-B710586F796D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010025" cy="3067050"/>
          </a:xfrm>
          <a:custGeom>
            <a:avLst/>
            <a:gdLst/>
            <a:ahLst/>
            <a:cxnLst/>
            <a:rect l="0" t="0" r="0" b="0"/>
            <a:pathLst>
              <a:path w="4010025" h="3067050">
                <a:moveTo>
                  <a:pt x="95250" y="9525"/>
                </a:moveTo>
                <a:lnTo>
                  <a:pt x="3914775" y="9525"/>
                </a:lnTo>
                <a:cubicBezTo>
                  <a:pt x="3962400" y="9525"/>
                  <a:pt x="4000500" y="47625"/>
                  <a:pt x="40005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396">
            <a:extLst>
              <a:ext uri="{FF2B5EF4-FFF2-40B4-BE49-F238E27FC236}">
                <a16:creationId xmlns:a16="http://schemas.microsoft.com/office/drawing/2014/main" id="{90CB22D1-649B-4507-B23C-12BB145AE56C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消费 VPC-397">
            <a:extLst>
              <a:ext uri="{FF2B5EF4-FFF2-40B4-BE49-F238E27FC236}">
                <a16:creationId xmlns:a16="http://schemas.microsoft.com/office/drawing/2014/main" id="{C938C27C-B599-46E8-8C39-35ED13430551}"/>
              </a:ext>
            </a:extLst>
          </p:cNvPr>
          <p:cNvSpPr>
            <a:spLocks noGrp="1"/>
          </p:cNvSpPr>
          <p:nvPr/>
        </p:nvSpPr>
        <p:spPr>
          <a:xfrm>
            <a:off x="1400175" y="230505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消费 VPC</a:t>
            </a:r>
          </a:p>
        </p:txBody>
      </p:sp>
      <p:sp>
        <p:nvSpPr>
          <p:cNvPr id="13" name="统一风格-文字 10.70.0.0/16-398">
            <a:extLst>
              <a:ext uri="{FF2B5EF4-FFF2-40B4-BE49-F238E27FC236}">
                <a16:creationId xmlns:a16="http://schemas.microsoft.com/office/drawing/2014/main" id="{5D29EFE0-79CA-4BED-A4D2-D79FDF19DF2E}"/>
              </a:ext>
            </a:extLst>
          </p:cNvPr>
          <p:cNvSpPr>
            <a:spLocks noGrp="1"/>
          </p:cNvSpPr>
          <p:nvPr/>
        </p:nvSpPr>
        <p:spPr>
          <a:xfrm>
            <a:off x="1400175" y="2676525"/>
            <a:ext cx="2952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10.70.0.0/16</a:t>
            </a:r>
          </a:p>
        </p:txBody>
      </p:sp>
      <p:sp>
        <p:nvSpPr>
          <p:cNvPr id="14" name="统一风格-业务 ECS玻璃后沿-399">
            <a:extLst>
              <a:ext uri="{FF2B5EF4-FFF2-40B4-BE49-F238E27FC236}">
                <a16:creationId xmlns:a16="http://schemas.microsoft.com/office/drawing/2014/main" id="{8E03FFDB-EB5B-418F-A5C6-D515B112F930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3629025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统一风格-业务 ECS-400">
            <a:extLst>
              <a:ext uri="{FF2B5EF4-FFF2-40B4-BE49-F238E27FC236}">
                <a16:creationId xmlns:a16="http://schemas.microsoft.com/office/drawing/2014/main" id="{DD2C44B1-17D5-409F-8CC6-051E6C772D07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3629025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业务 ECS玻璃内沿-401">
            <a:extLst>
              <a:ext uri="{FF2B5EF4-FFF2-40B4-BE49-F238E27FC236}">
                <a16:creationId xmlns:a16="http://schemas.microsoft.com/office/drawing/2014/main" id="{D939EFBF-983D-43F7-966F-5ACC13929F6A}"/>
              </a:ext>
            </a:extLst>
          </p:cNvPr>
          <p:cNvSpPr>
            <a:spLocks noGrp="1"/>
          </p:cNvSpPr>
          <p:nvPr/>
        </p:nvSpPr>
        <p:spPr>
          <a:xfrm>
            <a:off x="812959" y="3098959"/>
            <a:ext cx="3603308" cy="783908"/>
          </a:xfrm>
          <a:prstGeom prst="roundRect">
            <a:avLst>
              <a:gd name="adj" fmla="val 935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业务 ECS透光反射面-402">
            <a:extLst>
              <a:ext uri="{FF2B5EF4-FFF2-40B4-BE49-F238E27FC236}">
                <a16:creationId xmlns:a16="http://schemas.microsoft.com/office/drawing/2014/main" id="{6979E178-2871-43CD-A68F-2248B8D8EAD0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590925" cy="771525"/>
          </a:xfrm>
          <a:custGeom>
            <a:avLst/>
            <a:gdLst/>
            <a:ahLst/>
            <a:cxnLst/>
            <a:rect l="0" t="0" r="0" b="0"/>
            <a:pathLst>
              <a:path w="3590925" h="771525">
                <a:moveTo>
                  <a:pt x="76200" y="0"/>
                </a:moveTo>
                <a:lnTo>
                  <a:pt x="2298192" y="0"/>
                </a:lnTo>
                <a:lnTo>
                  <a:pt x="933641" y="771525"/>
                </a:lnTo>
                <a:lnTo>
                  <a:pt x="76200" y="771525"/>
                </a:lnTo>
                <a:cubicBezTo>
                  <a:pt x="28575" y="771525"/>
                  <a:pt x="0" y="742950"/>
                  <a:pt x="0" y="695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业务 ECS边缘高光-403">
            <a:extLst>
              <a:ext uri="{FF2B5EF4-FFF2-40B4-BE49-F238E27FC236}">
                <a16:creationId xmlns:a16="http://schemas.microsoft.com/office/drawing/2014/main" id="{366754BA-2E5A-4B04-AE01-3497E1612641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3629025" cy="809625"/>
          </a:xfrm>
          <a:custGeom>
            <a:avLst/>
            <a:gdLst/>
            <a:ahLst/>
            <a:cxnLst/>
            <a:rect l="0" t="0" r="0" b="0"/>
            <a:pathLst>
              <a:path w="3629025" h="809625">
                <a:moveTo>
                  <a:pt x="95250" y="9525"/>
                </a:moveTo>
                <a:lnTo>
                  <a:pt x="3533775" y="9525"/>
                </a:lnTo>
                <a:cubicBezTo>
                  <a:pt x="3581400" y="9525"/>
                  <a:pt x="3619500" y="47625"/>
                  <a:pt x="36195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服务器机架-404">
            <a:extLst>
              <a:ext uri="{FF2B5EF4-FFF2-40B4-BE49-F238E27FC236}">
                <a16:creationId xmlns:a16="http://schemas.microsoft.com/office/drawing/2014/main" id="{C9419D91-0BAB-4A6E-A8DF-6AD6484B659E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机架状态-405">
            <a:extLst>
              <a:ext uri="{FF2B5EF4-FFF2-40B4-BE49-F238E27FC236}">
                <a16:creationId xmlns:a16="http://schemas.microsoft.com/office/drawing/2014/main" id="{952669A9-CA1F-460C-8DBB-8499C5AFB367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指示灯-406">
            <a:extLst>
              <a:ext uri="{FF2B5EF4-FFF2-40B4-BE49-F238E27FC236}">
                <a16:creationId xmlns:a16="http://schemas.microsoft.com/office/drawing/2014/main" id="{F8002825-3A90-4463-8846-814DEA00282B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服务器机架-407">
            <a:extLst>
              <a:ext uri="{FF2B5EF4-FFF2-40B4-BE49-F238E27FC236}">
                <a16:creationId xmlns:a16="http://schemas.microsoft.com/office/drawing/2014/main" id="{F9681D09-AF82-4BF3-9794-FAC04620DCC2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机架状态-408">
            <a:extLst>
              <a:ext uri="{FF2B5EF4-FFF2-40B4-BE49-F238E27FC236}">
                <a16:creationId xmlns:a16="http://schemas.microsoft.com/office/drawing/2014/main" id="{F17A263B-23E7-48BA-B8E4-3229B71B6C0E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指示灯-409">
            <a:extLst>
              <a:ext uri="{FF2B5EF4-FFF2-40B4-BE49-F238E27FC236}">
                <a16:creationId xmlns:a16="http://schemas.microsoft.com/office/drawing/2014/main" id="{6B6B02C9-F2B9-47FC-8435-51D3BB428936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服务器机架-410">
            <a:extLst>
              <a:ext uri="{FF2B5EF4-FFF2-40B4-BE49-F238E27FC236}">
                <a16:creationId xmlns:a16="http://schemas.microsoft.com/office/drawing/2014/main" id="{383564E0-FE3E-4DF4-BB49-343E061819D2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server 机架状态-411">
            <a:extLst>
              <a:ext uri="{FF2B5EF4-FFF2-40B4-BE49-F238E27FC236}">
                <a16:creationId xmlns:a16="http://schemas.microsoft.com/office/drawing/2014/main" id="{AA1E3C5D-0136-4F5C-9598-46EE39A42E4E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指示灯-412">
            <a:extLst>
              <a:ext uri="{FF2B5EF4-FFF2-40B4-BE49-F238E27FC236}">
                <a16:creationId xmlns:a16="http://schemas.microsoft.com/office/drawing/2014/main" id="{DAB8B2EF-6C49-4A1B-934E-9A15CF751E84}"/>
              </a:ext>
            </a:extLst>
          </p:cNvPr>
          <p:cNvSpPr>
            <a:spLocks noGrp="1"/>
          </p:cNvSpPr>
          <p:nvPr/>
        </p:nvSpPr>
        <p:spPr>
          <a:xfrm>
            <a:off x="952500" y="33004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业务 ECS-413">
            <a:extLst>
              <a:ext uri="{FF2B5EF4-FFF2-40B4-BE49-F238E27FC236}">
                <a16:creationId xmlns:a16="http://schemas.microsoft.com/office/drawing/2014/main" id="{EA4CC6EB-13C8-49BA-BE51-5E1462BD7ECF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2800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ECS</a:t>
            </a:r>
          </a:p>
        </p:txBody>
      </p:sp>
      <p:sp>
        <p:nvSpPr>
          <p:cNvPr id="29" name="统一风格-文字 发起 HTTPS 请求-414">
            <a:extLst>
              <a:ext uri="{FF2B5EF4-FFF2-40B4-BE49-F238E27FC236}">
                <a16:creationId xmlns:a16="http://schemas.microsoft.com/office/drawing/2014/main" id="{37FAF5DB-215E-4BC4-A194-B14CDCD8682A}"/>
              </a:ext>
            </a:extLst>
          </p:cNvPr>
          <p:cNvSpPr>
            <a:spLocks noGrp="1"/>
          </p:cNvSpPr>
          <p:nvPr/>
        </p:nvSpPr>
        <p:spPr>
          <a:xfrm>
            <a:off x="1476375" y="3581400"/>
            <a:ext cx="2800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发起 HTTPS 请求</a:t>
            </a:r>
          </a:p>
        </p:txBody>
      </p:sp>
      <p:sp>
        <p:nvSpPr>
          <p:cNvPr id="30" name="统一风格-接口型终端节点玻璃后沿-415">
            <a:extLst>
              <a:ext uri="{FF2B5EF4-FFF2-40B4-BE49-F238E27FC236}">
                <a16:creationId xmlns:a16="http://schemas.microsoft.com/office/drawing/2014/main" id="{D69C73CC-A8DE-48D4-8F74-30A184378BAE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3629025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统一风格-接口型终端节点-416">
            <a:extLst>
              <a:ext uri="{FF2B5EF4-FFF2-40B4-BE49-F238E27FC236}">
                <a16:creationId xmlns:a16="http://schemas.microsoft.com/office/drawing/2014/main" id="{A23A4B8F-EE0F-41B8-AAD0-3E49C79EF4EA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3629025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接口型终端节点玻璃内沿-417">
            <a:extLst>
              <a:ext uri="{FF2B5EF4-FFF2-40B4-BE49-F238E27FC236}">
                <a16:creationId xmlns:a16="http://schemas.microsoft.com/office/drawing/2014/main" id="{3F109432-6250-4E0A-B136-3EE7A64A3F6E}"/>
              </a:ext>
            </a:extLst>
          </p:cNvPr>
          <p:cNvSpPr>
            <a:spLocks noGrp="1"/>
          </p:cNvSpPr>
          <p:nvPr/>
        </p:nvSpPr>
        <p:spPr>
          <a:xfrm>
            <a:off x="812959" y="4156234"/>
            <a:ext cx="3603308" cy="802958"/>
          </a:xfrm>
          <a:prstGeom prst="roundRect">
            <a:avLst>
              <a:gd name="adj" fmla="val 91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接口型终端节点透光反射面-418">
            <a:extLst>
              <a:ext uri="{FF2B5EF4-FFF2-40B4-BE49-F238E27FC236}">
                <a16:creationId xmlns:a16="http://schemas.microsoft.com/office/drawing/2014/main" id="{B4D2A5B0-037F-4EAC-B3E1-387223A5D238}"/>
              </a:ext>
            </a:extLst>
          </p:cNvPr>
          <p:cNvSpPr>
            <a:spLocks noGrp="1"/>
          </p:cNvSpPr>
          <p:nvPr/>
        </p:nvSpPr>
        <p:spPr>
          <a:xfrm>
            <a:off x="819150" y="4162425"/>
            <a:ext cx="3590925" cy="790575"/>
          </a:xfrm>
          <a:custGeom>
            <a:avLst/>
            <a:gdLst/>
            <a:ahLst/>
            <a:cxnLst/>
            <a:rect l="0" t="0" r="0" b="0"/>
            <a:pathLst>
              <a:path w="3590925" h="790575">
                <a:moveTo>
                  <a:pt x="76200" y="0"/>
                </a:moveTo>
                <a:lnTo>
                  <a:pt x="2298192" y="0"/>
                </a:lnTo>
                <a:lnTo>
                  <a:pt x="933641" y="790575"/>
                </a:lnTo>
                <a:lnTo>
                  <a:pt x="76200" y="790575"/>
                </a:lnTo>
                <a:cubicBezTo>
                  <a:pt x="28575" y="790575"/>
                  <a:pt x="0" y="762000"/>
                  <a:pt x="0" y="7143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接口型终端节点边缘高光-419">
            <a:extLst>
              <a:ext uri="{FF2B5EF4-FFF2-40B4-BE49-F238E27FC236}">
                <a16:creationId xmlns:a16="http://schemas.microsoft.com/office/drawing/2014/main" id="{E29EEC3D-6F6D-46B4-A023-F5B7ACE1C76F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3629025" cy="828675"/>
          </a:xfrm>
          <a:custGeom>
            <a:avLst/>
            <a:gdLst/>
            <a:ahLst/>
            <a:cxnLst/>
            <a:rect l="0" t="0" r="0" b="0"/>
            <a:pathLst>
              <a:path w="3629025" h="828675">
                <a:moveTo>
                  <a:pt x="95250" y="9525"/>
                </a:moveTo>
                <a:lnTo>
                  <a:pt x="3533775" y="9525"/>
                </a:lnTo>
                <a:cubicBezTo>
                  <a:pt x="3581400" y="9525"/>
                  <a:pt x="3619500" y="47625"/>
                  <a:pt x="36195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统一互联图标 终端节点-420">
            <a:extLst>
              <a:ext uri="{FF2B5EF4-FFF2-40B4-BE49-F238E27FC236}">
                <a16:creationId xmlns:a16="http://schemas.microsoft.com/office/drawing/2014/main" id="{E675E107-9F66-4596-9A80-22DC48220BEA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统一互联图标 服务端口-421">
            <a:extLst>
              <a:ext uri="{FF2B5EF4-FFF2-40B4-BE49-F238E27FC236}">
                <a16:creationId xmlns:a16="http://schemas.microsoft.com/office/drawing/2014/main" id="{CCDD97DD-F7FD-4C0B-B12F-C6F79D278E02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接口型终端节点-422">
            <a:extLst>
              <a:ext uri="{FF2B5EF4-FFF2-40B4-BE49-F238E27FC236}">
                <a16:creationId xmlns:a16="http://schemas.microsoft.com/office/drawing/2014/main" id="{E823162E-622F-4714-95F9-615476B75AE9}"/>
              </a:ext>
            </a:extLst>
          </p:cNvPr>
          <p:cNvSpPr>
            <a:spLocks noGrp="1"/>
          </p:cNvSpPr>
          <p:nvPr/>
        </p:nvSpPr>
        <p:spPr>
          <a:xfrm>
            <a:off x="1524000" y="4257675"/>
            <a:ext cx="27717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接口型终端节点</a:t>
            </a:r>
          </a:p>
        </p:txBody>
      </p:sp>
      <p:sp>
        <p:nvSpPr>
          <p:cNvPr id="38" name="统一风格-文字 私网 IP 10.70.1.10-423">
            <a:extLst>
              <a:ext uri="{FF2B5EF4-FFF2-40B4-BE49-F238E27FC236}">
                <a16:creationId xmlns:a16="http://schemas.microsoft.com/office/drawing/2014/main" id="{43487A18-8007-4BD5-8328-76AEE45677C2}"/>
              </a:ext>
            </a:extLst>
          </p:cNvPr>
          <p:cNvSpPr>
            <a:spLocks noGrp="1"/>
          </p:cNvSpPr>
          <p:nvPr/>
        </p:nvSpPr>
        <p:spPr>
          <a:xfrm>
            <a:off x="1524000" y="4610100"/>
            <a:ext cx="27717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私网 IP 10.70.1.10</a:t>
            </a:r>
          </a:p>
        </p:txBody>
      </p:sp>
      <p:cxnSp>
        <p:nvCxnSpPr>
          <p:cNvPr id="39" name="网络连接-35">
            <a:extLst>
              <a:ext uri="{FF2B5EF4-FFF2-40B4-BE49-F238E27FC236}">
                <a16:creationId xmlns:a16="http://schemas.microsoft.com/office/drawing/2014/main" id="{47951910-4278-4E24-90A1-148A992BFFBB}"/>
              </a:ext>
            </a:extLst>
          </p:cNvPr>
          <p:cNvCxnSpPr/>
          <p:nvPr/>
        </p:nvCxnSpPr>
        <p:spPr>
          <a:xfrm>
            <a:off x="2609850" y="3895725"/>
            <a:ext cx="0" cy="24765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40" name="网络连接-36">
            <a:extLst>
              <a:ext uri="{FF2B5EF4-FFF2-40B4-BE49-F238E27FC236}">
                <a16:creationId xmlns:a16="http://schemas.microsoft.com/office/drawing/2014/main" id="{A42ED2AC-D74C-4F01-82A2-E2AD90B30075}"/>
              </a:ext>
            </a:extLst>
          </p:cNvPr>
          <p:cNvCxnSpPr/>
          <p:nvPr/>
        </p:nvCxnSpPr>
        <p:spPr>
          <a:xfrm>
            <a:off x="4429125" y="4572000"/>
            <a:ext cx="66675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41" name="统一风格-终端节点服务玻璃后沿-424">
            <a:extLst>
              <a:ext uri="{FF2B5EF4-FFF2-40B4-BE49-F238E27FC236}">
                <a16:creationId xmlns:a16="http://schemas.microsoft.com/office/drawing/2014/main" id="{2E1EE21F-423D-4204-9A63-3EE93F50B6E3}"/>
              </a:ext>
            </a:extLst>
          </p:cNvPr>
          <p:cNvSpPr>
            <a:spLocks noGrp="1"/>
          </p:cNvSpPr>
          <p:nvPr/>
        </p:nvSpPr>
        <p:spPr>
          <a:xfrm>
            <a:off x="5095875" y="3800475"/>
            <a:ext cx="2390775" cy="1181100"/>
          </a:xfrm>
          <a:prstGeom prst="roundRect">
            <a:avLst>
              <a:gd name="adj" fmla="val 725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统一风格-终端节点服务-425">
            <a:extLst>
              <a:ext uri="{FF2B5EF4-FFF2-40B4-BE49-F238E27FC236}">
                <a16:creationId xmlns:a16="http://schemas.microsoft.com/office/drawing/2014/main" id="{CA741FAF-154A-41D3-BC30-AADC083148F5}"/>
              </a:ext>
            </a:extLst>
          </p:cNvPr>
          <p:cNvSpPr>
            <a:spLocks noGrp="1"/>
          </p:cNvSpPr>
          <p:nvPr/>
        </p:nvSpPr>
        <p:spPr>
          <a:xfrm>
            <a:off x="5095875" y="3800475"/>
            <a:ext cx="2390775" cy="1181100"/>
          </a:xfrm>
          <a:prstGeom prst="roundRect">
            <a:avLst>
              <a:gd name="adj" fmla="val 725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终端节点服务玻璃内沿-426">
            <a:extLst>
              <a:ext uri="{FF2B5EF4-FFF2-40B4-BE49-F238E27FC236}">
                <a16:creationId xmlns:a16="http://schemas.microsoft.com/office/drawing/2014/main" id="{EEB6F168-4BE6-4FF9-B278-2C1770E4DD80}"/>
              </a:ext>
            </a:extLst>
          </p:cNvPr>
          <p:cNvSpPr>
            <a:spLocks noGrp="1"/>
          </p:cNvSpPr>
          <p:nvPr/>
        </p:nvSpPr>
        <p:spPr>
          <a:xfrm>
            <a:off x="5108734" y="3813334"/>
            <a:ext cx="2365058" cy="1155383"/>
          </a:xfrm>
          <a:prstGeom prst="roundRect">
            <a:avLst>
              <a:gd name="adj" fmla="val 63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终端节点服务透光反射面-427">
            <a:extLst>
              <a:ext uri="{FF2B5EF4-FFF2-40B4-BE49-F238E27FC236}">
                <a16:creationId xmlns:a16="http://schemas.microsoft.com/office/drawing/2014/main" id="{0C5D95CC-1E0C-4ABF-A026-E1D0CFBB6682}"/>
              </a:ext>
            </a:extLst>
          </p:cNvPr>
          <p:cNvSpPr>
            <a:spLocks noGrp="1"/>
          </p:cNvSpPr>
          <p:nvPr/>
        </p:nvSpPr>
        <p:spPr>
          <a:xfrm>
            <a:off x="5114925" y="3819525"/>
            <a:ext cx="2352675" cy="1143000"/>
          </a:xfrm>
          <a:custGeom>
            <a:avLst/>
            <a:gdLst/>
            <a:ahLst/>
            <a:cxnLst/>
            <a:rect l="0" t="0" r="0" b="0"/>
            <a:pathLst>
              <a:path w="2352675" h="1143000">
                <a:moveTo>
                  <a:pt x="76200" y="0"/>
                </a:moveTo>
                <a:lnTo>
                  <a:pt x="1505712" y="0"/>
                </a:lnTo>
                <a:lnTo>
                  <a:pt x="611696" y="1143000"/>
                </a:lnTo>
                <a:lnTo>
                  <a:pt x="76200" y="1143000"/>
                </a:lnTo>
                <a:cubicBezTo>
                  <a:pt x="28575" y="1143000"/>
                  <a:pt x="0" y="1114425"/>
                  <a:pt x="0" y="10668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终端节点服务边缘高光-428">
            <a:extLst>
              <a:ext uri="{FF2B5EF4-FFF2-40B4-BE49-F238E27FC236}">
                <a16:creationId xmlns:a16="http://schemas.microsoft.com/office/drawing/2014/main" id="{BDD0F4F5-BC98-47AE-A246-37D7E54B1180}"/>
              </a:ext>
            </a:extLst>
          </p:cNvPr>
          <p:cNvSpPr>
            <a:spLocks noGrp="1"/>
          </p:cNvSpPr>
          <p:nvPr/>
        </p:nvSpPr>
        <p:spPr>
          <a:xfrm>
            <a:off x="5095875" y="3800475"/>
            <a:ext cx="2390775" cy="1181100"/>
          </a:xfrm>
          <a:custGeom>
            <a:avLst/>
            <a:gdLst/>
            <a:ahLst/>
            <a:cxnLst/>
            <a:rect l="0" t="0" r="0" b="0"/>
            <a:pathLst>
              <a:path w="2390775" h="1181100">
                <a:moveTo>
                  <a:pt x="95250" y="9525"/>
                </a:moveTo>
                <a:lnTo>
                  <a:pt x="2295525" y="9525"/>
                </a:lnTo>
                <a:cubicBezTo>
                  <a:pt x="2343150" y="9525"/>
                  <a:pt x="2381250" y="47625"/>
                  <a:pt x="238125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统一互联图标 终端节点-429">
            <a:extLst>
              <a:ext uri="{FF2B5EF4-FFF2-40B4-BE49-F238E27FC236}">
                <a16:creationId xmlns:a16="http://schemas.microsoft.com/office/drawing/2014/main" id="{04D4B58D-0EDC-45B2-AC01-4A15A313E676}"/>
              </a:ext>
            </a:extLst>
          </p:cNvPr>
          <p:cNvSpPr>
            <a:spLocks noGrp="1"/>
          </p:cNvSpPr>
          <p:nvPr/>
        </p:nvSpPr>
        <p:spPr>
          <a:xfrm>
            <a:off x="5248275" y="39624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统一互联图标 服务端口-430">
            <a:extLst>
              <a:ext uri="{FF2B5EF4-FFF2-40B4-BE49-F238E27FC236}">
                <a16:creationId xmlns:a16="http://schemas.microsoft.com/office/drawing/2014/main" id="{8519A431-7FB0-4546-BEE1-FAE777AADB4F}"/>
              </a:ext>
            </a:extLst>
          </p:cNvPr>
          <p:cNvSpPr>
            <a:spLocks noGrp="1"/>
          </p:cNvSpPr>
          <p:nvPr/>
        </p:nvSpPr>
        <p:spPr>
          <a:xfrm>
            <a:off x="5248275" y="39624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终端节点服务-431">
            <a:extLst>
              <a:ext uri="{FF2B5EF4-FFF2-40B4-BE49-F238E27FC236}">
                <a16:creationId xmlns:a16="http://schemas.microsoft.com/office/drawing/2014/main" id="{E6271BAF-1AF9-4B5D-B6A7-D6A8C53E5F94}"/>
              </a:ext>
            </a:extLst>
          </p:cNvPr>
          <p:cNvSpPr>
            <a:spLocks noGrp="1"/>
          </p:cNvSpPr>
          <p:nvPr/>
        </p:nvSpPr>
        <p:spPr>
          <a:xfrm>
            <a:off x="5819775" y="3914775"/>
            <a:ext cx="1533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终端节点服务</a:t>
            </a:r>
          </a:p>
        </p:txBody>
      </p:sp>
      <p:sp>
        <p:nvSpPr>
          <p:cNvPr id="49" name="统一风格-文字 TCP 443 映射至服务入口-432">
            <a:extLst>
              <a:ext uri="{FF2B5EF4-FFF2-40B4-BE49-F238E27FC236}">
                <a16:creationId xmlns:a16="http://schemas.microsoft.com/office/drawing/2014/main" id="{DEE410A8-98DB-4582-B7B7-C8F75324A49C}"/>
              </a:ext>
            </a:extLst>
          </p:cNvPr>
          <p:cNvSpPr>
            <a:spLocks noGrp="1"/>
          </p:cNvSpPr>
          <p:nvPr/>
        </p:nvSpPr>
        <p:spPr>
          <a:xfrm>
            <a:off x="5248275" y="4419600"/>
            <a:ext cx="20859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TCP 443 映射至服务入口</a:t>
            </a:r>
          </a:p>
        </p:txBody>
      </p:sp>
      <p:sp>
        <p:nvSpPr>
          <p:cNvPr id="50" name="统一风格-服务VPC玻璃后沿-433">
            <a:extLst>
              <a:ext uri="{FF2B5EF4-FFF2-40B4-BE49-F238E27FC236}">
                <a16:creationId xmlns:a16="http://schemas.microsoft.com/office/drawing/2014/main" id="{178D123A-0841-410B-8035-2AE15A8A00CE}"/>
              </a:ext>
            </a:extLst>
          </p:cNvPr>
          <p:cNvSpPr>
            <a:spLocks noGrp="1"/>
          </p:cNvSpPr>
          <p:nvPr/>
        </p:nvSpPr>
        <p:spPr>
          <a:xfrm>
            <a:off x="7962900" y="2114550"/>
            <a:ext cx="3619500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服务VPC-434">
            <a:extLst>
              <a:ext uri="{FF2B5EF4-FFF2-40B4-BE49-F238E27FC236}">
                <a16:creationId xmlns:a16="http://schemas.microsoft.com/office/drawing/2014/main" id="{B5F2365C-0FC1-44FA-A527-379786918857}"/>
              </a:ext>
            </a:extLst>
          </p:cNvPr>
          <p:cNvSpPr>
            <a:spLocks noGrp="1"/>
          </p:cNvSpPr>
          <p:nvPr/>
        </p:nvSpPr>
        <p:spPr>
          <a:xfrm>
            <a:off x="7962900" y="2114550"/>
            <a:ext cx="3619500" cy="3067050"/>
          </a:xfrm>
          <a:prstGeom prst="roundRect">
            <a:avLst>
              <a:gd name="adj" fmla="val 279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服务VPC玻璃内沿-435">
            <a:extLst>
              <a:ext uri="{FF2B5EF4-FFF2-40B4-BE49-F238E27FC236}">
                <a16:creationId xmlns:a16="http://schemas.microsoft.com/office/drawing/2014/main" id="{90D02CD7-F287-4DA5-80FA-AA74D27748C1}"/>
              </a:ext>
            </a:extLst>
          </p:cNvPr>
          <p:cNvSpPr>
            <a:spLocks noGrp="1"/>
          </p:cNvSpPr>
          <p:nvPr/>
        </p:nvSpPr>
        <p:spPr>
          <a:xfrm>
            <a:off x="7975759" y="2127409"/>
            <a:ext cx="3593783" cy="3041333"/>
          </a:xfrm>
          <a:prstGeom prst="roundRect">
            <a:avLst>
              <a:gd name="adj" fmla="val 241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服务VPC边缘高光-436">
            <a:extLst>
              <a:ext uri="{FF2B5EF4-FFF2-40B4-BE49-F238E27FC236}">
                <a16:creationId xmlns:a16="http://schemas.microsoft.com/office/drawing/2014/main" id="{754A68B9-1C45-4C42-937B-94889733BEA7}"/>
              </a:ext>
            </a:extLst>
          </p:cNvPr>
          <p:cNvSpPr>
            <a:spLocks noGrp="1"/>
          </p:cNvSpPr>
          <p:nvPr/>
        </p:nvSpPr>
        <p:spPr>
          <a:xfrm>
            <a:off x="7962900" y="2114550"/>
            <a:ext cx="3619500" cy="3067050"/>
          </a:xfrm>
          <a:custGeom>
            <a:avLst/>
            <a:gdLst/>
            <a:ahLst/>
            <a:cxnLst/>
            <a:rect l="0" t="0" r="0" b="0"/>
            <a:pathLst>
              <a:path w="3619500" h="3067050">
                <a:moveTo>
                  <a:pt x="95250" y="9525"/>
                </a:moveTo>
                <a:lnTo>
                  <a:pt x="3524250" y="9525"/>
                </a:lnTo>
                <a:cubicBezTo>
                  <a:pt x="3571875" y="9525"/>
                  <a:pt x="3609975" y="47625"/>
                  <a:pt x="3609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cloud VPC 云轮廓-437">
            <a:extLst>
              <a:ext uri="{FF2B5EF4-FFF2-40B4-BE49-F238E27FC236}">
                <a16:creationId xmlns:a16="http://schemas.microsoft.com/office/drawing/2014/main" id="{DF225A6C-0D59-4833-A8E2-477EC33CD909}"/>
              </a:ext>
            </a:extLst>
          </p:cNvPr>
          <p:cNvSpPr>
            <a:spLocks noGrp="1"/>
          </p:cNvSpPr>
          <p:nvPr/>
        </p:nvSpPr>
        <p:spPr>
          <a:xfrm>
            <a:off x="8134350" y="2247900"/>
            <a:ext cx="466725" cy="4667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58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服务 VPC-438">
            <a:extLst>
              <a:ext uri="{FF2B5EF4-FFF2-40B4-BE49-F238E27FC236}">
                <a16:creationId xmlns:a16="http://schemas.microsoft.com/office/drawing/2014/main" id="{0A695426-2E81-4EB9-A8EB-7B93D1F27811}"/>
              </a:ext>
            </a:extLst>
          </p:cNvPr>
          <p:cNvSpPr>
            <a:spLocks noGrp="1"/>
          </p:cNvSpPr>
          <p:nvPr/>
        </p:nvSpPr>
        <p:spPr>
          <a:xfrm>
            <a:off x="8753475" y="23050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 VPC</a:t>
            </a:r>
          </a:p>
        </p:txBody>
      </p:sp>
      <p:sp>
        <p:nvSpPr>
          <p:cNvPr id="56" name="统一风格-文字 10.80.0.0/16-439">
            <a:extLst>
              <a:ext uri="{FF2B5EF4-FFF2-40B4-BE49-F238E27FC236}">
                <a16:creationId xmlns:a16="http://schemas.microsoft.com/office/drawing/2014/main" id="{45068910-0E3E-48AE-9548-F664770CAEF8}"/>
              </a:ext>
            </a:extLst>
          </p:cNvPr>
          <p:cNvSpPr>
            <a:spLocks noGrp="1"/>
          </p:cNvSpPr>
          <p:nvPr/>
        </p:nvSpPr>
        <p:spPr>
          <a:xfrm>
            <a:off x="8753475" y="2676525"/>
            <a:ext cx="257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10.80.0.0/16</a:t>
            </a:r>
          </a:p>
        </p:txBody>
      </p:sp>
      <p:sp>
        <p:nvSpPr>
          <p:cNvPr id="57" name="统一风格-私网 ELB玻璃后沿-440">
            <a:extLst>
              <a:ext uri="{FF2B5EF4-FFF2-40B4-BE49-F238E27FC236}">
                <a16:creationId xmlns:a16="http://schemas.microsoft.com/office/drawing/2014/main" id="{F2D1480E-16D0-4EBA-9478-92A9A538D597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3238500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统一风格-私网 ELB-441">
            <a:extLst>
              <a:ext uri="{FF2B5EF4-FFF2-40B4-BE49-F238E27FC236}">
                <a16:creationId xmlns:a16="http://schemas.microsoft.com/office/drawing/2014/main" id="{57C69C57-B9C7-43E4-B4F5-C6E03496D702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3238500" cy="809625"/>
          </a:xfrm>
          <a:prstGeom prst="roundRect">
            <a:avLst>
              <a:gd name="adj" fmla="val 105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私网 ELB玻璃内沿-442">
            <a:extLst>
              <a:ext uri="{FF2B5EF4-FFF2-40B4-BE49-F238E27FC236}">
                <a16:creationId xmlns:a16="http://schemas.microsoft.com/office/drawing/2014/main" id="{516B3C4C-B750-490F-9A37-8B6C41A67A05}"/>
              </a:ext>
            </a:extLst>
          </p:cNvPr>
          <p:cNvSpPr>
            <a:spLocks noGrp="1"/>
          </p:cNvSpPr>
          <p:nvPr/>
        </p:nvSpPr>
        <p:spPr>
          <a:xfrm>
            <a:off x="8166259" y="3098959"/>
            <a:ext cx="3212783" cy="783908"/>
          </a:xfrm>
          <a:prstGeom prst="roundRect">
            <a:avLst>
              <a:gd name="adj" fmla="val 935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私网 ELB透光反射面-443">
            <a:extLst>
              <a:ext uri="{FF2B5EF4-FFF2-40B4-BE49-F238E27FC236}">
                <a16:creationId xmlns:a16="http://schemas.microsoft.com/office/drawing/2014/main" id="{DA40ADDA-0685-4CDF-B83C-EC5EB96B80C4}"/>
              </a:ext>
            </a:extLst>
          </p:cNvPr>
          <p:cNvSpPr>
            <a:spLocks noGrp="1"/>
          </p:cNvSpPr>
          <p:nvPr/>
        </p:nvSpPr>
        <p:spPr>
          <a:xfrm>
            <a:off x="8172450" y="3105150"/>
            <a:ext cx="3200400" cy="771525"/>
          </a:xfrm>
          <a:custGeom>
            <a:avLst/>
            <a:gdLst/>
            <a:ahLst/>
            <a:cxnLst/>
            <a:rect l="0" t="0" r="0" b="0"/>
            <a:pathLst>
              <a:path w="3200400" h="771525">
                <a:moveTo>
                  <a:pt x="76200" y="0"/>
                </a:moveTo>
                <a:lnTo>
                  <a:pt x="2048256" y="0"/>
                </a:lnTo>
                <a:lnTo>
                  <a:pt x="832104" y="771525"/>
                </a:lnTo>
                <a:lnTo>
                  <a:pt x="76200" y="771525"/>
                </a:lnTo>
                <a:cubicBezTo>
                  <a:pt x="28575" y="771525"/>
                  <a:pt x="0" y="742950"/>
                  <a:pt x="0" y="6953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私网 ELB边缘高光-444">
            <a:extLst>
              <a:ext uri="{FF2B5EF4-FFF2-40B4-BE49-F238E27FC236}">
                <a16:creationId xmlns:a16="http://schemas.microsoft.com/office/drawing/2014/main" id="{27F696D5-5866-4345-863B-718C8CA8AF9B}"/>
              </a:ext>
            </a:extLst>
          </p:cNvPr>
          <p:cNvSpPr>
            <a:spLocks noGrp="1"/>
          </p:cNvSpPr>
          <p:nvPr/>
        </p:nvSpPr>
        <p:spPr>
          <a:xfrm>
            <a:off x="8153400" y="3086100"/>
            <a:ext cx="3238500" cy="809625"/>
          </a:xfrm>
          <a:custGeom>
            <a:avLst/>
            <a:gdLst/>
            <a:ahLst/>
            <a:cxnLst/>
            <a:rect l="0" t="0" r="0" b="0"/>
            <a:pathLst>
              <a:path w="3238500" h="809625">
                <a:moveTo>
                  <a:pt x="95250" y="9525"/>
                </a:moveTo>
                <a:lnTo>
                  <a:pt x="3143250" y="9525"/>
                </a:lnTo>
                <a:cubicBezTo>
                  <a:pt x="3190875" y="9525"/>
                  <a:pt x="3228975" y="47625"/>
                  <a:pt x="3228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统一互联图标 负载均衡-445">
            <a:extLst>
              <a:ext uri="{FF2B5EF4-FFF2-40B4-BE49-F238E27FC236}">
                <a16:creationId xmlns:a16="http://schemas.microsoft.com/office/drawing/2014/main" id="{440D45B9-FB36-4DD9-B0F3-2AEAFF8B431C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66675" y="219075"/>
                </a:moveTo>
                <a:lnTo>
                  <a:pt x="219075" y="219075"/>
                </a:lnTo>
                <a:lnTo>
                  <a:pt x="219075" y="390525"/>
                </a:lnTo>
                <a:lnTo>
                  <a:pt x="66675" y="3905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统一互联图标 分发路径-446">
            <a:extLst>
              <a:ext uri="{FF2B5EF4-FFF2-40B4-BE49-F238E27FC236}">
                <a16:creationId xmlns:a16="http://schemas.microsoft.com/office/drawing/2014/main" id="{8A01F0CC-C01D-4BCF-97CF-94683FCB21E5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19075" y="304800"/>
                </a:moveTo>
                <a:lnTo>
                  <a:pt x="333375" y="304800"/>
                </a:lnTo>
                <a:lnTo>
                  <a:pt x="333375" y="114300"/>
                </a:lnTo>
                <a:lnTo>
                  <a:pt x="457200" y="114300"/>
                </a:lnTo>
                <a:moveTo>
                  <a:pt x="333375" y="304800"/>
                </a:moveTo>
                <a:lnTo>
                  <a:pt x="457200" y="304800"/>
                </a:lnTo>
                <a:moveTo>
                  <a:pt x="333375" y="304800"/>
                </a:moveTo>
                <a:lnTo>
                  <a:pt x="333375" y="495300"/>
                </a:lnTo>
                <a:lnTo>
                  <a:pt x="457200" y="4953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统一互联图标 后端节点-447">
            <a:extLst>
              <a:ext uri="{FF2B5EF4-FFF2-40B4-BE49-F238E27FC236}">
                <a16:creationId xmlns:a16="http://schemas.microsoft.com/office/drawing/2014/main" id="{686F798F-3887-47D3-8391-470A4DD4C368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66675"/>
                </a:moveTo>
                <a:lnTo>
                  <a:pt x="561975" y="66675"/>
                </a:lnTo>
                <a:lnTo>
                  <a:pt x="561975" y="161925"/>
                </a:lnTo>
                <a:lnTo>
                  <a:pt x="457200" y="161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统一互联图标 后端节点-448">
            <a:extLst>
              <a:ext uri="{FF2B5EF4-FFF2-40B4-BE49-F238E27FC236}">
                <a16:creationId xmlns:a16="http://schemas.microsoft.com/office/drawing/2014/main" id="{D9391EFA-8BBE-4827-B714-C6D6EB3FE9A9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257175"/>
                </a:moveTo>
                <a:lnTo>
                  <a:pt x="561975" y="257175"/>
                </a:lnTo>
                <a:lnTo>
                  <a:pt x="561975" y="352425"/>
                </a:lnTo>
                <a:lnTo>
                  <a:pt x="457200" y="3524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统一互联图标 后端节点-449">
            <a:extLst>
              <a:ext uri="{FF2B5EF4-FFF2-40B4-BE49-F238E27FC236}">
                <a16:creationId xmlns:a16="http://schemas.microsoft.com/office/drawing/2014/main" id="{71B31395-A4CA-45B6-A9E2-1D51C6B44170}"/>
              </a:ext>
            </a:extLst>
          </p:cNvPr>
          <p:cNvSpPr>
            <a:spLocks noGrp="1"/>
          </p:cNvSpPr>
          <p:nvPr/>
        </p:nvSpPr>
        <p:spPr>
          <a:xfrm>
            <a:off x="8305800" y="324802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57200" y="447675"/>
                </a:moveTo>
                <a:lnTo>
                  <a:pt x="561975" y="447675"/>
                </a:lnTo>
                <a:lnTo>
                  <a:pt x="561975" y="542925"/>
                </a:lnTo>
                <a:lnTo>
                  <a:pt x="457200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文字 私网 ELB-450">
            <a:extLst>
              <a:ext uri="{FF2B5EF4-FFF2-40B4-BE49-F238E27FC236}">
                <a16:creationId xmlns:a16="http://schemas.microsoft.com/office/drawing/2014/main" id="{4000E262-C875-4F3A-904D-BC1434615754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 ELB</a:t>
            </a:r>
          </a:p>
        </p:txBody>
      </p:sp>
      <p:sp>
        <p:nvSpPr>
          <p:cNvPr id="68" name="统一风格-文字 监听 TCP 443-451">
            <a:extLst>
              <a:ext uri="{FF2B5EF4-FFF2-40B4-BE49-F238E27FC236}">
                <a16:creationId xmlns:a16="http://schemas.microsoft.com/office/drawing/2014/main" id="{3A7051CA-4137-4277-88EA-DB5577194FD5}"/>
              </a:ext>
            </a:extLst>
          </p:cNvPr>
          <p:cNvSpPr>
            <a:spLocks noGrp="1"/>
          </p:cNvSpPr>
          <p:nvPr/>
        </p:nvSpPr>
        <p:spPr>
          <a:xfrm>
            <a:off x="8877300" y="35528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监听 TCP 443</a:t>
            </a:r>
          </a:p>
        </p:txBody>
      </p:sp>
      <p:sp>
        <p:nvSpPr>
          <p:cNvPr id="69" name="统一风格-后端 ECS玻璃后沿-452">
            <a:extLst>
              <a:ext uri="{FF2B5EF4-FFF2-40B4-BE49-F238E27FC236}">
                <a16:creationId xmlns:a16="http://schemas.microsoft.com/office/drawing/2014/main" id="{4CF62F7E-191B-421E-BED7-BA75D661927E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32385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0" name="统一风格-后端 ECS-453">
            <a:extLst>
              <a:ext uri="{FF2B5EF4-FFF2-40B4-BE49-F238E27FC236}">
                <a16:creationId xmlns:a16="http://schemas.microsoft.com/office/drawing/2014/main" id="{B1A582D0-A87C-4FCF-A515-E01B7B531CD9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32385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后端 ECS玻璃内沿-454">
            <a:extLst>
              <a:ext uri="{FF2B5EF4-FFF2-40B4-BE49-F238E27FC236}">
                <a16:creationId xmlns:a16="http://schemas.microsoft.com/office/drawing/2014/main" id="{C6679591-2B8F-4014-AF6D-6394C0474DC4}"/>
              </a:ext>
            </a:extLst>
          </p:cNvPr>
          <p:cNvSpPr>
            <a:spLocks noGrp="1"/>
          </p:cNvSpPr>
          <p:nvPr/>
        </p:nvSpPr>
        <p:spPr>
          <a:xfrm>
            <a:off x="8166259" y="4156234"/>
            <a:ext cx="3212783" cy="802958"/>
          </a:xfrm>
          <a:prstGeom prst="roundRect">
            <a:avLst>
              <a:gd name="adj" fmla="val 91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后端 ECS透光反射面-455">
            <a:extLst>
              <a:ext uri="{FF2B5EF4-FFF2-40B4-BE49-F238E27FC236}">
                <a16:creationId xmlns:a16="http://schemas.microsoft.com/office/drawing/2014/main" id="{1FC3A04B-868B-4EFE-9518-630D2E14661A}"/>
              </a:ext>
            </a:extLst>
          </p:cNvPr>
          <p:cNvSpPr>
            <a:spLocks noGrp="1"/>
          </p:cNvSpPr>
          <p:nvPr/>
        </p:nvSpPr>
        <p:spPr>
          <a:xfrm>
            <a:off x="8172450" y="4162425"/>
            <a:ext cx="3200400" cy="790575"/>
          </a:xfrm>
          <a:custGeom>
            <a:avLst/>
            <a:gdLst/>
            <a:ahLst/>
            <a:cxnLst/>
            <a:rect l="0" t="0" r="0" b="0"/>
            <a:pathLst>
              <a:path w="3200400" h="790575">
                <a:moveTo>
                  <a:pt x="76200" y="0"/>
                </a:moveTo>
                <a:lnTo>
                  <a:pt x="2048256" y="0"/>
                </a:lnTo>
                <a:lnTo>
                  <a:pt x="832104" y="790575"/>
                </a:lnTo>
                <a:lnTo>
                  <a:pt x="76200" y="790575"/>
                </a:lnTo>
                <a:cubicBezTo>
                  <a:pt x="28575" y="790575"/>
                  <a:pt x="0" y="762000"/>
                  <a:pt x="0" y="7143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后端 ECS边缘高光-456">
            <a:extLst>
              <a:ext uri="{FF2B5EF4-FFF2-40B4-BE49-F238E27FC236}">
                <a16:creationId xmlns:a16="http://schemas.microsoft.com/office/drawing/2014/main" id="{AC356E61-3771-44B5-BE86-94D35FE2FCF1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3238500" cy="828675"/>
          </a:xfrm>
          <a:custGeom>
            <a:avLst/>
            <a:gdLst/>
            <a:ahLst/>
            <a:cxnLst/>
            <a:rect l="0" t="0" r="0" b="0"/>
            <a:pathLst>
              <a:path w="3238500" h="828675">
                <a:moveTo>
                  <a:pt x="95250" y="9525"/>
                </a:moveTo>
                <a:lnTo>
                  <a:pt x="3143250" y="9525"/>
                </a:lnTo>
                <a:cubicBezTo>
                  <a:pt x="3190875" y="9525"/>
                  <a:pt x="3228975" y="47625"/>
                  <a:pt x="3228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server 服务器机架-457">
            <a:extLst>
              <a:ext uri="{FF2B5EF4-FFF2-40B4-BE49-F238E27FC236}">
                <a16:creationId xmlns:a16="http://schemas.microsoft.com/office/drawing/2014/main" id="{D23403CE-E9CA-4D2A-851C-36CD3D2F0FEC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server 机架状态-458">
            <a:extLst>
              <a:ext uri="{FF2B5EF4-FFF2-40B4-BE49-F238E27FC236}">
                <a16:creationId xmlns:a16="http://schemas.microsoft.com/office/drawing/2014/main" id="{BBB5E4CD-C95C-44BC-B9C4-587D3339277F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server 指示灯-459">
            <a:extLst>
              <a:ext uri="{FF2B5EF4-FFF2-40B4-BE49-F238E27FC236}">
                <a16:creationId xmlns:a16="http://schemas.microsoft.com/office/drawing/2014/main" id="{96050B7E-DA5F-4103-AF64-13FE242D8EB0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server 服务器机架-460">
            <a:extLst>
              <a:ext uri="{FF2B5EF4-FFF2-40B4-BE49-F238E27FC236}">
                <a16:creationId xmlns:a16="http://schemas.microsoft.com/office/drawing/2014/main" id="{4D056A4B-6197-435F-91B2-8FEB288608EA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server 机架状态-461">
            <a:extLst>
              <a:ext uri="{FF2B5EF4-FFF2-40B4-BE49-F238E27FC236}">
                <a16:creationId xmlns:a16="http://schemas.microsoft.com/office/drawing/2014/main" id="{2DD1C577-68AD-46CF-9688-740DEBA6BD93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server 指示灯-462">
            <a:extLst>
              <a:ext uri="{FF2B5EF4-FFF2-40B4-BE49-F238E27FC236}">
                <a16:creationId xmlns:a16="http://schemas.microsoft.com/office/drawing/2014/main" id="{C9E69083-FF31-4F74-B76F-CCCFE71440D7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server 服务器机架-463">
            <a:extLst>
              <a:ext uri="{FF2B5EF4-FFF2-40B4-BE49-F238E27FC236}">
                <a16:creationId xmlns:a16="http://schemas.microsoft.com/office/drawing/2014/main" id="{CE163476-F11C-4A07-8B9F-B03ED89A8A35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server 机架状态-464">
            <a:extLst>
              <a:ext uri="{FF2B5EF4-FFF2-40B4-BE49-F238E27FC236}">
                <a16:creationId xmlns:a16="http://schemas.microsoft.com/office/drawing/2014/main" id="{13310863-8DD3-46BA-9CAB-FF9C0E8C0305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5169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server 指示灯-465">
            <a:extLst>
              <a:ext uri="{FF2B5EF4-FFF2-40B4-BE49-F238E27FC236}">
                <a16:creationId xmlns:a16="http://schemas.microsoft.com/office/drawing/2014/main" id="{E2FBD2A4-C0FA-4278-AE64-51F89A5433B2}"/>
              </a:ext>
            </a:extLst>
          </p:cNvPr>
          <p:cNvSpPr>
            <a:spLocks noGrp="1"/>
          </p:cNvSpPr>
          <p:nvPr/>
        </p:nvSpPr>
        <p:spPr>
          <a:xfrm>
            <a:off x="8305800" y="436721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文字 后端 ECS-466">
            <a:extLst>
              <a:ext uri="{FF2B5EF4-FFF2-40B4-BE49-F238E27FC236}">
                <a16:creationId xmlns:a16="http://schemas.microsoft.com/office/drawing/2014/main" id="{D057C92D-F415-487A-B2E6-F92383545A73}"/>
              </a:ext>
            </a:extLst>
          </p:cNvPr>
          <p:cNvSpPr>
            <a:spLocks noGrp="1"/>
          </p:cNvSpPr>
          <p:nvPr/>
        </p:nvSpPr>
        <p:spPr>
          <a:xfrm>
            <a:off x="8829675" y="4286250"/>
            <a:ext cx="2409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后端 ECS</a:t>
            </a:r>
          </a:p>
        </p:txBody>
      </p:sp>
      <p:sp>
        <p:nvSpPr>
          <p:cNvPr id="84" name="统一风格-文字 API 应用服务-467">
            <a:extLst>
              <a:ext uri="{FF2B5EF4-FFF2-40B4-BE49-F238E27FC236}">
                <a16:creationId xmlns:a16="http://schemas.microsoft.com/office/drawing/2014/main" id="{F6F99C27-C704-4DCF-B759-33096E7426E5}"/>
              </a:ext>
            </a:extLst>
          </p:cNvPr>
          <p:cNvSpPr>
            <a:spLocks noGrp="1"/>
          </p:cNvSpPr>
          <p:nvPr/>
        </p:nvSpPr>
        <p:spPr>
          <a:xfrm>
            <a:off x="8829675" y="4638675"/>
            <a:ext cx="24098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API 应用服务</a:t>
            </a:r>
          </a:p>
        </p:txBody>
      </p:sp>
      <p:cxnSp>
        <p:nvCxnSpPr>
          <p:cNvPr id="85" name="网络连接-37">
            <a:extLst>
              <a:ext uri="{FF2B5EF4-FFF2-40B4-BE49-F238E27FC236}">
                <a16:creationId xmlns:a16="http://schemas.microsoft.com/office/drawing/2014/main" id="{9345F486-80CB-4780-A6EC-EBD8BA7A40B3}"/>
              </a:ext>
            </a:extLst>
          </p:cNvPr>
          <p:cNvCxnSpPr/>
          <p:nvPr/>
        </p:nvCxnSpPr>
        <p:spPr>
          <a:xfrm>
            <a:off x="9772650" y="3895725"/>
            <a:ext cx="0" cy="24765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6" name="网络连接-38">
            <a:extLst>
              <a:ext uri="{FF2B5EF4-FFF2-40B4-BE49-F238E27FC236}">
                <a16:creationId xmlns:a16="http://schemas.microsoft.com/office/drawing/2014/main" id="{7D1C12C4-C423-45F8-AD40-0B00E99B0DEB}"/>
              </a:ext>
            </a:extLst>
          </p:cNvPr>
          <p:cNvCxnSpPr/>
          <p:nvPr/>
        </p:nvCxnSpPr>
        <p:spPr>
          <a:xfrm>
            <a:off x="7486650" y="4391025"/>
            <a:ext cx="22860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cxnSp>
        <p:nvCxnSpPr>
          <p:cNvPr id="87" name="网络连接-39">
            <a:extLst>
              <a:ext uri="{FF2B5EF4-FFF2-40B4-BE49-F238E27FC236}">
                <a16:creationId xmlns:a16="http://schemas.microsoft.com/office/drawing/2014/main" id="{108DF0CC-2C3B-4B05-923A-865105AC3E61}"/>
              </a:ext>
            </a:extLst>
          </p:cNvPr>
          <p:cNvCxnSpPr/>
          <p:nvPr/>
        </p:nvCxnSpPr>
        <p:spPr>
          <a:xfrm flipV="1">
            <a:off x="7715250" y="3486150"/>
            <a:ext cx="0" cy="904875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cxnSp>
        <p:nvCxnSpPr>
          <p:cNvPr id="88" name="网络连接-40">
            <a:extLst>
              <a:ext uri="{FF2B5EF4-FFF2-40B4-BE49-F238E27FC236}">
                <a16:creationId xmlns:a16="http://schemas.microsoft.com/office/drawing/2014/main" id="{14E8FF91-F326-4F21-B765-A24CD2140B2D}"/>
              </a:ext>
            </a:extLst>
          </p:cNvPr>
          <p:cNvCxnSpPr/>
          <p:nvPr/>
        </p:nvCxnSpPr>
        <p:spPr>
          <a:xfrm>
            <a:off x="7715250" y="3486150"/>
            <a:ext cx="438150" cy="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89" name="统一风格-访问范围玻璃后沿-468">
            <a:extLst>
              <a:ext uri="{FF2B5EF4-FFF2-40B4-BE49-F238E27FC236}">
                <a16:creationId xmlns:a16="http://schemas.microsoft.com/office/drawing/2014/main" id="{CA2C9146-9AD3-478F-AD7F-582A214E708A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访问范围-469">
            <a:extLst>
              <a:ext uri="{FF2B5EF4-FFF2-40B4-BE49-F238E27FC236}">
                <a16:creationId xmlns:a16="http://schemas.microsoft.com/office/drawing/2014/main" id="{40720D1A-5580-4FEF-8382-A7342A01237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访问范围玻璃内沿-470">
            <a:extLst>
              <a:ext uri="{FF2B5EF4-FFF2-40B4-BE49-F238E27FC236}">
                <a16:creationId xmlns:a16="http://schemas.microsoft.com/office/drawing/2014/main" id="{341244E3-09F7-4AE9-8C5B-8E7B9A9CB2D2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统一风格-访问范围边缘高光-471">
            <a:extLst>
              <a:ext uri="{FF2B5EF4-FFF2-40B4-BE49-F238E27FC236}">
                <a16:creationId xmlns:a16="http://schemas.microsoft.com/office/drawing/2014/main" id="{A28E0606-7F36-4EE7-B4DD-E7222A6273D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" name="统一风格-文字 访问范围-472">
            <a:extLst>
              <a:ext uri="{FF2B5EF4-FFF2-40B4-BE49-F238E27FC236}">
                <a16:creationId xmlns:a16="http://schemas.microsoft.com/office/drawing/2014/main" id="{5346DCB9-8D39-407F-9818-23F5CE9C90C3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访问范围</a:t>
            </a:r>
          </a:p>
        </p:txBody>
      </p:sp>
      <p:sp>
        <p:nvSpPr>
          <p:cNvPr id="94" name="统一风格-文字 终端节点暴露指定服务和端口，消费者无需获得服务 VPC 的整网路由。-473">
            <a:extLst>
              <a:ext uri="{FF2B5EF4-FFF2-40B4-BE49-F238E27FC236}">
                <a16:creationId xmlns:a16="http://schemas.microsoft.com/office/drawing/2014/main" id="{17686157-5DAC-4300-8A01-0E61DE8D1B3E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终端节点暴露指定服务和端口，消费者无需获得服务 VPC 的整网路由。</a:t>
            </a:r>
          </a:p>
        </p:txBody>
      </p:sp>
    </p:spTree>
    <p:extLst>
      <p:ext uri="{BB962C8B-B14F-4D97-AF65-F5344CB8AC3E}">
        <p14:creationId xmlns:p14="http://schemas.microsoft.com/office/powerpoint/2010/main" val="824219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2  网络互联方案">
            <a:extLst>
              <a:ext uri="{FF2B5EF4-FFF2-40B4-BE49-F238E27FC236}">
                <a16:creationId xmlns:a16="http://schemas.microsoft.com/office/drawing/2014/main" id="{77FF9D91-557C-47DC-88D8-32BC8BCDFEE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 的授权层次与后端源地址-78">
            <a:extLst>
              <a:ext uri="{FF2B5EF4-FFF2-40B4-BE49-F238E27FC236}">
                <a16:creationId xmlns:a16="http://schemas.microsoft.com/office/drawing/2014/main" id="{6B8BCBBD-49CC-480B-B0F7-1B1926EBCF3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 的授权层次与后端源地址</a:t>
            </a:r>
          </a:p>
        </p:txBody>
      </p:sp>
      <p:sp>
        <p:nvSpPr>
          <p:cNvPr id="3" name="统一风格-文字 同一个访问请求，在服务接入、消费源控制和后端接收三个层次分别核验-79">
            <a:extLst>
              <a:ext uri="{FF2B5EF4-FFF2-40B4-BE49-F238E27FC236}">
                <a16:creationId xmlns:a16="http://schemas.microsoft.com/office/drawing/2014/main" id="{7111A466-427A-4189-A15A-1E1DF3CC74D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同一个访问请求，在服务接入、消费源控制和后端接收三个层次分别核验</a:t>
            </a:r>
          </a:p>
        </p:txBody>
      </p:sp>
      <p:cxnSp>
        <p:nvCxnSpPr>
          <p:cNvPr id="4" name="知识图示连接-8">
            <a:extLst>
              <a:ext uri="{FF2B5EF4-FFF2-40B4-BE49-F238E27FC236}">
                <a16:creationId xmlns:a16="http://schemas.microsoft.com/office/drawing/2014/main" id="{BA62CC71-019A-42EF-896A-A7BD1ED0D784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本例采用 ELB 后端，端口映射为 TCP 443 到 443；其他后端按对应文档确认。">
            <a:extLst>
              <a:ext uri="{FF2B5EF4-FFF2-40B4-BE49-F238E27FC236}">
                <a16:creationId xmlns:a16="http://schemas.microsoft.com/office/drawing/2014/main" id="{D51E9614-D962-4D40-BF48-F6F7733A844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本例采用 ELB 后端，端口映射为 TCP 443 到 443；其他后端按对应文档确认。</a:t>
            </a:r>
          </a:p>
        </p:txBody>
      </p:sp>
      <p:sp>
        <p:nvSpPr>
          <p:cNvPr id="6" name="正文-25">
            <a:extLst>
              <a:ext uri="{FF2B5EF4-FFF2-40B4-BE49-F238E27FC236}">
                <a16:creationId xmlns:a16="http://schemas.microsoft.com/office/drawing/2014/main" id="{DB2E259B-31AE-4984-8D08-EB0568B2602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7" name="统一风格-知识重点表玻璃后沿-82">
            <a:extLst>
              <a:ext uri="{FF2B5EF4-FFF2-40B4-BE49-F238E27FC236}">
                <a16:creationId xmlns:a16="http://schemas.microsoft.com/office/drawing/2014/main" id="{5B6C1E63-521A-47C8-A1BD-C62F61B44F3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83">
            <a:extLst>
              <a:ext uri="{FF2B5EF4-FFF2-40B4-BE49-F238E27FC236}">
                <a16:creationId xmlns:a16="http://schemas.microsoft.com/office/drawing/2014/main" id="{A8DA43C3-5879-418A-8386-C7556B94E81C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84">
            <a:extLst>
              <a:ext uri="{FF2B5EF4-FFF2-40B4-BE49-F238E27FC236}">
                <a16:creationId xmlns:a16="http://schemas.microsoft.com/office/drawing/2014/main" id="{A293143B-7934-4586-924C-6A43B22CB77D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650808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85">
            <a:extLst>
              <a:ext uri="{FF2B5EF4-FFF2-40B4-BE49-F238E27FC236}">
                <a16:creationId xmlns:a16="http://schemas.microsoft.com/office/drawing/2014/main" id="{2363CFF8-3859-41E6-9A83-EAB17FDABAF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custGeom>
            <a:avLst/>
            <a:gdLst/>
            <a:ahLst/>
            <a:cxnLst/>
            <a:rect l="0" t="0" r="0" b="0"/>
            <a:pathLst>
              <a:path w="11106150" h="26765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FC80A9-4FA7-4A08-A231-41C74A7EC2EB}"/>
              </a:ext>
            </a:extLst>
          </p:cNvPr>
          <p:cNvGraphicFramePr/>
          <p:nvPr/>
        </p:nvGraphicFramePr>
        <p:xfrm>
          <a:off x="609600" y="2143125"/>
          <a:ext cx="10972800" cy="2543176"/>
        </p:xfrm>
        <a:graphic>
          <a:graphicData uri="http://schemas.openxmlformats.org/drawingml/2006/table">
            <a:tbl>
              <a:tblPr/>
              <a:tblGrid>
                <a:gridCol w="206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79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控制什么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本例检查重点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服务接入授权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谁能建立终端节点连接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跨账号服务账号白名单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开启连接审批时，由服务方接受连接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消费源控制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哪些消费源可访问终端节点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终端节点访问控制白名单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填写批准的消费端 CIDR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后端接收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后端是否接收转发的业务流量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 198.19.128.0/17 的必要端口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访问控制开启时同步放通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统一风格-真实源地址玻璃后沿-86">
            <a:extLst>
              <a:ext uri="{FF2B5EF4-FFF2-40B4-BE49-F238E27FC236}">
                <a16:creationId xmlns:a16="http://schemas.microsoft.com/office/drawing/2014/main" id="{8EE0F829-A9AE-4329-BD94-62BA01FB5398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真实源地址-87">
            <a:extLst>
              <a:ext uri="{FF2B5EF4-FFF2-40B4-BE49-F238E27FC236}">
                <a16:creationId xmlns:a16="http://schemas.microsoft.com/office/drawing/2014/main" id="{2601F4E7-9EC4-4C18-90B1-A3DD16C75598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真实源地址玻璃内沿-88">
            <a:extLst>
              <a:ext uri="{FF2B5EF4-FFF2-40B4-BE49-F238E27FC236}">
                <a16:creationId xmlns:a16="http://schemas.microsoft.com/office/drawing/2014/main" id="{473B5A7D-46EB-4277-A37F-56FA85F3169E}"/>
              </a:ext>
            </a:extLst>
          </p:cNvPr>
          <p:cNvSpPr>
            <a:spLocks noGrp="1"/>
          </p:cNvSpPr>
          <p:nvPr/>
        </p:nvSpPr>
        <p:spPr>
          <a:xfrm>
            <a:off x="622459" y="5003959"/>
            <a:ext cx="10947083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真实源地址边缘高光-89">
            <a:extLst>
              <a:ext uri="{FF2B5EF4-FFF2-40B4-BE49-F238E27FC236}">
                <a16:creationId xmlns:a16="http://schemas.microsoft.com/office/drawing/2014/main" id="{22211FC9-A72C-42B1-94FD-E87A9F1B01B4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0972800" cy="876300"/>
          </a:xfrm>
          <a:custGeom>
            <a:avLst/>
            <a:gdLst/>
            <a:ahLst/>
            <a:cxnLst/>
            <a:rect l="0" t="0" r="0" b="0"/>
            <a:pathLst>
              <a:path w="10972800" h="876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真实客户端 IP-90">
            <a:extLst>
              <a:ext uri="{FF2B5EF4-FFF2-40B4-BE49-F238E27FC236}">
                <a16:creationId xmlns:a16="http://schemas.microsoft.com/office/drawing/2014/main" id="{B930D8C3-D85B-4867-9D65-3BB23DA25D7B}"/>
              </a:ext>
            </a:extLst>
          </p:cNvPr>
          <p:cNvSpPr>
            <a:spLocks noGrp="1"/>
          </p:cNvSpPr>
          <p:nvPr/>
        </p:nvSpPr>
        <p:spPr>
          <a:xfrm>
            <a:off x="809625" y="5153025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真实客户端 IP</a:t>
            </a:r>
          </a:p>
        </p:txBody>
      </p:sp>
      <p:sp>
        <p:nvSpPr>
          <p:cNvPr id="17" name="统一风格-文字 ELB 作为终端节点服务后端时，不支持获取真实客户端地址。 按该场景的转发源地址配置后端规则，消费源限制放在终端节点侧核验。-91">
            <a:extLst>
              <a:ext uri="{FF2B5EF4-FFF2-40B4-BE49-F238E27FC236}">
                <a16:creationId xmlns:a16="http://schemas.microsoft.com/office/drawing/2014/main" id="{A3F4DD16-5489-47B6-BDCD-9DBD09779A66}"/>
              </a:ext>
            </a:extLst>
          </p:cNvPr>
          <p:cNvSpPr>
            <a:spLocks noGrp="1"/>
          </p:cNvSpPr>
          <p:nvPr/>
        </p:nvSpPr>
        <p:spPr>
          <a:xfrm>
            <a:off x="3162300" y="50863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ELB 作为终端节点服务后端时，不支持获取真实客户端地址。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按该场景的转发源地址配置后端规则，消费源限制放在终端节点侧核验。</a:t>
            </a:r>
          </a:p>
        </p:txBody>
      </p:sp>
    </p:spTree>
    <p:extLst>
      <p:ext uri="{BB962C8B-B14F-4D97-AF65-F5344CB8AC3E}">
        <p14:creationId xmlns:p14="http://schemas.microsoft.com/office/powerpoint/2010/main" val="970393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2  网络互联方案">
            <a:extLst>
              <a:ext uri="{FF2B5EF4-FFF2-40B4-BE49-F238E27FC236}">
                <a16:creationId xmlns:a16="http://schemas.microsoft.com/office/drawing/2014/main" id="{3AE678B2-BCF3-4EFC-91A8-1822DFDC343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：授权、端口映射与后端放行-475">
            <a:extLst>
              <a:ext uri="{FF2B5EF4-FFF2-40B4-BE49-F238E27FC236}">
                <a16:creationId xmlns:a16="http://schemas.microsoft.com/office/drawing/2014/main" id="{CB8A7579-F61F-4DA5-BAE8-09BBCB832DA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VPCEP：授权、端口映射与后端放行</a:t>
            </a:r>
          </a:p>
        </p:txBody>
      </p:sp>
      <p:sp>
        <p:nvSpPr>
          <p:cNvPr id="3" name="统一风格-文字 服务能被发现、连接能被接受、后端能接收转发流量，分别核验-476">
            <a:extLst>
              <a:ext uri="{FF2B5EF4-FFF2-40B4-BE49-F238E27FC236}">
                <a16:creationId xmlns:a16="http://schemas.microsoft.com/office/drawing/2014/main" id="{E2F42D05-7B0C-4FE2-9223-99F3F008E66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服务能被发现、连接能被接受、后端能接收转发流量，分别核验</a:t>
            </a:r>
          </a:p>
        </p:txBody>
      </p:sp>
      <p:cxnSp>
        <p:nvCxnSpPr>
          <p:cNvPr id="4" name="网络连接-41">
            <a:extLst>
              <a:ext uri="{FF2B5EF4-FFF2-40B4-BE49-F238E27FC236}">
                <a16:creationId xmlns:a16="http://schemas.microsoft.com/office/drawing/2014/main" id="{3C31F0A3-19DE-4F86-AE82-8B5C9F8836F6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正文-本例采用 ELB 后端。其他后端需按对应文档确认源地址及安全策略。">
            <a:extLst>
              <a:ext uri="{FF2B5EF4-FFF2-40B4-BE49-F238E27FC236}">
                <a16:creationId xmlns:a16="http://schemas.microsoft.com/office/drawing/2014/main" id="{CC5326B1-8B7E-46E9-8D08-4E4768560CC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本例采用 ELB 后端。其他后端需按对应文档确认源地址及安全策略。</a:t>
            </a:r>
          </a:p>
        </p:txBody>
      </p:sp>
      <p:sp>
        <p:nvSpPr>
          <p:cNvPr id="6" name="正文-26">
            <a:extLst>
              <a:ext uri="{FF2B5EF4-FFF2-40B4-BE49-F238E27FC236}">
                <a16:creationId xmlns:a16="http://schemas.microsoft.com/office/drawing/2014/main" id="{E4884AE3-3518-49C3-BF73-A6D48730FCF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7" name="统一风格-路由与配置表玻璃后沿-479">
            <a:extLst>
              <a:ext uri="{FF2B5EF4-FFF2-40B4-BE49-F238E27FC236}">
                <a16:creationId xmlns:a16="http://schemas.microsoft.com/office/drawing/2014/main" id="{E5D894BD-A6F1-4C38-B61A-E06195A58EE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480">
            <a:extLst>
              <a:ext uri="{FF2B5EF4-FFF2-40B4-BE49-F238E27FC236}">
                <a16:creationId xmlns:a16="http://schemas.microsoft.com/office/drawing/2014/main" id="{B6AF8C16-8B93-4614-A9C3-71E14D8FFD1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481">
            <a:extLst>
              <a:ext uri="{FF2B5EF4-FFF2-40B4-BE49-F238E27FC236}">
                <a16:creationId xmlns:a16="http://schemas.microsoft.com/office/drawing/2014/main" id="{4BA61CEA-5067-44E5-BADB-0FDD14D4E175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689033"/>
          </a:xfrm>
          <a:prstGeom prst="roundRect">
            <a:avLst>
              <a:gd name="adj" fmla="val 19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482">
            <a:extLst>
              <a:ext uri="{FF2B5EF4-FFF2-40B4-BE49-F238E27FC236}">
                <a16:creationId xmlns:a16="http://schemas.microsoft.com/office/drawing/2014/main" id="{990D1AEE-523D-4E75-8E88-B340AF6746EA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custGeom>
            <a:avLst/>
            <a:gdLst/>
            <a:ahLst/>
            <a:cxnLst/>
            <a:rect l="0" t="0" r="0" b="0"/>
            <a:pathLst>
              <a:path w="11106150" h="3714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727E84-B70D-4C4F-BF02-C3B3F0FF23B4}"/>
              </a:ext>
            </a:extLst>
          </p:cNvPr>
          <p:cNvGraphicFramePr/>
          <p:nvPr/>
        </p:nvGraphicFramePr>
        <p:xfrm>
          <a:off x="609600" y="2143125"/>
          <a:ext cx="10972800" cy="3581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配置项 / 操作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服务发布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私网 ELB，TCP 443 映射至 443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服务对象、映射与监听一致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连接授权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/ 项目，按需审批连接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跨账号另配服务账号白名单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消费端访问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终端节点访问控制白名单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仅允许批准的消费源 CIDR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后端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放通 198.19.128.0/17 的必要业务端口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ELB 访问控制开启时同步核验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访问终端节点 IP / 内网域名的 443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应通、应拒绝与后端健康均通过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147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55">
            <a:extLst>
              <a:ext uri="{FF2B5EF4-FFF2-40B4-BE49-F238E27FC236}">
                <a16:creationId xmlns:a16="http://schemas.microsoft.com/office/drawing/2014/main" id="{5BF860E6-B243-46AC-8F1E-39761792F60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EP：约束限制与服务接入建议-356">
            <a:extLst>
              <a:ext uri="{FF2B5EF4-FFF2-40B4-BE49-F238E27FC236}">
                <a16:creationId xmlns:a16="http://schemas.microsoft.com/office/drawing/2014/main" id="{113FDAD7-89C5-471B-A57B-D4D91F1A66E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VPCEP：约束限制与服务接入建议</a:t>
            </a:r>
          </a:p>
        </p:txBody>
      </p:sp>
      <p:sp>
        <p:nvSpPr>
          <p:cNvPr id="3" name="统一风格-文字 以服务和端口为边界，分别核验消费者授权、后端放行及实例规格-357">
            <a:extLst>
              <a:ext uri="{FF2B5EF4-FFF2-40B4-BE49-F238E27FC236}">
                <a16:creationId xmlns:a16="http://schemas.microsoft.com/office/drawing/2014/main" id="{1D19A7CD-5926-49DE-A940-75B8E897EF6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以服务和端口为边界，分别核验消费者授权、后端放行及实例规格</a:t>
            </a:r>
          </a:p>
        </p:txBody>
      </p:sp>
      <p:sp>
        <p:nvSpPr>
          <p:cNvPr id="4" name="统一风格-页脚分隔线-358">
            <a:extLst>
              <a:ext uri="{FF2B5EF4-FFF2-40B4-BE49-F238E27FC236}">
                <a16:creationId xmlns:a16="http://schemas.microsoft.com/office/drawing/2014/main" id="{4418E377-CE7F-4CF5-A8E8-B115F6468D0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本例后端源地址说明针对 ELB 场景。终端节点类型与后端实例的安全控制分别核验。-359">
            <a:extLst>
              <a:ext uri="{FF2B5EF4-FFF2-40B4-BE49-F238E27FC236}">
                <a16:creationId xmlns:a16="http://schemas.microsoft.com/office/drawing/2014/main" id="{07303FA7-0595-411E-B143-91E5302AE85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本例后端源地址说明针对 ELB 场景。终端节点类型与后端实例的安全控制分别核验。</a:t>
            </a:r>
          </a:p>
        </p:txBody>
      </p:sp>
      <p:sp>
        <p:nvSpPr>
          <p:cNvPr id="6" name="统一风格-文字 34-360">
            <a:extLst>
              <a:ext uri="{FF2B5EF4-FFF2-40B4-BE49-F238E27FC236}">
                <a16:creationId xmlns:a16="http://schemas.microsoft.com/office/drawing/2014/main" id="{8A5872C1-44B9-4519-9365-B4DB5DCF637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统一风格-可编辑配置表玻璃后沿-361">
            <a:extLst>
              <a:ext uri="{FF2B5EF4-FFF2-40B4-BE49-F238E27FC236}">
                <a16:creationId xmlns:a16="http://schemas.microsoft.com/office/drawing/2014/main" id="{9AFD3EAF-A396-42C3-A5E8-539D91A7FED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62">
            <a:extLst>
              <a:ext uri="{FF2B5EF4-FFF2-40B4-BE49-F238E27FC236}">
                <a16:creationId xmlns:a16="http://schemas.microsoft.com/office/drawing/2014/main" id="{14AE74FA-53D3-4D64-9407-ABAA7DC79F7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63">
            <a:extLst>
              <a:ext uri="{FF2B5EF4-FFF2-40B4-BE49-F238E27FC236}">
                <a16:creationId xmlns:a16="http://schemas.microsoft.com/office/drawing/2014/main" id="{DAEA490B-01DC-4948-85E2-E412B2666673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64">
            <a:extLst>
              <a:ext uri="{FF2B5EF4-FFF2-40B4-BE49-F238E27FC236}">
                <a16:creationId xmlns:a16="http://schemas.microsoft.com/office/drawing/2014/main" id="{DDDA833E-7B54-43C6-AECB-01F5D1AA98E0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61521B-94A2-4ADE-9EA8-444EF7DE2097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终端节点和服务需同 Region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一个终端节点仅连接一个服务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按配置的 TCP / UDP 端口接入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保留应用鉴权与必要的传输加密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授权分工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账号授权、连接审批与源白名单分层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网络可达仍需应用鉴权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分别登记服务提供方与消费方权限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账号授权不能替代来源范围限制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后端源与日志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 ELB 后端不支持真实客户端 IP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后端需允许指定转发源的必要端口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按本例放通 198.19.128.0/17 必要端口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消费源限制与来源审计在对应入口落实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规格与控制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基础型、专业型的容量与流量类型不同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专业型终端节点不受 SG / ACL 限制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按新建连接、并发和吞吐压测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使用服务授权、白名单并另查后端策略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发布与变更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消费者、端口映射与资源数量有配额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替换服务、地址和域名会影响调用方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提前核验规格与区域支持能力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建立调用方清单，灰度变更并通知回收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923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统一风格-文字 02  网络互联与安全加固-1">
            <a:extLst>
              <a:ext uri="{FF2B5EF4-FFF2-40B4-BE49-F238E27FC236}">
                <a16:creationId xmlns:a16="http://schemas.microsoft.com/office/drawing/2014/main" id="{D69E28B9-23D7-4D3C-80C2-EB57CD42765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VPC 安全加固：网络边界与云服务权限-2">
            <a:extLst>
              <a:ext uri="{FF2B5EF4-FFF2-40B4-BE49-F238E27FC236}">
                <a16:creationId xmlns:a16="http://schemas.microsoft.com/office/drawing/2014/main" id="{E4300A51-3F99-4E0E-97C0-DB7FA69A7FF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安全加固：网络边界与云服务权限</a:t>
            </a:r>
          </a:p>
        </p:txBody>
      </p:sp>
      <p:sp>
        <p:nvSpPr>
          <p:cNvPr id="3" name="统一风格-文字 以业务访问清单收敛网络入口、出站依赖和资源权限-3">
            <a:extLst>
              <a:ext uri="{FF2B5EF4-FFF2-40B4-BE49-F238E27FC236}">
                <a16:creationId xmlns:a16="http://schemas.microsoft.com/office/drawing/2014/main" id="{918238E5-96D0-401D-BF1D-81CA9D077343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以业务访问清单收敛网络入口、出站依赖和资源权限</a:t>
            </a:r>
          </a:p>
        </p:txBody>
      </p:sp>
      <p:sp>
        <p:nvSpPr>
          <p:cNvPr id="4" name="统一风格-页脚分隔线-4">
            <a:extLst>
              <a:ext uri="{FF2B5EF4-FFF2-40B4-BE49-F238E27FC236}">
                <a16:creationId xmlns:a16="http://schemas.microsoft.com/office/drawing/2014/main" id="{7F04E3A1-65B8-4C0D-BB3A-D07430F1E53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以下为加固建议。SG、ACL、终端节点策略与云服务权限分别验证，不能仅凭私网可达判断安全。-5">
            <a:extLst>
              <a:ext uri="{FF2B5EF4-FFF2-40B4-BE49-F238E27FC236}">
                <a16:creationId xmlns:a16="http://schemas.microsoft.com/office/drawing/2014/main" id="{C037ADEF-A350-42C3-9581-C2C35B57C4D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以下为加固建议。SG、ACL、终端节点策略与云服务权限分别验证，不能仅凭私网可达判断安全。</a:t>
            </a:r>
          </a:p>
        </p:txBody>
      </p:sp>
      <p:sp>
        <p:nvSpPr>
          <p:cNvPr id="6" name="统一风格-文字 35-6">
            <a:extLst>
              <a:ext uri="{FF2B5EF4-FFF2-40B4-BE49-F238E27FC236}">
                <a16:creationId xmlns:a16="http://schemas.microsoft.com/office/drawing/2014/main" id="{1F7A81EC-9FBB-430E-AF74-99D2FF424A5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7" name="统一风格-网络边界玻璃后沿-7">
            <a:extLst>
              <a:ext uri="{FF2B5EF4-FFF2-40B4-BE49-F238E27FC236}">
                <a16:creationId xmlns:a16="http://schemas.microsoft.com/office/drawing/2014/main" id="{52BCA92A-97E8-44DA-8AB4-5F3E83C5B14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网络边界-8">
            <a:extLst>
              <a:ext uri="{FF2B5EF4-FFF2-40B4-BE49-F238E27FC236}">
                <a16:creationId xmlns:a16="http://schemas.microsoft.com/office/drawing/2014/main" id="{B4C7A74F-849E-43F1-9B4C-03AB77BFBACE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网络边界玻璃内沿-9">
            <a:extLst>
              <a:ext uri="{FF2B5EF4-FFF2-40B4-BE49-F238E27FC236}">
                <a16:creationId xmlns:a16="http://schemas.microsoft.com/office/drawing/2014/main" id="{3CC0B255-13D8-4B6E-939E-13C69029E391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网络边界边缘高光-10">
            <a:extLst>
              <a:ext uri="{FF2B5EF4-FFF2-40B4-BE49-F238E27FC236}">
                <a16:creationId xmlns:a16="http://schemas.microsoft.com/office/drawing/2014/main" id="{E8564FED-BCB4-4F25-8C43-B69C8398913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shield 安全盾-11">
            <a:extLst>
              <a:ext uri="{FF2B5EF4-FFF2-40B4-BE49-F238E27FC236}">
                <a16:creationId xmlns:a16="http://schemas.microsoft.com/office/drawing/2014/main" id="{1683FE30-05FC-4DB8-B7F1-2CBF5960CD36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hield 核验标记-12">
            <a:extLst>
              <a:ext uri="{FF2B5EF4-FFF2-40B4-BE49-F238E27FC236}">
                <a16:creationId xmlns:a16="http://schemas.microsoft.com/office/drawing/2014/main" id="{DE2562FF-4140-4A37-A83B-C6C66D17A4C6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网络边界-13">
            <a:extLst>
              <a:ext uri="{FF2B5EF4-FFF2-40B4-BE49-F238E27FC236}">
                <a16:creationId xmlns:a16="http://schemas.microsoft.com/office/drawing/2014/main" id="{3D80F497-E620-4BA7-BA0A-C6772967CE66}"/>
              </a:ext>
            </a:extLst>
          </p:cNvPr>
          <p:cNvSpPr>
            <a:spLocks noGrp="1"/>
          </p:cNvSpPr>
          <p:nvPr/>
        </p:nvSpPr>
        <p:spPr>
          <a:xfrm>
            <a:off x="1447800" y="2286000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网络边界</a:t>
            </a:r>
          </a:p>
        </p:txBody>
      </p:sp>
      <p:sp>
        <p:nvSpPr>
          <p:cNvPr id="14" name="统一风格-文字 生产与开发按业务域隔离 源、目的安全组按必要端口放行 公网入口与出站依赖分别收口-14">
            <a:extLst>
              <a:ext uri="{FF2B5EF4-FFF2-40B4-BE49-F238E27FC236}">
                <a16:creationId xmlns:a16="http://schemas.microsoft.com/office/drawing/2014/main" id="{6DC34D5B-0C33-4E0A-B610-D9AF7C1C29D9}"/>
              </a:ext>
            </a:extLst>
          </p:cNvPr>
          <p:cNvSpPr>
            <a:spLocks noGrp="1"/>
          </p:cNvSpPr>
          <p:nvPr/>
        </p:nvSpPr>
        <p:spPr>
          <a:xfrm>
            <a:off x="1447800" y="2790825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生产与开发按业务域隔离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源、目的安全组按必要端口放行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公网入口与出站依赖分别收口</a:t>
            </a:r>
          </a:p>
        </p:txBody>
      </p:sp>
      <p:sp>
        <p:nvSpPr>
          <p:cNvPr id="15" name="统一风格-私网通道玻璃后沿-15">
            <a:extLst>
              <a:ext uri="{FF2B5EF4-FFF2-40B4-BE49-F238E27FC236}">
                <a16:creationId xmlns:a16="http://schemas.microsoft.com/office/drawing/2014/main" id="{FE27DE28-2597-42DE-8C1F-80B625F74C2D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私网通道-16">
            <a:extLst>
              <a:ext uri="{FF2B5EF4-FFF2-40B4-BE49-F238E27FC236}">
                <a16:creationId xmlns:a16="http://schemas.microsoft.com/office/drawing/2014/main" id="{01851456-CA19-44DA-9A6A-4C9BB7E2F2BF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私网通道玻璃内沿-17">
            <a:extLst>
              <a:ext uri="{FF2B5EF4-FFF2-40B4-BE49-F238E27FC236}">
                <a16:creationId xmlns:a16="http://schemas.microsoft.com/office/drawing/2014/main" id="{6ABFAE30-C68F-4AC0-8EE1-BC2A455CC3B1}"/>
              </a:ext>
            </a:extLst>
          </p:cNvPr>
          <p:cNvSpPr>
            <a:spLocks noGrp="1"/>
          </p:cNvSpPr>
          <p:nvPr/>
        </p:nvSpPr>
        <p:spPr>
          <a:xfrm>
            <a:off x="6337459" y="2127409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私网通道边缘高光-18">
            <a:extLst>
              <a:ext uri="{FF2B5EF4-FFF2-40B4-BE49-F238E27FC236}">
                <a16:creationId xmlns:a16="http://schemas.microsoft.com/office/drawing/2014/main" id="{ACBFBA74-1C2C-4069-928B-B999D113A86C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终端节点图标-19">
            <a:extLst>
              <a:ext uri="{FF2B5EF4-FFF2-40B4-BE49-F238E27FC236}">
                <a16:creationId xmlns:a16="http://schemas.microsoft.com/office/drawing/2014/main" id="{1B740F68-43E7-45C0-8C93-B0C015C921CF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终端节点服务端口-20">
            <a:extLst>
              <a:ext uri="{FF2B5EF4-FFF2-40B4-BE49-F238E27FC236}">
                <a16:creationId xmlns:a16="http://schemas.microsoft.com/office/drawing/2014/main" id="{F8DABD86-257E-4558-8315-298152BB0E62}"/>
              </a:ext>
            </a:extLst>
          </p:cNvPr>
          <p:cNvSpPr>
            <a:spLocks noGrp="1"/>
          </p:cNvSpPr>
          <p:nvPr/>
        </p:nvSpPr>
        <p:spPr>
          <a:xfrm>
            <a:off x="6534150" y="2286000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私网通道-21">
            <a:extLst>
              <a:ext uri="{FF2B5EF4-FFF2-40B4-BE49-F238E27FC236}">
                <a16:creationId xmlns:a16="http://schemas.microsoft.com/office/drawing/2014/main" id="{C7FC17CE-CB26-4E33-92C8-C6EC06AB7EA0}"/>
              </a:ext>
            </a:extLst>
          </p:cNvPr>
          <p:cNvSpPr>
            <a:spLocks noGrp="1"/>
          </p:cNvSpPr>
          <p:nvPr/>
        </p:nvSpPr>
        <p:spPr>
          <a:xfrm>
            <a:off x="7162800" y="2286000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私网通道</a:t>
            </a:r>
          </a:p>
        </p:txBody>
      </p:sp>
      <p:sp>
        <p:nvSpPr>
          <p:cNvPr id="22" name="统一风格-文字 核对区域服务、终端节点与 DNS 按能力选择内网访问或 VPCEP 持续使用 HTTPS 与证书校验-22">
            <a:extLst>
              <a:ext uri="{FF2B5EF4-FFF2-40B4-BE49-F238E27FC236}">
                <a16:creationId xmlns:a16="http://schemas.microsoft.com/office/drawing/2014/main" id="{0335C073-E9AD-487F-BA2C-E065B103D743}"/>
              </a:ext>
            </a:extLst>
          </p:cNvPr>
          <p:cNvSpPr>
            <a:spLocks noGrp="1"/>
          </p:cNvSpPr>
          <p:nvPr/>
        </p:nvSpPr>
        <p:spPr>
          <a:xfrm>
            <a:off x="7162800" y="2790825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核对区域服务、终端节点与 DNS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按能力选择内网访问或 VPCEP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持续使用 HTTPS 与证书校验</a:t>
            </a:r>
          </a:p>
        </p:txBody>
      </p:sp>
      <p:sp>
        <p:nvSpPr>
          <p:cNvPr id="23" name="统一风格-身份权限玻璃后沿-23">
            <a:extLst>
              <a:ext uri="{FF2B5EF4-FFF2-40B4-BE49-F238E27FC236}">
                <a16:creationId xmlns:a16="http://schemas.microsoft.com/office/drawing/2014/main" id="{71A79B1C-C666-439A-987A-5562F6543D1D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身份权限-24">
            <a:extLst>
              <a:ext uri="{FF2B5EF4-FFF2-40B4-BE49-F238E27FC236}">
                <a16:creationId xmlns:a16="http://schemas.microsoft.com/office/drawing/2014/main" id="{46350502-0BB4-4BFA-8BA5-83E08F46FD8D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身份权限玻璃内沿-25">
            <a:extLst>
              <a:ext uri="{FF2B5EF4-FFF2-40B4-BE49-F238E27FC236}">
                <a16:creationId xmlns:a16="http://schemas.microsoft.com/office/drawing/2014/main" id="{A07FD516-8E50-472B-B559-34494CA79DAD}"/>
              </a:ext>
            </a:extLst>
          </p:cNvPr>
          <p:cNvSpPr>
            <a:spLocks noGrp="1"/>
          </p:cNvSpPr>
          <p:nvPr/>
        </p:nvSpPr>
        <p:spPr>
          <a:xfrm>
            <a:off x="622459" y="4041934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身份权限边缘高光-26">
            <a:extLst>
              <a:ext uri="{FF2B5EF4-FFF2-40B4-BE49-F238E27FC236}">
                <a16:creationId xmlns:a16="http://schemas.microsoft.com/office/drawing/2014/main" id="{009F4FAA-742A-4CF1-B96A-D53E64FD7863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lock 安全盾-27">
            <a:extLst>
              <a:ext uri="{FF2B5EF4-FFF2-40B4-BE49-F238E27FC236}">
                <a16:creationId xmlns:a16="http://schemas.microsoft.com/office/drawing/2014/main" id="{2E65A9E5-B709-4265-8102-BBEB2CF8E492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lock 锁梁-28">
            <a:extLst>
              <a:ext uri="{FF2B5EF4-FFF2-40B4-BE49-F238E27FC236}">
                <a16:creationId xmlns:a16="http://schemas.microsoft.com/office/drawing/2014/main" id="{4C8A5594-4A7C-4873-8D51-1586F721A778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lock 锁体-29">
            <a:extLst>
              <a:ext uri="{FF2B5EF4-FFF2-40B4-BE49-F238E27FC236}">
                <a16:creationId xmlns:a16="http://schemas.microsoft.com/office/drawing/2014/main" id="{5DCD367E-9945-4C9E-829C-F66FF86CB015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lock 锁孔-30">
            <a:extLst>
              <a:ext uri="{FF2B5EF4-FFF2-40B4-BE49-F238E27FC236}">
                <a16:creationId xmlns:a16="http://schemas.microsoft.com/office/drawing/2014/main" id="{F58FE305-291A-4A5E-A9CB-4F166D13E526}"/>
              </a:ext>
            </a:extLst>
          </p:cNvPr>
          <p:cNvSpPr>
            <a:spLocks noGrp="1"/>
          </p:cNvSpPr>
          <p:nvPr/>
        </p:nvSpPr>
        <p:spPr>
          <a:xfrm>
            <a:off x="819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身份权限-31">
            <a:extLst>
              <a:ext uri="{FF2B5EF4-FFF2-40B4-BE49-F238E27FC236}">
                <a16:creationId xmlns:a16="http://schemas.microsoft.com/office/drawing/2014/main" id="{0BD52925-4244-4032-A4E4-164984E243F3}"/>
              </a:ext>
            </a:extLst>
          </p:cNvPr>
          <p:cNvSpPr>
            <a:spLocks noGrp="1"/>
          </p:cNvSpPr>
          <p:nvPr/>
        </p:nvSpPr>
        <p:spPr>
          <a:xfrm>
            <a:off x="1447800" y="4200525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身份权限</a:t>
            </a:r>
          </a:p>
        </p:txBody>
      </p:sp>
      <p:sp>
        <p:nvSpPr>
          <p:cNvPr id="32" name="统一风格-文字 优先使用受控委托与临时凭证 权限限定到桶、对象或镜像仓库 读取、上传与管理权限分离-32">
            <a:extLst>
              <a:ext uri="{FF2B5EF4-FFF2-40B4-BE49-F238E27FC236}">
                <a16:creationId xmlns:a16="http://schemas.microsoft.com/office/drawing/2014/main" id="{C8A1A38D-9A94-44FC-B9C5-8E39DC6C0F2F}"/>
              </a:ext>
            </a:extLst>
          </p:cNvPr>
          <p:cNvSpPr>
            <a:spLocks noGrp="1"/>
          </p:cNvSpPr>
          <p:nvPr/>
        </p:nvSpPr>
        <p:spPr>
          <a:xfrm>
            <a:off x="1447800" y="4705350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优先使用受控委托与临时凭证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权限限定到桶、对象或镜像仓库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读取、上传与管理权限分离</a:t>
            </a:r>
          </a:p>
        </p:txBody>
      </p:sp>
      <p:sp>
        <p:nvSpPr>
          <p:cNvPr id="33" name="统一风格-审计验证玻璃后沿-33">
            <a:extLst>
              <a:ext uri="{FF2B5EF4-FFF2-40B4-BE49-F238E27FC236}">
                <a16:creationId xmlns:a16="http://schemas.microsoft.com/office/drawing/2014/main" id="{82A7FA0D-9B6F-45D7-A185-D67CFA12F618}"/>
              </a:ext>
            </a:extLst>
          </p:cNvPr>
          <p:cNvSpPr>
            <a:spLocks noGrp="1"/>
          </p:cNvSpPr>
          <p:nvPr/>
        </p:nvSpPr>
        <p:spPr>
          <a:xfrm>
            <a:off x="6324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审计验证-34">
            <a:extLst>
              <a:ext uri="{FF2B5EF4-FFF2-40B4-BE49-F238E27FC236}">
                <a16:creationId xmlns:a16="http://schemas.microsoft.com/office/drawing/2014/main" id="{D7D1BAE9-85EE-4CDA-B3A3-B7EFA875758E}"/>
              </a:ext>
            </a:extLst>
          </p:cNvPr>
          <p:cNvSpPr>
            <a:spLocks noGrp="1"/>
          </p:cNvSpPr>
          <p:nvPr/>
        </p:nvSpPr>
        <p:spPr>
          <a:xfrm>
            <a:off x="6324600" y="4029075"/>
            <a:ext cx="5257800" cy="1676400"/>
          </a:xfrm>
          <a:prstGeom prst="roundRect">
            <a:avLst>
              <a:gd name="adj" fmla="val 511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审计验证玻璃内沿-35">
            <a:extLst>
              <a:ext uri="{FF2B5EF4-FFF2-40B4-BE49-F238E27FC236}">
                <a16:creationId xmlns:a16="http://schemas.microsoft.com/office/drawing/2014/main" id="{69F12A0B-2674-4282-B58F-25387F000462}"/>
              </a:ext>
            </a:extLst>
          </p:cNvPr>
          <p:cNvSpPr>
            <a:spLocks noGrp="1"/>
          </p:cNvSpPr>
          <p:nvPr/>
        </p:nvSpPr>
        <p:spPr>
          <a:xfrm>
            <a:off x="6337459" y="4041934"/>
            <a:ext cx="5232083" cy="1650683"/>
          </a:xfrm>
          <a:prstGeom prst="roundRect">
            <a:avLst>
              <a:gd name="adj" fmla="val 44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审计验证边缘高光-36">
            <a:extLst>
              <a:ext uri="{FF2B5EF4-FFF2-40B4-BE49-F238E27FC236}">
                <a16:creationId xmlns:a16="http://schemas.microsoft.com/office/drawing/2014/main" id="{AF2F035F-8C2B-457C-A611-594413722A52}"/>
              </a:ext>
            </a:extLst>
          </p:cNvPr>
          <p:cNvSpPr>
            <a:spLocks noGrp="1"/>
          </p:cNvSpPr>
          <p:nvPr/>
        </p:nvSpPr>
        <p:spPr>
          <a:xfrm>
            <a:off x="6324600" y="4029075"/>
            <a:ext cx="5257800" cy="1676400"/>
          </a:xfrm>
          <a:custGeom>
            <a:avLst/>
            <a:gdLst/>
            <a:ahLst/>
            <a:cxnLst/>
            <a:rect l="0" t="0" r="0" b="0"/>
            <a:pathLst>
              <a:path w="5257800" h="167640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doc 规则文档-37">
            <a:extLst>
              <a:ext uri="{FF2B5EF4-FFF2-40B4-BE49-F238E27FC236}">
                <a16:creationId xmlns:a16="http://schemas.microsoft.com/office/drawing/2014/main" id="{9AE0E236-C2DB-4222-8C70-987028F17ECE}"/>
              </a:ext>
            </a:extLst>
          </p:cNvPr>
          <p:cNvSpPr>
            <a:spLocks noGrp="1"/>
          </p:cNvSpPr>
          <p:nvPr/>
        </p:nvSpPr>
        <p:spPr>
          <a:xfrm>
            <a:off x="6534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doc 文档折角-38">
            <a:extLst>
              <a:ext uri="{FF2B5EF4-FFF2-40B4-BE49-F238E27FC236}">
                <a16:creationId xmlns:a16="http://schemas.microsoft.com/office/drawing/2014/main" id="{44D3CEAB-36A0-4E87-83BC-F5A694D991AB}"/>
              </a:ext>
            </a:extLst>
          </p:cNvPr>
          <p:cNvSpPr>
            <a:spLocks noGrp="1"/>
          </p:cNvSpPr>
          <p:nvPr/>
        </p:nvSpPr>
        <p:spPr>
          <a:xfrm>
            <a:off x="6534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doc 规则条目-39">
            <a:extLst>
              <a:ext uri="{FF2B5EF4-FFF2-40B4-BE49-F238E27FC236}">
                <a16:creationId xmlns:a16="http://schemas.microsoft.com/office/drawing/2014/main" id="{1154EF7C-569E-4109-9933-48AFB7AF9129}"/>
              </a:ext>
            </a:extLst>
          </p:cNvPr>
          <p:cNvSpPr>
            <a:spLocks noGrp="1"/>
          </p:cNvSpPr>
          <p:nvPr/>
        </p:nvSpPr>
        <p:spPr>
          <a:xfrm>
            <a:off x="6534150" y="420052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445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文字 审计验证-40">
            <a:extLst>
              <a:ext uri="{FF2B5EF4-FFF2-40B4-BE49-F238E27FC236}">
                <a16:creationId xmlns:a16="http://schemas.microsoft.com/office/drawing/2014/main" id="{C2131383-6535-4A01-9B87-D017E2B1461D}"/>
              </a:ext>
            </a:extLst>
          </p:cNvPr>
          <p:cNvSpPr>
            <a:spLocks noGrp="1"/>
          </p:cNvSpPr>
          <p:nvPr/>
        </p:nvSpPr>
        <p:spPr>
          <a:xfrm>
            <a:off x="7162800" y="4200525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审计验证</a:t>
            </a:r>
          </a:p>
        </p:txBody>
      </p:sp>
      <p:sp>
        <p:nvSpPr>
          <p:cNvPr id="41" name="统一风格-文字 同时验证实际路径和授权结果 未批准来源、资源与操作应拒绝 保留日志、策略前态与回退方案-41">
            <a:extLst>
              <a:ext uri="{FF2B5EF4-FFF2-40B4-BE49-F238E27FC236}">
                <a16:creationId xmlns:a16="http://schemas.microsoft.com/office/drawing/2014/main" id="{96FFF4B4-A83E-4418-BEC3-B5553FA132C2}"/>
              </a:ext>
            </a:extLst>
          </p:cNvPr>
          <p:cNvSpPr>
            <a:spLocks noGrp="1"/>
          </p:cNvSpPr>
          <p:nvPr/>
        </p:nvSpPr>
        <p:spPr>
          <a:xfrm>
            <a:off x="7162800" y="4705350"/>
            <a:ext cx="41719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同时验证实际路径和授权结果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未批准来源、资源与操作应拒绝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保留日志、策略前态与回退方案</a:t>
            </a:r>
          </a:p>
        </p:txBody>
      </p:sp>
    </p:spTree>
    <p:extLst>
      <p:ext uri="{BB962C8B-B14F-4D97-AF65-F5344CB8AC3E}">
        <p14:creationId xmlns:p14="http://schemas.microsoft.com/office/powerpoint/2010/main" val="625632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42">
            <a:extLst>
              <a:ext uri="{FF2B5EF4-FFF2-40B4-BE49-F238E27FC236}">
                <a16:creationId xmlns:a16="http://schemas.microsoft.com/office/drawing/2014/main" id="{B97650DF-6BC4-4791-B7B5-5EC946913C3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访问 OBS、SWR：通道与授权分层加固-43">
            <a:extLst>
              <a:ext uri="{FF2B5EF4-FFF2-40B4-BE49-F238E27FC236}">
                <a16:creationId xmlns:a16="http://schemas.microsoft.com/office/drawing/2014/main" id="{781BEA34-FE8D-4073-90D3-E08923F8A04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 OBS、SWR：通道与授权分层加固</a:t>
            </a:r>
          </a:p>
        </p:txBody>
      </p:sp>
      <p:sp>
        <p:nvSpPr>
          <p:cNvPr id="3" name="统一风格-文字 内网链路减少公网依赖，数据与镜像的使用范围由资源权限继续约束-44">
            <a:extLst>
              <a:ext uri="{FF2B5EF4-FFF2-40B4-BE49-F238E27FC236}">
                <a16:creationId xmlns:a16="http://schemas.microsoft.com/office/drawing/2014/main" id="{78A34907-5A3F-443D-B38B-66B7F8E2FE7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内网链路减少公网依赖，数据与镜像的使用范围由资源权限继续约束</a:t>
            </a:r>
          </a:p>
        </p:txBody>
      </p:sp>
      <p:sp>
        <p:nvSpPr>
          <p:cNvPr id="4" name="统一风格-页脚分隔线-45">
            <a:extLst>
              <a:ext uri="{FF2B5EF4-FFF2-40B4-BE49-F238E27FC236}">
                <a16:creationId xmlns:a16="http://schemas.microsoft.com/office/drawing/2014/main" id="{1A9E9492-D612-4DC0-8DCD-EE4417FFCFA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OBS、SWR 的托管服务与用户侧接入资源分别管理。私网通道不会自动授予桶或镜像权限。-46">
            <a:extLst>
              <a:ext uri="{FF2B5EF4-FFF2-40B4-BE49-F238E27FC236}">
                <a16:creationId xmlns:a16="http://schemas.microsoft.com/office/drawing/2014/main" id="{306981B6-3CF1-45BA-A993-35FB929646B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OBS、SWR 的托管服务与用户侧接入资源分别管理。私网通道不会自动授予桶或镜像权限。</a:t>
            </a:r>
          </a:p>
        </p:txBody>
      </p:sp>
      <p:sp>
        <p:nvSpPr>
          <p:cNvPr id="6" name="统一风格-文字 36-47">
            <a:extLst>
              <a:ext uri="{FF2B5EF4-FFF2-40B4-BE49-F238E27FC236}">
                <a16:creationId xmlns:a16="http://schemas.microsoft.com/office/drawing/2014/main" id="{D4180A8E-A6DC-4560-B775-9C1BC15924D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统一风格-可编辑配置表玻璃后沿-48">
            <a:extLst>
              <a:ext uri="{FF2B5EF4-FFF2-40B4-BE49-F238E27FC236}">
                <a16:creationId xmlns:a16="http://schemas.microsoft.com/office/drawing/2014/main" id="{F7852249-C499-4E01-8D0B-1FABE993EA1E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49">
            <a:extLst>
              <a:ext uri="{FF2B5EF4-FFF2-40B4-BE49-F238E27FC236}">
                <a16:creationId xmlns:a16="http://schemas.microsoft.com/office/drawing/2014/main" id="{EE64DE9C-79D3-45C3-B0BB-D4D5F2A7AF2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50">
            <a:extLst>
              <a:ext uri="{FF2B5EF4-FFF2-40B4-BE49-F238E27FC236}">
                <a16:creationId xmlns:a16="http://schemas.microsoft.com/office/drawing/2014/main" id="{49BCC327-F642-4368-9186-3CBB1D0A1545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51">
            <a:extLst>
              <a:ext uri="{FF2B5EF4-FFF2-40B4-BE49-F238E27FC236}">
                <a16:creationId xmlns:a16="http://schemas.microsoft.com/office/drawing/2014/main" id="{A471AD9A-B134-4D5A-B4A1-F9E2B5246AC5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2C8848-9104-4C80-B6A6-E5B76FDC49BD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加固重点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加固重点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通道与解析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内网 DNS / VPCEP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确认实际使用的服务端点与路径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基础版默认内网或 SWR VPCEP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企业版使用已批准的内网访问 VPC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出口资源范围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终端节点策略仅允许目标桶和必要操作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覆盖镜像下载等已核准依赖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网络仅访问必需的注册表与数据依赖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基础版镜像层涉及 OBS 的范围单独核验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服务资源权限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桶策略限定来源 VPC / 终端节点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私有数据避免匿名或公开授权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仓库私有属性、账号与仓库权限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运行时仅拉取，构建流程按需推送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身份与传输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IAM 委托或临时凭证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按桶 / 前缀授权，强制 HTTPS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按版本使用受控登录凭证或 CCE 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更新凭证并保留 TLS 证书校验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批准读写成功，越权和非批准来源拒绝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结合桶访问日志与相应审计事件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新节点完整拉取未缓存镜像成功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未批准推送、仓库和身份访问被拒绝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45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统一风格-文字 02  网络互联与安全加固-52">
            <a:extLst>
              <a:ext uri="{FF2B5EF4-FFF2-40B4-BE49-F238E27FC236}">
                <a16:creationId xmlns:a16="http://schemas.microsoft.com/office/drawing/2014/main" id="{BE87AC59-5F18-47C4-A98B-B4867B7E3EA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 双端固定：出口与桶两侧同时收口-53">
            <a:extLst>
              <a:ext uri="{FF2B5EF4-FFF2-40B4-BE49-F238E27FC236}">
                <a16:creationId xmlns:a16="http://schemas.microsoft.com/office/drawing/2014/main" id="{9A504C84-893A-4F15-B698-E468D31D2EA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双端固定：出口与桶两侧同时收口</a:t>
            </a:r>
          </a:p>
        </p:txBody>
      </p:sp>
      <p:sp>
        <p:nvSpPr>
          <p:cNvPr id="3" name="统一风格-文字 出口限制能访问哪些 OBS 资源，桶侧限制哪些 VPC 或终端节点可以访问-54">
            <a:extLst>
              <a:ext uri="{FF2B5EF4-FFF2-40B4-BE49-F238E27FC236}">
                <a16:creationId xmlns:a16="http://schemas.microsoft.com/office/drawing/2014/main" id="{7EE2F5D3-A37E-445A-B185-4D2C6C58264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出口限制能访问哪些 OBS 资源，桶侧限制哪些 VPC 或终端节点可以访问</a:t>
            </a:r>
          </a:p>
        </p:txBody>
      </p:sp>
      <p:sp>
        <p:nvSpPr>
          <p:cNvPr id="4" name="统一风格-页脚分隔线-55">
            <a:extLst>
              <a:ext uri="{FF2B5EF4-FFF2-40B4-BE49-F238E27FC236}">
                <a16:creationId xmlns:a16="http://schemas.microsoft.com/office/drawing/2014/main" id="{31053FDC-0B88-4825-B5C9-A5813BD32D9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终端节点与桶策略都收口后，仍需 IAM 身份具备相应权限；显式 Deny 优先，策略变更须验证实际请求。-56">
            <a:extLst>
              <a:ext uri="{FF2B5EF4-FFF2-40B4-BE49-F238E27FC236}">
                <a16:creationId xmlns:a16="http://schemas.microsoft.com/office/drawing/2014/main" id="{7AF858FE-DA3D-430C-B182-F6CA9D54B92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终端节点与桶策略都收口后，仍需 IAM 身份具备相应权限；显式 Deny 优先，策略变更须验证实际请求。</a:t>
            </a:r>
          </a:p>
        </p:txBody>
      </p:sp>
      <p:sp>
        <p:nvSpPr>
          <p:cNvPr id="6" name="统一风格-文字 37-57">
            <a:extLst>
              <a:ext uri="{FF2B5EF4-FFF2-40B4-BE49-F238E27FC236}">
                <a16:creationId xmlns:a16="http://schemas.microsoft.com/office/drawing/2014/main" id="{C5B540CA-439A-4435-AFC1-1887EC3D63C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7" name="统一风格-业务 VPC-A玻璃后沿-58">
            <a:extLst>
              <a:ext uri="{FF2B5EF4-FFF2-40B4-BE49-F238E27FC236}">
                <a16:creationId xmlns:a16="http://schemas.microsoft.com/office/drawing/2014/main" id="{75D7B51A-D02E-482A-A5E8-CCB2E708DA17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9908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业务 VPC-A-59">
            <a:extLst>
              <a:ext uri="{FF2B5EF4-FFF2-40B4-BE49-F238E27FC236}">
                <a16:creationId xmlns:a16="http://schemas.microsoft.com/office/drawing/2014/main" id="{72D01247-018E-4876-BB16-3C2CB016726B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9908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业务 VPC-A玻璃内沿-60">
            <a:extLst>
              <a:ext uri="{FF2B5EF4-FFF2-40B4-BE49-F238E27FC236}">
                <a16:creationId xmlns:a16="http://schemas.microsoft.com/office/drawing/2014/main" id="{31BB7081-B2D7-4D7A-A148-0DC4DB9529EA}"/>
              </a:ext>
            </a:extLst>
          </p:cNvPr>
          <p:cNvSpPr>
            <a:spLocks noGrp="1"/>
          </p:cNvSpPr>
          <p:nvPr/>
        </p:nvSpPr>
        <p:spPr>
          <a:xfrm>
            <a:off x="622459" y="2203609"/>
            <a:ext cx="296513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业务 VPC-A边缘高光-61">
            <a:extLst>
              <a:ext uri="{FF2B5EF4-FFF2-40B4-BE49-F238E27FC236}">
                <a16:creationId xmlns:a16="http://schemas.microsoft.com/office/drawing/2014/main" id="{93F27DBC-CC85-411F-B6EA-140748EBBB4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990850" cy="1190625"/>
          </a:xfrm>
          <a:custGeom>
            <a:avLst/>
            <a:gdLst/>
            <a:ahLst/>
            <a:cxnLst/>
            <a:rect l="0" t="0" r="0" b="0"/>
            <a:pathLst>
              <a:path w="2990850" h="1190625">
                <a:moveTo>
                  <a:pt x="95250" y="9525"/>
                </a:moveTo>
                <a:lnTo>
                  <a:pt x="2895600" y="9525"/>
                </a:lnTo>
                <a:cubicBezTo>
                  <a:pt x="2943225" y="9525"/>
                  <a:pt x="2981325" y="47625"/>
                  <a:pt x="2981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loud VPC 云轮廓-62">
            <a:extLst>
              <a:ext uri="{FF2B5EF4-FFF2-40B4-BE49-F238E27FC236}">
                <a16:creationId xmlns:a16="http://schemas.microsoft.com/office/drawing/2014/main" id="{3D7006F3-800A-48C4-83A1-3971893E372C}"/>
              </a:ext>
            </a:extLst>
          </p:cNvPr>
          <p:cNvSpPr>
            <a:spLocks noGrp="1"/>
          </p:cNvSpPr>
          <p:nvPr/>
        </p:nvSpPr>
        <p:spPr>
          <a:xfrm>
            <a:off x="7715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业务 VPC-A-63">
            <a:extLst>
              <a:ext uri="{FF2B5EF4-FFF2-40B4-BE49-F238E27FC236}">
                <a16:creationId xmlns:a16="http://schemas.microsoft.com/office/drawing/2014/main" id="{17BF6708-581B-444E-85EE-CA405CE171A0}"/>
              </a:ext>
            </a:extLst>
          </p:cNvPr>
          <p:cNvSpPr>
            <a:spLocks noGrp="1"/>
          </p:cNvSpPr>
          <p:nvPr/>
        </p:nvSpPr>
        <p:spPr>
          <a:xfrm>
            <a:off x="1419225" y="2357438"/>
            <a:ext cx="2019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VPC-A</a:t>
            </a:r>
          </a:p>
        </p:txBody>
      </p:sp>
      <p:sp>
        <p:nvSpPr>
          <p:cNvPr id="13" name="统一风格-文字 ECS / CCE 应用 受控身份与私网 DNS-64">
            <a:extLst>
              <a:ext uri="{FF2B5EF4-FFF2-40B4-BE49-F238E27FC236}">
                <a16:creationId xmlns:a16="http://schemas.microsoft.com/office/drawing/2014/main" id="{791B84A3-0885-4E11-B48B-89FCF3B4E379}"/>
              </a:ext>
            </a:extLst>
          </p:cNvPr>
          <p:cNvSpPr>
            <a:spLocks noGrp="1"/>
          </p:cNvSpPr>
          <p:nvPr/>
        </p:nvSpPr>
        <p:spPr>
          <a:xfrm>
            <a:off x="1419225" y="2757488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ECS / CCE 应用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受控身份与私网 DNS</a:t>
            </a:r>
          </a:p>
        </p:txBody>
      </p:sp>
      <p:sp>
        <p:nvSpPr>
          <p:cNvPr id="14" name="统一风格-OBS 终端节点玻璃后沿-65">
            <a:extLst>
              <a:ext uri="{FF2B5EF4-FFF2-40B4-BE49-F238E27FC236}">
                <a16:creationId xmlns:a16="http://schemas.microsoft.com/office/drawing/2014/main" id="{BB15B124-F50E-41CF-90D7-3387782CA48D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337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OBS 终端节点-66">
            <a:extLst>
              <a:ext uri="{FF2B5EF4-FFF2-40B4-BE49-F238E27FC236}">
                <a16:creationId xmlns:a16="http://schemas.microsoft.com/office/drawing/2014/main" id="{5A2B4673-E4A0-4BCA-B20C-369E268A552C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3375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OBS 终端节点玻璃内沿-67">
            <a:extLst>
              <a:ext uri="{FF2B5EF4-FFF2-40B4-BE49-F238E27FC236}">
                <a16:creationId xmlns:a16="http://schemas.microsoft.com/office/drawing/2014/main" id="{3A4A2358-8E98-4B99-BEC4-23C7AB1A1FF7}"/>
              </a:ext>
            </a:extLst>
          </p:cNvPr>
          <p:cNvSpPr>
            <a:spLocks noGrp="1"/>
          </p:cNvSpPr>
          <p:nvPr/>
        </p:nvSpPr>
        <p:spPr>
          <a:xfrm>
            <a:off x="4280059" y="2203609"/>
            <a:ext cx="330803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OBS 终端节点边缘高光-68">
            <a:extLst>
              <a:ext uri="{FF2B5EF4-FFF2-40B4-BE49-F238E27FC236}">
                <a16:creationId xmlns:a16="http://schemas.microsoft.com/office/drawing/2014/main" id="{D57E19A4-2427-4246-A0C5-3E171374BB4B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33750" cy="1190625"/>
          </a:xfrm>
          <a:custGeom>
            <a:avLst/>
            <a:gdLst/>
            <a:ahLst/>
            <a:cxnLst/>
            <a:rect l="0" t="0" r="0" b="0"/>
            <a:pathLst>
              <a:path w="3333750" h="1190625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终端节点图标-69">
            <a:extLst>
              <a:ext uri="{FF2B5EF4-FFF2-40B4-BE49-F238E27FC236}">
                <a16:creationId xmlns:a16="http://schemas.microsoft.com/office/drawing/2014/main" id="{BEE46B0E-59D5-404D-BB8A-9F7D955FBC1E}"/>
              </a:ext>
            </a:extLst>
          </p:cNvPr>
          <p:cNvSpPr>
            <a:spLocks noGrp="1"/>
          </p:cNvSpPr>
          <p:nvPr/>
        </p:nvSpPr>
        <p:spPr>
          <a:xfrm>
            <a:off x="44291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终端节点服务端口-70">
            <a:extLst>
              <a:ext uri="{FF2B5EF4-FFF2-40B4-BE49-F238E27FC236}">
                <a16:creationId xmlns:a16="http://schemas.microsoft.com/office/drawing/2014/main" id="{DD90FB1D-1E42-4DDA-9B51-925F7A272519}"/>
              </a:ext>
            </a:extLst>
          </p:cNvPr>
          <p:cNvSpPr>
            <a:spLocks noGrp="1"/>
          </p:cNvSpPr>
          <p:nvPr/>
        </p:nvSpPr>
        <p:spPr>
          <a:xfrm>
            <a:off x="44291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文字 OBS 终端节点-71">
            <a:extLst>
              <a:ext uri="{FF2B5EF4-FFF2-40B4-BE49-F238E27FC236}">
                <a16:creationId xmlns:a16="http://schemas.microsoft.com/office/drawing/2014/main" id="{21789D67-F037-4890-A07F-6BC25288DD81}"/>
              </a:ext>
            </a:extLst>
          </p:cNvPr>
          <p:cNvSpPr>
            <a:spLocks noGrp="1"/>
          </p:cNvSpPr>
          <p:nvPr/>
        </p:nvSpPr>
        <p:spPr>
          <a:xfrm>
            <a:off x="5076825" y="2357438"/>
            <a:ext cx="2362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终端节点</a:t>
            </a:r>
          </a:p>
        </p:txBody>
      </p:sp>
      <p:sp>
        <p:nvSpPr>
          <p:cNvPr id="21" name="统一风格-文字 按资源和操作过滤 限制本 VPC 的访问范围-72">
            <a:extLst>
              <a:ext uri="{FF2B5EF4-FFF2-40B4-BE49-F238E27FC236}">
                <a16:creationId xmlns:a16="http://schemas.microsoft.com/office/drawing/2014/main" id="{57AB5EE6-A8CF-43A6-90A1-B7252E433AD9}"/>
              </a:ext>
            </a:extLst>
          </p:cNvPr>
          <p:cNvSpPr>
            <a:spLocks noGrp="1"/>
          </p:cNvSpPr>
          <p:nvPr/>
        </p:nvSpPr>
        <p:spPr>
          <a:xfrm>
            <a:off x="5076825" y="2757488"/>
            <a:ext cx="2362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按资源和操作过滤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限制本 VPC 的访问范围</a:t>
            </a:r>
          </a:p>
        </p:txBody>
      </p:sp>
      <p:sp>
        <p:nvSpPr>
          <p:cNvPr id="22" name="统一风格-OBS 私有桶玻璃后沿-73">
            <a:extLst>
              <a:ext uri="{FF2B5EF4-FFF2-40B4-BE49-F238E27FC236}">
                <a16:creationId xmlns:a16="http://schemas.microsoft.com/office/drawing/2014/main" id="{479042D3-55D4-48EC-86A1-737BFCB6134B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OBS 私有桶-74">
            <a:extLst>
              <a:ext uri="{FF2B5EF4-FFF2-40B4-BE49-F238E27FC236}">
                <a16:creationId xmlns:a16="http://schemas.microsoft.com/office/drawing/2014/main" id="{51C5CA82-95DC-46C6-BCB6-81F442C94E4C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OBS 私有桶玻璃内沿-75">
            <a:extLst>
              <a:ext uri="{FF2B5EF4-FFF2-40B4-BE49-F238E27FC236}">
                <a16:creationId xmlns:a16="http://schemas.microsoft.com/office/drawing/2014/main" id="{EDBD6FD8-0993-4D9C-A450-9727DD033624}"/>
              </a:ext>
            </a:extLst>
          </p:cNvPr>
          <p:cNvSpPr>
            <a:spLocks noGrp="1"/>
          </p:cNvSpPr>
          <p:nvPr/>
        </p:nvSpPr>
        <p:spPr>
          <a:xfrm>
            <a:off x="8280559" y="2203609"/>
            <a:ext cx="328898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OBS 私有桶边缘高光-76">
            <a:extLst>
              <a:ext uri="{FF2B5EF4-FFF2-40B4-BE49-F238E27FC236}">
                <a16:creationId xmlns:a16="http://schemas.microsoft.com/office/drawing/2014/main" id="{D922F975-2368-4886-BE70-77B807AD194B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190625"/>
          </a:xfrm>
          <a:custGeom>
            <a:avLst/>
            <a:gdLst/>
            <a:ahLst/>
            <a:cxnLst/>
            <a:rect l="0" t="0" r="0" b="0"/>
            <a:pathLst>
              <a:path w="3314700" h="1190625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OBS 对象桶外形-77">
            <a:extLst>
              <a:ext uri="{FF2B5EF4-FFF2-40B4-BE49-F238E27FC236}">
                <a16:creationId xmlns:a16="http://schemas.microsoft.com/office/drawing/2014/main" id="{AC2D26AC-A292-4672-B60B-7CEC77E2671F}"/>
              </a:ext>
            </a:extLst>
          </p:cNvPr>
          <p:cNvSpPr>
            <a:spLocks noGrp="1"/>
          </p:cNvSpPr>
          <p:nvPr/>
        </p:nvSpPr>
        <p:spPr>
          <a:xfrm>
            <a:off x="84296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57150"/>
                  <a:pt x="514350" y="57150"/>
                  <a:pt x="514350" y="142875"/>
                </a:cubicBezTo>
                <a:lnTo>
                  <a:pt x="466725" y="485775"/>
                </a:lnTo>
                <a:cubicBezTo>
                  <a:pt x="457200" y="561975"/>
                  <a:pt x="152400" y="561975"/>
                  <a:pt x="142875" y="485775"/>
                </a:cubicBez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OBS 桶口-78">
            <a:extLst>
              <a:ext uri="{FF2B5EF4-FFF2-40B4-BE49-F238E27FC236}">
                <a16:creationId xmlns:a16="http://schemas.microsoft.com/office/drawing/2014/main" id="{AB8D2AEE-22EB-4FE9-83C4-9A68F87672A8}"/>
              </a:ext>
            </a:extLst>
          </p:cNvPr>
          <p:cNvSpPr>
            <a:spLocks noGrp="1"/>
          </p:cNvSpPr>
          <p:nvPr/>
        </p:nvSpPr>
        <p:spPr>
          <a:xfrm>
            <a:off x="84296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228600"/>
                  <a:pt x="514350" y="228600"/>
                  <a:pt x="514350" y="142875"/>
                </a:cubicBez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OBS 对象标记-79">
            <a:extLst>
              <a:ext uri="{FF2B5EF4-FFF2-40B4-BE49-F238E27FC236}">
                <a16:creationId xmlns:a16="http://schemas.microsoft.com/office/drawing/2014/main" id="{E33F997F-20F1-453D-99E5-CA386939D25E}"/>
              </a:ext>
            </a:extLst>
          </p:cNvPr>
          <p:cNvSpPr>
            <a:spLocks noGrp="1"/>
          </p:cNvSpPr>
          <p:nvPr/>
        </p:nvSpPr>
        <p:spPr>
          <a:xfrm>
            <a:off x="8429625" y="2538413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95275"/>
                </a:moveTo>
                <a:lnTo>
                  <a:pt x="371475" y="295275"/>
                </a:lnTo>
                <a:lnTo>
                  <a:pt x="371475" y="419100"/>
                </a:lnTo>
                <a:lnTo>
                  <a:pt x="238125" y="419100"/>
                </a:lnTo>
                <a:close/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文字 OBS 私有桶-80">
            <a:extLst>
              <a:ext uri="{FF2B5EF4-FFF2-40B4-BE49-F238E27FC236}">
                <a16:creationId xmlns:a16="http://schemas.microsoft.com/office/drawing/2014/main" id="{A3B9219E-A4E5-4E70-A1F0-2DBB5D7F708F}"/>
              </a:ext>
            </a:extLst>
          </p:cNvPr>
          <p:cNvSpPr>
            <a:spLocks noGrp="1"/>
          </p:cNvSpPr>
          <p:nvPr/>
        </p:nvSpPr>
        <p:spPr>
          <a:xfrm>
            <a:off x="9077325" y="2357438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</a:t>
            </a:r>
            <a:r>
              <a:rPr sz="1800" b="1" dirty="0" err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私有桶</a:t>
            </a:r>
            <a:r>
              <a:rPr lang="zh-CN" altLang="en-US"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sz="1800" b="1" dirty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 公开桶</a:t>
            </a:r>
            <a:endParaRPr sz="1800" b="1" dirty="0">
              <a:solidFill>
                <a:srgbClr val="1633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统一风格-文字 prod-data / app-a/* 桶策略校验来源与权限-81">
            <a:extLst>
              <a:ext uri="{FF2B5EF4-FFF2-40B4-BE49-F238E27FC236}">
                <a16:creationId xmlns:a16="http://schemas.microsoft.com/office/drawing/2014/main" id="{2E2D1980-EF19-4486-A576-056360445AEC}"/>
              </a:ext>
            </a:extLst>
          </p:cNvPr>
          <p:cNvSpPr>
            <a:spLocks noGrp="1"/>
          </p:cNvSpPr>
          <p:nvPr/>
        </p:nvSpPr>
        <p:spPr>
          <a:xfrm>
            <a:off x="9077325" y="2757488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prod-data / app-a/*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桶策略校验来源与权限</a:t>
            </a:r>
          </a:p>
        </p:txBody>
      </p:sp>
      <p:cxnSp>
        <p:nvCxnSpPr>
          <p:cNvPr id="31" name="私网访问连接">
            <a:extLst>
              <a:ext uri="{FF2B5EF4-FFF2-40B4-BE49-F238E27FC236}">
                <a16:creationId xmlns:a16="http://schemas.microsoft.com/office/drawing/2014/main" id="{51A2BA82-AD7F-4EE3-9A1B-3384B1C41969}"/>
              </a:ext>
            </a:extLst>
          </p:cNvPr>
          <p:cNvCxnSpPr/>
          <p:nvPr/>
        </p:nvCxnSpPr>
        <p:spPr>
          <a:xfrm>
            <a:off x="3600450" y="2781300"/>
            <a:ext cx="66675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32" name="私网访问连接">
            <a:extLst>
              <a:ext uri="{FF2B5EF4-FFF2-40B4-BE49-F238E27FC236}">
                <a16:creationId xmlns:a16="http://schemas.microsoft.com/office/drawing/2014/main" id="{A8804F2D-2F04-449F-9BE0-5E48CEECA446}"/>
              </a:ext>
            </a:extLst>
          </p:cNvPr>
          <p:cNvCxnSpPr/>
          <p:nvPr/>
        </p:nvCxnSpPr>
        <p:spPr>
          <a:xfrm>
            <a:off x="7600950" y="2781300"/>
            <a:ext cx="66675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33" name="统一风格-出口侧：只能访问批准资源玻璃后沿-82">
            <a:extLst>
              <a:ext uri="{FF2B5EF4-FFF2-40B4-BE49-F238E27FC236}">
                <a16:creationId xmlns:a16="http://schemas.microsoft.com/office/drawing/2014/main" id="{9F010176-2F93-4652-A32F-9817E1DE1E86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出口侧：只能访问批准资源-83">
            <a:extLst>
              <a:ext uri="{FF2B5EF4-FFF2-40B4-BE49-F238E27FC236}">
                <a16:creationId xmlns:a16="http://schemas.microsoft.com/office/drawing/2014/main" id="{DD9F2E74-09E9-4CBA-9280-3F778AD587C8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出口侧：只能访问批准资源玻璃内沿-84">
            <a:extLst>
              <a:ext uri="{FF2B5EF4-FFF2-40B4-BE49-F238E27FC236}">
                <a16:creationId xmlns:a16="http://schemas.microsoft.com/office/drawing/2014/main" id="{05825E5A-F214-4BD9-8CE0-6C338EB79991}"/>
              </a:ext>
            </a:extLst>
          </p:cNvPr>
          <p:cNvSpPr>
            <a:spLocks noGrp="1"/>
          </p:cNvSpPr>
          <p:nvPr/>
        </p:nvSpPr>
        <p:spPr>
          <a:xfrm>
            <a:off x="622459" y="3822859"/>
            <a:ext cx="523208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出口侧：只能访问批准资源边缘高光-85">
            <a:extLst>
              <a:ext uri="{FF2B5EF4-FFF2-40B4-BE49-F238E27FC236}">
                <a16:creationId xmlns:a16="http://schemas.microsoft.com/office/drawing/2014/main" id="{2191F358-81B1-4594-8F1F-EFE4E15910E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257800" cy="1190625"/>
          </a:xfrm>
          <a:custGeom>
            <a:avLst/>
            <a:gdLst/>
            <a:ahLst/>
            <a:cxnLst/>
            <a:rect l="0" t="0" r="0" b="0"/>
            <a:pathLst>
              <a:path w="5257800" h="11906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出口侧：只能访问批准资源-86">
            <a:extLst>
              <a:ext uri="{FF2B5EF4-FFF2-40B4-BE49-F238E27FC236}">
                <a16:creationId xmlns:a16="http://schemas.microsoft.com/office/drawing/2014/main" id="{46F74B84-8BDB-45B2-81A5-E850BB384FB4}"/>
              </a:ext>
            </a:extLst>
          </p:cNvPr>
          <p:cNvSpPr>
            <a:spLocks noGrp="1"/>
          </p:cNvSpPr>
          <p:nvPr/>
        </p:nvSpPr>
        <p:spPr>
          <a:xfrm>
            <a:off x="809625" y="39338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出口侧：只能访问批准资源</a:t>
            </a:r>
          </a:p>
        </p:txBody>
      </p:sp>
      <p:sp>
        <p:nvSpPr>
          <p:cNvPr id="38" name="统一风格-文字 终端节点策略允许目标桶与对象前缀 只读任务仅授予下载，避免默认全资源访问-87">
            <a:extLst>
              <a:ext uri="{FF2B5EF4-FFF2-40B4-BE49-F238E27FC236}">
                <a16:creationId xmlns:a16="http://schemas.microsoft.com/office/drawing/2014/main" id="{6E5E1A23-ED36-4FA3-B6B1-6138B0504C2E}"/>
              </a:ext>
            </a:extLst>
          </p:cNvPr>
          <p:cNvSpPr>
            <a:spLocks noGrp="1"/>
          </p:cNvSpPr>
          <p:nvPr/>
        </p:nvSpPr>
        <p:spPr>
          <a:xfrm>
            <a:off x="809625" y="4295775"/>
            <a:ext cx="4857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终端节点策略允许目标桶与对象前缀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只读任务仅授予下载，避免默认全资源访问</a:t>
            </a:r>
          </a:p>
        </p:txBody>
      </p:sp>
      <p:sp>
        <p:nvSpPr>
          <p:cNvPr id="39" name="统一风格-资源侧：只接受批准来源玻璃后沿-88">
            <a:extLst>
              <a:ext uri="{FF2B5EF4-FFF2-40B4-BE49-F238E27FC236}">
                <a16:creationId xmlns:a16="http://schemas.microsoft.com/office/drawing/2014/main" id="{34570C80-AFB9-4FFC-B6FB-60BBBFD1545A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资源侧：只接受批准来源-89">
            <a:extLst>
              <a:ext uri="{FF2B5EF4-FFF2-40B4-BE49-F238E27FC236}">
                <a16:creationId xmlns:a16="http://schemas.microsoft.com/office/drawing/2014/main" id="{F41B7B8D-5DF6-46A0-84A0-2D2436245DB7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5257800" cy="1190625"/>
          </a:xfrm>
          <a:prstGeom prst="roundRect">
            <a:avLst>
              <a:gd name="adj" fmla="val 72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资源侧：只接受批准来源玻璃内沿-90">
            <a:extLst>
              <a:ext uri="{FF2B5EF4-FFF2-40B4-BE49-F238E27FC236}">
                <a16:creationId xmlns:a16="http://schemas.microsoft.com/office/drawing/2014/main" id="{392DBA14-1CE2-44B2-9C7E-1FB99D61CD73}"/>
              </a:ext>
            </a:extLst>
          </p:cNvPr>
          <p:cNvSpPr>
            <a:spLocks noGrp="1"/>
          </p:cNvSpPr>
          <p:nvPr/>
        </p:nvSpPr>
        <p:spPr>
          <a:xfrm>
            <a:off x="6337459" y="3822859"/>
            <a:ext cx="5232083" cy="1164908"/>
          </a:xfrm>
          <a:prstGeom prst="roundRect">
            <a:avLst>
              <a:gd name="adj" fmla="val 629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资源侧：只接受批准来源边缘高光-91">
            <a:extLst>
              <a:ext uri="{FF2B5EF4-FFF2-40B4-BE49-F238E27FC236}">
                <a16:creationId xmlns:a16="http://schemas.microsoft.com/office/drawing/2014/main" id="{23DF60FF-2C34-432A-BBA5-BA5460E783A6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5257800" cy="1190625"/>
          </a:xfrm>
          <a:custGeom>
            <a:avLst/>
            <a:gdLst/>
            <a:ahLst/>
            <a:cxnLst/>
            <a:rect l="0" t="0" r="0" b="0"/>
            <a:pathLst>
              <a:path w="5257800" h="1190625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资源侧：只接受批准来源-92">
            <a:extLst>
              <a:ext uri="{FF2B5EF4-FFF2-40B4-BE49-F238E27FC236}">
                <a16:creationId xmlns:a16="http://schemas.microsoft.com/office/drawing/2014/main" id="{0A6C06C6-4CFA-4278-9AC8-77B6F3230556}"/>
              </a:ext>
            </a:extLst>
          </p:cNvPr>
          <p:cNvSpPr>
            <a:spLocks noGrp="1"/>
          </p:cNvSpPr>
          <p:nvPr/>
        </p:nvSpPr>
        <p:spPr>
          <a:xfrm>
            <a:off x="6524625" y="39338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资源侧：只接受批准来源</a:t>
            </a:r>
          </a:p>
        </p:txBody>
      </p:sp>
      <p:sp>
        <p:nvSpPr>
          <p:cNvPr id="44" name="统一风格-文字 桶策略限定 VPC 或终端节点来源 同时限定业务身份及其可执行的读写操作-93">
            <a:extLst>
              <a:ext uri="{FF2B5EF4-FFF2-40B4-BE49-F238E27FC236}">
                <a16:creationId xmlns:a16="http://schemas.microsoft.com/office/drawing/2014/main" id="{B828283F-19E5-44A9-B58B-0D17BA253474}"/>
              </a:ext>
            </a:extLst>
          </p:cNvPr>
          <p:cNvSpPr>
            <a:spLocks noGrp="1"/>
          </p:cNvSpPr>
          <p:nvPr/>
        </p:nvSpPr>
        <p:spPr>
          <a:xfrm>
            <a:off x="6524625" y="4295775"/>
            <a:ext cx="4857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桶策略限定 VPC 或终端节点来源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同时限定业务身份及其可执行的读写操作</a:t>
            </a:r>
          </a:p>
        </p:txBody>
      </p:sp>
      <p:sp>
        <p:nvSpPr>
          <p:cNvPr id="45" name="统一风格-双向拒绝验证玻璃后沿-94">
            <a:extLst>
              <a:ext uri="{FF2B5EF4-FFF2-40B4-BE49-F238E27FC236}">
                <a16:creationId xmlns:a16="http://schemas.microsoft.com/office/drawing/2014/main" id="{5E6B2FB5-DDB8-4C68-B357-CC077A1195A8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双向拒绝验证-95">
            <a:extLst>
              <a:ext uri="{FF2B5EF4-FFF2-40B4-BE49-F238E27FC236}">
                <a16:creationId xmlns:a16="http://schemas.microsoft.com/office/drawing/2014/main" id="{DBB6F032-16AA-40BB-9E3F-F8A1A224A998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prstGeom prst="roundRect">
            <a:avLst>
              <a:gd name="adj" fmla="val 1406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双向拒绝验证玻璃内沿-96">
            <a:extLst>
              <a:ext uri="{FF2B5EF4-FFF2-40B4-BE49-F238E27FC236}">
                <a16:creationId xmlns:a16="http://schemas.microsoft.com/office/drawing/2014/main" id="{F5AD9C19-6857-44E6-8FED-576B854C8A94}"/>
              </a:ext>
            </a:extLst>
          </p:cNvPr>
          <p:cNvSpPr>
            <a:spLocks noGrp="1"/>
          </p:cNvSpPr>
          <p:nvPr/>
        </p:nvSpPr>
        <p:spPr>
          <a:xfrm>
            <a:off x="622459" y="5289709"/>
            <a:ext cx="10947083" cy="583883"/>
          </a:xfrm>
          <a:prstGeom prst="roundRect">
            <a:avLst>
              <a:gd name="adj" fmla="val 1256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双向拒绝验证边缘高光-97">
            <a:extLst>
              <a:ext uri="{FF2B5EF4-FFF2-40B4-BE49-F238E27FC236}">
                <a16:creationId xmlns:a16="http://schemas.microsoft.com/office/drawing/2014/main" id="{D1CD5D62-3E1B-4C10-9F68-A7941763C021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609600"/>
          </a:xfrm>
          <a:custGeom>
            <a:avLst/>
            <a:gdLst/>
            <a:ahLst/>
            <a:cxnLst/>
            <a:rect l="0" t="0" r="0" b="0"/>
            <a:pathLst>
              <a:path w="10972800" h="609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双向拒绝验证-98">
            <a:extLst>
              <a:ext uri="{FF2B5EF4-FFF2-40B4-BE49-F238E27FC236}">
                <a16:creationId xmlns:a16="http://schemas.microsoft.com/office/drawing/2014/main" id="{A57E94F9-33AE-4E53-BD7C-9B7698B1D626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双向拒绝验证</a:t>
            </a:r>
          </a:p>
        </p:txBody>
      </p:sp>
      <p:sp>
        <p:nvSpPr>
          <p:cNvPr id="50" name="统一风格-文字 其他 VPC 访问受限桶应拒绝；本 VPC 访问未批准桶也应拒绝。-99">
            <a:extLst>
              <a:ext uri="{FF2B5EF4-FFF2-40B4-BE49-F238E27FC236}">
                <a16:creationId xmlns:a16="http://schemas.microsoft.com/office/drawing/2014/main" id="{4BFC38E4-FDE5-4679-8A59-4663773E5FA8}"/>
              </a:ext>
            </a:extLst>
          </p:cNvPr>
          <p:cNvSpPr>
            <a:spLocks noGrp="1"/>
          </p:cNvSpPr>
          <p:nvPr/>
        </p:nvSpPr>
        <p:spPr>
          <a:xfrm>
            <a:off x="2524125" y="5391150"/>
            <a:ext cx="8839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其他 VPC 访问受限桶应拒绝；本 VPC 访问未批准桶也应拒绝。</a:t>
            </a:r>
          </a:p>
        </p:txBody>
      </p:sp>
    </p:spTree>
    <p:extLst>
      <p:ext uri="{BB962C8B-B14F-4D97-AF65-F5344CB8AC3E}">
        <p14:creationId xmlns:p14="http://schemas.microsoft.com/office/powerpoint/2010/main" val="2091705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00">
            <a:extLst>
              <a:ext uri="{FF2B5EF4-FFF2-40B4-BE49-F238E27FC236}">
                <a16:creationId xmlns:a16="http://schemas.microsoft.com/office/drawing/2014/main" id="{216671A2-C12E-4689-ADD9-B23AC2E72B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 策略加固：来源、资源与 HTTPS-101">
            <a:extLst>
              <a:ext uri="{FF2B5EF4-FFF2-40B4-BE49-F238E27FC236}">
                <a16:creationId xmlns:a16="http://schemas.microsoft.com/office/drawing/2014/main" id="{8A2ACE3E-590B-41C1-8163-FBC13FD25FC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策略加固：来源、资源与 HTTPS</a:t>
            </a:r>
          </a:p>
        </p:txBody>
      </p:sp>
      <p:sp>
        <p:nvSpPr>
          <p:cNvPr id="3" name="统一风格-文字 策略分别限定业务身份、目标对象、执行操作和传输条件-102">
            <a:extLst>
              <a:ext uri="{FF2B5EF4-FFF2-40B4-BE49-F238E27FC236}">
                <a16:creationId xmlns:a16="http://schemas.microsoft.com/office/drawing/2014/main" id="{FE081435-DC29-4F93-B717-C820D0009F0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策略分别限定业务身份、目标对象、执行操作和传输条件</a:t>
            </a:r>
          </a:p>
        </p:txBody>
      </p:sp>
      <p:sp>
        <p:nvSpPr>
          <p:cNvPr id="4" name="统一风格-页脚分隔线-103">
            <a:extLst>
              <a:ext uri="{FF2B5EF4-FFF2-40B4-BE49-F238E27FC236}">
                <a16:creationId xmlns:a16="http://schemas.microsoft.com/office/drawing/2014/main" id="{F0389E53-0214-4645-8D8E-DDB55C0876F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终端节点策略与桶策略的 Action、Resource 语法不同，条件键也需按对应策略类型核验，不能直接互拷。-104">
            <a:extLst>
              <a:ext uri="{FF2B5EF4-FFF2-40B4-BE49-F238E27FC236}">
                <a16:creationId xmlns:a16="http://schemas.microsoft.com/office/drawing/2014/main" id="{1C30EC54-BD0E-4EB1-A26B-191CB9278E6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终端节点策略与桶策略的 Action、Resource 语法不同，条件键也需按对应策略类型核验，不能直接互拷。</a:t>
            </a:r>
          </a:p>
        </p:txBody>
      </p:sp>
      <p:sp>
        <p:nvSpPr>
          <p:cNvPr id="6" name="统一风格-文字 38-105">
            <a:extLst>
              <a:ext uri="{FF2B5EF4-FFF2-40B4-BE49-F238E27FC236}">
                <a16:creationId xmlns:a16="http://schemas.microsoft.com/office/drawing/2014/main" id="{CB6D7288-A867-43BB-8BC7-A05F0A90CEA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统一风格-可编辑配置表玻璃后沿-106">
            <a:extLst>
              <a:ext uri="{FF2B5EF4-FFF2-40B4-BE49-F238E27FC236}">
                <a16:creationId xmlns:a16="http://schemas.microsoft.com/office/drawing/2014/main" id="{0BB159BD-986E-4E8D-A5FB-9E6AE091531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07">
            <a:extLst>
              <a:ext uri="{FF2B5EF4-FFF2-40B4-BE49-F238E27FC236}">
                <a16:creationId xmlns:a16="http://schemas.microsoft.com/office/drawing/2014/main" id="{EC7CFD9B-A372-4706-8ED5-31BB80984703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108">
            <a:extLst>
              <a:ext uri="{FF2B5EF4-FFF2-40B4-BE49-F238E27FC236}">
                <a16:creationId xmlns:a16="http://schemas.microsoft.com/office/drawing/2014/main" id="{73519157-5BAE-4369-852E-D6FD8600FD87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09">
            <a:extLst>
              <a:ext uri="{FF2B5EF4-FFF2-40B4-BE49-F238E27FC236}">
                <a16:creationId xmlns:a16="http://schemas.microsoft.com/office/drawing/2014/main" id="{FBE679DC-D066-42E5-8B64-9E346AA8D5E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182C57-0BB8-448D-B620-DBE645DF8680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加固对象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应明确的规则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身份与权限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只允许业务身份执行必要读写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管理、删除与普通读取分别授权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应用优先用委托或临时凭证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避免共享管理员 AK / SK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桶与对象范围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精确到桶和必要对象前缀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桶级与对象级操作匹配各自资源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只读任务以 GetObject 为主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ListBucket、PutObject 等按需求补充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来源边界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SourceVpc / SourceVpce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限定批准 VPC 或终端节点来源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验证其他 VPC 及公网来源被拒绝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来源条件不能替代业务身份授权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传输与公开面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SecureTransport 限制 HTTPS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私有桶与对象避免公开读写授权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保持证书校验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敏感数据与公开分发资源分桶管理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显式拒绝与例外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全主体 Deny 可能影响桶拥有者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也可能阻断备份、复制和云服务委托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先核对管理员与云服务访问路径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精确设计例外，保留恢复策略的通道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590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10">
            <a:extLst>
              <a:ext uri="{FF2B5EF4-FFF2-40B4-BE49-F238E27FC236}">
                <a16:creationId xmlns:a16="http://schemas.microsoft.com/office/drawing/2014/main" id="{36FF7615-9E79-405C-A700-89E9143EA72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私网接入：基础版与企业版分别配置-111">
            <a:extLst>
              <a:ext uri="{FF2B5EF4-FFF2-40B4-BE49-F238E27FC236}">
                <a16:creationId xmlns:a16="http://schemas.microsoft.com/office/drawing/2014/main" id="{FE082470-4A58-4669-8BFD-CE02D80C29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私网接入：基础版与企业版分别配置</a:t>
            </a:r>
          </a:p>
        </p:txBody>
      </p:sp>
      <p:sp>
        <p:nvSpPr>
          <p:cNvPr id="3" name="统一风格-文字 先识别镜像仓库版本，再决定内网入口、配套资源和权限边界-112">
            <a:extLst>
              <a:ext uri="{FF2B5EF4-FFF2-40B4-BE49-F238E27FC236}">
                <a16:creationId xmlns:a16="http://schemas.microsoft.com/office/drawing/2014/main" id="{AA3C3184-B27D-4507-9D20-A0856489C2C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先识别镜像仓库版本，再决定内网入口、配套资源和权限边界</a:t>
            </a:r>
          </a:p>
        </p:txBody>
      </p:sp>
      <p:sp>
        <p:nvSpPr>
          <p:cNvPr id="4" name="统一风格-页脚分隔线-113">
            <a:extLst>
              <a:ext uri="{FF2B5EF4-FFF2-40B4-BE49-F238E27FC236}">
                <a16:creationId xmlns:a16="http://schemas.microsoft.com/office/drawing/2014/main" id="{D2909428-D8FD-48BE-8AC6-DA1138ED97D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网络入口限制与镜像仓库私有属性分别配置。内网访问成功后，仍需有效凭证与镜像下载权限。-114">
            <a:extLst>
              <a:ext uri="{FF2B5EF4-FFF2-40B4-BE49-F238E27FC236}">
                <a16:creationId xmlns:a16="http://schemas.microsoft.com/office/drawing/2014/main" id="{C05AD903-C414-4C8C-82F3-63072C4D5CE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网络入口限制与镜像仓库私有属性分别配置。内网访问成功后，仍需有效凭证与镜像下载权限。</a:t>
            </a:r>
          </a:p>
        </p:txBody>
      </p:sp>
      <p:sp>
        <p:nvSpPr>
          <p:cNvPr id="6" name="统一风格-文字 39-115">
            <a:extLst>
              <a:ext uri="{FF2B5EF4-FFF2-40B4-BE49-F238E27FC236}">
                <a16:creationId xmlns:a16="http://schemas.microsoft.com/office/drawing/2014/main" id="{AF1830A8-DBC4-4269-8696-35E20A0A7D7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统一风格-可编辑配置表玻璃后沿-116">
            <a:extLst>
              <a:ext uri="{FF2B5EF4-FFF2-40B4-BE49-F238E27FC236}">
                <a16:creationId xmlns:a16="http://schemas.microsoft.com/office/drawing/2014/main" id="{9DA01D89-DEE8-4577-B1DE-9100F9FCD007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17">
            <a:extLst>
              <a:ext uri="{FF2B5EF4-FFF2-40B4-BE49-F238E27FC236}">
                <a16:creationId xmlns:a16="http://schemas.microsoft.com/office/drawing/2014/main" id="{E17D5621-8188-4038-BFE0-122281F460F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118">
            <a:extLst>
              <a:ext uri="{FF2B5EF4-FFF2-40B4-BE49-F238E27FC236}">
                <a16:creationId xmlns:a16="http://schemas.microsoft.com/office/drawing/2014/main" id="{E9C092D2-E68D-45B2-9972-7D9CDD4D235B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19">
            <a:extLst>
              <a:ext uri="{FF2B5EF4-FFF2-40B4-BE49-F238E27FC236}">
                <a16:creationId xmlns:a16="http://schemas.microsoft.com/office/drawing/2014/main" id="{4AF95759-E410-462B-868A-0957400376A2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469053-1B52-4697-AD37-B7CDADC5B25E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基础版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企业版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内网接入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 Region ECS / CCE 节点默认走内网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更高要求时配置 SWR 终端节点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在注册表内网访问中添加批准 VPC / 子网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平台创建配套终端节点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网络收口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默认内网不代表仅本 VPC 可访问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结合支持的端点控制与仓库权限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仅纳入业务所需 VPC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公网入口非必要保持关闭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配套依赖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收紧 OBS 端点策略时核验镜像存储桶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认证通道和镜像层下载都要可达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保护自动创建的 VPCEP 与 DNS 记录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变更前核查解析配额和实例状态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凭证与授权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识别通用型 / 增强型登录指令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IAM 版本核验权限模型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内网访问并不替代访问凭证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仓库、实例与主体授权按版本核验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上线验证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完整下载未缓存镜像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检查所有相关镜像层与授权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从批准 VPC 拉取并验证凭证更新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未批准来源与操作应被相应策略拒绝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01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统一风格-文字 02  网络互联与安全加固-120">
            <a:extLst>
              <a:ext uri="{FF2B5EF4-FFF2-40B4-BE49-F238E27FC236}">
                <a16:creationId xmlns:a16="http://schemas.microsoft.com/office/drawing/2014/main" id="{3DF19F5A-3A51-4068-B832-99578ACE8F1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基础版：镜像拉取需要两类访问链路-121">
            <a:extLst>
              <a:ext uri="{FF2B5EF4-FFF2-40B4-BE49-F238E27FC236}">
                <a16:creationId xmlns:a16="http://schemas.microsoft.com/office/drawing/2014/main" id="{8B1429EF-70CD-4FFB-BC69-B16AE74647D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基础版：镜像拉取需要两类访问链路</a:t>
            </a:r>
          </a:p>
        </p:txBody>
      </p:sp>
      <p:sp>
        <p:nvSpPr>
          <p:cNvPr id="3" name="统一风格-文字 认证、镜像清单与实际镜像层下载分别检查，不能只以 docker login 成功作为验收-122">
            <a:extLst>
              <a:ext uri="{FF2B5EF4-FFF2-40B4-BE49-F238E27FC236}">
                <a16:creationId xmlns:a16="http://schemas.microsoft.com/office/drawing/2014/main" id="{16A5A55F-A2C1-49F2-8B9F-23856246680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认证、镜像清单与实际镜像层下载分别检查，不能只以 docker login 成功作为验收</a:t>
            </a:r>
          </a:p>
        </p:txBody>
      </p:sp>
      <p:sp>
        <p:nvSpPr>
          <p:cNvPr id="4" name="统一风格-页脚分隔线-123">
            <a:extLst>
              <a:ext uri="{FF2B5EF4-FFF2-40B4-BE49-F238E27FC236}">
                <a16:creationId xmlns:a16="http://schemas.microsoft.com/office/drawing/2014/main" id="{5213E4FD-16FF-4DB3-9B7E-C69C8841E16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本图假设已启用 OBS 终端节点并收紧其策略。SWR 企业版按实例文档核验依赖，不能照搬基础版桶清单。-124">
            <a:extLst>
              <a:ext uri="{FF2B5EF4-FFF2-40B4-BE49-F238E27FC236}">
                <a16:creationId xmlns:a16="http://schemas.microsoft.com/office/drawing/2014/main" id="{1084DF3D-A952-46F3-B210-B31FB7AACA1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本图假设已启用 OBS 终端节点并收紧其策略。SWR 企业版按实例文档核验依赖，不能照搬基础版桶清单。</a:t>
            </a:r>
          </a:p>
        </p:txBody>
      </p:sp>
      <p:sp>
        <p:nvSpPr>
          <p:cNvPr id="6" name="统一风格-文字 40-125">
            <a:extLst>
              <a:ext uri="{FF2B5EF4-FFF2-40B4-BE49-F238E27FC236}">
                <a16:creationId xmlns:a16="http://schemas.microsoft.com/office/drawing/2014/main" id="{D7910E5E-98A5-44A5-AA1D-E5ABB0CAEFF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7" name="统一风格-ECS / CCE 节点玻璃后沿-126">
            <a:extLst>
              <a:ext uri="{FF2B5EF4-FFF2-40B4-BE49-F238E27FC236}">
                <a16:creationId xmlns:a16="http://schemas.microsoft.com/office/drawing/2014/main" id="{EB320871-3146-4E14-BBD3-EBC5BB344467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933700" cy="2324100"/>
          </a:xfrm>
          <a:prstGeom prst="roundRect">
            <a:avLst>
              <a:gd name="adj" fmla="val 368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ECS / CCE 节点-127">
            <a:extLst>
              <a:ext uri="{FF2B5EF4-FFF2-40B4-BE49-F238E27FC236}">
                <a16:creationId xmlns:a16="http://schemas.microsoft.com/office/drawing/2014/main" id="{6BB7A5A7-CA11-4075-BC68-3C4F4B1E6C4B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933700" cy="2324100"/>
          </a:xfrm>
          <a:prstGeom prst="roundRect">
            <a:avLst>
              <a:gd name="adj" fmla="val 368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ECS / CCE 节点玻璃内沿-128">
            <a:extLst>
              <a:ext uri="{FF2B5EF4-FFF2-40B4-BE49-F238E27FC236}">
                <a16:creationId xmlns:a16="http://schemas.microsoft.com/office/drawing/2014/main" id="{DEF15516-6931-4346-85C5-C7BF6BCE2503}"/>
              </a:ext>
            </a:extLst>
          </p:cNvPr>
          <p:cNvSpPr>
            <a:spLocks noGrp="1"/>
          </p:cNvSpPr>
          <p:nvPr/>
        </p:nvSpPr>
        <p:spPr>
          <a:xfrm>
            <a:off x="622459" y="2832259"/>
            <a:ext cx="2907983" cy="2298383"/>
          </a:xfrm>
          <a:prstGeom prst="roundRect">
            <a:avLst>
              <a:gd name="adj" fmla="val 319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ECS / CCE 节点边缘高光-129">
            <a:extLst>
              <a:ext uri="{FF2B5EF4-FFF2-40B4-BE49-F238E27FC236}">
                <a16:creationId xmlns:a16="http://schemas.microsoft.com/office/drawing/2014/main" id="{9F02C74D-7B81-42FF-99C5-CF2D78F50D8A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933700" cy="2324100"/>
          </a:xfrm>
          <a:custGeom>
            <a:avLst/>
            <a:gdLst/>
            <a:ahLst/>
            <a:cxnLst/>
            <a:rect l="0" t="0" r="0" b="0"/>
            <a:pathLst>
              <a:path w="2933700" h="2324100">
                <a:moveTo>
                  <a:pt x="95250" y="9525"/>
                </a:moveTo>
                <a:lnTo>
                  <a:pt x="2838450" y="9525"/>
                </a:lnTo>
                <a:cubicBezTo>
                  <a:pt x="2886075" y="9525"/>
                  <a:pt x="2924175" y="47625"/>
                  <a:pt x="2924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server 服务器机架-130">
            <a:extLst>
              <a:ext uri="{FF2B5EF4-FFF2-40B4-BE49-F238E27FC236}">
                <a16:creationId xmlns:a16="http://schemas.microsoft.com/office/drawing/2014/main" id="{0DFF3E1A-161F-4BF3-92C2-29BA73EBAD70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erver 机架状态-131">
            <a:extLst>
              <a:ext uri="{FF2B5EF4-FFF2-40B4-BE49-F238E27FC236}">
                <a16:creationId xmlns:a16="http://schemas.microsoft.com/office/drawing/2014/main" id="{8B030D06-8919-4BE3-987D-63DE1D33C5AE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server 指示灯-132">
            <a:extLst>
              <a:ext uri="{FF2B5EF4-FFF2-40B4-BE49-F238E27FC236}">
                <a16:creationId xmlns:a16="http://schemas.microsoft.com/office/drawing/2014/main" id="{2420BFC1-8DB1-455F-8276-5DDBE65411DF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erver 服务器机架-133">
            <a:extLst>
              <a:ext uri="{FF2B5EF4-FFF2-40B4-BE49-F238E27FC236}">
                <a16:creationId xmlns:a16="http://schemas.microsoft.com/office/drawing/2014/main" id="{B4E74AEE-9B8F-435E-A885-307E60BCFF60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erver 机架状态-134">
            <a:extLst>
              <a:ext uri="{FF2B5EF4-FFF2-40B4-BE49-F238E27FC236}">
                <a16:creationId xmlns:a16="http://schemas.microsoft.com/office/drawing/2014/main" id="{372DC293-3F8D-437D-B183-A2AB4F005D24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erver 指示灯-135">
            <a:extLst>
              <a:ext uri="{FF2B5EF4-FFF2-40B4-BE49-F238E27FC236}">
                <a16:creationId xmlns:a16="http://schemas.microsoft.com/office/drawing/2014/main" id="{A7A62D01-ECBA-45A3-BAE0-396A0A7680B8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服务器机架-136">
            <a:extLst>
              <a:ext uri="{FF2B5EF4-FFF2-40B4-BE49-F238E27FC236}">
                <a16:creationId xmlns:a16="http://schemas.microsoft.com/office/drawing/2014/main" id="{41FE8BB5-1888-424E-81A9-D65DFA2449AE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机架状态-137">
            <a:extLst>
              <a:ext uri="{FF2B5EF4-FFF2-40B4-BE49-F238E27FC236}">
                <a16:creationId xmlns:a16="http://schemas.microsoft.com/office/drawing/2014/main" id="{58B4A6EC-D676-4520-8B1E-94AD6F5BCD95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指示灯-138">
            <a:extLst>
              <a:ext uri="{FF2B5EF4-FFF2-40B4-BE49-F238E27FC236}">
                <a16:creationId xmlns:a16="http://schemas.microsoft.com/office/drawing/2014/main" id="{C7F9A6E3-0BD3-4972-9CD1-E19D210C472A}"/>
              </a:ext>
            </a:extLst>
          </p:cNvPr>
          <p:cNvSpPr>
            <a:spLocks noGrp="1"/>
          </p:cNvSpPr>
          <p:nvPr/>
        </p:nvSpPr>
        <p:spPr>
          <a:xfrm>
            <a:off x="771525" y="37338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文字 ECS / CCE 节点-139">
            <a:extLst>
              <a:ext uri="{FF2B5EF4-FFF2-40B4-BE49-F238E27FC236}">
                <a16:creationId xmlns:a16="http://schemas.microsoft.com/office/drawing/2014/main" id="{C5DA35A1-C0A9-4FE0-989C-22710F9404E4}"/>
              </a:ext>
            </a:extLst>
          </p:cNvPr>
          <p:cNvSpPr>
            <a:spLocks noGrp="1"/>
          </p:cNvSpPr>
          <p:nvPr/>
        </p:nvSpPr>
        <p:spPr>
          <a:xfrm>
            <a:off x="1419225" y="3438525"/>
            <a:ext cx="1962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ECS / CCE 节点</a:t>
            </a:r>
          </a:p>
        </p:txBody>
      </p:sp>
      <p:sp>
        <p:nvSpPr>
          <p:cNvPr id="21" name="统一风格-文字 使用受控拉取身份 保留 DNS 与 HTTPS 验证未缓存镜像-140">
            <a:extLst>
              <a:ext uri="{FF2B5EF4-FFF2-40B4-BE49-F238E27FC236}">
                <a16:creationId xmlns:a16="http://schemas.microsoft.com/office/drawing/2014/main" id="{06A277C3-24EA-4BF0-BBC1-3F6EADF17E51}"/>
              </a:ext>
            </a:extLst>
          </p:cNvPr>
          <p:cNvSpPr>
            <a:spLocks noGrp="1"/>
          </p:cNvSpPr>
          <p:nvPr/>
        </p:nvSpPr>
        <p:spPr>
          <a:xfrm>
            <a:off x="1419225" y="3838575"/>
            <a:ext cx="19621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使用受控拉取身份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保留 DNS 与 HTTPS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验证未缓存镜像</a:t>
            </a:r>
          </a:p>
        </p:txBody>
      </p:sp>
      <p:sp>
        <p:nvSpPr>
          <p:cNvPr id="22" name="统一风格-SWR 私网通道玻璃后沿-141">
            <a:extLst>
              <a:ext uri="{FF2B5EF4-FFF2-40B4-BE49-F238E27FC236}">
                <a16:creationId xmlns:a16="http://schemas.microsoft.com/office/drawing/2014/main" id="{2B0C7957-03C6-4A5E-9AFC-8BDBF1016351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WR 私网通道-142">
            <a:extLst>
              <a:ext uri="{FF2B5EF4-FFF2-40B4-BE49-F238E27FC236}">
                <a16:creationId xmlns:a16="http://schemas.microsoft.com/office/drawing/2014/main" id="{38558D07-D1FD-4DB8-94F4-BFA369932D9C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WR 私网通道玻璃内沿-143">
            <a:extLst>
              <a:ext uri="{FF2B5EF4-FFF2-40B4-BE49-F238E27FC236}">
                <a16:creationId xmlns:a16="http://schemas.microsoft.com/office/drawing/2014/main" id="{A8C8DA33-3C4C-411B-B223-6FF8CB3C5878}"/>
              </a:ext>
            </a:extLst>
          </p:cNvPr>
          <p:cNvSpPr>
            <a:spLocks noGrp="1"/>
          </p:cNvSpPr>
          <p:nvPr/>
        </p:nvSpPr>
        <p:spPr>
          <a:xfrm>
            <a:off x="4280059" y="2203609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WR 私网通道边缘高光-144">
            <a:extLst>
              <a:ext uri="{FF2B5EF4-FFF2-40B4-BE49-F238E27FC236}">
                <a16:creationId xmlns:a16="http://schemas.microsoft.com/office/drawing/2014/main" id="{35C775CF-5C70-430D-811D-982108075927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终端节点图标-145">
            <a:extLst>
              <a:ext uri="{FF2B5EF4-FFF2-40B4-BE49-F238E27FC236}">
                <a16:creationId xmlns:a16="http://schemas.microsoft.com/office/drawing/2014/main" id="{BDFD13D1-73DA-406F-BC25-1B39CFC18F07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终端节点服务端口-146">
            <a:extLst>
              <a:ext uri="{FF2B5EF4-FFF2-40B4-BE49-F238E27FC236}">
                <a16:creationId xmlns:a16="http://schemas.microsoft.com/office/drawing/2014/main" id="{CF1EBBB4-51AF-43FB-93D0-E2C2580C47E3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SWR 私网通道-147">
            <a:extLst>
              <a:ext uri="{FF2B5EF4-FFF2-40B4-BE49-F238E27FC236}">
                <a16:creationId xmlns:a16="http://schemas.microsoft.com/office/drawing/2014/main" id="{4EBAF988-5C63-4A5B-880D-0A40BBAFF0B2}"/>
              </a:ext>
            </a:extLst>
          </p:cNvPr>
          <p:cNvSpPr>
            <a:spLocks noGrp="1"/>
          </p:cNvSpPr>
          <p:nvPr/>
        </p:nvSpPr>
        <p:spPr>
          <a:xfrm>
            <a:off x="5076825" y="2295525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私网通道</a:t>
            </a:r>
          </a:p>
        </p:txBody>
      </p:sp>
      <p:sp>
        <p:nvSpPr>
          <p:cNvPr id="29" name="统一风格-文字 同 Region 默认内网 或 SWR 终端节点-148">
            <a:extLst>
              <a:ext uri="{FF2B5EF4-FFF2-40B4-BE49-F238E27FC236}">
                <a16:creationId xmlns:a16="http://schemas.microsoft.com/office/drawing/2014/main" id="{F95DDB50-170F-40CF-B161-F1F98C5A74AA}"/>
              </a:ext>
            </a:extLst>
          </p:cNvPr>
          <p:cNvSpPr>
            <a:spLocks noGrp="1"/>
          </p:cNvSpPr>
          <p:nvPr/>
        </p:nvSpPr>
        <p:spPr>
          <a:xfrm>
            <a:off x="5076825" y="2695575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 Region 默认内网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或 SWR 终端节点</a:t>
            </a:r>
          </a:p>
        </p:txBody>
      </p:sp>
      <p:sp>
        <p:nvSpPr>
          <p:cNvPr id="30" name="统一风格-SWR 注册服务玻璃后沿-149">
            <a:extLst>
              <a:ext uri="{FF2B5EF4-FFF2-40B4-BE49-F238E27FC236}">
                <a16:creationId xmlns:a16="http://schemas.microsoft.com/office/drawing/2014/main" id="{3665ABC8-1091-4899-9963-98AB8318C688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SWR 注册服务-150">
            <a:extLst>
              <a:ext uri="{FF2B5EF4-FFF2-40B4-BE49-F238E27FC236}">
                <a16:creationId xmlns:a16="http://schemas.microsoft.com/office/drawing/2014/main" id="{2F57EB6D-E0BD-418F-82CB-A87B34D9CDCD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SWR 注册服务玻璃内沿-151">
            <a:extLst>
              <a:ext uri="{FF2B5EF4-FFF2-40B4-BE49-F238E27FC236}">
                <a16:creationId xmlns:a16="http://schemas.microsoft.com/office/drawing/2014/main" id="{0A2B8CA1-A0AA-405F-B464-DE68FB3D318A}"/>
              </a:ext>
            </a:extLst>
          </p:cNvPr>
          <p:cNvSpPr>
            <a:spLocks noGrp="1"/>
          </p:cNvSpPr>
          <p:nvPr/>
        </p:nvSpPr>
        <p:spPr>
          <a:xfrm>
            <a:off x="8280559" y="2203609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SWR 注册服务边缘高光-152">
            <a:extLst>
              <a:ext uri="{FF2B5EF4-FFF2-40B4-BE49-F238E27FC236}">
                <a16:creationId xmlns:a16="http://schemas.microsoft.com/office/drawing/2014/main" id="{1B3AEF0A-BE0D-49EB-9858-BFFC47E4606E}"/>
              </a:ext>
            </a:extLst>
          </p:cNvPr>
          <p:cNvSpPr>
            <a:spLocks noGrp="1"/>
          </p:cNvSpPr>
          <p:nvPr/>
        </p:nvSpPr>
        <p:spPr>
          <a:xfrm>
            <a:off x="8267700" y="2190750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SWR 镜像层-153">
            <a:extLst>
              <a:ext uri="{FF2B5EF4-FFF2-40B4-BE49-F238E27FC236}">
                <a16:creationId xmlns:a16="http://schemas.microsoft.com/office/drawing/2014/main" id="{DB12A50E-F9EA-48F0-A709-EB071A09E0D3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76200"/>
                </a:moveTo>
                <a:lnTo>
                  <a:pt x="514350" y="76200"/>
                </a:lnTo>
                <a:lnTo>
                  <a:pt x="514350" y="180975"/>
                </a:lnTo>
                <a:lnTo>
                  <a:pt x="95250" y="180975"/>
                </a:ln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SWR 镜像层-154">
            <a:extLst>
              <a:ext uri="{FF2B5EF4-FFF2-40B4-BE49-F238E27FC236}">
                <a16:creationId xmlns:a16="http://schemas.microsoft.com/office/drawing/2014/main" id="{0A9E2707-DCAE-48AF-B03D-92276C640C17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257175"/>
                </a:moveTo>
                <a:lnTo>
                  <a:pt x="514350" y="257175"/>
                </a:lnTo>
                <a:lnTo>
                  <a:pt x="514350" y="361950"/>
                </a:lnTo>
                <a:lnTo>
                  <a:pt x="95250" y="361950"/>
                </a:ln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SWR 镜像层-155">
            <a:extLst>
              <a:ext uri="{FF2B5EF4-FFF2-40B4-BE49-F238E27FC236}">
                <a16:creationId xmlns:a16="http://schemas.microsoft.com/office/drawing/2014/main" id="{45F996B2-6A9B-4B9B-B4C5-F3FBB1E0D374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38150"/>
                </a:moveTo>
                <a:lnTo>
                  <a:pt x="514350" y="438150"/>
                </a:lnTo>
                <a:lnTo>
                  <a:pt x="514350" y="542925"/>
                </a:lnTo>
                <a:lnTo>
                  <a:pt x="95250" y="542925"/>
                </a:ln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SWR 镜像索引-156">
            <a:extLst>
              <a:ext uri="{FF2B5EF4-FFF2-40B4-BE49-F238E27FC236}">
                <a16:creationId xmlns:a16="http://schemas.microsoft.com/office/drawing/2014/main" id="{A169068B-DF63-4E8E-BA25-C36307EDFCEF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23825"/>
                </a:moveTo>
                <a:lnTo>
                  <a:pt x="285750" y="123825"/>
                </a:lnTo>
                <a:moveTo>
                  <a:pt x="171450" y="304800"/>
                </a:moveTo>
                <a:lnTo>
                  <a:pt x="371475" y="304800"/>
                </a:lnTo>
                <a:moveTo>
                  <a:pt x="171450" y="485775"/>
                </a:moveTo>
                <a:lnTo>
                  <a:pt x="438150" y="4857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文字 SWR 注册服务-157">
            <a:extLst>
              <a:ext uri="{FF2B5EF4-FFF2-40B4-BE49-F238E27FC236}">
                <a16:creationId xmlns:a16="http://schemas.microsoft.com/office/drawing/2014/main" id="{E7B373D9-9370-48B9-87E6-499AD680F24C}"/>
              </a:ext>
            </a:extLst>
          </p:cNvPr>
          <p:cNvSpPr>
            <a:spLocks noGrp="1"/>
          </p:cNvSpPr>
          <p:nvPr/>
        </p:nvSpPr>
        <p:spPr>
          <a:xfrm>
            <a:off x="9077325" y="2295525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注册服务</a:t>
            </a:r>
          </a:p>
        </p:txBody>
      </p:sp>
      <p:sp>
        <p:nvSpPr>
          <p:cNvPr id="39" name="统一风格-文字 认证与镜像清单 检查仓库下载权限-158">
            <a:extLst>
              <a:ext uri="{FF2B5EF4-FFF2-40B4-BE49-F238E27FC236}">
                <a16:creationId xmlns:a16="http://schemas.microsoft.com/office/drawing/2014/main" id="{9717FB50-BAC9-424C-AD6F-E3AC4C86E4D0}"/>
              </a:ext>
            </a:extLst>
          </p:cNvPr>
          <p:cNvSpPr>
            <a:spLocks noGrp="1"/>
          </p:cNvSpPr>
          <p:nvPr/>
        </p:nvSpPr>
        <p:spPr>
          <a:xfrm>
            <a:off x="9077325" y="2695575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认证与镜像清单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检查仓库下载权限</a:t>
            </a:r>
          </a:p>
        </p:txBody>
      </p:sp>
      <p:sp>
        <p:nvSpPr>
          <p:cNvPr id="40" name="统一风格-OBS 私网通道玻璃后沿-159">
            <a:extLst>
              <a:ext uri="{FF2B5EF4-FFF2-40B4-BE49-F238E27FC236}">
                <a16:creationId xmlns:a16="http://schemas.microsoft.com/office/drawing/2014/main" id="{F5C8BA25-E61F-4125-B362-E465D237BF70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OBS 私网通道-160">
            <a:extLst>
              <a:ext uri="{FF2B5EF4-FFF2-40B4-BE49-F238E27FC236}">
                <a16:creationId xmlns:a16="http://schemas.microsoft.com/office/drawing/2014/main" id="{5CAC7585-A0DB-4245-BE95-E102849EBFC9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OBS 私网通道玻璃内沿-161">
            <a:extLst>
              <a:ext uri="{FF2B5EF4-FFF2-40B4-BE49-F238E27FC236}">
                <a16:creationId xmlns:a16="http://schemas.microsoft.com/office/drawing/2014/main" id="{34643F44-C002-4AE6-AF2D-E3C9282F763B}"/>
              </a:ext>
            </a:extLst>
          </p:cNvPr>
          <p:cNvSpPr>
            <a:spLocks noGrp="1"/>
          </p:cNvSpPr>
          <p:nvPr/>
        </p:nvSpPr>
        <p:spPr>
          <a:xfrm>
            <a:off x="4280059" y="4099084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OBS 私网通道边缘高光-162">
            <a:extLst>
              <a:ext uri="{FF2B5EF4-FFF2-40B4-BE49-F238E27FC236}">
                <a16:creationId xmlns:a16="http://schemas.microsoft.com/office/drawing/2014/main" id="{DF2A5186-55DF-4F2B-9CFA-4AF3D65C5A36}"/>
              </a:ext>
            </a:extLst>
          </p:cNvPr>
          <p:cNvSpPr>
            <a:spLocks noGrp="1"/>
          </p:cNvSpPr>
          <p:nvPr/>
        </p:nvSpPr>
        <p:spPr>
          <a:xfrm>
            <a:off x="4267200" y="4086225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终端节点图标-163">
            <a:extLst>
              <a:ext uri="{FF2B5EF4-FFF2-40B4-BE49-F238E27FC236}">
                <a16:creationId xmlns:a16="http://schemas.microsoft.com/office/drawing/2014/main" id="{B042CFFE-3F2E-4146-894D-6569531AB456}"/>
              </a:ext>
            </a:extLst>
          </p:cNvPr>
          <p:cNvSpPr>
            <a:spLocks noGrp="1"/>
          </p:cNvSpPr>
          <p:nvPr/>
        </p:nvSpPr>
        <p:spPr>
          <a:xfrm>
            <a:off x="44291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23825"/>
                </a:moveTo>
                <a:lnTo>
                  <a:pt x="400050" y="123825"/>
                </a:lnTo>
                <a:lnTo>
                  <a:pt x="400050" y="485775"/>
                </a:lnTo>
                <a:lnTo>
                  <a:pt x="76200" y="485775"/>
                </a:lnTo>
                <a:close/>
              </a:path>
            </a:pathLst>
          </a:custGeom>
          <a:solidFill>
            <a:srgbClr val="EA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终端节点服务端口-164">
            <a:extLst>
              <a:ext uri="{FF2B5EF4-FFF2-40B4-BE49-F238E27FC236}">
                <a16:creationId xmlns:a16="http://schemas.microsoft.com/office/drawing/2014/main" id="{2F47C189-F1D9-4407-85CE-FB1B48B3AA92}"/>
              </a:ext>
            </a:extLst>
          </p:cNvPr>
          <p:cNvSpPr>
            <a:spLocks noGrp="1"/>
          </p:cNvSpPr>
          <p:nvPr/>
        </p:nvSpPr>
        <p:spPr>
          <a:xfrm>
            <a:off x="44291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228600"/>
                </a:moveTo>
                <a:lnTo>
                  <a:pt x="295275" y="228600"/>
                </a:lnTo>
                <a:moveTo>
                  <a:pt x="171450" y="323850"/>
                </a:moveTo>
                <a:lnTo>
                  <a:pt x="295275" y="323850"/>
                </a:lnTo>
                <a:moveTo>
                  <a:pt x="400050" y="304800"/>
                </a:moveTo>
                <a:lnTo>
                  <a:pt x="552450" y="304800"/>
                </a:lnTo>
                <a:moveTo>
                  <a:pt x="485775" y="238125"/>
                </a:moveTo>
                <a:lnTo>
                  <a:pt x="552450" y="304800"/>
                </a:lnTo>
                <a:lnTo>
                  <a:pt x="485775" y="371475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文字 OBS 私网通道-165">
            <a:extLst>
              <a:ext uri="{FF2B5EF4-FFF2-40B4-BE49-F238E27FC236}">
                <a16:creationId xmlns:a16="http://schemas.microsoft.com/office/drawing/2014/main" id="{32C161DB-B967-48A9-A07E-5EF3F5DA4587}"/>
              </a:ext>
            </a:extLst>
          </p:cNvPr>
          <p:cNvSpPr>
            <a:spLocks noGrp="1"/>
          </p:cNvSpPr>
          <p:nvPr/>
        </p:nvSpPr>
        <p:spPr>
          <a:xfrm>
            <a:off x="5076825" y="4191000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私网通道</a:t>
            </a:r>
          </a:p>
        </p:txBody>
      </p:sp>
      <p:sp>
        <p:nvSpPr>
          <p:cNvPr id="47" name="统一风格-文字 OBS 端点策略 允许必要镜像存储资源-166">
            <a:extLst>
              <a:ext uri="{FF2B5EF4-FFF2-40B4-BE49-F238E27FC236}">
                <a16:creationId xmlns:a16="http://schemas.microsoft.com/office/drawing/2014/main" id="{04009AE5-C192-4AD6-B23D-A3DC43DAEAAA}"/>
              </a:ext>
            </a:extLst>
          </p:cNvPr>
          <p:cNvSpPr>
            <a:spLocks noGrp="1"/>
          </p:cNvSpPr>
          <p:nvPr/>
        </p:nvSpPr>
        <p:spPr>
          <a:xfrm>
            <a:off x="5076825" y="4591050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OBS 端点策略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允许必要镜像存储资源</a:t>
            </a:r>
          </a:p>
        </p:txBody>
      </p:sp>
      <p:sp>
        <p:nvSpPr>
          <p:cNvPr id="48" name="统一风格-SWR 托管的 OBS 桶玻璃后沿-167">
            <a:extLst>
              <a:ext uri="{FF2B5EF4-FFF2-40B4-BE49-F238E27FC236}">
                <a16:creationId xmlns:a16="http://schemas.microsoft.com/office/drawing/2014/main" id="{1661663F-F584-4B1C-8B41-4EA7F37C5A73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SWR 托管的 OBS 桶-168">
            <a:extLst>
              <a:ext uri="{FF2B5EF4-FFF2-40B4-BE49-F238E27FC236}">
                <a16:creationId xmlns:a16="http://schemas.microsoft.com/office/drawing/2014/main" id="{888F53B1-C4D3-4C0C-9D1F-4D1148267193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3314700" cy="1066800"/>
          </a:xfrm>
          <a:prstGeom prst="roundRect">
            <a:avLst>
              <a:gd name="adj" fmla="val 80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SWR 托管的 OBS 桶玻璃内沿-169">
            <a:extLst>
              <a:ext uri="{FF2B5EF4-FFF2-40B4-BE49-F238E27FC236}">
                <a16:creationId xmlns:a16="http://schemas.microsoft.com/office/drawing/2014/main" id="{AA56D08A-005F-4786-AD64-3DA0997BE2E5}"/>
              </a:ext>
            </a:extLst>
          </p:cNvPr>
          <p:cNvSpPr>
            <a:spLocks noGrp="1"/>
          </p:cNvSpPr>
          <p:nvPr/>
        </p:nvSpPr>
        <p:spPr>
          <a:xfrm>
            <a:off x="8280559" y="4099084"/>
            <a:ext cx="3288983" cy="1041083"/>
          </a:xfrm>
          <a:prstGeom prst="roundRect">
            <a:avLst>
              <a:gd name="adj" fmla="val 704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SWR 托管的 OBS 桶边缘高光-170">
            <a:extLst>
              <a:ext uri="{FF2B5EF4-FFF2-40B4-BE49-F238E27FC236}">
                <a16:creationId xmlns:a16="http://schemas.microsoft.com/office/drawing/2014/main" id="{23DD5D4D-9AE0-4CF0-82D0-A78B87C44145}"/>
              </a:ext>
            </a:extLst>
          </p:cNvPr>
          <p:cNvSpPr>
            <a:spLocks noGrp="1"/>
          </p:cNvSpPr>
          <p:nvPr/>
        </p:nvSpPr>
        <p:spPr>
          <a:xfrm>
            <a:off x="8267700" y="4086225"/>
            <a:ext cx="3314700" cy="1066800"/>
          </a:xfrm>
          <a:custGeom>
            <a:avLst/>
            <a:gdLst/>
            <a:ahLst/>
            <a:cxnLst/>
            <a:rect l="0" t="0" r="0" b="0"/>
            <a:pathLst>
              <a:path w="3314700" h="1066800">
                <a:moveTo>
                  <a:pt x="95250" y="9525"/>
                </a:moveTo>
                <a:lnTo>
                  <a:pt x="3219450" y="9525"/>
                </a:lnTo>
                <a:cubicBezTo>
                  <a:pt x="3267075" y="9525"/>
                  <a:pt x="3305175" y="47625"/>
                  <a:pt x="3305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OBS 对象桶外形-171">
            <a:extLst>
              <a:ext uri="{FF2B5EF4-FFF2-40B4-BE49-F238E27FC236}">
                <a16:creationId xmlns:a16="http://schemas.microsoft.com/office/drawing/2014/main" id="{56167B3B-9FD7-4CCC-A15C-1B5B3D0CF077}"/>
              </a:ext>
            </a:extLst>
          </p:cNvPr>
          <p:cNvSpPr>
            <a:spLocks noGrp="1"/>
          </p:cNvSpPr>
          <p:nvPr/>
        </p:nvSpPr>
        <p:spPr>
          <a:xfrm>
            <a:off x="84296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57150"/>
                  <a:pt x="514350" y="57150"/>
                  <a:pt x="514350" y="142875"/>
                </a:cubicBezTo>
                <a:lnTo>
                  <a:pt x="466725" y="485775"/>
                </a:lnTo>
                <a:cubicBezTo>
                  <a:pt x="457200" y="561975"/>
                  <a:pt x="152400" y="561975"/>
                  <a:pt x="142875" y="485775"/>
                </a:cubicBezTo>
                <a:close/>
              </a:path>
            </a:pathLst>
          </a:custGeom>
          <a:solidFill>
            <a:srgbClr val="E9F2FF"/>
          </a:solidFill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OBS 桶口-172">
            <a:extLst>
              <a:ext uri="{FF2B5EF4-FFF2-40B4-BE49-F238E27FC236}">
                <a16:creationId xmlns:a16="http://schemas.microsoft.com/office/drawing/2014/main" id="{995EBF9B-660E-4BE1-A446-31D01A090524}"/>
              </a:ext>
            </a:extLst>
          </p:cNvPr>
          <p:cNvSpPr>
            <a:spLocks noGrp="1"/>
          </p:cNvSpPr>
          <p:nvPr/>
        </p:nvSpPr>
        <p:spPr>
          <a:xfrm>
            <a:off x="84296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142875"/>
                </a:moveTo>
                <a:cubicBezTo>
                  <a:pt x="95250" y="228600"/>
                  <a:pt x="514350" y="228600"/>
                  <a:pt x="514350" y="142875"/>
                </a:cubicBez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OBS 对象标记-173">
            <a:extLst>
              <a:ext uri="{FF2B5EF4-FFF2-40B4-BE49-F238E27FC236}">
                <a16:creationId xmlns:a16="http://schemas.microsoft.com/office/drawing/2014/main" id="{7D139B9A-7650-4D8B-B711-E17F33B7D7EC}"/>
              </a:ext>
            </a:extLst>
          </p:cNvPr>
          <p:cNvSpPr>
            <a:spLocks noGrp="1"/>
          </p:cNvSpPr>
          <p:nvPr/>
        </p:nvSpPr>
        <p:spPr>
          <a:xfrm>
            <a:off x="8429625" y="43719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95275"/>
                </a:moveTo>
                <a:lnTo>
                  <a:pt x="371475" y="295275"/>
                </a:lnTo>
                <a:lnTo>
                  <a:pt x="371475" y="419100"/>
                </a:lnTo>
                <a:lnTo>
                  <a:pt x="238125" y="419100"/>
                </a:lnTo>
                <a:close/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SWR 托管的 OBS 桶-174">
            <a:extLst>
              <a:ext uri="{FF2B5EF4-FFF2-40B4-BE49-F238E27FC236}">
                <a16:creationId xmlns:a16="http://schemas.microsoft.com/office/drawing/2014/main" id="{CBABFA60-C466-4381-A225-ED3167ECAC66}"/>
              </a:ext>
            </a:extLst>
          </p:cNvPr>
          <p:cNvSpPr>
            <a:spLocks noGrp="1"/>
          </p:cNvSpPr>
          <p:nvPr/>
        </p:nvSpPr>
        <p:spPr>
          <a:xfrm>
            <a:off x="9077325" y="4191000"/>
            <a:ext cx="2343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托管的 OBS 桶</a:t>
            </a:r>
          </a:p>
        </p:txBody>
      </p:sp>
      <p:sp>
        <p:nvSpPr>
          <p:cNvPr id="56" name="统一风格-文字 下载镜像层数据 按 Region 确认主备桶-175">
            <a:extLst>
              <a:ext uri="{FF2B5EF4-FFF2-40B4-BE49-F238E27FC236}">
                <a16:creationId xmlns:a16="http://schemas.microsoft.com/office/drawing/2014/main" id="{0A94E735-FD1D-4E6D-8CA1-22C0D2B916EE}"/>
              </a:ext>
            </a:extLst>
          </p:cNvPr>
          <p:cNvSpPr>
            <a:spLocks noGrp="1"/>
          </p:cNvSpPr>
          <p:nvPr/>
        </p:nvSpPr>
        <p:spPr>
          <a:xfrm>
            <a:off x="9077325" y="4591050"/>
            <a:ext cx="2343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下载镜像层数据</a:t>
            </a:r>
          </a:p>
          <a:p>
            <a:pPr algn="l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 Region 确认主备桶</a:t>
            </a:r>
          </a:p>
        </p:txBody>
      </p:sp>
      <p:cxnSp>
        <p:nvCxnSpPr>
          <p:cNvPr id="57" name="私网访问连接">
            <a:extLst>
              <a:ext uri="{FF2B5EF4-FFF2-40B4-BE49-F238E27FC236}">
                <a16:creationId xmlns:a16="http://schemas.microsoft.com/office/drawing/2014/main" id="{78CEA873-3686-49A6-9255-91E8C94CE328}"/>
              </a:ext>
            </a:extLst>
          </p:cNvPr>
          <p:cNvCxnSpPr/>
          <p:nvPr/>
        </p:nvCxnSpPr>
        <p:spPr>
          <a:xfrm>
            <a:off x="3543300" y="3981450"/>
            <a:ext cx="352425" cy="0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58" name="私网访问连接">
            <a:extLst>
              <a:ext uri="{FF2B5EF4-FFF2-40B4-BE49-F238E27FC236}">
                <a16:creationId xmlns:a16="http://schemas.microsoft.com/office/drawing/2014/main" id="{854B1746-5C50-479A-9817-D05B0EEF19DF}"/>
              </a:ext>
            </a:extLst>
          </p:cNvPr>
          <p:cNvCxnSpPr/>
          <p:nvPr/>
        </p:nvCxnSpPr>
        <p:spPr>
          <a:xfrm>
            <a:off x="3895725" y="2724150"/>
            <a:ext cx="0" cy="1895475"/>
          </a:xfrm>
          <a:prstGeom prst="straightConnector1">
            <a:avLst/>
          </a:prstGeom>
          <a:ln w="14288">
            <a:solidFill>
              <a:srgbClr val="2053C3"/>
            </a:solidFill>
          </a:ln>
        </p:spPr>
      </p:cxnSp>
      <p:cxnSp>
        <p:nvCxnSpPr>
          <p:cNvPr id="59" name="私网访问连接">
            <a:extLst>
              <a:ext uri="{FF2B5EF4-FFF2-40B4-BE49-F238E27FC236}">
                <a16:creationId xmlns:a16="http://schemas.microsoft.com/office/drawing/2014/main" id="{DFB25929-311D-41ED-89FD-B80189EF5F4D}"/>
              </a:ext>
            </a:extLst>
          </p:cNvPr>
          <p:cNvCxnSpPr/>
          <p:nvPr/>
        </p:nvCxnSpPr>
        <p:spPr>
          <a:xfrm>
            <a:off x="3895725" y="2724150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0" name="私网访问连接">
            <a:extLst>
              <a:ext uri="{FF2B5EF4-FFF2-40B4-BE49-F238E27FC236}">
                <a16:creationId xmlns:a16="http://schemas.microsoft.com/office/drawing/2014/main" id="{DB596A3A-EF78-441E-982C-E4DB99923691}"/>
              </a:ext>
            </a:extLst>
          </p:cNvPr>
          <p:cNvCxnSpPr/>
          <p:nvPr/>
        </p:nvCxnSpPr>
        <p:spPr>
          <a:xfrm>
            <a:off x="3895725" y="4619625"/>
            <a:ext cx="371475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1" name="私网访问连接">
            <a:extLst>
              <a:ext uri="{FF2B5EF4-FFF2-40B4-BE49-F238E27FC236}">
                <a16:creationId xmlns:a16="http://schemas.microsoft.com/office/drawing/2014/main" id="{8D1B9A00-3D74-4220-A625-F10494EEDA69}"/>
              </a:ext>
            </a:extLst>
          </p:cNvPr>
          <p:cNvCxnSpPr/>
          <p:nvPr/>
        </p:nvCxnSpPr>
        <p:spPr>
          <a:xfrm>
            <a:off x="7581900" y="2724150"/>
            <a:ext cx="6858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cxnSp>
        <p:nvCxnSpPr>
          <p:cNvPr id="62" name="私网访问连接">
            <a:extLst>
              <a:ext uri="{FF2B5EF4-FFF2-40B4-BE49-F238E27FC236}">
                <a16:creationId xmlns:a16="http://schemas.microsoft.com/office/drawing/2014/main" id="{BDC4370D-309C-429E-B3D1-ADE11BE8F666}"/>
              </a:ext>
            </a:extLst>
          </p:cNvPr>
          <p:cNvCxnSpPr/>
          <p:nvPr/>
        </p:nvCxnSpPr>
        <p:spPr>
          <a:xfrm>
            <a:off x="7581900" y="4619625"/>
            <a:ext cx="685800" cy="0"/>
          </a:xfrm>
          <a:prstGeom prst="straightConnector1">
            <a:avLst/>
          </a:prstGeom>
          <a:ln w="14288">
            <a:solidFill>
              <a:srgbClr val="2053C3"/>
            </a:solidFill>
            <a:tailEnd type="triangle" w="sm" len="sm"/>
          </a:ln>
        </p:spPr>
      </p:cxnSp>
      <p:sp>
        <p:nvSpPr>
          <p:cNvPr id="63" name="统一风格-OBS 联动影响玻璃后沿-176">
            <a:extLst>
              <a:ext uri="{FF2B5EF4-FFF2-40B4-BE49-F238E27FC236}">
                <a16:creationId xmlns:a16="http://schemas.microsoft.com/office/drawing/2014/main" id="{D2E0807C-2D5F-4C16-B766-7A55F553D3C6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prstGeom prst="roundRect">
            <a:avLst>
              <a:gd name="adj" fmla="val 173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OBS 联动影响-177">
            <a:extLst>
              <a:ext uri="{FF2B5EF4-FFF2-40B4-BE49-F238E27FC236}">
                <a16:creationId xmlns:a16="http://schemas.microsoft.com/office/drawing/2014/main" id="{384C1E2B-B227-4438-B219-E77D333F3866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prstGeom prst="roundRect">
            <a:avLst>
              <a:gd name="adj" fmla="val 173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OBS 联动影响玻璃内沿-178">
            <a:extLst>
              <a:ext uri="{FF2B5EF4-FFF2-40B4-BE49-F238E27FC236}">
                <a16:creationId xmlns:a16="http://schemas.microsoft.com/office/drawing/2014/main" id="{7E719FB4-B208-4DAD-8620-7BB69927FC6B}"/>
              </a:ext>
            </a:extLst>
          </p:cNvPr>
          <p:cNvSpPr>
            <a:spLocks noGrp="1"/>
          </p:cNvSpPr>
          <p:nvPr/>
        </p:nvSpPr>
        <p:spPr>
          <a:xfrm>
            <a:off x="622459" y="5404009"/>
            <a:ext cx="10947083" cy="469583"/>
          </a:xfrm>
          <a:prstGeom prst="roundRect">
            <a:avLst>
              <a:gd name="adj" fmla="val 156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OBS 联动影响边缘高光-179">
            <a:extLst>
              <a:ext uri="{FF2B5EF4-FFF2-40B4-BE49-F238E27FC236}">
                <a16:creationId xmlns:a16="http://schemas.microsoft.com/office/drawing/2014/main" id="{2A82B508-3F8C-49FC-9732-763ED3560DC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95300"/>
          </a:xfrm>
          <a:custGeom>
            <a:avLst/>
            <a:gdLst/>
            <a:ahLst/>
            <a:cxnLst/>
            <a:rect l="0" t="0" r="0" b="0"/>
            <a:pathLst>
              <a:path w="10972800" h="495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文字 OBS 联动影响-180">
            <a:extLst>
              <a:ext uri="{FF2B5EF4-FFF2-40B4-BE49-F238E27FC236}">
                <a16:creationId xmlns:a16="http://schemas.microsoft.com/office/drawing/2014/main" id="{1EAECB05-3F33-477D-9B9D-C1DDC4D65A70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联动影响</a:t>
            </a:r>
          </a:p>
        </p:txBody>
      </p:sp>
      <p:sp>
        <p:nvSpPr>
          <p:cNvPr id="68" name="统一风格-文字 只保留业务数据桶，可能导致镜像下载失败或偶发失败；需核验 SWR 的存储依赖。-181">
            <a:extLst>
              <a:ext uri="{FF2B5EF4-FFF2-40B4-BE49-F238E27FC236}">
                <a16:creationId xmlns:a16="http://schemas.microsoft.com/office/drawing/2014/main" id="{DFE6A202-8015-44FB-97F5-260C088B258D}"/>
              </a:ext>
            </a:extLst>
          </p:cNvPr>
          <p:cNvSpPr>
            <a:spLocks noGrp="1"/>
          </p:cNvSpPr>
          <p:nvPr/>
        </p:nvSpPr>
        <p:spPr>
          <a:xfrm>
            <a:off x="2524125" y="5505450"/>
            <a:ext cx="8839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只保留业务数据桶，可能导致镜像下载失败或偶发失败；需核验 SWR 的存储依赖。</a:t>
            </a:r>
          </a:p>
        </p:txBody>
      </p:sp>
    </p:spTree>
    <p:extLst>
      <p:ext uri="{BB962C8B-B14F-4D97-AF65-F5344CB8AC3E}">
        <p14:creationId xmlns:p14="http://schemas.microsoft.com/office/powerpoint/2010/main" val="2042101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82">
            <a:extLst>
              <a:ext uri="{FF2B5EF4-FFF2-40B4-BE49-F238E27FC236}">
                <a16:creationId xmlns:a16="http://schemas.microsoft.com/office/drawing/2014/main" id="{ED4C17BE-0148-4212-8C62-FDB918A462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SWR 权限加固：运行、构建与管理分离-183">
            <a:extLst>
              <a:ext uri="{FF2B5EF4-FFF2-40B4-BE49-F238E27FC236}">
                <a16:creationId xmlns:a16="http://schemas.microsoft.com/office/drawing/2014/main" id="{04AAC4F5-420B-447E-B827-F144AA96313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SWR 权限加固：运行、构建与管理分离</a:t>
            </a:r>
          </a:p>
        </p:txBody>
      </p:sp>
      <p:sp>
        <p:nvSpPr>
          <p:cNvPr id="3" name="统一风格-文字 让生产运行节点只拥有必要的镜像拉取权限，凭证按业务周期自动更新-184">
            <a:extLst>
              <a:ext uri="{FF2B5EF4-FFF2-40B4-BE49-F238E27FC236}">
                <a16:creationId xmlns:a16="http://schemas.microsoft.com/office/drawing/2014/main" id="{250420A9-5F97-4B98-9186-068BC8A7522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让生产运行节点只拥有必要的镜像拉取权限，凭证按业务周期自动更新</a:t>
            </a:r>
          </a:p>
        </p:txBody>
      </p:sp>
      <p:sp>
        <p:nvSpPr>
          <p:cNvPr id="4" name="统一风格-页脚分隔线-185">
            <a:extLst>
              <a:ext uri="{FF2B5EF4-FFF2-40B4-BE49-F238E27FC236}">
                <a16:creationId xmlns:a16="http://schemas.microsoft.com/office/drawing/2014/main" id="{56905C20-146A-48C1-BD94-F99E0CB7231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以下为权限治理建议。CCE 免密拉取依赖受控委托和节点池能力，网络、DNS 与权限仍需同时满足。-186">
            <a:extLst>
              <a:ext uri="{FF2B5EF4-FFF2-40B4-BE49-F238E27FC236}">
                <a16:creationId xmlns:a16="http://schemas.microsoft.com/office/drawing/2014/main" id="{FED1A447-1D92-4A58-B219-D2876F61B38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以下为权限治理建议。CCE 免密拉取依赖受控委托和节点池能力，网络、DNS 与权限仍需同时满足。</a:t>
            </a:r>
          </a:p>
        </p:txBody>
      </p:sp>
      <p:sp>
        <p:nvSpPr>
          <p:cNvPr id="6" name="统一风格-文字 41-187">
            <a:extLst>
              <a:ext uri="{FF2B5EF4-FFF2-40B4-BE49-F238E27FC236}">
                <a16:creationId xmlns:a16="http://schemas.microsoft.com/office/drawing/2014/main" id="{B824B059-7693-4F21-8EB3-335708E4BF4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7" name="统一风格-可编辑配置表玻璃后沿-188">
            <a:extLst>
              <a:ext uri="{FF2B5EF4-FFF2-40B4-BE49-F238E27FC236}">
                <a16:creationId xmlns:a16="http://schemas.microsoft.com/office/drawing/2014/main" id="{FFB6BE29-A2DF-4990-B4AF-DAF6FA899897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89">
            <a:extLst>
              <a:ext uri="{FF2B5EF4-FFF2-40B4-BE49-F238E27FC236}">
                <a16:creationId xmlns:a16="http://schemas.microsoft.com/office/drawing/2014/main" id="{9855E2C0-BB16-47D7-86E2-E6E74186DFA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190">
            <a:extLst>
              <a:ext uri="{FF2B5EF4-FFF2-40B4-BE49-F238E27FC236}">
                <a16:creationId xmlns:a16="http://schemas.microsoft.com/office/drawing/2014/main" id="{921703DD-EEE3-4E6E-9BBC-DF1A4F720350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191">
            <a:extLst>
              <a:ext uri="{FF2B5EF4-FFF2-40B4-BE49-F238E27FC236}">
                <a16:creationId xmlns:a16="http://schemas.microsoft.com/office/drawing/2014/main" id="{570A6BBE-2C8F-4C9B-A355-0C24DA559A25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F0D099-8FF3-4DB0-880E-653422ADF54D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使用主体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建议权限范围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运行与变更注意事项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生产节点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仅下载已批准仓库中的镜像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仅具备获取拉取凭证所需权限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拉取权限不能顺带包含推送、删除或管理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新增节点也需验证网络与授权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构建流水线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仅向批准组织 / 仓库推送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按需读取基础镜像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与生产运行身份分离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凭证不得进入源码、构建日志或镜像层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权限管理员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管理仓库、共享与授权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删除等高风险操作单独控制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与日常拉取账号分离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按变更流程留存审批与操作记录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登录与凭证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优先临时凭证并自动更新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按所用 IAM 版本核验授权方式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提前验证凭证续期和过期后拒绝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增强型指令不能套用旧本地授权逻辑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CCE 受控免密拉取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按版本为节点池配置相应委托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仅授予仓库下载及凭证获取权限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免密不等于免授权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扩容、重建节点与委托变更后重新验证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1297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192">
            <a:extLst>
              <a:ext uri="{FF2B5EF4-FFF2-40B4-BE49-F238E27FC236}">
                <a16:creationId xmlns:a16="http://schemas.microsoft.com/office/drawing/2014/main" id="{DD1F5CFF-2298-4B4F-8DF8-2EDF5ACE93B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安全通道加固：依赖清点与误封防范-193">
            <a:extLst>
              <a:ext uri="{FF2B5EF4-FFF2-40B4-BE49-F238E27FC236}">
                <a16:creationId xmlns:a16="http://schemas.microsoft.com/office/drawing/2014/main" id="{BCBE6B8F-0299-4521-B6F5-597F6C4E987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安全通道加固：依赖清点与误封防范</a:t>
            </a:r>
          </a:p>
        </p:txBody>
      </p:sp>
      <p:sp>
        <p:nvSpPr>
          <p:cNvPr id="3" name="统一风格-文字 先确认谁通过什么通道访问哪些资源，再分批收紧出站与资源策略-194">
            <a:extLst>
              <a:ext uri="{FF2B5EF4-FFF2-40B4-BE49-F238E27FC236}">
                <a16:creationId xmlns:a16="http://schemas.microsoft.com/office/drawing/2014/main" id="{5B24D839-E89D-4925-9AFE-5885D699BDE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先确认谁通过什么通道访问哪些资源，再分批收紧出站与资源策略</a:t>
            </a:r>
          </a:p>
        </p:txBody>
      </p:sp>
      <p:sp>
        <p:nvSpPr>
          <p:cNvPr id="4" name="统一风格-页脚分隔线-195">
            <a:extLst>
              <a:ext uri="{FF2B5EF4-FFF2-40B4-BE49-F238E27FC236}">
                <a16:creationId xmlns:a16="http://schemas.microsoft.com/office/drawing/2014/main" id="{C02FC450-037E-4598-8E25-A47DA5079A2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禁止用全量放开 OBS、长期管理员凭证或取消证书校验解决访问失败，先定位实际拒绝发生的控制层。-196">
            <a:extLst>
              <a:ext uri="{FF2B5EF4-FFF2-40B4-BE49-F238E27FC236}">
                <a16:creationId xmlns:a16="http://schemas.microsoft.com/office/drawing/2014/main" id="{68D94D63-65AF-4393-B540-8F20FDED88C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禁止用全量放开 OBS、长期管理员凭证或取消证书校验解决访问失败，先定位实际拒绝发生的控制层。</a:t>
            </a:r>
          </a:p>
        </p:txBody>
      </p:sp>
      <p:sp>
        <p:nvSpPr>
          <p:cNvPr id="6" name="统一风格-文字 42-197">
            <a:extLst>
              <a:ext uri="{FF2B5EF4-FFF2-40B4-BE49-F238E27FC236}">
                <a16:creationId xmlns:a16="http://schemas.microsoft.com/office/drawing/2014/main" id="{77DC7A86-3466-475D-A996-F2270ACC86B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7" name="统一风格-可编辑配置表玻璃后沿-198">
            <a:extLst>
              <a:ext uri="{FF2B5EF4-FFF2-40B4-BE49-F238E27FC236}">
                <a16:creationId xmlns:a16="http://schemas.microsoft.com/office/drawing/2014/main" id="{4B9A10D6-D9D0-4336-B4F7-FCB1E2AFAC2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199">
            <a:extLst>
              <a:ext uri="{FF2B5EF4-FFF2-40B4-BE49-F238E27FC236}">
                <a16:creationId xmlns:a16="http://schemas.microsoft.com/office/drawing/2014/main" id="{23A54405-646B-4E72-B227-E2E6647C280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200">
            <a:extLst>
              <a:ext uri="{FF2B5EF4-FFF2-40B4-BE49-F238E27FC236}">
                <a16:creationId xmlns:a16="http://schemas.microsoft.com/office/drawing/2014/main" id="{6BF0EB8F-88B4-4A57-A2C4-8F40A9AE242D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201">
            <a:extLst>
              <a:ext uri="{FF2B5EF4-FFF2-40B4-BE49-F238E27FC236}">
                <a16:creationId xmlns:a16="http://schemas.microsoft.com/office/drawing/2014/main" id="{5BE3B847-2E05-4EF4-89EC-03A83AA1A915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A2C5F60-6855-4205-B345-3C1FEA0F9E16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常见问题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加固与上线建议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 与服务地址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自定义 DNS 缺少私有解析或转发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只放行一个旧 IP，服务变更后失败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使用对应 Region 的受控 DNS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记录解析与路径，避免长期写死 hosts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端点策略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保留默认 FullAccess 导致范围过大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只允许业务桶又误封 SWR 镜像存储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以资源和操作最小化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加入已确认的业务依赖与 SWR 必要存储桶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桶来源限制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 Deny 阻断管理员、备份或云服务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只测一个账号，遗漏真实委托主体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核对所有业务身份与云服务委托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只设计必要例外，并验证受限来源拒绝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 接入与凭证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终端节点 / DNS 误删或凭证过期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缓存镜像掩盖新节点拉取失败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保护接入配套资源，自动续期凭证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使用未缓存镜像验证扩容和恢复流程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发布与证据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访问恢复后扩大到任意资源、任意来源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未经验证就宣称经过 CFW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 端点策略配置后等待 10 分钟再测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分批发布，保留前态、测试与命中证据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2011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与安全加固-202">
            <a:extLst>
              <a:ext uri="{FF2B5EF4-FFF2-40B4-BE49-F238E27FC236}">
                <a16:creationId xmlns:a16="http://schemas.microsoft.com/office/drawing/2014/main" id="{7FDFFD47-E3FA-4AF1-8BCE-50C75774150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OBS、SWR 加固：正反向访问验收-203">
            <a:extLst>
              <a:ext uri="{FF2B5EF4-FFF2-40B4-BE49-F238E27FC236}">
                <a16:creationId xmlns:a16="http://schemas.microsoft.com/office/drawing/2014/main" id="{C22C0099-D723-4BB6-9B3E-2557D83B241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OBS、SWR 加固：正反向访问验收</a:t>
            </a:r>
          </a:p>
        </p:txBody>
      </p:sp>
      <p:sp>
        <p:nvSpPr>
          <p:cNvPr id="3" name="统一风格-文字 分别证明批准访问可用、越权访问受限，以及凭证与故障恢复正常-204">
            <a:extLst>
              <a:ext uri="{FF2B5EF4-FFF2-40B4-BE49-F238E27FC236}">
                <a16:creationId xmlns:a16="http://schemas.microsoft.com/office/drawing/2014/main" id="{61270459-B45F-41B8-AE53-4DF232EC5B4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分别证明批准访问可用、越权访问受限，以及凭证与故障恢复正常</a:t>
            </a:r>
          </a:p>
        </p:txBody>
      </p:sp>
      <p:sp>
        <p:nvSpPr>
          <p:cNvPr id="4" name="统一风格-页脚分隔线-205">
            <a:extLst>
              <a:ext uri="{FF2B5EF4-FFF2-40B4-BE49-F238E27FC236}">
                <a16:creationId xmlns:a16="http://schemas.microsoft.com/office/drawing/2014/main" id="{582F26BF-68B0-4D2D-9CC3-D8182186CFD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按实际开通的日志能力留证，记录时间、身份、VPC / 端点、资源、操作和请求标识；CFW 覆盖另按实际路径证明。-206">
            <a:extLst>
              <a:ext uri="{FF2B5EF4-FFF2-40B4-BE49-F238E27FC236}">
                <a16:creationId xmlns:a16="http://schemas.microsoft.com/office/drawing/2014/main" id="{89229EF4-678C-4F3B-A996-A94E70BFBAA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按实际开通的日志能力留证，记录时间、身份、VPC / 端点、资源、操作和请求标识；CFW 覆盖另按实际路径证明。</a:t>
            </a:r>
          </a:p>
        </p:txBody>
      </p:sp>
      <p:sp>
        <p:nvSpPr>
          <p:cNvPr id="6" name="统一风格-文字 43-207">
            <a:extLst>
              <a:ext uri="{FF2B5EF4-FFF2-40B4-BE49-F238E27FC236}">
                <a16:creationId xmlns:a16="http://schemas.microsoft.com/office/drawing/2014/main" id="{5FC4C49E-8299-4300-9B84-5BF592F37A2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7" name="统一风格-可编辑配置表玻璃后沿-208">
            <a:extLst>
              <a:ext uri="{FF2B5EF4-FFF2-40B4-BE49-F238E27FC236}">
                <a16:creationId xmlns:a16="http://schemas.microsoft.com/office/drawing/2014/main" id="{D844A591-C34D-4A94-86AC-AEA316D7011C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209">
            <a:extLst>
              <a:ext uri="{FF2B5EF4-FFF2-40B4-BE49-F238E27FC236}">
                <a16:creationId xmlns:a16="http://schemas.microsoft.com/office/drawing/2014/main" id="{EA45B958-E83A-4593-A886-BCA8F46ADD07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210">
            <a:extLst>
              <a:ext uri="{FF2B5EF4-FFF2-40B4-BE49-F238E27FC236}">
                <a16:creationId xmlns:a16="http://schemas.microsoft.com/office/drawing/2014/main" id="{D7A2BEF0-A755-4862-A93B-70717F0375A8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211">
            <a:extLst>
              <a:ext uri="{FF2B5EF4-FFF2-40B4-BE49-F238E27FC236}">
                <a16:creationId xmlns:a16="http://schemas.microsoft.com/office/drawing/2014/main" id="{683DB9F8-8BE6-47E5-9927-C8A50D7E7B9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063ED7-3131-4825-8E36-0F09A5183F1F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验证场景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建议保留的证据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OBS：批准</a:t>
                      </a:r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VPC、身份与对象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575" b="0" dirty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HTTPS </a:t>
                      </a:r>
                      <a:r>
                        <a:rPr sz="1575" b="0" dirty="0" err="1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执行允许的读取</a:t>
                      </a:r>
                      <a:endParaRPr sz="1575" b="0" dirty="0">
                        <a:solidFill>
                          <a:srgbClr val="16335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返回内容符合业务预期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实际请求与响应、资源路径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身份、VPC / 端点与请求标识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OBS：其他 VPC / 公网来源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或本 VPC 访问未批准的桶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被来源或端点策略拒绝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不能通过备用路径绕过限制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拒绝结果与命中策略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核对真实来源和实际访问通道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OBS：只读身份执行上传 / 删除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或使用 HTTP 访问受限桶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未批准操作被拒绝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 HTTPS 请求被拒绝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读写权限、HTTPS 条件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对应访问日志或已启用的数据审计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SWR：生产身份拉取未缓存镜像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再尝试推送或访问未授权仓库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完整镜像层下载成功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未批准推送与仓库访问被拒绝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完整拉取结果、仓库与镜像标识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认证和镜像层依赖均已验证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凭证更新与新节点恢复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并验证策略回退流程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更新后业务持续可用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过期凭证拒绝，扩容节点可拉取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续期结果、新节点部署记录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配置前态、回退条件和复核记录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827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文-02  网络互联方案">
            <a:extLst>
              <a:ext uri="{FF2B5EF4-FFF2-40B4-BE49-F238E27FC236}">
                <a16:creationId xmlns:a16="http://schemas.microsoft.com/office/drawing/2014/main" id="{EE9D6F3F-53E7-4B90-B8E1-F0B6707A326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案例：跨 Region 的 VPC 互联-484">
            <a:extLst>
              <a:ext uri="{FF2B5EF4-FFF2-40B4-BE49-F238E27FC236}">
                <a16:creationId xmlns:a16="http://schemas.microsoft.com/office/drawing/2014/main" id="{42FCCCAB-DEA9-4C41-B667-335D49B8456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中心网络案例：跨 Region 的 VPC 互联</a:t>
            </a:r>
          </a:p>
        </p:txBody>
      </p:sp>
      <p:sp>
        <p:nvSpPr>
          <p:cNvPr id="3" name="统一风格-文字 各区域的 VPC 接入本地 ER，中心网络连接这些 ER-485">
            <a:extLst>
              <a:ext uri="{FF2B5EF4-FFF2-40B4-BE49-F238E27FC236}">
                <a16:creationId xmlns:a16="http://schemas.microsoft.com/office/drawing/2014/main" id="{F701D587-8205-40BA-BC97-905703E72FE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各区域的 VPC 接入本地 ER，中心网络连接这些 ER</a:t>
            </a:r>
          </a:p>
        </p:txBody>
      </p:sp>
      <p:cxnSp>
        <p:nvCxnSpPr>
          <p:cNvPr id="4" name="网络连接-42">
            <a:extLst>
              <a:ext uri="{FF2B5EF4-FFF2-40B4-BE49-F238E27FC236}">
                <a16:creationId xmlns:a16="http://schemas.microsoft.com/office/drawing/2014/main" id="{3700E356-6189-4CFB-B6BD-CA2379AA6D15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本例使用中心网络模式。它与云连接实例直接加载 VPC 的模式不同。-486">
            <a:extLst>
              <a:ext uri="{FF2B5EF4-FFF2-40B4-BE49-F238E27FC236}">
                <a16:creationId xmlns:a16="http://schemas.microsoft.com/office/drawing/2014/main" id="{71B08EC7-E56A-4C8A-BB37-E3CEE7BFA97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本例使用中心网络模式。它与云连接实例直接加载 VPC 的模式不同。</a:t>
            </a:r>
          </a:p>
        </p:txBody>
      </p:sp>
      <p:sp>
        <p:nvSpPr>
          <p:cNvPr id="6" name="正文-27">
            <a:extLst>
              <a:ext uri="{FF2B5EF4-FFF2-40B4-BE49-F238E27FC236}">
                <a16:creationId xmlns:a16="http://schemas.microsoft.com/office/drawing/2014/main" id="{FF0EAE09-DEFA-47CC-AA2C-AE9470B96EA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7" name="统一风格-Region A玻璃后沿-488">
            <a:extLst>
              <a:ext uri="{FF2B5EF4-FFF2-40B4-BE49-F238E27FC236}">
                <a16:creationId xmlns:a16="http://schemas.microsoft.com/office/drawing/2014/main" id="{40D23C19-62C6-499F-9566-ABD025DADB8D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Region A-489">
            <a:extLst>
              <a:ext uri="{FF2B5EF4-FFF2-40B4-BE49-F238E27FC236}">
                <a16:creationId xmlns:a16="http://schemas.microsoft.com/office/drawing/2014/main" id="{21412901-4798-4DE5-A542-42D3C62A3586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Region A玻璃内沿-490">
            <a:extLst>
              <a:ext uri="{FF2B5EF4-FFF2-40B4-BE49-F238E27FC236}">
                <a16:creationId xmlns:a16="http://schemas.microsoft.com/office/drawing/2014/main" id="{F61FC51D-CD5C-45A9-B178-A97BB79F2014}"/>
              </a:ext>
            </a:extLst>
          </p:cNvPr>
          <p:cNvSpPr>
            <a:spLocks noGrp="1"/>
          </p:cNvSpPr>
          <p:nvPr/>
        </p:nvSpPr>
        <p:spPr>
          <a:xfrm>
            <a:off x="622459" y="2136934"/>
            <a:ext cx="3527108" cy="3050858"/>
          </a:xfrm>
          <a:prstGeom prst="roundRect">
            <a:avLst>
              <a:gd name="adj" fmla="val 240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Region A边缘高光-491">
            <a:extLst>
              <a:ext uri="{FF2B5EF4-FFF2-40B4-BE49-F238E27FC236}">
                <a16:creationId xmlns:a16="http://schemas.microsoft.com/office/drawing/2014/main" id="{45858E0D-02FC-4EFC-8230-FFECC7180547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3552825" cy="3076575"/>
          </a:xfrm>
          <a:custGeom>
            <a:avLst/>
            <a:gdLst/>
            <a:ahLst/>
            <a:cxnLst/>
            <a:rect l="0" t="0" r="0" b="0"/>
            <a:pathLst>
              <a:path w="3552825" h="3076575">
                <a:moveTo>
                  <a:pt x="95250" y="9525"/>
                </a:moveTo>
                <a:lnTo>
                  <a:pt x="3457575" y="9525"/>
                </a:lnTo>
                <a:cubicBezTo>
                  <a:pt x="3505200" y="9525"/>
                  <a:pt x="3543300" y="47625"/>
                  <a:pt x="3543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Region A-492">
            <a:extLst>
              <a:ext uri="{FF2B5EF4-FFF2-40B4-BE49-F238E27FC236}">
                <a16:creationId xmlns:a16="http://schemas.microsoft.com/office/drawing/2014/main" id="{4B3A9CB4-F29D-4493-BB87-9E0CB3B98418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31718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A</a:t>
            </a:r>
          </a:p>
        </p:txBody>
      </p:sp>
      <p:sp>
        <p:nvSpPr>
          <p:cNvPr id="12" name="统一风格-业务 VPC玻璃后沿-493">
            <a:extLst>
              <a:ext uri="{FF2B5EF4-FFF2-40B4-BE49-F238E27FC236}">
                <a16:creationId xmlns:a16="http://schemas.microsoft.com/office/drawing/2014/main" id="{6218D1A6-7E95-4792-A80D-F0F873B1E95E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统一风格-业务 VPC-494">
            <a:extLst>
              <a:ext uri="{FF2B5EF4-FFF2-40B4-BE49-F238E27FC236}">
                <a16:creationId xmlns:a16="http://schemas.microsoft.com/office/drawing/2014/main" id="{0023C179-22FE-4DF7-B4F6-A7DA4D793A02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业务 VPC玻璃内沿-495">
            <a:extLst>
              <a:ext uri="{FF2B5EF4-FFF2-40B4-BE49-F238E27FC236}">
                <a16:creationId xmlns:a16="http://schemas.microsoft.com/office/drawing/2014/main" id="{CA160DA3-5008-411A-8952-F2AE4F4E1F11}"/>
              </a:ext>
            </a:extLst>
          </p:cNvPr>
          <p:cNvSpPr>
            <a:spLocks noGrp="1"/>
          </p:cNvSpPr>
          <p:nvPr/>
        </p:nvSpPr>
        <p:spPr>
          <a:xfrm>
            <a:off x="812959" y="28322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业务 VPC透光反射面-496">
            <a:extLst>
              <a:ext uri="{FF2B5EF4-FFF2-40B4-BE49-F238E27FC236}">
                <a16:creationId xmlns:a16="http://schemas.microsoft.com/office/drawing/2014/main" id="{33678017-3E75-4525-ABCD-E2A97A4524A7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业务 VPC边缘高光-497">
            <a:extLst>
              <a:ext uri="{FF2B5EF4-FFF2-40B4-BE49-F238E27FC236}">
                <a16:creationId xmlns:a16="http://schemas.microsoft.com/office/drawing/2014/main" id="{3C222CB9-4D88-46ED-AE64-0C40225EB1C2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cloud VPC 云轮廓-498">
            <a:extLst>
              <a:ext uri="{FF2B5EF4-FFF2-40B4-BE49-F238E27FC236}">
                <a16:creationId xmlns:a16="http://schemas.microsoft.com/office/drawing/2014/main" id="{4818EC08-DB6A-4A4B-ABB7-0455BB2794AE}"/>
              </a:ext>
            </a:extLst>
          </p:cNvPr>
          <p:cNvSpPr>
            <a:spLocks noGrp="1"/>
          </p:cNvSpPr>
          <p:nvPr/>
        </p:nvSpPr>
        <p:spPr>
          <a:xfrm>
            <a:off x="952500" y="30432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文字 业务 VPC-499">
            <a:extLst>
              <a:ext uri="{FF2B5EF4-FFF2-40B4-BE49-F238E27FC236}">
                <a16:creationId xmlns:a16="http://schemas.microsoft.com/office/drawing/2014/main" id="{6A1B37F8-FEA9-48D0-AF06-92CEA2411750}"/>
              </a:ext>
            </a:extLst>
          </p:cNvPr>
          <p:cNvSpPr>
            <a:spLocks noGrp="1"/>
          </p:cNvSpPr>
          <p:nvPr/>
        </p:nvSpPr>
        <p:spPr>
          <a:xfrm>
            <a:off x="1524000" y="29622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sp>
        <p:nvSpPr>
          <p:cNvPr id="19" name="统一风格-文字 10.90.0.0/16-500">
            <a:extLst>
              <a:ext uri="{FF2B5EF4-FFF2-40B4-BE49-F238E27FC236}">
                <a16:creationId xmlns:a16="http://schemas.microsoft.com/office/drawing/2014/main" id="{44B8D1AB-6796-40B3-8EEC-BC4FD2F5BC35}"/>
              </a:ext>
            </a:extLst>
          </p:cNvPr>
          <p:cNvSpPr>
            <a:spLocks noGrp="1"/>
          </p:cNvSpPr>
          <p:nvPr/>
        </p:nvSpPr>
        <p:spPr>
          <a:xfrm>
            <a:off x="1524000" y="33147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10.90.0.0/16</a:t>
            </a:r>
          </a:p>
        </p:txBody>
      </p:sp>
      <p:sp>
        <p:nvSpPr>
          <p:cNvPr id="20" name="统一风格-ER-A玻璃后沿-501">
            <a:extLst>
              <a:ext uri="{FF2B5EF4-FFF2-40B4-BE49-F238E27FC236}">
                <a16:creationId xmlns:a16="http://schemas.microsoft.com/office/drawing/2014/main" id="{908F6F75-5D0D-4313-B8BB-DA4A89D9046A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统一风格-ER-A-502">
            <a:extLst>
              <a:ext uri="{FF2B5EF4-FFF2-40B4-BE49-F238E27FC236}">
                <a16:creationId xmlns:a16="http://schemas.microsoft.com/office/drawing/2014/main" id="{58ACE5AF-408D-4DC8-B23F-09C9DBA69CCB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ER-A玻璃内沿-503">
            <a:extLst>
              <a:ext uri="{FF2B5EF4-FFF2-40B4-BE49-F238E27FC236}">
                <a16:creationId xmlns:a16="http://schemas.microsoft.com/office/drawing/2014/main" id="{DA466403-40FE-43E2-B99D-540EBFFB8516}"/>
              </a:ext>
            </a:extLst>
          </p:cNvPr>
          <p:cNvSpPr>
            <a:spLocks noGrp="1"/>
          </p:cNvSpPr>
          <p:nvPr/>
        </p:nvSpPr>
        <p:spPr>
          <a:xfrm>
            <a:off x="812959" y="41276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ER-A透光反射面-504">
            <a:extLst>
              <a:ext uri="{FF2B5EF4-FFF2-40B4-BE49-F238E27FC236}">
                <a16:creationId xmlns:a16="http://schemas.microsoft.com/office/drawing/2014/main" id="{2635C7A4-03A9-4DFE-BD83-662E297C4D14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ER-A边缘高光-505">
            <a:extLst>
              <a:ext uri="{FF2B5EF4-FFF2-40B4-BE49-F238E27FC236}">
                <a16:creationId xmlns:a16="http://schemas.microsoft.com/office/drawing/2014/main" id="{44E3AB35-7F50-4B68-B12D-3E5C46F8844F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router ER 路由器外形-506">
            <a:extLst>
              <a:ext uri="{FF2B5EF4-FFF2-40B4-BE49-F238E27FC236}">
                <a16:creationId xmlns:a16="http://schemas.microsoft.com/office/drawing/2014/main" id="{90DFA13F-DA71-408E-A61A-A88C3834CA96}"/>
              </a:ext>
            </a:extLst>
          </p:cNvPr>
          <p:cNvSpPr>
            <a:spLocks noGrp="1"/>
          </p:cNvSpPr>
          <p:nvPr/>
        </p:nvSpPr>
        <p:spPr>
          <a:xfrm>
            <a:off x="952500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router ER 四向路由-507">
            <a:extLst>
              <a:ext uri="{FF2B5EF4-FFF2-40B4-BE49-F238E27FC236}">
                <a16:creationId xmlns:a16="http://schemas.microsoft.com/office/drawing/2014/main" id="{EC6014C7-0855-436C-9E50-CC040DA79C0F}"/>
              </a:ext>
            </a:extLst>
          </p:cNvPr>
          <p:cNvSpPr>
            <a:spLocks noGrp="1"/>
          </p:cNvSpPr>
          <p:nvPr/>
        </p:nvSpPr>
        <p:spPr>
          <a:xfrm>
            <a:off x="952500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文字 ER-A-508">
            <a:extLst>
              <a:ext uri="{FF2B5EF4-FFF2-40B4-BE49-F238E27FC236}">
                <a16:creationId xmlns:a16="http://schemas.microsoft.com/office/drawing/2014/main" id="{7282DE31-AF86-441F-AEB3-535AAD4E0185}"/>
              </a:ext>
            </a:extLst>
          </p:cNvPr>
          <p:cNvSpPr>
            <a:spLocks noGrp="1"/>
          </p:cNvSpPr>
          <p:nvPr/>
        </p:nvSpPr>
        <p:spPr>
          <a:xfrm>
            <a:off x="1524000" y="42576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ER-A</a:t>
            </a:r>
          </a:p>
        </p:txBody>
      </p:sp>
      <p:sp>
        <p:nvSpPr>
          <p:cNvPr id="28" name="统一风格-文字 本区域企业路由器-509">
            <a:extLst>
              <a:ext uri="{FF2B5EF4-FFF2-40B4-BE49-F238E27FC236}">
                <a16:creationId xmlns:a16="http://schemas.microsoft.com/office/drawing/2014/main" id="{5095690D-AA7D-4A0D-A090-EC346A6305A1}"/>
              </a:ext>
            </a:extLst>
          </p:cNvPr>
          <p:cNvSpPr>
            <a:spLocks noGrp="1"/>
          </p:cNvSpPr>
          <p:nvPr/>
        </p:nvSpPr>
        <p:spPr>
          <a:xfrm>
            <a:off x="1524000" y="46101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本区域企业路由器</a:t>
            </a:r>
          </a:p>
        </p:txBody>
      </p:sp>
      <p:cxnSp>
        <p:nvCxnSpPr>
          <p:cNvPr id="29" name="网络连接-43">
            <a:extLst>
              <a:ext uri="{FF2B5EF4-FFF2-40B4-BE49-F238E27FC236}">
                <a16:creationId xmlns:a16="http://schemas.microsoft.com/office/drawing/2014/main" id="{B8BDF1F8-C37C-4892-AE6B-05EE49DFD441}"/>
              </a:ext>
            </a:extLst>
          </p:cNvPr>
          <p:cNvCxnSpPr/>
          <p:nvPr/>
        </p:nvCxnSpPr>
        <p:spPr>
          <a:xfrm>
            <a:off x="2390775" y="3695700"/>
            <a:ext cx="0" cy="41910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sp>
        <p:nvSpPr>
          <p:cNvPr id="30" name="统一风格-Region B玻璃后沿-510">
            <a:extLst>
              <a:ext uri="{FF2B5EF4-FFF2-40B4-BE49-F238E27FC236}">
                <a16:creationId xmlns:a16="http://schemas.microsoft.com/office/drawing/2014/main" id="{39875DD5-3216-4975-A1B9-01CDFFA43333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Region B-511">
            <a:extLst>
              <a:ext uri="{FF2B5EF4-FFF2-40B4-BE49-F238E27FC236}">
                <a16:creationId xmlns:a16="http://schemas.microsoft.com/office/drawing/2014/main" id="{FF42A471-2EBA-45A9-A4B3-1FAAAE3B9E4C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552825" cy="3076575"/>
          </a:xfrm>
          <a:prstGeom prst="roundRect">
            <a:avLst>
              <a:gd name="adj" fmla="val 278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Region B玻璃内沿-512">
            <a:extLst>
              <a:ext uri="{FF2B5EF4-FFF2-40B4-BE49-F238E27FC236}">
                <a16:creationId xmlns:a16="http://schemas.microsoft.com/office/drawing/2014/main" id="{130E98D8-A4EC-43C7-B3F9-4A4409FB67A9}"/>
              </a:ext>
            </a:extLst>
          </p:cNvPr>
          <p:cNvSpPr>
            <a:spLocks noGrp="1"/>
          </p:cNvSpPr>
          <p:nvPr/>
        </p:nvSpPr>
        <p:spPr>
          <a:xfrm>
            <a:off x="8042434" y="2136934"/>
            <a:ext cx="3527108" cy="3050858"/>
          </a:xfrm>
          <a:prstGeom prst="roundRect">
            <a:avLst>
              <a:gd name="adj" fmla="val 240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Region B边缘高光-513">
            <a:extLst>
              <a:ext uri="{FF2B5EF4-FFF2-40B4-BE49-F238E27FC236}">
                <a16:creationId xmlns:a16="http://schemas.microsoft.com/office/drawing/2014/main" id="{77FF3B26-4866-4617-A97D-549629956EF6}"/>
              </a:ext>
            </a:extLst>
          </p:cNvPr>
          <p:cNvSpPr>
            <a:spLocks noGrp="1"/>
          </p:cNvSpPr>
          <p:nvPr/>
        </p:nvSpPr>
        <p:spPr>
          <a:xfrm>
            <a:off x="8029575" y="2124075"/>
            <a:ext cx="3552825" cy="3076575"/>
          </a:xfrm>
          <a:custGeom>
            <a:avLst/>
            <a:gdLst/>
            <a:ahLst/>
            <a:cxnLst/>
            <a:rect l="0" t="0" r="0" b="0"/>
            <a:pathLst>
              <a:path w="3552825" h="3076575">
                <a:moveTo>
                  <a:pt x="95250" y="9525"/>
                </a:moveTo>
                <a:lnTo>
                  <a:pt x="3457575" y="9525"/>
                </a:lnTo>
                <a:cubicBezTo>
                  <a:pt x="3505200" y="9525"/>
                  <a:pt x="3543300" y="47625"/>
                  <a:pt x="3543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Region B-514">
            <a:extLst>
              <a:ext uri="{FF2B5EF4-FFF2-40B4-BE49-F238E27FC236}">
                <a16:creationId xmlns:a16="http://schemas.microsoft.com/office/drawing/2014/main" id="{7F272A5D-0579-40AF-83C7-875954891C4A}"/>
              </a:ext>
            </a:extLst>
          </p:cNvPr>
          <p:cNvSpPr>
            <a:spLocks noGrp="1"/>
          </p:cNvSpPr>
          <p:nvPr/>
        </p:nvSpPr>
        <p:spPr>
          <a:xfrm>
            <a:off x="8220075" y="2266950"/>
            <a:ext cx="31718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Region B</a:t>
            </a:r>
          </a:p>
        </p:txBody>
      </p:sp>
      <p:sp>
        <p:nvSpPr>
          <p:cNvPr id="35" name="统一风格-业务 VPC玻璃后沿-515">
            <a:extLst>
              <a:ext uri="{FF2B5EF4-FFF2-40B4-BE49-F238E27FC236}">
                <a16:creationId xmlns:a16="http://schemas.microsoft.com/office/drawing/2014/main" id="{BDB2B044-C4A4-4F38-85F6-255C8EE6B3E1}"/>
              </a:ext>
            </a:extLst>
          </p:cNvPr>
          <p:cNvSpPr>
            <a:spLocks noGrp="1"/>
          </p:cNvSpPr>
          <p:nvPr/>
        </p:nvSpPr>
        <p:spPr>
          <a:xfrm>
            <a:off x="8220075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6" name="统一风格-业务 VPC-516">
            <a:extLst>
              <a:ext uri="{FF2B5EF4-FFF2-40B4-BE49-F238E27FC236}">
                <a16:creationId xmlns:a16="http://schemas.microsoft.com/office/drawing/2014/main" id="{6940FC14-38C6-40BD-9EB9-954E65E46CC1}"/>
              </a:ext>
            </a:extLst>
          </p:cNvPr>
          <p:cNvSpPr>
            <a:spLocks noGrp="1"/>
          </p:cNvSpPr>
          <p:nvPr/>
        </p:nvSpPr>
        <p:spPr>
          <a:xfrm>
            <a:off x="8220075" y="28194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业务 VPC玻璃内沿-517">
            <a:extLst>
              <a:ext uri="{FF2B5EF4-FFF2-40B4-BE49-F238E27FC236}">
                <a16:creationId xmlns:a16="http://schemas.microsoft.com/office/drawing/2014/main" id="{4DD082BD-987E-4457-AAB2-DFD5B59ABE54}"/>
              </a:ext>
            </a:extLst>
          </p:cNvPr>
          <p:cNvSpPr>
            <a:spLocks noGrp="1"/>
          </p:cNvSpPr>
          <p:nvPr/>
        </p:nvSpPr>
        <p:spPr>
          <a:xfrm>
            <a:off x="8232934" y="28322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业务 VPC透光反射面-518">
            <a:extLst>
              <a:ext uri="{FF2B5EF4-FFF2-40B4-BE49-F238E27FC236}">
                <a16:creationId xmlns:a16="http://schemas.microsoft.com/office/drawing/2014/main" id="{4EE8AB66-871F-4B59-837B-C4CADD4DC0A5}"/>
              </a:ext>
            </a:extLst>
          </p:cNvPr>
          <p:cNvSpPr>
            <a:spLocks noGrp="1"/>
          </p:cNvSpPr>
          <p:nvPr/>
        </p:nvSpPr>
        <p:spPr>
          <a:xfrm>
            <a:off x="8239125" y="28384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业务 VPC边缘高光-519">
            <a:extLst>
              <a:ext uri="{FF2B5EF4-FFF2-40B4-BE49-F238E27FC236}">
                <a16:creationId xmlns:a16="http://schemas.microsoft.com/office/drawing/2014/main" id="{3872BB40-C128-4932-9AC8-251B2713D700}"/>
              </a:ext>
            </a:extLst>
          </p:cNvPr>
          <p:cNvSpPr>
            <a:spLocks noGrp="1"/>
          </p:cNvSpPr>
          <p:nvPr/>
        </p:nvSpPr>
        <p:spPr>
          <a:xfrm>
            <a:off x="8220075" y="28194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cloud VPC 云轮廓-520">
            <a:extLst>
              <a:ext uri="{FF2B5EF4-FFF2-40B4-BE49-F238E27FC236}">
                <a16:creationId xmlns:a16="http://schemas.microsoft.com/office/drawing/2014/main" id="{D793DCFE-14D9-4C54-B014-F786A03049EB}"/>
              </a:ext>
            </a:extLst>
          </p:cNvPr>
          <p:cNvSpPr>
            <a:spLocks noGrp="1"/>
          </p:cNvSpPr>
          <p:nvPr/>
        </p:nvSpPr>
        <p:spPr>
          <a:xfrm>
            <a:off x="8372475" y="30432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业务 VPC-521">
            <a:extLst>
              <a:ext uri="{FF2B5EF4-FFF2-40B4-BE49-F238E27FC236}">
                <a16:creationId xmlns:a16="http://schemas.microsoft.com/office/drawing/2014/main" id="{2B34C154-26AD-4C93-B4D8-357E10F5B5DB}"/>
              </a:ext>
            </a:extLst>
          </p:cNvPr>
          <p:cNvSpPr>
            <a:spLocks noGrp="1"/>
          </p:cNvSpPr>
          <p:nvPr/>
        </p:nvSpPr>
        <p:spPr>
          <a:xfrm>
            <a:off x="8943975" y="29622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sp>
        <p:nvSpPr>
          <p:cNvPr id="42" name="统一风格-文字 10.100.0.0/16-522">
            <a:extLst>
              <a:ext uri="{FF2B5EF4-FFF2-40B4-BE49-F238E27FC236}">
                <a16:creationId xmlns:a16="http://schemas.microsoft.com/office/drawing/2014/main" id="{19B568CA-3D38-4C75-B775-50718E6FDD22}"/>
              </a:ext>
            </a:extLst>
          </p:cNvPr>
          <p:cNvSpPr>
            <a:spLocks noGrp="1"/>
          </p:cNvSpPr>
          <p:nvPr/>
        </p:nvSpPr>
        <p:spPr>
          <a:xfrm>
            <a:off x="8943975" y="33147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10.100.0.0/16</a:t>
            </a:r>
          </a:p>
        </p:txBody>
      </p:sp>
      <p:sp>
        <p:nvSpPr>
          <p:cNvPr id="43" name="统一风格-ER-B玻璃后沿-523">
            <a:extLst>
              <a:ext uri="{FF2B5EF4-FFF2-40B4-BE49-F238E27FC236}">
                <a16:creationId xmlns:a16="http://schemas.microsoft.com/office/drawing/2014/main" id="{202D2F2E-E45F-449F-88DF-D2E10E372EEB}"/>
              </a:ext>
            </a:extLst>
          </p:cNvPr>
          <p:cNvSpPr>
            <a:spLocks noGrp="1"/>
          </p:cNvSpPr>
          <p:nvPr/>
        </p:nvSpPr>
        <p:spPr>
          <a:xfrm>
            <a:off x="8220075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ER-B-524">
            <a:extLst>
              <a:ext uri="{FF2B5EF4-FFF2-40B4-BE49-F238E27FC236}">
                <a16:creationId xmlns:a16="http://schemas.microsoft.com/office/drawing/2014/main" id="{BB2DA553-87C2-4AC9-A63E-109A2306320F}"/>
              </a:ext>
            </a:extLst>
          </p:cNvPr>
          <p:cNvSpPr>
            <a:spLocks noGrp="1"/>
          </p:cNvSpPr>
          <p:nvPr/>
        </p:nvSpPr>
        <p:spPr>
          <a:xfrm>
            <a:off x="8220075" y="4114800"/>
            <a:ext cx="3171825" cy="876300"/>
          </a:xfrm>
          <a:prstGeom prst="roundRect">
            <a:avLst>
              <a:gd name="adj" fmla="val 978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ER-B玻璃内沿-525">
            <a:extLst>
              <a:ext uri="{FF2B5EF4-FFF2-40B4-BE49-F238E27FC236}">
                <a16:creationId xmlns:a16="http://schemas.microsoft.com/office/drawing/2014/main" id="{B30DC168-8395-4924-B5F8-AECF5A0E7F35}"/>
              </a:ext>
            </a:extLst>
          </p:cNvPr>
          <p:cNvSpPr>
            <a:spLocks noGrp="1"/>
          </p:cNvSpPr>
          <p:nvPr/>
        </p:nvSpPr>
        <p:spPr>
          <a:xfrm>
            <a:off x="8232934" y="4127659"/>
            <a:ext cx="3146108" cy="850583"/>
          </a:xfrm>
          <a:prstGeom prst="roundRect">
            <a:avLst>
              <a:gd name="adj" fmla="val 86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ER-B透光反射面-526">
            <a:extLst>
              <a:ext uri="{FF2B5EF4-FFF2-40B4-BE49-F238E27FC236}">
                <a16:creationId xmlns:a16="http://schemas.microsoft.com/office/drawing/2014/main" id="{C908430C-BAAB-45E2-9447-72EBA69C429C}"/>
              </a:ext>
            </a:extLst>
          </p:cNvPr>
          <p:cNvSpPr>
            <a:spLocks noGrp="1"/>
          </p:cNvSpPr>
          <p:nvPr/>
        </p:nvSpPr>
        <p:spPr>
          <a:xfrm>
            <a:off x="8239125" y="4133850"/>
            <a:ext cx="3133725" cy="838200"/>
          </a:xfrm>
          <a:custGeom>
            <a:avLst/>
            <a:gdLst/>
            <a:ahLst/>
            <a:cxnLst/>
            <a:rect l="0" t="0" r="0" b="0"/>
            <a:pathLst>
              <a:path w="3133725" h="838200">
                <a:moveTo>
                  <a:pt x="76200" y="0"/>
                </a:moveTo>
                <a:lnTo>
                  <a:pt x="2005584" y="0"/>
                </a:lnTo>
                <a:lnTo>
                  <a:pt x="814769" y="838200"/>
                </a:lnTo>
                <a:lnTo>
                  <a:pt x="76200" y="838200"/>
                </a:lnTo>
                <a:cubicBezTo>
                  <a:pt x="28575" y="838200"/>
                  <a:pt x="0" y="809625"/>
                  <a:pt x="0" y="762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ER-B边缘高光-527">
            <a:extLst>
              <a:ext uri="{FF2B5EF4-FFF2-40B4-BE49-F238E27FC236}">
                <a16:creationId xmlns:a16="http://schemas.microsoft.com/office/drawing/2014/main" id="{A9BE19CE-593B-4120-B40D-F6A5743514C0}"/>
              </a:ext>
            </a:extLst>
          </p:cNvPr>
          <p:cNvSpPr>
            <a:spLocks noGrp="1"/>
          </p:cNvSpPr>
          <p:nvPr/>
        </p:nvSpPr>
        <p:spPr>
          <a:xfrm>
            <a:off x="8220075" y="4114800"/>
            <a:ext cx="3171825" cy="876300"/>
          </a:xfrm>
          <a:custGeom>
            <a:avLst/>
            <a:gdLst/>
            <a:ahLst/>
            <a:cxnLst/>
            <a:rect l="0" t="0" r="0" b="0"/>
            <a:pathLst>
              <a:path w="3171825" h="876300">
                <a:moveTo>
                  <a:pt x="95250" y="9525"/>
                </a:moveTo>
                <a:lnTo>
                  <a:pt x="3076575" y="9525"/>
                </a:lnTo>
                <a:cubicBezTo>
                  <a:pt x="3124200" y="9525"/>
                  <a:pt x="3162300" y="47625"/>
                  <a:pt x="3162300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router ER 路由器外形-528">
            <a:extLst>
              <a:ext uri="{FF2B5EF4-FFF2-40B4-BE49-F238E27FC236}">
                <a16:creationId xmlns:a16="http://schemas.microsoft.com/office/drawing/2014/main" id="{B185210A-6BA0-417D-99D5-2259255EC43C}"/>
              </a:ext>
            </a:extLst>
          </p:cNvPr>
          <p:cNvSpPr>
            <a:spLocks noGrp="1"/>
          </p:cNvSpPr>
          <p:nvPr/>
        </p:nvSpPr>
        <p:spPr>
          <a:xfrm>
            <a:off x="8372475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router ER 四向路由-529">
            <a:extLst>
              <a:ext uri="{FF2B5EF4-FFF2-40B4-BE49-F238E27FC236}">
                <a16:creationId xmlns:a16="http://schemas.microsoft.com/office/drawing/2014/main" id="{74CFB09D-194B-4F1A-A465-4D34DCB57A30}"/>
              </a:ext>
            </a:extLst>
          </p:cNvPr>
          <p:cNvSpPr>
            <a:spLocks noGrp="1"/>
          </p:cNvSpPr>
          <p:nvPr/>
        </p:nvSpPr>
        <p:spPr>
          <a:xfrm>
            <a:off x="8372475" y="4338638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706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文字 ER-B-530">
            <a:extLst>
              <a:ext uri="{FF2B5EF4-FFF2-40B4-BE49-F238E27FC236}">
                <a16:creationId xmlns:a16="http://schemas.microsoft.com/office/drawing/2014/main" id="{DE4AD6A2-55B4-48FC-BD95-20D80523D7F2}"/>
              </a:ext>
            </a:extLst>
          </p:cNvPr>
          <p:cNvSpPr>
            <a:spLocks noGrp="1"/>
          </p:cNvSpPr>
          <p:nvPr/>
        </p:nvSpPr>
        <p:spPr>
          <a:xfrm>
            <a:off x="8943975" y="4257675"/>
            <a:ext cx="2295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ER-B</a:t>
            </a:r>
          </a:p>
        </p:txBody>
      </p:sp>
      <p:sp>
        <p:nvSpPr>
          <p:cNvPr id="51" name="统一风格-文字 本区域企业路由器-531">
            <a:extLst>
              <a:ext uri="{FF2B5EF4-FFF2-40B4-BE49-F238E27FC236}">
                <a16:creationId xmlns:a16="http://schemas.microsoft.com/office/drawing/2014/main" id="{0BAAA01A-52E4-4C9C-8CE8-4288EB9FD5D0}"/>
              </a:ext>
            </a:extLst>
          </p:cNvPr>
          <p:cNvSpPr>
            <a:spLocks noGrp="1"/>
          </p:cNvSpPr>
          <p:nvPr/>
        </p:nvSpPr>
        <p:spPr>
          <a:xfrm>
            <a:off x="8943975" y="4610100"/>
            <a:ext cx="2295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本区域企业路由器</a:t>
            </a:r>
          </a:p>
        </p:txBody>
      </p:sp>
      <p:cxnSp>
        <p:nvCxnSpPr>
          <p:cNvPr id="52" name="网络连接-44">
            <a:extLst>
              <a:ext uri="{FF2B5EF4-FFF2-40B4-BE49-F238E27FC236}">
                <a16:creationId xmlns:a16="http://schemas.microsoft.com/office/drawing/2014/main" id="{3C197AA3-81FB-4451-87F5-65E735D69F24}"/>
              </a:ext>
            </a:extLst>
          </p:cNvPr>
          <p:cNvCxnSpPr/>
          <p:nvPr/>
        </p:nvCxnSpPr>
        <p:spPr>
          <a:xfrm>
            <a:off x="9810750" y="3695700"/>
            <a:ext cx="0" cy="419100"/>
          </a:xfrm>
          <a:prstGeom prst="straightConnector1">
            <a:avLst/>
          </a:prstGeom>
          <a:ln w="14288">
            <a:solidFill>
              <a:srgbClr val="2053C3"/>
            </a:solidFill>
            <a:prstDash val="solid"/>
          </a:ln>
        </p:spPr>
      </p:cxnSp>
      <p:cxnSp>
        <p:nvCxnSpPr>
          <p:cNvPr id="53" name="网络连接-45">
            <a:extLst>
              <a:ext uri="{FF2B5EF4-FFF2-40B4-BE49-F238E27FC236}">
                <a16:creationId xmlns:a16="http://schemas.microsoft.com/office/drawing/2014/main" id="{00D1AA4D-4811-4B0F-9DC9-81C0C9D82019}"/>
              </a:ext>
            </a:extLst>
          </p:cNvPr>
          <p:cNvCxnSpPr/>
          <p:nvPr/>
        </p:nvCxnSpPr>
        <p:spPr>
          <a:xfrm>
            <a:off x="3971925" y="4552950"/>
            <a:ext cx="819150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cxnSp>
        <p:nvCxnSpPr>
          <p:cNvPr id="54" name="网络连接-46">
            <a:extLst>
              <a:ext uri="{FF2B5EF4-FFF2-40B4-BE49-F238E27FC236}">
                <a16:creationId xmlns:a16="http://schemas.microsoft.com/office/drawing/2014/main" id="{781BA72C-09A9-4B1D-8504-FCC21D849BCA}"/>
              </a:ext>
            </a:extLst>
          </p:cNvPr>
          <p:cNvCxnSpPr/>
          <p:nvPr/>
        </p:nvCxnSpPr>
        <p:spPr>
          <a:xfrm>
            <a:off x="7400925" y="4552950"/>
            <a:ext cx="819150" cy="0"/>
          </a:xfrm>
          <a:prstGeom prst="straightConnector1">
            <a:avLst/>
          </a:prstGeom>
          <a:ln w="16193">
            <a:solidFill>
              <a:srgbClr val="2053C3"/>
            </a:solidFill>
            <a:prstDash val="solid"/>
          </a:ln>
        </p:spPr>
      </p:cxnSp>
      <p:sp>
        <p:nvSpPr>
          <p:cNvPr id="55" name="统一风格-CC 中心网络玻璃后沿-532">
            <a:extLst>
              <a:ext uri="{FF2B5EF4-FFF2-40B4-BE49-F238E27FC236}">
                <a16:creationId xmlns:a16="http://schemas.microsoft.com/office/drawing/2014/main" id="{296C864F-BE3D-4B2F-A273-8C5818AACD24}"/>
              </a:ext>
            </a:extLst>
          </p:cNvPr>
          <p:cNvSpPr>
            <a:spLocks noGrp="1"/>
          </p:cNvSpPr>
          <p:nvPr/>
        </p:nvSpPr>
        <p:spPr>
          <a:xfrm>
            <a:off x="4791075" y="3705225"/>
            <a:ext cx="2609850" cy="128587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6" name="统一风格-CC 中心网络-533">
            <a:extLst>
              <a:ext uri="{FF2B5EF4-FFF2-40B4-BE49-F238E27FC236}">
                <a16:creationId xmlns:a16="http://schemas.microsoft.com/office/drawing/2014/main" id="{FFF307F0-81C0-4E36-96C4-BEF8671C2F65}"/>
              </a:ext>
            </a:extLst>
          </p:cNvPr>
          <p:cNvSpPr>
            <a:spLocks noGrp="1"/>
          </p:cNvSpPr>
          <p:nvPr/>
        </p:nvSpPr>
        <p:spPr>
          <a:xfrm>
            <a:off x="4791075" y="3705225"/>
            <a:ext cx="2609850" cy="128587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CC 中心网络玻璃内沿-534">
            <a:extLst>
              <a:ext uri="{FF2B5EF4-FFF2-40B4-BE49-F238E27FC236}">
                <a16:creationId xmlns:a16="http://schemas.microsoft.com/office/drawing/2014/main" id="{D6F6F4F6-B760-4E81-9F08-30F8AA1C8A85}"/>
              </a:ext>
            </a:extLst>
          </p:cNvPr>
          <p:cNvSpPr>
            <a:spLocks noGrp="1"/>
          </p:cNvSpPr>
          <p:nvPr/>
        </p:nvSpPr>
        <p:spPr>
          <a:xfrm>
            <a:off x="4803934" y="3718084"/>
            <a:ext cx="2584133" cy="1260158"/>
          </a:xfrm>
          <a:prstGeom prst="roundRect">
            <a:avLst>
              <a:gd name="adj" fmla="val 582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CC 中心网络透光反射面-535">
            <a:extLst>
              <a:ext uri="{FF2B5EF4-FFF2-40B4-BE49-F238E27FC236}">
                <a16:creationId xmlns:a16="http://schemas.microsoft.com/office/drawing/2014/main" id="{53F27860-2007-41A5-92D7-7E1B5BDCDD2C}"/>
              </a:ext>
            </a:extLst>
          </p:cNvPr>
          <p:cNvSpPr>
            <a:spLocks noGrp="1"/>
          </p:cNvSpPr>
          <p:nvPr/>
        </p:nvSpPr>
        <p:spPr>
          <a:xfrm>
            <a:off x="4810125" y="3724275"/>
            <a:ext cx="2571750" cy="1247775"/>
          </a:xfrm>
          <a:custGeom>
            <a:avLst/>
            <a:gdLst/>
            <a:ahLst/>
            <a:cxnLst/>
            <a:rect l="0" t="0" r="0" b="0"/>
            <a:pathLst>
              <a:path w="2571750" h="1247775">
                <a:moveTo>
                  <a:pt x="76200" y="0"/>
                </a:moveTo>
                <a:lnTo>
                  <a:pt x="1645920" y="0"/>
                </a:lnTo>
                <a:lnTo>
                  <a:pt x="668655" y="1247775"/>
                </a:lnTo>
                <a:lnTo>
                  <a:pt x="76200" y="1247775"/>
                </a:lnTo>
                <a:cubicBezTo>
                  <a:pt x="28575" y="1247775"/>
                  <a:pt x="0" y="1219200"/>
                  <a:pt x="0" y="117157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CC 中心网络边缘高光-536">
            <a:extLst>
              <a:ext uri="{FF2B5EF4-FFF2-40B4-BE49-F238E27FC236}">
                <a16:creationId xmlns:a16="http://schemas.microsoft.com/office/drawing/2014/main" id="{41B89DB8-B9BC-41AB-8AED-C8E7E6865A30}"/>
              </a:ext>
            </a:extLst>
          </p:cNvPr>
          <p:cNvSpPr>
            <a:spLocks noGrp="1"/>
          </p:cNvSpPr>
          <p:nvPr/>
        </p:nvSpPr>
        <p:spPr>
          <a:xfrm>
            <a:off x="4791075" y="3705225"/>
            <a:ext cx="2609850" cy="1285875"/>
          </a:xfrm>
          <a:custGeom>
            <a:avLst/>
            <a:gdLst/>
            <a:ahLst/>
            <a:cxnLst/>
            <a:rect l="0" t="0" r="0" b="0"/>
            <a:pathLst>
              <a:path w="2609850" h="1285875">
                <a:moveTo>
                  <a:pt x="95250" y="9525"/>
                </a:moveTo>
                <a:lnTo>
                  <a:pt x="2514600" y="9525"/>
                </a:lnTo>
                <a:cubicBezTo>
                  <a:pt x="2562225" y="9525"/>
                  <a:pt x="2600325" y="47625"/>
                  <a:pt x="2600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统一互联图标 中心网络-537">
            <a:extLst>
              <a:ext uri="{FF2B5EF4-FFF2-40B4-BE49-F238E27FC236}">
                <a16:creationId xmlns:a16="http://schemas.microsoft.com/office/drawing/2014/main" id="{5B57DA4B-B4EA-4FA4-8D40-555F3839FA86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统一互联图标 区域互联-538">
            <a:extLst>
              <a:ext uri="{FF2B5EF4-FFF2-40B4-BE49-F238E27FC236}">
                <a16:creationId xmlns:a16="http://schemas.microsoft.com/office/drawing/2014/main" id="{D8A1C2AD-8B7A-43EB-B7C2-B8170ECCA526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统一互联图标 区域节点-539">
            <a:extLst>
              <a:ext uri="{FF2B5EF4-FFF2-40B4-BE49-F238E27FC236}">
                <a16:creationId xmlns:a16="http://schemas.microsoft.com/office/drawing/2014/main" id="{24FE935F-5E56-4378-A6F6-BC6CD526662B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统一互联图标 区域节点-540">
            <a:extLst>
              <a:ext uri="{FF2B5EF4-FFF2-40B4-BE49-F238E27FC236}">
                <a16:creationId xmlns:a16="http://schemas.microsoft.com/office/drawing/2014/main" id="{9D26928B-5ECB-4E07-9A85-5790FC41A56C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统一互联图标 区域节点-541">
            <a:extLst>
              <a:ext uri="{FF2B5EF4-FFF2-40B4-BE49-F238E27FC236}">
                <a16:creationId xmlns:a16="http://schemas.microsoft.com/office/drawing/2014/main" id="{60611345-123C-4F62-98DC-E481A72BFF0A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统一互联图标 区域节点-542">
            <a:extLst>
              <a:ext uri="{FF2B5EF4-FFF2-40B4-BE49-F238E27FC236}">
                <a16:creationId xmlns:a16="http://schemas.microsoft.com/office/drawing/2014/main" id="{0304E249-2954-4F2E-8B4E-C2AC41D2DEB1}"/>
              </a:ext>
            </a:extLst>
          </p:cNvPr>
          <p:cNvSpPr>
            <a:spLocks noGrp="1"/>
          </p:cNvSpPr>
          <p:nvPr/>
        </p:nvSpPr>
        <p:spPr>
          <a:xfrm>
            <a:off x="4943475" y="386715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70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文字 CC 中心网络-543">
            <a:extLst>
              <a:ext uri="{FF2B5EF4-FFF2-40B4-BE49-F238E27FC236}">
                <a16:creationId xmlns:a16="http://schemas.microsoft.com/office/drawing/2014/main" id="{F8E442AB-86C4-464D-AA1C-240D55058931}"/>
              </a:ext>
            </a:extLst>
          </p:cNvPr>
          <p:cNvSpPr>
            <a:spLocks noGrp="1"/>
          </p:cNvSpPr>
          <p:nvPr/>
        </p:nvSpPr>
        <p:spPr>
          <a:xfrm>
            <a:off x="5514975" y="3819525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</a:t>
            </a:r>
          </a:p>
        </p:txBody>
      </p:sp>
      <p:sp>
        <p:nvSpPr>
          <p:cNvPr id="67" name="统一风格-文字 ER 互联策略 华为云骨干网络-544">
            <a:extLst>
              <a:ext uri="{FF2B5EF4-FFF2-40B4-BE49-F238E27FC236}">
                <a16:creationId xmlns:a16="http://schemas.microsoft.com/office/drawing/2014/main" id="{B806CF16-9969-4EAB-910E-1D8B9FAC5C33}"/>
              </a:ext>
            </a:extLst>
          </p:cNvPr>
          <p:cNvSpPr>
            <a:spLocks noGrp="1"/>
          </p:cNvSpPr>
          <p:nvPr/>
        </p:nvSpPr>
        <p:spPr>
          <a:xfrm>
            <a:off x="4943475" y="4324350"/>
            <a:ext cx="2305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 互联策略</a:t>
            </a:r>
          </a:p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华为云骨干网络</a:t>
            </a:r>
          </a:p>
        </p:txBody>
      </p:sp>
      <p:sp>
        <p:nvSpPr>
          <p:cNvPr id="68" name="统一风格-文字 跨 Region 互联-545">
            <a:extLst>
              <a:ext uri="{FF2B5EF4-FFF2-40B4-BE49-F238E27FC236}">
                <a16:creationId xmlns:a16="http://schemas.microsoft.com/office/drawing/2014/main" id="{00DCECAD-6D76-40A2-8774-01755371867F}"/>
              </a:ext>
            </a:extLst>
          </p:cNvPr>
          <p:cNvSpPr>
            <a:spLocks noGrp="1"/>
          </p:cNvSpPr>
          <p:nvPr/>
        </p:nvSpPr>
        <p:spPr>
          <a:xfrm>
            <a:off x="4733925" y="2657475"/>
            <a:ext cx="2724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Region 互联</a:t>
            </a:r>
          </a:p>
        </p:txBody>
      </p:sp>
      <p:sp>
        <p:nvSpPr>
          <p:cNvPr id="69" name="统一风格-文字 全域互联带宽 跨区域连接带宽-546">
            <a:extLst>
              <a:ext uri="{FF2B5EF4-FFF2-40B4-BE49-F238E27FC236}">
                <a16:creationId xmlns:a16="http://schemas.microsoft.com/office/drawing/2014/main" id="{87463C0B-0756-4054-9229-9DDD25AC356D}"/>
              </a:ext>
            </a:extLst>
          </p:cNvPr>
          <p:cNvSpPr>
            <a:spLocks noGrp="1"/>
          </p:cNvSpPr>
          <p:nvPr/>
        </p:nvSpPr>
        <p:spPr>
          <a:xfrm>
            <a:off x="4686300" y="3133725"/>
            <a:ext cx="2819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全域互联带宽</a:t>
            </a:r>
          </a:p>
          <a:p>
            <a:pPr algn="ctr">
              <a:def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跨区域连接带宽</a:t>
            </a:r>
          </a:p>
        </p:txBody>
      </p:sp>
      <p:sp>
        <p:nvSpPr>
          <p:cNvPr id="70" name="统一风格-端到端路径玻璃后沿-547">
            <a:extLst>
              <a:ext uri="{FF2B5EF4-FFF2-40B4-BE49-F238E27FC236}">
                <a16:creationId xmlns:a16="http://schemas.microsoft.com/office/drawing/2014/main" id="{19B0DD61-1407-42FE-8054-32B32C7B33B9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端到端路径-548">
            <a:extLst>
              <a:ext uri="{FF2B5EF4-FFF2-40B4-BE49-F238E27FC236}">
                <a16:creationId xmlns:a16="http://schemas.microsoft.com/office/drawing/2014/main" id="{61676F54-AB4B-492A-BD4B-6E862AFA01E8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端到端路径玻璃内沿-549">
            <a:extLst>
              <a:ext uri="{FF2B5EF4-FFF2-40B4-BE49-F238E27FC236}">
                <a16:creationId xmlns:a16="http://schemas.microsoft.com/office/drawing/2014/main" id="{D62D20F0-57AC-44FF-8440-28084660882B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端到端路径边缘高光-550">
            <a:extLst>
              <a:ext uri="{FF2B5EF4-FFF2-40B4-BE49-F238E27FC236}">
                <a16:creationId xmlns:a16="http://schemas.microsoft.com/office/drawing/2014/main" id="{3502069F-D77E-4150-B2A7-94301AA03B8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文字 端到端路径-551">
            <a:extLst>
              <a:ext uri="{FF2B5EF4-FFF2-40B4-BE49-F238E27FC236}">
                <a16:creationId xmlns:a16="http://schemas.microsoft.com/office/drawing/2014/main" id="{7129F4E8-5D39-4278-A928-74FB961F7ADD}"/>
              </a:ext>
            </a:extLst>
          </p:cNvPr>
          <p:cNvSpPr>
            <a:spLocks noGrp="1"/>
          </p:cNvSpPr>
          <p:nvPr/>
        </p:nvSpPr>
        <p:spPr>
          <a:xfrm>
            <a:off x="790575" y="544830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端到端路径</a:t>
            </a:r>
          </a:p>
        </p:txBody>
      </p:sp>
      <p:sp>
        <p:nvSpPr>
          <p:cNvPr id="75" name="统一风格-文字 VPC-A 接入 ER-A，经中心网络到 ER-B，再转发至 VPC-B。-552">
            <a:extLst>
              <a:ext uri="{FF2B5EF4-FFF2-40B4-BE49-F238E27FC236}">
                <a16:creationId xmlns:a16="http://schemas.microsoft.com/office/drawing/2014/main" id="{21BB4EA9-7899-4B06-839E-065F55E50478}"/>
              </a:ext>
            </a:extLst>
          </p:cNvPr>
          <p:cNvSpPr>
            <a:spLocks noGrp="1"/>
          </p:cNvSpPr>
          <p:nvPr/>
        </p:nvSpPr>
        <p:spPr>
          <a:xfrm>
            <a:off x="2524125" y="5429250"/>
            <a:ext cx="8848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VPC-A 接入 ER-A，经中心网络到 ER-B，再转发至 VPC-B。</a:t>
            </a:r>
          </a:p>
        </p:txBody>
      </p:sp>
    </p:spTree>
    <p:extLst>
      <p:ext uri="{BB962C8B-B14F-4D97-AF65-F5344CB8AC3E}">
        <p14:creationId xmlns:p14="http://schemas.microsoft.com/office/powerpoint/2010/main" val="415627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文-02  网络互联方案">
            <a:extLst>
              <a:ext uri="{FF2B5EF4-FFF2-40B4-BE49-F238E27FC236}">
                <a16:creationId xmlns:a16="http://schemas.microsoft.com/office/drawing/2014/main" id="{D0B1E020-B444-4251-A2F2-C7A9FA6B6B1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的配置顺序-93">
            <a:extLst>
              <a:ext uri="{FF2B5EF4-FFF2-40B4-BE49-F238E27FC236}">
                <a16:creationId xmlns:a16="http://schemas.microsoft.com/office/drawing/2014/main" id="{02417E48-B69C-491A-B845-7EC248C453D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中心网络的配置顺序</a:t>
            </a:r>
          </a:p>
        </p:txBody>
      </p:sp>
      <p:sp>
        <p:nvSpPr>
          <p:cNvPr id="3" name="统一风格-文字 基础连通配置与叠加 CFW 的送检设计分开审核-94">
            <a:extLst>
              <a:ext uri="{FF2B5EF4-FFF2-40B4-BE49-F238E27FC236}">
                <a16:creationId xmlns:a16="http://schemas.microsoft.com/office/drawing/2014/main" id="{DB3FBB5C-E9A2-4CC1-9266-6D79A925907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基础连通配置与叠加 CFW 的送检设计分开审核</a:t>
            </a:r>
          </a:p>
        </p:txBody>
      </p:sp>
      <p:cxnSp>
        <p:nvCxnSpPr>
          <p:cNvPr id="4" name="知识图示连接-9">
            <a:extLst>
              <a:ext uri="{FF2B5EF4-FFF2-40B4-BE49-F238E27FC236}">
                <a16:creationId xmlns:a16="http://schemas.microsoft.com/office/drawing/2014/main" id="{C1E18FB6-3959-4AD8-8A90-9113E9408623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统一风格-文字 中心网络通过区域 ER 建立跨 Region 连接，不能直接套用云连接实例加载 VPC 的步骤。-95">
            <a:extLst>
              <a:ext uri="{FF2B5EF4-FFF2-40B4-BE49-F238E27FC236}">
                <a16:creationId xmlns:a16="http://schemas.microsoft.com/office/drawing/2014/main" id="{F3BF8A38-4AED-43CC-8C0B-38F9E4802A0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中心网络通过区域 ER 建立跨 Region 连接，不能直接套用云连接实例加载 VPC 的步骤。</a:t>
            </a:r>
          </a:p>
        </p:txBody>
      </p:sp>
      <p:sp>
        <p:nvSpPr>
          <p:cNvPr id="6" name="正文-28">
            <a:extLst>
              <a:ext uri="{FF2B5EF4-FFF2-40B4-BE49-F238E27FC236}">
                <a16:creationId xmlns:a16="http://schemas.microsoft.com/office/drawing/2014/main" id="{8DD3ACD9-44F6-41D9-A84B-E8761FFC389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7" name="统一风格-资源与接入玻璃后沿-97">
            <a:extLst>
              <a:ext uri="{FF2B5EF4-FFF2-40B4-BE49-F238E27FC236}">
                <a16:creationId xmlns:a16="http://schemas.microsoft.com/office/drawing/2014/main" id="{9F16B884-0C62-40DC-A4BA-98E229776E5B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资源与接入-98">
            <a:extLst>
              <a:ext uri="{FF2B5EF4-FFF2-40B4-BE49-F238E27FC236}">
                <a16:creationId xmlns:a16="http://schemas.microsoft.com/office/drawing/2014/main" id="{EDA2C462-2666-4DB9-BF73-63E2323CB97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资源与接入玻璃内沿-99">
            <a:extLst>
              <a:ext uri="{FF2B5EF4-FFF2-40B4-BE49-F238E27FC236}">
                <a16:creationId xmlns:a16="http://schemas.microsoft.com/office/drawing/2014/main" id="{5E249F0E-3597-44E8-8FA5-EF3D140E7893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资源与接入透光反射面-100">
            <a:extLst>
              <a:ext uri="{FF2B5EF4-FFF2-40B4-BE49-F238E27FC236}">
                <a16:creationId xmlns:a16="http://schemas.microsoft.com/office/drawing/2014/main" id="{CC2A0F29-602F-4F96-8A2A-044C06F44C54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934700" cy="581025"/>
          </a:xfrm>
          <a:custGeom>
            <a:avLst/>
            <a:gdLst/>
            <a:ahLst/>
            <a:cxnLst/>
            <a:rect l="0" t="0" r="0" b="0"/>
            <a:pathLst>
              <a:path w="10934700" h="581025">
                <a:moveTo>
                  <a:pt x="76200" y="0"/>
                </a:moveTo>
                <a:lnTo>
                  <a:pt x="6998208" y="0"/>
                </a:lnTo>
                <a:lnTo>
                  <a:pt x="2843022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资源与接入边缘高光-101">
            <a:extLst>
              <a:ext uri="{FF2B5EF4-FFF2-40B4-BE49-F238E27FC236}">
                <a16:creationId xmlns:a16="http://schemas.microsoft.com/office/drawing/2014/main" id="{1E273A3A-7711-4782-9DE6-4F0BFE8C9F7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文字 01-102">
            <a:extLst>
              <a:ext uri="{FF2B5EF4-FFF2-40B4-BE49-F238E27FC236}">
                <a16:creationId xmlns:a16="http://schemas.microsoft.com/office/drawing/2014/main" id="{A5241138-799F-4C69-9256-3BEE02CA041E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统一风格-文字 资源与接入-103">
            <a:extLst>
              <a:ext uri="{FF2B5EF4-FFF2-40B4-BE49-F238E27FC236}">
                <a16:creationId xmlns:a16="http://schemas.microsoft.com/office/drawing/2014/main" id="{C6B2A506-641B-4691-B5EF-29822E3E16B5}"/>
              </a:ext>
            </a:extLst>
          </p:cNvPr>
          <p:cNvSpPr>
            <a:spLocks noGrp="1"/>
          </p:cNvSpPr>
          <p:nvPr/>
        </p:nvSpPr>
        <p:spPr>
          <a:xfrm>
            <a:off x="1552575" y="2219325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资源与接入</a:t>
            </a:r>
          </a:p>
        </p:txBody>
      </p:sp>
      <p:sp>
        <p:nvSpPr>
          <p:cNvPr id="14" name="统一风格-文字 两端创建 VPC、ECS 和 ER，VPC 连接接入本区域 ER。-104">
            <a:extLst>
              <a:ext uri="{FF2B5EF4-FFF2-40B4-BE49-F238E27FC236}">
                <a16:creationId xmlns:a16="http://schemas.microsoft.com/office/drawing/2014/main" id="{0ECE4819-259A-42D0-9E52-6CDBE86F8AEC}"/>
              </a:ext>
            </a:extLst>
          </p:cNvPr>
          <p:cNvSpPr>
            <a:spLocks noGrp="1"/>
          </p:cNvSpPr>
          <p:nvPr/>
        </p:nvSpPr>
        <p:spPr>
          <a:xfrm>
            <a:off x="4238625" y="2190750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两端创建 VPC、ECS 和 ER，VPC 连接接入本区域 ER。</a:t>
            </a:r>
          </a:p>
        </p:txBody>
      </p:sp>
      <p:sp>
        <p:nvSpPr>
          <p:cNvPr id="15" name="统一风格-默认关联与传播玻璃后沿-105">
            <a:extLst>
              <a:ext uri="{FF2B5EF4-FFF2-40B4-BE49-F238E27FC236}">
                <a16:creationId xmlns:a16="http://schemas.microsoft.com/office/drawing/2014/main" id="{01302C66-ED2D-471E-9246-76BA589AF3A0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默认关联与传播-106">
            <a:extLst>
              <a:ext uri="{FF2B5EF4-FFF2-40B4-BE49-F238E27FC236}">
                <a16:creationId xmlns:a16="http://schemas.microsoft.com/office/drawing/2014/main" id="{2FDA369D-819C-4025-8F3E-44E065D65B11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默认关联与传播玻璃内沿-107">
            <a:extLst>
              <a:ext uri="{FF2B5EF4-FFF2-40B4-BE49-F238E27FC236}">
                <a16:creationId xmlns:a16="http://schemas.microsoft.com/office/drawing/2014/main" id="{296D78D7-A181-4BDD-BE8F-39CC6545DE9B}"/>
              </a:ext>
            </a:extLst>
          </p:cNvPr>
          <p:cNvSpPr>
            <a:spLocks noGrp="1"/>
          </p:cNvSpPr>
          <p:nvPr/>
        </p:nvSpPr>
        <p:spPr>
          <a:xfrm>
            <a:off x="622459" y="2879884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默认关联与传播边缘高光-108">
            <a:extLst>
              <a:ext uri="{FF2B5EF4-FFF2-40B4-BE49-F238E27FC236}">
                <a16:creationId xmlns:a16="http://schemas.microsoft.com/office/drawing/2014/main" id="{0E284FC1-3F1E-4697-9859-94A98DD4E89C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文字 02-109">
            <a:extLst>
              <a:ext uri="{FF2B5EF4-FFF2-40B4-BE49-F238E27FC236}">
                <a16:creationId xmlns:a16="http://schemas.microsoft.com/office/drawing/2014/main" id="{5F8A701F-057B-43FC-80F4-C185488381D0}"/>
              </a:ext>
            </a:extLst>
          </p:cNvPr>
          <p:cNvSpPr>
            <a:spLocks noGrp="1"/>
          </p:cNvSpPr>
          <p:nvPr/>
        </p:nvSpPr>
        <p:spPr>
          <a:xfrm>
            <a:off x="800100" y="29622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统一风格-文字 默认关联与传播-110">
            <a:extLst>
              <a:ext uri="{FF2B5EF4-FFF2-40B4-BE49-F238E27FC236}">
                <a16:creationId xmlns:a16="http://schemas.microsoft.com/office/drawing/2014/main" id="{B749EBB2-FD8A-4434-ABF5-1A9D4D15D56A}"/>
              </a:ext>
            </a:extLst>
          </p:cNvPr>
          <p:cNvSpPr>
            <a:spLocks noGrp="1"/>
          </p:cNvSpPr>
          <p:nvPr/>
        </p:nvSpPr>
        <p:spPr>
          <a:xfrm>
            <a:off x="1552575" y="2971800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默认关联与传播</a:t>
            </a:r>
          </a:p>
        </p:txBody>
      </p:sp>
      <p:sp>
        <p:nvSpPr>
          <p:cNvPr id="21" name="统一风格-文字 本基础连通示例中，ER 启用默认路由表关联与传播。-111">
            <a:extLst>
              <a:ext uri="{FF2B5EF4-FFF2-40B4-BE49-F238E27FC236}">
                <a16:creationId xmlns:a16="http://schemas.microsoft.com/office/drawing/2014/main" id="{8AF05353-7758-4629-ADF5-D2B2486C49FE}"/>
              </a:ext>
            </a:extLst>
          </p:cNvPr>
          <p:cNvSpPr>
            <a:spLocks noGrp="1"/>
          </p:cNvSpPr>
          <p:nvPr/>
        </p:nvSpPr>
        <p:spPr>
          <a:xfrm>
            <a:off x="4238625" y="2943225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本基础连通示例中，ER 启用默认路由表关联与传播。</a:t>
            </a:r>
          </a:p>
        </p:txBody>
      </p:sp>
      <p:sp>
        <p:nvSpPr>
          <p:cNvPr id="22" name="统一风格-中心网络与带宽玻璃后沿-112">
            <a:extLst>
              <a:ext uri="{FF2B5EF4-FFF2-40B4-BE49-F238E27FC236}">
                <a16:creationId xmlns:a16="http://schemas.microsoft.com/office/drawing/2014/main" id="{7993E7BD-42AB-444B-B4D3-D305B532D69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中心网络与带宽-113">
            <a:extLst>
              <a:ext uri="{FF2B5EF4-FFF2-40B4-BE49-F238E27FC236}">
                <a16:creationId xmlns:a16="http://schemas.microsoft.com/office/drawing/2014/main" id="{11356670-FBF3-44ED-9E87-C1711B7CAE5B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中心网络与带宽玻璃内沿-114">
            <a:extLst>
              <a:ext uri="{FF2B5EF4-FFF2-40B4-BE49-F238E27FC236}">
                <a16:creationId xmlns:a16="http://schemas.microsoft.com/office/drawing/2014/main" id="{66A65A8C-9468-4CAF-9C69-1D7DFF9B16DA}"/>
              </a:ext>
            </a:extLst>
          </p:cNvPr>
          <p:cNvSpPr>
            <a:spLocks noGrp="1"/>
          </p:cNvSpPr>
          <p:nvPr/>
        </p:nvSpPr>
        <p:spPr>
          <a:xfrm>
            <a:off x="622459" y="3632359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中心网络与带宽透光反射面-115">
            <a:extLst>
              <a:ext uri="{FF2B5EF4-FFF2-40B4-BE49-F238E27FC236}">
                <a16:creationId xmlns:a16="http://schemas.microsoft.com/office/drawing/2014/main" id="{F9EF892A-CD5B-493C-9D11-9BD38E379B38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10934700" cy="581025"/>
          </a:xfrm>
          <a:custGeom>
            <a:avLst/>
            <a:gdLst/>
            <a:ahLst/>
            <a:cxnLst/>
            <a:rect l="0" t="0" r="0" b="0"/>
            <a:pathLst>
              <a:path w="10934700" h="581025">
                <a:moveTo>
                  <a:pt x="76200" y="0"/>
                </a:moveTo>
                <a:lnTo>
                  <a:pt x="6998208" y="0"/>
                </a:lnTo>
                <a:lnTo>
                  <a:pt x="2843022" y="581025"/>
                </a:lnTo>
                <a:lnTo>
                  <a:pt x="76200" y="581025"/>
                </a:lnTo>
                <a:cubicBezTo>
                  <a:pt x="28575" y="581025"/>
                  <a:pt x="0" y="552450"/>
                  <a:pt x="0" y="504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中心网络与带宽边缘高光-116">
            <a:extLst>
              <a:ext uri="{FF2B5EF4-FFF2-40B4-BE49-F238E27FC236}">
                <a16:creationId xmlns:a16="http://schemas.microsoft.com/office/drawing/2014/main" id="{27768940-0912-4EBC-985F-D51CC174E957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文字 03-117">
            <a:extLst>
              <a:ext uri="{FF2B5EF4-FFF2-40B4-BE49-F238E27FC236}">
                <a16:creationId xmlns:a16="http://schemas.microsoft.com/office/drawing/2014/main" id="{ED3FCB84-022E-48FF-B7E5-4C0E8C3ED3C2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统一风格-文字 中心网络与带宽-118">
            <a:extLst>
              <a:ext uri="{FF2B5EF4-FFF2-40B4-BE49-F238E27FC236}">
                <a16:creationId xmlns:a16="http://schemas.microsoft.com/office/drawing/2014/main" id="{23749EAF-A805-463C-8D68-6E239EA7FD97}"/>
              </a:ext>
            </a:extLst>
          </p:cNvPr>
          <p:cNvSpPr>
            <a:spLocks noGrp="1"/>
          </p:cNvSpPr>
          <p:nvPr/>
        </p:nvSpPr>
        <p:spPr>
          <a:xfrm>
            <a:off x="1552575" y="3724275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中心网络与带宽</a:t>
            </a:r>
          </a:p>
        </p:txBody>
      </p:sp>
      <p:sp>
        <p:nvSpPr>
          <p:cNvPr id="29" name="统一风格-文字 策略纳入两端 ER，分配全域互联带宽及跨区域连接带宽。-119">
            <a:extLst>
              <a:ext uri="{FF2B5EF4-FFF2-40B4-BE49-F238E27FC236}">
                <a16:creationId xmlns:a16="http://schemas.microsoft.com/office/drawing/2014/main" id="{7B172466-86E9-432C-8D0B-3F0CD9D69EBA}"/>
              </a:ext>
            </a:extLst>
          </p:cNvPr>
          <p:cNvSpPr>
            <a:spLocks noGrp="1"/>
          </p:cNvSpPr>
          <p:nvPr/>
        </p:nvSpPr>
        <p:spPr>
          <a:xfrm>
            <a:off x="4238625" y="3695700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策略纳入两端 ER，分配全域互联带宽及跨区域连接带宽。</a:t>
            </a:r>
          </a:p>
        </p:txBody>
      </p:sp>
      <p:sp>
        <p:nvSpPr>
          <p:cNvPr id="30" name="统一风格-业务验收玻璃后沿-120">
            <a:extLst>
              <a:ext uri="{FF2B5EF4-FFF2-40B4-BE49-F238E27FC236}">
                <a16:creationId xmlns:a16="http://schemas.microsoft.com/office/drawing/2014/main" id="{00F8F047-4954-4A31-9C2F-D179032D1BAB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业务验收-121">
            <a:extLst>
              <a:ext uri="{FF2B5EF4-FFF2-40B4-BE49-F238E27FC236}">
                <a16:creationId xmlns:a16="http://schemas.microsoft.com/office/drawing/2014/main" id="{82F4D0E7-58B8-4908-A0BC-CE42973A409F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619125"/>
          </a:xfrm>
          <a:prstGeom prst="roundRect">
            <a:avLst>
              <a:gd name="adj" fmla="val 1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业务验收玻璃内沿-122">
            <a:extLst>
              <a:ext uri="{FF2B5EF4-FFF2-40B4-BE49-F238E27FC236}">
                <a16:creationId xmlns:a16="http://schemas.microsoft.com/office/drawing/2014/main" id="{A896839B-9AD4-416B-86AE-017770BE3309}"/>
              </a:ext>
            </a:extLst>
          </p:cNvPr>
          <p:cNvSpPr>
            <a:spLocks noGrp="1"/>
          </p:cNvSpPr>
          <p:nvPr/>
        </p:nvSpPr>
        <p:spPr>
          <a:xfrm>
            <a:off x="622459" y="4384834"/>
            <a:ext cx="10947083" cy="593408"/>
          </a:xfrm>
          <a:prstGeom prst="roundRect">
            <a:avLst>
              <a:gd name="adj" fmla="val 1236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业务验收边缘高光-123">
            <a:extLst>
              <a:ext uri="{FF2B5EF4-FFF2-40B4-BE49-F238E27FC236}">
                <a16:creationId xmlns:a16="http://schemas.microsoft.com/office/drawing/2014/main" id="{9743DF29-F392-42BC-89B7-C1DFFBBAEA90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619125"/>
          </a:xfrm>
          <a:custGeom>
            <a:avLst/>
            <a:gdLst/>
            <a:ahLst/>
            <a:cxnLst/>
            <a:rect l="0" t="0" r="0" b="0"/>
            <a:pathLst>
              <a:path w="10972800" h="6191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04-124">
            <a:extLst>
              <a:ext uri="{FF2B5EF4-FFF2-40B4-BE49-F238E27FC236}">
                <a16:creationId xmlns:a16="http://schemas.microsoft.com/office/drawing/2014/main" id="{4A94E59A-73A6-4835-8EBD-4939757F7F24}"/>
              </a:ext>
            </a:extLst>
          </p:cNvPr>
          <p:cNvSpPr>
            <a:spLocks noGrp="1"/>
          </p:cNvSpPr>
          <p:nvPr/>
        </p:nvSpPr>
        <p:spPr>
          <a:xfrm>
            <a:off x="800100" y="446722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统一风格-文字 业务验收-125">
            <a:extLst>
              <a:ext uri="{FF2B5EF4-FFF2-40B4-BE49-F238E27FC236}">
                <a16:creationId xmlns:a16="http://schemas.microsoft.com/office/drawing/2014/main" id="{F6E5F44C-9C99-4370-AA7C-68F03CF71264}"/>
              </a:ext>
            </a:extLst>
          </p:cNvPr>
          <p:cNvSpPr>
            <a:spLocks noGrp="1"/>
          </p:cNvSpPr>
          <p:nvPr/>
        </p:nvSpPr>
        <p:spPr>
          <a:xfrm>
            <a:off x="1552575" y="4476750"/>
            <a:ext cx="2457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业务验收</a:t>
            </a:r>
          </a:p>
        </p:txBody>
      </p:sp>
      <p:sp>
        <p:nvSpPr>
          <p:cNvPr id="36" name="统一风格-文字 核验双向 VPC / ER 路由、安全组、应用访问、时延与吞吐。-126">
            <a:extLst>
              <a:ext uri="{FF2B5EF4-FFF2-40B4-BE49-F238E27FC236}">
                <a16:creationId xmlns:a16="http://schemas.microsoft.com/office/drawing/2014/main" id="{60E17FEF-F9A9-44C5-BE1D-CC6502D6356E}"/>
              </a:ext>
            </a:extLst>
          </p:cNvPr>
          <p:cNvSpPr>
            <a:spLocks noGrp="1"/>
          </p:cNvSpPr>
          <p:nvPr/>
        </p:nvSpPr>
        <p:spPr>
          <a:xfrm>
            <a:off x="4238625" y="4448175"/>
            <a:ext cx="712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核验双向 VPC / ER 路由、安全组、应用访问、时延与吞吐。</a:t>
            </a:r>
          </a:p>
        </p:txBody>
      </p:sp>
      <p:sp>
        <p:nvSpPr>
          <p:cNvPr id="37" name="统一风格-叠加 CFW玻璃后沿-127">
            <a:extLst>
              <a:ext uri="{FF2B5EF4-FFF2-40B4-BE49-F238E27FC236}">
                <a16:creationId xmlns:a16="http://schemas.microsoft.com/office/drawing/2014/main" id="{1F2A959D-138D-466B-ACBB-63BEEABFC015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叠加 CFW-128">
            <a:extLst>
              <a:ext uri="{FF2B5EF4-FFF2-40B4-BE49-F238E27FC236}">
                <a16:creationId xmlns:a16="http://schemas.microsoft.com/office/drawing/2014/main" id="{7C95F656-7E2B-4DF6-A20C-09DF22815EF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prstGeom prst="roundRect">
            <a:avLst>
              <a:gd name="adj" fmla="val 147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叠加 CFW玻璃内沿-129">
            <a:extLst>
              <a:ext uri="{FF2B5EF4-FFF2-40B4-BE49-F238E27FC236}">
                <a16:creationId xmlns:a16="http://schemas.microsoft.com/office/drawing/2014/main" id="{1CE1AD4B-C7B3-4E6E-9E10-107E59217EA3}"/>
              </a:ext>
            </a:extLst>
          </p:cNvPr>
          <p:cNvSpPr>
            <a:spLocks noGrp="1"/>
          </p:cNvSpPr>
          <p:nvPr/>
        </p:nvSpPr>
        <p:spPr>
          <a:xfrm>
            <a:off x="622459" y="5337334"/>
            <a:ext cx="10947083" cy="555308"/>
          </a:xfrm>
          <a:prstGeom prst="roundRect">
            <a:avLst>
              <a:gd name="adj" fmla="val 13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叠加 CFW边缘高光-130">
            <a:extLst>
              <a:ext uri="{FF2B5EF4-FFF2-40B4-BE49-F238E27FC236}">
                <a16:creationId xmlns:a16="http://schemas.microsoft.com/office/drawing/2014/main" id="{E702387C-D1A3-4E7C-A30B-17119294E281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581025"/>
          </a:xfrm>
          <a:custGeom>
            <a:avLst/>
            <a:gdLst/>
            <a:ahLst/>
            <a:cxnLst/>
            <a:rect l="0" t="0" r="0" b="0"/>
            <a:pathLst>
              <a:path w="10972800" h="5810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叠加 CFW-131">
            <a:extLst>
              <a:ext uri="{FF2B5EF4-FFF2-40B4-BE49-F238E27FC236}">
                <a16:creationId xmlns:a16="http://schemas.microsoft.com/office/drawing/2014/main" id="{0F59DB03-8E7E-48C1-A6F9-A5D4562E13DE}"/>
              </a:ext>
            </a:extLst>
          </p:cNvPr>
          <p:cNvSpPr>
            <a:spLocks noGrp="1"/>
          </p:cNvSpPr>
          <p:nvPr/>
        </p:nvSpPr>
        <p:spPr>
          <a:xfrm>
            <a:off x="790575" y="5438775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叠加 CFW</a:t>
            </a:r>
          </a:p>
        </p:txBody>
      </p:sp>
      <p:sp>
        <p:nvSpPr>
          <p:cNvPr id="42" name="统一风格-文字 需要另行设计关联表、传播与去回程，不能照搬基础互通的默认设置。-132">
            <a:extLst>
              <a:ext uri="{FF2B5EF4-FFF2-40B4-BE49-F238E27FC236}">
                <a16:creationId xmlns:a16="http://schemas.microsoft.com/office/drawing/2014/main" id="{C5F00706-2E1C-43B6-B1DE-A63FFC89B57F}"/>
              </a:ext>
            </a:extLst>
          </p:cNvPr>
          <p:cNvSpPr>
            <a:spLocks noGrp="1"/>
          </p:cNvSpPr>
          <p:nvPr/>
        </p:nvSpPr>
        <p:spPr>
          <a:xfrm>
            <a:off x="2524125" y="5419725"/>
            <a:ext cx="88487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需要另行设计关联表、传播与去回程，不能照搬基础互通的默认设置。</a:t>
            </a:r>
          </a:p>
        </p:txBody>
      </p:sp>
    </p:spTree>
    <p:extLst>
      <p:ext uri="{BB962C8B-B14F-4D97-AF65-F5344CB8AC3E}">
        <p14:creationId xmlns:p14="http://schemas.microsoft.com/office/powerpoint/2010/main" val="1181899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2  网络互联方案">
            <a:extLst>
              <a:ext uri="{FF2B5EF4-FFF2-40B4-BE49-F238E27FC236}">
                <a16:creationId xmlns:a16="http://schemas.microsoft.com/office/drawing/2014/main" id="{7C0AAAAF-AE89-4438-812B-A83B5689E1A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：路由与带宽一起验收-554">
            <a:extLst>
              <a:ext uri="{FF2B5EF4-FFF2-40B4-BE49-F238E27FC236}">
                <a16:creationId xmlns:a16="http://schemas.microsoft.com/office/drawing/2014/main" id="{A806289D-B420-4A45-9775-E76432F585E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中心网络：路由与带宽一起验收</a:t>
            </a:r>
          </a:p>
        </p:txBody>
      </p:sp>
      <p:sp>
        <p:nvSpPr>
          <p:cNvPr id="3" name="统一风格-文字 带宽已购买、ER 已接入，都需要继续确认真实业务可达-555">
            <a:extLst>
              <a:ext uri="{FF2B5EF4-FFF2-40B4-BE49-F238E27FC236}">
                <a16:creationId xmlns:a16="http://schemas.microsoft.com/office/drawing/2014/main" id="{026C04E4-DDB3-482E-AB1C-110CFFFF05F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带宽已购买、ER 已接入，都需要继续确认真实业务可达</a:t>
            </a:r>
          </a:p>
        </p:txBody>
      </p:sp>
      <p:cxnSp>
        <p:nvCxnSpPr>
          <p:cNvPr id="4" name="网络连接-47">
            <a:extLst>
              <a:ext uri="{FF2B5EF4-FFF2-40B4-BE49-F238E27FC236}">
                <a16:creationId xmlns:a16="http://schemas.microsoft.com/office/drawing/2014/main" id="{917A6D09-03C9-4740-AC92-C8FA485F6CEA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5" name="统一风格-文字 基础连通场景按官方快速入门启用 ER 默认路由表关联与传播。叠加 CFW 时另行设计路由域。-556">
            <a:extLst>
              <a:ext uri="{FF2B5EF4-FFF2-40B4-BE49-F238E27FC236}">
                <a16:creationId xmlns:a16="http://schemas.microsoft.com/office/drawing/2014/main" id="{ECF6D060-24F9-4DEB-8F6D-F28959EAFD8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基础连通场景按官方快速入门启用 ER 默认路由表关联与传播。叠加 CFW 时另行设计路由域。</a:t>
            </a:r>
          </a:p>
        </p:txBody>
      </p:sp>
      <p:sp>
        <p:nvSpPr>
          <p:cNvPr id="6" name="正文-29">
            <a:extLst>
              <a:ext uri="{FF2B5EF4-FFF2-40B4-BE49-F238E27FC236}">
                <a16:creationId xmlns:a16="http://schemas.microsoft.com/office/drawing/2014/main" id="{6BA3759B-CD17-4C04-8B7B-302D623B8C3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7" name="统一风格-路由与配置表玻璃后沿-558">
            <a:extLst>
              <a:ext uri="{FF2B5EF4-FFF2-40B4-BE49-F238E27FC236}">
                <a16:creationId xmlns:a16="http://schemas.microsoft.com/office/drawing/2014/main" id="{FEECB9E5-8AA9-40E8-A9FC-3624B103ACC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路由与配置表-559">
            <a:extLst>
              <a:ext uri="{FF2B5EF4-FFF2-40B4-BE49-F238E27FC236}">
                <a16:creationId xmlns:a16="http://schemas.microsoft.com/office/drawing/2014/main" id="{A6D67EA5-E6A5-423A-B70C-137DBA2286CC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路由与配置表玻璃内沿-560">
            <a:extLst>
              <a:ext uri="{FF2B5EF4-FFF2-40B4-BE49-F238E27FC236}">
                <a16:creationId xmlns:a16="http://schemas.microsoft.com/office/drawing/2014/main" id="{C1285D51-2102-4925-A7F1-3D7F9591298E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689033"/>
          </a:xfrm>
          <a:prstGeom prst="roundRect">
            <a:avLst>
              <a:gd name="adj" fmla="val 198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路由与配置表边缘高光-561">
            <a:extLst>
              <a:ext uri="{FF2B5EF4-FFF2-40B4-BE49-F238E27FC236}">
                <a16:creationId xmlns:a16="http://schemas.microsoft.com/office/drawing/2014/main" id="{C86FFEE1-885F-4FDD-8812-042237C3B7BF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14750"/>
          </a:xfrm>
          <a:custGeom>
            <a:avLst/>
            <a:gdLst/>
            <a:ahLst/>
            <a:cxnLst/>
            <a:rect l="0" t="0" r="0" b="0"/>
            <a:pathLst>
              <a:path w="11106150" h="37147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C9B934-2AAD-4317-A642-F0BD014E1B97}"/>
              </a:ext>
            </a:extLst>
          </p:cNvPr>
          <p:cNvGraphicFramePr/>
          <p:nvPr/>
        </p:nvGraphicFramePr>
        <p:xfrm>
          <a:off x="609600" y="2143125"/>
          <a:ext cx="10972800" cy="35814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A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 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实际路由表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10.100.0.0/16，下一跳 ER-A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10.90.0.0/16，下一跳 ER-B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 路由表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 VPC-B 的有效跨区域路由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 VPC-A 的有效跨区域路由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中心网络策略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 ER-A，允许目标互通关系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 ER-B，与区域 A 建立连接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带宽与安全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分配跨区域带宽，核对源安全组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核对目的安全组与服务监听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443 访问、应拒绝测试与交易结果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回程完整，采集时延和吞吐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681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统一风格-文字 02  网络互联方案-365">
            <a:extLst>
              <a:ext uri="{FF2B5EF4-FFF2-40B4-BE49-F238E27FC236}">
                <a16:creationId xmlns:a16="http://schemas.microsoft.com/office/drawing/2014/main" id="{1513C708-FAB5-4E08-BA75-760A757578C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CC 中心网络：约束限制与跨区域业务建议-366">
            <a:extLst>
              <a:ext uri="{FF2B5EF4-FFF2-40B4-BE49-F238E27FC236}">
                <a16:creationId xmlns:a16="http://schemas.microsoft.com/office/drawing/2014/main" id="{12464F83-4704-4BB6-96FC-CCD50194649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中心网络：约束限制与跨区域业务建议</a:t>
            </a:r>
          </a:p>
        </p:txBody>
      </p:sp>
      <p:sp>
        <p:nvSpPr>
          <p:cNvPr id="3" name="统一风格-文字 网络互通、带宽容量和应用跨区运行能力需要分别验证-367">
            <a:extLst>
              <a:ext uri="{FF2B5EF4-FFF2-40B4-BE49-F238E27FC236}">
                <a16:creationId xmlns:a16="http://schemas.microsoft.com/office/drawing/2014/main" id="{FED22A05-096E-42BE-859D-E783E788705B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网络互通、带宽容量和应用跨区运行能力需要分别验证</a:t>
            </a:r>
          </a:p>
        </p:txBody>
      </p:sp>
      <p:sp>
        <p:nvSpPr>
          <p:cNvPr id="4" name="统一风格-页脚分隔线-368">
            <a:extLst>
              <a:ext uri="{FF2B5EF4-FFF2-40B4-BE49-F238E27FC236}">
                <a16:creationId xmlns:a16="http://schemas.microsoft.com/office/drawing/2014/main" id="{AC809F4F-90CF-42BF-BDE8-41855742BE0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区域能力、资源配额与计费以当前控制台为准，生产接入前复核对应版本文档。-369">
            <a:extLst>
              <a:ext uri="{FF2B5EF4-FFF2-40B4-BE49-F238E27FC236}">
                <a16:creationId xmlns:a16="http://schemas.microsoft.com/office/drawing/2014/main" id="{8419BAEF-804F-4809-B81D-D4222AC9B99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区域能力、资源配额与计费以当前控制台为准，生产接入前复核对应版本文档。</a:t>
            </a:r>
          </a:p>
        </p:txBody>
      </p:sp>
      <p:sp>
        <p:nvSpPr>
          <p:cNvPr id="6" name="统一风格-文字 38-370">
            <a:extLst>
              <a:ext uri="{FF2B5EF4-FFF2-40B4-BE49-F238E27FC236}">
                <a16:creationId xmlns:a16="http://schemas.microsoft.com/office/drawing/2014/main" id="{9ED90520-00C2-42E6-88B8-4316C245A76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7" name="统一风格-可编辑配置表玻璃后沿-371">
            <a:extLst>
              <a:ext uri="{FF2B5EF4-FFF2-40B4-BE49-F238E27FC236}">
                <a16:creationId xmlns:a16="http://schemas.microsoft.com/office/drawing/2014/main" id="{DC6C2342-DB96-4E7B-96A5-4E6055E23BB0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可编辑配置表-372">
            <a:extLst>
              <a:ext uri="{FF2B5EF4-FFF2-40B4-BE49-F238E27FC236}">
                <a16:creationId xmlns:a16="http://schemas.microsoft.com/office/drawing/2014/main" id="{BA49E318-7811-4C9C-8D58-83FA10CE904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prstGeom prst="roundRect">
            <a:avLst>
              <a:gd name="adj" fmla="val 227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可编辑配置表玻璃内沿-373">
            <a:extLst>
              <a:ext uri="{FF2B5EF4-FFF2-40B4-BE49-F238E27FC236}">
                <a16:creationId xmlns:a16="http://schemas.microsoft.com/office/drawing/2014/main" id="{6BC79CF2-342B-4B64-A9F6-9F7B2AD113A3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3736658"/>
          </a:xfrm>
          <a:prstGeom prst="roundRect">
            <a:avLst>
              <a:gd name="adj" fmla="val 196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可编辑配置表边缘高光-374">
            <a:extLst>
              <a:ext uri="{FF2B5EF4-FFF2-40B4-BE49-F238E27FC236}">
                <a16:creationId xmlns:a16="http://schemas.microsoft.com/office/drawing/2014/main" id="{2D245F65-F618-46DE-B8B2-24DBC57F42D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3762375"/>
          </a:xfrm>
          <a:custGeom>
            <a:avLst/>
            <a:gdLst/>
            <a:ahLst/>
            <a:cxnLst/>
            <a:rect l="0" t="0" r="0" b="0"/>
            <a:pathLst>
              <a:path w="11106150" h="376237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FC82AD-CC7C-4BD2-A8AE-3334ADF4716D}"/>
              </a:ext>
            </a:extLst>
          </p:cNvPr>
          <p:cNvGraphicFramePr/>
          <p:nvPr/>
        </p:nvGraphicFramePr>
        <p:xfrm>
          <a:off x="609600" y="2143125"/>
          <a:ext cx="10972800" cy="36290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约束与实际业务风险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使用建议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资源与范围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一个中心网络同一区域仅支持一个 ER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ER 的 Peering 接入需完成授权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ER 归属、RAM 共享与连接审批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跨账号接入按当前区域能力设计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地址与路由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网段冲突或 VPC / ER 回程缺失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会造成跨区域访问异常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统一跨区域地址规划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逐段检查 VPC、ER 与中心网络策略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带宽与费用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需为跨区域连接分配带宽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分配值不能超过已购全域互联带宽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按峰值和容灾切换流量测算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关联预算、利用率与丢包告警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业务性能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骨干网互通仍存在跨区域时延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同步调用与数据复制可能受其影响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评估超时、重试与一致性要求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用真实交易测试时延和吞吐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安全与容灾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中心网络策略不等于区域 CFW 防护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应用故障切换需要独立规划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确认每个区域的安全路径</a:t>
                      </a:r>
                    </a:p>
                    <a:p>
                      <a:r>
                        <a:rPr sz="157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主备路径、带宽和应用恢复一起验证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394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统一风格-文字 02  网络互联与安全加固-1">
            <a:extLst>
              <a:ext uri="{FF2B5EF4-FFF2-40B4-BE49-F238E27FC236}">
                <a16:creationId xmlns:a16="http://schemas.microsoft.com/office/drawing/2014/main" id="{613CB983-6B94-45F2-92F4-F7CDD53A75A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网络互联与安全加固</a:t>
            </a:r>
          </a:p>
        </p:txBody>
      </p:sp>
      <p:sp>
        <p:nvSpPr>
          <p:cNvPr id="2" name="统一风格-文字 Pro / OP 双账号跨区域网络拓扑-2">
            <a:extLst>
              <a:ext uri="{FF2B5EF4-FFF2-40B4-BE49-F238E27FC236}">
                <a16:creationId xmlns:a16="http://schemas.microsoft.com/office/drawing/2014/main" id="{47F84A01-9914-4FA0-8DDA-E301CBFA698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/ OP 双账号跨区域网络拓扑</a:t>
            </a:r>
          </a:p>
        </p:txBody>
      </p:sp>
      <p:sp>
        <p:nvSpPr>
          <p:cNvPr id="3" name="统一风格-文字 Pro 统一承载跨区域互联，OP 通过同区域的共享 ER 与中转 VPC 链路接入-3">
            <a:extLst>
              <a:ext uri="{FF2B5EF4-FFF2-40B4-BE49-F238E27FC236}">
                <a16:creationId xmlns:a16="http://schemas.microsoft.com/office/drawing/2014/main" id="{44C57AB6-04E1-4DE7-91BD-CF8FCBD0013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 统一承载跨区域互联，OP 通过同区域的共享 ER 与中转 VPC 链路接入</a:t>
            </a:r>
          </a:p>
        </p:txBody>
      </p:sp>
      <p:sp>
        <p:nvSpPr>
          <p:cNvPr id="4" name="统一风格-华为云账号 Pro 资源边界-4">
            <a:extLst>
              <a:ext uri="{FF2B5EF4-FFF2-40B4-BE49-F238E27FC236}">
                <a16:creationId xmlns:a16="http://schemas.microsoft.com/office/drawing/2014/main" id="{CAAD401C-0DC8-4EFF-A9B9-02AD807962D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972800" cy="2343150"/>
          </a:xfrm>
          <a:prstGeom prst="roundRect">
            <a:avLst>
              <a:gd name="adj" fmla="val 4065"/>
            </a:avLst>
          </a:prstGeom>
          <a:solidFill>
            <a:srgbClr val="FBFDFF"/>
          </a:solidFill>
          <a:ln w="10478">
            <a:solidFill>
              <a:srgbClr val="BACF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华为云账号 OP 资源边界-5">
            <a:extLst>
              <a:ext uri="{FF2B5EF4-FFF2-40B4-BE49-F238E27FC236}">
                <a16:creationId xmlns:a16="http://schemas.microsoft.com/office/drawing/2014/main" id="{2C5579BF-EF22-426B-9B81-CC067FD02031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315200" cy="1819275"/>
          </a:xfrm>
          <a:prstGeom prst="roundRect">
            <a:avLst>
              <a:gd name="adj" fmla="val 5236"/>
            </a:avLst>
          </a:prstGeom>
          <a:solidFill>
            <a:srgbClr val="FBFDFF"/>
          </a:solidFill>
          <a:ln w="10478">
            <a:solidFill>
              <a:srgbClr val="BACF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文字 华为云账号 Pro-6">
            <a:extLst>
              <a:ext uri="{FF2B5EF4-FFF2-40B4-BE49-F238E27FC236}">
                <a16:creationId xmlns:a16="http://schemas.microsoft.com/office/drawing/2014/main" id="{AFCB6F52-F036-48A8-9C67-82F9F7BE189A}"/>
              </a:ext>
            </a:extLst>
          </p:cNvPr>
          <p:cNvSpPr>
            <a:spLocks noGrp="1"/>
          </p:cNvSpPr>
          <p:nvPr/>
        </p:nvSpPr>
        <p:spPr>
          <a:xfrm>
            <a:off x="800100" y="191452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华为云账号 Pro</a:t>
            </a:r>
          </a:p>
        </p:txBody>
      </p:sp>
      <p:sp>
        <p:nvSpPr>
          <p:cNvPr id="7" name="统一风格-文字 华为云账号 OP-7">
            <a:extLst>
              <a:ext uri="{FF2B5EF4-FFF2-40B4-BE49-F238E27FC236}">
                <a16:creationId xmlns:a16="http://schemas.microsoft.com/office/drawing/2014/main" id="{F555B7F1-101A-40A3-BED9-84EB4BA7D784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华为云账号 OP</a:t>
            </a:r>
          </a:p>
        </p:txBody>
      </p:sp>
      <p:sp>
        <p:nvSpPr>
          <p:cNvPr id="8" name="统一风格-贵阳一（主区域） 区域边界-8">
            <a:extLst>
              <a:ext uri="{FF2B5EF4-FFF2-40B4-BE49-F238E27FC236}">
                <a16:creationId xmlns:a16="http://schemas.microsoft.com/office/drawing/2014/main" id="{5CCB83E8-78F7-455A-99DD-475791411AC5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文字 贵阳一（主区域）-9">
            <a:extLst>
              <a:ext uri="{FF2B5EF4-FFF2-40B4-BE49-F238E27FC236}">
                <a16:creationId xmlns:a16="http://schemas.microsoft.com/office/drawing/2014/main" id="{3E69FF89-BCA1-48DD-A180-A164F3286977}"/>
              </a:ext>
            </a:extLst>
          </p:cNvPr>
          <p:cNvSpPr>
            <a:spLocks noGrp="1"/>
          </p:cNvSpPr>
          <p:nvPr/>
        </p:nvSpPr>
        <p:spPr>
          <a:xfrm>
            <a:off x="990600" y="27527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贵阳一（主区域）</a:t>
            </a:r>
          </a:p>
        </p:txBody>
      </p:sp>
      <p:sp>
        <p:nvSpPr>
          <p:cNvPr id="10" name="统一风格-华东二（容灾区域） 区域边界-10">
            <a:extLst>
              <a:ext uri="{FF2B5EF4-FFF2-40B4-BE49-F238E27FC236}">
                <a16:creationId xmlns:a16="http://schemas.microsoft.com/office/drawing/2014/main" id="{771F41FE-A5BC-4844-A141-0729A3121288}"/>
              </a:ext>
            </a:extLst>
          </p:cNvPr>
          <p:cNvSpPr>
            <a:spLocks noGrp="1"/>
          </p:cNvSpPr>
          <p:nvPr/>
        </p:nvSpPr>
        <p:spPr>
          <a:xfrm>
            <a:off x="4495800" y="2676525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华东二（容灾区域）-11">
            <a:extLst>
              <a:ext uri="{FF2B5EF4-FFF2-40B4-BE49-F238E27FC236}">
                <a16:creationId xmlns:a16="http://schemas.microsoft.com/office/drawing/2014/main" id="{F9A13DF5-60EA-44F4-9A22-D5651842E524}"/>
              </a:ext>
            </a:extLst>
          </p:cNvPr>
          <p:cNvSpPr>
            <a:spLocks noGrp="1"/>
          </p:cNvSpPr>
          <p:nvPr/>
        </p:nvSpPr>
        <p:spPr>
          <a:xfrm>
            <a:off x="4648200" y="27527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华东二（容灾区域）</a:t>
            </a:r>
          </a:p>
        </p:txBody>
      </p:sp>
      <p:sp>
        <p:nvSpPr>
          <p:cNvPr id="12" name="统一风格-新加坡（新增区域） 区域边界-12">
            <a:extLst>
              <a:ext uri="{FF2B5EF4-FFF2-40B4-BE49-F238E27FC236}">
                <a16:creationId xmlns:a16="http://schemas.microsoft.com/office/drawing/2014/main" id="{72B7B8EC-886B-46EC-A0D2-AE04AD0F3315}"/>
              </a:ext>
            </a:extLst>
          </p:cNvPr>
          <p:cNvSpPr>
            <a:spLocks noGrp="1"/>
          </p:cNvSpPr>
          <p:nvPr/>
        </p:nvSpPr>
        <p:spPr>
          <a:xfrm>
            <a:off x="8153400" y="2676525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新加坡（新增区域）-13">
            <a:extLst>
              <a:ext uri="{FF2B5EF4-FFF2-40B4-BE49-F238E27FC236}">
                <a16:creationId xmlns:a16="http://schemas.microsoft.com/office/drawing/2014/main" id="{13F9FACE-EB13-40CC-A4B9-786A6DAF6CCE}"/>
              </a:ext>
            </a:extLst>
          </p:cNvPr>
          <p:cNvSpPr>
            <a:spLocks noGrp="1"/>
          </p:cNvSpPr>
          <p:nvPr/>
        </p:nvSpPr>
        <p:spPr>
          <a:xfrm>
            <a:off x="8305800" y="27527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新加坡（新增区域）</a:t>
            </a:r>
          </a:p>
        </p:txBody>
      </p:sp>
      <p:sp>
        <p:nvSpPr>
          <p:cNvPr id="14" name="统一风格-贵阳一（主区域） 区域边界-14">
            <a:extLst>
              <a:ext uri="{FF2B5EF4-FFF2-40B4-BE49-F238E27FC236}">
                <a16:creationId xmlns:a16="http://schemas.microsoft.com/office/drawing/2014/main" id="{CFDAD851-3F39-43B6-A4E2-A805311FF615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32766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贵阳一（主区域）-15">
            <a:extLst>
              <a:ext uri="{FF2B5EF4-FFF2-40B4-BE49-F238E27FC236}">
                <a16:creationId xmlns:a16="http://schemas.microsoft.com/office/drawing/2014/main" id="{46EDC4DA-DE3E-497F-9ADC-107A7C8267F1}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贵阳一（主区域）</a:t>
            </a:r>
          </a:p>
        </p:txBody>
      </p:sp>
      <p:sp>
        <p:nvSpPr>
          <p:cNvPr id="16" name="统一风格-华东二（容灾区域） 区域边界-16">
            <a:extLst>
              <a:ext uri="{FF2B5EF4-FFF2-40B4-BE49-F238E27FC236}">
                <a16:creationId xmlns:a16="http://schemas.microsoft.com/office/drawing/2014/main" id="{01EFF710-5878-472F-83FA-7290DE4DE232}"/>
              </a:ext>
            </a:extLst>
          </p:cNvPr>
          <p:cNvSpPr>
            <a:spLocks noGrp="1"/>
          </p:cNvSpPr>
          <p:nvPr/>
        </p:nvSpPr>
        <p:spPr>
          <a:xfrm>
            <a:off x="4495800" y="5019675"/>
            <a:ext cx="32766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049">
            <a:solidFill>
              <a:srgbClr val="D3E0F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华东二（容灾区域）-17">
            <a:extLst>
              <a:ext uri="{FF2B5EF4-FFF2-40B4-BE49-F238E27FC236}">
                <a16:creationId xmlns:a16="http://schemas.microsoft.com/office/drawing/2014/main" id="{43B214F9-E7AA-40BA-ACF5-8BF886390EF9}"/>
              </a:ext>
            </a:extLst>
          </p:cNvPr>
          <p:cNvSpPr>
            <a:spLocks noGrp="1"/>
          </p:cNvSpPr>
          <p:nvPr/>
        </p:nvSpPr>
        <p:spPr>
          <a:xfrm>
            <a:off x="4648200" y="509587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华东二（容灾区域）</a:t>
            </a:r>
          </a:p>
        </p:txBody>
      </p:sp>
      <p:cxnSp>
        <p:nvCxnSpPr>
          <p:cNvPr id="18" name="唯一 CC 的跨区域连接总线">
            <a:extLst>
              <a:ext uri="{FF2B5EF4-FFF2-40B4-BE49-F238E27FC236}">
                <a16:creationId xmlns:a16="http://schemas.microsoft.com/office/drawing/2014/main" id="{C0BC6B96-FD75-4183-8E65-C782B532DD15}"/>
              </a:ext>
            </a:extLst>
          </p:cNvPr>
          <p:cNvCxnSpPr/>
          <p:nvPr/>
        </p:nvCxnSpPr>
        <p:spPr>
          <a:xfrm>
            <a:off x="3390900" y="2514600"/>
            <a:ext cx="7315200" cy="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19" name="Pro 中心网络出口">
            <a:extLst>
              <a:ext uri="{FF2B5EF4-FFF2-40B4-BE49-F238E27FC236}">
                <a16:creationId xmlns:a16="http://schemas.microsoft.com/office/drawing/2014/main" id="{15388E27-50AD-4B8D-8936-DF6DE0AE0E48}"/>
              </a:ext>
            </a:extLst>
          </p:cNvPr>
          <p:cNvCxnSpPr/>
          <p:nvPr/>
        </p:nvCxnSpPr>
        <p:spPr>
          <a:xfrm>
            <a:off x="7048500" y="2400300"/>
            <a:ext cx="0" cy="1143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0" name="区域 ER 接入 Pro 中心网络">
            <a:extLst>
              <a:ext uri="{FF2B5EF4-FFF2-40B4-BE49-F238E27FC236}">
                <a16:creationId xmlns:a16="http://schemas.microsoft.com/office/drawing/2014/main" id="{FAFB7CF1-FAAB-448C-8CD3-B9FB808FA54D}"/>
              </a:ext>
            </a:extLst>
          </p:cNvPr>
          <p:cNvCxnSpPr/>
          <p:nvPr/>
        </p:nvCxnSpPr>
        <p:spPr>
          <a:xfrm>
            <a:off x="3390900" y="2514600"/>
            <a:ext cx="0" cy="8001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1" name="区域 ER 接入 Pro 中心网络">
            <a:extLst>
              <a:ext uri="{FF2B5EF4-FFF2-40B4-BE49-F238E27FC236}">
                <a16:creationId xmlns:a16="http://schemas.microsoft.com/office/drawing/2014/main" id="{C7C4E326-453C-4C66-A7FB-0FB108BD2408}"/>
              </a:ext>
            </a:extLst>
          </p:cNvPr>
          <p:cNvCxnSpPr/>
          <p:nvPr/>
        </p:nvCxnSpPr>
        <p:spPr>
          <a:xfrm>
            <a:off x="7048500" y="2514600"/>
            <a:ext cx="0" cy="8001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2" name="区域 ER 接入 Pro 中心网络">
            <a:extLst>
              <a:ext uri="{FF2B5EF4-FFF2-40B4-BE49-F238E27FC236}">
                <a16:creationId xmlns:a16="http://schemas.microsoft.com/office/drawing/2014/main" id="{EA199F2D-0F07-4499-8211-F715BE0E5586}"/>
              </a:ext>
            </a:extLst>
          </p:cNvPr>
          <p:cNvCxnSpPr/>
          <p:nvPr/>
        </p:nvCxnSpPr>
        <p:spPr>
          <a:xfrm>
            <a:off x="10706100" y="2514600"/>
            <a:ext cx="0" cy="8001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cxnSp>
        <p:nvCxnSpPr>
          <p:cNvPr id="23" name="共享 ER 与中转 VPC 跨账号链路">
            <a:extLst>
              <a:ext uri="{FF2B5EF4-FFF2-40B4-BE49-F238E27FC236}">
                <a16:creationId xmlns:a16="http://schemas.microsoft.com/office/drawing/2014/main" id="{1B54C3A8-A673-4377-B77A-CCB32CFCD5E4}"/>
              </a:ext>
            </a:extLst>
          </p:cNvPr>
          <p:cNvCxnSpPr/>
          <p:nvPr/>
        </p:nvCxnSpPr>
        <p:spPr>
          <a:xfrm>
            <a:off x="3390900" y="3867150"/>
            <a:ext cx="0" cy="17907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sp>
        <p:nvSpPr>
          <p:cNvPr id="24" name="统一风格-跨账号链路标注底色-18">
            <a:extLst>
              <a:ext uri="{FF2B5EF4-FFF2-40B4-BE49-F238E27FC236}">
                <a16:creationId xmlns:a16="http://schemas.microsoft.com/office/drawing/2014/main" id="{530195ED-72C9-4AEB-9824-EC8DB8053916}"/>
              </a:ext>
            </a:extLst>
          </p:cNvPr>
          <p:cNvSpPr>
            <a:spLocks noGrp="1"/>
          </p:cNvSpPr>
          <p:nvPr/>
        </p:nvSpPr>
        <p:spPr>
          <a:xfrm>
            <a:off x="2266950" y="4171950"/>
            <a:ext cx="224790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共享 ER ＋ 中转 VPC-19">
            <a:extLst>
              <a:ext uri="{FF2B5EF4-FFF2-40B4-BE49-F238E27FC236}">
                <a16:creationId xmlns:a16="http://schemas.microsoft.com/office/drawing/2014/main" id="{57EC5EAB-BDC5-4822-BC14-8935E850E054}"/>
              </a:ext>
            </a:extLst>
          </p:cNvPr>
          <p:cNvSpPr>
            <a:spLocks noGrp="1"/>
          </p:cNvSpPr>
          <p:nvPr/>
        </p:nvSpPr>
        <p:spPr>
          <a:xfrm>
            <a:off x="2266950" y="41910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 ER ＋ 中转 VPC</a:t>
            </a:r>
          </a:p>
        </p:txBody>
      </p:sp>
      <p:cxnSp>
        <p:nvCxnSpPr>
          <p:cNvPr id="26" name="共享 ER 与中转 VPC 跨账号链路">
            <a:extLst>
              <a:ext uri="{FF2B5EF4-FFF2-40B4-BE49-F238E27FC236}">
                <a16:creationId xmlns:a16="http://schemas.microsoft.com/office/drawing/2014/main" id="{03D62B3A-256D-4E42-8777-D4B1634BB872}"/>
              </a:ext>
            </a:extLst>
          </p:cNvPr>
          <p:cNvCxnSpPr/>
          <p:nvPr/>
        </p:nvCxnSpPr>
        <p:spPr>
          <a:xfrm>
            <a:off x="7048500" y="3867150"/>
            <a:ext cx="0" cy="1790700"/>
          </a:xfrm>
          <a:prstGeom prst="straightConnector1">
            <a:avLst/>
          </a:prstGeom>
          <a:ln w="18098">
            <a:solidFill>
              <a:srgbClr val="2053C3"/>
            </a:solidFill>
          </a:ln>
        </p:spPr>
      </p:cxnSp>
      <p:sp>
        <p:nvSpPr>
          <p:cNvPr id="27" name="统一风格-跨账号链路标注底色-20">
            <a:extLst>
              <a:ext uri="{FF2B5EF4-FFF2-40B4-BE49-F238E27FC236}">
                <a16:creationId xmlns:a16="http://schemas.microsoft.com/office/drawing/2014/main" id="{610E7041-A18E-4A40-B450-1DDC21DF4F40}"/>
              </a:ext>
            </a:extLst>
          </p:cNvPr>
          <p:cNvSpPr>
            <a:spLocks noGrp="1"/>
          </p:cNvSpPr>
          <p:nvPr/>
        </p:nvSpPr>
        <p:spPr>
          <a:xfrm>
            <a:off x="5924550" y="4171950"/>
            <a:ext cx="224790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共享 ER ＋ 中转 VPC-21">
            <a:extLst>
              <a:ext uri="{FF2B5EF4-FFF2-40B4-BE49-F238E27FC236}">
                <a16:creationId xmlns:a16="http://schemas.microsoft.com/office/drawing/2014/main" id="{04FAA4E4-13B6-42EE-A2B0-DCDB11601161}"/>
              </a:ext>
            </a:extLst>
          </p:cNvPr>
          <p:cNvSpPr>
            <a:spLocks noGrp="1"/>
          </p:cNvSpPr>
          <p:nvPr/>
        </p:nvSpPr>
        <p:spPr>
          <a:xfrm>
            <a:off x="5924550" y="41910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共享 ER ＋ 中转 VPC</a:t>
            </a:r>
          </a:p>
        </p:txBody>
      </p:sp>
      <p:sp>
        <p:nvSpPr>
          <p:cNvPr id="29" name="统一风格-文字 业务 VPC-22">
            <a:extLst>
              <a:ext uri="{FF2B5EF4-FFF2-40B4-BE49-F238E27FC236}">
                <a16:creationId xmlns:a16="http://schemas.microsoft.com/office/drawing/2014/main" id="{9C971435-6F6B-4B90-ACA6-22FC763564EC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30" name="VPC 1 连接至 ER">
            <a:extLst>
              <a:ext uri="{FF2B5EF4-FFF2-40B4-BE49-F238E27FC236}">
                <a16:creationId xmlns:a16="http://schemas.microsoft.com/office/drawing/2014/main" id="{716772DF-C430-4E10-BA3C-0095A4BC8AA0}"/>
              </a:ext>
            </a:extLst>
          </p:cNvPr>
          <p:cNvCxnSpPr/>
          <p:nvPr/>
        </p:nvCxnSpPr>
        <p:spPr>
          <a:xfrm>
            <a:off x="2400300" y="34099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31" name="VPC n 连接至 ER">
            <a:extLst>
              <a:ext uri="{FF2B5EF4-FFF2-40B4-BE49-F238E27FC236}">
                <a16:creationId xmlns:a16="http://schemas.microsoft.com/office/drawing/2014/main" id="{5D55A6AE-A8AE-4001-B94D-D8D2E4AF5630}"/>
              </a:ext>
            </a:extLst>
          </p:cNvPr>
          <p:cNvCxnSpPr/>
          <p:nvPr/>
        </p:nvCxnSpPr>
        <p:spPr>
          <a:xfrm>
            <a:off x="2400300" y="37719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32" name="多个 VPC 连接汇聚">
            <a:extLst>
              <a:ext uri="{FF2B5EF4-FFF2-40B4-BE49-F238E27FC236}">
                <a16:creationId xmlns:a16="http://schemas.microsoft.com/office/drawing/2014/main" id="{9A8B203E-A4A5-4706-98DE-72244B525F4B}"/>
              </a:ext>
            </a:extLst>
          </p:cNvPr>
          <p:cNvCxnSpPr/>
          <p:nvPr/>
        </p:nvCxnSpPr>
        <p:spPr>
          <a:xfrm>
            <a:off x="2628900" y="340995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33" name="业务 VPC 连接区域 ER">
            <a:extLst>
              <a:ext uri="{FF2B5EF4-FFF2-40B4-BE49-F238E27FC236}">
                <a16:creationId xmlns:a16="http://schemas.microsoft.com/office/drawing/2014/main" id="{2CBB5105-A2CB-498C-B22E-DA4C06F56398}"/>
              </a:ext>
            </a:extLst>
          </p:cNvPr>
          <p:cNvCxnSpPr/>
          <p:nvPr/>
        </p:nvCxnSpPr>
        <p:spPr>
          <a:xfrm>
            <a:off x="2628900" y="359092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34" name="统一风格-VPC 1玻璃后沿-23">
            <a:extLst>
              <a:ext uri="{FF2B5EF4-FFF2-40B4-BE49-F238E27FC236}">
                <a16:creationId xmlns:a16="http://schemas.microsoft.com/office/drawing/2014/main" id="{85EA56D2-C78C-4A2D-A276-0AF6C14C2155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VPC 1-24">
            <a:extLst>
              <a:ext uri="{FF2B5EF4-FFF2-40B4-BE49-F238E27FC236}">
                <a16:creationId xmlns:a16="http://schemas.microsoft.com/office/drawing/2014/main" id="{CCB72E12-B53D-492B-98CC-4A7E1A8F2E95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VPC 1玻璃内沿-25">
            <a:extLst>
              <a:ext uri="{FF2B5EF4-FFF2-40B4-BE49-F238E27FC236}">
                <a16:creationId xmlns:a16="http://schemas.microsoft.com/office/drawing/2014/main" id="{515E7885-CB2A-4046-BFB8-A1604278CCEA}"/>
              </a:ext>
            </a:extLst>
          </p:cNvPr>
          <p:cNvSpPr>
            <a:spLocks noGrp="1"/>
          </p:cNvSpPr>
          <p:nvPr/>
        </p:nvSpPr>
        <p:spPr>
          <a:xfrm>
            <a:off x="1003459" y="32894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VPC 1边缘高光-26">
            <a:extLst>
              <a:ext uri="{FF2B5EF4-FFF2-40B4-BE49-F238E27FC236}">
                <a16:creationId xmlns:a16="http://schemas.microsoft.com/office/drawing/2014/main" id="{4203E315-2154-4711-A468-66763222AC04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cloud VPC 云轮廓-27">
            <a:extLst>
              <a:ext uri="{FF2B5EF4-FFF2-40B4-BE49-F238E27FC236}">
                <a16:creationId xmlns:a16="http://schemas.microsoft.com/office/drawing/2014/main" id="{C08539FE-14B6-462D-A10F-1FF32629C201}"/>
              </a:ext>
            </a:extLst>
          </p:cNvPr>
          <p:cNvSpPr>
            <a:spLocks noGrp="1"/>
          </p:cNvSpPr>
          <p:nvPr/>
        </p:nvSpPr>
        <p:spPr>
          <a:xfrm>
            <a:off x="1085850" y="32956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VPC 1-28">
            <a:extLst>
              <a:ext uri="{FF2B5EF4-FFF2-40B4-BE49-F238E27FC236}">
                <a16:creationId xmlns:a16="http://schemas.microsoft.com/office/drawing/2014/main" id="{B7135833-F416-42D4-9379-B9E5B3537371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40" name="统一风格-VPC n玻璃后沿-29">
            <a:extLst>
              <a:ext uri="{FF2B5EF4-FFF2-40B4-BE49-F238E27FC236}">
                <a16:creationId xmlns:a16="http://schemas.microsoft.com/office/drawing/2014/main" id="{22530A77-5E60-4452-A826-18467B3A6884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VPC n-30">
            <a:extLst>
              <a:ext uri="{FF2B5EF4-FFF2-40B4-BE49-F238E27FC236}">
                <a16:creationId xmlns:a16="http://schemas.microsoft.com/office/drawing/2014/main" id="{CDB15EF3-AD07-4503-9043-60B123E01D21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VPC n玻璃内沿-31">
            <a:extLst>
              <a:ext uri="{FF2B5EF4-FFF2-40B4-BE49-F238E27FC236}">
                <a16:creationId xmlns:a16="http://schemas.microsoft.com/office/drawing/2014/main" id="{088E4509-A5DD-4700-A419-EC4476B6D4CC}"/>
              </a:ext>
            </a:extLst>
          </p:cNvPr>
          <p:cNvSpPr>
            <a:spLocks noGrp="1"/>
          </p:cNvSpPr>
          <p:nvPr/>
        </p:nvSpPr>
        <p:spPr>
          <a:xfrm>
            <a:off x="1003459" y="36514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VPC n边缘高光-32">
            <a:extLst>
              <a:ext uri="{FF2B5EF4-FFF2-40B4-BE49-F238E27FC236}">
                <a16:creationId xmlns:a16="http://schemas.microsoft.com/office/drawing/2014/main" id="{3CC3AA5E-00C0-4DBD-9C68-3BDAF14AD724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cloud VPC 云轮廓-33">
            <a:extLst>
              <a:ext uri="{FF2B5EF4-FFF2-40B4-BE49-F238E27FC236}">
                <a16:creationId xmlns:a16="http://schemas.microsoft.com/office/drawing/2014/main" id="{554767C2-6504-438D-BF81-0A8371496A5E}"/>
              </a:ext>
            </a:extLst>
          </p:cNvPr>
          <p:cNvSpPr>
            <a:spLocks noGrp="1"/>
          </p:cNvSpPr>
          <p:nvPr/>
        </p:nvSpPr>
        <p:spPr>
          <a:xfrm>
            <a:off x="1085850" y="36576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文字 VPC n-34">
            <a:extLst>
              <a:ext uri="{FF2B5EF4-FFF2-40B4-BE49-F238E27FC236}">
                <a16:creationId xmlns:a16="http://schemas.microsoft.com/office/drawing/2014/main" id="{C0CAB749-C273-4977-8906-9AC32FF0B956}"/>
              </a:ext>
            </a:extLst>
          </p:cNvPr>
          <p:cNvSpPr>
            <a:spLocks noGrp="1"/>
          </p:cNvSpPr>
          <p:nvPr/>
        </p:nvSpPr>
        <p:spPr>
          <a:xfrm>
            <a:off x="1428750" y="36480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46" name="统一风格-更多 VPC 省略点-35">
            <a:extLst>
              <a:ext uri="{FF2B5EF4-FFF2-40B4-BE49-F238E27FC236}">
                <a16:creationId xmlns:a16="http://schemas.microsoft.com/office/drawing/2014/main" id="{748488C1-9ADA-486B-B625-0DF56A209A16}"/>
              </a:ext>
            </a:extLst>
          </p:cNvPr>
          <p:cNvSpPr>
            <a:spLocks noGrp="1"/>
          </p:cNvSpPr>
          <p:nvPr/>
        </p:nvSpPr>
        <p:spPr>
          <a:xfrm>
            <a:off x="1685925" y="35528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更多 VPC 省略点-36">
            <a:extLst>
              <a:ext uri="{FF2B5EF4-FFF2-40B4-BE49-F238E27FC236}">
                <a16:creationId xmlns:a16="http://schemas.microsoft.com/office/drawing/2014/main" id="{2A8984E7-916D-4ED1-8907-D0EB26ACC4FE}"/>
              </a:ext>
            </a:extLst>
          </p:cNvPr>
          <p:cNvSpPr>
            <a:spLocks noGrp="1"/>
          </p:cNvSpPr>
          <p:nvPr/>
        </p:nvSpPr>
        <p:spPr>
          <a:xfrm>
            <a:off x="1685925" y="358140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更多 VPC 省略点-37">
            <a:extLst>
              <a:ext uri="{FF2B5EF4-FFF2-40B4-BE49-F238E27FC236}">
                <a16:creationId xmlns:a16="http://schemas.microsoft.com/office/drawing/2014/main" id="{557EAE6D-EC97-438F-943D-55B942C6237C}"/>
              </a:ext>
            </a:extLst>
          </p:cNvPr>
          <p:cNvSpPr>
            <a:spLocks noGrp="1"/>
          </p:cNvSpPr>
          <p:nvPr/>
        </p:nvSpPr>
        <p:spPr>
          <a:xfrm>
            <a:off x="1685925" y="3609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区域 ER玻璃后沿-38">
            <a:extLst>
              <a:ext uri="{FF2B5EF4-FFF2-40B4-BE49-F238E27FC236}">
                <a16:creationId xmlns:a16="http://schemas.microsoft.com/office/drawing/2014/main" id="{B9EA4B1E-43C1-4C1F-89D6-A7AF5395D4A1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区域 ER-39">
            <a:extLst>
              <a:ext uri="{FF2B5EF4-FFF2-40B4-BE49-F238E27FC236}">
                <a16:creationId xmlns:a16="http://schemas.microsoft.com/office/drawing/2014/main" id="{1600615C-3058-4D31-8694-1A875883295F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区域 ER玻璃内沿-40">
            <a:extLst>
              <a:ext uri="{FF2B5EF4-FFF2-40B4-BE49-F238E27FC236}">
                <a16:creationId xmlns:a16="http://schemas.microsoft.com/office/drawing/2014/main" id="{C17229FF-81E9-481C-8CB0-5E41CED0E2D2}"/>
              </a:ext>
            </a:extLst>
          </p:cNvPr>
          <p:cNvSpPr>
            <a:spLocks noGrp="1"/>
          </p:cNvSpPr>
          <p:nvPr/>
        </p:nvSpPr>
        <p:spPr>
          <a:xfrm>
            <a:off x="2870359" y="332755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区域 ER边缘高光-41">
            <a:extLst>
              <a:ext uri="{FF2B5EF4-FFF2-40B4-BE49-F238E27FC236}">
                <a16:creationId xmlns:a16="http://schemas.microsoft.com/office/drawing/2014/main" id="{993809D4-E31B-4DFC-93B0-A196B4B75EF9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router ER 路由器外形-42">
            <a:extLst>
              <a:ext uri="{FF2B5EF4-FFF2-40B4-BE49-F238E27FC236}">
                <a16:creationId xmlns:a16="http://schemas.microsoft.com/office/drawing/2014/main" id="{147A899B-AB5B-43CE-A876-AF3C9061C3B3}"/>
              </a:ext>
            </a:extLst>
          </p:cNvPr>
          <p:cNvSpPr>
            <a:spLocks noGrp="1"/>
          </p:cNvSpPr>
          <p:nvPr/>
        </p:nvSpPr>
        <p:spPr>
          <a:xfrm>
            <a:off x="29718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router ER 四向路由-43">
            <a:extLst>
              <a:ext uri="{FF2B5EF4-FFF2-40B4-BE49-F238E27FC236}">
                <a16:creationId xmlns:a16="http://schemas.microsoft.com/office/drawing/2014/main" id="{0DB5BA5A-169D-4706-957A-9250D45B1CA9}"/>
              </a:ext>
            </a:extLst>
          </p:cNvPr>
          <p:cNvSpPr>
            <a:spLocks noGrp="1"/>
          </p:cNvSpPr>
          <p:nvPr/>
        </p:nvSpPr>
        <p:spPr>
          <a:xfrm>
            <a:off x="29718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ER-44">
            <a:extLst>
              <a:ext uri="{FF2B5EF4-FFF2-40B4-BE49-F238E27FC236}">
                <a16:creationId xmlns:a16="http://schemas.microsoft.com/office/drawing/2014/main" id="{9B86B259-BF3A-475A-8367-2F7FC7DA6B74}"/>
              </a:ext>
            </a:extLst>
          </p:cNvPr>
          <p:cNvSpPr>
            <a:spLocks noGrp="1"/>
          </p:cNvSpPr>
          <p:nvPr/>
        </p:nvSpPr>
        <p:spPr>
          <a:xfrm>
            <a:off x="3400425" y="34004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56" name="统一风格-文字 业务 VPC-45">
            <a:extLst>
              <a:ext uri="{FF2B5EF4-FFF2-40B4-BE49-F238E27FC236}">
                <a16:creationId xmlns:a16="http://schemas.microsoft.com/office/drawing/2014/main" id="{5852BFF6-60FD-478A-A208-A2BA7391412B}"/>
              </a:ext>
            </a:extLst>
          </p:cNvPr>
          <p:cNvSpPr>
            <a:spLocks noGrp="1"/>
          </p:cNvSpPr>
          <p:nvPr/>
        </p:nvSpPr>
        <p:spPr>
          <a:xfrm>
            <a:off x="4648200" y="304800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57" name="VPC 1 连接至 ER">
            <a:extLst>
              <a:ext uri="{FF2B5EF4-FFF2-40B4-BE49-F238E27FC236}">
                <a16:creationId xmlns:a16="http://schemas.microsoft.com/office/drawing/2014/main" id="{B76A2DD7-7B24-4298-A103-D82B571A71ED}"/>
              </a:ext>
            </a:extLst>
          </p:cNvPr>
          <p:cNvCxnSpPr/>
          <p:nvPr/>
        </p:nvCxnSpPr>
        <p:spPr>
          <a:xfrm>
            <a:off x="6057900" y="34099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58" name="VPC n 连接至 ER">
            <a:extLst>
              <a:ext uri="{FF2B5EF4-FFF2-40B4-BE49-F238E27FC236}">
                <a16:creationId xmlns:a16="http://schemas.microsoft.com/office/drawing/2014/main" id="{1CD50417-8491-49B3-AF53-695E02D858A6}"/>
              </a:ext>
            </a:extLst>
          </p:cNvPr>
          <p:cNvCxnSpPr/>
          <p:nvPr/>
        </p:nvCxnSpPr>
        <p:spPr>
          <a:xfrm>
            <a:off x="6057900" y="37719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59" name="多个 VPC 连接汇聚">
            <a:extLst>
              <a:ext uri="{FF2B5EF4-FFF2-40B4-BE49-F238E27FC236}">
                <a16:creationId xmlns:a16="http://schemas.microsoft.com/office/drawing/2014/main" id="{7A5F7CB8-631B-42A8-978D-0F2C116B80A3}"/>
              </a:ext>
            </a:extLst>
          </p:cNvPr>
          <p:cNvCxnSpPr/>
          <p:nvPr/>
        </p:nvCxnSpPr>
        <p:spPr>
          <a:xfrm>
            <a:off x="6286500" y="340995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60" name="业务 VPC 连接区域 ER">
            <a:extLst>
              <a:ext uri="{FF2B5EF4-FFF2-40B4-BE49-F238E27FC236}">
                <a16:creationId xmlns:a16="http://schemas.microsoft.com/office/drawing/2014/main" id="{1F17F475-994C-42E8-96DF-3D559939996B}"/>
              </a:ext>
            </a:extLst>
          </p:cNvPr>
          <p:cNvCxnSpPr/>
          <p:nvPr/>
        </p:nvCxnSpPr>
        <p:spPr>
          <a:xfrm>
            <a:off x="6286500" y="359092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61" name="统一风格-VPC 1玻璃后沿-46">
            <a:extLst>
              <a:ext uri="{FF2B5EF4-FFF2-40B4-BE49-F238E27FC236}">
                <a16:creationId xmlns:a16="http://schemas.microsoft.com/office/drawing/2014/main" id="{05E7B3DA-AA02-4616-8D4E-BB5238355844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VPC 1-47">
            <a:extLst>
              <a:ext uri="{FF2B5EF4-FFF2-40B4-BE49-F238E27FC236}">
                <a16:creationId xmlns:a16="http://schemas.microsoft.com/office/drawing/2014/main" id="{9A53B93D-24C6-4781-9ABF-EC4FBCAC4D7D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VPC 1玻璃内沿-48">
            <a:extLst>
              <a:ext uri="{FF2B5EF4-FFF2-40B4-BE49-F238E27FC236}">
                <a16:creationId xmlns:a16="http://schemas.microsoft.com/office/drawing/2014/main" id="{09CC0429-7F98-4317-AE2D-35E930E962B2}"/>
              </a:ext>
            </a:extLst>
          </p:cNvPr>
          <p:cNvSpPr>
            <a:spLocks noGrp="1"/>
          </p:cNvSpPr>
          <p:nvPr/>
        </p:nvSpPr>
        <p:spPr>
          <a:xfrm>
            <a:off x="4661059" y="32894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VPC 1边缘高光-49">
            <a:extLst>
              <a:ext uri="{FF2B5EF4-FFF2-40B4-BE49-F238E27FC236}">
                <a16:creationId xmlns:a16="http://schemas.microsoft.com/office/drawing/2014/main" id="{CA62F60D-E8DA-44D0-B7E2-C45009657199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cloud VPC 云轮廓-50">
            <a:extLst>
              <a:ext uri="{FF2B5EF4-FFF2-40B4-BE49-F238E27FC236}">
                <a16:creationId xmlns:a16="http://schemas.microsoft.com/office/drawing/2014/main" id="{DF1FC68A-FCB6-4C54-BEDB-CBB7BF44FEA7}"/>
              </a:ext>
            </a:extLst>
          </p:cNvPr>
          <p:cNvSpPr>
            <a:spLocks noGrp="1"/>
          </p:cNvSpPr>
          <p:nvPr/>
        </p:nvSpPr>
        <p:spPr>
          <a:xfrm>
            <a:off x="4743450" y="32956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文字 VPC 1-51">
            <a:extLst>
              <a:ext uri="{FF2B5EF4-FFF2-40B4-BE49-F238E27FC236}">
                <a16:creationId xmlns:a16="http://schemas.microsoft.com/office/drawing/2014/main" id="{E5365D8E-E8BC-4C13-BE84-5BB46044FD35}"/>
              </a:ext>
            </a:extLst>
          </p:cNvPr>
          <p:cNvSpPr>
            <a:spLocks noGrp="1"/>
          </p:cNvSpPr>
          <p:nvPr/>
        </p:nvSpPr>
        <p:spPr>
          <a:xfrm>
            <a:off x="5086350" y="32861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67" name="统一风格-VPC n玻璃后沿-52">
            <a:extLst>
              <a:ext uri="{FF2B5EF4-FFF2-40B4-BE49-F238E27FC236}">
                <a16:creationId xmlns:a16="http://schemas.microsoft.com/office/drawing/2014/main" id="{999D4ED5-FEF4-4D7F-85C5-2BB17216C675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VPC n-53">
            <a:extLst>
              <a:ext uri="{FF2B5EF4-FFF2-40B4-BE49-F238E27FC236}">
                <a16:creationId xmlns:a16="http://schemas.microsoft.com/office/drawing/2014/main" id="{02352F7D-9A1F-4FB2-AE67-2E41C20CB2CC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VPC n玻璃内沿-54">
            <a:extLst>
              <a:ext uri="{FF2B5EF4-FFF2-40B4-BE49-F238E27FC236}">
                <a16:creationId xmlns:a16="http://schemas.microsoft.com/office/drawing/2014/main" id="{E5441F16-2F35-4A67-9B0D-BE38BC9305B9}"/>
              </a:ext>
            </a:extLst>
          </p:cNvPr>
          <p:cNvSpPr>
            <a:spLocks noGrp="1"/>
          </p:cNvSpPr>
          <p:nvPr/>
        </p:nvSpPr>
        <p:spPr>
          <a:xfrm>
            <a:off x="4661059" y="36514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VPC n边缘高光-55">
            <a:extLst>
              <a:ext uri="{FF2B5EF4-FFF2-40B4-BE49-F238E27FC236}">
                <a16:creationId xmlns:a16="http://schemas.microsoft.com/office/drawing/2014/main" id="{5C5CC107-B766-402D-9116-6769A8BEF51A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cloud VPC 云轮廓-56">
            <a:extLst>
              <a:ext uri="{FF2B5EF4-FFF2-40B4-BE49-F238E27FC236}">
                <a16:creationId xmlns:a16="http://schemas.microsoft.com/office/drawing/2014/main" id="{43A7D8CE-B0F6-4A0C-A089-24DA9C6774BF}"/>
              </a:ext>
            </a:extLst>
          </p:cNvPr>
          <p:cNvSpPr>
            <a:spLocks noGrp="1"/>
          </p:cNvSpPr>
          <p:nvPr/>
        </p:nvSpPr>
        <p:spPr>
          <a:xfrm>
            <a:off x="4743450" y="36576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文字 VPC n-57">
            <a:extLst>
              <a:ext uri="{FF2B5EF4-FFF2-40B4-BE49-F238E27FC236}">
                <a16:creationId xmlns:a16="http://schemas.microsoft.com/office/drawing/2014/main" id="{AD8D27BD-A546-4389-874F-87ED5A615527}"/>
              </a:ext>
            </a:extLst>
          </p:cNvPr>
          <p:cNvSpPr>
            <a:spLocks noGrp="1"/>
          </p:cNvSpPr>
          <p:nvPr/>
        </p:nvSpPr>
        <p:spPr>
          <a:xfrm>
            <a:off x="5086350" y="36480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73" name="统一风格-更多 VPC 省略点-58">
            <a:extLst>
              <a:ext uri="{FF2B5EF4-FFF2-40B4-BE49-F238E27FC236}">
                <a16:creationId xmlns:a16="http://schemas.microsoft.com/office/drawing/2014/main" id="{136EA8A3-E01C-4EE7-868D-837510EC8DD6}"/>
              </a:ext>
            </a:extLst>
          </p:cNvPr>
          <p:cNvSpPr>
            <a:spLocks noGrp="1"/>
          </p:cNvSpPr>
          <p:nvPr/>
        </p:nvSpPr>
        <p:spPr>
          <a:xfrm>
            <a:off x="5343525" y="35528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更多 VPC 省略点-59">
            <a:extLst>
              <a:ext uri="{FF2B5EF4-FFF2-40B4-BE49-F238E27FC236}">
                <a16:creationId xmlns:a16="http://schemas.microsoft.com/office/drawing/2014/main" id="{6D4BE26D-966B-42FC-BE8A-4168FA83D412}"/>
              </a:ext>
            </a:extLst>
          </p:cNvPr>
          <p:cNvSpPr>
            <a:spLocks noGrp="1"/>
          </p:cNvSpPr>
          <p:nvPr/>
        </p:nvSpPr>
        <p:spPr>
          <a:xfrm>
            <a:off x="5343525" y="358140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更多 VPC 省略点-60">
            <a:extLst>
              <a:ext uri="{FF2B5EF4-FFF2-40B4-BE49-F238E27FC236}">
                <a16:creationId xmlns:a16="http://schemas.microsoft.com/office/drawing/2014/main" id="{C82EB856-A084-46D6-90CD-FBC7030331E4}"/>
              </a:ext>
            </a:extLst>
          </p:cNvPr>
          <p:cNvSpPr>
            <a:spLocks noGrp="1"/>
          </p:cNvSpPr>
          <p:nvPr/>
        </p:nvSpPr>
        <p:spPr>
          <a:xfrm>
            <a:off x="5343525" y="3609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区域 ER玻璃后沿-61">
            <a:extLst>
              <a:ext uri="{FF2B5EF4-FFF2-40B4-BE49-F238E27FC236}">
                <a16:creationId xmlns:a16="http://schemas.microsoft.com/office/drawing/2014/main" id="{6B419105-1A31-4ECD-B987-AABF2AE1F85E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区域 ER-62">
            <a:extLst>
              <a:ext uri="{FF2B5EF4-FFF2-40B4-BE49-F238E27FC236}">
                <a16:creationId xmlns:a16="http://schemas.microsoft.com/office/drawing/2014/main" id="{8E4E8DCC-5AFF-4188-AD82-E540B28CDBBA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区域 ER玻璃内沿-63">
            <a:extLst>
              <a:ext uri="{FF2B5EF4-FFF2-40B4-BE49-F238E27FC236}">
                <a16:creationId xmlns:a16="http://schemas.microsoft.com/office/drawing/2014/main" id="{246D97A1-4594-41E1-B978-809D728142BE}"/>
              </a:ext>
            </a:extLst>
          </p:cNvPr>
          <p:cNvSpPr>
            <a:spLocks noGrp="1"/>
          </p:cNvSpPr>
          <p:nvPr/>
        </p:nvSpPr>
        <p:spPr>
          <a:xfrm>
            <a:off x="6527959" y="332755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区域 ER边缘高光-64">
            <a:extLst>
              <a:ext uri="{FF2B5EF4-FFF2-40B4-BE49-F238E27FC236}">
                <a16:creationId xmlns:a16="http://schemas.microsoft.com/office/drawing/2014/main" id="{B36FC282-330D-48DF-9503-D3C48205388D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router ER 路由器外形-65">
            <a:extLst>
              <a:ext uri="{FF2B5EF4-FFF2-40B4-BE49-F238E27FC236}">
                <a16:creationId xmlns:a16="http://schemas.microsoft.com/office/drawing/2014/main" id="{E9419D6E-F2A7-4EBA-8BBC-5607E0AC92F8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router ER 四向路由-66">
            <a:extLst>
              <a:ext uri="{FF2B5EF4-FFF2-40B4-BE49-F238E27FC236}">
                <a16:creationId xmlns:a16="http://schemas.microsoft.com/office/drawing/2014/main" id="{7D9DBA1E-CA88-4706-A0D1-416E87E3BD48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文字 ER-67">
            <a:extLst>
              <a:ext uri="{FF2B5EF4-FFF2-40B4-BE49-F238E27FC236}">
                <a16:creationId xmlns:a16="http://schemas.microsoft.com/office/drawing/2014/main" id="{B0F57DAC-00BF-4CAA-9527-9B49F472955B}"/>
              </a:ext>
            </a:extLst>
          </p:cNvPr>
          <p:cNvSpPr>
            <a:spLocks noGrp="1"/>
          </p:cNvSpPr>
          <p:nvPr/>
        </p:nvSpPr>
        <p:spPr>
          <a:xfrm>
            <a:off x="7058025" y="34004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83" name="统一风格-文字 业务 VPC-68">
            <a:extLst>
              <a:ext uri="{FF2B5EF4-FFF2-40B4-BE49-F238E27FC236}">
                <a16:creationId xmlns:a16="http://schemas.microsoft.com/office/drawing/2014/main" id="{E5870CB6-72B3-4AD4-8067-E9D69193871A}"/>
              </a:ext>
            </a:extLst>
          </p:cNvPr>
          <p:cNvSpPr>
            <a:spLocks noGrp="1"/>
          </p:cNvSpPr>
          <p:nvPr/>
        </p:nvSpPr>
        <p:spPr>
          <a:xfrm>
            <a:off x="8305800" y="304800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84" name="VPC 1 连接至 ER">
            <a:extLst>
              <a:ext uri="{FF2B5EF4-FFF2-40B4-BE49-F238E27FC236}">
                <a16:creationId xmlns:a16="http://schemas.microsoft.com/office/drawing/2014/main" id="{18AA72F1-77EA-4E57-8289-850E26405DA8}"/>
              </a:ext>
            </a:extLst>
          </p:cNvPr>
          <p:cNvCxnSpPr/>
          <p:nvPr/>
        </p:nvCxnSpPr>
        <p:spPr>
          <a:xfrm>
            <a:off x="9715500" y="34099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85" name="VPC n 连接至 ER">
            <a:extLst>
              <a:ext uri="{FF2B5EF4-FFF2-40B4-BE49-F238E27FC236}">
                <a16:creationId xmlns:a16="http://schemas.microsoft.com/office/drawing/2014/main" id="{2181D996-67F7-4EAD-BA7A-ED3850B4EB31}"/>
              </a:ext>
            </a:extLst>
          </p:cNvPr>
          <p:cNvCxnSpPr/>
          <p:nvPr/>
        </p:nvCxnSpPr>
        <p:spPr>
          <a:xfrm>
            <a:off x="9715500" y="37719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86" name="多个 VPC 连接汇聚">
            <a:extLst>
              <a:ext uri="{FF2B5EF4-FFF2-40B4-BE49-F238E27FC236}">
                <a16:creationId xmlns:a16="http://schemas.microsoft.com/office/drawing/2014/main" id="{6B329184-6A30-4713-919F-51AF783E5224}"/>
              </a:ext>
            </a:extLst>
          </p:cNvPr>
          <p:cNvCxnSpPr/>
          <p:nvPr/>
        </p:nvCxnSpPr>
        <p:spPr>
          <a:xfrm>
            <a:off x="9944100" y="340995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87" name="业务 VPC 连接区域 ER">
            <a:extLst>
              <a:ext uri="{FF2B5EF4-FFF2-40B4-BE49-F238E27FC236}">
                <a16:creationId xmlns:a16="http://schemas.microsoft.com/office/drawing/2014/main" id="{E8A74072-76E8-407B-9071-48B723C960F2}"/>
              </a:ext>
            </a:extLst>
          </p:cNvPr>
          <p:cNvCxnSpPr/>
          <p:nvPr/>
        </p:nvCxnSpPr>
        <p:spPr>
          <a:xfrm>
            <a:off x="9944100" y="359092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88" name="统一风格-VPC 1玻璃后沿-69">
            <a:extLst>
              <a:ext uri="{FF2B5EF4-FFF2-40B4-BE49-F238E27FC236}">
                <a16:creationId xmlns:a16="http://schemas.microsoft.com/office/drawing/2014/main" id="{C0DC1575-0BA9-4AD6-9DC2-AE3C5C7C8905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VPC 1-70">
            <a:extLst>
              <a:ext uri="{FF2B5EF4-FFF2-40B4-BE49-F238E27FC236}">
                <a16:creationId xmlns:a16="http://schemas.microsoft.com/office/drawing/2014/main" id="{92CB07B6-8558-41F2-97A6-58D660FBE294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VPC 1玻璃内沿-71">
            <a:extLst>
              <a:ext uri="{FF2B5EF4-FFF2-40B4-BE49-F238E27FC236}">
                <a16:creationId xmlns:a16="http://schemas.microsoft.com/office/drawing/2014/main" id="{FAFD998A-C6BE-4A62-8113-3C15CD77871D}"/>
              </a:ext>
            </a:extLst>
          </p:cNvPr>
          <p:cNvSpPr>
            <a:spLocks noGrp="1"/>
          </p:cNvSpPr>
          <p:nvPr/>
        </p:nvSpPr>
        <p:spPr>
          <a:xfrm>
            <a:off x="8318659" y="32894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VPC 1边缘高光-72">
            <a:extLst>
              <a:ext uri="{FF2B5EF4-FFF2-40B4-BE49-F238E27FC236}">
                <a16:creationId xmlns:a16="http://schemas.microsoft.com/office/drawing/2014/main" id="{C1B76319-5FC6-4B2C-88F1-90FDCF85A406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2" name="统一风格-cloud VPC 云轮廓-73">
            <a:extLst>
              <a:ext uri="{FF2B5EF4-FFF2-40B4-BE49-F238E27FC236}">
                <a16:creationId xmlns:a16="http://schemas.microsoft.com/office/drawing/2014/main" id="{4B71D06F-6146-453A-B70D-E1F6E9E3584F}"/>
              </a:ext>
            </a:extLst>
          </p:cNvPr>
          <p:cNvSpPr>
            <a:spLocks noGrp="1"/>
          </p:cNvSpPr>
          <p:nvPr/>
        </p:nvSpPr>
        <p:spPr>
          <a:xfrm>
            <a:off x="8401050" y="32956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" name="统一风格-文字 VPC 1-74">
            <a:extLst>
              <a:ext uri="{FF2B5EF4-FFF2-40B4-BE49-F238E27FC236}">
                <a16:creationId xmlns:a16="http://schemas.microsoft.com/office/drawing/2014/main" id="{7AC50108-BB01-41CD-AA9D-A7DFA3445DFC}"/>
              </a:ext>
            </a:extLst>
          </p:cNvPr>
          <p:cNvSpPr>
            <a:spLocks noGrp="1"/>
          </p:cNvSpPr>
          <p:nvPr/>
        </p:nvSpPr>
        <p:spPr>
          <a:xfrm>
            <a:off x="8743950" y="32861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94" name="统一风格-VPC n玻璃后沿-75">
            <a:extLst>
              <a:ext uri="{FF2B5EF4-FFF2-40B4-BE49-F238E27FC236}">
                <a16:creationId xmlns:a16="http://schemas.microsoft.com/office/drawing/2014/main" id="{A426D730-9311-4362-91F8-9405D9A1FD93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统一风格-VPC n-76">
            <a:extLst>
              <a:ext uri="{FF2B5EF4-FFF2-40B4-BE49-F238E27FC236}">
                <a16:creationId xmlns:a16="http://schemas.microsoft.com/office/drawing/2014/main" id="{3807041E-E1E6-4BB0-B781-997C7DF685D9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统一风格-VPC n玻璃内沿-77">
            <a:extLst>
              <a:ext uri="{FF2B5EF4-FFF2-40B4-BE49-F238E27FC236}">
                <a16:creationId xmlns:a16="http://schemas.microsoft.com/office/drawing/2014/main" id="{38CB6246-BD75-4EF0-88C3-2F58FB26A87A}"/>
              </a:ext>
            </a:extLst>
          </p:cNvPr>
          <p:cNvSpPr>
            <a:spLocks noGrp="1"/>
          </p:cNvSpPr>
          <p:nvPr/>
        </p:nvSpPr>
        <p:spPr>
          <a:xfrm>
            <a:off x="8318659" y="36514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统一风格-VPC n边缘高光-78">
            <a:extLst>
              <a:ext uri="{FF2B5EF4-FFF2-40B4-BE49-F238E27FC236}">
                <a16:creationId xmlns:a16="http://schemas.microsoft.com/office/drawing/2014/main" id="{24C38351-BB81-4C49-8117-89B60DB8CBF6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8" name="统一风格-cloud VPC 云轮廓-79">
            <a:extLst>
              <a:ext uri="{FF2B5EF4-FFF2-40B4-BE49-F238E27FC236}">
                <a16:creationId xmlns:a16="http://schemas.microsoft.com/office/drawing/2014/main" id="{3F3DB379-17B8-4307-A6E8-46A82E7D923D}"/>
              </a:ext>
            </a:extLst>
          </p:cNvPr>
          <p:cNvSpPr>
            <a:spLocks noGrp="1"/>
          </p:cNvSpPr>
          <p:nvPr/>
        </p:nvSpPr>
        <p:spPr>
          <a:xfrm>
            <a:off x="8401050" y="36576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9" name="统一风格-文字 VPC n-80">
            <a:extLst>
              <a:ext uri="{FF2B5EF4-FFF2-40B4-BE49-F238E27FC236}">
                <a16:creationId xmlns:a16="http://schemas.microsoft.com/office/drawing/2014/main" id="{5E71D5C5-6734-4C1F-845A-3CEF8A012FB7}"/>
              </a:ext>
            </a:extLst>
          </p:cNvPr>
          <p:cNvSpPr>
            <a:spLocks noGrp="1"/>
          </p:cNvSpPr>
          <p:nvPr/>
        </p:nvSpPr>
        <p:spPr>
          <a:xfrm>
            <a:off x="8743950" y="36480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00" name="统一风格-更多 VPC 省略点-81">
            <a:extLst>
              <a:ext uri="{FF2B5EF4-FFF2-40B4-BE49-F238E27FC236}">
                <a16:creationId xmlns:a16="http://schemas.microsoft.com/office/drawing/2014/main" id="{919E0531-6E93-4CEC-8E98-19E2D2FB2725}"/>
              </a:ext>
            </a:extLst>
          </p:cNvPr>
          <p:cNvSpPr>
            <a:spLocks noGrp="1"/>
          </p:cNvSpPr>
          <p:nvPr/>
        </p:nvSpPr>
        <p:spPr>
          <a:xfrm>
            <a:off x="9001125" y="35528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统一风格-更多 VPC 省略点-82">
            <a:extLst>
              <a:ext uri="{FF2B5EF4-FFF2-40B4-BE49-F238E27FC236}">
                <a16:creationId xmlns:a16="http://schemas.microsoft.com/office/drawing/2014/main" id="{08C84107-CAF6-4BA9-9C12-22E9297C2943}"/>
              </a:ext>
            </a:extLst>
          </p:cNvPr>
          <p:cNvSpPr>
            <a:spLocks noGrp="1"/>
          </p:cNvSpPr>
          <p:nvPr/>
        </p:nvSpPr>
        <p:spPr>
          <a:xfrm>
            <a:off x="9001125" y="358140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统一风格-更多 VPC 省略点-83">
            <a:extLst>
              <a:ext uri="{FF2B5EF4-FFF2-40B4-BE49-F238E27FC236}">
                <a16:creationId xmlns:a16="http://schemas.microsoft.com/office/drawing/2014/main" id="{20B31C3C-B4F0-4E99-9BBD-187F82E6ED73}"/>
              </a:ext>
            </a:extLst>
          </p:cNvPr>
          <p:cNvSpPr>
            <a:spLocks noGrp="1"/>
          </p:cNvSpPr>
          <p:nvPr/>
        </p:nvSpPr>
        <p:spPr>
          <a:xfrm>
            <a:off x="9001125" y="3609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统一风格-区域 ER玻璃后沿-84">
            <a:extLst>
              <a:ext uri="{FF2B5EF4-FFF2-40B4-BE49-F238E27FC236}">
                <a16:creationId xmlns:a16="http://schemas.microsoft.com/office/drawing/2014/main" id="{20428883-0102-4562-843D-2C98534476B3}"/>
              </a:ext>
            </a:extLst>
          </p:cNvPr>
          <p:cNvSpPr>
            <a:spLocks noGrp="1"/>
          </p:cNvSpPr>
          <p:nvPr/>
        </p:nvSpPr>
        <p:spPr>
          <a:xfrm>
            <a:off x="101727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统一风格-区域 ER-85">
            <a:extLst>
              <a:ext uri="{FF2B5EF4-FFF2-40B4-BE49-F238E27FC236}">
                <a16:creationId xmlns:a16="http://schemas.microsoft.com/office/drawing/2014/main" id="{CC679F8B-46A6-4B39-8599-FC2BA7DF0D1E}"/>
              </a:ext>
            </a:extLst>
          </p:cNvPr>
          <p:cNvSpPr>
            <a:spLocks noGrp="1"/>
          </p:cNvSpPr>
          <p:nvPr/>
        </p:nvSpPr>
        <p:spPr>
          <a:xfrm>
            <a:off x="10172700" y="331470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统一风格-区域 ER玻璃内沿-86">
            <a:extLst>
              <a:ext uri="{FF2B5EF4-FFF2-40B4-BE49-F238E27FC236}">
                <a16:creationId xmlns:a16="http://schemas.microsoft.com/office/drawing/2014/main" id="{36654B33-AD00-4F5B-A0DA-D8151932F087}"/>
              </a:ext>
            </a:extLst>
          </p:cNvPr>
          <p:cNvSpPr>
            <a:spLocks noGrp="1"/>
          </p:cNvSpPr>
          <p:nvPr/>
        </p:nvSpPr>
        <p:spPr>
          <a:xfrm>
            <a:off x="10185559" y="332755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统一风格-区域 ER边缘高光-87">
            <a:extLst>
              <a:ext uri="{FF2B5EF4-FFF2-40B4-BE49-F238E27FC236}">
                <a16:creationId xmlns:a16="http://schemas.microsoft.com/office/drawing/2014/main" id="{6E136CE6-663F-40C8-A029-FA15AC02B4AB}"/>
              </a:ext>
            </a:extLst>
          </p:cNvPr>
          <p:cNvSpPr>
            <a:spLocks noGrp="1"/>
          </p:cNvSpPr>
          <p:nvPr/>
        </p:nvSpPr>
        <p:spPr>
          <a:xfrm>
            <a:off x="10172700" y="331470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7" name="统一风格-router ER 路由器外形-88">
            <a:extLst>
              <a:ext uri="{FF2B5EF4-FFF2-40B4-BE49-F238E27FC236}">
                <a16:creationId xmlns:a16="http://schemas.microsoft.com/office/drawing/2014/main" id="{36D70E6D-081A-44D8-90F1-26845E38FE90}"/>
              </a:ext>
            </a:extLst>
          </p:cNvPr>
          <p:cNvSpPr>
            <a:spLocks noGrp="1"/>
          </p:cNvSpPr>
          <p:nvPr/>
        </p:nvSpPr>
        <p:spPr>
          <a:xfrm>
            <a:off x="102870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8" name="统一风格-router ER 四向路由-89">
            <a:extLst>
              <a:ext uri="{FF2B5EF4-FFF2-40B4-BE49-F238E27FC236}">
                <a16:creationId xmlns:a16="http://schemas.microsoft.com/office/drawing/2014/main" id="{23DA056A-6A4C-4225-85FD-5768E8699F26}"/>
              </a:ext>
            </a:extLst>
          </p:cNvPr>
          <p:cNvSpPr>
            <a:spLocks noGrp="1"/>
          </p:cNvSpPr>
          <p:nvPr/>
        </p:nvSpPr>
        <p:spPr>
          <a:xfrm>
            <a:off x="10287000" y="342900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9" name="统一风格-文字 ER-90">
            <a:extLst>
              <a:ext uri="{FF2B5EF4-FFF2-40B4-BE49-F238E27FC236}">
                <a16:creationId xmlns:a16="http://schemas.microsoft.com/office/drawing/2014/main" id="{BF87A74F-3F43-4E63-8170-594229270E2E}"/>
              </a:ext>
            </a:extLst>
          </p:cNvPr>
          <p:cNvSpPr>
            <a:spLocks noGrp="1"/>
          </p:cNvSpPr>
          <p:nvPr/>
        </p:nvSpPr>
        <p:spPr>
          <a:xfrm>
            <a:off x="10715625" y="34004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10" name="统一风格-文字 业务 VPC-91">
            <a:extLst>
              <a:ext uri="{FF2B5EF4-FFF2-40B4-BE49-F238E27FC236}">
                <a16:creationId xmlns:a16="http://schemas.microsoft.com/office/drawing/2014/main" id="{F4FA6D19-BA59-48AB-BC9A-7BC281826FC8}"/>
              </a:ext>
            </a:extLst>
          </p:cNvPr>
          <p:cNvSpPr>
            <a:spLocks noGrp="1"/>
          </p:cNvSpPr>
          <p:nvPr/>
        </p:nvSpPr>
        <p:spPr>
          <a:xfrm>
            <a:off x="990600" y="539115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111" name="VPC 1 连接至 ER">
            <a:extLst>
              <a:ext uri="{FF2B5EF4-FFF2-40B4-BE49-F238E27FC236}">
                <a16:creationId xmlns:a16="http://schemas.microsoft.com/office/drawing/2014/main" id="{F6A56368-5033-4956-8084-4A1A198DCF6B}"/>
              </a:ext>
            </a:extLst>
          </p:cNvPr>
          <p:cNvCxnSpPr/>
          <p:nvPr/>
        </p:nvCxnSpPr>
        <p:spPr>
          <a:xfrm>
            <a:off x="2400300" y="57531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12" name="VPC n 连接至 ER">
            <a:extLst>
              <a:ext uri="{FF2B5EF4-FFF2-40B4-BE49-F238E27FC236}">
                <a16:creationId xmlns:a16="http://schemas.microsoft.com/office/drawing/2014/main" id="{CBC78D91-BB52-4AB0-87A0-C4946119A0FC}"/>
              </a:ext>
            </a:extLst>
          </p:cNvPr>
          <p:cNvCxnSpPr/>
          <p:nvPr/>
        </p:nvCxnSpPr>
        <p:spPr>
          <a:xfrm>
            <a:off x="2400300" y="61150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13" name="多个 VPC 连接汇聚">
            <a:extLst>
              <a:ext uri="{FF2B5EF4-FFF2-40B4-BE49-F238E27FC236}">
                <a16:creationId xmlns:a16="http://schemas.microsoft.com/office/drawing/2014/main" id="{690D7633-122A-42DE-B02C-F3A438248541}"/>
              </a:ext>
            </a:extLst>
          </p:cNvPr>
          <p:cNvCxnSpPr/>
          <p:nvPr/>
        </p:nvCxnSpPr>
        <p:spPr>
          <a:xfrm>
            <a:off x="2628900" y="575310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14" name="业务 VPC 连接区域 ER">
            <a:extLst>
              <a:ext uri="{FF2B5EF4-FFF2-40B4-BE49-F238E27FC236}">
                <a16:creationId xmlns:a16="http://schemas.microsoft.com/office/drawing/2014/main" id="{EDBE3DCC-B8AD-4888-B81C-22DA961849A5}"/>
              </a:ext>
            </a:extLst>
          </p:cNvPr>
          <p:cNvCxnSpPr/>
          <p:nvPr/>
        </p:nvCxnSpPr>
        <p:spPr>
          <a:xfrm>
            <a:off x="2628900" y="593407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115" name="统一风格-VPC 1玻璃后沿-92">
            <a:extLst>
              <a:ext uri="{FF2B5EF4-FFF2-40B4-BE49-F238E27FC236}">
                <a16:creationId xmlns:a16="http://schemas.microsoft.com/office/drawing/2014/main" id="{FB4DABA0-AF8C-4A49-8BCD-DACA9553B315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统一风格-VPC 1-93">
            <a:extLst>
              <a:ext uri="{FF2B5EF4-FFF2-40B4-BE49-F238E27FC236}">
                <a16:creationId xmlns:a16="http://schemas.microsoft.com/office/drawing/2014/main" id="{A082FC02-820E-432D-B752-646E39C745EA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统一风格-VPC 1玻璃内沿-94">
            <a:extLst>
              <a:ext uri="{FF2B5EF4-FFF2-40B4-BE49-F238E27FC236}">
                <a16:creationId xmlns:a16="http://schemas.microsoft.com/office/drawing/2014/main" id="{FB7B936E-3EE9-4D8C-8E1D-7AFD7524C589}"/>
              </a:ext>
            </a:extLst>
          </p:cNvPr>
          <p:cNvSpPr>
            <a:spLocks noGrp="1"/>
          </p:cNvSpPr>
          <p:nvPr/>
        </p:nvSpPr>
        <p:spPr>
          <a:xfrm>
            <a:off x="1003459" y="56326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统一风格-VPC 1边缘高光-95">
            <a:extLst>
              <a:ext uri="{FF2B5EF4-FFF2-40B4-BE49-F238E27FC236}">
                <a16:creationId xmlns:a16="http://schemas.microsoft.com/office/drawing/2014/main" id="{272A58E9-E218-42C4-A7D7-EB51C032530B}"/>
              </a:ext>
            </a:extLst>
          </p:cNvPr>
          <p:cNvSpPr>
            <a:spLocks noGrp="1"/>
          </p:cNvSpPr>
          <p:nvPr/>
        </p:nvSpPr>
        <p:spPr>
          <a:xfrm>
            <a:off x="990600" y="56197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9" name="统一风格-cloud VPC 云轮廓-96">
            <a:extLst>
              <a:ext uri="{FF2B5EF4-FFF2-40B4-BE49-F238E27FC236}">
                <a16:creationId xmlns:a16="http://schemas.microsoft.com/office/drawing/2014/main" id="{91009C1D-C229-42EB-A653-72BFD0CF83C1}"/>
              </a:ext>
            </a:extLst>
          </p:cNvPr>
          <p:cNvSpPr>
            <a:spLocks noGrp="1"/>
          </p:cNvSpPr>
          <p:nvPr/>
        </p:nvSpPr>
        <p:spPr>
          <a:xfrm>
            <a:off x="1085850" y="56388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0" name="统一风格-文字 VPC 1-97">
            <a:extLst>
              <a:ext uri="{FF2B5EF4-FFF2-40B4-BE49-F238E27FC236}">
                <a16:creationId xmlns:a16="http://schemas.microsoft.com/office/drawing/2014/main" id="{6A82C4D3-4B91-4CF9-B39D-4667754EC1BC}"/>
              </a:ext>
            </a:extLst>
          </p:cNvPr>
          <p:cNvSpPr>
            <a:spLocks noGrp="1"/>
          </p:cNvSpPr>
          <p:nvPr/>
        </p:nvSpPr>
        <p:spPr>
          <a:xfrm>
            <a:off x="1428750" y="56292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21" name="统一风格-VPC n玻璃后沿-98">
            <a:extLst>
              <a:ext uri="{FF2B5EF4-FFF2-40B4-BE49-F238E27FC236}">
                <a16:creationId xmlns:a16="http://schemas.microsoft.com/office/drawing/2014/main" id="{8956A6A0-206D-4817-989F-2AF35904DB07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统一风格-VPC n-99">
            <a:extLst>
              <a:ext uri="{FF2B5EF4-FFF2-40B4-BE49-F238E27FC236}">
                <a16:creationId xmlns:a16="http://schemas.microsoft.com/office/drawing/2014/main" id="{5B773896-914B-4B88-AAE9-AAE4523B3B73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统一风格-VPC n玻璃内沿-100">
            <a:extLst>
              <a:ext uri="{FF2B5EF4-FFF2-40B4-BE49-F238E27FC236}">
                <a16:creationId xmlns:a16="http://schemas.microsoft.com/office/drawing/2014/main" id="{1E502476-B67B-40A6-A675-CDCA3BC2A0A0}"/>
              </a:ext>
            </a:extLst>
          </p:cNvPr>
          <p:cNvSpPr>
            <a:spLocks noGrp="1"/>
          </p:cNvSpPr>
          <p:nvPr/>
        </p:nvSpPr>
        <p:spPr>
          <a:xfrm>
            <a:off x="1003459" y="59945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统一风格-VPC n边缘高光-101">
            <a:extLst>
              <a:ext uri="{FF2B5EF4-FFF2-40B4-BE49-F238E27FC236}">
                <a16:creationId xmlns:a16="http://schemas.microsoft.com/office/drawing/2014/main" id="{7CF6B76F-0BA9-4042-971E-88354A0A0BA6}"/>
              </a:ext>
            </a:extLst>
          </p:cNvPr>
          <p:cNvSpPr>
            <a:spLocks noGrp="1"/>
          </p:cNvSpPr>
          <p:nvPr/>
        </p:nvSpPr>
        <p:spPr>
          <a:xfrm>
            <a:off x="990600" y="59817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5" name="统一风格-cloud VPC 云轮廓-102">
            <a:extLst>
              <a:ext uri="{FF2B5EF4-FFF2-40B4-BE49-F238E27FC236}">
                <a16:creationId xmlns:a16="http://schemas.microsoft.com/office/drawing/2014/main" id="{3525F657-767C-445A-BE9B-66536896343D}"/>
              </a:ext>
            </a:extLst>
          </p:cNvPr>
          <p:cNvSpPr>
            <a:spLocks noGrp="1"/>
          </p:cNvSpPr>
          <p:nvPr/>
        </p:nvSpPr>
        <p:spPr>
          <a:xfrm>
            <a:off x="1085850" y="60007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6" name="统一风格-文字 VPC n-103">
            <a:extLst>
              <a:ext uri="{FF2B5EF4-FFF2-40B4-BE49-F238E27FC236}">
                <a16:creationId xmlns:a16="http://schemas.microsoft.com/office/drawing/2014/main" id="{E2D539E9-0B5E-48CC-9D91-B3830EEBD1C2}"/>
              </a:ext>
            </a:extLst>
          </p:cNvPr>
          <p:cNvSpPr>
            <a:spLocks noGrp="1"/>
          </p:cNvSpPr>
          <p:nvPr/>
        </p:nvSpPr>
        <p:spPr>
          <a:xfrm>
            <a:off x="1428750" y="59912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27" name="统一风格-更多 VPC 省略点-104">
            <a:extLst>
              <a:ext uri="{FF2B5EF4-FFF2-40B4-BE49-F238E27FC236}">
                <a16:creationId xmlns:a16="http://schemas.microsoft.com/office/drawing/2014/main" id="{A0993B3B-CC71-4F62-87CB-9EC2CE4CFCF1}"/>
              </a:ext>
            </a:extLst>
          </p:cNvPr>
          <p:cNvSpPr>
            <a:spLocks noGrp="1"/>
          </p:cNvSpPr>
          <p:nvPr/>
        </p:nvSpPr>
        <p:spPr>
          <a:xfrm>
            <a:off x="1685925" y="5895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统一风格-更多 VPC 省略点-105">
            <a:extLst>
              <a:ext uri="{FF2B5EF4-FFF2-40B4-BE49-F238E27FC236}">
                <a16:creationId xmlns:a16="http://schemas.microsoft.com/office/drawing/2014/main" id="{F78E94E6-ACFB-4BBD-8B89-4C729CA11536}"/>
              </a:ext>
            </a:extLst>
          </p:cNvPr>
          <p:cNvSpPr>
            <a:spLocks noGrp="1"/>
          </p:cNvSpPr>
          <p:nvPr/>
        </p:nvSpPr>
        <p:spPr>
          <a:xfrm>
            <a:off x="1685925" y="592455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统一风格-更多 VPC 省略点-106">
            <a:extLst>
              <a:ext uri="{FF2B5EF4-FFF2-40B4-BE49-F238E27FC236}">
                <a16:creationId xmlns:a16="http://schemas.microsoft.com/office/drawing/2014/main" id="{9623CB6B-DBC0-44C4-89BE-F32CF47F73D3}"/>
              </a:ext>
            </a:extLst>
          </p:cNvPr>
          <p:cNvSpPr>
            <a:spLocks noGrp="1"/>
          </p:cNvSpPr>
          <p:nvPr/>
        </p:nvSpPr>
        <p:spPr>
          <a:xfrm>
            <a:off x="1685925" y="59531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统一风格-区域 ER玻璃后沿-107">
            <a:extLst>
              <a:ext uri="{FF2B5EF4-FFF2-40B4-BE49-F238E27FC236}">
                <a16:creationId xmlns:a16="http://schemas.microsoft.com/office/drawing/2014/main" id="{CF722E67-59FC-4C71-BA0D-AD9109FCA048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统一风格-区域 ER-108">
            <a:extLst>
              <a:ext uri="{FF2B5EF4-FFF2-40B4-BE49-F238E27FC236}">
                <a16:creationId xmlns:a16="http://schemas.microsoft.com/office/drawing/2014/main" id="{2B9305C5-E0D5-4917-A0A4-9922B2610EA7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统一风格-区域 ER玻璃内沿-109">
            <a:extLst>
              <a:ext uri="{FF2B5EF4-FFF2-40B4-BE49-F238E27FC236}">
                <a16:creationId xmlns:a16="http://schemas.microsoft.com/office/drawing/2014/main" id="{EEDC602E-A2CD-4148-A3BE-E606C39CBE53}"/>
              </a:ext>
            </a:extLst>
          </p:cNvPr>
          <p:cNvSpPr>
            <a:spLocks noGrp="1"/>
          </p:cNvSpPr>
          <p:nvPr/>
        </p:nvSpPr>
        <p:spPr>
          <a:xfrm>
            <a:off x="2870359" y="567070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统一风格-区域 ER边缘高光-110">
            <a:extLst>
              <a:ext uri="{FF2B5EF4-FFF2-40B4-BE49-F238E27FC236}">
                <a16:creationId xmlns:a16="http://schemas.microsoft.com/office/drawing/2014/main" id="{542117D7-39FB-4084-BC9B-32BD0183C33B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4" name="统一风格-router ER 路由器外形-111">
            <a:extLst>
              <a:ext uri="{FF2B5EF4-FFF2-40B4-BE49-F238E27FC236}">
                <a16:creationId xmlns:a16="http://schemas.microsoft.com/office/drawing/2014/main" id="{73792172-644A-499C-8E8F-5C82BBB19DC8}"/>
              </a:ext>
            </a:extLst>
          </p:cNvPr>
          <p:cNvSpPr>
            <a:spLocks noGrp="1"/>
          </p:cNvSpPr>
          <p:nvPr/>
        </p:nvSpPr>
        <p:spPr>
          <a:xfrm>
            <a:off x="29718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5" name="统一风格-router ER 四向路由-112">
            <a:extLst>
              <a:ext uri="{FF2B5EF4-FFF2-40B4-BE49-F238E27FC236}">
                <a16:creationId xmlns:a16="http://schemas.microsoft.com/office/drawing/2014/main" id="{8E34B7FB-43E0-48E9-B0E5-74ABD4037530}"/>
              </a:ext>
            </a:extLst>
          </p:cNvPr>
          <p:cNvSpPr>
            <a:spLocks noGrp="1"/>
          </p:cNvSpPr>
          <p:nvPr/>
        </p:nvSpPr>
        <p:spPr>
          <a:xfrm>
            <a:off x="29718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6" name="统一风格-文字 ER-113">
            <a:extLst>
              <a:ext uri="{FF2B5EF4-FFF2-40B4-BE49-F238E27FC236}">
                <a16:creationId xmlns:a16="http://schemas.microsoft.com/office/drawing/2014/main" id="{C42832F6-B9C2-4893-A2CD-FEC37016DDA2}"/>
              </a:ext>
            </a:extLst>
          </p:cNvPr>
          <p:cNvSpPr>
            <a:spLocks noGrp="1"/>
          </p:cNvSpPr>
          <p:nvPr/>
        </p:nvSpPr>
        <p:spPr>
          <a:xfrm>
            <a:off x="3400425" y="57435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37" name="统一风格-文字 业务 VPC-114">
            <a:extLst>
              <a:ext uri="{FF2B5EF4-FFF2-40B4-BE49-F238E27FC236}">
                <a16:creationId xmlns:a16="http://schemas.microsoft.com/office/drawing/2014/main" id="{1062CCE8-D89D-4FEC-9A16-E5D50BC33868}"/>
              </a:ext>
            </a:extLst>
          </p:cNvPr>
          <p:cNvSpPr>
            <a:spLocks noGrp="1"/>
          </p:cNvSpPr>
          <p:nvPr/>
        </p:nvSpPr>
        <p:spPr>
          <a:xfrm>
            <a:off x="4648200" y="5391150"/>
            <a:ext cx="14097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VPC</a:t>
            </a:r>
          </a:p>
        </p:txBody>
      </p:sp>
      <p:cxnSp>
        <p:nvCxnSpPr>
          <p:cNvPr id="138" name="VPC 1 连接至 ER">
            <a:extLst>
              <a:ext uri="{FF2B5EF4-FFF2-40B4-BE49-F238E27FC236}">
                <a16:creationId xmlns:a16="http://schemas.microsoft.com/office/drawing/2014/main" id="{FF449A4D-3AB4-43DF-B9CF-35B474D7F41B}"/>
              </a:ext>
            </a:extLst>
          </p:cNvPr>
          <p:cNvCxnSpPr/>
          <p:nvPr/>
        </p:nvCxnSpPr>
        <p:spPr>
          <a:xfrm>
            <a:off x="6057900" y="575310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39" name="VPC n 连接至 ER">
            <a:extLst>
              <a:ext uri="{FF2B5EF4-FFF2-40B4-BE49-F238E27FC236}">
                <a16:creationId xmlns:a16="http://schemas.microsoft.com/office/drawing/2014/main" id="{E8D58668-2B8E-4BED-B7E7-2F09E14C6F01}"/>
              </a:ext>
            </a:extLst>
          </p:cNvPr>
          <p:cNvCxnSpPr/>
          <p:nvPr/>
        </p:nvCxnSpPr>
        <p:spPr>
          <a:xfrm>
            <a:off x="6057900" y="6115050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40" name="多个 VPC 连接汇聚">
            <a:extLst>
              <a:ext uri="{FF2B5EF4-FFF2-40B4-BE49-F238E27FC236}">
                <a16:creationId xmlns:a16="http://schemas.microsoft.com/office/drawing/2014/main" id="{20DE1601-037B-4244-A7F6-320A22870E9E}"/>
              </a:ext>
            </a:extLst>
          </p:cNvPr>
          <p:cNvCxnSpPr/>
          <p:nvPr/>
        </p:nvCxnSpPr>
        <p:spPr>
          <a:xfrm>
            <a:off x="6286500" y="5753100"/>
            <a:ext cx="0" cy="36195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cxnSp>
        <p:nvCxnSpPr>
          <p:cNvPr id="141" name="业务 VPC 连接区域 ER">
            <a:extLst>
              <a:ext uri="{FF2B5EF4-FFF2-40B4-BE49-F238E27FC236}">
                <a16:creationId xmlns:a16="http://schemas.microsoft.com/office/drawing/2014/main" id="{A13B62D0-1C4A-434A-9D55-37C4052B9090}"/>
              </a:ext>
            </a:extLst>
          </p:cNvPr>
          <p:cNvCxnSpPr/>
          <p:nvPr/>
        </p:nvCxnSpPr>
        <p:spPr>
          <a:xfrm>
            <a:off x="6286500" y="5934075"/>
            <a:ext cx="228600" cy="0"/>
          </a:xfrm>
          <a:prstGeom prst="straightConnector1">
            <a:avLst/>
          </a:prstGeom>
          <a:ln w="15240">
            <a:solidFill>
              <a:srgbClr val="B8CBE9"/>
            </a:solidFill>
          </a:ln>
        </p:spPr>
      </p:cxnSp>
      <p:sp>
        <p:nvSpPr>
          <p:cNvPr id="142" name="统一风格-VPC 1玻璃后沿-115">
            <a:extLst>
              <a:ext uri="{FF2B5EF4-FFF2-40B4-BE49-F238E27FC236}">
                <a16:creationId xmlns:a16="http://schemas.microsoft.com/office/drawing/2014/main" id="{CE12A455-8B46-4958-A2ED-A142D34F5D80}"/>
              </a:ext>
            </a:extLst>
          </p:cNvPr>
          <p:cNvSpPr>
            <a:spLocks noGrp="1"/>
          </p:cNvSpPr>
          <p:nvPr/>
        </p:nvSpPr>
        <p:spPr>
          <a:xfrm>
            <a:off x="46482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统一风格-VPC 1-116">
            <a:extLst>
              <a:ext uri="{FF2B5EF4-FFF2-40B4-BE49-F238E27FC236}">
                <a16:creationId xmlns:a16="http://schemas.microsoft.com/office/drawing/2014/main" id="{2FA6FDE3-951D-4352-8BE7-5A5EE19630CC}"/>
              </a:ext>
            </a:extLst>
          </p:cNvPr>
          <p:cNvSpPr>
            <a:spLocks noGrp="1"/>
          </p:cNvSpPr>
          <p:nvPr/>
        </p:nvSpPr>
        <p:spPr>
          <a:xfrm>
            <a:off x="4648200" y="561975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统一风格-VPC 1玻璃内沿-117">
            <a:extLst>
              <a:ext uri="{FF2B5EF4-FFF2-40B4-BE49-F238E27FC236}">
                <a16:creationId xmlns:a16="http://schemas.microsoft.com/office/drawing/2014/main" id="{FE1C847F-367A-4E16-B826-6903D170FA15}"/>
              </a:ext>
            </a:extLst>
          </p:cNvPr>
          <p:cNvSpPr>
            <a:spLocks noGrp="1"/>
          </p:cNvSpPr>
          <p:nvPr/>
        </p:nvSpPr>
        <p:spPr>
          <a:xfrm>
            <a:off x="4661059" y="563260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统一风格-VPC 1边缘高光-118">
            <a:extLst>
              <a:ext uri="{FF2B5EF4-FFF2-40B4-BE49-F238E27FC236}">
                <a16:creationId xmlns:a16="http://schemas.microsoft.com/office/drawing/2014/main" id="{D70D7844-C97C-472F-972A-ED6531A939D7}"/>
              </a:ext>
            </a:extLst>
          </p:cNvPr>
          <p:cNvSpPr>
            <a:spLocks noGrp="1"/>
          </p:cNvSpPr>
          <p:nvPr/>
        </p:nvSpPr>
        <p:spPr>
          <a:xfrm>
            <a:off x="4648200" y="561975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" name="统一风格-cloud VPC 云轮廓-119">
            <a:extLst>
              <a:ext uri="{FF2B5EF4-FFF2-40B4-BE49-F238E27FC236}">
                <a16:creationId xmlns:a16="http://schemas.microsoft.com/office/drawing/2014/main" id="{C28E1996-2FED-4428-A59B-2E8F90FCFC74}"/>
              </a:ext>
            </a:extLst>
          </p:cNvPr>
          <p:cNvSpPr>
            <a:spLocks noGrp="1"/>
          </p:cNvSpPr>
          <p:nvPr/>
        </p:nvSpPr>
        <p:spPr>
          <a:xfrm>
            <a:off x="4743450" y="56388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7" name="统一风格-文字 VPC 1-120">
            <a:extLst>
              <a:ext uri="{FF2B5EF4-FFF2-40B4-BE49-F238E27FC236}">
                <a16:creationId xmlns:a16="http://schemas.microsoft.com/office/drawing/2014/main" id="{42B0B4FB-DCAC-40B1-A265-2A93597B5750}"/>
              </a:ext>
            </a:extLst>
          </p:cNvPr>
          <p:cNvSpPr>
            <a:spLocks noGrp="1"/>
          </p:cNvSpPr>
          <p:nvPr/>
        </p:nvSpPr>
        <p:spPr>
          <a:xfrm>
            <a:off x="5086350" y="562927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1</a:t>
            </a:r>
          </a:p>
        </p:txBody>
      </p:sp>
      <p:sp>
        <p:nvSpPr>
          <p:cNvPr id="148" name="统一风格-VPC n玻璃后沿-121">
            <a:extLst>
              <a:ext uri="{FF2B5EF4-FFF2-40B4-BE49-F238E27FC236}">
                <a16:creationId xmlns:a16="http://schemas.microsoft.com/office/drawing/2014/main" id="{A2892136-68DA-432E-99B3-A765EDA232E3}"/>
              </a:ext>
            </a:extLst>
          </p:cNvPr>
          <p:cNvSpPr>
            <a:spLocks noGrp="1"/>
          </p:cNvSpPr>
          <p:nvPr/>
        </p:nvSpPr>
        <p:spPr>
          <a:xfrm>
            <a:off x="46482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统一风格-VPC n-122">
            <a:extLst>
              <a:ext uri="{FF2B5EF4-FFF2-40B4-BE49-F238E27FC236}">
                <a16:creationId xmlns:a16="http://schemas.microsoft.com/office/drawing/2014/main" id="{E2C8ADEE-6ACA-450C-845B-9B0AFFF92735}"/>
              </a:ext>
            </a:extLst>
          </p:cNvPr>
          <p:cNvSpPr>
            <a:spLocks noGrp="1"/>
          </p:cNvSpPr>
          <p:nvPr/>
        </p:nvSpPr>
        <p:spPr>
          <a:xfrm>
            <a:off x="4648200" y="5981700"/>
            <a:ext cx="1409700" cy="266700"/>
          </a:xfrm>
          <a:prstGeom prst="roundRect">
            <a:avLst>
              <a:gd name="adj" fmla="val 3214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统一风格-VPC n玻璃内沿-123">
            <a:extLst>
              <a:ext uri="{FF2B5EF4-FFF2-40B4-BE49-F238E27FC236}">
                <a16:creationId xmlns:a16="http://schemas.microsoft.com/office/drawing/2014/main" id="{8538FEE1-8F94-4B9E-A7BB-7CF82D570070}"/>
              </a:ext>
            </a:extLst>
          </p:cNvPr>
          <p:cNvSpPr>
            <a:spLocks noGrp="1"/>
          </p:cNvSpPr>
          <p:nvPr/>
        </p:nvSpPr>
        <p:spPr>
          <a:xfrm>
            <a:off x="4661059" y="5994559"/>
            <a:ext cx="1383983" cy="240983"/>
          </a:xfrm>
          <a:prstGeom prst="roundRect">
            <a:avLst>
              <a:gd name="adj" fmla="val 3043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统一风格-VPC n边缘高光-124">
            <a:extLst>
              <a:ext uri="{FF2B5EF4-FFF2-40B4-BE49-F238E27FC236}">
                <a16:creationId xmlns:a16="http://schemas.microsoft.com/office/drawing/2014/main" id="{38BDDF71-472D-47B0-9D2B-AF9ECA819A02}"/>
              </a:ext>
            </a:extLst>
          </p:cNvPr>
          <p:cNvSpPr>
            <a:spLocks noGrp="1"/>
          </p:cNvSpPr>
          <p:nvPr/>
        </p:nvSpPr>
        <p:spPr>
          <a:xfrm>
            <a:off x="4648200" y="5981700"/>
            <a:ext cx="1409700" cy="266700"/>
          </a:xfrm>
          <a:custGeom>
            <a:avLst/>
            <a:gdLst/>
            <a:ahLst/>
            <a:cxnLst/>
            <a:rect l="0" t="0" r="0" b="0"/>
            <a:pathLst>
              <a:path w="1409700" h="266700">
                <a:moveTo>
                  <a:pt x="95250" y="9525"/>
                </a:moveTo>
                <a:lnTo>
                  <a:pt x="1314450" y="9525"/>
                </a:lnTo>
                <a:cubicBezTo>
                  <a:pt x="1362075" y="9525"/>
                  <a:pt x="1400175" y="47625"/>
                  <a:pt x="14001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2" name="统一风格-cloud VPC 云轮廓-125">
            <a:extLst>
              <a:ext uri="{FF2B5EF4-FFF2-40B4-BE49-F238E27FC236}">
                <a16:creationId xmlns:a16="http://schemas.microsoft.com/office/drawing/2014/main" id="{02B51954-3036-4D7E-A008-BD6F8F6C5ACC}"/>
              </a:ext>
            </a:extLst>
          </p:cNvPr>
          <p:cNvSpPr>
            <a:spLocks noGrp="1"/>
          </p:cNvSpPr>
          <p:nvPr/>
        </p:nvSpPr>
        <p:spPr>
          <a:xfrm>
            <a:off x="4743450" y="60007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910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" name="统一风格-文字 VPC n-126">
            <a:extLst>
              <a:ext uri="{FF2B5EF4-FFF2-40B4-BE49-F238E27FC236}">
                <a16:creationId xmlns:a16="http://schemas.microsoft.com/office/drawing/2014/main" id="{870B363E-EBFB-4FE5-A0B3-02450B939C38}"/>
              </a:ext>
            </a:extLst>
          </p:cNvPr>
          <p:cNvSpPr>
            <a:spLocks noGrp="1"/>
          </p:cNvSpPr>
          <p:nvPr/>
        </p:nvSpPr>
        <p:spPr>
          <a:xfrm>
            <a:off x="5086350" y="5991225"/>
            <a:ext cx="895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n</a:t>
            </a:r>
          </a:p>
        </p:txBody>
      </p:sp>
      <p:sp>
        <p:nvSpPr>
          <p:cNvPr id="154" name="统一风格-更多 VPC 省略点-127">
            <a:extLst>
              <a:ext uri="{FF2B5EF4-FFF2-40B4-BE49-F238E27FC236}">
                <a16:creationId xmlns:a16="http://schemas.microsoft.com/office/drawing/2014/main" id="{98A52D7E-FECD-4239-9CA2-2FACC6D8D2F8}"/>
              </a:ext>
            </a:extLst>
          </p:cNvPr>
          <p:cNvSpPr>
            <a:spLocks noGrp="1"/>
          </p:cNvSpPr>
          <p:nvPr/>
        </p:nvSpPr>
        <p:spPr>
          <a:xfrm>
            <a:off x="5343525" y="589597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统一风格-更多 VPC 省略点-128">
            <a:extLst>
              <a:ext uri="{FF2B5EF4-FFF2-40B4-BE49-F238E27FC236}">
                <a16:creationId xmlns:a16="http://schemas.microsoft.com/office/drawing/2014/main" id="{D83AC942-D0DC-4D86-A181-7F6FAC4E6DD8}"/>
              </a:ext>
            </a:extLst>
          </p:cNvPr>
          <p:cNvSpPr>
            <a:spLocks noGrp="1"/>
          </p:cNvSpPr>
          <p:nvPr/>
        </p:nvSpPr>
        <p:spPr>
          <a:xfrm>
            <a:off x="5343525" y="5924550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统一风格-更多 VPC 省略点-129">
            <a:extLst>
              <a:ext uri="{FF2B5EF4-FFF2-40B4-BE49-F238E27FC236}">
                <a16:creationId xmlns:a16="http://schemas.microsoft.com/office/drawing/2014/main" id="{DA5FA858-14FC-4235-864E-4849A27FA866}"/>
              </a:ext>
            </a:extLst>
          </p:cNvPr>
          <p:cNvSpPr>
            <a:spLocks noGrp="1"/>
          </p:cNvSpPr>
          <p:nvPr/>
        </p:nvSpPr>
        <p:spPr>
          <a:xfrm>
            <a:off x="5343525" y="5953125"/>
            <a:ext cx="19050" cy="19050"/>
          </a:xfrm>
          <a:prstGeom prst="ellipse">
            <a:avLst/>
          </a:prstGeom>
          <a:solidFill>
            <a:srgbClr val="647B9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统一风格-区域 ER玻璃后沿-130">
            <a:extLst>
              <a:ext uri="{FF2B5EF4-FFF2-40B4-BE49-F238E27FC236}">
                <a16:creationId xmlns:a16="http://schemas.microsoft.com/office/drawing/2014/main" id="{202F53E2-A69A-4D96-9D7D-F4B65D868931}"/>
              </a:ext>
            </a:extLst>
          </p:cNvPr>
          <p:cNvSpPr>
            <a:spLocks noGrp="1"/>
          </p:cNvSpPr>
          <p:nvPr/>
        </p:nvSpPr>
        <p:spPr>
          <a:xfrm>
            <a:off x="65151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统一风格-区域 ER-131">
            <a:extLst>
              <a:ext uri="{FF2B5EF4-FFF2-40B4-BE49-F238E27FC236}">
                <a16:creationId xmlns:a16="http://schemas.microsoft.com/office/drawing/2014/main" id="{0364EC81-882B-462C-8C9A-7422C55E25DC}"/>
              </a:ext>
            </a:extLst>
          </p:cNvPr>
          <p:cNvSpPr>
            <a:spLocks noGrp="1"/>
          </p:cNvSpPr>
          <p:nvPr/>
        </p:nvSpPr>
        <p:spPr>
          <a:xfrm>
            <a:off x="6515100" y="5657850"/>
            <a:ext cx="1066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统一风格-区域 ER玻璃内沿-132">
            <a:extLst>
              <a:ext uri="{FF2B5EF4-FFF2-40B4-BE49-F238E27FC236}">
                <a16:creationId xmlns:a16="http://schemas.microsoft.com/office/drawing/2014/main" id="{6105AB93-B121-45AC-82C2-C50295230C93}"/>
              </a:ext>
            </a:extLst>
          </p:cNvPr>
          <p:cNvSpPr>
            <a:spLocks noGrp="1"/>
          </p:cNvSpPr>
          <p:nvPr/>
        </p:nvSpPr>
        <p:spPr>
          <a:xfrm>
            <a:off x="6527959" y="5670709"/>
            <a:ext cx="1041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统一风格-区域 ER边缘高光-133">
            <a:extLst>
              <a:ext uri="{FF2B5EF4-FFF2-40B4-BE49-F238E27FC236}">
                <a16:creationId xmlns:a16="http://schemas.microsoft.com/office/drawing/2014/main" id="{93644301-19F0-4876-B153-212FC8676BE2}"/>
              </a:ext>
            </a:extLst>
          </p:cNvPr>
          <p:cNvSpPr>
            <a:spLocks noGrp="1"/>
          </p:cNvSpPr>
          <p:nvPr/>
        </p:nvSpPr>
        <p:spPr>
          <a:xfrm>
            <a:off x="6515100" y="5657850"/>
            <a:ext cx="1066800" cy="552450"/>
          </a:xfrm>
          <a:custGeom>
            <a:avLst/>
            <a:gdLst/>
            <a:ahLst/>
            <a:cxnLst/>
            <a:rect l="0" t="0" r="0" b="0"/>
            <a:pathLst>
              <a:path w="1066800" h="552450">
                <a:moveTo>
                  <a:pt x="95250" y="9525"/>
                </a:moveTo>
                <a:lnTo>
                  <a:pt x="971550" y="9525"/>
                </a:lnTo>
                <a:cubicBezTo>
                  <a:pt x="1019175" y="9525"/>
                  <a:pt x="1057275" y="47625"/>
                  <a:pt x="1057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1" name="统一风格-router ER 路由器外形-134">
            <a:extLst>
              <a:ext uri="{FF2B5EF4-FFF2-40B4-BE49-F238E27FC236}">
                <a16:creationId xmlns:a16="http://schemas.microsoft.com/office/drawing/2014/main" id="{6647BD53-6A0B-4962-BB08-93A914760176}"/>
              </a:ext>
            </a:extLst>
          </p:cNvPr>
          <p:cNvSpPr>
            <a:spLocks noGrp="1"/>
          </p:cNvSpPr>
          <p:nvPr/>
        </p:nvSpPr>
        <p:spPr>
          <a:xfrm>
            <a:off x="66294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2" name="统一风格-router ER 四向路由-135">
            <a:extLst>
              <a:ext uri="{FF2B5EF4-FFF2-40B4-BE49-F238E27FC236}">
                <a16:creationId xmlns:a16="http://schemas.microsoft.com/office/drawing/2014/main" id="{5D2C624A-E7A2-4557-9450-1CC399EE3043}"/>
              </a:ext>
            </a:extLst>
          </p:cNvPr>
          <p:cNvSpPr>
            <a:spLocks noGrp="1"/>
          </p:cNvSpPr>
          <p:nvPr/>
        </p:nvSpPr>
        <p:spPr>
          <a:xfrm>
            <a:off x="6629400" y="57721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3" name="统一风格-文字 ER-136">
            <a:extLst>
              <a:ext uri="{FF2B5EF4-FFF2-40B4-BE49-F238E27FC236}">
                <a16:creationId xmlns:a16="http://schemas.microsoft.com/office/drawing/2014/main" id="{3786D27A-1879-4E69-93AB-5441242812E5}"/>
              </a:ext>
            </a:extLst>
          </p:cNvPr>
          <p:cNvSpPr>
            <a:spLocks noGrp="1"/>
          </p:cNvSpPr>
          <p:nvPr/>
        </p:nvSpPr>
        <p:spPr>
          <a:xfrm>
            <a:off x="7058025" y="57435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</a:t>
            </a:r>
          </a:p>
        </p:txBody>
      </p:sp>
      <p:sp>
        <p:nvSpPr>
          <p:cNvPr id="164" name="统一风格-唯一 CC 中心网络玻璃后沿-137">
            <a:extLst>
              <a:ext uri="{FF2B5EF4-FFF2-40B4-BE49-F238E27FC236}">
                <a16:creationId xmlns:a16="http://schemas.microsoft.com/office/drawing/2014/main" id="{81473F71-628E-4130-B1BB-99E412866CD9}"/>
              </a:ext>
            </a:extLst>
          </p:cNvPr>
          <p:cNvSpPr>
            <a:spLocks noGrp="1"/>
          </p:cNvSpPr>
          <p:nvPr/>
        </p:nvSpPr>
        <p:spPr>
          <a:xfrm>
            <a:off x="5619750" y="1876425"/>
            <a:ext cx="28575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统一风格-唯一 CC 中心网络-138">
            <a:extLst>
              <a:ext uri="{FF2B5EF4-FFF2-40B4-BE49-F238E27FC236}">
                <a16:creationId xmlns:a16="http://schemas.microsoft.com/office/drawing/2014/main" id="{FA823858-28BC-4A88-A4EF-EC201FBF6747}"/>
              </a:ext>
            </a:extLst>
          </p:cNvPr>
          <p:cNvSpPr>
            <a:spLocks noGrp="1"/>
          </p:cNvSpPr>
          <p:nvPr/>
        </p:nvSpPr>
        <p:spPr>
          <a:xfrm>
            <a:off x="5619750" y="1876425"/>
            <a:ext cx="2857500" cy="523875"/>
          </a:xfrm>
          <a:prstGeom prst="roundRect">
            <a:avLst>
              <a:gd name="adj" fmla="val 1636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统一风格-唯一 CC 中心网络玻璃内沿-139">
            <a:extLst>
              <a:ext uri="{FF2B5EF4-FFF2-40B4-BE49-F238E27FC236}">
                <a16:creationId xmlns:a16="http://schemas.microsoft.com/office/drawing/2014/main" id="{66C710B4-DBEB-4C32-BFC3-FE3D4E0F3338}"/>
              </a:ext>
            </a:extLst>
          </p:cNvPr>
          <p:cNvSpPr>
            <a:spLocks noGrp="1"/>
          </p:cNvSpPr>
          <p:nvPr/>
        </p:nvSpPr>
        <p:spPr>
          <a:xfrm>
            <a:off x="5632609" y="1889284"/>
            <a:ext cx="2831783" cy="498158"/>
          </a:xfrm>
          <a:prstGeom prst="roundRect">
            <a:avLst>
              <a:gd name="adj" fmla="val 1472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统一风格-唯一 CC 中心网络边缘高光-140">
            <a:extLst>
              <a:ext uri="{FF2B5EF4-FFF2-40B4-BE49-F238E27FC236}">
                <a16:creationId xmlns:a16="http://schemas.microsoft.com/office/drawing/2014/main" id="{22450F60-23F4-4BFF-B267-A47039F5AD96}"/>
              </a:ext>
            </a:extLst>
          </p:cNvPr>
          <p:cNvSpPr>
            <a:spLocks noGrp="1"/>
          </p:cNvSpPr>
          <p:nvPr/>
        </p:nvSpPr>
        <p:spPr>
          <a:xfrm>
            <a:off x="5619750" y="1876425"/>
            <a:ext cx="2857500" cy="523875"/>
          </a:xfrm>
          <a:custGeom>
            <a:avLst/>
            <a:gdLst/>
            <a:ahLst/>
            <a:cxnLst/>
            <a:rect l="0" t="0" r="0" b="0"/>
            <a:pathLst>
              <a:path w="2857500" h="523875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8" name="统一风格-CC 中心网络枢纽-141">
            <a:extLst>
              <a:ext uri="{FF2B5EF4-FFF2-40B4-BE49-F238E27FC236}">
                <a16:creationId xmlns:a16="http://schemas.microsoft.com/office/drawing/2014/main" id="{1DDAED94-49E9-465A-8D2C-2DA2B007AA9E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38125" y="238125"/>
                </a:moveTo>
                <a:lnTo>
                  <a:pt x="371475" y="238125"/>
                </a:lnTo>
                <a:lnTo>
                  <a:pt x="371475" y="371475"/>
                </a:lnTo>
                <a:lnTo>
                  <a:pt x="238125" y="371475"/>
                </a:lnTo>
                <a:close/>
                <a:moveTo>
                  <a:pt x="238125" y="304800"/>
                </a:moveTo>
                <a:lnTo>
                  <a:pt x="85725" y="304800"/>
                </a:lnTo>
                <a:moveTo>
                  <a:pt x="371475" y="304800"/>
                </a:moveTo>
                <a:lnTo>
                  <a:pt x="523875" y="304800"/>
                </a:lnTo>
                <a:moveTo>
                  <a:pt x="304800" y="238125"/>
                </a:moveTo>
                <a:lnTo>
                  <a:pt x="304800" y="85725"/>
                </a:lnTo>
                <a:moveTo>
                  <a:pt x="304800" y="371475"/>
                </a:moveTo>
                <a:lnTo>
                  <a:pt x="304800" y="523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9" name="统一风格-CC 区域连接点-142">
            <a:extLst>
              <a:ext uri="{FF2B5EF4-FFF2-40B4-BE49-F238E27FC236}">
                <a16:creationId xmlns:a16="http://schemas.microsoft.com/office/drawing/2014/main" id="{C64FF18C-4C96-4D12-BCB9-51982C6F7A25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7625" y="266700"/>
                </a:moveTo>
                <a:lnTo>
                  <a:pt x="123825" y="266700"/>
                </a:lnTo>
                <a:lnTo>
                  <a:pt x="123825" y="342900"/>
                </a:lnTo>
                <a:lnTo>
                  <a:pt x="47625" y="342900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0" name="统一风格-CC 区域连接点-143">
            <a:extLst>
              <a:ext uri="{FF2B5EF4-FFF2-40B4-BE49-F238E27FC236}">
                <a16:creationId xmlns:a16="http://schemas.microsoft.com/office/drawing/2014/main" id="{D3DA8A37-C268-499A-9BF9-E49FFE23B633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85775" y="266700"/>
                </a:moveTo>
                <a:lnTo>
                  <a:pt x="561975" y="266700"/>
                </a:lnTo>
                <a:lnTo>
                  <a:pt x="561975" y="342900"/>
                </a:lnTo>
                <a:lnTo>
                  <a:pt x="485775" y="342900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1" name="统一风格-CC 区域连接点-144">
            <a:extLst>
              <a:ext uri="{FF2B5EF4-FFF2-40B4-BE49-F238E27FC236}">
                <a16:creationId xmlns:a16="http://schemas.microsoft.com/office/drawing/2014/main" id="{4F36E87B-D0B2-4CFF-B3FB-3580896152B9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7625"/>
                </a:moveTo>
                <a:lnTo>
                  <a:pt x="342900" y="47625"/>
                </a:lnTo>
                <a:lnTo>
                  <a:pt x="342900" y="123825"/>
                </a:lnTo>
                <a:lnTo>
                  <a:pt x="266700" y="123825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2" name="统一风格-CC 区域连接点-145">
            <a:extLst>
              <a:ext uri="{FF2B5EF4-FFF2-40B4-BE49-F238E27FC236}">
                <a16:creationId xmlns:a16="http://schemas.microsoft.com/office/drawing/2014/main" id="{9168E524-024A-4F20-8BD1-AB511D2F7BA9}"/>
              </a:ext>
            </a:extLst>
          </p:cNvPr>
          <p:cNvSpPr>
            <a:spLocks noGrp="1"/>
          </p:cNvSpPr>
          <p:nvPr/>
        </p:nvSpPr>
        <p:spPr>
          <a:xfrm>
            <a:off x="5772150" y="197167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66700" y="485775"/>
                </a:moveTo>
                <a:lnTo>
                  <a:pt x="342900" y="485775"/>
                </a:lnTo>
                <a:lnTo>
                  <a:pt x="342900" y="561975"/>
                </a:lnTo>
                <a:lnTo>
                  <a:pt x="266700" y="561975"/>
                </a:lnTo>
                <a:close/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3" name="统一风格-文字 CC 中心网络-146">
            <a:extLst>
              <a:ext uri="{FF2B5EF4-FFF2-40B4-BE49-F238E27FC236}">
                <a16:creationId xmlns:a16="http://schemas.microsoft.com/office/drawing/2014/main" id="{F9511DDF-22E6-4523-8420-AAA0C56D38FF}"/>
              </a:ext>
            </a:extLst>
          </p:cNvPr>
          <p:cNvSpPr>
            <a:spLocks noGrp="1"/>
          </p:cNvSpPr>
          <p:nvPr/>
        </p:nvSpPr>
        <p:spPr>
          <a:xfrm>
            <a:off x="6238875" y="1914525"/>
            <a:ext cx="2114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CC 中心网络</a:t>
            </a:r>
          </a:p>
        </p:txBody>
      </p:sp>
      <p:sp>
        <p:nvSpPr>
          <p:cNvPr id="174" name="统一风格-文字 Pro 账号 / 三个区域全互联-147">
            <a:extLst>
              <a:ext uri="{FF2B5EF4-FFF2-40B4-BE49-F238E27FC236}">
                <a16:creationId xmlns:a16="http://schemas.microsoft.com/office/drawing/2014/main" id="{C5F6F458-6B49-4BA1-8AC0-EE3C167D10D7}"/>
              </a:ext>
            </a:extLst>
          </p:cNvPr>
          <p:cNvSpPr>
            <a:spLocks noGrp="1"/>
          </p:cNvSpPr>
          <p:nvPr/>
        </p:nvSpPr>
        <p:spPr>
          <a:xfrm>
            <a:off x="6238875" y="2200275"/>
            <a:ext cx="21145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Pro 账号 / 三个区域全互联</a:t>
            </a:r>
          </a:p>
        </p:txBody>
      </p:sp>
      <p:cxnSp>
        <p:nvCxnSpPr>
          <p:cNvPr id="175" name="网络连接">
            <a:extLst>
              <a:ext uri="{FF2B5EF4-FFF2-40B4-BE49-F238E27FC236}">
                <a16:creationId xmlns:a16="http://schemas.microsoft.com/office/drawing/2014/main" id="{E129B5E7-537E-41C7-A8DC-43D49C286118}"/>
              </a:ext>
            </a:extLst>
          </p:cNvPr>
          <p:cNvCxnSpPr/>
          <p:nvPr/>
        </p:nvCxnSpPr>
        <p:spPr>
          <a:xfrm>
            <a:off x="8305800" y="4686300"/>
            <a:ext cx="3276600" cy="0"/>
          </a:xfrm>
          <a:prstGeom prst="straightConnector1">
            <a:avLst/>
          </a:prstGeom>
          <a:ln w="7620">
            <a:solidFill>
              <a:srgbClr val="D5E2F5"/>
            </a:solidFill>
          </a:ln>
        </p:spPr>
      </p:cxnSp>
      <p:sp>
        <p:nvSpPr>
          <p:cNvPr id="176" name="统一风格-文字 跨区域连接路径-148">
            <a:extLst>
              <a:ext uri="{FF2B5EF4-FFF2-40B4-BE49-F238E27FC236}">
                <a16:creationId xmlns:a16="http://schemas.microsoft.com/office/drawing/2014/main" id="{E44F805D-F62F-402F-B97A-52837D972AA3}"/>
              </a:ext>
            </a:extLst>
          </p:cNvPr>
          <p:cNvSpPr>
            <a:spLocks noGrp="1"/>
          </p:cNvSpPr>
          <p:nvPr/>
        </p:nvSpPr>
        <p:spPr>
          <a:xfrm>
            <a:off x="8305800" y="4810125"/>
            <a:ext cx="32766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跨区域连接路径</a:t>
            </a:r>
          </a:p>
        </p:txBody>
      </p:sp>
      <p:sp>
        <p:nvSpPr>
          <p:cNvPr id="177" name="统一风格-文字 Pro 三个区域 ER 接入同一 CC OP 经同区域中转链路接入 Pro 跨区域互联共用 Pro 的中心网络-149">
            <a:extLst>
              <a:ext uri="{FF2B5EF4-FFF2-40B4-BE49-F238E27FC236}">
                <a16:creationId xmlns:a16="http://schemas.microsoft.com/office/drawing/2014/main" id="{22692081-F7C9-4F58-AE6A-15372A5989AE}"/>
              </a:ext>
            </a:extLst>
          </p:cNvPr>
          <p:cNvSpPr>
            <a:spLocks noGrp="1"/>
          </p:cNvSpPr>
          <p:nvPr/>
        </p:nvSpPr>
        <p:spPr>
          <a:xfrm>
            <a:off x="8305800" y="5219700"/>
            <a:ext cx="32766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Pro 三个区域 ER 接入同一 CC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OP 经同区域中转链路接入 Pro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跨区域互联共用 Pro 的中心网络</a:t>
            </a:r>
          </a:p>
        </p:txBody>
      </p:sp>
      <p:cxnSp>
        <p:nvCxnSpPr>
          <p:cNvPr id="178" name="网络连接">
            <a:extLst>
              <a:ext uri="{FF2B5EF4-FFF2-40B4-BE49-F238E27FC236}">
                <a16:creationId xmlns:a16="http://schemas.microsoft.com/office/drawing/2014/main" id="{6A3D27CD-A310-437B-887A-37E9A9FD8B29}"/>
              </a:ext>
            </a:extLst>
          </p:cNvPr>
          <p:cNvCxnSpPr/>
          <p:nvPr/>
        </p:nvCxnSpPr>
        <p:spPr>
          <a:xfrm>
            <a:off x="609600" y="6467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179" name="统一风格-文字 逻辑拓扑。跨账号链路聚合表示共享 ER 授权与中转 VPC，具体路由和访问策略需按业务路径核验。-150">
            <a:extLst>
              <a:ext uri="{FF2B5EF4-FFF2-40B4-BE49-F238E27FC236}">
                <a16:creationId xmlns:a16="http://schemas.microsoft.com/office/drawing/2014/main" id="{F13F91D0-BC4A-4BC8-B367-F379B1B3C6F0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逻辑拓扑。跨账号链路聚合表示共享 ER 授权与中转 VPC，具体路由和访问策略需按业务路径核验。</a:t>
            </a:r>
          </a:p>
        </p:txBody>
      </p:sp>
      <p:sp>
        <p:nvSpPr>
          <p:cNvPr id="180" name="统一风格-文字 48-151">
            <a:extLst>
              <a:ext uri="{FF2B5EF4-FFF2-40B4-BE49-F238E27FC236}">
                <a16:creationId xmlns:a16="http://schemas.microsoft.com/office/drawing/2014/main" id="{D67CFDFE-F1BA-4178-9BE3-C2EBEB0ACA02}"/>
              </a:ext>
            </a:extLst>
          </p:cNvPr>
          <p:cNvSpPr>
            <a:spLocks noGrp="1"/>
          </p:cNvSpPr>
          <p:nvPr/>
        </p:nvSpPr>
        <p:spPr>
          <a:xfrm>
            <a:off x="10953750" y="6524625"/>
            <a:ext cx="628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34405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文-03  CFW 使用规范">
            <a:extLst>
              <a:ext uri="{FF2B5EF4-FFF2-40B4-BE49-F238E27FC236}">
                <a16:creationId xmlns:a16="http://schemas.microsoft.com/office/drawing/2014/main" id="{C09409F2-BA71-4DFF-8A38-55479DB6E73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CFW：云防火墙-46">
            <a:extLst>
              <a:ext uri="{FF2B5EF4-FFF2-40B4-BE49-F238E27FC236}">
                <a16:creationId xmlns:a16="http://schemas.microsoft.com/office/drawing/2014/main" id="{B9CF5E94-1187-4887-8F7D-6AB316FF3F6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CFW：云防火墙</a:t>
            </a:r>
          </a:p>
        </p:txBody>
      </p:sp>
      <p:sp>
        <p:nvSpPr>
          <p:cNvPr id="3" name="统一风格-文字 Cloud Firewall-47">
            <a:extLst>
              <a:ext uri="{FF2B5EF4-FFF2-40B4-BE49-F238E27FC236}">
                <a16:creationId xmlns:a16="http://schemas.microsoft.com/office/drawing/2014/main" id="{62855725-00D5-4F0F-BB23-2885F784DF9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统一管理已接入边界的安全策略，持续验证防护范围与实际流量路径</a:t>
            </a:r>
          </a:p>
        </p:txBody>
      </p:sp>
      <p:sp>
        <p:nvSpPr>
          <p:cNvPr id="4" name="统一风格-页脚分隔线-48">
            <a:extLst>
              <a:ext uri="{FF2B5EF4-FFF2-40B4-BE49-F238E27FC236}">
                <a16:creationId xmlns:a16="http://schemas.microsoft.com/office/drawing/2014/main" id="{DAF0D054-7A22-4515-B83A-F04C99703E6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文字 防护边界、版本能力与实际流量路径需共同核验，接入验收不能只看实例已开通。-49">
            <a:extLst>
              <a:ext uri="{FF2B5EF4-FFF2-40B4-BE49-F238E27FC236}">
                <a16:creationId xmlns:a16="http://schemas.microsoft.com/office/drawing/2014/main" id="{B105AC2F-C72E-4DB9-996F-C3C85A082A3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互联网与 VPC 边界开启防护后默认放行，阻断需显式配置。接入覆盖与访问策略分别验收。</a:t>
            </a:r>
          </a:p>
        </p:txBody>
      </p:sp>
      <p:sp>
        <p:nvSpPr>
          <p:cNvPr id="6" name="正文-30">
            <a:extLst>
              <a:ext uri="{FF2B5EF4-FFF2-40B4-BE49-F238E27FC236}">
                <a16:creationId xmlns:a16="http://schemas.microsoft.com/office/drawing/2014/main" id="{107B6EDF-DAFB-456E-ACC5-97E59436175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7" name="统一风格-CFW 概念玻璃后沿-51">
            <a:extLst>
              <a:ext uri="{FF2B5EF4-FFF2-40B4-BE49-F238E27FC236}">
                <a16:creationId xmlns:a16="http://schemas.microsoft.com/office/drawing/2014/main" id="{0599DFBA-069B-454B-BF2B-5C4368210FE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FW 概念-52">
            <a:extLst>
              <a:ext uri="{FF2B5EF4-FFF2-40B4-BE49-F238E27FC236}">
                <a16:creationId xmlns:a16="http://schemas.microsoft.com/office/drawing/2014/main" id="{22C4C4E8-6F3C-4DC1-B770-DC78A7E2744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FW 概念玻璃内沿-53">
            <a:extLst>
              <a:ext uri="{FF2B5EF4-FFF2-40B4-BE49-F238E27FC236}">
                <a16:creationId xmlns:a16="http://schemas.microsoft.com/office/drawing/2014/main" id="{1A9005D2-693B-4410-8542-30B18007BA84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10947083" cy="1574483"/>
          </a:xfrm>
          <a:prstGeom prst="roundRect">
            <a:avLst>
              <a:gd name="adj" fmla="val 46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FW 概念透光反射面-54">
            <a:extLst>
              <a:ext uri="{FF2B5EF4-FFF2-40B4-BE49-F238E27FC236}">
                <a16:creationId xmlns:a16="http://schemas.microsoft.com/office/drawing/2014/main" id="{B0C196C3-9CE0-46DE-9C4B-7D9B1EB20487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0934700" cy="1562100"/>
          </a:xfrm>
          <a:custGeom>
            <a:avLst/>
            <a:gdLst/>
            <a:ahLst/>
            <a:cxnLst/>
            <a:rect l="0" t="0" r="0" b="0"/>
            <a:pathLst>
              <a:path w="10934700" h="1562100">
                <a:moveTo>
                  <a:pt x="76200" y="0"/>
                </a:moveTo>
                <a:lnTo>
                  <a:pt x="6998208" y="0"/>
                </a:lnTo>
                <a:lnTo>
                  <a:pt x="2843022" y="1562100"/>
                </a:lnTo>
                <a:lnTo>
                  <a:pt x="76200" y="1562100"/>
                </a:lnTo>
                <a:cubicBezTo>
                  <a:pt x="28575" y="1562100"/>
                  <a:pt x="0" y="1533525"/>
                  <a:pt x="0" y="14859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FW 概念边缘高光-55">
            <a:extLst>
              <a:ext uri="{FF2B5EF4-FFF2-40B4-BE49-F238E27FC236}">
                <a16:creationId xmlns:a16="http://schemas.microsoft.com/office/drawing/2014/main" id="{91EDBECA-5B3A-4915-B3D3-0C5844E990F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1600200"/>
          </a:xfrm>
          <a:custGeom>
            <a:avLst/>
            <a:gdLst/>
            <a:ahLst/>
            <a:cxnLst/>
            <a:rect l="0" t="0" r="0" b="0"/>
            <a:pathLst>
              <a:path w="10972800" h="16002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firewall CFW 砖墙-56">
            <a:extLst>
              <a:ext uri="{FF2B5EF4-FFF2-40B4-BE49-F238E27FC236}">
                <a16:creationId xmlns:a16="http://schemas.microsoft.com/office/drawing/2014/main" id="{71767277-C4DD-4173-A320-48B577E7181F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firewall CFW 砖缝-57">
            <a:extLst>
              <a:ext uri="{FF2B5EF4-FFF2-40B4-BE49-F238E27FC236}">
                <a16:creationId xmlns:a16="http://schemas.microsoft.com/office/drawing/2014/main" id="{2ACC6744-CA49-41AC-856D-5D5DA3EC0A1C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firewall CFW 前景衬底-58">
            <a:extLst>
              <a:ext uri="{FF2B5EF4-FFF2-40B4-BE49-F238E27FC236}">
                <a16:creationId xmlns:a16="http://schemas.microsoft.com/office/drawing/2014/main" id="{27AC6A7F-9C04-442F-AE6B-28FF147885D9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firewall CFW 简洁火焰-59">
            <a:extLst>
              <a:ext uri="{FF2B5EF4-FFF2-40B4-BE49-F238E27FC236}">
                <a16:creationId xmlns:a16="http://schemas.microsoft.com/office/drawing/2014/main" id="{86EF5C73-827B-4F08-8288-13F65DB9F3A1}"/>
              </a:ext>
            </a:extLst>
          </p:cNvPr>
          <p:cNvSpPr>
            <a:spLocks noGrp="1"/>
          </p:cNvSpPr>
          <p:nvPr/>
        </p:nvSpPr>
        <p:spPr>
          <a:xfrm>
            <a:off x="847725" y="2400300"/>
            <a:ext cx="790575" cy="790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3147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概念-60">
            <a:extLst>
              <a:ext uri="{FF2B5EF4-FFF2-40B4-BE49-F238E27FC236}">
                <a16:creationId xmlns:a16="http://schemas.microsoft.com/office/drawing/2014/main" id="{41066FA6-E4FC-4618-8733-B74F5D186251}"/>
              </a:ext>
            </a:extLst>
          </p:cNvPr>
          <p:cNvSpPr>
            <a:spLocks noGrp="1"/>
          </p:cNvSpPr>
          <p:nvPr/>
        </p:nvSpPr>
        <p:spPr>
          <a:xfrm>
            <a:off x="1943100" y="2257425"/>
            <a:ext cx="8953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7" name="统一风格-文字 CFW 为已接入的网络边界提供云原生防火墙防护， 通过访问控制、入侵防御和日志审计管理业务流量。-61">
            <a:extLst>
              <a:ext uri="{FF2B5EF4-FFF2-40B4-BE49-F238E27FC236}">
                <a16:creationId xmlns:a16="http://schemas.microsoft.com/office/drawing/2014/main" id="{0213749B-8A45-4B9F-9EEC-A6BAB6C8E562}"/>
              </a:ext>
            </a:extLst>
          </p:cNvPr>
          <p:cNvSpPr>
            <a:spLocks noGrp="1"/>
          </p:cNvSpPr>
          <p:nvPr/>
        </p:nvSpPr>
        <p:spPr>
          <a:xfrm>
            <a:off x="1943100" y="2733675"/>
            <a:ext cx="93059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CFW（Cloud Firewall）是面向已接入网络边界的云原生防火墙，</a:t>
            </a:r>
          </a:p>
          <a:p>
            <a:pPr algn="l">
              <a:def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提供访问控制、入侵防御与日志审计能力。</a:t>
            </a:r>
          </a:p>
        </p:txBody>
      </p:sp>
      <p:sp>
        <p:nvSpPr>
          <p:cNvPr id="38" name="统一风格-功能分工玻璃后沿-1">
            <a:extLst>
              <a:ext uri="{FF2B5EF4-FFF2-40B4-BE49-F238E27FC236}">
                <a16:creationId xmlns:a16="http://schemas.microsoft.com/office/drawing/2014/main" id="{DA9437DA-0056-4F42-A3C2-CDA230756929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统一风格-功能分工-2">
            <a:extLst>
              <a:ext uri="{FF2B5EF4-FFF2-40B4-BE49-F238E27FC236}">
                <a16:creationId xmlns:a16="http://schemas.microsoft.com/office/drawing/2014/main" id="{F54C7CC7-C48A-4486-8731-C46E5DC19CF9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功能分工玻璃内沿-3">
            <a:extLst>
              <a:ext uri="{FF2B5EF4-FFF2-40B4-BE49-F238E27FC236}">
                <a16:creationId xmlns:a16="http://schemas.microsoft.com/office/drawing/2014/main" id="{6BB4E5E7-D838-4EF7-9A42-B0EB7F52DED6}"/>
              </a:ext>
            </a:extLst>
          </p:cNvPr>
          <p:cNvSpPr>
            <a:spLocks noGrp="1"/>
          </p:cNvSpPr>
          <p:nvPr/>
        </p:nvSpPr>
        <p:spPr>
          <a:xfrm>
            <a:off x="622459" y="4013359"/>
            <a:ext cx="34032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功能分工透光反射面-4">
            <a:extLst>
              <a:ext uri="{FF2B5EF4-FFF2-40B4-BE49-F238E27FC236}">
                <a16:creationId xmlns:a16="http://schemas.microsoft.com/office/drawing/2014/main" id="{B1C09AE9-9296-4935-BF44-32C9F19282EA}"/>
              </a:ext>
            </a:extLst>
          </p:cNvPr>
          <p:cNvSpPr>
            <a:spLocks noGrp="1"/>
          </p:cNvSpPr>
          <p:nvPr/>
        </p:nvSpPr>
        <p:spPr>
          <a:xfrm>
            <a:off x="628650" y="4019550"/>
            <a:ext cx="3390900" cy="1724025"/>
          </a:xfrm>
          <a:custGeom>
            <a:avLst/>
            <a:gdLst/>
            <a:ahLst/>
            <a:cxnLst/>
            <a:rect l="0" t="0" r="0" b="0"/>
            <a:pathLst>
              <a:path w="3390900" h="1724025">
                <a:moveTo>
                  <a:pt x="76200" y="0"/>
                </a:moveTo>
                <a:lnTo>
                  <a:pt x="2170176" y="0"/>
                </a:lnTo>
                <a:lnTo>
                  <a:pt x="881634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功能分工边缘高光-5">
            <a:extLst>
              <a:ext uri="{FF2B5EF4-FFF2-40B4-BE49-F238E27FC236}">
                <a16:creationId xmlns:a16="http://schemas.microsoft.com/office/drawing/2014/main" id="{B030B096-6AA8-49B5-9D0F-3F5D8C3F82C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429000" cy="1762125"/>
          </a:xfrm>
          <a:custGeom>
            <a:avLst/>
            <a:gdLst/>
            <a:ahLst/>
            <a:cxnLst/>
            <a:rect l="0" t="0" r="0" b="0"/>
            <a:pathLst>
              <a:path w="3429000" h="17621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ips 安全盾-6">
            <a:extLst>
              <a:ext uri="{FF2B5EF4-FFF2-40B4-BE49-F238E27FC236}">
                <a16:creationId xmlns:a16="http://schemas.microsoft.com/office/drawing/2014/main" id="{899CF980-615F-42BC-A49F-C29322B8F081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ips 检测透镜-7">
            <a:extLst>
              <a:ext uri="{FF2B5EF4-FFF2-40B4-BE49-F238E27FC236}">
                <a16:creationId xmlns:a16="http://schemas.microsoft.com/office/drawing/2014/main" id="{4AD30911-BC74-4344-AA3F-196D4AA3022B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ips 检测手柄-8">
            <a:extLst>
              <a:ext uri="{FF2B5EF4-FFF2-40B4-BE49-F238E27FC236}">
                <a16:creationId xmlns:a16="http://schemas.microsoft.com/office/drawing/2014/main" id="{BD249C19-C724-4274-801E-74A16460D7F7}"/>
              </a:ext>
            </a:extLst>
          </p:cNvPr>
          <p:cNvSpPr>
            <a:spLocks noGrp="1"/>
          </p:cNvSpPr>
          <p:nvPr/>
        </p:nvSpPr>
        <p:spPr>
          <a:xfrm>
            <a:off x="8191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文字 功能分工-9">
            <a:extLst>
              <a:ext uri="{FF2B5EF4-FFF2-40B4-BE49-F238E27FC236}">
                <a16:creationId xmlns:a16="http://schemas.microsoft.com/office/drawing/2014/main" id="{F7B39615-A544-487E-9DE5-E8443D63BE30}"/>
              </a:ext>
            </a:extLst>
          </p:cNvPr>
          <p:cNvSpPr>
            <a:spLocks noGrp="1"/>
          </p:cNvSpPr>
          <p:nvPr/>
        </p:nvSpPr>
        <p:spPr>
          <a:xfrm>
            <a:off x="1371600" y="41624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功能分工</a:t>
            </a:r>
          </a:p>
        </p:txBody>
      </p:sp>
      <p:sp>
        <p:nvSpPr>
          <p:cNvPr id="47" name="统一风格-文字 ACL 按规则控制业务访问。 IPS 检测攻击行为。 日志记录动作与处理结果。-10">
            <a:extLst>
              <a:ext uri="{FF2B5EF4-FFF2-40B4-BE49-F238E27FC236}">
                <a16:creationId xmlns:a16="http://schemas.microsoft.com/office/drawing/2014/main" id="{C98D6BA1-7DEA-418D-A0E5-59430EB7D7F2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30099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按规则控制业务访问。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检测攻击行为。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日志记录动作与处理结果。</a:t>
            </a:r>
          </a:p>
        </p:txBody>
      </p:sp>
      <p:sp>
        <p:nvSpPr>
          <p:cNvPr id="48" name="统一风格-互联网边界接入玻璃后沿-11">
            <a:extLst>
              <a:ext uri="{FF2B5EF4-FFF2-40B4-BE49-F238E27FC236}">
                <a16:creationId xmlns:a16="http://schemas.microsoft.com/office/drawing/2014/main" id="{6617DA0F-768A-46A3-AA3A-6AA18A6E9FF5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统一风格-互联网边界接入-12">
            <a:extLst>
              <a:ext uri="{FF2B5EF4-FFF2-40B4-BE49-F238E27FC236}">
                <a16:creationId xmlns:a16="http://schemas.microsoft.com/office/drawing/2014/main" id="{CDE9C80C-29A5-442E-884C-DDA71359E51A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互联网边界接入玻璃内沿-13">
            <a:extLst>
              <a:ext uri="{FF2B5EF4-FFF2-40B4-BE49-F238E27FC236}">
                <a16:creationId xmlns:a16="http://schemas.microsoft.com/office/drawing/2014/main" id="{827F8074-6E7C-4360-AAC1-843FCF5AB7AC}"/>
              </a:ext>
            </a:extLst>
          </p:cNvPr>
          <p:cNvSpPr>
            <a:spLocks noGrp="1"/>
          </p:cNvSpPr>
          <p:nvPr/>
        </p:nvSpPr>
        <p:spPr>
          <a:xfrm>
            <a:off x="4394359" y="4013359"/>
            <a:ext cx="34032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互联网边界接入透光反射面-14">
            <a:extLst>
              <a:ext uri="{FF2B5EF4-FFF2-40B4-BE49-F238E27FC236}">
                <a16:creationId xmlns:a16="http://schemas.microsoft.com/office/drawing/2014/main" id="{B9B282D6-0930-4CEC-B3BD-2BBC15CD1920}"/>
              </a:ext>
            </a:extLst>
          </p:cNvPr>
          <p:cNvSpPr>
            <a:spLocks noGrp="1"/>
          </p:cNvSpPr>
          <p:nvPr/>
        </p:nvSpPr>
        <p:spPr>
          <a:xfrm>
            <a:off x="4400550" y="4019550"/>
            <a:ext cx="3390900" cy="1724025"/>
          </a:xfrm>
          <a:custGeom>
            <a:avLst/>
            <a:gdLst/>
            <a:ahLst/>
            <a:cxnLst/>
            <a:rect l="0" t="0" r="0" b="0"/>
            <a:pathLst>
              <a:path w="3390900" h="1724025">
                <a:moveTo>
                  <a:pt x="76200" y="0"/>
                </a:moveTo>
                <a:lnTo>
                  <a:pt x="2170176" y="0"/>
                </a:lnTo>
                <a:lnTo>
                  <a:pt x="881634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互联网边界接入边缘高光-15">
            <a:extLst>
              <a:ext uri="{FF2B5EF4-FFF2-40B4-BE49-F238E27FC236}">
                <a16:creationId xmlns:a16="http://schemas.microsoft.com/office/drawing/2014/main" id="{1372EDB2-2B18-4602-B9D6-9A8C25F5CE48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429000" cy="1762125"/>
          </a:xfrm>
          <a:custGeom>
            <a:avLst/>
            <a:gdLst/>
            <a:ahLst/>
            <a:cxnLst/>
            <a:rect l="0" t="0" r="0" b="0"/>
            <a:pathLst>
              <a:path w="3429000" h="17621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globe 互联网外形-16">
            <a:extLst>
              <a:ext uri="{FF2B5EF4-FFF2-40B4-BE49-F238E27FC236}">
                <a16:creationId xmlns:a16="http://schemas.microsoft.com/office/drawing/2014/main" id="{305E7136-44AC-4571-A519-D4EBE8098D71}"/>
              </a:ext>
            </a:extLst>
          </p:cNvPr>
          <p:cNvSpPr>
            <a:spLocks noGrp="1"/>
          </p:cNvSpPr>
          <p:nvPr/>
        </p:nvSpPr>
        <p:spPr>
          <a:xfrm>
            <a:off x="45910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globe 经纬线-17">
            <a:extLst>
              <a:ext uri="{FF2B5EF4-FFF2-40B4-BE49-F238E27FC236}">
                <a16:creationId xmlns:a16="http://schemas.microsoft.com/office/drawing/2014/main" id="{B5E03671-3C9B-44F9-B4FA-0F3483F7A8A8}"/>
              </a:ext>
            </a:extLst>
          </p:cNvPr>
          <p:cNvSpPr>
            <a:spLocks noGrp="1"/>
          </p:cNvSpPr>
          <p:nvPr/>
        </p:nvSpPr>
        <p:spPr>
          <a:xfrm>
            <a:off x="45910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文字 互联网边界接入-18">
            <a:extLst>
              <a:ext uri="{FF2B5EF4-FFF2-40B4-BE49-F238E27FC236}">
                <a16:creationId xmlns:a16="http://schemas.microsoft.com/office/drawing/2014/main" id="{9990E33C-164D-4EC7-9CA7-FAD936EB5697}"/>
              </a:ext>
            </a:extLst>
          </p:cNvPr>
          <p:cNvSpPr>
            <a:spLocks noGrp="1"/>
          </p:cNvSpPr>
          <p:nvPr/>
        </p:nvSpPr>
        <p:spPr>
          <a:xfrm>
            <a:off x="5143500" y="41624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互联网边界接入</a:t>
            </a:r>
          </a:p>
        </p:txBody>
      </p:sp>
      <p:sp>
        <p:nvSpPr>
          <p:cNvPr id="56" name="统一风格-文字 按 EIP 开启公网流量防护。 核对入云与出云访问策略， 用日志验证实际防护范围。-19">
            <a:extLst>
              <a:ext uri="{FF2B5EF4-FFF2-40B4-BE49-F238E27FC236}">
                <a16:creationId xmlns:a16="http://schemas.microsoft.com/office/drawing/2014/main" id="{79812C25-78B0-48F9-AA8F-0986F73BC239}"/>
              </a:ext>
            </a:extLst>
          </p:cNvPr>
          <p:cNvSpPr>
            <a:spLocks noGrp="1"/>
          </p:cNvSpPr>
          <p:nvPr/>
        </p:nvSpPr>
        <p:spPr>
          <a:xfrm>
            <a:off x="4591050" y="4724400"/>
            <a:ext cx="30099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 EIP 开启公网流量防护。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核对入云与出云访问策略，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用日志验证实际防护范围。</a:t>
            </a:r>
          </a:p>
        </p:txBody>
      </p:sp>
      <p:sp>
        <p:nvSpPr>
          <p:cNvPr id="57" name="统一风格-VPC 边界接入玻璃后沿-20">
            <a:extLst>
              <a:ext uri="{FF2B5EF4-FFF2-40B4-BE49-F238E27FC236}">
                <a16:creationId xmlns:a16="http://schemas.microsoft.com/office/drawing/2014/main" id="{CA9B9948-8098-40A2-A421-BC9643F39F41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统一风格-VPC 边界接入-21">
            <a:extLst>
              <a:ext uri="{FF2B5EF4-FFF2-40B4-BE49-F238E27FC236}">
                <a16:creationId xmlns:a16="http://schemas.microsoft.com/office/drawing/2014/main" id="{5320FE4B-177B-4DD2-BD9E-EE0C5466EB54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429000" cy="1762125"/>
          </a:xfrm>
          <a:prstGeom prst="roundRect">
            <a:avLst>
              <a:gd name="adj" fmla="val 486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VPC 边界接入玻璃内沿-22">
            <a:extLst>
              <a:ext uri="{FF2B5EF4-FFF2-40B4-BE49-F238E27FC236}">
                <a16:creationId xmlns:a16="http://schemas.microsoft.com/office/drawing/2014/main" id="{1466A296-FF16-47F9-A3A1-49891503F432}"/>
              </a:ext>
            </a:extLst>
          </p:cNvPr>
          <p:cNvSpPr>
            <a:spLocks noGrp="1"/>
          </p:cNvSpPr>
          <p:nvPr/>
        </p:nvSpPr>
        <p:spPr>
          <a:xfrm>
            <a:off x="8166259" y="4013359"/>
            <a:ext cx="3403283" cy="1736408"/>
          </a:xfrm>
          <a:prstGeom prst="roundRect">
            <a:avLst>
              <a:gd name="adj" fmla="val 42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VPC 边界接入透光反射面-23">
            <a:extLst>
              <a:ext uri="{FF2B5EF4-FFF2-40B4-BE49-F238E27FC236}">
                <a16:creationId xmlns:a16="http://schemas.microsoft.com/office/drawing/2014/main" id="{933498EC-BC4C-4A94-AD1C-1A988C59DFDC}"/>
              </a:ext>
            </a:extLst>
          </p:cNvPr>
          <p:cNvSpPr>
            <a:spLocks noGrp="1"/>
          </p:cNvSpPr>
          <p:nvPr/>
        </p:nvSpPr>
        <p:spPr>
          <a:xfrm>
            <a:off x="8172450" y="4019550"/>
            <a:ext cx="3390900" cy="1724025"/>
          </a:xfrm>
          <a:custGeom>
            <a:avLst/>
            <a:gdLst/>
            <a:ahLst/>
            <a:cxnLst/>
            <a:rect l="0" t="0" r="0" b="0"/>
            <a:pathLst>
              <a:path w="3390900" h="1724025">
                <a:moveTo>
                  <a:pt x="76200" y="0"/>
                </a:moveTo>
                <a:lnTo>
                  <a:pt x="2170176" y="0"/>
                </a:lnTo>
                <a:lnTo>
                  <a:pt x="881634" y="1724025"/>
                </a:lnTo>
                <a:lnTo>
                  <a:pt x="76200" y="1724025"/>
                </a:lnTo>
                <a:cubicBezTo>
                  <a:pt x="28575" y="1724025"/>
                  <a:pt x="0" y="1695450"/>
                  <a:pt x="0" y="16478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VPC 边界接入边缘高光-24">
            <a:extLst>
              <a:ext uri="{FF2B5EF4-FFF2-40B4-BE49-F238E27FC236}">
                <a16:creationId xmlns:a16="http://schemas.microsoft.com/office/drawing/2014/main" id="{1584E97A-A9C5-45B5-9F16-794DED5F2B0A}"/>
              </a:ext>
            </a:extLst>
          </p:cNvPr>
          <p:cNvSpPr>
            <a:spLocks noGrp="1"/>
          </p:cNvSpPr>
          <p:nvPr/>
        </p:nvSpPr>
        <p:spPr>
          <a:xfrm>
            <a:off x="8153400" y="4000500"/>
            <a:ext cx="3429000" cy="1762125"/>
          </a:xfrm>
          <a:custGeom>
            <a:avLst/>
            <a:gdLst/>
            <a:ahLst/>
            <a:cxnLst/>
            <a:rect l="0" t="0" r="0" b="0"/>
            <a:pathLst>
              <a:path w="3429000" h="1762125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router ER 路由器外形-25">
            <a:extLst>
              <a:ext uri="{FF2B5EF4-FFF2-40B4-BE49-F238E27FC236}">
                <a16:creationId xmlns:a16="http://schemas.microsoft.com/office/drawing/2014/main" id="{2A99CB3C-988C-4E4C-8E00-A414A8FA30D0}"/>
              </a:ext>
            </a:extLst>
          </p:cNvPr>
          <p:cNvSpPr>
            <a:spLocks noGrp="1"/>
          </p:cNvSpPr>
          <p:nvPr/>
        </p:nvSpPr>
        <p:spPr>
          <a:xfrm>
            <a:off x="83629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router ER 四向路由-26">
            <a:extLst>
              <a:ext uri="{FF2B5EF4-FFF2-40B4-BE49-F238E27FC236}">
                <a16:creationId xmlns:a16="http://schemas.microsoft.com/office/drawing/2014/main" id="{12F766A4-69F3-495C-B624-ED53DC7CE2FF}"/>
              </a:ext>
            </a:extLst>
          </p:cNvPr>
          <p:cNvSpPr>
            <a:spLocks noGrp="1"/>
          </p:cNvSpPr>
          <p:nvPr/>
        </p:nvSpPr>
        <p:spPr>
          <a:xfrm>
            <a:off x="8362950" y="4181475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文字 VPC 边界接入-27">
            <a:extLst>
              <a:ext uri="{FF2B5EF4-FFF2-40B4-BE49-F238E27FC236}">
                <a16:creationId xmlns:a16="http://schemas.microsoft.com/office/drawing/2014/main" id="{88D9196C-2F45-43A9-8C13-0B726CCD37B0}"/>
              </a:ext>
            </a:extLst>
          </p:cNvPr>
          <p:cNvSpPr>
            <a:spLocks noGrp="1"/>
          </p:cNvSpPr>
          <p:nvPr/>
        </p:nvSpPr>
        <p:spPr>
          <a:xfrm>
            <a:off x="8915400" y="41624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边界接入</a:t>
            </a:r>
          </a:p>
        </p:txBody>
      </p:sp>
      <p:sp>
        <p:nvSpPr>
          <p:cNvPr id="65" name="统一风格-文字 专业版通过 ER 引流接入。 防护跨 VPC 及 VPC 与 IDC 之间的通信流量。-28">
            <a:extLst>
              <a:ext uri="{FF2B5EF4-FFF2-40B4-BE49-F238E27FC236}">
                <a16:creationId xmlns:a16="http://schemas.microsoft.com/office/drawing/2014/main" id="{FBCC7C4D-020C-42B3-ACAF-4423C3079734}"/>
              </a:ext>
            </a:extLst>
          </p:cNvPr>
          <p:cNvSpPr>
            <a:spLocks noGrp="1"/>
          </p:cNvSpPr>
          <p:nvPr/>
        </p:nvSpPr>
        <p:spPr>
          <a:xfrm>
            <a:off x="8362950" y="4724400"/>
            <a:ext cx="30099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专业版通过 ER 引流接入。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防护跨 VPC 及 VPC 与 IDC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之间的通信流量。</a:t>
            </a:r>
          </a:p>
        </p:txBody>
      </p:sp>
    </p:spTree>
    <p:extLst>
      <p:ext uri="{BB962C8B-B14F-4D97-AF65-F5344CB8AC3E}">
        <p14:creationId xmlns:p14="http://schemas.microsoft.com/office/powerpoint/2010/main" val="11151147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-03  CFW 使用规范">
            <a:extLst>
              <a:ext uri="{FF2B5EF4-FFF2-40B4-BE49-F238E27FC236}">
                <a16:creationId xmlns:a16="http://schemas.microsoft.com/office/drawing/2014/main" id="{E6CDEBC3-6A41-4AB6-BC1B-7CAFCDF361D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596C78B-959A-44DE-B456-77EE64F5F57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的检查范围取决于接入边界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B0C753D9-E9BA-40F3-85CB-BF91062D29F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VPC 边界防护需专业版能力与 ER 引流，互联网 / NAT 边界分别核验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DA095C45-C181-404B-B842-C714279EA35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同 VPC 子网间流量不能仅凭购买 CFW 就认定已受检查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F076EC19-E0A6-464E-9B35-71F0A9652E1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1">
            <a:extLst>
              <a:ext uri="{FF2B5EF4-FFF2-40B4-BE49-F238E27FC236}">
                <a16:creationId xmlns:a16="http://schemas.microsoft.com/office/drawing/2014/main" id="{17E97AD9-AE3F-4F50-BC63-0872288E24F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7" name="统一风格-flat-boundaries 互联网玻璃后沿-290">
            <a:extLst>
              <a:ext uri="{FF2B5EF4-FFF2-40B4-BE49-F238E27FC236}">
                <a16:creationId xmlns:a16="http://schemas.microsoft.com/office/drawing/2014/main" id="{50A362F3-0F5C-4150-BFF8-4A8CCD1740FD}"/>
              </a:ext>
            </a:extLst>
          </p:cNvPr>
          <p:cNvSpPr>
            <a:spLocks noGrp="1"/>
          </p:cNvSpPr>
          <p:nvPr/>
        </p:nvSpPr>
        <p:spPr>
          <a:xfrm>
            <a:off x="609600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boundaries 互联网-291">
            <a:extLst>
              <a:ext uri="{FF2B5EF4-FFF2-40B4-BE49-F238E27FC236}">
                <a16:creationId xmlns:a16="http://schemas.microsoft.com/office/drawing/2014/main" id="{59A3F5D5-173E-4548-AE83-82B38D86AB92}"/>
              </a:ext>
            </a:extLst>
          </p:cNvPr>
          <p:cNvSpPr>
            <a:spLocks noGrp="1"/>
          </p:cNvSpPr>
          <p:nvPr/>
        </p:nvSpPr>
        <p:spPr>
          <a:xfrm>
            <a:off x="609600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boundaries 互联网玻璃内沿-292">
            <a:extLst>
              <a:ext uri="{FF2B5EF4-FFF2-40B4-BE49-F238E27FC236}">
                <a16:creationId xmlns:a16="http://schemas.microsoft.com/office/drawing/2014/main" id="{94517193-45F8-4088-9BFE-65A805CA7CB8}"/>
              </a:ext>
            </a:extLst>
          </p:cNvPr>
          <p:cNvSpPr>
            <a:spLocks noGrp="1"/>
          </p:cNvSpPr>
          <p:nvPr/>
        </p:nvSpPr>
        <p:spPr>
          <a:xfrm>
            <a:off x="622459" y="213548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boundaries 互联网透光反射面-293">
            <a:extLst>
              <a:ext uri="{FF2B5EF4-FFF2-40B4-BE49-F238E27FC236}">
                <a16:creationId xmlns:a16="http://schemas.microsoft.com/office/drawing/2014/main" id="{311213F3-CE2E-4BDD-9042-F55C2363BBC5}"/>
              </a:ext>
            </a:extLst>
          </p:cNvPr>
          <p:cNvSpPr>
            <a:spLocks noGrp="1"/>
          </p:cNvSpPr>
          <p:nvPr/>
        </p:nvSpPr>
        <p:spPr>
          <a:xfrm>
            <a:off x="628650" y="2141674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boundaries 互联网边缘高光-294">
            <a:extLst>
              <a:ext uri="{FF2B5EF4-FFF2-40B4-BE49-F238E27FC236}">
                <a16:creationId xmlns:a16="http://schemas.microsoft.com/office/drawing/2014/main" id="{52B26ADA-4180-4A60-8EC7-CC92DBC74E6D}"/>
              </a:ext>
            </a:extLst>
          </p:cNvPr>
          <p:cNvSpPr>
            <a:spLocks noGrp="1"/>
          </p:cNvSpPr>
          <p:nvPr/>
        </p:nvSpPr>
        <p:spPr>
          <a:xfrm>
            <a:off x="609600" y="2122624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globe 互联网外形-295">
            <a:extLst>
              <a:ext uri="{FF2B5EF4-FFF2-40B4-BE49-F238E27FC236}">
                <a16:creationId xmlns:a16="http://schemas.microsoft.com/office/drawing/2014/main" id="{AF36006D-E9E3-4585-8F6D-DFB029A91C8C}"/>
              </a:ext>
            </a:extLst>
          </p:cNvPr>
          <p:cNvSpPr>
            <a:spLocks noGrp="1"/>
          </p:cNvSpPr>
          <p:nvPr/>
        </p:nvSpPr>
        <p:spPr>
          <a:xfrm>
            <a:off x="768441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globe 经纬线-296">
            <a:extLst>
              <a:ext uri="{FF2B5EF4-FFF2-40B4-BE49-F238E27FC236}">
                <a16:creationId xmlns:a16="http://schemas.microsoft.com/office/drawing/2014/main" id="{E3C22E90-623B-434C-8956-8B26C90CE4B7}"/>
              </a:ext>
            </a:extLst>
          </p:cNvPr>
          <p:cNvSpPr>
            <a:spLocks noGrp="1"/>
          </p:cNvSpPr>
          <p:nvPr/>
        </p:nvSpPr>
        <p:spPr>
          <a:xfrm>
            <a:off x="768441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文字 互联网-297">
            <a:extLst>
              <a:ext uri="{FF2B5EF4-FFF2-40B4-BE49-F238E27FC236}">
                <a16:creationId xmlns:a16="http://schemas.microsoft.com/office/drawing/2014/main" id="{AD6BBFE5-9C35-4480-A37A-65900FB5694C}"/>
              </a:ext>
            </a:extLst>
          </p:cNvPr>
          <p:cNvSpPr>
            <a:spLocks noGrp="1"/>
          </p:cNvSpPr>
          <p:nvPr/>
        </p:nvSpPr>
        <p:spPr>
          <a:xfrm>
            <a:off x="1385116" y="228146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15" name="统一风格-flat-boundaries CFW玻璃后沿-298">
            <a:extLst>
              <a:ext uri="{FF2B5EF4-FFF2-40B4-BE49-F238E27FC236}">
                <a16:creationId xmlns:a16="http://schemas.microsoft.com/office/drawing/2014/main" id="{E253F360-11A8-46BF-B478-088F3ED58F4B}"/>
              </a:ext>
            </a:extLst>
          </p:cNvPr>
          <p:cNvSpPr>
            <a:spLocks noGrp="1"/>
          </p:cNvSpPr>
          <p:nvPr/>
        </p:nvSpPr>
        <p:spPr>
          <a:xfrm>
            <a:off x="3440702" y="2122624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flat-boundaries CFW-299">
            <a:extLst>
              <a:ext uri="{FF2B5EF4-FFF2-40B4-BE49-F238E27FC236}">
                <a16:creationId xmlns:a16="http://schemas.microsoft.com/office/drawing/2014/main" id="{9CE734CF-3B58-45D8-8DCB-8C47F0932916}"/>
              </a:ext>
            </a:extLst>
          </p:cNvPr>
          <p:cNvSpPr>
            <a:spLocks noGrp="1"/>
          </p:cNvSpPr>
          <p:nvPr/>
        </p:nvSpPr>
        <p:spPr>
          <a:xfrm>
            <a:off x="3440702" y="2122624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flat-boundaries CFW玻璃内沿-300">
            <a:extLst>
              <a:ext uri="{FF2B5EF4-FFF2-40B4-BE49-F238E27FC236}">
                <a16:creationId xmlns:a16="http://schemas.microsoft.com/office/drawing/2014/main" id="{D3F8CA52-B0C2-4A3D-9EF2-643A5844AC64}"/>
              </a:ext>
            </a:extLst>
          </p:cNvPr>
          <p:cNvSpPr>
            <a:spLocks noGrp="1"/>
          </p:cNvSpPr>
          <p:nvPr/>
        </p:nvSpPr>
        <p:spPr>
          <a:xfrm>
            <a:off x="3453561" y="2135482"/>
            <a:ext cx="2160678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boundaries CFW透光反射面-301">
            <a:extLst>
              <a:ext uri="{FF2B5EF4-FFF2-40B4-BE49-F238E27FC236}">
                <a16:creationId xmlns:a16="http://schemas.microsoft.com/office/drawing/2014/main" id="{A2DC8CAB-C3CD-43FD-95FA-04EF97E1FA61}"/>
              </a:ext>
            </a:extLst>
          </p:cNvPr>
          <p:cNvSpPr>
            <a:spLocks noGrp="1"/>
          </p:cNvSpPr>
          <p:nvPr/>
        </p:nvSpPr>
        <p:spPr>
          <a:xfrm>
            <a:off x="3459752" y="2141674"/>
            <a:ext cx="2148296" cy="896257"/>
          </a:xfrm>
          <a:custGeom>
            <a:avLst/>
            <a:gdLst/>
            <a:ahLst/>
            <a:cxnLst/>
            <a:rect l="0" t="0" r="0" b="0"/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boundaries CFW边缘高光-302">
            <a:extLst>
              <a:ext uri="{FF2B5EF4-FFF2-40B4-BE49-F238E27FC236}">
                <a16:creationId xmlns:a16="http://schemas.microsoft.com/office/drawing/2014/main" id="{E6C30FD7-D49D-4B0C-95C2-A72CE8512A54}"/>
              </a:ext>
            </a:extLst>
          </p:cNvPr>
          <p:cNvSpPr>
            <a:spLocks noGrp="1"/>
          </p:cNvSpPr>
          <p:nvPr/>
        </p:nvSpPr>
        <p:spPr>
          <a:xfrm>
            <a:off x="3440702" y="2122624"/>
            <a:ext cx="2186396" cy="934357"/>
          </a:xfrm>
          <a:custGeom>
            <a:avLst/>
            <a:gdLst/>
            <a:ahLst/>
            <a:cxnLst/>
            <a:rect l="0" t="0" r="0" b="0"/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firewall CFW 砖墙-303">
            <a:extLst>
              <a:ext uri="{FF2B5EF4-FFF2-40B4-BE49-F238E27FC236}">
                <a16:creationId xmlns:a16="http://schemas.microsoft.com/office/drawing/2014/main" id="{232EC099-62C8-4A48-8201-04FA3C025CCA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firewall CFW 砖缝-304">
            <a:extLst>
              <a:ext uri="{FF2B5EF4-FFF2-40B4-BE49-F238E27FC236}">
                <a16:creationId xmlns:a16="http://schemas.microsoft.com/office/drawing/2014/main" id="{A479DD83-34C0-4970-B8E9-FBC73AE2ED46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firewall CFW 前景衬底-305">
            <a:extLst>
              <a:ext uri="{FF2B5EF4-FFF2-40B4-BE49-F238E27FC236}">
                <a16:creationId xmlns:a16="http://schemas.microsoft.com/office/drawing/2014/main" id="{E6E608B2-A84E-4893-85EA-AF80D659BB14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firewall CFW 简洁火焰-306">
            <a:extLst>
              <a:ext uri="{FF2B5EF4-FFF2-40B4-BE49-F238E27FC236}">
                <a16:creationId xmlns:a16="http://schemas.microsoft.com/office/drawing/2014/main" id="{0942AAD3-4183-41DB-AA4D-BA6B776BB4E8}"/>
              </a:ext>
            </a:extLst>
          </p:cNvPr>
          <p:cNvSpPr>
            <a:spLocks noGrp="1"/>
          </p:cNvSpPr>
          <p:nvPr/>
        </p:nvSpPr>
        <p:spPr>
          <a:xfrm>
            <a:off x="3599543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CFW-307">
            <a:extLst>
              <a:ext uri="{FF2B5EF4-FFF2-40B4-BE49-F238E27FC236}">
                <a16:creationId xmlns:a16="http://schemas.microsoft.com/office/drawing/2014/main" id="{CCF5A22C-EE53-43E3-ADD8-A483AA183B0C}"/>
              </a:ext>
            </a:extLst>
          </p:cNvPr>
          <p:cNvSpPr>
            <a:spLocks noGrp="1"/>
          </p:cNvSpPr>
          <p:nvPr/>
        </p:nvSpPr>
        <p:spPr>
          <a:xfrm>
            <a:off x="4216219" y="2281464"/>
            <a:ext cx="130810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25" name="统一风格-文字 检查已接入边界-308">
            <a:extLst>
              <a:ext uri="{FF2B5EF4-FFF2-40B4-BE49-F238E27FC236}">
                <a16:creationId xmlns:a16="http://schemas.microsoft.com/office/drawing/2014/main" id="{CDF8F6C0-BC98-4EF4-956F-672D5F4877A7}"/>
              </a:ext>
            </a:extLst>
          </p:cNvPr>
          <p:cNvSpPr>
            <a:spLocks noGrp="1"/>
          </p:cNvSpPr>
          <p:nvPr/>
        </p:nvSpPr>
        <p:spPr>
          <a:xfrm>
            <a:off x="4216219" y="2608489"/>
            <a:ext cx="130810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26" name="统一风格-flat-boundaries 云资产玻璃后沿-309">
            <a:extLst>
              <a:ext uri="{FF2B5EF4-FFF2-40B4-BE49-F238E27FC236}">
                <a16:creationId xmlns:a16="http://schemas.microsoft.com/office/drawing/2014/main" id="{050CCD96-9E79-4701-B847-25224415B1C4}"/>
              </a:ext>
            </a:extLst>
          </p:cNvPr>
          <p:cNvSpPr>
            <a:spLocks noGrp="1"/>
          </p:cNvSpPr>
          <p:nvPr/>
        </p:nvSpPr>
        <p:spPr>
          <a:xfrm>
            <a:off x="6290491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flat-boundaries 云资产-310">
            <a:extLst>
              <a:ext uri="{FF2B5EF4-FFF2-40B4-BE49-F238E27FC236}">
                <a16:creationId xmlns:a16="http://schemas.microsoft.com/office/drawing/2014/main" id="{CA542F5A-7203-4967-9BC6-DAAEBABF59AD}"/>
              </a:ext>
            </a:extLst>
          </p:cNvPr>
          <p:cNvSpPr>
            <a:spLocks noGrp="1"/>
          </p:cNvSpPr>
          <p:nvPr/>
        </p:nvSpPr>
        <p:spPr>
          <a:xfrm>
            <a:off x="6290491" y="2122624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flat-boundaries 云资产玻璃内沿-311">
            <a:extLst>
              <a:ext uri="{FF2B5EF4-FFF2-40B4-BE49-F238E27FC236}">
                <a16:creationId xmlns:a16="http://schemas.microsoft.com/office/drawing/2014/main" id="{726BBF44-DA7B-4AF2-980F-986A30CCA83B}"/>
              </a:ext>
            </a:extLst>
          </p:cNvPr>
          <p:cNvSpPr>
            <a:spLocks noGrp="1"/>
          </p:cNvSpPr>
          <p:nvPr/>
        </p:nvSpPr>
        <p:spPr>
          <a:xfrm>
            <a:off x="6303350" y="213548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flat-boundaries 云资产透光反射面-312">
            <a:extLst>
              <a:ext uri="{FF2B5EF4-FFF2-40B4-BE49-F238E27FC236}">
                <a16:creationId xmlns:a16="http://schemas.microsoft.com/office/drawing/2014/main" id="{39BC7029-2613-4627-BFF1-84B5BB6712F6}"/>
              </a:ext>
            </a:extLst>
          </p:cNvPr>
          <p:cNvSpPr>
            <a:spLocks noGrp="1"/>
          </p:cNvSpPr>
          <p:nvPr/>
        </p:nvSpPr>
        <p:spPr>
          <a:xfrm>
            <a:off x="6309541" y="2141674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flat-boundaries 云资产边缘高光-313">
            <a:extLst>
              <a:ext uri="{FF2B5EF4-FFF2-40B4-BE49-F238E27FC236}">
                <a16:creationId xmlns:a16="http://schemas.microsoft.com/office/drawing/2014/main" id="{536F55E8-2197-42FC-920B-877A4F28B14A}"/>
              </a:ext>
            </a:extLst>
          </p:cNvPr>
          <p:cNvSpPr>
            <a:spLocks noGrp="1"/>
          </p:cNvSpPr>
          <p:nvPr/>
        </p:nvSpPr>
        <p:spPr>
          <a:xfrm>
            <a:off x="6290491" y="2122624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cloud VPC 云轮廓-314">
            <a:extLst>
              <a:ext uri="{FF2B5EF4-FFF2-40B4-BE49-F238E27FC236}">
                <a16:creationId xmlns:a16="http://schemas.microsoft.com/office/drawing/2014/main" id="{646A4B50-EFF4-4006-B1CE-61A74906E754}"/>
              </a:ext>
            </a:extLst>
          </p:cNvPr>
          <p:cNvSpPr>
            <a:spLocks noGrp="1"/>
          </p:cNvSpPr>
          <p:nvPr/>
        </p:nvSpPr>
        <p:spPr>
          <a:xfrm>
            <a:off x="6449332" y="234686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文字 云资产-315">
            <a:extLst>
              <a:ext uri="{FF2B5EF4-FFF2-40B4-BE49-F238E27FC236}">
                <a16:creationId xmlns:a16="http://schemas.microsoft.com/office/drawing/2014/main" id="{0D2D2105-6EEB-469E-990F-F1EE84111A6E}"/>
              </a:ext>
            </a:extLst>
          </p:cNvPr>
          <p:cNvSpPr>
            <a:spLocks noGrp="1"/>
          </p:cNvSpPr>
          <p:nvPr/>
        </p:nvSpPr>
        <p:spPr>
          <a:xfrm>
            <a:off x="7066008" y="228146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云资产</a:t>
            </a:r>
          </a:p>
        </p:txBody>
      </p:sp>
      <p:cxnSp>
        <p:nvCxnSpPr>
          <p:cNvPr id="33" name="统一拓扑-flat-boundaries-连线-1">
            <a:extLst>
              <a:ext uri="{FF2B5EF4-FFF2-40B4-BE49-F238E27FC236}">
                <a16:creationId xmlns:a16="http://schemas.microsoft.com/office/drawing/2014/main" id="{A92E519F-B99C-45D1-AC65-9AC50AA036B5}"/>
              </a:ext>
            </a:extLst>
          </p:cNvPr>
          <p:cNvCxnSpPr/>
          <p:nvPr/>
        </p:nvCxnSpPr>
        <p:spPr>
          <a:xfrm>
            <a:off x="2777309" y="2589802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4" name="统一拓扑-flat-boundaries-连线-2">
            <a:extLst>
              <a:ext uri="{FF2B5EF4-FFF2-40B4-BE49-F238E27FC236}">
                <a16:creationId xmlns:a16="http://schemas.microsoft.com/office/drawing/2014/main" id="{3EB70E6C-6B97-427E-9700-9763C0ABD323}"/>
              </a:ext>
            </a:extLst>
          </p:cNvPr>
          <p:cNvCxnSpPr/>
          <p:nvPr/>
        </p:nvCxnSpPr>
        <p:spPr>
          <a:xfrm>
            <a:off x="5627098" y="2589802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5" name="统一风格-flat-boundaries 关系文字衬底-316">
            <a:extLst>
              <a:ext uri="{FF2B5EF4-FFF2-40B4-BE49-F238E27FC236}">
                <a16:creationId xmlns:a16="http://schemas.microsoft.com/office/drawing/2014/main" id="{1F1E3A2B-78AE-41A6-994D-5BC10D75AFBE}"/>
              </a:ext>
            </a:extLst>
          </p:cNvPr>
          <p:cNvSpPr>
            <a:spLocks noGrp="1"/>
          </p:cNvSpPr>
          <p:nvPr/>
        </p:nvSpPr>
        <p:spPr>
          <a:xfrm>
            <a:off x="3076303" y="3094355"/>
            <a:ext cx="2915194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文字 互联网边界 / 南北向-317">
            <a:extLst>
              <a:ext uri="{FF2B5EF4-FFF2-40B4-BE49-F238E27FC236}">
                <a16:creationId xmlns:a16="http://schemas.microsoft.com/office/drawing/2014/main" id="{9FB97BDF-1A8F-42D9-9E16-222A1CA24EEA}"/>
              </a:ext>
            </a:extLst>
          </p:cNvPr>
          <p:cNvSpPr>
            <a:spLocks noGrp="1"/>
          </p:cNvSpPr>
          <p:nvPr/>
        </p:nvSpPr>
        <p:spPr>
          <a:xfrm>
            <a:off x="3113677" y="3094355"/>
            <a:ext cx="2840446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互联网边界 / 南北向</a:t>
            </a:r>
          </a:p>
        </p:txBody>
      </p:sp>
      <p:sp>
        <p:nvSpPr>
          <p:cNvPr id="37" name="统一风格-flat-boundaries 应用 VPC玻璃后沿-318">
            <a:extLst>
              <a:ext uri="{FF2B5EF4-FFF2-40B4-BE49-F238E27FC236}">
                <a16:creationId xmlns:a16="http://schemas.microsoft.com/office/drawing/2014/main" id="{0A19E4C5-B215-45DE-AE00-9ED5BA6A6FAE}"/>
              </a:ext>
            </a:extLst>
          </p:cNvPr>
          <p:cNvSpPr>
            <a:spLocks noGrp="1"/>
          </p:cNvSpPr>
          <p:nvPr/>
        </p:nvSpPr>
        <p:spPr>
          <a:xfrm>
            <a:off x="609600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8" name="统一风格-flat-boundaries 应用 VPC-319">
            <a:extLst>
              <a:ext uri="{FF2B5EF4-FFF2-40B4-BE49-F238E27FC236}">
                <a16:creationId xmlns:a16="http://schemas.microsoft.com/office/drawing/2014/main" id="{81B8198A-2271-4750-BA69-57084F964F5D}"/>
              </a:ext>
            </a:extLst>
          </p:cNvPr>
          <p:cNvSpPr>
            <a:spLocks noGrp="1"/>
          </p:cNvSpPr>
          <p:nvPr/>
        </p:nvSpPr>
        <p:spPr>
          <a:xfrm>
            <a:off x="609600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flat-boundaries 应用 VPC玻璃内沿-320">
            <a:extLst>
              <a:ext uri="{FF2B5EF4-FFF2-40B4-BE49-F238E27FC236}">
                <a16:creationId xmlns:a16="http://schemas.microsoft.com/office/drawing/2014/main" id="{24412210-BCB4-4E9B-AD49-F7C3EF3F9B52}"/>
              </a:ext>
            </a:extLst>
          </p:cNvPr>
          <p:cNvSpPr>
            <a:spLocks noGrp="1"/>
          </p:cNvSpPr>
          <p:nvPr/>
        </p:nvSpPr>
        <p:spPr>
          <a:xfrm>
            <a:off x="622459" y="341555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flat-boundaries 应用 VPC透光反射面-321">
            <a:extLst>
              <a:ext uri="{FF2B5EF4-FFF2-40B4-BE49-F238E27FC236}">
                <a16:creationId xmlns:a16="http://schemas.microsoft.com/office/drawing/2014/main" id="{8059C85D-26A7-44D1-B4D9-49D960D9DC69}"/>
              </a:ext>
            </a:extLst>
          </p:cNvPr>
          <p:cNvSpPr>
            <a:spLocks noGrp="1"/>
          </p:cNvSpPr>
          <p:nvPr/>
        </p:nvSpPr>
        <p:spPr>
          <a:xfrm>
            <a:off x="628650" y="3421743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flat-boundaries 应用 VPC边缘高光-322">
            <a:extLst>
              <a:ext uri="{FF2B5EF4-FFF2-40B4-BE49-F238E27FC236}">
                <a16:creationId xmlns:a16="http://schemas.microsoft.com/office/drawing/2014/main" id="{83E5B3CC-1F08-47C4-9F0B-645EFE9F666F}"/>
              </a:ext>
            </a:extLst>
          </p:cNvPr>
          <p:cNvSpPr>
            <a:spLocks noGrp="1"/>
          </p:cNvSpPr>
          <p:nvPr/>
        </p:nvSpPr>
        <p:spPr>
          <a:xfrm>
            <a:off x="609600" y="3402693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cloud VPC 云轮廓-323">
            <a:extLst>
              <a:ext uri="{FF2B5EF4-FFF2-40B4-BE49-F238E27FC236}">
                <a16:creationId xmlns:a16="http://schemas.microsoft.com/office/drawing/2014/main" id="{533DF89E-7242-4055-ADE7-5AFA3A22E41F}"/>
              </a:ext>
            </a:extLst>
          </p:cNvPr>
          <p:cNvSpPr>
            <a:spLocks noGrp="1"/>
          </p:cNvSpPr>
          <p:nvPr/>
        </p:nvSpPr>
        <p:spPr>
          <a:xfrm>
            <a:off x="768441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应用 VPC-324">
            <a:extLst>
              <a:ext uri="{FF2B5EF4-FFF2-40B4-BE49-F238E27FC236}">
                <a16:creationId xmlns:a16="http://schemas.microsoft.com/office/drawing/2014/main" id="{FE62E1C1-D4E2-405A-92F2-A39CDAF06CFD}"/>
              </a:ext>
            </a:extLst>
          </p:cNvPr>
          <p:cNvSpPr>
            <a:spLocks noGrp="1"/>
          </p:cNvSpPr>
          <p:nvPr/>
        </p:nvSpPr>
        <p:spPr>
          <a:xfrm>
            <a:off x="1385116" y="356153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44" name="统一风格-flat-boundaries CFW玻璃后沿-325">
            <a:extLst>
              <a:ext uri="{FF2B5EF4-FFF2-40B4-BE49-F238E27FC236}">
                <a16:creationId xmlns:a16="http://schemas.microsoft.com/office/drawing/2014/main" id="{22C0CD50-70CE-4CA7-8F7E-D2146327368F}"/>
              </a:ext>
            </a:extLst>
          </p:cNvPr>
          <p:cNvSpPr>
            <a:spLocks noGrp="1"/>
          </p:cNvSpPr>
          <p:nvPr/>
        </p:nvSpPr>
        <p:spPr>
          <a:xfrm>
            <a:off x="3440702" y="3402693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统一风格-flat-boundaries CFW-326">
            <a:extLst>
              <a:ext uri="{FF2B5EF4-FFF2-40B4-BE49-F238E27FC236}">
                <a16:creationId xmlns:a16="http://schemas.microsoft.com/office/drawing/2014/main" id="{DB63BAC2-ED6B-4BEB-B44B-009D2B9198C2}"/>
              </a:ext>
            </a:extLst>
          </p:cNvPr>
          <p:cNvSpPr>
            <a:spLocks noGrp="1"/>
          </p:cNvSpPr>
          <p:nvPr/>
        </p:nvSpPr>
        <p:spPr>
          <a:xfrm>
            <a:off x="3440702" y="3402693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lat-boundaries CFW玻璃内沿-327">
            <a:extLst>
              <a:ext uri="{FF2B5EF4-FFF2-40B4-BE49-F238E27FC236}">
                <a16:creationId xmlns:a16="http://schemas.microsoft.com/office/drawing/2014/main" id="{5F5A2B6C-9C5E-418F-BAC0-73D10469D865}"/>
              </a:ext>
            </a:extLst>
          </p:cNvPr>
          <p:cNvSpPr>
            <a:spLocks noGrp="1"/>
          </p:cNvSpPr>
          <p:nvPr/>
        </p:nvSpPr>
        <p:spPr>
          <a:xfrm>
            <a:off x="3453561" y="3415552"/>
            <a:ext cx="2160678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flat-boundaries CFW透光反射面-328">
            <a:extLst>
              <a:ext uri="{FF2B5EF4-FFF2-40B4-BE49-F238E27FC236}">
                <a16:creationId xmlns:a16="http://schemas.microsoft.com/office/drawing/2014/main" id="{A387F541-80C1-4EB5-B32B-191555BF7176}"/>
              </a:ext>
            </a:extLst>
          </p:cNvPr>
          <p:cNvSpPr>
            <a:spLocks noGrp="1"/>
          </p:cNvSpPr>
          <p:nvPr/>
        </p:nvSpPr>
        <p:spPr>
          <a:xfrm>
            <a:off x="3459752" y="3421743"/>
            <a:ext cx="2148296" cy="896257"/>
          </a:xfrm>
          <a:custGeom>
            <a:avLst/>
            <a:gdLst/>
            <a:ahLst/>
            <a:cxnLst/>
            <a:rect l="0" t="0" r="0" b="0"/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flat-boundaries CFW边缘高光-329">
            <a:extLst>
              <a:ext uri="{FF2B5EF4-FFF2-40B4-BE49-F238E27FC236}">
                <a16:creationId xmlns:a16="http://schemas.microsoft.com/office/drawing/2014/main" id="{792F6423-35AD-4FAE-AAE4-F85C22E6E809}"/>
              </a:ext>
            </a:extLst>
          </p:cNvPr>
          <p:cNvSpPr>
            <a:spLocks noGrp="1"/>
          </p:cNvSpPr>
          <p:nvPr/>
        </p:nvSpPr>
        <p:spPr>
          <a:xfrm>
            <a:off x="3440702" y="3402693"/>
            <a:ext cx="2186396" cy="934357"/>
          </a:xfrm>
          <a:custGeom>
            <a:avLst/>
            <a:gdLst/>
            <a:ahLst/>
            <a:cxnLst/>
            <a:rect l="0" t="0" r="0" b="0"/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firewall CFW 砖墙-330">
            <a:extLst>
              <a:ext uri="{FF2B5EF4-FFF2-40B4-BE49-F238E27FC236}">
                <a16:creationId xmlns:a16="http://schemas.microsoft.com/office/drawing/2014/main" id="{A76F12EB-B7CB-491D-86E3-2F804C332F82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firewall CFW 砖缝-331">
            <a:extLst>
              <a:ext uri="{FF2B5EF4-FFF2-40B4-BE49-F238E27FC236}">
                <a16:creationId xmlns:a16="http://schemas.microsoft.com/office/drawing/2014/main" id="{1C41B662-63A6-48A0-816B-1FB44E40F814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firewall CFW 前景衬底-332">
            <a:extLst>
              <a:ext uri="{FF2B5EF4-FFF2-40B4-BE49-F238E27FC236}">
                <a16:creationId xmlns:a16="http://schemas.microsoft.com/office/drawing/2014/main" id="{9AA62115-9106-4CE6-AF2A-FC64E78BE882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firewall CFW 简洁火焰-333">
            <a:extLst>
              <a:ext uri="{FF2B5EF4-FFF2-40B4-BE49-F238E27FC236}">
                <a16:creationId xmlns:a16="http://schemas.microsoft.com/office/drawing/2014/main" id="{CD2DD8A8-B8AA-43EC-B8D3-16D717F50269}"/>
              </a:ext>
            </a:extLst>
          </p:cNvPr>
          <p:cNvSpPr>
            <a:spLocks noGrp="1"/>
          </p:cNvSpPr>
          <p:nvPr/>
        </p:nvSpPr>
        <p:spPr>
          <a:xfrm>
            <a:off x="3599543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文字 CFW-334">
            <a:extLst>
              <a:ext uri="{FF2B5EF4-FFF2-40B4-BE49-F238E27FC236}">
                <a16:creationId xmlns:a16="http://schemas.microsoft.com/office/drawing/2014/main" id="{6FF5D7E3-5541-4415-83DB-222F2F61A1F0}"/>
              </a:ext>
            </a:extLst>
          </p:cNvPr>
          <p:cNvSpPr>
            <a:spLocks noGrp="1"/>
          </p:cNvSpPr>
          <p:nvPr/>
        </p:nvSpPr>
        <p:spPr>
          <a:xfrm>
            <a:off x="4216219" y="3561534"/>
            <a:ext cx="130810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4" name="统一风格-文字 检查已接入边界-335">
            <a:extLst>
              <a:ext uri="{FF2B5EF4-FFF2-40B4-BE49-F238E27FC236}">
                <a16:creationId xmlns:a16="http://schemas.microsoft.com/office/drawing/2014/main" id="{A10C935E-E6A7-4AAA-B00B-D413B4298F65}"/>
              </a:ext>
            </a:extLst>
          </p:cNvPr>
          <p:cNvSpPr>
            <a:spLocks noGrp="1"/>
          </p:cNvSpPr>
          <p:nvPr/>
        </p:nvSpPr>
        <p:spPr>
          <a:xfrm>
            <a:off x="4216219" y="3888559"/>
            <a:ext cx="130810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55" name="统一风格-flat-boundaries 数据 VPC玻璃后沿-336">
            <a:extLst>
              <a:ext uri="{FF2B5EF4-FFF2-40B4-BE49-F238E27FC236}">
                <a16:creationId xmlns:a16="http://schemas.microsoft.com/office/drawing/2014/main" id="{8C2855F1-B017-4EAC-AD8E-E94BF6B71062}"/>
              </a:ext>
            </a:extLst>
          </p:cNvPr>
          <p:cNvSpPr>
            <a:spLocks noGrp="1"/>
          </p:cNvSpPr>
          <p:nvPr/>
        </p:nvSpPr>
        <p:spPr>
          <a:xfrm>
            <a:off x="6290491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6" name="统一风格-flat-boundaries 数据 VPC-337">
            <a:extLst>
              <a:ext uri="{FF2B5EF4-FFF2-40B4-BE49-F238E27FC236}">
                <a16:creationId xmlns:a16="http://schemas.microsoft.com/office/drawing/2014/main" id="{CE6FC339-BADD-4D3F-942D-E1A59CAC30B4}"/>
              </a:ext>
            </a:extLst>
          </p:cNvPr>
          <p:cNvSpPr>
            <a:spLocks noGrp="1"/>
          </p:cNvSpPr>
          <p:nvPr/>
        </p:nvSpPr>
        <p:spPr>
          <a:xfrm>
            <a:off x="6290491" y="3402693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flat-boundaries 数据 VPC玻璃内沿-338">
            <a:extLst>
              <a:ext uri="{FF2B5EF4-FFF2-40B4-BE49-F238E27FC236}">
                <a16:creationId xmlns:a16="http://schemas.microsoft.com/office/drawing/2014/main" id="{1E12DAF4-8E1F-4D24-8F98-811E821E9088}"/>
              </a:ext>
            </a:extLst>
          </p:cNvPr>
          <p:cNvSpPr>
            <a:spLocks noGrp="1"/>
          </p:cNvSpPr>
          <p:nvPr/>
        </p:nvSpPr>
        <p:spPr>
          <a:xfrm>
            <a:off x="6303350" y="3415552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flat-boundaries 数据 VPC透光反射面-339">
            <a:extLst>
              <a:ext uri="{FF2B5EF4-FFF2-40B4-BE49-F238E27FC236}">
                <a16:creationId xmlns:a16="http://schemas.microsoft.com/office/drawing/2014/main" id="{B182AF01-C929-4648-A8C2-BE4073A6D825}"/>
              </a:ext>
            </a:extLst>
          </p:cNvPr>
          <p:cNvSpPr>
            <a:spLocks noGrp="1"/>
          </p:cNvSpPr>
          <p:nvPr/>
        </p:nvSpPr>
        <p:spPr>
          <a:xfrm>
            <a:off x="6309541" y="3421743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flat-boundaries 数据 VPC边缘高光-340">
            <a:extLst>
              <a:ext uri="{FF2B5EF4-FFF2-40B4-BE49-F238E27FC236}">
                <a16:creationId xmlns:a16="http://schemas.microsoft.com/office/drawing/2014/main" id="{A8D65595-5E3B-4DF0-ABAB-A855723919E4}"/>
              </a:ext>
            </a:extLst>
          </p:cNvPr>
          <p:cNvSpPr>
            <a:spLocks noGrp="1"/>
          </p:cNvSpPr>
          <p:nvPr/>
        </p:nvSpPr>
        <p:spPr>
          <a:xfrm>
            <a:off x="6290491" y="3402693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cloud VPC 云轮廓-341">
            <a:extLst>
              <a:ext uri="{FF2B5EF4-FFF2-40B4-BE49-F238E27FC236}">
                <a16:creationId xmlns:a16="http://schemas.microsoft.com/office/drawing/2014/main" id="{CC4D0297-5F5D-4573-9A08-3D196FAB88BD}"/>
              </a:ext>
            </a:extLst>
          </p:cNvPr>
          <p:cNvSpPr>
            <a:spLocks noGrp="1"/>
          </p:cNvSpPr>
          <p:nvPr/>
        </p:nvSpPr>
        <p:spPr>
          <a:xfrm>
            <a:off x="6449332" y="3626939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文字 数据 VPC-342">
            <a:extLst>
              <a:ext uri="{FF2B5EF4-FFF2-40B4-BE49-F238E27FC236}">
                <a16:creationId xmlns:a16="http://schemas.microsoft.com/office/drawing/2014/main" id="{B7DDF797-01A3-442D-A583-C735472546AF}"/>
              </a:ext>
            </a:extLst>
          </p:cNvPr>
          <p:cNvSpPr>
            <a:spLocks noGrp="1"/>
          </p:cNvSpPr>
          <p:nvPr/>
        </p:nvSpPr>
        <p:spPr>
          <a:xfrm>
            <a:off x="7066008" y="3561534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cxnSp>
        <p:nvCxnSpPr>
          <p:cNvPr id="62" name="统一拓扑-flat-boundaries-连线-3">
            <a:extLst>
              <a:ext uri="{FF2B5EF4-FFF2-40B4-BE49-F238E27FC236}">
                <a16:creationId xmlns:a16="http://schemas.microsoft.com/office/drawing/2014/main" id="{ADCFDEFC-7FEE-4B3A-9438-386A53C08ED2}"/>
              </a:ext>
            </a:extLst>
          </p:cNvPr>
          <p:cNvCxnSpPr/>
          <p:nvPr/>
        </p:nvCxnSpPr>
        <p:spPr>
          <a:xfrm>
            <a:off x="2777309" y="386987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3" name="统一拓扑-flat-boundaries-连线-4">
            <a:extLst>
              <a:ext uri="{FF2B5EF4-FFF2-40B4-BE49-F238E27FC236}">
                <a16:creationId xmlns:a16="http://schemas.microsoft.com/office/drawing/2014/main" id="{D5B73E72-DA57-4221-8A69-6B9EE12DC384}"/>
              </a:ext>
            </a:extLst>
          </p:cNvPr>
          <p:cNvCxnSpPr/>
          <p:nvPr/>
        </p:nvCxnSpPr>
        <p:spPr>
          <a:xfrm>
            <a:off x="5627098" y="386987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64" name="统一风格-flat-boundaries 关系文字衬底-343">
            <a:extLst>
              <a:ext uri="{FF2B5EF4-FFF2-40B4-BE49-F238E27FC236}">
                <a16:creationId xmlns:a16="http://schemas.microsoft.com/office/drawing/2014/main" id="{16577981-E838-4CA2-81D9-F1C79B5D0BFD}"/>
              </a:ext>
            </a:extLst>
          </p:cNvPr>
          <p:cNvSpPr>
            <a:spLocks noGrp="1"/>
          </p:cNvSpPr>
          <p:nvPr/>
        </p:nvSpPr>
        <p:spPr>
          <a:xfrm>
            <a:off x="3076303" y="4374424"/>
            <a:ext cx="2915194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文字 VPC 边界 / 东西向-344">
            <a:extLst>
              <a:ext uri="{FF2B5EF4-FFF2-40B4-BE49-F238E27FC236}">
                <a16:creationId xmlns:a16="http://schemas.microsoft.com/office/drawing/2014/main" id="{831274C6-4BB8-4D18-90DA-668DFD38F56E}"/>
              </a:ext>
            </a:extLst>
          </p:cNvPr>
          <p:cNvSpPr>
            <a:spLocks noGrp="1"/>
          </p:cNvSpPr>
          <p:nvPr/>
        </p:nvSpPr>
        <p:spPr>
          <a:xfrm>
            <a:off x="3113677" y="4374424"/>
            <a:ext cx="2840446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VPC 边界 / 东西向</a:t>
            </a:r>
          </a:p>
        </p:txBody>
      </p:sp>
      <p:sp>
        <p:nvSpPr>
          <p:cNvPr id="66" name="统一风格-flat-boundaries IDC玻璃后沿-345">
            <a:extLst>
              <a:ext uri="{FF2B5EF4-FFF2-40B4-BE49-F238E27FC236}">
                <a16:creationId xmlns:a16="http://schemas.microsoft.com/office/drawing/2014/main" id="{F4BADC92-09CD-4A7A-9B0D-87CEF7D80348}"/>
              </a:ext>
            </a:extLst>
          </p:cNvPr>
          <p:cNvSpPr>
            <a:spLocks noGrp="1"/>
          </p:cNvSpPr>
          <p:nvPr/>
        </p:nvSpPr>
        <p:spPr>
          <a:xfrm>
            <a:off x="609600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7" name="统一风格-flat-boundaries IDC-346">
            <a:extLst>
              <a:ext uri="{FF2B5EF4-FFF2-40B4-BE49-F238E27FC236}">
                <a16:creationId xmlns:a16="http://schemas.microsoft.com/office/drawing/2014/main" id="{95E3E441-3F25-4F92-B327-EAB50F915033}"/>
              </a:ext>
            </a:extLst>
          </p:cNvPr>
          <p:cNvSpPr>
            <a:spLocks noGrp="1"/>
          </p:cNvSpPr>
          <p:nvPr/>
        </p:nvSpPr>
        <p:spPr>
          <a:xfrm>
            <a:off x="609600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flat-boundaries IDC玻璃内沿-347">
            <a:extLst>
              <a:ext uri="{FF2B5EF4-FFF2-40B4-BE49-F238E27FC236}">
                <a16:creationId xmlns:a16="http://schemas.microsoft.com/office/drawing/2014/main" id="{8BB52132-4C7C-4B8A-B5D1-8344DB311C39}"/>
              </a:ext>
            </a:extLst>
          </p:cNvPr>
          <p:cNvSpPr>
            <a:spLocks noGrp="1"/>
          </p:cNvSpPr>
          <p:nvPr/>
        </p:nvSpPr>
        <p:spPr>
          <a:xfrm>
            <a:off x="622459" y="4695621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flat-boundaries IDC透光反射面-348">
            <a:extLst>
              <a:ext uri="{FF2B5EF4-FFF2-40B4-BE49-F238E27FC236}">
                <a16:creationId xmlns:a16="http://schemas.microsoft.com/office/drawing/2014/main" id="{6C07F886-B757-4F2C-871A-3B6FC593CEAF}"/>
              </a:ext>
            </a:extLst>
          </p:cNvPr>
          <p:cNvSpPr>
            <a:spLocks noGrp="1"/>
          </p:cNvSpPr>
          <p:nvPr/>
        </p:nvSpPr>
        <p:spPr>
          <a:xfrm>
            <a:off x="628650" y="4701812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flat-boundaries IDC边缘高光-349">
            <a:extLst>
              <a:ext uri="{FF2B5EF4-FFF2-40B4-BE49-F238E27FC236}">
                <a16:creationId xmlns:a16="http://schemas.microsoft.com/office/drawing/2014/main" id="{4FA87903-381A-4872-A7F0-726623E8CE80}"/>
              </a:ext>
            </a:extLst>
          </p:cNvPr>
          <p:cNvSpPr>
            <a:spLocks noGrp="1"/>
          </p:cNvSpPr>
          <p:nvPr/>
        </p:nvSpPr>
        <p:spPr>
          <a:xfrm>
            <a:off x="609600" y="4682762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building IDC 楼宇-350">
            <a:extLst>
              <a:ext uri="{FF2B5EF4-FFF2-40B4-BE49-F238E27FC236}">
                <a16:creationId xmlns:a16="http://schemas.microsoft.com/office/drawing/2014/main" id="{94D9893E-29E3-4E8F-BEB5-26476607A4D6}"/>
              </a:ext>
            </a:extLst>
          </p:cNvPr>
          <p:cNvSpPr>
            <a:spLocks noGrp="1"/>
          </p:cNvSpPr>
          <p:nvPr/>
        </p:nvSpPr>
        <p:spPr>
          <a:xfrm>
            <a:off x="768441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85725"/>
                </a:moveTo>
                <a:lnTo>
                  <a:pt x="523875" y="85725"/>
                </a:lnTo>
                <a:lnTo>
                  <a:pt x="523875" y="542925"/>
                </a:lnTo>
                <a:lnTo>
                  <a:pt x="85725" y="5429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building IDC 窗口-351">
            <a:extLst>
              <a:ext uri="{FF2B5EF4-FFF2-40B4-BE49-F238E27FC236}">
                <a16:creationId xmlns:a16="http://schemas.microsoft.com/office/drawing/2014/main" id="{BD55174F-D27E-455D-B29B-AD678628712E}"/>
              </a:ext>
            </a:extLst>
          </p:cNvPr>
          <p:cNvSpPr>
            <a:spLocks noGrp="1"/>
          </p:cNvSpPr>
          <p:nvPr/>
        </p:nvSpPr>
        <p:spPr>
          <a:xfrm>
            <a:off x="768441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190500"/>
                </a:moveTo>
                <a:lnTo>
                  <a:pt x="200025" y="190500"/>
                </a:lnTo>
                <a:lnTo>
                  <a:pt x="200025" y="219075"/>
                </a:lnTo>
                <a:lnTo>
                  <a:pt x="171450" y="219075"/>
                </a:lnTo>
                <a:close/>
                <a:moveTo>
                  <a:pt x="285750" y="190500"/>
                </a:moveTo>
                <a:lnTo>
                  <a:pt x="314325" y="190500"/>
                </a:lnTo>
                <a:lnTo>
                  <a:pt x="314325" y="219075"/>
                </a:lnTo>
                <a:lnTo>
                  <a:pt x="285750" y="219075"/>
                </a:lnTo>
                <a:close/>
                <a:moveTo>
                  <a:pt x="400050" y="190500"/>
                </a:moveTo>
                <a:lnTo>
                  <a:pt x="428625" y="190500"/>
                </a:lnTo>
                <a:lnTo>
                  <a:pt x="428625" y="219075"/>
                </a:lnTo>
                <a:lnTo>
                  <a:pt x="400050" y="219075"/>
                </a:lnTo>
                <a:close/>
                <a:moveTo>
                  <a:pt x="171450" y="295275"/>
                </a:moveTo>
                <a:lnTo>
                  <a:pt x="200025" y="295275"/>
                </a:lnTo>
                <a:lnTo>
                  <a:pt x="200025" y="323850"/>
                </a:lnTo>
                <a:lnTo>
                  <a:pt x="171450" y="323850"/>
                </a:lnTo>
                <a:close/>
                <a:moveTo>
                  <a:pt x="285750" y="295275"/>
                </a:moveTo>
                <a:lnTo>
                  <a:pt x="314325" y="295275"/>
                </a:lnTo>
                <a:lnTo>
                  <a:pt x="314325" y="323850"/>
                </a:lnTo>
                <a:lnTo>
                  <a:pt x="285750" y="323850"/>
                </a:lnTo>
                <a:close/>
                <a:moveTo>
                  <a:pt x="400050" y="295275"/>
                </a:moveTo>
                <a:lnTo>
                  <a:pt x="428625" y="295275"/>
                </a:lnTo>
                <a:lnTo>
                  <a:pt x="428625" y="323850"/>
                </a:lnTo>
                <a:lnTo>
                  <a:pt x="400050" y="323850"/>
                </a:lnTo>
                <a:close/>
                <a:moveTo>
                  <a:pt x="171450" y="400050"/>
                </a:moveTo>
                <a:lnTo>
                  <a:pt x="200025" y="400050"/>
                </a:lnTo>
                <a:lnTo>
                  <a:pt x="200025" y="428625"/>
                </a:lnTo>
                <a:lnTo>
                  <a:pt x="171450" y="428625"/>
                </a:lnTo>
                <a:close/>
                <a:moveTo>
                  <a:pt x="285750" y="400050"/>
                </a:moveTo>
                <a:lnTo>
                  <a:pt x="314325" y="400050"/>
                </a:lnTo>
                <a:lnTo>
                  <a:pt x="314325" y="428625"/>
                </a:lnTo>
                <a:lnTo>
                  <a:pt x="285750" y="428625"/>
                </a:lnTo>
                <a:close/>
                <a:moveTo>
                  <a:pt x="400050" y="400050"/>
                </a:moveTo>
                <a:lnTo>
                  <a:pt x="428625" y="400050"/>
                </a:lnTo>
                <a:lnTo>
                  <a:pt x="428625" y="428625"/>
                </a:lnTo>
                <a:lnTo>
                  <a:pt x="400050" y="4286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文字 IDC-352">
            <a:extLst>
              <a:ext uri="{FF2B5EF4-FFF2-40B4-BE49-F238E27FC236}">
                <a16:creationId xmlns:a16="http://schemas.microsoft.com/office/drawing/2014/main" id="{3ED0ABA9-21FA-42F3-B52B-3E305CFCC3A3}"/>
              </a:ext>
            </a:extLst>
          </p:cNvPr>
          <p:cNvSpPr>
            <a:spLocks noGrp="1"/>
          </p:cNvSpPr>
          <p:nvPr/>
        </p:nvSpPr>
        <p:spPr>
          <a:xfrm>
            <a:off x="1385116" y="4841603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IDC</a:t>
            </a:r>
          </a:p>
        </p:txBody>
      </p:sp>
      <p:sp>
        <p:nvSpPr>
          <p:cNvPr id="74" name="统一风格-flat-boundaries CFW玻璃后沿-353">
            <a:extLst>
              <a:ext uri="{FF2B5EF4-FFF2-40B4-BE49-F238E27FC236}">
                <a16:creationId xmlns:a16="http://schemas.microsoft.com/office/drawing/2014/main" id="{DCAC959D-DDA4-4CD1-B0AB-E6AEECA211F3}"/>
              </a:ext>
            </a:extLst>
          </p:cNvPr>
          <p:cNvSpPr>
            <a:spLocks noGrp="1"/>
          </p:cNvSpPr>
          <p:nvPr/>
        </p:nvSpPr>
        <p:spPr>
          <a:xfrm>
            <a:off x="3440702" y="4682762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5" name="统一风格-flat-boundaries CFW-354">
            <a:extLst>
              <a:ext uri="{FF2B5EF4-FFF2-40B4-BE49-F238E27FC236}">
                <a16:creationId xmlns:a16="http://schemas.microsoft.com/office/drawing/2014/main" id="{7833A418-216E-4F5F-B1C7-93B97C888EB7}"/>
              </a:ext>
            </a:extLst>
          </p:cNvPr>
          <p:cNvSpPr>
            <a:spLocks noGrp="1"/>
          </p:cNvSpPr>
          <p:nvPr/>
        </p:nvSpPr>
        <p:spPr>
          <a:xfrm>
            <a:off x="3440702" y="4682762"/>
            <a:ext cx="2186396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flat-boundaries CFW玻璃内沿-355">
            <a:extLst>
              <a:ext uri="{FF2B5EF4-FFF2-40B4-BE49-F238E27FC236}">
                <a16:creationId xmlns:a16="http://schemas.microsoft.com/office/drawing/2014/main" id="{A058AC9B-6468-4370-8A78-28D8AFAF6EC7}"/>
              </a:ext>
            </a:extLst>
          </p:cNvPr>
          <p:cNvSpPr>
            <a:spLocks noGrp="1"/>
          </p:cNvSpPr>
          <p:nvPr/>
        </p:nvSpPr>
        <p:spPr>
          <a:xfrm>
            <a:off x="3453561" y="4695621"/>
            <a:ext cx="2160678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flat-boundaries CFW透光反射面-356">
            <a:extLst>
              <a:ext uri="{FF2B5EF4-FFF2-40B4-BE49-F238E27FC236}">
                <a16:creationId xmlns:a16="http://schemas.microsoft.com/office/drawing/2014/main" id="{E30C56A8-C649-4372-8559-0F4D368D2D5C}"/>
              </a:ext>
            </a:extLst>
          </p:cNvPr>
          <p:cNvSpPr>
            <a:spLocks noGrp="1"/>
          </p:cNvSpPr>
          <p:nvPr/>
        </p:nvSpPr>
        <p:spPr>
          <a:xfrm>
            <a:off x="3459752" y="4701812"/>
            <a:ext cx="2148296" cy="896257"/>
          </a:xfrm>
          <a:custGeom>
            <a:avLst/>
            <a:gdLst/>
            <a:ahLst/>
            <a:cxnLst/>
            <a:rect l="0" t="0" r="0" b="0"/>
            <a:pathLst>
              <a:path w="2148296" h="896257">
                <a:moveTo>
                  <a:pt x="76200" y="0"/>
                </a:moveTo>
                <a:lnTo>
                  <a:pt x="1374909" y="0"/>
                </a:lnTo>
                <a:lnTo>
                  <a:pt x="558557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flat-boundaries CFW边缘高光-357">
            <a:extLst>
              <a:ext uri="{FF2B5EF4-FFF2-40B4-BE49-F238E27FC236}">
                <a16:creationId xmlns:a16="http://schemas.microsoft.com/office/drawing/2014/main" id="{F2CE1A97-3093-4013-8EAD-7FEDB51295C9}"/>
              </a:ext>
            </a:extLst>
          </p:cNvPr>
          <p:cNvSpPr>
            <a:spLocks noGrp="1"/>
          </p:cNvSpPr>
          <p:nvPr/>
        </p:nvSpPr>
        <p:spPr>
          <a:xfrm>
            <a:off x="3440702" y="4682762"/>
            <a:ext cx="2186396" cy="934357"/>
          </a:xfrm>
          <a:custGeom>
            <a:avLst/>
            <a:gdLst/>
            <a:ahLst/>
            <a:cxnLst/>
            <a:rect l="0" t="0" r="0" b="0"/>
            <a:pathLst>
              <a:path w="2186396" h="934357">
                <a:moveTo>
                  <a:pt x="95250" y="9525"/>
                </a:moveTo>
                <a:lnTo>
                  <a:pt x="2091146" y="9525"/>
                </a:lnTo>
                <a:cubicBezTo>
                  <a:pt x="2138771" y="9525"/>
                  <a:pt x="2176871" y="47625"/>
                  <a:pt x="2176871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firewall CFW 砖墙-358">
            <a:extLst>
              <a:ext uri="{FF2B5EF4-FFF2-40B4-BE49-F238E27FC236}">
                <a16:creationId xmlns:a16="http://schemas.microsoft.com/office/drawing/2014/main" id="{25108CAF-F62F-4F1D-849B-FEA1EECA6344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firewall CFW 砖缝-359">
            <a:extLst>
              <a:ext uri="{FF2B5EF4-FFF2-40B4-BE49-F238E27FC236}">
                <a16:creationId xmlns:a16="http://schemas.microsoft.com/office/drawing/2014/main" id="{FBA1953D-E438-4687-AD2C-11C98C707047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firewall CFW 前景衬底-360">
            <a:extLst>
              <a:ext uri="{FF2B5EF4-FFF2-40B4-BE49-F238E27FC236}">
                <a16:creationId xmlns:a16="http://schemas.microsoft.com/office/drawing/2014/main" id="{DADF88DB-E626-4110-B3C6-2CDB4EFFF3E9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firewall CFW 简洁火焰-361">
            <a:extLst>
              <a:ext uri="{FF2B5EF4-FFF2-40B4-BE49-F238E27FC236}">
                <a16:creationId xmlns:a16="http://schemas.microsoft.com/office/drawing/2014/main" id="{69F5B5FA-1C0E-46E3-A95D-D4C9C3ED8B5A}"/>
              </a:ext>
            </a:extLst>
          </p:cNvPr>
          <p:cNvSpPr>
            <a:spLocks noGrp="1"/>
          </p:cNvSpPr>
          <p:nvPr/>
        </p:nvSpPr>
        <p:spPr>
          <a:xfrm>
            <a:off x="3599543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文字 CFW-362">
            <a:extLst>
              <a:ext uri="{FF2B5EF4-FFF2-40B4-BE49-F238E27FC236}">
                <a16:creationId xmlns:a16="http://schemas.microsoft.com/office/drawing/2014/main" id="{E2A4ABD3-314B-481A-AB31-F36B4B7243D5}"/>
              </a:ext>
            </a:extLst>
          </p:cNvPr>
          <p:cNvSpPr>
            <a:spLocks noGrp="1"/>
          </p:cNvSpPr>
          <p:nvPr/>
        </p:nvSpPr>
        <p:spPr>
          <a:xfrm>
            <a:off x="4216219" y="4841603"/>
            <a:ext cx="130810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84" name="统一风格-文字 检查已接入边界-363">
            <a:extLst>
              <a:ext uri="{FF2B5EF4-FFF2-40B4-BE49-F238E27FC236}">
                <a16:creationId xmlns:a16="http://schemas.microsoft.com/office/drawing/2014/main" id="{7BC5FC18-271F-4A60-BE6E-3C4D787102DD}"/>
              </a:ext>
            </a:extLst>
          </p:cNvPr>
          <p:cNvSpPr>
            <a:spLocks noGrp="1"/>
          </p:cNvSpPr>
          <p:nvPr/>
        </p:nvSpPr>
        <p:spPr>
          <a:xfrm>
            <a:off x="4216219" y="5168628"/>
            <a:ext cx="130810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检查已接入边界</a:t>
            </a:r>
          </a:p>
        </p:txBody>
      </p:sp>
      <p:sp>
        <p:nvSpPr>
          <p:cNvPr id="85" name="统一风格-flat-boundaries 云 VPC玻璃后沿-364">
            <a:extLst>
              <a:ext uri="{FF2B5EF4-FFF2-40B4-BE49-F238E27FC236}">
                <a16:creationId xmlns:a16="http://schemas.microsoft.com/office/drawing/2014/main" id="{3B3A7677-D140-453D-B679-343954C5DBFC}"/>
              </a:ext>
            </a:extLst>
          </p:cNvPr>
          <p:cNvSpPr>
            <a:spLocks noGrp="1"/>
          </p:cNvSpPr>
          <p:nvPr/>
        </p:nvSpPr>
        <p:spPr>
          <a:xfrm>
            <a:off x="6290491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6" name="统一风格-flat-boundaries 云 VPC-365">
            <a:extLst>
              <a:ext uri="{FF2B5EF4-FFF2-40B4-BE49-F238E27FC236}">
                <a16:creationId xmlns:a16="http://schemas.microsoft.com/office/drawing/2014/main" id="{F7AF936F-2C5C-4FAB-BBCB-AC1781514BDE}"/>
              </a:ext>
            </a:extLst>
          </p:cNvPr>
          <p:cNvSpPr>
            <a:spLocks noGrp="1"/>
          </p:cNvSpPr>
          <p:nvPr/>
        </p:nvSpPr>
        <p:spPr>
          <a:xfrm>
            <a:off x="6290491" y="4682762"/>
            <a:ext cx="2167709" cy="934357"/>
          </a:xfrm>
          <a:prstGeom prst="roundRect">
            <a:avLst>
              <a:gd name="adj" fmla="val 91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统一风格-flat-boundaries 云 VPC玻璃内沿-366">
            <a:extLst>
              <a:ext uri="{FF2B5EF4-FFF2-40B4-BE49-F238E27FC236}">
                <a16:creationId xmlns:a16="http://schemas.microsoft.com/office/drawing/2014/main" id="{67629989-DC8B-4E88-B5F6-964C36624570}"/>
              </a:ext>
            </a:extLst>
          </p:cNvPr>
          <p:cNvSpPr>
            <a:spLocks noGrp="1"/>
          </p:cNvSpPr>
          <p:nvPr/>
        </p:nvSpPr>
        <p:spPr>
          <a:xfrm>
            <a:off x="6303350" y="4695621"/>
            <a:ext cx="2141991" cy="908640"/>
          </a:xfrm>
          <a:prstGeom prst="roundRect">
            <a:avLst>
              <a:gd name="adj" fmla="val 807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统一风格-flat-boundaries 云 VPC透光反射面-367">
            <a:extLst>
              <a:ext uri="{FF2B5EF4-FFF2-40B4-BE49-F238E27FC236}">
                <a16:creationId xmlns:a16="http://schemas.microsoft.com/office/drawing/2014/main" id="{A3ED7F0F-5554-4B72-9A51-A8976BF7E375}"/>
              </a:ext>
            </a:extLst>
          </p:cNvPr>
          <p:cNvSpPr>
            <a:spLocks noGrp="1"/>
          </p:cNvSpPr>
          <p:nvPr/>
        </p:nvSpPr>
        <p:spPr>
          <a:xfrm>
            <a:off x="6309541" y="4701812"/>
            <a:ext cx="2129609" cy="896257"/>
          </a:xfrm>
          <a:custGeom>
            <a:avLst/>
            <a:gdLst/>
            <a:ahLst/>
            <a:cxnLst/>
            <a:rect l="0" t="0" r="0" b="0"/>
            <a:pathLst>
              <a:path w="2129609" h="896257">
                <a:moveTo>
                  <a:pt x="76200" y="0"/>
                </a:moveTo>
                <a:lnTo>
                  <a:pt x="1362949" y="0"/>
                </a:lnTo>
                <a:lnTo>
                  <a:pt x="553698" y="896257"/>
                </a:lnTo>
                <a:lnTo>
                  <a:pt x="76200" y="896257"/>
                </a:lnTo>
                <a:cubicBezTo>
                  <a:pt x="28575" y="896257"/>
                  <a:pt x="0" y="867682"/>
                  <a:pt x="0" y="820057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flat-boundaries 云 VPC边缘高光-368">
            <a:extLst>
              <a:ext uri="{FF2B5EF4-FFF2-40B4-BE49-F238E27FC236}">
                <a16:creationId xmlns:a16="http://schemas.microsoft.com/office/drawing/2014/main" id="{E23A6C95-20DF-4A6B-995D-FFBCEB1E86A7}"/>
              </a:ext>
            </a:extLst>
          </p:cNvPr>
          <p:cNvSpPr>
            <a:spLocks noGrp="1"/>
          </p:cNvSpPr>
          <p:nvPr/>
        </p:nvSpPr>
        <p:spPr>
          <a:xfrm>
            <a:off x="6290491" y="4682762"/>
            <a:ext cx="2167709" cy="934357"/>
          </a:xfrm>
          <a:custGeom>
            <a:avLst/>
            <a:gdLst/>
            <a:ahLst/>
            <a:cxnLst/>
            <a:rect l="0" t="0" r="0" b="0"/>
            <a:pathLst>
              <a:path w="2167709" h="934357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cloud VPC 云轮廓-369">
            <a:extLst>
              <a:ext uri="{FF2B5EF4-FFF2-40B4-BE49-F238E27FC236}">
                <a16:creationId xmlns:a16="http://schemas.microsoft.com/office/drawing/2014/main" id="{44ACC7A5-43C7-47E2-9A23-96FFAAA479BA}"/>
              </a:ext>
            </a:extLst>
          </p:cNvPr>
          <p:cNvSpPr>
            <a:spLocks noGrp="1"/>
          </p:cNvSpPr>
          <p:nvPr/>
        </p:nvSpPr>
        <p:spPr>
          <a:xfrm>
            <a:off x="6449332" y="4907008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文字 云 VPC-370">
            <a:extLst>
              <a:ext uri="{FF2B5EF4-FFF2-40B4-BE49-F238E27FC236}">
                <a16:creationId xmlns:a16="http://schemas.microsoft.com/office/drawing/2014/main" id="{A15C1B1F-A3FF-4686-9C7E-DCB6A167A81D}"/>
              </a:ext>
            </a:extLst>
          </p:cNvPr>
          <p:cNvSpPr>
            <a:spLocks noGrp="1"/>
          </p:cNvSpPr>
          <p:nvPr/>
        </p:nvSpPr>
        <p:spPr>
          <a:xfrm>
            <a:off x="7066008" y="4841603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云 VPC</a:t>
            </a:r>
          </a:p>
        </p:txBody>
      </p:sp>
      <p:cxnSp>
        <p:nvCxnSpPr>
          <p:cNvPr id="92" name="统一拓扑-flat-boundaries-连线-5">
            <a:extLst>
              <a:ext uri="{FF2B5EF4-FFF2-40B4-BE49-F238E27FC236}">
                <a16:creationId xmlns:a16="http://schemas.microsoft.com/office/drawing/2014/main" id="{884D7CD6-EDCC-4188-A501-A6A5743EE747}"/>
              </a:ext>
            </a:extLst>
          </p:cNvPr>
          <p:cNvCxnSpPr/>
          <p:nvPr/>
        </p:nvCxnSpPr>
        <p:spPr>
          <a:xfrm>
            <a:off x="2777309" y="514994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3" name="统一拓扑-flat-boundaries-连线-6">
            <a:extLst>
              <a:ext uri="{FF2B5EF4-FFF2-40B4-BE49-F238E27FC236}">
                <a16:creationId xmlns:a16="http://schemas.microsoft.com/office/drawing/2014/main" id="{65D7C405-B7D8-4A05-9207-CFBA493D77AA}"/>
              </a:ext>
            </a:extLst>
          </p:cNvPr>
          <p:cNvCxnSpPr/>
          <p:nvPr/>
        </p:nvCxnSpPr>
        <p:spPr>
          <a:xfrm>
            <a:off x="5627098" y="5149941"/>
            <a:ext cx="66339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94" name="统一风格-flat-boundaries 关系文字衬底-371">
            <a:extLst>
              <a:ext uri="{FF2B5EF4-FFF2-40B4-BE49-F238E27FC236}">
                <a16:creationId xmlns:a16="http://schemas.microsoft.com/office/drawing/2014/main" id="{5AC72CAD-80D7-4922-94DD-BFE76CFF7FE4}"/>
              </a:ext>
            </a:extLst>
          </p:cNvPr>
          <p:cNvSpPr>
            <a:spLocks noGrp="1"/>
          </p:cNvSpPr>
          <p:nvPr/>
        </p:nvSpPr>
        <p:spPr>
          <a:xfrm>
            <a:off x="3076303" y="5654494"/>
            <a:ext cx="2915194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统一风格-文字 混合云互联-372">
            <a:extLst>
              <a:ext uri="{FF2B5EF4-FFF2-40B4-BE49-F238E27FC236}">
                <a16:creationId xmlns:a16="http://schemas.microsoft.com/office/drawing/2014/main" id="{9EA50A64-BAE7-4BE1-8BA6-A861A90F9E3C}"/>
              </a:ext>
            </a:extLst>
          </p:cNvPr>
          <p:cNvSpPr>
            <a:spLocks noGrp="1"/>
          </p:cNvSpPr>
          <p:nvPr/>
        </p:nvSpPr>
        <p:spPr>
          <a:xfrm>
            <a:off x="3113677" y="5654494"/>
            <a:ext cx="2840446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混合云互联</a:t>
            </a:r>
          </a:p>
        </p:txBody>
      </p:sp>
      <p:sp>
        <p:nvSpPr>
          <p:cNvPr id="96" name="版式分隔线">
            <a:extLst>
              <a:ext uri="{FF2B5EF4-FFF2-40B4-BE49-F238E27FC236}">
                <a16:creationId xmlns:a16="http://schemas.microsoft.com/office/drawing/2014/main" id="{96172BC8-63ED-462B-97E0-E99BBF75CF20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版式分隔线">
            <a:extLst>
              <a:ext uri="{FF2B5EF4-FFF2-40B4-BE49-F238E27FC236}">
                <a16:creationId xmlns:a16="http://schemas.microsoft.com/office/drawing/2014/main" id="{51A59669-23B2-4F4C-BACF-D9A854ABCBD6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xt-97">
            <a:extLst>
              <a:ext uri="{FF2B5EF4-FFF2-40B4-BE49-F238E27FC236}">
                <a16:creationId xmlns:a16="http://schemas.microsoft.com/office/drawing/2014/main" id="{EC62AABF-05C0-4BEE-868A-AE2AFB657709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</p:txBody>
      </p:sp>
      <p:sp>
        <p:nvSpPr>
          <p:cNvPr id="99" name="txt-98">
            <a:extLst>
              <a:ext uri="{FF2B5EF4-FFF2-40B4-BE49-F238E27FC236}">
                <a16:creationId xmlns:a16="http://schemas.microsoft.com/office/drawing/2014/main" id="{F11F5065-0D0A-43A6-A9C8-3EC42770B64D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检查已纳管 EIP 等互联网边界对象</a:t>
            </a:r>
          </a:p>
        </p:txBody>
      </p:sp>
      <p:sp>
        <p:nvSpPr>
          <p:cNvPr id="100" name="版式分隔线">
            <a:extLst>
              <a:ext uri="{FF2B5EF4-FFF2-40B4-BE49-F238E27FC236}">
                <a16:creationId xmlns:a16="http://schemas.microsoft.com/office/drawing/2014/main" id="{1BE81DE0-4E7F-4846-9AD1-82E2E5874D75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xt-100">
            <a:extLst>
              <a:ext uri="{FF2B5EF4-FFF2-40B4-BE49-F238E27FC236}">
                <a16:creationId xmlns:a16="http://schemas.microsoft.com/office/drawing/2014/main" id="{904545A0-A3CF-4ED2-8B98-99C43284CE5B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/ IDC</a:t>
            </a:r>
          </a:p>
        </p:txBody>
      </p:sp>
      <p:sp>
        <p:nvSpPr>
          <p:cNvPr id="102" name="txt-101">
            <a:extLst>
              <a:ext uri="{FF2B5EF4-FFF2-40B4-BE49-F238E27FC236}">
                <a16:creationId xmlns:a16="http://schemas.microsoft.com/office/drawing/2014/main" id="{A8F97729-03D4-4D3A-8BF0-B46AD2D3C4CC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引流后按路径检查，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跨账号 / IDC 另核兼容性。</a:t>
            </a:r>
          </a:p>
        </p:txBody>
      </p:sp>
      <p:sp>
        <p:nvSpPr>
          <p:cNvPr id="103" name="版式分隔线">
            <a:extLst>
              <a:ext uri="{FF2B5EF4-FFF2-40B4-BE49-F238E27FC236}">
                <a16:creationId xmlns:a16="http://schemas.microsoft.com/office/drawing/2014/main" id="{D0BD61C1-D792-4CE4-AC6E-79C6F4BCEFF3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txt-103">
            <a:extLst>
              <a:ext uri="{FF2B5EF4-FFF2-40B4-BE49-F238E27FC236}">
                <a16:creationId xmlns:a16="http://schemas.microsoft.com/office/drawing/2014/main" id="{0E0BA0E0-967F-465D-A878-60159FD08797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NAT</a:t>
            </a:r>
          </a:p>
        </p:txBody>
      </p:sp>
      <p:sp>
        <p:nvSpPr>
          <p:cNvPr id="105" name="txt-104">
            <a:extLst>
              <a:ext uri="{FF2B5EF4-FFF2-40B4-BE49-F238E27FC236}">
                <a16:creationId xmlns:a16="http://schemas.microsoft.com/office/drawing/2014/main" id="{37CC230E-05B3-47D3-BBD0-6257071EFBC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按出口方式启用防护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19143298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文-03  CFW 使用规范">
            <a:extLst>
              <a:ext uri="{FF2B5EF4-FFF2-40B4-BE49-F238E27FC236}">
                <a16:creationId xmlns:a16="http://schemas.microsoft.com/office/drawing/2014/main" id="{1DF7ADB6-69BB-46DB-A0A4-F8BF09B9007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正文-CFW 使用的关键原则">
            <a:extLst>
              <a:ext uri="{FF2B5EF4-FFF2-40B4-BE49-F238E27FC236}">
                <a16:creationId xmlns:a16="http://schemas.microsoft.com/office/drawing/2014/main" id="{21A185C5-359B-4E9B-9F66-3978E46DA8C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使用的关键原则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9EC074A8-F8D6-4B77-8BA5-C03F67441AE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低频任务、月结、备份和故障切换需纳入复核，不能仅按短期无命中删规则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7F91D3E9-6BAD-41E2-9FA2-76098A6C5D0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32">
            <a:extLst>
              <a:ext uri="{FF2B5EF4-FFF2-40B4-BE49-F238E27FC236}">
                <a16:creationId xmlns:a16="http://schemas.microsoft.com/office/drawing/2014/main" id="{DC8128CB-8372-44DF-8C1D-1001443B51C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6" name="统一风格-章节要点模块玻璃后沿-666">
            <a:extLst>
              <a:ext uri="{FF2B5EF4-FFF2-40B4-BE49-F238E27FC236}">
                <a16:creationId xmlns:a16="http://schemas.microsoft.com/office/drawing/2014/main" id="{E4B67A38-EB16-4BDD-8184-AF1EC17E8B2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章节要点模块-667">
            <a:extLst>
              <a:ext uri="{FF2B5EF4-FFF2-40B4-BE49-F238E27FC236}">
                <a16:creationId xmlns:a16="http://schemas.microsoft.com/office/drawing/2014/main" id="{E1D1E6EF-9DB6-4C08-8765-17FFA356B2E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章节要点模块玻璃内沿-668">
            <a:extLst>
              <a:ext uri="{FF2B5EF4-FFF2-40B4-BE49-F238E27FC236}">
                <a16:creationId xmlns:a16="http://schemas.microsoft.com/office/drawing/2014/main" id="{6FC6945E-2456-4B69-8866-D683E6C4E715}"/>
              </a:ext>
            </a:extLst>
          </p:cNvPr>
          <p:cNvSpPr>
            <a:spLocks noGrp="1"/>
          </p:cNvSpPr>
          <p:nvPr/>
        </p:nvSpPr>
        <p:spPr>
          <a:xfrm>
            <a:off x="622459" y="2127409"/>
            <a:ext cx="109470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章节要点模块透光反射面-669">
            <a:extLst>
              <a:ext uri="{FF2B5EF4-FFF2-40B4-BE49-F238E27FC236}">
                <a16:creationId xmlns:a16="http://schemas.microsoft.com/office/drawing/2014/main" id="{78DFD81A-3775-4F10-A0F8-66A5340EAEA7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934700" cy="952500"/>
          </a:xfrm>
          <a:custGeom>
            <a:avLst/>
            <a:gdLst/>
            <a:ahLst/>
            <a:cxnLst/>
            <a:rect l="0" t="0" r="0" b="0"/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章节要点模块边缘高光-670">
            <a:extLst>
              <a:ext uri="{FF2B5EF4-FFF2-40B4-BE49-F238E27FC236}">
                <a16:creationId xmlns:a16="http://schemas.microsoft.com/office/drawing/2014/main" id="{19A47F16-9F32-4D45-AB0F-250E79B8EBD9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990600"/>
          </a:xfrm>
          <a:custGeom>
            <a:avLst/>
            <a:gdLst/>
            <a:ahLst/>
            <a:cxnLst/>
            <a:rect l="0" t="0" r="0" b="0"/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F5E6DFB6-15C8-4DAF-8745-81098EA760AB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982777DF-C38F-4607-9F65-B68597B14F4E}"/>
              </a:ext>
            </a:extLst>
          </p:cNvPr>
          <p:cNvSpPr>
            <a:spLocks noGrp="1"/>
          </p:cNvSpPr>
          <p:nvPr/>
        </p:nvSpPr>
        <p:spPr>
          <a:xfrm>
            <a:off x="3486150" y="2343150"/>
            <a:ext cx="779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防护对象与实际流量路径一致</a:t>
            </a:r>
          </a:p>
        </p:txBody>
      </p:sp>
      <p:sp>
        <p:nvSpPr>
          <p:cNvPr id="13" name="统一风格-章节要点模块玻璃后沿-671">
            <a:extLst>
              <a:ext uri="{FF2B5EF4-FFF2-40B4-BE49-F238E27FC236}">
                <a16:creationId xmlns:a16="http://schemas.microsoft.com/office/drawing/2014/main" id="{113CB960-0CCE-4E05-9721-F4228C7711DF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统一风格-章节要点模块-672">
            <a:extLst>
              <a:ext uri="{FF2B5EF4-FFF2-40B4-BE49-F238E27FC236}">
                <a16:creationId xmlns:a16="http://schemas.microsoft.com/office/drawing/2014/main" id="{B2F7DE45-5C04-40D8-A17D-C5951F370660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章节要点模块玻璃内沿-673">
            <a:extLst>
              <a:ext uri="{FF2B5EF4-FFF2-40B4-BE49-F238E27FC236}">
                <a16:creationId xmlns:a16="http://schemas.microsoft.com/office/drawing/2014/main" id="{1A2F46AE-209E-454F-A5D6-D47BB92B983B}"/>
              </a:ext>
            </a:extLst>
          </p:cNvPr>
          <p:cNvSpPr>
            <a:spLocks noGrp="1"/>
          </p:cNvSpPr>
          <p:nvPr/>
        </p:nvSpPr>
        <p:spPr>
          <a:xfrm>
            <a:off x="622459" y="3327559"/>
            <a:ext cx="109470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章节要点模块透光反射面-674">
            <a:extLst>
              <a:ext uri="{FF2B5EF4-FFF2-40B4-BE49-F238E27FC236}">
                <a16:creationId xmlns:a16="http://schemas.microsoft.com/office/drawing/2014/main" id="{0C8B6027-46F2-4320-AAB3-8DECBF9D7F5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0934700" cy="952500"/>
          </a:xfrm>
          <a:custGeom>
            <a:avLst/>
            <a:gdLst/>
            <a:ahLst/>
            <a:cxnLst/>
            <a:rect l="0" t="0" r="0" b="0"/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章节要点模块边缘高光-675">
            <a:extLst>
              <a:ext uri="{FF2B5EF4-FFF2-40B4-BE49-F238E27FC236}">
                <a16:creationId xmlns:a16="http://schemas.microsoft.com/office/drawing/2014/main" id="{DAD64D8B-5032-4368-8C4D-9E7E960ADF56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990600"/>
          </a:xfrm>
          <a:custGeom>
            <a:avLst/>
            <a:gdLst/>
            <a:ahLst/>
            <a:cxnLst/>
            <a:rect l="0" t="0" r="0" b="0"/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11A1F152-311A-4A15-B3F0-47A233EC37AF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9" name="txt-18">
            <a:extLst>
              <a:ext uri="{FF2B5EF4-FFF2-40B4-BE49-F238E27FC236}">
                <a16:creationId xmlns:a16="http://schemas.microsoft.com/office/drawing/2014/main" id="{0D4FBABD-9B8D-4B1A-AF74-73E2E5C69E42}"/>
              </a:ext>
            </a:extLst>
          </p:cNvPr>
          <p:cNvSpPr>
            <a:spLocks noGrp="1"/>
          </p:cNvSpPr>
          <p:nvPr/>
        </p:nvSpPr>
        <p:spPr>
          <a:xfrm>
            <a:off x="3486150" y="3543300"/>
            <a:ext cx="779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来源、目的和端口有业务依据</a:t>
            </a:r>
          </a:p>
        </p:txBody>
      </p:sp>
      <p:sp>
        <p:nvSpPr>
          <p:cNvPr id="20" name="统一风格-章节要点模块玻璃后沿-676">
            <a:extLst>
              <a:ext uri="{FF2B5EF4-FFF2-40B4-BE49-F238E27FC236}">
                <a16:creationId xmlns:a16="http://schemas.microsoft.com/office/drawing/2014/main" id="{1E16847E-9844-4F6C-A272-36BD5D4A5C3C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统一风格-章节要点模块-677">
            <a:extLst>
              <a:ext uri="{FF2B5EF4-FFF2-40B4-BE49-F238E27FC236}">
                <a16:creationId xmlns:a16="http://schemas.microsoft.com/office/drawing/2014/main" id="{18E99371-0B0C-471E-8620-6DF2B185738F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990600"/>
          </a:xfrm>
          <a:prstGeom prst="roundRect">
            <a:avLst>
              <a:gd name="adj" fmla="val 865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章节要点模块玻璃内沿-678">
            <a:extLst>
              <a:ext uri="{FF2B5EF4-FFF2-40B4-BE49-F238E27FC236}">
                <a16:creationId xmlns:a16="http://schemas.microsoft.com/office/drawing/2014/main" id="{7A85E2D0-77F0-4E51-A432-0761F15719D4}"/>
              </a:ext>
            </a:extLst>
          </p:cNvPr>
          <p:cNvSpPr>
            <a:spLocks noGrp="1"/>
          </p:cNvSpPr>
          <p:nvPr/>
        </p:nvSpPr>
        <p:spPr>
          <a:xfrm>
            <a:off x="622459" y="4527709"/>
            <a:ext cx="10947083" cy="964883"/>
          </a:xfrm>
          <a:prstGeom prst="roundRect">
            <a:avLst>
              <a:gd name="adj" fmla="val 760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章节要点模块透光反射面-679">
            <a:extLst>
              <a:ext uri="{FF2B5EF4-FFF2-40B4-BE49-F238E27FC236}">
                <a16:creationId xmlns:a16="http://schemas.microsoft.com/office/drawing/2014/main" id="{0A140C6D-E958-4040-8901-B759B6097B13}"/>
              </a:ext>
            </a:extLst>
          </p:cNvPr>
          <p:cNvSpPr>
            <a:spLocks noGrp="1"/>
          </p:cNvSpPr>
          <p:nvPr/>
        </p:nvSpPr>
        <p:spPr>
          <a:xfrm>
            <a:off x="628650" y="4533900"/>
            <a:ext cx="10934700" cy="952500"/>
          </a:xfrm>
          <a:custGeom>
            <a:avLst/>
            <a:gdLst/>
            <a:ahLst/>
            <a:cxnLst/>
            <a:rect l="0" t="0" r="0" b="0"/>
            <a:pathLst>
              <a:path w="10934700" h="952500">
                <a:moveTo>
                  <a:pt x="76200" y="0"/>
                </a:moveTo>
                <a:lnTo>
                  <a:pt x="6998208" y="0"/>
                </a:lnTo>
                <a:lnTo>
                  <a:pt x="2843022" y="952500"/>
                </a:lnTo>
                <a:lnTo>
                  <a:pt x="76200" y="952500"/>
                </a:lnTo>
                <a:cubicBezTo>
                  <a:pt x="28575" y="952500"/>
                  <a:pt x="0" y="923925"/>
                  <a:pt x="0" y="8763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章节要点模块边缘高光-680">
            <a:extLst>
              <a:ext uri="{FF2B5EF4-FFF2-40B4-BE49-F238E27FC236}">
                <a16:creationId xmlns:a16="http://schemas.microsoft.com/office/drawing/2014/main" id="{13B166FA-0781-4218-B597-761F26768B0B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72800" cy="990600"/>
          </a:xfrm>
          <a:custGeom>
            <a:avLst/>
            <a:gdLst/>
            <a:ahLst/>
            <a:cxnLst/>
            <a:rect l="0" t="0" r="0" b="0"/>
            <a:pathLst>
              <a:path w="10972800" h="9906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xt-24">
            <a:extLst>
              <a:ext uri="{FF2B5EF4-FFF2-40B4-BE49-F238E27FC236}">
                <a16:creationId xmlns:a16="http://schemas.microsoft.com/office/drawing/2014/main" id="{D6402094-E4CC-40B8-A7B3-5F8F8DD14282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38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txt-25">
            <a:extLst>
              <a:ext uri="{FF2B5EF4-FFF2-40B4-BE49-F238E27FC236}">
                <a16:creationId xmlns:a16="http://schemas.microsoft.com/office/drawing/2014/main" id="{B9E8B8E0-056F-4898-98E8-6D6ABCA5A6FA}"/>
              </a:ext>
            </a:extLst>
          </p:cNvPr>
          <p:cNvSpPr>
            <a:spLocks noGrp="1"/>
          </p:cNvSpPr>
          <p:nvPr/>
        </p:nvSpPr>
        <p:spPr>
          <a:xfrm>
            <a:off x="3486150" y="4743450"/>
            <a:ext cx="779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5414245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文-03  CFW 使用规范">
            <a:extLst>
              <a:ext uri="{FF2B5EF4-FFF2-40B4-BE49-F238E27FC236}">
                <a16:creationId xmlns:a16="http://schemas.microsoft.com/office/drawing/2014/main" id="{5A34647F-0334-4592-BAE8-C9A40217AB0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DAAF0DF-ABB6-4A58-9143-555A03D97BA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地址转换改变检查点看到的源地址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FC10785D-5FA4-41BC-9BE6-55BB94A6435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规则中的地址应来自实际路径与日志证据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4F40F6C7-9B3B-4370-BF78-93E64247A44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该图解释 SNAT 的地址变化，不表示所有 CFW 部署模式都只在转换后检查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9D836AC5-4F3D-4DBF-A4BE-456DE8C4469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3">
            <a:extLst>
              <a:ext uri="{FF2B5EF4-FFF2-40B4-BE49-F238E27FC236}">
                <a16:creationId xmlns:a16="http://schemas.microsoft.com/office/drawing/2014/main" id="{99FCB491-1D8F-445D-BBF3-7FDFB54A445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7" name="统一风格-flat-nat 应用 VPC玻璃后沿-530">
            <a:extLst>
              <a:ext uri="{FF2B5EF4-FFF2-40B4-BE49-F238E27FC236}">
                <a16:creationId xmlns:a16="http://schemas.microsoft.com/office/drawing/2014/main" id="{A10257E0-3682-4E32-8F3D-619C88194186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nat 应用 VPC-531">
            <a:extLst>
              <a:ext uri="{FF2B5EF4-FFF2-40B4-BE49-F238E27FC236}">
                <a16:creationId xmlns:a16="http://schemas.microsoft.com/office/drawing/2014/main" id="{6B605945-9EB1-4FB9-A0FA-8611AC54A490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nat 应用 VPC玻璃内沿-532">
            <a:extLst>
              <a:ext uri="{FF2B5EF4-FFF2-40B4-BE49-F238E27FC236}">
                <a16:creationId xmlns:a16="http://schemas.microsoft.com/office/drawing/2014/main" id="{C1FAFBCF-7B75-4D81-A6E2-92974C37F4FD}"/>
              </a:ext>
            </a:extLst>
          </p:cNvPr>
          <p:cNvSpPr>
            <a:spLocks noGrp="1"/>
          </p:cNvSpPr>
          <p:nvPr/>
        </p:nvSpPr>
        <p:spPr>
          <a:xfrm>
            <a:off x="622459" y="2387759"/>
            <a:ext cx="1936433" cy="1198290"/>
          </a:xfrm>
          <a:prstGeom prst="roundRect">
            <a:avLst>
              <a:gd name="adj" fmla="val 612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nat 应用 VPC透光反射面-533">
            <a:extLst>
              <a:ext uri="{FF2B5EF4-FFF2-40B4-BE49-F238E27FC236}">
                <a16:creationId xmlns:a16="http://schemas.microsoft.com/office/drawing/2014/main" id="{E1775502-B0E3-4D9F-A3B4-D10BFA462454}"/>
              </a:ext>
            </a:extLst>
          </p:cNvPr>
          <p:cNvSpPr>
            <a:spLocks noGrp="1"/>
          </p:cNvSpPr>
          <p:nvPr/>
        </p:nvSpPr>
        <p:spPr>
          <a:xfrm>
            <a:off x="628650" y="2393950"/>
            <a:ext cx="1924050" cy="1185908"/>
          </a:xfrm>
          <a:custGeom>
            <a:avLst/>
            <a:gdLst/>
            <a:ahLst/>
            <a:cxnLst/>
            <a:rect l="0" t="0" r="0" b="0"/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nat 应用 VPC边缘高光-534">
            <a:extLst>
              <a:ext uri="{FF2B5EF4-FFF2-40B4-BE49-F238E27FC236}">
                <a16:creationId xmlns:a16="http://schemas.microsoft.com/office/drawing/2014/main" id="{4AA0DFD3-CE74-4B36-BE07-F5AC13F7FFB3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962150" cy="1224008"/>
          </a:xfrm>
          <a:custGeom>
            <a:avLst/>
            <a:gdLst/>
            <a:ahLst/>
            <a:cxnLst/>
            <a:rect l="0" t="0" r="0" b="0"/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535">
            <a:extLst>
              <a:ext uri="{FF2B5EF4-FFF2-40B4-BE49-F238E27FC236}">
                <a16:creationId xmlns:a16="http://schemas.microsoft.com/office/drawing/2014/main" id="{E8F1FAA5-6F8C-4A63-B67E-429169DAEBE2}"/>
              </a:ext>
            </a:extLst>
          </p:cNvPr>
          <p:cNvSpPr>
            <a:spLocks noGrp="1"/>
          </p:cNvSpPr>
          <p:nvPr/>
        </p:nvSpPr>
        <p:spPr>
          <a:xfrm>
            <a:off x="1366429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应用 VPC-536">
            <a:extLst>
              <a:ext uri="{FF2B5EF4-FFF2-40B4-BE49-F238E27FC236}">
                <a16:creationId xmlns:a16="http://schemas.microsoft.com/office/drawing/2014/main" id="{993C031B-99A5-426C-994E-7B2324E8E947}"/>
              </a:ext>
            </a:extLst>
          </p:cNvPr>
          <p:cNvSpPr>
            <a:spLocks noGrp="1"/>
          </p:cNvSpPr>
          <p:nvPr/>
        </p:nvSpPr>
        <p:spPr>
          <a:xfrm>
            <a:off x="675005" y="301960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10.15-537">
            <a:extLst>
              <a:ext uri="{FF2B5EF4-FFF2-40B4-BE49-F238E27FC236}">
                <a16:creationId xmlns:a16="http://schemas.microsoft.com/office/drawing/2014/main" id="{49FEE816-1479-4475-80FB-F9D1B65591B9}"/>
              </a:ext>
            </a:extLst>
          </p:cNvPr>
          <p:cNvSpPr>
            <a:spLocks noGrp="1"/>
          </p:cNvSpPr>
          <p:nvPr/>
        </p:nvSpPr>
        <p:spPr>
          <a:xfrm>
            <a:off x="675005" y="367365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15" name="统一风格-flat-nat SNAT 网关玻璃后沿-538">
            <a:extLst>
              <a:ext uri="{FF2B5EF4-FFF2-40B4-BE49-F238E27FC236}">
                <a16:creationId xmlns:a16="http://schemas.microsoft.com/office/drawing/2014/main" id="{76215DE0-233C-4426-949B-EF50D67D998A}"/>
              </a:ext>
            </a:extLst>
          </p:cNvPr>
          <p:cNvSpPr>
            <a:spLocks noGrp="1"/>
          </p:cNvSpPr>
          <p:nvPr/>
        </p:nvSpPr>
        <p:spPr>
          <a:xfrm>
            <a:off x="3552825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flat-nat SNAT 网关-539">
            <a:extLst>
              <a:ext uri="{FF2B5EF4-FFF2-40B4-BE49-F238E27FC236}">
                <a16:creationId xmlns:a16="http://schemas.microsoft.com/office/drawing/2014/main" id="{D29DEBA8-C578-4C93-890B-46D3E6190711}"/>
              </a:ext>
            </a:extLst>
          </p:cNvPr>
          <p:cNvSpPr>
            <a:spLocks noGrp="1"/>
          </p:cNvSpPr>
          <p:nvPr/>
        </p:nvSpPr>
        <p:spPr>
          <a:xfrm>
            <a:off x="3552825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flat-nat SNAT 网关玻璃内沿-540">
            <a:extLst>
              <a:ext uri="{FF2B5EF4-FFF2-40B4-BE49-F238E27FC236}">
                <a16:creationId xmlns:a16="http://schemas.microsoft.com/office/drawing/2014/main" id="{E2B78D53-27E4-4457-80EF-9A82B6934785}"/>
              </a:ext>
            </a:extLst>
          </p:cNvPr>
          <p:cNvSpPr>
            <a:spLocks noGrp="1"/>
          </p:cNvSpPr>
          <p:nvPr/>
        </p:nvSpPr>
        <p:spPr>
          <a:xfrm>
            <a:off x="3565684" y="2387759"/>
            <a:ext cx="1936433" cy="1198290"/>
          </a:xfrm>
          <a:prstGeom prst="roundRect">
            <a:avLst>
              <a:gd name="adj" fmla="val 612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nat SNAT 网关透光反射面-541">
            <a:extLst>
              <a:ext uri="{FF2B5EF4-FFF2-40B4-BE49-F238E27FC236}">
                <a16:creationId xmlns:a16="http://schemas.microsoft.com/office/drawing/2014/main" id="{F362129E-EDA1-40FD-B9CA-256073AF64F3}"/>
              </a:ext>
            </a:extLst>
          </p:cNvPr>
          <p:cNvSpPr>
            <a:spLocks noGrp="1"/>
          </p:cNvSpPr>
          <p:nvPr/>
        </p:nvSpPr>
        <p:spPr>
          <a:xfrm>
            <a:off x="3571875" y="2393950"/>
            <a:ext cx="1924050" cy="1185908"/>
          </a:xfrm>
          <a:custGeom>
            <a:avLst/>
            <a:gdLst/>
            <a:ahLst/>
            <a:cxnLst/>
            <a:rect l="0" t="0" r="0" b="0"/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nat SNAT 网关边缘高光-542">
            <a:extLst>
              <a:ext uri="{FF2B5EF4-FFF2-40B4-BE49-F238E27FC236}">
                <a16:creationId xmlns:a16="http://schemas.microsoft.com/office/drawing/2014/main" id="{EC5D51E6-30D8-496F-8FB0-7C05023BA0AA}"/>
              </a:ext>
            </a:extLst>
          </p:cNvPr>
          <p:cNvSpPr>
            <a:spLocks noGrp="1"/>
          </p:cNvSpPr>
          <p:nvPr/>
        </p:nvSpPr>
        <p:spPr>
          <a:xfrm>
            <a:off x="3552825" y="2374900"/>
            <a:ext cx="1962150" cy="1224008"/>
          </a:xfrm>
          <a:custGeom>
            <a:avLst/>
            <a:gdLst/>
            <a:ahLst/>
            <a:cxnLst/>
            <a:rect l="0" t="0" r="0" b="0"/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nat NAT 网关-543">
            <a:extLst>
              <a:ext uri="{FF2B5EF4-FFF2-40B4-BE49-F238E27FC236}">
                <a16:creationId xmlns:a16="http://schemas.microsoft.com/office/drawing/2014/main" id="{E545ABF1-2B52-4E0E-9437-9193E1F5F88F}"/>
              </a:ext>
            </a:extLst>
          </p:cNvPr>
          <p:cNvSpPr>
            <a:spLocks noGrp="1"/>
          </p:cNvSpPr>
          <p:nvPr/>
        </p:nvSpPr>
        <p:spPr>
          <a:xfrm>
            <a:off x="4309654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04775" y="76200"/>
                </a:moveTo>
                <a:lnTo>
                  <a:pt x="504825" y="76200"/>
                </a:lnTo>
                <a:lnTo>
                  <a:pt x="504825" y="533400"/>
                </a:lnTo>
                <a:lnTo>
                  <a:pt x="104775" y="5334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nat 地址转换-544">
            <a:extLst>
              <a:ext uri="{FF2B5EF4-FFF2-40B4-BE49-F238E27FC236}">
                <a16:creationId xmlns:a16="http://schemas.microsoft.com/office/drawing/2014/main" id="{52617EBF-381B-4EE7-AD26-4CD5FB13D8D9}"/>
              </a:ext>
            </a:extLst>
          </p:cNvPr>
          <p:cNvSpPr>
            <a:spLocks noGrp="1"/>
          </p:cNvSpPr>
          <p:nvPr/>
        </p:nvSpPr>
        <p:spPr>
          <a:xfrm>
            <a:off x="4309654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80975" y="219075"/>
                </a:moveTo>
                <a:lnTo>
                  <a:pt x="428625" y="219075"/>
                </a:lnTo>
                <a:moveTo>
                  <a:pt x="361950" y="161925"/>
                </a:moveTo>
                <a:lnTo>
                  <a:pt x="428625" y="219075"/>
                </a:lnTo>
                <a:lnTo>
                  <a:pt x="361950" y="276225"/>
                </a:lnTo>
                <a:moveTo>
                  <a:pt x="428625" y="400050"/>
                </a:moveTo>
                <a:lnTo>
                  <a:pt x="180975" y="400050"/>
                </a:lnTo>
                <a:moveTo>
                  <a:pt x="247650" y="342900"/>
                </a:moveTo>
                <a:lnTo>
                  <a:pt x="180975" y="400050"/>
                </a:lnTo>
                <a:lnTo>
                  <a:pt x="2476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文字 SNAT 网关-545">
            <a:extLst>
              <a:ext uri="{FF2B5EF4-FFF2-40B4-BE49-F238E27FC236}">
                <a16:creationId xmlns:a16="http://schemas.microsoft.com/office/drawing/2014/main" id="{CB22A816-DF42-486E-B769-1E377B7D7EA9}"/>
              </a:ext>
            </a:extLst>
          </p:cNvPr>
          <p:cNvSpPr>
            <a:spLocks noGrp="1"/>
          </p:cNvSpPr>
          <p:nvPr/>
        </p:nvSpPr>
        <p:spPr>
          <a:xfrm>
            <a:off x="3618230" y="301960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SNAT 网关</a:t>
            </a:r>
          </a:p>
        </p:txBody>
      </p:sp>
      <p:sp>
        <p:nvSpPr>
          <p:cNvPr id="23" name="统一风格-flat-nat 外部服务玻璃后沿-546">
            <a:extLst>
              <a:ext uri="{FF2B5EF4-FFF2-40B4-BE49-F238E27FC236}">
                <a16:creationId xmlns:a16="http://schemas.microsoft.com/office/drawing/2014/main" id="{A364C0CA-2FD1-433C-9DF8-16B6E97DD8CB}"/>
              </a:ext>
            </a:extLst>
          </p:cNvPr>
          <p:cNvSpPr>
            <a:spLocks noGrp="1"/>
          </p:cNvSpPr>
          <p:nvPr/>
        </p:nvSpPr>
        <p:spPr>
          <a:xfrm>
            <a:off x="649605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flat-nat 外部服务-547">
            <a:extLst>
              <a:ext uri="{FF2B5EF4-FFF2-40B4-BE49-F238E27FC236}">
                <a16:creationId xmlns:a16="http://schemas.microsoft.com/office/drawing/2014/main" id="{BD8FC801-73FA-4A26-925F-6CD817CC4A2B}"/>
              </a:ext>
            </a:extLst>
          </p:cNvPr>
          <p:cNvSpPr>
            <a:spLocks noGrp="1"/>
          </p:cNvSpPr>
          <p:nvPr/>
        </p:nvSpPr>
        <p:spPr>
          <a:xfrm>
            <a:off x="6496050" y="2374900"/>
            <a:ext cx="1962150" cy="1224008"/>
          </a:xfrm>
          <a:prstGeom prst="roundRect">
            <a:avLst>
              <a:gd name="adj" fmla="val 700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flat-nat 外部服务玻璃内沿-548">
            <a:extLst>
              <a:ext uri="{FF2B5EF4-FFF2-40B4-BE49-F238E27FC236}">
                <a16:creationId xmlns:a16="http://schemas.microsoft.com/office/drawing/2014/main" id="{AE45DD12-5EDD-44D2-8DA0-8FBABFF55B93}"/>
              </a:ext>
            </a:extLst>
          </p:cNvPr>
          <p:cNvSpPr>
            <a:spLocks noGrp="1"/>
          </p:cNvSpPr>
          <p:nvPr/>
        </p:nvSpPr>
        <p:spPr>
          <a:xfrm>
            <a:off x="6508909" y="2387759"/>
            <a:ext cx="1936433" cy="1198290"/>
          </a:xfrm>
          <a:prstGeom prst="roundRect">
            <a:avLst>
              <a:gd name="adj" fmla="val 612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flat-nat 外部服务透光反射面-549">
            <a:extLst>
              <a:ext uri="{FF2B5EF4-FFF2-40B4-BE49-F238E27FC236}">
                <a16:creationId xmlns:a16="http://schemas.microsoft.com/office/drawing/2014/main" id="{E057A651-DB17-4118-85DB-12F939DE8E6C}"/>
              </a:ext>
            </a:extLst>
          </p:cNvPr>
          <p:cNvSpPr>
            <a:spLocks noGrp="1"/>
          </p:cNvSpPr>
          <p:nvPr/>
        </p:nvSpPr>
        <p:spPr>
          <a:xfrm>
            <a:off x="6515100" y="2393950"/>
            <a:ext cx="1924050" cy="1185908"/>
          </a:xfrm>
          <a:custGeom>
            <a:avLst/>
            <a:gdLst/>
            <a:ahLst/>
            <a:cxnLst/>
            <a:rect l="0" t="0" r="0" b="0"/>
            <a:pathLst>
              <a:path w="1924050" h="1185908">
                <a:moveTo>
                  <a:pt x="76200" y="0"/>
                </a:moveTo>
                <a:lnTo>
                  <a:pt x="1231392" y="0"/>
                </a:lnTo>
                <a:lnTo>
                  <a:pt x="500253" y="1185908"/>
                </a:lnTo>
                <a:lnTo>
                  <a:pt x="76200" y="1185908"/>
                </a:lnTo>
                <a:cubicBezTo>
                  <a:pt x="28575" y="1185908"/>
                  <a:pt x="0" y="1157333"/>
                  <a:pt x="0" y="1109708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flat-nat 外部服务边缘高光-550">
            <a:extLst>
              <a:ext uri="{FF2B5EF4-FFF2-40B4-BE49-F238E27FC236}">
                <a16:creationId xmlns:a16="http://schemas.microsoft.com/office/drawing/2014/main" id="{70AAF459-7125-407E-A1FF-E6F197DB5D27}"/>
              </a:ext>
            </a:extLst>
          </p:cNvPr>
          <p:cNvSpPr>
            <a:spLocks noGrp="1"/>
          </p:cNvSpPr>
          <p:nvPr/>
        </p:nvSpPr>
        <p:spPr>
          <a:xfrm>
            <a:off x="6496050" y="2374900"/>
            <a:ext cx="1962150" cy="1224008"/>
          </a:xfrm>
          <a:custGeom>
            <a:avLst/>
            <a:gdLst/>
            <a:ahLst/>
            <a:cxnLst/>
            <a:rect l="0" t="0" r="0" b="0"/>
            <a:pathLst>
              <a:path w="1962150" h="1224008">
                <a:moveTo>
                  <a:pt x="95250" y="9525"/>
                </a:moveTo>
                <a:lnTo>
                  <a:pt x="1866900" y="9525"/>
                </a:lnTo>
                <a:cubicBezTo>
                  <a:pt x="1914525" y="9525"/>
                  <a:pt x="1952625" y="47625"/>
                  <a:pt x="1952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globe 互联网外形-551">
            <a:extLst>
              <a:ext uri="{FF2B5EF4-FFF2-40B4-BE49-F238E27FC236}">
                <a16:creationId xmlns:a16="http://schemas.microsoft.com/office/drawing/2014/main" id="{5D624199-4346-4566-BFF4-7C7147B6036F}"/>
              </a:ext>
            </a:extLst>
          </p:cNvPr>
          <p:cNvSpPr>
            <a:spLocks noGrp="1"/>
          </p:cNvSpPr>
          <p:nvPr/>
        </p:nvSpPr>
        <p:spPr>
          <a:xfrm>
            <a:off x="7252879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457200" y="38100"/>
                  <a:pt x="571500" y="152400"/>
                  <a:pt x="571500" y="304800"/>
                </a:cubicBezTo>
                <a:cubicBezTo>
                  <a:pt x="571500" y="457200"/>
                  <a:pt x="457200" y="571500"/>
                  <a:pt x="304800" y="571500"/>
                </a:cubicBezTo>
                <a:cubicBezTo>
                  <a:pt x="152400" y="571500"/>
                  <a:pt x="38100" y="457200"/>
                  <a:pt x="38100" y="304800"/>
                </a:cubicBezTo>
                <a:cubicBezTo>
                  <a:pt x="38100" y="152400"/>
                  <a:pt x="152400" y="38100"/>
                  <a:pt x="304800" y="381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globe 经纬线-552">
            <a:extLst>
              <a:ext uri="{FF2B5EF4-FFF2-40B4-BE49-F238E27FC236}">
                <a16:creationId xmlns:a16="http://schemas.microsoft.com/office/drawing/2014/main" id="{37F3A4E7-FC3D-4E99-B1CB-B9EF8AC9E06E}"/>
              </a:ext>
            </a:extLst>
          </p:cNvPr>
          <p:cNvSpPr>
            <a:spLocks noGrp="1"/>
          </p:cNvSpPr>
          <p:nvPr/>
        </p:nvSpPr>
        <p:spPr>
          <a:xfrm>
            <a:off x="7252879" y="2487023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8100"/>
                </a:moveTo>
                <a:cubicBezTo>
                  <a:pt x="142875" y="152400"/>
                  <a:pt x="142875" y="457200"/>
                  <a:pt x="304800" y="571500"/>
                </a:cubicBezTo>
                <a:cubicBezTo>
                  <a:pt x="466725" y="457200"/>
                  <a:pt x="466725" y="152400"/>
                  <a:pt x="304800" y="38100"/>
                </a:cubicBezTo>
                <a:moveTo>
                  <a:pt x="47625" y="304800"/>
                </a:moveTo>
                <a:lnTo>
                  <a:pt x="561975" y="304800"/>
                </a:lnTo>
                <a:moveTo>
                  <a:pt x="95250" y="152400"/>
                </a:moveTo>
                <a:lnTo>
                  <a:pt x="514350" y="152400"/>
                </a:lnTo>
                <a:moveTo>
                  <a:pt x="95250" y="457200"/>
                </a:moveTo>
                <a:lnTo>
                  <a:pt x="514350" y="4572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文字 外部服务-553">
            <a:extLst>
              <a:ext uri="{FF2B5EF4-FFF2-40B4-BE49-F238E27FC236}">
                <a16:creationId xmlns:a16="http://schemas.microsoft.com/office/drawing/2014/main" id="{B6BFDE2D-B357-4814-A0C3-3BD71679A870}"/>
              </a:ext>
            </a:extLst>
          </p:cNvPr>
          <p:cNvSpPr>
            <a:spLocks noGrp="1"/>
          </p:cNvSpPr>
          <p:nvPr/>
        </p:nvSpPr>
        <p:spPr>
          <a:xfrm>
            <a:off x="6561455" y="3019606"/>
            <a:ext cx="1831340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cxnSp>
        <p:nvCxnSpPr>
          <p:cNvPr id="31" name="统一拓扑-flat-nat-连线-1">
            <a:extLst>
              <a:ext uri="{FF2B5EF4-FFF2-40B4-BE49-F238E27FC236}">
                <a16:creationId xmlns:a16="http://schemas.microsoft.com/office/drawing/2014/main" id="{9C8382FF-BD46-4DCD-A97C-9A8E9BE3B10E}"/>
              </a:ext>
            </a:extLst>
          </p:cNvPr>
          <p:cNvCxnSpPr/>
          <p:nvPr/>
        </p:nvCxnSpPr>
        <p:spPr>
          <a:xfrm>
            <a:off x="2571750" y="2986904"/>
            <a:ext cx="981075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2" name="统一拓扑-flat-nat-连线-2">
            <a:extLst>
              <a:ext uri="{FF2B5EF4-FFF2-40B4-BE49-F238E27FC236}">
                <a16:creationId xmlns:a16="http://schemas.microsoft.com/office/drawing/2014/main" id="{8CDE0EBD-BCBE-4D71-8F4B-18BD7D0F8EBA}"/>
              </a:ext>
            </a:extLst>
          </p:cNvPr>
          <p:cNvCxnSpPr/>
          <p:nvPr/>
        </p:nvCxnSpPr>
        <p:spPr>
          <a:xfrm>
            <a:off x="5514975" y="2986904"/>
            <a:ext cx="981075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3" name="统一风格-flat-nat 关系文字衬底-554">
            <a:extLst>
              <a:ext uri="{FF2B5EF4-FFF2-40B4-BE49-F238E27FC236}">
                <a16:creationId xmlns:a16="http://schemas.microsoft.com/office/drawing/2014/main" id="{DEA45DA5-8B59-41C3-A5AA-CC1459F94D0C}"/>
              </a:ext>
            </a:extLst>
          </p:cNvPr>
          <p:cNvSpPr>
            <a:spLocks noGrp="1"/>
          </p:cNvSpPr>
          <p:nvPr/>
        </p:nvSpPr>
        <p:spPr>
          <a:xfrm>
            <a:off x="2216694" y="2103936"/>
            <a:ext cx="1756591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业务私网源地址-555">
            <a:extLst>
              <a:ext uri="{FF2B5EF4-FFF2-40B4-BE49-F238E27FC236}">
                <a16:creationId xmlns:a16="http://schemas.microsoft.com/office/drawing/2014/main" id="{1E8F36E4-08DD-42FC-A3EC-61D24283D064}"/>
              </a:ext>
            </a:extLst>
          </p:cNvPr>
          <p:cNvSpPr>
            <a:spLocks noGrp="1"/>
          </p:cNvSpPr>
          <p:nvPr/>
        </p:nvSpPr>
        <p:spPr>
          <a:xfrm>
            <a:off x="2254069" y="2103936"/>
            <a:ext cx="1681843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业务私网源地址</a:t>
            </a:r>
          </a:p>
        </p:txBody>
      </p:sp>
      <p:sp>
        <p:nvSpPr>
          <p:cNvPr id="35" name="统一风格-flat-nat 关系文字衬底-556">
            <a:extLst>
              <a:ext uri="{FF2B5EF4-FFF2-40B4-BE49-F238E27FC236}">
                <a16:creationId xmlns:a16="http://schemas.microsoft.com/office/drawing/2014/main" id="{4C49EF9E-82E1-4E70-95BE-1B6D8DCC5CAC}"/>
              </a:ext>
            </a:extLst>
          </p:cNvPr>
          <p:cNvSpPr>
            <a:spLocks noGrp="1"/>
          </p:cNvSpPr>
          <p:nvPr/>
        </p:nvSpPr>
        <p:spPr>
          <a:xfrm>
            <a:off x="5309416" y="2103936"/>
            <a:ext cx="1569720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文字 出口 EIP-557">
            <a:extLst>
              <a:ext uri="{FF2B5EF4-FFF2-40B4-BE49-F238E27FC236}">
                <a16:creationId xmlns:a16="http://schemas.microsoft.com/office/drawing/2014/main" id="{62B7696A-D95D-490A-8578-A673B90F3C46}"/>
              </a:ext>
            </a:extLst>
          </p:cNvPr>
          <p:cNvSpPr>
            <a:spLocks noGrp="1"/>
          </p:cNvSpPr>
          <p:nvPr/>
        </p:nvSpPr>
        <p:spPr>
          <a:xfrm>
            <a:off x="5346791" y="2103936"/>
            <a:ext cx="1494971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出口 EIP</a:t>
            </a:r>
          </a:p>
        </p:txBody>
      </p:sp>
      <p:sp>
        <p:nvSpPr>
          <p:cNvPr id="37" name="统一风格-flat-nat 私网侧观察玻璃后沿-558">
            <a:extLst>
              <a:ext uri="{FF2B5EF4-FFF2-40B4-BE49-F238E27FC236}">
                <a16:creationId xmlns:a16="http://schemas.microsoft.com/office/drawing/2014/main" id="{C9BAE1C2-AE8B-4136-A73C-72DB18660AAC}"/>
              </a:ext>
            </a:extLst>
          </p:cNvPr>
          <p:cNvSpPr>
            <a:spLocks noGrp="1"/>
          </p:cNvSpPr>
          <p:nvPr/>
        </p:nvSpPr>
        <p:spPr>
          <a:xfrm>
            <a:off x="1123496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8" name="统一风格-flat-nat 私网侧观察-559">
            <a:extLst>
              <a:ext uri="{FF2B5EF4-FFF2-40B4-BE49-F238E27FC236}">
                <a16:creationId xmlns:a16="http://schemas.microsoft.com/office/drawing/2014/main" id="{555AB707-E0B0-4514-8EB7-FFA2125F8D6C}"/>
              </a:ext>
            </a:extLst>
          </p:cNvPr>
          <p:cNvSpPr>
            <a:spLocks noGrp="1"/>
          </p:cNvSpPr>
          <p:nvPr/>
        </p:nvSpPr>
        <p:spPr>
          <a:xfrm>
            <a:off x="1123496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flat-nat 私网侧观察玻璃内沿-560">
            <a:extLst>
              <a:ext uri="{FF2B5EF4-FFF2-40B4-BE49-F238E27FC236}">
                <a16:creationId xmlns:a16="http://schemas.microsoft.com/office/drawing/2014/main" id="{655B9DAB-4062-409E-BAA4-0575812C991D}"/>
              </a:ext>
            </a:extLst>
          </p:cNvPr>
          <p:cNvSpPr>
            <a:spLocks noGrp="1"/>
          </p:cNvSpPr>
          <p:nvPr/>
        </p:nvSpPr>
        <p:spPr>
          <a:xfrm>
            <a:off x="1136355" y="4714308"/>
            <a:ext cx="3057661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flat-nat 私网侧观察边缘高光-561">
            <a:extLst>
              <a:ext uri="{FF2B5EF4-FFF2-40B4-BE49-F238E27FC236}">
                <a16:creationId xmlns:a16="http://schemas.microsoft.com/office/drawing/2014/main" id="{EDC322A1-1B94-4B89-8D34-2FB01FE5A7B9}"/>
              </a:ext>
            </a:extLst>
          </p:cNvPr>
          <p:cNvSpPr>
            <a:spLocks noGrp="1"/>
          </p:cNvSpPr>
          <p:nvPr/>
        </p:nvSpPr>
        <p:spPr>
          <a:xfrm>
            <a:off x="1123496" y="4701449"/>
            <a:ext cx="3083379" cy="981075"/>
          </a:xfrm>
          <a:custGeom>
            <a:avLst/>
            <a:gdLst/>
            <a:ahLst/>
            <a:cxnLst/>
            <a:rect l="0" t="0" r="0" b="0"/>
            <a:pathLst>
              <a:path w="3083379" h="981075">
                <a:moveTo>
                  <a:pt x="95250" y="9525"/>
                </a:moveTo>
                <a:lnTo>
                  <a:pt x="2988129" y="9525"/>
                </a:lnTo>
                <a:cubicBezTo>
                  <a:pt x="3035754" y="9525"/>
                  <a:pt x="3073854" y="47625"/>
                  <a:pt x="307385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私网侧观察-562">
            <a:extLst>
              <a:ext uri="{FF2B5EF4-FFF2-40B4-BE49-F238E27FC236}">
                <a16:creationId xmlns:a16="http://schemas.microsoft.com/office/drawing/2014/main" id="{A055F6CF-F990-4A65-824D-BF4B3BA301A4}"/>
              </a:ext>
            </a:extLst>
          </p:cNvPr>
          <p:cNvSpPr>
            <a:spLocks noGrp="1"/>
          </p:cNvSpPr>
          <p:nvPr/>
        </p:nvSpPr>
        <p:spPr>
          <a:xfrm>
            <a:off x="1310368" y="4832259"/>
            <a:ext cx="2709636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私网侧观察</a:t>
            </a:r>
          </a:p>
        </p:txBody>
      </p:sp>
      <p:sp>
        <p:nvSpPr>
          <p:cNvPr id="42" name="统一风格-文字 SNAT 前：业务私网源地址-563">
            <a:extLst>
              <a:ext uri="{FF2B5EF4-FFF2-40B4-BE49-F238E27FC236}">
                <a16:creationId xmlns:a16="http://schemas.microsoft.com/office/drawing/2014/main" id="{D35287B6-C863-4056-997F-419A39EBFAF6}"/>
              </a:ext>
            </a:extLst>
          </p:cNvPr>
          <p:cNvSpPr>
            <a:spLocks noGrp="1"/>
          </p:cNvSpPr>
          <p:nvPr/>
        </p:nvSpPr>
        <p:spPr>
          <a:xfrm>
            <a:off x="1310368" y="5215346"/>
            <a:ext cx="27096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前：业务私网源地址</a:t>
            </a:r>
          </a:p>
        </p:txBody>
      </p:sp>
      <p:sp>
        <p:nvSpPr>
          <p:cNvPr id="43" name="统一风格-flat-nat 公网侧观察玻璃后沿-564">
            <a:extLst>
              <a:ext uri="{FF2B5EF4-FFF2-40B4-BE49-F238E27FC236}">
                <a16:creationId xmlns:a16="http://schemas.microsoft.com/office/drawing/2014/main" id="{E6861162-786F-4178-BD07-27971A43718D}"/>
              </a:ext>
            </a:extLst>
          </p:cNvPr>
          <p:cNvSpPr>
            <a:spLocks noGrp="1"/>
          </p:cNvSpPr>
          <p:nvPr/>
        </p:nvSpPr>
        <p:spPr>
          <a:xfrm>
            <a:off x="4860925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flat-nat 公网侧观察-565">
            <a:extLst>
              <a:ext uri="{FF2B5EF4-FFF2-40B4-BE49-F238E27FC236}">
                <a16:creationId xmlns:a16="http://schemas.microsoft.com/office/drawing/2014/main" id="{AB0C3988-99A7-4992-833B-5F7784045B24}"/>
              </a:ext>
            </a:extLst>
          </p:cNvPr>
          <p:cNvSpPr>
            <a:spLocks noGrp="1"/>
          </p:cNvSpPr>
          <p:nvPr/>
        </p:nvSpPr>
        <p:spPr>
          <a:xfrm>
            <a:off x="4860925" y="4701449"/>
            <a:ext cx="3083379" cy="981075"/>
          </a:xfrm>
          <a:prstGeom prst="roundRect">
            <a:avLst>
              <a:gd name="adj" fmla="val 87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flat-nat 公网侧观察玻璃内沿-566">
            <a:extLst>
              <a:ext uri="{FF2B5EF4-FFF2-40B4-BE49-F238E27FC236}">
                <a16:creationId xmlns:a16="http://schemas.microsoft.com/office/drawing/2014/main" id="{67858005-69EE-4AA8-B6F4-BC51A858BDEA}"/>
              </a:ext>
            </a:extLst>
          </p:cNvPr>
          <p:cNvSpPr>
            <a:spLocks noGrp="1"/>
          </p:cNvSpPr>
          <p:nvPr/>
        </p:nvSpPr>
        <p:spPr>
          <a:xfrm>
            <a:off x="4873784" y="4714308"/>
            <a:ext cx="3057661" cy="955358"/>
          </a:xfrm>
          <a:prstGeom prst="roundRect">
            <a:avLst>
              <a:gd name="adj" fmla="val 767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lat-nat 公网侧观察边缘高光-567">
            <a:extLst>
              <a:ext uri="{FF2B5EF4-FFF2-40B4-BE49-F238E27FC236}">
                <a16:creationId xmlns:a16="http://schemas.microsoft.com/office/drawing/2014/main" id="{7C6310A5-70D8-4C35-A766-234AF90E721D}"/>
              </a:ext>
            </a:extLst>
          </p:cNvPr>
          <p:cNvSpPr>
            <a:spLocks noGrp="1"/>
          </p:cNvSpPr>
          <p:nvPr/>
        </p:nvSpPr>
        <p:spPr>
          <a:xfrm>
            <a:off x="4860925" y="4701449"/>
            <a:ext cx="3083379" cy="981075"/>
          </a:xfrm>
          <a:custGeom>
            <a:avLst/>
            <a:gdLst/>
            <a:ahLst/>
            <a:cxnLst/>
            <a:rect l="0" t="0" r="0" b="0"/>
            <a:pathLst>
              <a:path w="3083379" h="981075">
                <a:moveTo>
                  <a:pt x="95250" y="9525"/>
                </a:moveTo>
                <a:lnTo>
                  <a:pt x="2988129" y="9525"/>
                </a:lnTo>
                <a:cubicBezTo>
                  <a:pt x="3035754" y="9525"/>
                  <a:pt x="3073854" y="47625"/>
                  <a:pt x="307385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公网侧观察-568">
            <a:extLst>
              <a:ext uri="{FF2B5EF4-FFF2-40B4-BE49-F238E27FC236}">
                <a16:creationId xmlns:a16="http://schemas.microsoft.com/office/drawing/2014/main" id="{904A5B72-B98A-419A-91D8-4759EE9F56DA}"/>
              </a:ext>
            </a:extLst>
          </p:cNvPr>
          <p:cNvSpPr>
            <a:spLocks noGrp="1"/>
          </p:cNvSpPr>
          <p:nvPr/>
        </p:nvSpPr>
        <p:spPr>
          <a:xfrm>
            <a:off x="5047796" y="4832259"/>
            <a:ext cx="2709636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公网侧观察</a:t>
            </a:r>
          </a:p>
        </p:txBody>
      </p:sp>
      <p:sp>
        <p:nvSpPr>
          <p:cNvPr id="48" name="统一风格-文字 SNAT 后：可能看到出口 EIP-569">
            <a:extLst>
              <a:ext uri="{FF2B5EF4-FFF2-40B4-BE49-F238E27FC236}">
                <a16:creationId xmlns:a16="http://schemas.microsoft.com/office/drawing/2014/main" id="{6F1F6769-548B-4938-9300-BAA148321CF8}"/>
              </a:ext>
            </a:extLst>
          </p:cNvPr>
          <p:cNvSpPr>
            <a:spLocks noGrp="1"/>
          </p:cNvSpPr>
          <p:nvPr/>
        </p:nvSpPr>
        <p:spPr>
          <a:xfrm>
            <a:off x="5047796" y="5215346"/>
            <a:ext cx="2709636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SNAT 后：可能看到出口 EIP</a:t>
            </a:r>
          </a:p>
        </p:txBody>
      </p:sp>
      <p:cxnSp>
        <p:nvCxnSpPr>
          <p:cNvPr id="49" name="统一拓扑-flat-nat-连线-3">
            <a:extLst>
              <a:ext uri="{FF2B5EF4-FFF2-40B4-BE49-F238E27FC236}">
                <a16:creationId xmlns:a16="http://schemas.microsoft.com/office/drawing/2014/main" id="{89F88DF7-2ED9-45A2-BC98-6D6401F70D6E}"/>
              </a:ext>
            </a:extLst>
          </p:cNvPr>
          <p:cNvCxnSpPr/>
          <p:nvPr/>
        </p:nvCxnSpPr>
        <p:spPr>
          <a:xfrm>
            <a:off x="3048272" y="3075668"/>
            <a:ext cx="0" cy="1541689"/>
          </a:xfrm>
          <a:prstGeom prst="straightConnector1">
            <a:avLst/>
          </a:prstGeom>
          <a:ln w="15417">
            <a:solidFill>
              <a:srgbClr val="B8CBE9"/>
            </a:solidFill>
            <a:prstDash val="dash"/>
          </a:ln>
        </p:spPr>
      </p:cxnSp>
      <p:cxnSp>
        <p:nvCxnSpPr>
          <p:cNvPr id="50" name="统一拓扑-flat-nat-连线-4">
            <a:extLst>
              <a:ext uri="{FF2B5EF4-FFF2-40B4-BE49-F238E27FC236}">
                <a16:creationId xmlns:a16="http://schemas.microsoft.com/office/drawing/2014/main" id="{146F8C71-736D-4AE0-A523-7C21FEBEDB33}"/>
              </a:ext>
            </a:extLst>
          </p:cNvPr>
          <p:cNvCxnSpPr/>
          <p:nvPr/>
        </p:nvCxnSpPr>
        <p:spPr>
          <a:xfrm>
            <a:off x="6000841" y="3075668"/>
            <a:ext cx="0" cy="1541689"/>
          </a:xfrm>
          <a:prstGeom prst="straightConnector1">
            <a:avLst/>
          </a:prstGeom>
          <a:ln w="15417">
            <a:solidFill>
              <a:srgbClr val="B8CBE9"/>
            </a:solidFill>
            <a:prstDash val="dash"/>
          </a:ln>
        </p:spPr>
      </p:cxnSp>
      <p:sp>
        <p:nvSpPr>
          <p:cNvPr id="51" name="版式分隔线">
            <a:extLst>
              <a:ext uri="{FF2B5EF4-FFF2-40B4-BE49-F238E27FC236}">
                <a16:creationId xmlns:a16="http://schemas.microsoft.com/office/drawing/2014/main" id="{2CD733EB-3296-4268-B28A-8C6933F4F94F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版式分隔线">
            <a:extLst>
              <a:ext uri="{FF2B5EF4-FFF2-40B4-BE49-F238E27FC236}">
                <a16:creationId xmlns:a16="http://schemas.microsoft.com/office/drawing/2014/main" id="{FCA4E23A-A595-4FF5-B120-CB51B1766DB2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txt-52">
            <a:extLst>
              <a:ext uri="{FF2B5EF4-FFF2-40B4-BE49-F238E27FC236}">
                <a16:creationId xmlns:a16="http://schemas.microsoft.com/office/drawing/2014/main" id="{AD0CDE82-78DB-4A17-A7B7-447A5FBDFC0E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转换前</a:t>
            </a:r>
          </a:p>
        </p:txBody>
      </p:sp>
      <p:sp>
        <p:nvSpPr>
          <p:cNvPr id="54" name="txt-53">
            <a:extLst>
              <a:ext uri="{FF2B5EF4-FFF2-40B4-BE49-F238E27FC236}">
                <a16:creationId xmlns:a16="http://schemas.microsoft.com/office/drawing/2014/main" id="{126B18DC-AE91-4C76-8466-30CB6A050150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可看到业务私网源地址</a:t>
            </a:r>
          </a:p>
        </p:txBody>
      </p:sp>
      <p:sp>
        <p:nvSpPr>
          <p:cNvPr id="55" name="版式分隔线">
            <a:extLst>
              <a:ext uri="{FF2B5EF4-FFF2-40B4-BE49-F238E27FC236}">
                <a16:creationId xmlns:a16="http://schemas.microsoft.com/office/drawing/2014/main" id="{B3FD6A17-4B02-4B06-83E5-F1748F862C48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xt-55">
            <a:extLst>
              <a:ext uri="{FF2B5EF4-FFF2-40B4-BE49-F238E27FC236}">
                <a16:creationId xmlns:a16="http://schemas.microsoft.com/office/drawing/2014/main" id="{56224032-B079-4FDE-8617-AE096A2E562C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转换后</a:t>
            </a:r>
          </a:p>
        </p:txBody>
      </p:sp>
      <p:sp>
        <p:nvSpPr>
          <p:cNvPr id="57" name="txt-56">
            <a:extLst>
              <a:ext uri="{FF2B5EF4-FFF2-40B4-BE49-F238E27FC236}">
                <a16:creationId xmlns:a16="http://schemas.microsoft.com/office/drawing/2014/main" id="{8F47F55D-D423-4227-AE2B-4C44761DDDAD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可能看到出口 EIP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代理也可能聚合来源</a:t>
            </a:r>
          </a:p>
        </p:txBody>
      </p:sp>
      <p:sp>
        <p:nvSpPr>
          <p:cNvPr id="58" name="版式分隔线">
            <a:extLst>
              <a:ext uri="{FF2B5EF4-FFF2-40B4-BE49-F238E27FC236}">
                <a16:creationId xmlns:a16="http://schemas.microsoft.com/office/drawing/2014/main" id="{9E0EC5FC-FC90-49A9-8FE8-4692E2331BD2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xt-58">
            <a:extLst>
              <a:ext uri="{FF2B5EF4-FFF2-40B4-BE49-F238E27FC236}">
                <a16:creationId xmlns:a16="http://schemas.microsoft.com/office/drawing/2014/main" id="{E385D8CF-EDF1-40A7-90E7-0D4A36293F5E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sp>
        <p:nvSpPr>
          <p:cNvPr id="60" name="txt-59">
            <a:extLst>
              <a:ext uri="{FF2B5EF4-FFF2-40B4-BE49-F238E27FC236}">
                <a16:creationId xmlns:a16="http://schemas.microsoft.com/office/drawing/2014/main" id="{2DA9F63E-D4AA-4C32-8B98-80FED1A69BD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先明确 CFW 检查点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5732595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正文-03  CFW 使用规范">
            <a:extLst>
              <a:ext uri="{FF2B5EF4-FFF2-40B4-BE49-F238E27FC236}">
                <a16:creationId xmlns:a16="http://schemas.microsoft.com/office/drawing/2014/main" id="{FC6D2D00-D883-472C-8126-808A40EF06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3DEF1FC6-6187-45A7-9E78-1ED0CBD2B91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功能优先级与 ACL 规则顺序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634479C1-6CF3-4B48-8074-2616B1BFDA0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外层防护顺序与 ACL 内首条命中是两个层次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6A67C4B-5BC7-4FF1-8FD9-4A5528D1280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图中的兜底阻断需由管理员显式配置。VPC 边界接入本身默认放行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4DF902A3-DD71-42BB-A5BB-7F4BD0E8CF7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4">
            <a:extLst>
              <a:ext uri="{FF2B5EF4-FFF2-40B4-BE49-F238E27FC236}">
                <a16:creationId xmlns:a16="http://schemas.microsoft.com/office/drawing/2014/main" id="{BA8E31D6-2EBD-4106-A6B8-1804A28F8EA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7" name="统一风格-pipeline-wide 新连接玻璃后沿-449">
            <a:extLst>
              <a:ext uri="{FF2B5EF4-FFF2-40B4-BE49-F238E27FC236}">
                <a16:creationId xmlns:a16="http://schemas.microsoft.com/office/drawing/2014/main" id="{433A27DD-CCEC-4A78-85E7-CA2AEB02878A}"/>
              </a:ext>
            </a:extLst>
          </p:cNvPr>
          <p:cNvSpPr>
            <a:spLocks noGrp="1"/>
          </p:cNvSpPr>
          <p:nvPr/>
        </p:nvSpPr>
        <p:spPr>
          <a:xfrm>
            <a:off x="6953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pipeline-wide 新连接-450">
            <a:extLst>
              <a:ext uri="{FF2B5EF4-FFF2-40B4-BE49-F238E27FC236}">
                <a16:creationId xmlns:a16="http://schemas.microsoft.com/office/drawing/2014/main" id="{4DF5946F-EF2B-437F-881A-6980EDE33E35}"/>
              </a:ext>
            </a:extLst>
          </p:cNvPr>
          <p:cNvSpPr>
            <a:spLocks noGrp="1"/>
          </p:cNvSpPr>
          <p:nvPr/>
        </p:nvSpPr>
        <p:spPr>
          <a:xfrm>
            <a:off x="6953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pipeline-wide 新连接玻璃内沿-451">
            <a:extLst>
              <a:ext uri="{FF2B5EF4-FFF2-40B4-BE49-F238E27FC236}">
                <a16:creationId xmlns:a16="http://schemas.microsoft.com/office/drawing/2014/main" id="{CDC92D24-D3F8-497F-89B1-8ACC3528FDC8}"/>
              </a:ext>
            </a:extLst>
          </p:cNvPr>
          <p:cNvSpPr>
            <a:spLocks noGrp="1"/>
          </p:cNvSpPr>
          <p:nvPr/>
        </p:nvSpPr>
        <p:spPr>
          <a:xfrm>
            <a:off x="7081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pipeline-wide 新连接透光反射面-452">
            <a:extLst>
              <a:ext uri="{FF2B5EF4-FFF2-40B4-BE49-F238E27FC236}">
                <a16:creationId xmlns:a16="http://schemas.microsoft.com/office/drawing/2014/main" id="{4D795FF1-0A7E-40D2-917D-759501B5BFC2}"/>
              </a:ext>
            </a:extLst>
          </p:cNvPr>
          <p:cNvSpPr>
            <a:spLocks noGrp="1"/>
          </p:cNvSpPr>
          <p:nvPr/>
        </p:nvSpPr>
        <p:spPr>
          <a:xfrm>
            <a:off x="7143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pipeline-wide 新连接边缘高光-453">
            <a:extLst>
              <a:ext uri="{FF2B5EF4-FFF2-40B4-BE49-F238E27FC236}">
                <a16:creationId xmlns:a16="http://schemas.microsoft.com/office/drawing/2014/main" id="{8261DAEC-1B7B-42EA-B179-38F549856E69}"/>
              </a:ext>
            </a:extLst>
          </p:cNvPr>
          <p:cNvSpPr>
            <a:spLocks noGrp="1"/>
          </p:cNvSpPr>
          <p:nvPr/>
        </p:nvSpPr>
        <p:spPr>
          <a:xfrm>
            <a:off x="6953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454">
            <a:extLst>
              <a:ext uri="{FF2B5EF4-FFF2-40B4-BE49-F238E27FC236}">
                <a16:creationId xmlns:a16="http://schemas.microsoft.com/office/drawing/2014/main" id="{5972D83C-4941-4372-B000-8935B700B5AA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455">
            <a:extLst>
              <a:ext uri="{FF2B5EF4-FFF2-40B4-BE49-F238E27FC236}">
                <a16:creationId xmlns:a16="http://schemas.microsoft.com/office/drawing/2014/main" id="{ED77CE60-A386-4608-B4BF-C04797393023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456">
            <a:extLst>
              <a:ext uri="{FF2B5EF4-FFF2-40B4-BE49-F238E27FC236}">
                <a16:creationId xmlns:a16="http://schemas.microsoft.com/office/drawing/2014/main" id="{24E42707-FBBB-410E-A867-DAF6633E89E7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新连接-457">
            <a:extLst>
              <a:ext uri="{FF2B5EF4-FFF2-40B4-BE49-F238E27FC236}">
                <a16:creationId xmlns:a16="http://schemas.microsoft.com/office/drawing/2014/main" id="{47508A0F-D8FB-456C-9881-856765889853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新连接</a:t>
            </a:r>
          </a:p>
        </p:txBody>
      </p:sp>
      <p:sp>
        <p:nvSpPr>
          <p:cNvPr id="16" name="统一风格-pipeline-wide 流量封堵玻璃后沿-458">
            <a:extLst>
              <a:ext uri="{FF2B5EF4-FFF2-40B4-BE49-F238E27FC236}">
                <a16:creationId xmlns:a16="http://schemas.microsoft.com/office/drawing/2014/main" id="{4D9C76D3-9269-46FA-B620-70CDD2F1E905}"/>
              </a:ext>
            </a:extLst>
          </p:cNvPr>
          <p:cNvSpPr>
            <a:spLocks noGrp="1"/>
          </p:cNvSpPr>
          <p:nvPr/>
        </p:nvSpPr>
        <p:spPr>
          <a:xfrm>
            <a:off x="22764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pipeline-wide 流量封堵-459">
            <a:extLst>
              <a:ext uri="{FF2B5EF4-FFF2-40B4-BE49-F238E27FC236}">
                <a16:creationId xmlns:a16="http://schemas.microsoft.com/office/drawing/2014/main" id="{2B2C1676-173B-4BFD-A9E1-C996D9001787}"/>
              </a:ext>
            </a:extLst>
          </p:cNvPr>
          <p:cNvSpPr>
            <a:spLocks noGrp="1"/>
          </p:cNvSpPr>
          <p:nvPr/>
        </p:nvSpPr>
        <p:spPr>
          <a:xfrm>
            <a:off x="22764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pipeline-wide 流量封堵玻璃内沿-460">
            <a:extLst>
              <a:ext uri="{FF2B5EF4-FFF2-40B4-BE49-F238E27FC236}">
                <a16:creationId xmlns:a16="http://schemas.microsoft.com/office/drawing/2014/main" id="{2B698AF3-CBD2-4DD3-9FC7-6E331BC1572B}"/>
              </a:ext>
            </a:extLst>
          </p:cNvPr>
          <p:cNvSpPr>
            <a:spLocks noGrp="1"/>
          </p:cNvSpPr>
          <p:nvPr/>
        </p:nvSpPr>
        <p:spPr>
          <a:xfrm>
            <a:off x="228933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pipeline-wide 流量封堵透光反射面-461">
            <a:extLst>
              <a:ext uri="{FF2B5EF4-FFF2-40B4-BE49-F238E27FC236}">
                <a16:creationId xmlns:a16="http://schemas.microsoft.com/office/drawing/2014/main" id="{57987E21-E264-47C1-88B4-11C5618D8E5C}"/>
              </a:ext>
            </a:extLst>
          </p:cNvPr>
          <p:cNvSpPr>
            <a:spLocks noGrp="1"/>
          </p:cNvSpPr>
          <p:nvPr/>
        </p:nvSpPr>
        <p:spPr>
          <a:xfrm>
            <a:off x="229552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pipeline-wide 流量封堵边缘高光-462">
            <a:extLst>
              <a:ext uri="{FF2B5EF4-FFF2-40B4-BE49-F238E27FC236}">
                <a16:creationId xmlns:a16="http://schemas.microsoft.com/office/drawing/2014/main" id="{28BE1BF4-5CB3-4F3D-95ED-43E614CF127A}"/>
              </a:ext>
            </a:extLst>
          </p:cNvPr>
          <p:cNvSpPr>
            <a:spLocks noGrp="1"/>
          </p:cNvSpPr>
          <p:nvPr/>
        </p:nvSpPr>
        <p:spPr>
          <a:xfrm>
            <a:off x="227647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firewall CFW 砖墙-463">
            <a:extLst>
              <a:ext uri="{FF2B5EF4-FFF2-40B4-BE49-F238E27FC236}">
                <a16:creationId xmlns:a16="http://schemas.microsoft.com/office/drawing/2014/main" id="{586993C9-0700-4513-BA75-141436CB96F2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firewall CFW 砖缝-464">
            <a:extLst>
              <a:ext uri="{FF2B5EF4-FFF2-40B4-BE49-F238E27FC236}">
                <a16:creationId xmlns:a16="http://schemas.microsoft.com/office/drawing/2014/main" id="{34D5F460-3063-40B0-814A-9D1975602184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firewall CFW 前景衬底-465">
            <a:extLst>
              <a:ext uri="{FF2B5EF4-FFF2-40B4-BE49-F238E27FC236}">
                <a16:creationId xmlns:a16="http://schemas.microsoft.com/office/drawing/2014/main" id="{138A3D2B-1307-4110-88CC-D14944653634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firewall CFW 简洁火焰-466">
            <a:extLst>
              <a:ext uri="{FF2B5EF4-FFF2-40B4-BE49-F238E27FC236}">
                <a16:creationId xmlns:a16="http://schemas.microsoft.com/office/drawing/2014/main" id="{893D50AD-F97B-4C8C-A1C9-603A69757A7B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流量封堵-467">
            <a:extLst>
              <a:ext uri="{FF2B5EF4-FFF2-40B4-BE49-F238E27FC236}">
                <a16:creationId xmlns:a16="http://schemas.microsoft.com/office/drawing/2014/main" id="{30084B48-E68B-4DFC-8093-B28E5527A073}"/>
              </a:ext>
            </a:extLst>
          </p:cNvPr>
          <p:cNvSpPr>
            <a:spLocks noGrp="1"/>
          </p:cNvSpPr>
          <p:nvPr/>
        </p:nvSpPr>
        <p:spPr>
          <a:xfrm>
            <a:off x="234315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流量封堵</a:t>
            </a:r>
          </a:p>
        </p:txBody>
      </p:sp>
      <p:sp>
        <p:nvSpPr>
          <p:cNvPr id="26" name="统一风格-pipeline-wide 白名单玻璃后沿-468">
            <a:extLst>
              <a:ext uri="{FF2B5EF4-FFF2-40B4-BE49-F238E27FC236}">
                <a16:creationId xmlns:a16="http://schemas.microsoft.com/office/drawing/2014/main" id="{DE10B043-AB9B-414A-845F-F972D500FABA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pipeline-wide 白名单-469">
            <a:extLst>
              <a:ext uri="{FF2B5EF4-FFF2-40B4-BE49-F238E27FC236}">
                <a16:creationId xmlns:a16="http://schemas.microsoft.com/office/drawing/2014/main" id="{F035BCE0-F1AD-4B27-8B31-86D4CD20003E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pipeline-wide 白名单玻璃内沿-470">
            <a:extLst>
              <a:ext uri="{FF2B5EF4-FFF2-40B4-BE49-F238E27FC236}">
                <a16:creationId xmlns:a16="http://schemas.microsoft.com/office/drawing/2014/main" id="{49E095BF-5DC7-4249-A465-96540758F7DD}"/>
              </a:ext>
            </a:extLst>
          </p:cNvPr>
          <p:cNvSpPr>
            <a:spLocks noGrp="1"/>
          </p:cNvSpPr>
          <p:nvPr/>
        </p:nvSpPr>
        <p:spPr>
          <a:xfrm>
            <a:off x="38704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pipeline-wide 白名单透光反射面-471">
            <a:extLst>
              <a:ext uri="{FF2B5EF4-FFF2-40B4-BE49-F238E27FC236}">
                <a16:creationId xmlns:a16="http://schemas.microsoft.com/office/drawing/2014/main" id="{34DF8ECE-410B-4805-B826-70941C4C329C}"/>
              </a:ext>
            </a:extLst>
          </p:cNvPr>
          <p:cNvSpPr>
            <a:spLocks noGrp="1"/>
          </p:cNvSpPr>
          <p:nvPr/>
        </p:nvSpPr>
        <p:spPr>
          <a:xfrm>
            <a:off x="38766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pipeline-wide 白名单边缘高光-472">
            <a:extLst>
              <a:ext uri="{FF2B5EF4-FFF2-40B4-BE49-F238E27FC236}">
                <a16:creationId xmlns:a16="http://schemas.microsoft.com/office/drawing/2014/main" id="{8EF773B5-303F-4FC5-BA20-D7E6D0C60A96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doc 规则文档-473">
            <a:extLst>
              <a:ext uri="{FF2B5EF4-FFF2-40B4-BE49-F238E27FC236}">
                <a16:creationId xmlns:a16="http://schemas.microsoft.com/office/drawing/2014/main" id="{2791DB57-0B48-4812-8C80-275B6269C2A5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doc 文档折角-474">
            <a:extLst>
              <a:ext uri="{FF2B5EF4-FFF2-40B4-BE49-F238E27FC236}">
                <a16:creationId xmlns:a16="http://schemas.microsoft.com/office/drawing/2014/main" id="{EBB99284-C9DE-4DD2-869C-C8D1BB1CFA32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doc 规则条目-475">
            <a:extLst>
              <a:ext uri="{FF2B5EF4-FFF2-40B4-BE49-F238E27FC236}">
                <a16:creationId xmlns:a16="http://schemas.microsoft.com/office/drawing/2014/main" id="{5C0449AA-AE87-47E4-8349-647F61126567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文字 白名单-476">
            <a:extLst>
              <a:ext uri="{FF2B5EF4-FFF2-40B4-BE49-F238E27FC236}">
                <a16:creationId xmlns:a16="http://schemas.microsoft.com/office/drawing/2014/main" id="{30EAD75D-6CA4-402C-A328-A57FF8915D79}"/>
              </a:ext>
            </a:extLst>
          </p:cNvPr>
          <p:cNvSpPr>
            <a:spLocks noGrp="1"/>
          </p:cNvSpPr>
          <p:nvPr/>
        </p:nvSpPr>
        <p:spPr>
          <a:xfrm>
            <a:off x="39243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</a:t>
            </a:r>
          </a:p>
        </p:txBody>
      </p:sp>
      <p:sp>
        <p:nvSpPr>
          <p:cNvPr id="35" name="统一风格-pipeline-wide 黑名单玻璃后沿-477">
            <a:extLst>
              <a:ext uri="{FF2B5EF4-FFF2-40B4-BE49-F238E27FC236}">
                <a16:creationId xmlns:a16="http://schemas.microsoft.com/office/drawing/2014/main" id="{8EEF9A42-ED68-46B5-9C76-35424F07A18A}"/>
              </a:ext>
            </a:extLst>
          </p:cNvPr>
          <p:cNvSpPr>
            <a:spLocks noGrp="1"/>
          </p:cNvSpPr>
          <p:nvPr/>
        </p:nvSpPr>
        <p:spPr>
          <a:xfrm>
            <a:off x="54387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6" name="统一风格-pipeline-wide 黑名单-478">
            <a:extLst>
              <a:ext uri="{FF2B5EF4-FFF2-40B4-BE49-F238E27FC236}">
                <a16:creationId xmlns:a16="http://schemas.microsoft.com/office/drawing/2014/main" id="{547B453A-FF67-4259-935D-F055E27B65D2}"/>
              </a:ext>
            </a:extLst>
          </p:cNvPr>
          <p:cNvSpPr>
            <a:spLocks noGrp="1"/>
          </p:cNvSpPr>
          <p:nvPr/>
        </p:nvSpPr>
        <p:spPr>
          <a:xfrm>
            <a:off x="54387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pipeline-wide 黑名单玻璃内沿-479">
            <a:extLst>
              <a:ext uri="{FF2B5EF4-FFF2-40B4-BE49-F238E27FC236}">
                <a16:creationId xmlns:a16="http://schemas.microsoft.com/office/drawing/2014/main" id="{5367EB5A-8C1A-4A26-8CE9-038B9F5B9F1C}"/>
              </a:ext>
            </a:extLst>
          </p:cNvPr>
          <p:cNvSpPr>
            <a:spLocks noGrp="1"/>
          </p:cNvSpPr>
          <p:nvPr/>
        </p:nvSpPr>
        <p:spPr>
          <a:xfrm>
            <a:off x="545163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pipeline-wide 黑名单透光反射面-480">
            <a:extLst>
              <a:ext uri="{FF2B5EF4-FFF2-40B4-BE49-F238E27FC236}">
                <a16:creationId xmlns:a16="http://schemas.microsoft.com/office/drawing/2014/main" id="{A68B3B93-6C4B-4908-8139-E2711E13E918}"/>
              </a:ext>
            </a:extLst>
          </p:cNvPr>
          <p:cNvSpPr>
            <a:spLocks noGrp="1"/>
          </p:cNvSpPr>
          <p:nvPr/>
        </p:nvSpPr>
        <p:spPr>
          <a:xfrm>
            <a:off x="545782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pipeline-wide 黑名单边缘高光-481">
            <a:extLst>
              <a:ext uri="{FF2B5EF4-FFF2-40B4-BE49-F238E27FC236}">
                <a16:creationId xmlns:a16="http://schemas.microsoft.com/office/drawing/2014/main" id="{DD522B26-A037-4C2D-BFB5-A20DC0A831FB}"/>
              </a:ext>
            </a:extLst>
          </p:cNvPr>
          <p:cNvSpPr>
            <a:spLocks noGrp="1"/>
          </p:cNvSpPr>
          <p:nvPr/>
        </p:nvSpPr>
        <p:spPr>
          <a:xfrm>
            <a:off x="543877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doc 规则文档-482">
            <a:extLst>
              <a:ext uri="{FF2B5EF4-FFF2-40B4-BE49-F238E27FC236}">
                <a16:creationId xmlns:a16="http://schemas.microsoft.com/office/drawing/2014/main" id="{58E88E47-2059-48E5-A0FF-A66C4DCC0AD6}"/>
              </a:ext>
            </a:extLst>
          </p:cNvPr>
          <p:cNvSpPr>
            <a:spLocks noGrp="1"/>
          </p:cNvSpPr>
          <p:nvPr/>
        </p:nvSpPr>
        <p:spPr>
          <a:xfrm>
            <a:off x="58674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doc 文档折角-483">
            <a:extLst>
              <a:ext uri="{FF2B5EF4-FFF2-40B4-BE49-F238E27FC236}">
                <a16:creationId xmlns:a16="http://schemas.microsoft.com/office/drawing/2014/main" id="{DEBA4321-C338-49C3-8F8F-CD052F91028C}"/>
              </a:ext>
            </a:extLst>
          </p:cNvPr>
          <p:cNvSpPr>
            <a:spLocks noGrp="1"/>
          </p:cNvSpPr>
          <p:nvPr/>
        </p:nvSpPr>
        <p:spPr>
          <a:xfrm>
            <a:off x="58674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doc 规则条目-484">
            <a:extLst>
              <a:ext uri="{FF2B5EF4-FFF2-40B4-BE49-F238E27FC236}">
                <a16:creationId xmlns:a16="http://schemas.microsoft.com/office/drawing/2014/main" id="{8AE42619-71F1-4376-AD34-D8C9A3289987}"/>
              </a:ext>
            </a:extLst>
          </p:cNvPr>
          <p:cNvSpPr>
            <a:spLocks noGrp="1"/>
          </p:cNvSpPr>
          <p:nvPr/>
        </p:nvSpPr>
        <p:spPr>
          <a:xfrm>
            <a:off x="58674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黑名单-485">
            <a:extLst>
              <a:ext uri="{FF2B5EF4-FFF2-40B4-BE49-F238E27FC236}">
                <a16:creationId xmlns:a16="http://schemas.microsoft.com/office/drawing/2014/main" id="{3859987A-9638-4DDA-A5CB-4905741C7842}"/>
              </a:ext>
            </a:extLst>
          </p:cNvPr>
          <p:cNvSpPr>
            <a:spLocks noGrp="1"/>
          </p:cNvSpPr>
          <p:nvPr/>
        </p:nvSpPr>
        <p:spPr>
          <a:xfrm>
            <a:off x="550545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黑名单</a:t>
            </a:r>
          </a:p>
        </p:txBody>
      </p:sp>
      <p:sp>
        <p:nvSpPr>
          <p:cNvPr id="44" name="统一风格-pipeline-wide ACL玻璃后沿-486">
            <a:extLst>
              <a:ext uri="{FF2B5EF4-FFF2-40B4-BE49-F238E27FC236}">
                <a16:creationId xmlns:a16="http://schemas.microsoft.com/office/drawing/2014/main" id="{8513ABA9-D271-4522-9E34-D88ADC9FFDB0}"/>
              </a:ext>
            </a:extLst>
          </p:cNvPr>
          <p:cNvSpPr>
            <a:spLocks noGrp="1"/>
          </p:cNvSpPr>
          <p:nvPr/>
        </p:nvSpPr>
        <p:spPr>
          <a:xfrm>
            <a:off x="70199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统一风格-pipeline-wide ACL-487">
            <a:extLst>
              <a:ext uri="{FF2B5EF4-FFF2-40B4-BE49-F238E27FC236}">
                <a16:creationId xmlns:a16="http://schemas.microsoft.com/office/drawing/2014/main" id="{E09D7AE5-07B8-4407-B8AC-AB3AF2E9B686}"/>
              </a:ext>
            </a:extLst>
          </p:cNvPr>
          <p:cNvSpPr>
            <a:spLocks noGrp="1"/>
          </p:cNvSpPr>
          <p:nvPr/>
        </p:nvSpPr>
        <p:spPr>
          <a:xfrm>
            <a:off x="70199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pipeline-wide ACL玻璃内沿-488">
            <a:extLst>
              <a:ext uri="{FF2B5EF4-FFF2-40B4-BE49-F238E27FC236}">
                <a16:creationId xmlns:a16="http://schemas.microsoft.com/office/drawing/2014/main" id="{500CA00E-1372-45C9-A534-5BD6CA04DE77}"/>
              </a:ext>
            </a:extLst>
          </p:cNvPr>
          <p:cNvSpPr>
            <a:spLocks noGrp="1"/>
          </p:cNvSpPr>
          <p:nvPr/>
        </p:nvSpPr>
        <p:spPr>
          <a:xfrm>
            <a:off x="70327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pipeline-wide ACL透光反射面-489">
            <a:extLst>
              <a:ext uri="{FF2B5EF4-FFF2-40B4-BE49-F238E27FC236}">
                <a16:creationId xmlns:a16="http://schemas.microsoft.com/office/drawing/2014/main" id="{918026A0-CCB9-4D39-AA76-7105B27B6EED}"/>
              </a:ext>
            </a:extLst>
          </p:cNvPr>
          <p:cNvSpPr>
            <a:spLocks noGrp="1"/>
          </p:cNvSpPr>
          <p:nvPr/>
        </p:nvSpPr>
        <p:spPr>
          <a:xfrm>
            <a:off x="70389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pipeline-wide ACL边缘高光-490">
            <a:extLst>
              <a:ext uri="{FF2B5EF4-FFF2-40B4-BE49-F238E27FC236}">
                <a16:creationId xmlns:a16="http://schemas.microsoft.com/office/drawing/2014/main" id="{0DCEA10E-FAFB-4BD1-B3F4-2AF21B08B8CD}"/>
              </a:ext>
            </a:extLst>
          </p:cNvPr>
          <p:cNvSpPr>
            <a:spLocks noGrp="1"/>
          </p:cNvSpPr>
          <p:nvPr/>
        </p:nvSpPr>
        <p:spPr>
          <a:xfrm>
            <a:off x="70199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acl 规则文档-491">
            <a:extLst>
              <a:ext uri="{FF2B5EF4-FFF2-40B4-BE49-F238E27FC236}">
                <a16:creationId xmlns:a16="http://schemas.microsoft.com/office/drawing/2014/main" id="{4AC40FD1-468D-4817-A87A-E3A39C888BBC}"/>
              </a:ext>
            </a:extLst>
          </p:cNvPr>
          <p:cNvSpPr>
            <a:spLocks noGrp="1"/>
          </p:cNvSpPr>
          <p:nvPr/>
        </p:nvSpPr>
        <p:spPr>
          <a:xfrm>
            <a:off x="74485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acl 文档折角-492">
            <a:extLst>
              <a:ext uri="{FF2B5EF4-FFF2-40B4-BE49-F238E27FC236}">
                <a16:creationId xmlns:a16="http://schemas.microsoft.com/office/drawing/2014/main" id="{DD9C8BEA-8362-41DA-B634-4687AC7DE03E}"/>
              </a:ext>
            </a:extLst>
          </p:cNvPr>
          <p:cNvSpPr>
            <a:spLocks noGrp="1"/>
          </p:cNvSpPr>
          <p:nvPr/>
        </p:nvSpPr>
        <p:spPr>
          <a:xfrm>
            <a:off x="74485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acl 规则条目-493">
            <a:extLst>
              <a:ext uri="{FF2B5EF4-FFF2-40B4-BE49-F238E27FC236}">
                <a16:creationId xmlns:a16="http://schemas.microsoft.com/office/drawing/2014/main" id="{AE4BB3F7-1B65-41C1-ABC1-A19C1D686D49}"/>
              </a:ext>
            </a:extLst>
          </p:cNvPr>
          <p:cNvSpPr>
            <a:spLocks noGrp="1"/>
          </p:cNvSpPr>
          <p:nvPr/>
        </p:nvSpPr>
        <p:spPr>
          <a:xfrm>
            <a:off x="74485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ACL-494">
            <a:extLst>
              <a:ext uri="{FF2B5EF4-FFF2-40B4-BE49-F238E27FC236}">
                <a16:creationId xmlns:a16="http://schemas.microsoft.com/office/drawing/2014/main" id="{9D93A25F-1666-47F6-B443-A11B60A6304E}"/>
              </a:ext>
            </a:extLst>
          </p:cNvPr>
          <p:cNvSpPr>
            <a:spLocks noGrp="1"/>
          </p:cNvSpPr>
          <p:nvPr/>
        </p:nvSpPr>
        <p:spPr>
          <a:xfrm>
            <a:off x="70866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</a:t>
            </a:r>
          </a:p>
        </p:txBody>
      </p:sp>
      <p:sp>
        <p:nvSpPr>
          <p:cNvPr id="53" name="统一风格-pipeline-wide IPS 检测玻璃后沿-495">
            <a:extLst>
              <a:ext uri="{FF2B5EF4-FFF2-40B4-BE49-F238E27FC236}">
                <a16:creationId xmlns:a16="http://schemas.microsoft.com/office/drawing/2014/main" id="{8BB71DC1-E6C2-4146-ADDC-279C192DB9ED}"/>
              </a:ext>
            </a:extLst>
          </p:cNvPr>
          <p:cNvSpPr>
            <a:spLocks noGrp="1"/>
          </p:cNvSpPr>
          <p:nvPr/>
        </p:nvSpPr>
        <p:spPr>
          <a:xfrm>
            <a:off x="86010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4" name="统一风格-pipeline-wide IPS 检测-496">
            <a:extLst>
              <a:ext uri="{FF2B5EF4-FFF2-40B4-BE49-F238E27FC236}">
                <a16:creationId xmlns:a16="http://schemas.microsoft.com/office/drawing/2014/main" id="{A9900358-75DE-46D7-9368-0A44A282291E}"/>
              </a:ext>
            </a:extLst>
          </p:cNvPr>
          <p:cNvSpPr>
            <a:spLocks noGrp="1"/>
          </p:cNvSpPr>
          <p:nvPr/>
        </p:nvSpPr>
        <p:spPr>
          <a:xfrm>
            <a:off x="860107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pipeline-wide IPS 检测玻璃内沿-497">
            <a:extLst>
              <a:ext uri="{FF2B5EF4-FFF2-40B4-BE49-F238E27FC236}">
                <a16:creationId xmlns:a16="http://schemas.microsoft.com/office/drawing/2014/main" id="{B62A6F12-BE8B-4FBE-8DA1-B730815820CB}"/>
              </a:ext>
            </a:extLst>
          </p:cNvPr>
          <p:cNvSpPr>
            <a:spLocks noGrp="1"/>
          </p:cNvSpPr>
          <p:nvPr/>
        </p:nvSpPr>
        <p:spPr>
          <a:xfrm>
            <a:off x="861393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pipeline-wide IPS 检测透光反射面-498">
            <a:extLst>
              <a:ext uri="{FF2B5EF4-FFF2-40B4-BE49-F238E27FC236}">
                <a16:creationId xmlns:a16="http://schemas.microsoft.com/office/drawing/2014/main" id="{56FF21EC-F320-490A-8BD4-13842261E3AD}"/>
              </a:ext>
            </a:extLst>
          </p:cNvPr>
          <p:cNvSpPr>
            <a:spLocks noGrp="1"/>
          </p:cNvSpPr>
          <p:nvPr/>
        </p:nvSpPr>
        <p:spPr>
          <a:xfrm>
            <a:off x="862012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pipeline-wide IPS 检测边缘高光-499">
            <a:extLst>
              <a:ext uri="{FF2B5EF4-FFF2-40B4-BE49-F238E27FC236}">
                <a16:creationId xmlns:a16="http://schemas.microsoft.com/office/drawing/2014/main" id="{4D901EF3-BB5F-406C-A585-6E3B742AFA48}"/>
              </a:ext>
            </a:extLst>
          </p:cNvPr>
          <p:cNvSpPr>
            <a:spLocks noGrp="1"/>
          </p:cNvSpPr>
          <p:nvPr/>
        </p:nvSpPr>
        <p:spPr>
          <a:xfrm>
            <a:off x="860107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ips 安全盾-500">
            <a:extLst>
              <a:ext uri="{FF2B5EF4-FFF2-40B4-BE49-F238E27FC236}">
                <a16:creationId xmlns:a16="http://schemas.microsoft.com/office/drawing/2014/main" id="{ABBDBD62-2386-4D8B-892B-BB887B6693A9}"/>
              </a:ext>
            </a:extLst>
          </p:cNvPr>
          <p:cNvSpPr>
            <a:spLocks noGrp="1"/>
          </p:cNvSpPr>
          <p:nvPr/>
        </p:nvSpPr>
        <p:spPr>
          <a:xfrm>
            <a:off x="90297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ips 检测透镜-501">
            <a:extLst>
              <a:ext uri="{FF2B5EF4-FFF2-40B4-BE49-F238E27FC236}">
                <a16:creationId xmlns:a16="http://schemas.microsoft.com/office/drawing/2014/main" id="{AD80258B-8BF4-4DE5-BAD1-665E0A590933}"/>
              </a:ext>
            </a:extLst>
          </p:cNvPr>
          <p:cNvSpPr>
            <a:spLocks noGrp="1"/>
          </p:cNvSpPr>
          <p:nvPr/>
        </p:nvSpPr>
        <p:spPr>
          <a:xfrm>
            <a:off x="90297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ips 检测手柄-502">
            <a:extLst>
              <a:ext uri="{FF2B5EF4-FFF2-40B4-BE49-F238E27FC236}">
                <a16:creationId xmlns:a16="http://schemas.microsoft.com/office/drawing/2014/main" id="{4694B00E-2CA2-4140-B949-B406CC587738}"/>
              </a:ext>
            </a:extLst>
          </p:cNvPr>
          <p:cNvSpPr>
            <a:spLocks noGrp="1"/>
          </p:cNvSpPr>
          <p:nvPr/>
        </p:nvSpPr>
        <p:spPr>
          <a:xfrm>
            <a:off x="902970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文字 IPS 检测-503">
            <a:extLst>
              <a:ext uri="{FF2B5EF4-FFF2-40B4-BE49-F238E27FC236}">
                <a16:creationId xmlns:a16="http://schemas.microsoft.com/office/drawing/2014/main" id="{8B92534B-829C-4748-9DFB-905C09DFCD9C}"/>
              </a:ext>
            </a:extLst>
          </p:cNvPr>
          <p:cNvSpPr>
            <a:spLocks noGrp="1"/>
          </p:cNvSpPr>
          <p:nvPr/>
        </p:nvSpPr>
        <p:spPr>
          <a:xfrm>
            <a:off x="866775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</a:t>
            </a:r>
          </a:p>
        </p:txBody>
      </p:sp>
      <p:sp>
        <p:nvSpPr>
          <p:cNvPr id="62" name="统一风格-pipeline-wide 目标服务玻璃后沿-504">
            <a:extLst>
              <a:ext uri="{FF2B5EF4-FFF2-40B4-BE49-F238E27FC236}">
                <a16:creationId xmlns:a16="http://schemas.microsoft.com/office/drawing/2014/main" id="{53DCF6FA-A222-4645-BDC4-2F342A377796}"/>
              </a:ext>
            </a:extLst>
          </p:cNvPr>
          <p:cNvSpPr>
            <a:spLocks noGrp="1"/>
          </p:cNvSpPr>
          <p:nvPr/>
        </p:nvSpPr>
        <p:spPr>
          <a:xfrm>
            <a:off x="101822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3" name="统一风格-pipeline-wide 目标服务-505">
            <a:extLst>
              <a:ext uri="{FF2B5EF4-FFF2-40B4-BE49-F238E27FC236}">
                <a16:creationId xmlns:a16="http://schemas.microsoft.com/office/drawing/2014/main" id="{62F78FFA-AE1E-42CF-8C55-F9685A345985}"/>
              </a:ext>
            </a:extLst>
          </p:cNvPr>
          <p:cNvSpPr>
            <a:spLocks noGrp="1"/>
          </p:cNvSpPr>
          <p:nvPr/>
        </p:nvSpPr>
        <p:spPr>
          <a:xfrm>
            <a:off x="10182225" y="3095625"/>
            <a:ext cx="1314450" cy="1123950"/>
          </a:xfrm>
          <a:prstGeom prst="roundRect">
            <a:avLst>
              <a:gd name="adj" fmla="val 762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pipeline-wide 目标服务玻璃内沿-506">
            <a:extLst>
              <a:ext uri="{FF2B5EF4-FFF2-40B4-BE49-F238E27FC236}">
                <a16:creationId xmlns:a16="http://schemas.microsoft.com/office/drawing/2014/main" id="{85CDC529-35E1-41A3-B44D-9642A756F45B}"/>
              </a:ext>
            </a:extLst>
          </p:cNvPr>
          <p:cNvSpPr>
            <a:spLocks noGrp="1"/>
          </p:cNvSpPr>
          <p:nvPr/>
        </p:nvSpPr>
        <p:spPr>
          <a:xfrm>
            <a:off x="10195084" y="3108484"/>
            <a:ext cx="1288733" cy="1098233"/>
          </a:xfrm>
          <a:prstGeom prst="roundRect">
            <a:avLst>
              <a:gd name="adj" fmla="val 667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pipeline-wide 目标服务透光反射面-507">
            <a:extLst>
              <a:ext uri="{FF2B5EF4-FFF2-40B4-BE49-F238E27FC236}">
                <a16:creationId xmlns:a16="http://schemas.microsoft.com/office/drawing/2014/main" id="{22B1FDA5-93D1-4D33-96F5-FAFC63E41025}"/>
              </a:ext>
            </a:extLst>
          </p:cNvPr>
          <p:cNvSpPr>
            <a:spLocks noGrp="1"/>
          </p:cNvSpPr>
          <p:nvPr/>
        </p:nvSpPr>
        <p:spPr>
          <a:xfrm>
            <a:off x="10201275" y="3114675"/>
            <a:ext cx="1276350" cy="1085850"/>
          </a:xfrm>
          <a:custGeom>
            <a:avLst/>
            <a:gdLst/>
            <a:ahLst/>
            <a:cxnLst/>
            <a:rect l="0" t="0" r="0" b="0"/>
            <a:pathLst>
              <a:path w="1276350" h="1085850">
                <a:moveTo>
                  <a:pt x="76200" y="0"/>
                </a:moveTo>
                <a:lnTo>
                  <a:pt x="816864" y="0"/>
                </a:lnTo>
                <a:lnTo>
                  <a:pt x="331851" y="1085850"/>
                </a:lnTo>
                <a:lnTo>
                  <a:pt x="76200" y="1085850"/>
                </a:lnTo>
                <a:cubicBezTo>
                  <a:pt x="28575" y="1085850"/>
                  <a:pt x="0" y="1057275"/>
                  <a:pt x="0" y="1009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pipeline-wide 目标服务边缘高光-508">
            <a:extLst>
              <a:ext uri="{FF2B5EF4-FFF2-40B4-BE49-F238E27FC236}">
                <a16:creationId xmlns:a16="http://schemas.microsoft.com/office/drawing/2014/main" id="{DA18B4D1-7348-454A-ADFF-E88B2A80EBFB}"/>
              </a:ext>
            </a:extLst>
          </p:cNvPr>
          <p:cNvSpPr>
            <a:spLocks noGrp="1"/>
          </p:cNvSpPr>
          <p:nvPr/>
        </p:nvSpPr>
        <p:spPr>
          <a:xfrm>
            <a:off x="10182225" y="3095625"/>
            <a:ext cx="1314450" cy="1123950"/>
          </a:xfrm>
          <a:custGeom>
            <a:avLst/>
            <a:gdLst/>
            <a:ahLst/>
            <a:cxnLst/>
            <a:rect l="0" t="0" r="0" b="0"/>
            <a:pathLst>
              <a:path w="1314450" h="1123950">
                <a:moveTo>
                  <a:pt x="95250" y="9525"/>
                </a:moveTo>
                <a:lnTo>
                  <a:pt x="1219200" y="9525"/>
                </a:lnTo>
                <a:cubicBezTo>
                  <a:pt x="1266825" y="9525"/>
                  <a:pt x="1304925" y="47625"/>
                  <a:pt x="13049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server 服务器机架-509">
            <a:extLst>
              <a:ext uri="{FF2B5EF4-FFF2-40B4-BE49-F238E27FC236}">
                <a16:creationId xmlns:a16="http://schemas.microsoft.com/office/drawing/2014/main" id="{5D00898F-1BB0-4FF9-AE4A-26239F98DE0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server 机架状态-510">
            <a:extLst>
              <a:ext uri="{FF2B5EF4-FFF2-40B4-BE49-F238E27FC236}">
                <a16:creationId xmlns:a16="http://schemas.microsoft.com/office/drawing/2014/main" id="{65DD5F35-9DC9-42D7-8DE8-8033D6B5DC5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server 指示灯-511">
            <a:extLst>
              <a:ext uri="{FF2B5EF4-FFF2-40B4-BE49-F238E27FC236}">
                <a16:creationId xmlns:a16="http://schemas.microsoft.com/office/drawing/2014/main" id="{06CB1367-08E8-42D6-8584-66576720CAB2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server 服务器机架-512">
            <a:extLst>
              <a:ext uri="{FF2B5EF4-FFF2-40B4-BE49-F238E27FC236}">
                <a16:creationId xmlns:a16="http://schemas.microsoft.com/office/drawing/2014/main" id="{5534C399-3482-4B05-817F-531983FD4C73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server 机架状态-513">
            <a:extLst>
              <a:ext uri="{FF2B5EF4-FFF2-40B4-BE49-F238E27FC236}">
                <a16:creationId xmlns:a16="http://schemas.microsoft.com/office/drawing/2014/main" id="{6027E9C3-CBB3-4BAC-B917-47297FC2B00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server 指示灯-514">
            <a:extLst>
              <a:ext uri="{FF2B5EF4-FFF2-40B4-BE49-F238E27FC236}">
                <a16:creationId xmlns:a16="http://schemas.microsoft.com/office/drawing/2014/main" id="{BF552713-75E0-4F9E-A2C7-84A4FE8EBAFF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server 服务器机架-515">
            <a:extLst>
              <a:ext uri="{FF2B5EF4-FFF2-40B4-BE49-F238E27FC236}">
                <a16:creationId xmlns:a16="http://schemas.microsoft.com/office/drawing/2014/main" id="{7BB22B3A-93A1-4598-83C9-9C9411BA8578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server 机架状态-516">
            <a:extLst>
              <a:ext uri="{FF2B5EF4-FFF2-40B4-BE49-F238E27FC236}">
                <a16:creationId xmlns:a16="http://schemas.microsoft.com/office/drawing/2014/main" id="{E788F48A-8F36-49A7-AB26-2BC9DBEBDEE9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5" name="统一风格-server 指示灯-517">
            <a:extLst>
              <a:ext uri="{FF2B5EF4-FFF2-40B4-BE49-F238E27FC236}">
                <a16:creationId xmlns:a16="http://schemas.microsoft.com/office/drawing/2014/main" id="{FB3CE5F2-8414-4225-BAFB-06DDCEE8FB96}"/>
              </a:ext>
            </a:extLst>
          </p:cNvPr>
          <p:cNvSpPr>
            <a:spLocks noGrp="1"/>
          </p:cNvSpPr>
          <p:nvPr/>
        </p:nvSpPr>
        <p:spPr>
          <a:xfrm>
            <a:off x="10610850" y="320992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文字 目标服务-518">
            <a:extLst>
              <a:ext uri="{FF2B5EF4-FFF2-40B4-BE49-F238E27FC236}">
                <a16:creationId xmlns:a16="http://schemas.microsoft.com/office/drawing/2014/main" id="{BB325778-24AF-4561-83FC-FB81136C3D7A}"/>
              </a:ext>
            </a:extLst>
          </p:cNvPr>
          <p:cNvSpPr>
            <a:spLocks noGrp="1"/>
          </p:cNvSpPr>
          <p:nvPr/>
        </p:nvSpPr>
        <p:spPr>
          <a:xfrm>
            <a:off x="10248900" y="3752850"/>
            <a:ext cx="1181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cxnSp>
        <p:nvCxnSpPr>
          <p:cNvPr id="77" name="统一拓扑-pipeline-wide-连线-1">
            <a:extLst>
              <a:ext uri="{FF2B5EF4-FFF2-40B4-BE49-F238E27FC236}">
                <a16:creationId xmlns:a16="http://schemas.microsoft.com/office/drawing/2014/main" id="{03E6AC13-ECC5-4BC6-8999-77A45B128BE6}"/>
              </a:ext>
            </a:extLst>
          </p:cNvPr>
          <p:cNvCxnSpPr/>
          <p:nvPr/>
        </p:nvCxnSpPr>
        <p:spPr>
          <a:xfrm>
            <a:off x="200977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78" name="统一拓扑-pipeline-wide-连线-2">
            <a:extLst>
              <a:ext uri="{FF2B5EF4-FFF2-40B4-BE49-F238E27FC236}">
                <a16:creationId xmlns:a16="http://schemas.microsoft.com/office/drawing/2014/main" id="{C65CD96C-E587-4FF6-987E-043B22CB2BA7}"/>
              </a:ext>
            </a:extLst>
          </p:cNvPr>
          <p:cNvCxnSpPr/>
          <p:nvPr/>
        </p:nvCxnSpPr>
        <p:spPr>
          <a:xfrm>
            <a:off x="359092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79" name="统一拓扑-pipeline-wide-连线-3">
            <a:extLst>
              <a:ext uri="{FF2B5EF4-FFF2-40B4-BE49-F238E27FC236}">
                <a16:creationId xmlns:a16="http://schemas.microsoft.com/office/drawing/2014/main" id="{FC47B180-4C1C-41DA-BB03-EAC052C6E2F3}"/>
              </a:ext>
            </a:extLst>
          </p:cNvPr>
          <p:cNvCxnSpPr/>
          <p:nvPr/>
        </p:nvCxnSpPr>
        <p:spPr>
          <a:xfrm>
            <a:off x="517207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0" name="统一拓扑-pipeline-wide-连线-4">
            <a:extLst>
              <a:ext uri="{FF2B5EF4-FFF2-40B4-BE49-F238E27FC236}">
                <a16:creationId xmlns:a16="http://schemas.microsoft.com/office/drawing/2014/main" id="{1713D0A4-A0B7-4D0D-A0C5-BE8D75CE133E}"/>
              </a:ext>
            </a:extLst>
          </p:cNvPr>
          <p:cNvCxnSpPr/>
          <p:nvPr/>
        </p:nvCxnSpPr>
        <p:spPr>
          <a:xfrm>
            <a:off x="675322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1" name="统一拓扑-pipeline-wide-连线-5">
            <a:extLst>
              <a:ext uri="{FF2B5EF4-FFF2-40B4-BE49-F238E27FC236}">
                <a16:creationId xmlns:a16="http://schemas.microsoft.com/office/drawing/2014/main" id="{4773E238-1474-4A7C-AA97-2835A95DD426}"/>
              </a:ext>
            </a:extLst>
          </p:cNvPr>
          <p:cNvCxnSpPr/>
          <p:nvPr/>
        </p:nvCxnSpPr>
        <p:spPr>
          <a:xfrm>
            <a:off x="833437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2" name="统一拓扑-pipeline-wide-连线-6">
            <a:extLst>
              <a:ext uri="{FF2B5EF4-FFF2-40B4-BE49-F238E27FC236}">
                <a16:creationId xmlns:a16="http://schemas.microsoft.com/office/drawing/2014/main" id="{731ED09B-5C23-4B88-BA4A-31230559A98A}"/>
              </a:ext>
            </a:extLst>
          </p:cNvPr>
          <p:cNvCxnSpPr/>
          <p:nvPr/>
        </p:nvCxnSpPr>
        <p:spPr>
          <a:xfrm>
            <a:off x="9915525" y="3657600"/>
            <a:ext cx="2667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3" name="统一拓扑-pipeline-wide-连线-7">
            <a:extLst>
              <a:ext uri="{FF2B5EF4-FFF2-40B4-BE49-F238E27FC236}">
                <a16:creationId xmlns:a16="http://schemas.microsoft.com/office/drawing/2014/main" id="{BBD98C37-1960-4C67-B46B-D0B9861961F4}"/>
              </a:ext>
            </a:extLst>
          </p:cNvPr>
          <p:cNvCxnSpPr/>
          <p:nvPr/>
        </p:nvCxnSpPr>
        <p:spPr>
          <a:xfrm flipV="1">
            <a:off x="4514850" y="2552700"/>
            <a:ext cx="0" cy="542925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</a:ln>
        </p:spPr>
      </p:cxnSp>
      <p:cxnSp>
        <p:nvCxnSpPr>
          <p:cNvPr id="84" name="统一拓扑-pipeline-wide-连线-8">
            <a:extLst>
              <a:ext uri="{FF2B5EF4-FFF2-40B4-BE49-F238E27FC236}">
                <a16:creationId xmlns:a16="http://schemas.microsoft.com/office/drawing/2014/main" id="{827F0F7F-2AF7-4705-A660-4331E91E283C}"/>
              </a:ext>
            </a:extLst>
          </p:cNvPr>
          <p:cNvCxnSpPr/>
          <p:nvPr/>
        </p:nvCxnSpPr>
        <p:spPr>
          <a:xfrm>
            <a:off x="4514850" y="2552700"/>
            <a:ext cx="6324600" cy="0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</a:ln>
        </p:spPr>
      </p:cxnSp>
      <p:cxnSp>
        <p:nvCxnSpPr>
          <p:cNvPr id="85" name="统一拓扑-pipeline-wide-连线-9">
            <a:extLst>
              <a:ext uri="{FF2B5EF4-FFF2-40B4-BE49-F238E27FC236}">
                <a16:creationId xmlns:a16="http://schemas.microsoft.com/office/drawing/2014/main" id="{C0443397-88FD-4BF3-BD37-C3975D5768C7}"/>
              </a:ext>
            </a:extLst>
          </p:cNvPr>
          <p:cNvCxnSpPr/>
          <p:nvPr/>
        </p:nvCxnSpPr>
        <p:spPr>
          <a:xfrm>
            <a:off x="10839450" y="2552700"/>
            <a:ext cx="0" cy="542925"/>
          </a:xfrm>
          <a:prstGeom prst="straightConnector1">
            <a:avLst/>
          </a:prstGeom>
          <a:ln w="15716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86" name="统一风格-pipeline-wide 关系文字衬底-519">
            <a:extLst>
              <a:ext uri="{FF2B5EF4-FFF2-40B4-BE49-F238E27FC236}">
                <a16:creationId xmlns:a16="http://schemas.microsoft.com/office/drawing/2014/main" id="{DE5437B4-60D2-40CE-ABF5-E3B317B0DDE7}"/>
              </a:ext>
            </a:extLst>
          </p:cNvPr>
          <p:cNvSpPr>
            <a:spLocks noGrp="1"/>
          </p:cNvSpPr>
          <p:nvPr/>
        </p:nvSpPr>
        <p:spPr>
          <a:xfrm>
            <a:off x="5848350" y="2105025"/>
            <a:ext cx="3695700" cy="26670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统一风格-文字 白名单命中：直接放行-520">
            <a:extLst>
              <a:ext uri="{FF2B5EF4-FFF2-40B4-BE49-F238E27FC236}">
                <a16:creationId xmlns:a16="http://schemas.microsoft.com/office/drawing/2014/main" id="{E6468831-6B34-49C4-944A-674495046A7E}"/>
              </a:ext>
            </a:extLst>
          </p:cNvPr>
          <p:cNvSpPr>
            <a:spLocks noGrp="1"/>
          </p:cNvSpPr>
          <p:nvPr/>
        </p:nvSpPr>
        <p:spPr>
          <a:xfrm>
            <a:off x="5886450" y="2105025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白名单命中：直接放行</a:t>
            </a:r>
          </a:p>
        </p:txBody>
      </p:sp>
      <p:sp>
        <p:nvSpPr>
          <p:cNvPr id="88" name="统一风格-文字 后续检测-521">
            <a:extLst>
              <a:ext uri="{FF2B5EF4-FFF2-40B4-BE49-F238E27FC236}">
                <a16:creationId xmlns:a16="http://schemas.microsoft.com/office/drawing/2014/main" id="{551AAC56-FF0B-474B-987B-878961BCC778}"/>
              </a:ext>
            </a:extLst>
          </p:cNvPr>
          <p:cNvSpPr>
            <a:spLocks noGrp="1"/>
          </p:cNvSpPr>
          <p:nvPr/>
        </p:nvSpPr>
        <p:spPr>
          <a:xfrm>
            <a:off x="8039100" y="4381500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后续检测</a:t>
            </a:r>
          </a:p>
        </p:txBody>
      </p:sp>
      <p:sp>
        <p:nvSpPr>
          <p:cNvPr id="89" name="txt-88">
            <a:extLst>
              <a:ext uri="{FF2B5EF4-FFF2-40B4-BE49-F238E27FC236}">
                <a16:creationId xmlns:a16="http://schemas.microsoft.com/office/drawing/2014/main" id="{88ED6D28-AA26-4B1A-A2A9-1B2240280142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功能顺序</a:t>
            </a:r>
          </a:p>
        </p:txBody>
      </p:sp>
      <p:sp>
        <p:nvSpPr>
          <p:cNvPr id="90" name="txt-89">
            <a:extLst>
              <a:ext uri="{FF2B5EF4-FFF2-40B4-BE49-F238E27FC236}">
                <a16:creationId xmlns:a16="http://schemas.microsoft.com/office/drawing/2014/main" id="{5B388A09-A4DB-44D7-9654-11EFDA039C4F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依次检查封堵、白名单、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黑名单与 ACL</a:t>
            </a:r>
          </a:p>
        </p:txBody>
      </p:sp>
      <p:sp>
        <p:nvSpPr>
          <p:cNvPr id="91" name="txt-90">
            <a:extLst>
              <a:ext uri="{FF2B5EF4-FFF2-40B4-BE49-F238E27FC236}">
                <a16:creationId xmlns:a16="http://schemas.microsoft.com/office/drawing/2014/main" id="{19D53615-8867-4501-A57B-5094844DAFF5}"/>
              </a:ext>
            </a:extLst>
          </p:cNvPr>
          <p:cNvSpPr>
            <a:spLocks noGrp="1"/>
          </p:cNvSpPr>
          <p:nvPr/>
        </p:nvSpPr>
        <p:spPr>
          <a:xfrm>
            <a:off x="4391025" y="5048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首条命中</a:t>
            </a:r>
          </a:p>
        </p:txBody>
      </p:sp>
      <p:sp>
        <p:nvSpPr>
          <p:cNvPr id="92" name="txt-91">
            <a:extLst>
              <a:ext uri="{FF2B5EF4-FFF2-40B4-BE49-F238E27FC236}">
                <a16:creationId xmlns:a16="http://schemas.microsoft.com/office/drawing/2014/main" id="{1CD15CCC-6A9A-447A-84EC-1F1CB014D984}"/>
              </a:ext>
            </a:extLst>
          </p:cNvPr>
          <p:cNvSpPr>
            <a:spLocks noGrp="1"/>
          </p:cNvSpPr>
          <p:nvPr/>
        </p:nvSpPr>
        <p:spPr>
          <a:xfrm>
            <a:off x="4391025" y="547687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具体规则靠前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首条命中后停止匹配</a:t>
            </a:r>
          </a:p>
        </p:txBody>
      </p:sp>
      <p:sp>
        <p:nvSpPr>
          <p:cNvPr id="93" name="txt-92">
            <a:extLst>
              <a:ext uri="{FF2B5EF4-FFF2-40B4-BE49-F238E27FC236}">
                <a16:creationId xmlns:a16="http://schemas.microsoft.com/office/drawing/2014/main" id="{34B1D349-B9BE-421B-9584-2300E2F4C112}"/>
              </a:ext>
            </a:extLst>
          </p:cNvPr>
          <p:cNvSpPr>
            <a:spLocks noGrp="1"/>
          </p:cNvSpPr>
          <p:nvPr/>
        </p:nvSpPr>
        <p:spPr>
          <a:xfrm>
            <a:off x="8172450" y="50482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白名单例外</a:t>
            </a:r>
          </a:p>
        </p:txBody>
      </p:sp>
      <p:sp>
        <p:nvSpPr>
          <p:cNvPr id="94" name="txt-93">
            <a:extLst>
              <a:ext uri="{FF2B5EF4-FFF2-40B4-BE49-F238E27FC236}">
                <a16:creationId xmlns:a16="http://schemas.microsoft.com/office/drawing/2014/main" id="{D4B7970E-2E47-4859-A6A1-B9F850F6E609}"/>
              </a:ext>
            </a:extLst>
          </p:cNvPr>
          <p:cNvSpPr>
            <a:spLocks noGrp="1"/>
          </p:cNvSpPr>
          <p:nvPr/>
        </p:nvSpPr>
        <p:spPr>
          <a:xfrm>
            <a:off x="8172450" y="547687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直接放行并跳过后续检测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9798043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正文-03  CFW 使用规范">
            <a:extLst>
              <a:ext uri="{FF2B5EF4-FFF2-40B4-BE49-F238E27FC236}">
                <a16:creationId xmlns:a16="http://schemas.microsoft.com/office/drawing/2014/main" id="{1E85EC0C-A1AE-4347-801C-C4627391924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11215D8-17A3-466B-B057-D890787D54D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放行与白名单例外的检测差别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C04041D5-EDB7-4A2C-A79F-2C3477914BAA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普通业务授权优先使用精确 ACL</a:t>
            </a:r>
          </a:p>
        </p:txBody>
      </p:sp>
      <p:sp>
        <p:nvSpPr>
          <p:cNvPr id="4" name="正文-逻辑架构示意，具体配置以实际区域、版本与网络路径为准">
            <a:extLst>
              <a:ext uri="{FF2B5EF4-FFF2-40B4-BE49-F238E27FC236}">
                <a16:creationId xmlns:a16="http://schemas.microsoft.com/office/drawing/2014/main" id="{73217176-B43D-4B30-9C75-BBEF729E9A1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逻辑架构示意，具体配置以实际区域、版本与网络路径为准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668C5D9C-50F8-4844-BDB8-BECA7ABF523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35">
            <a:extLst>
              <a:ext uri="{FF2B5EF4-FFF2-40B4-BE49-F238E27FC236}">
                <a16:creationId xmlns:a16="http://schemas.microsoft.com/office/drawing/2014/main" id="{B1234B79-98ED-45AC-9537-C693C774068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7" name="统一风格-flat-ips 应用数据包玻璃后沿-570">
            <a:extLst>
              <a:ext uri="{FF2B5EF4-FFF2-40B4-BE49-F238E27FC236}">
                <a16:creationId xmlns:a16="http://schemas.microsoft.com/office/drawing/2014/main" id="{4030AC2B-F2DD-4D4D-932B-20846EABB341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flat-ips 应用数据包-571">
            <a:extLst>
              <a:ext uri="{FF2B5EF4-FFF2-40B4-BE49-F238E27FC236}">
                <a16:creationId xmlns:a16="http://schemas.microsoft.com/office/drawing/2014/main" id="{02DFF508-25B5-4841-8A2D-DA6B3EDBA13A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flat-ips 应用数据包玻璃内沿-572">
            <a:extLst>
              <a:ext uri="{FF2B5EF4-FFF2-40B4-BE49-F238E27FC236}">
                <a16:creationId xmlns:a16="http://schemas.microsoft.com/office/drawing/2014/main" id="{ECB06A2A-E708-49DE-92F6-05BB32F3DE1D}"/>
              </a:ext>
            </a:extLst>
          </p:cNvPr>
          <p:cNvSpPr>
            <a:spLocks noGrp="1"/>
          </p:cNvSpPr>
          <p:nvPr/>
        </p:nvSpPr>
        <p:spPr>
          <a:xfrm>
            <a:off x="622459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flat-ips 应用数据包透光反射面-573">
            <a:extLst>
              <a:ext uri="{FF2B5EF4-FFF2-40B4-BE49-F238E27FC236}">
                <a16:creationId xmlns:a16="http://schemas.microsoft.com/office/drawing/2014/main" id="{CEB12C6D-5F69-4B27-852D-2734E76F37B9}"/>
              </a:ext>
            </a:extLst>
          </p:cNvPr>
          <p:cNvSpPr>
            <a:spLocks noGrp="1"/>
          </p:cNvSpPr>
          <p:nvPr/>
        </p:nvSpPr>
        <p:spPr>
          <a:xfrm>
            <a:off x="628650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flat-ips 应用数据包边缘高光-574">
            <a:extLst>
              <a:ext uri="{FF2B5EF4-FFF2-40B4-BE49-F238E27FC236}">
                <a16:creationId xmlns:a16="http://schemas.microsoft.com/office/drawing/2014/main" id="{4ACF8A1B-AD42-46EB-8399-5D0B1F0399E4}"/>
              </a:ext>
            </a:extLst>
          </p:cNvPr>
          <p:cNvSpPr>
            <a:spLocks noGrp="1"/>
          </p:cNvSpPr>
          <p:nvPr/>
        </p:nvSpPr>
        <p:spPr>
          <a:xfrm>
            <a:off x="609600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575">
            <a:extLst>
              <a:ext uri="{FF2B5EF4-FFF2-40B4-BE49-F238E27FC236}">
                <a16:creationId xmlns:a16="http://schemas.microsoft.com/office/drawing/2014/main" id="{15F057EA-7054-4376-A664-1CD867FA20E0}"/>
              </a:ext>
            </a:extLst>
          </p:cNvPr>
          <p:cNvSpPr>
            <a:spLocks noGrp="1"/>
          </p:cNvSpPr>
          <p:nvPr/>
        </p:nvSpPr>
        <p:spPr>
          <a:xfrm>
            <a:off x="1156199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576">
            <a:extLst>
              <a:ext uri="{FF2B5EF4-FFF2-40B4-BE49-F238E27FC236}">
                <a16:creationId xmlns:a16="http://schemas.microsoft.com/office/drawing/2014/main" id="{BA6A6528-EFC7-4E72-A18D-9B103A41D973}"/>
              </a:ext>
            </a:extLst>
          </p:cNvPr>
          <p:cNvSpPr>
            <a:spLocks noGrp="1"/>
          </p:cNvSpPr>
          <p:nvPr/>
        </p:nvSpPr>
        <p:spPr>
          <a:xfrm>
            <a:off x="1156199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577">
            <a:extLst>
              <a:ext uri="{FF2B5EF4-FFF2-40B4-BE49-F238E27FC236}">
                <a16:creationId xmlns:a16="http://schemas.microsoft.com/office/drawing/2014/main" id="{73591BCC-430A-4B86-875F-0233A61B46F3}"/>
              </a:ext>
            </a:extLst>
          </p:cNvPr>
          <p:cNvSpPr>
            <a:spLocks noGrp="1"/>
          </p:cNvSpPr>
          <p:nvPr/>
        </p:nvSpPr>
        <p:spPr>
          <a:xfrm>
            <a:off x="1156199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应用数据包-578">
            <a:extLst>
              <a:ext uri="{FF2B5EF4-FFF2-40B4-BE49-F238E27FC236}">
                <a16:creationId xmlns:a16="http://schemas.microsoft.com/office/drawing/2014/main" id="{4966C1DE-EAE4-43B1-9103-85A73CE47F2B}"/>
              </a:ext>
            </a:extLst>
          </p:cNvPr>
          <p:cNvSpPr>
            <a:spLocks noGrp="1"/>
          </p:cNvSpPr>
          <p:nvPr/>
        </p:nvSpPr>
        <p:spPr>
          <a:xfrm>
            <a:off x="675005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应用数据包</a:t>
            </a:r>
          </a:p>
        </p:txBody>
      </p:sp>
      <p:sp>
        <p:nvSpPr>
          <p:cNvPr id="16" name="统一风格-flat-ips ACL 放行玻璃后沿-579">
            <a:extLst>
              <a:ext uri="{FF2B5EF4-FFF2-40B4-BE49-F238E27FC236}">
                <a16:creationId xmlns:a16="http://schemas.microsoft.com/office/drawing/2014/main" id="{E89C6693-9B7C-4EE0-BEBD-9532F79FC2AC}"/>
              </a:ext>
            </a:extLst>
          </p:cNvPr>
          <p:cNvSpPr>
            <a:spLocks noGrp="1"/>
          </p:cNvSpPr>
          <p:nvPr/>
        </p:nvSpPr>
        <p:spPr>
          <a:xfrm>
            <a:off x="2711904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flat-ips ACL 放行-580">
            <a:extLst>
              <a:ext uri="{FF2B5EF4-FFF2-40B4-BE49-F238E27FC236}">
                <a16:creationId xmlns:a16="http://schemas.microsoft.com/office/drawing/2014/main" id="{06D82111-A645-4BD9-A497-A6B1EF28FBF1}"/>
              </a:ext>
            </a:extLst>
          </p:cNvPr>
          <p:cNvSpPr>
            <a:spLocks noGrp="1"/>
          </p:cNvSpPr>
          <p:nvPr/>
        </p:nvSpPr>
        <p:spPr>
          <a:xfrm>
            <a:off x="2711904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flat-ips ACL 放行玻璃内沿-581">
            <a:extLst>
              <a:ext uri="{FF2B5EF4-FFF2-40B4-BE49-F238E27FC236}">
                <a16:creationId xmlns:a16="http://schemas.microsoft.com/office/drawing/2014/main" id="{5C74E7C2-A0FD-4627-91CE-8DFEADCC0661}"/>
              </a:ext>
            </a:extLst>
          </p:cNvPr>
          <p:cNvSpPr>
            <a:spLocks noGrp="1"/>
          </p:cNvSpPr>
          <p:nvPr/>
        </p:nvSpPr>
        <p:spPr>
          <a:xfrm>
            <a:off x="2724762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flat-ips ACL 放行透光反射面-582">
            <a:extLst>
              <a:ext uri="{FF2B5EF4-FFF2-40B4-BE49-F238E27FC236}">
                <a16:creationId xmlns:a16="http://schemas.microsoft.com/office/drawing/2014/main" id="{C8FC091B-29A8-49B8-8F3B-AF80D77E3221}"/>
              </a:ext>
            </a:extLst>
          </p:cNvPr>
          <p:cNvSpPr>
            <a:spLocks noGrp="1"/>
          </p:cNvSpPr>
          <p:nvPr/>
        </p:nvSpPr>
        <p:spPr>
          <a:xfrm>
            <a:off x="2730954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flat-ips ACL 放行边缘高光-583">
            <a:extLst>
              <a:ext uri="{FF2B5EF4-FFF2-40B4-BE49-F238E27FC236}">
                <a16:creationId xmlns:a16="http://schemas.microsoft.com/office/drawing/2014/main" id="{573C0633-F003-46E7-A456-3EE8F89987A8}"/>
              </a:ext>
            </a:extLst>
          </p:cNvPr>
          <p:cNvSpPr>
            <a:spLocks noGrp="1"/>
          </p:cNvSpPr>
          <p:nvPr/>
        </p:nvSpPr>
        <p:spPr>
          <a:xfrm>
            <a:off x="2711904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acl 规则文档-584">
            <a:extLst>
              <a:ext uri="{FF2B5EF4-FFF2-40B4-BE49-F238E27FC236}">
                <a16:creationId xmlns:a16="http://schemas.microsoft.com/office/drawing/2014/main" id="{642CE8A4-3E96-43FD-B400-1CAA50825D7F}"/>
              </a:ext>
            </a:extLst>
          </p:cNvPr>
          <p:cNvSpPr>
            <a:spLocks noGrp="1"/>
          </p:cNvSpPr>
          <p:nvPr/>
        </p:nvSpPr>
        <p:spPr>
          <a:xfrm>
            <a:off x="3258502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acl 文档折角-585">
            <a:extLst>
              <a:ext uri="{FF2B5EF4-FFF2-40B4-BE49-F238E27FC236}">
                <a16:creationId xmlns:a16="http://schemas.microsoft.com/office/drawing/2014/main" id="{BA5D903A-7366-423A-8A73-BF2771DF1123}"/>
              </a:ext>
            </a:extLst>
          </p:cNvPr>
          <p:cNvSpPr>
            <a:spLocks noGrp="1"/>
          </p:cNvSpPr>
          <p:nvPr/>
        </p:nvSpPr>
        <p:spPr>
          <a:xfrm>
            <a:off x="3258502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acl 规则条目-586">
            <a:extLst>
              <a:ext uri="{FF2B5EF4-FFF2-40B4-BE49-F238E27FC236}">
                <a16:creationId xmlns:a16="http://schemas.microsoft.com/office/drawing/2014/main" id="{EEB0FE42-E3F8-467C-94CB-F1081D765857}"/>
              </a:ext>
            </a:extLst>
          </p:cNvPr>
          <p:cNvSpPr>
            <a:spLocks noGrp="1"/>
          </p:cNvSpPr>
          <p:nvPr/>
        </p:nvSpPr>
        <p:spPr>
          <a:xfrm>
            <a:off x="3258502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ACL 放行-587">
            <a:extLst>
              <a:ext uri="{FF2B5EF4-FFF2-40B4-BE49-F238E27FC236}">
                <a16:creationId xmlns:a16="http://schemas.microsoft.com/office/drawing/2014/main" id="{4A2D54ED-7EB4-4CF0-81C5-85708999897C}"/>
              </a:ext>
            </a:extLst>
          </p:cNvPr>
          <p:cNvSpPr>
            <a:spLocks noGrp="1"/>
          </p:cNvSpPr>
          <p:nvPr/>
        </p:nvSpPr>
        <p:spPr>
          <a:xfrm>
            <a:off x="2777309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ACL 放行</a:t>
            </a:r>
          </a:p>
        </p:txBody>
      </p:sp>
      <p:sp>
        <p:nvSpPr>
          <p:cNvPr id="25" name="统一风格-flat-ips IPS 检测玻璃后沿-588">
            <a:extLst>
              <a:ext uri="{FF2B5EF4-FFF2-40B4-BE49-F238E27FC236}">
                <a16:creationId xmlns:a16="http://schemas.microsoft.com/office/drawing/2014/main" id="{7010FFD0-1244-406B-A641-4B6E8A5DC4E7}"/>
              </a:ext>
            </a:extLst>
          </p:cNvPr>
          <p:cNvSpPr>
            <a:spLocks noGrp="1"/>
          </p:cNvSpPr>
          <p:nvPr/>
        </p:nvSpPr>
        <p:spPr>
          <a:xfrm>
            <a:off x="4814207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统一风格-flat-ips IPS 检测-589">
            <a:extLst>
              <a:ext uri="{FF2B5EF4-FFF2-40B4-BE49-F238E27FC236}">
                <a16:creationId xmlns:a16="http://schemas.microsoft.com/office/drawing/2014/main" id="{BB335FFE-E4A1-4FCC-A9E4-B5533C4829D1}"/>
              </a:ext>
            </a:extLst>
          </p:cNvPr>
          <p:cNvSpPr>
            <a:spLocks noGrp="1"/>
          </p:cNvSpPr>
          <p:nvPr/>
        </p:nvSpPr>
        <p:spPr>
          <a:xfrm>
            <a:off x="4814207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flat-ips IPS 检测玻璃内沿-590">
            <a:extLst>
              <a:ext uri="{FF2B5EF4-FFF2-40B4-BE49-F238E27FC236}">
                <a16:creationId xmlns:a16="http://schemas.microsoft.com/office/drawing/2014/main" id="{97C300D6-E3FB-4268-8ADE-8B71F47FC6C3}"/>
              </a:ext>
            </a:extLst>
          </p:cNvPr>
          <p:cNvSpPr>
            <a:spLocks noGrp="1"/>
          </p:cNvSpPr>
          <p:nvPr/>
        </p:nvSpPr>
        <p:spPr>
          <a:xfrm>
            <a:off x="4827066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flat-ips IPS 检测透光反射面-591">
            <a:extLst>
              <a:ext uri="{FF2B5EF4-FFF2-40B4-BE49-F238E27FC236}">
                <a16:creationId xmlns:a16="http://schemas.microsoft.com/office/drawing/2014/main" id="{FAC267E7-9836-4C8A-AFF8-1C488F0E7A3E}"/>
              </a:ext>
            </a:extLst>
          </p:cNvPr>
          <p:cNvSpPr>
            <a:spLocks noGrp="1"/>
          </p:cNvSpPr>
          <p:nvPr/>
        </p:nvSpPr>
        <p:spPr>
          <a:xfrm>
            <a:off x="4833257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flat-ips IPS 检测边缘高光-592">
            <a:extLst>
              <a:ext uri="{FF2B5EF4-FFF2-40B4-BE49-F238E27FC236}">
                <a16:creationId xmlns:a16="http://schemas.microsoft.com/office/drawing/2014/main" id="{25E025E3-913A-4482-A23E-DF230A3D7364}"/>
              </a:ext>
            </a:extLst>
          </p:cNvPr>
          <p:cNvSpPr>
            <a:spLocks noGrp="1"/>
          </p:cNvSpPr>
          <p:nvPr/>
        </p:nvSpPr>
        <p:spPr>
          <a:xfrm>
            <a:off x="4814207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ips 安全盾-593">
            <a:extLst>
              <a:ext uri="{FF2B5EF4-FFF2-40B4-BE49-F238E27FC236}">
                <a16:creationId xmlns:a16="http://schemas.microsoft.com/office/drawing/2014/main" id="{44E0C8EA-B6F9-46AD-8B4A-C93FC6CF8BDF}"/>
              </a:ext>
            </a:extLst>
          </p:cNvPr>
          <p:cNvSpPr>
            <a:spLocks noGrp="1"/>
          </p:cNvSpPr>
          <p:nvPr/>
        </p:nvSpPr>
        <p:spPr>
          <a:xfrm>
            <a:off x="5360806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ips 检测透镜-594">
            <a:extLst>
              <a:ext uri="{FF2B5EF4-FFF2-40B4-BE49-F238E27FC236}">
                <a16:creationId xmlns:a16="http://schemas.microsoft.com/office/drawing/2014/main" id="{89DDEB19-3DD9-4524-B611-91F5A6F46FD1}"/>
              </a:ext>
            </a:extLst>
          </p:cNvPr>
          <p:cNvSpPr>
            <a:spLocks noGrp="1"/>
          </p:cNvSpPr>
          <p:nvPr/>
        </p:nvSpPr>
        <p:spPr>
          <a:xfrm>
            <a:off x="5360806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ips 检测手柄-595">
            <a:extLst>
              <a:ext uri="{FF2B5EF4-FFF2-40B4-BE49-F238E27FC236}">
                <a16:creationId xmlns:a16="http://schemas.microsoft.com/office/drawing/2014/main" id="{F7B323BB-6EF0-4750-A7C6-50E926D9DA79}"/>
              </a:ext>
            </a:extLst>
          </p:cNvPr>
          <p:cNvSpPr>
            <a:spLocks noGrp="1"/>
          </p:cNvSpPr>
          <p:nvPr/>
        </p:nvSpPr>
        <p:spPr>
          <a:xfrm>
            <a:off x="5360806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文字 IPS 检测-596">
            <a:extLst>
              <a:ext uri="{FF2B5EF4-FFF2-40B4-BE49-F238E27FC236}">
                <a16:creationId xmlns:a16="http://schemas.microsoft.com/office/drawing/2014/main" id="{D57DEF46-251F-4876-9453-B7D46320CB19}"/>
              </a:ext>
            </a:extLst>
          </p:cNvPr>
          <p:cNvSpPr>
            <a:spLocks noGrp="1"/>
          </p:cNvSpPr>
          <p:nvPr/>
        </p:nvSpPr>
        <p:spPr>
          <a:xfrm>
            <a:off x="4879612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检测</a:t>
            </a:r>
          </a:p>
        </p:txBody>
      </p:sp>
      <p:sp>
        <p:nvSpPr>
          <p:cNvPr id="34" name="统一风格-flat-ips 业务服务玻璃后沿-597">
            <a:extLst>
              <a:ext uri="{FF2B5EF4-FFF2-40B4-BE49-F238E27FC236}">
                <a16:creationId xmlns:a16="http://schemas.microsoft.com/office/drawing/2014/main" id="{B5A41539-DAE7-43FD-BF6C-305A7A2DE680}"/>
              </a:ext>
            </a:extLst>
          </p:cNvPr>
          <p:cNvSpPr>
            <a:spLocks noGrp="1"/>
          </p:cNvSpPr>
          <p:nvPr/>
        </p:nvSpPr>
        <p:spPr>
          <a:xfrm>
            <a:off x="6916511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5" name="统一风格-flat-ips 业务服务-598">
            <a:extLst>
              <a:ext uri="{FF2B5EF4-FFF2-40B4-BE49-F238E27FC236}">
                <a16:creationId xmlns:a16="http://schemas.microsoft.com/office/drawing/2014/main" id="{5AE924AD-4751-4253-9A2D-7E1BBECEA960}"/>
              </a:ext>
            </a:extLst>
          </p:cNvPr>
          <p:cNvSpPr>
            <a:spLocks noGrp="1"/>
          </p:cNvSpPr>
          <p:nvPr/>
        </p:nvSpPr>
        <p:spPr>
          <a:xfrm>
            <a:off x="6916511" y="2094593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flat-ips 业务服务玻璃内沿-599">
            <a:extLst>
              <a:ext uri="{FF2B5EF4-FFF2-40B4-BE49-F238E27FC236}">
                <a16:creationId xmlns:a16="http://schemas.microsoft.com/office/drawing/2014/main" id="{4CA2EF1E-951F-4356-8267-7952798CF279}"/>
              </a:ext>
            </a:extLst>
          </p:cNvPr>
          <p:cNvSpPr>
            <a:spLocks noGrp="1"/>
          </p:cNvSpPr>
          <p:nvPr/>
        </p:nvSpPr>
        <p:spPr>
          <a:xfrm>
            <a:off x="6929369" y="2107452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flat-ips 业务服务透光反射面-600">
            <a:extLst>
              <a:ext uri="{FF2B5EF4-FFF2-40B4-BE49-F238E27FC236}">
                <a16:creationId xmlns:a16="http://schemas.microsoft.com/office/drawing/2014/main" id="{2BC278DA-5745-4C33-8D1A-D3823AB7B455}"/>
              </a:ext>
            </a:extLst>
          </p:cNvPr>
          <p:cNvSpPr>
            <a:spLocks noGrp="1"/>
          </p:cNvSpPr>
          <p:nvPr/>
        </p:nvSpPr>
        <p:spPr>
          <a:xfrm>
            <a:off x="6935561" y="2113643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flat-ips 业务服务边缘高光-601">
            <a:extLst>
              <a:ext uri="{FF2B5EF4-FFF2-40B4-BE49-F238E27FC236}">
                <a16:creationId xmlns:a16="http://schemas.microsoft.com/office/drawing/2014/main" id="{7AA5C664-BE6C-4A61-9DA6-977B0E7FA53D}"/>
              </a:ext>
            </a:extLst>
          </p:cNvPr>
          <p:cNvSpPr>
            <a:spLocks noGrp="1"/>
          </p:cNvSpPr>
          <p:nvPr/>
        </p:nvSpPr>
        <p:spPr>
          <a:xfrm>
            <a:off x="6916511" y="2094593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server 服务器机架-602">
            <a:extLst>
              <a:ext uri="{FF2B5EF4-FFF2-40B4-BE49-F238E27FC236}">
                <a16:creationId xmlns:a16="http://schemas.microsoft.com/office/drawing/2014/main" id="{62F8671D-01B6-4DF7-A3BA-6C258DBA49A5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server 机架状态-603">
            <a:extLst>
              <a:ext uri="{FF2B5EF4-FFF2-40B4-BE49-F238E27FC236}">
                <a16:creationId xmlns:a16="http://schemas.microsoft.com/office/drawing/2014/main" id="{7787F295-C885-44F3-AA00-16AA1C788A74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server 指示灯-604">
            <a:extLst>
              <a:ext uri="{FF2B5EF4-FFF2-40B4-BE49-F238E27FC236}">
                <a16:creationId xmlns:a16="http://schemas.microsoft.com/office/drawing/2014/main" id="{2CF1A26C-3E48-4258-8B2D-782ED526AB23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server 服务器机架-605">
            <a:extLst>
              <a:ext uri="{FF2B5EF4-FFF2-40B4-BE49-F238E27FC236}">
                <a16:creationId xmlns:a16="http://schemas.microsoft.com/office/drawing/2014/main" id="{D7A4C1AE-BD6F-426C-B1A6-65DDAFB03866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server 机架状态-606">
            <a:extLst>
              <a:ext uri="{FF2B5EF4-FFF2-40B4-BE49-F238E27FC236}">
                <a16:creationId xmlns:a16="http://schemas.microsoft.com/office/drawing/2014/main" id="{CD46DAC9-3EA9-42DB-A711-324350BAB4C2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server 指示灯-607">
            <a:extLst>
              <a:ext uri="{FF2B5EF4-FFF2-40B4-BE49-F238E27FC236}">
                <a16:creationId xmlns:a16="http://schemas.microsoft.com/office/drawing/2014/main" id="{6779B093-AA98-4E59-990A-05233D1FE798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server 服务器机架-608">
            <a:extLst>
              <a:ext uri="{FF2B5EF4-FFF2-40B4-BE49-F238E27FC236}">
                <a16:creationId xmlns:a16="http://schemas.microsoft.com/office/drawing/2014/main" id="{F04314E9-B156-4E44-9FFB-46E84131153F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erver 机架状态-609">
            <a:extLst>
              <a:ext uri="{FF2B5EF4-FFF2-40B4-BE49-F238E27FC236}">
                <a16:creationId xmlns:a16="http://schemas.microsoft.com/office/drawing/2014/main" id="{5E4F6530-5E94-4E7A-B35E-9A17E6D97CD9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erver 指示灯-610">
            <a:extLst>
              <a:ext uri="{FF2B5EF4-FFF2-40B4-BE49-F238E27FC236}">
                <a16:creationId xmlns:a16="http://schemas.microsoft.com/office/drawing/2014/main" id="{D86EBD25-8A20-430A-8BC6-C97FDBABBDB8}"/>
              </a:ext>
            </a:extLst>
          </p:cNvPr>
          <p:cNvSpPr>
            <a:spLocks noGrp="1"/>
          </p:cNvSpPr>
          <p:nvPr/>
        </p:nvSpPr>
        <p:spPr>
          <a:xfrm>
            <a:off x="7463110" y="220671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业务服务-611">
            <a:extLst>
              <a:ext uri="{FF2B5EF4-FFF2-40B4-BE49-F238E27FC236}">
                <a16:creationId xmlns:a16="http://schemas.microsoft.com/office/drawing/2014/main" id="{FF6FBBB8-3811-4D76-B2E1-2A7D0055620A}"/>
              </a:ext>
            </a:extLst>
          </p:cNvPr>
          <p:cNvSpPr>
            <a:spLocks noGrp="1"/>
          </p:cNvSpPr>
          <p:nvPr/>
        </p:nvSpPr>
        <p:spPr>
          <a:xfrm>
            <a:off x="6981916" y="273929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cxnSp>
        <p:nvCxnSpPr>
          <p:cNvPr id="49" name="统一拓扑-flat-ips-连线-1">
            <a:extLst>
              <a:ext uri="{FF2B5EF4-FFF2-40B4-BE49-F238E27FC236}">
                <a16:creationId xmlns:a16="http://schemas.microsoft.com/office/drawing/2014/main" id="{49A8A8D0-BC9C-4F23-BBD9-FB48A9C3CD53}"/>
              </a:ext>
            </a:extLst>
          </p:cNvPr>
          <p:cNvCxnSpPr/>
          <p:nvPr/>
        </p:nvCxnSpPr>
        <p:spPr>
          <a:xfrm>
            <a:off x="2151289" y="2608489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0" name="统一拓扑-flat-ips-连线-2">
            <a:extLst>
              <a:ext uri="{FF2B5EF4-FFF2-40B4-BE49-F238E27FC236}">
                <a16:creationId xmlns:a16="http://schemas.microsoft.com/office/drawing/2014/main" id="{695E6CC5-EF01-475F-8A3D-20D69E53B0A3}"/>
              </a:ext>
            </a:extLst>
          </p:cNvPr>
          <p:cNvCxnSpPr/>
          <p:nvPr/>
        </p:nvCxnSpPr>
        <p:spPr>
          <a:xfrm>
            <a:off x="4253593" y="2608489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1" name="统一拓扑-flat-ips-连线-3">
            <a:extLst>
              <a:ext uri="{FF2B5EF4-FFF2-40B4-BE49-F238E27FC236}">
                <a16:creationId xmlns:a16="http://schemas.microsoft.com/office/drawing/2014/main" id="{60CF6A03-AE04-4056-86F3-7E10F515A2B6}"/>
              </a:ext>
            </a:extLst>
          </p:cNvPr>
          <p:cNvCxnSpPr/>
          <p:nvPr/>
        </p:nvCxnSpPr>
        <p:spPr>
          <a:xfrm>
            <a:off x="6355896" y="2608489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2" name="统一拓扑-flat-ips-连线-4">
            <a:extLst>
              <a:ext uri="{FF2B5EF4-FFF2-40B4-BE49-F238E27FC236}">
                <a16:creationId xmlns:a16="http://schemas.microsoft.com/office/drawing/2014/main" id="{8A3F6D1C-FBA1-40EF-937D-9645C460F99F}"/>
              </a:ext>
            </a:extLst>
          </p:cNvPr>
          <p:cNvCxnSpPr/>
          <p:nvPr/>
        </p:nvCxnSpPr>
        <p:spPr>
          <a:xfrm>
            <a:off x="5580380" y="3122386"/>
            <a:ext cx="0" cy="457835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</a:ln>
        </p:spPr>
      </p:cxnSp>
      <p:cxnSp>
        <p:nvCxnSpPr>
          <p:cNvPr id="53" name="统一拓扑-flat-ips-连线-5">
            <a:extLst>
              <a:ext uri="{FF2B5EF4-FFF2-40B4-BE49-F238E27FC236}">
                <a16:creationId xmlns:a16="http://schemas.microsoft.com/office/drawing/2014/main" id="{58DED63F-721E-411F-A673-93F643AC60C5}"/>
              </a:ext>
            </a:extLst>
          </p:cNvPr>
          <p:cNvCxnSpPr/>
          <p:nvPr/>
        </p:nvCxnSpPr>
        <p:spPr>
          <a:xfrm>
            <a:off x="5580380" y="3580221"/>
            <a:ext cx="1055824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54" name="统一拓扑-flat-ips-连线-6">
            <a:extLst>
              <a:ext uri="{FF2B5EF4-FFF2-40B4-BE49-F238E27FC236}">
                <a16:creationId xmlns:a16="http://schemas.microsoft.com/office/drawing/2014/main" id="{3500FF73-15EA-4163-8D03-F69A6500D6DE}"/>
              </a:ext>
            </a:extLst>
          </p:cNvPr>
          <p:cNvCxnSpPr/>
          <p:nvPr/>
        </p:nvCxnSpPr>
        <p:spPr>
          <a:xfrm>
            <a:off x="6785701" y="3496129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5" name="统一拓扑-flat-ips-连线-7">
            <a:extLst>
              <a:ext uri="{FF2B5EF4-FFF2-40B4-BE49-F238E27FC236}">
                <a16:creationId xmlns:a16="http://schemas.microsoft.com/office/drawing/2014/main" id="{C67DB348-B546-4951-8888-C3F825EAE114}"/>
              </a:ext>
            </a:extLst>
          </p:cNvPr>
          <p:cNvCxnSpPr/>
          <p:nvPr/>
        </p:nvCxnSpPr>
        <p:spPr>
          <a:xfrm flipH="1">
            <a:off x="6785701" y="3496129"/>
            <a:ext cx="168184" cy="168184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6" name="统一风格-文字 允许访问仍接受威胁检测-612">
            <a:extLst>
              <a:ext uri="{FF2B5EF4-FFF2-40B4-BE49-F238E27FC236}">
                <a16:creationId xmlns:a16="http://schemas.microsoft.com/office/drawing/2014/main" id="{02ECB7FE-1B91-42CD-BE37-54A9A23DED7C}"/>
              </a:ext>
            </a:extLst>
          </p:cNvPr>
          <p:cNvSpPr>
            <a:spLocks noGrp="1"/>
          </p:cNvSpPr>
          <p:nvPr/>
        </p:nvSpPr>
        <p:spPr>
          <a:xfrm>
            <a:off x="2440940" y="3636282"/>
            <a:ext cx="4484914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允许访问仍接受威胁检测</a:t>
            </a:r>
          </a:p>
        </p:txBody>
      </p:sp>
      <p:sp>
        <p:nvSpPr>
          <p:cNvPr id="57" name="统一风格-flat-ips 应用数据包玻璃后沿-613">
            <a:extLst>
              <a:ext uri="{FF2B5EF4-FFF2-40B4-BE49-F238E27FC236}">
                <a16:creationId xmlns:a16="http://schemas.microsoft.com/office/drawing/2014/main" id="{FD1B1475-5294-4D06-831E-5102C5B400B9}"/>
              </a:ext>
            </a:extLst>
          </p:cNvPr>
          <p:cNvSpPr>
            <a:spLocks noGrp="1"/>
          </p:cNvSpPr>
          <p:nvPr/>
        </p:nvSpPr>
        <p:spPr>
          <a:xfrm>
            <a:off x="609600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统一风格-flat-ips 应用数据包-614">
            <a:extLst>
              <a:ext uri="{FF2B5EF4-FFF2-40B4-BE49-F238E27FC236}">
                <a16:creationId xmlns:a16="http://schemas.microsoft.com/office/drawing/2014/main" id="{D9675721-A12D-4777-AE68-9B77B4FEFD9E}"/>
              </a:ext>
            </a:extLst>
          </p:cNvPr>
          <p:cNvSpPr>
            <a:spLocks noGrp="1"/>
          </p:cNvSpPr>
          <p:nvPr/>
        </p:nvSpPr>
        <p:spPr>
          <a:xfrm>
            <a:off x="609600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flat-ips 应用数据包玻璃内沿-615">
            <a:extLst>
              <a:ext uri="{FF2B5EF4-FFF2-40B4-BE49-F238E27FC236}">
                <a16:creationId xmlns:a16="http://schemas.microsoft.com/office/drawing/2014/main" id="{0A2B34B0-620F-4253-9D75-9E4C486FBF7F}"/>
              </a:ext>
            </a:extLst>
          </p:cNvPr>
          <p:cNvSpPr>
            <a:spLocks noGrp="1"/>
          </p:cNvSpPr>
          <p:nvPr/>
        </p:nvSpPr>
        <p:spPr>
          <a:xfrm>
            <a:off x="622459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统一风格-flat-ips 应用数据包透光反射面-616">
            <a:extLst>
              <a:ext uri="{FF2B5EF4-FFF2-40B4-BE49-F238E27FC236}">
                <a16:creationId xmlns:a16="http://schemas.microsoft.com/office/drawing/2014/main" id="{6838BB4E-72E5-4B65-8F24-7F7238B5BCCF}"/>
              </a:ext>
            </a:extLst>
          </p:cNvPr>
          <p:cNvSpPr>
            <a:spLocks noGrp="1"/>
          </p:cNvSpPr>
          <p:nvPr/>
        </p:nvSpPr>
        <p:spPr>
          <a:xfrm>
            <a:off x="628650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flat-ips 应用数据包边缘高光-617">
            <a:extLst>
              <a:ext uri="{FF2B5EF4-FFF2-40B4-BE49-F238E27FC236}">
                <a16:creationId xmlns:a16="http://schemas.microsoft.com/office/drawing/2014/main" id="{C32EFCF2-C170-4567-A526-8B440281F30F}"/>
              </a:ext>
            </a:extLst>
          </p:cNvPr>
          <p:cNvSpPr>
            <a:spLocks noGrp="1"/>
          </p:cNvSpPr>
          <p:nvPr/>
        </p:nvSpPr>
        <p:spPr>
          <a:xfrm>
            <a:off x="609600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laptop 终端屏幕-618">
            <a:extLst>
              <a:ext uri="{FF2B5EF4-FFF2-40B4-BE49-F238E27FC236}">
                <a16:creationId xmlns:a16="http://schemas.microsoft.com/office/drawing/2014/main" id="{258E029C-4869-49CD-A7D7-881D43C13685}"/>
              </a:ext>
            </a:extLst>
          </p:cNvPr>
          <p:cNvSpPr>
            <a:spLocks noGrp="1"/>
          </p:cNvSpPr>
          <p:nvPr/>
        </p:nvSpPr>
        <p:spPr>
          <a:xfrm>
            <a:off x="1156199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laptop 终端底座-619">
            <a:extLst>
              <a:ext uri="{FF2B5EF4-FFF2-40B4-BE49-F238E27FC236}">
                <a16:creationId xmlns:a16="http://schemas.microsoft.com/office/drawing/2014/main" id="{078E9601-2A17-4325-8A09-07A14B20A7C8}"/>
              </a:ext>
            </a:extLst>
          </p:cNvPr>
          <p:cNvSpPr>
            <a:spLocks noGrp="1"/>
          </p:cNvSpPr>
          <p:nvPr/>
        </p:nvSpPr>
        <p:spPr>
          <a:xfrm>
            <a:off x="1156199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laptop 终端内容-620">
            <a:extLst>
              <a:ext uri="{FF2B5EF4-FFF2-40B4-BE49-F238E27FC236}">
                <a16:creationId xmlns:a16="http://schemas.microsoft.com/office/drawing/2014/main" id="{9DDD09CA-29B6-448E-852E-D59B6D423853}"/>
              </a:ext>
            </a:extLst>
          </p:cNvPr>
          <p:cNvSpPr>
            <a:spLocks noGrp="1"/>
          </p:cNvSpPr>
          <p:nvPr/>
        </p:nvSpPr>
        <p:spPr>
          <a:xfrm>
            <a:off x="1156199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文字 应用数据包-621">
            <a:extLst>
              <a:ext uri="{FF2B5EF4-FFF2-40B4-BE49-F238E27FC236}">
                <a16:creationId xmlns:a16="http://schemas.microsoft.com/office/drawing/2014/main" id="{FE5AC982-303F-4169-856F-16B3648C3D68}"/>
              </a:ext>
            </a:extLst>
          </p:cNvPr>
          <p:cNvSpPr>
            <a:spLocks noGrp="1"/>
          </p:cNvSpPr>
          <p:nvPr/>
        </p:nvSpPr>
        <p:spPr>
          <a:xfrm>
            <a:off x="675005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应用数据包</a:t>
            </a:r>
          </a:p>
        </p:txBody>
      </p:sp>
      <p:sp>
        <p:nvSpPr>
          <p:cNvPr id="66" name="统一风格-flat-ips 白名单命中玻璃后沿-622">
            <a:extLst>
              <a:ext uri="{FF2B5EF4-FFF2-40B4-BE49-F238E27FC236}">
                <a16:creationId xmlns:a16="http://schemas.microsoft.com/office/drawing/2014/main" id="{394DFC48-CE53-47FB-8C73-2D16E657D6DD}"/>
              </a:ext>
            </a:extLst>
          </p:cNvPr>
          <p:cNvSpPr>
            <a:spLocks noGrp="1"/>
          </p:cNvSpPr>
          <p:nvPr/>
        </p:nvSpPr>
        <p:spPr>
          <a:xfrm>
            <a:off x="2711904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7" name="统一风格-flat-ips 白名单命中-623">
            <a:extLst>
              <a:ext uri="{FF2B5EF4-FFF2-40B4-BE49-F238E27FC236}">
                <a16:creationId xmlns:a16="http://schemas.microsoft.com/office/drawing/2014/main" id="{9255CD61-2FF6-44D1-BD03-9ABB525CF3A8}"/>
              </a:ext>
            </a:extLst>
          </p:cNvPr>
          <p:cNvSpPr>
            <a:spLocks noGrp="1"/>
          </p:cNvSpPr>
          <p:nvPr/>
        </p:nvSpPr>
        <p:spPr>
          <a:xfrm>
            <a:off x="2711904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flat-ips 白名单命中玻璃内沿-624">
            <a:extLst>
              <a:ext uri="{FF2B5EF4-FFF2-40B4-BE49-F238E27FC236}">
                <a16:creationId xmlns:a16="http://schemas.microsoft.com/office/drawing/2014/main" id="{4CCF11D0-3993-4CD3-8D75-6A31EB612816}"/>
              </a:ext>
            </a:extLst>
          </p:cNvPr>
          <p:cNvSpPr>
            <a:spLocks noGrp="1"/>
          </p:cNvSpPr>
          <p:nvPr/>
        </p:nvSpPr>
        <p:spPr>
          <a:xfrm>
            <a:off x="2724762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flat-ips 白名单命中透光反射面-625">
            <a:extLst>
              <a:ext uri="{FF2B5EF4-FFF2-40B4-BE49-F238E27FC236}">
                <a16:creationId xmlns:a16="http://schemas.microsoft.com/office/drawing/2014/main" id="{270F82EF-0B1E-4C23-9F09-DC300DD3269B}"/>
              </a:ext>
            </a:extLst>
          </p:cNvPr>
          <p:cNvSpPr>
            <a:spLocks noGrp="1"/>
          </p:cNvSpPr>
          <p:nvPr/>
        </p:nvSpPr>
        <p:spPr>
          <a:xfrm>
            <a:off x="2730954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flat-ips 白名单命中边缘高光-626">
            <a:extLst>
              <a:ext uri="{FF2B5EF4-FFF2-40B4-BE49-F238E27FC236}">
                <a16:creationId xmlns:a16="http://schemas.microsoft.com/office/drawing/2014/main" id="{1199A9D7-95B2-4DE8-81FF-36C883D49629}"/>
              </a:ext>
            </a:extLst>
          </p:cNvPr>
          <p:cNvSpPr>
            <a:spLocks noGrp="1"/>
          </p:cNvSpPr>
          <p:nvPr/>
        </p:nvSpPr>
        <p:spPr>
          <a:xfrm>
            <a:off x="2711904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acl 规则文档-627">
            <a:extLst>
              <a:ext uri="{FF2B5EF4-FFF2-40B4-BE49-F238E27FC236}">
                <a16:creationId xmlns:a16="http://schemas.microsoft.com/office/drawing/2014/main" id="{23BEF5CA-6A0E-4C54-BF35-96642AF4C6B4}"/>
              </a:ext>
            </a:extLst>
          </p:cNvPr>
          <p:cNvSpPr>
            <a:spLocks noGrp="1"/>
          </p:cNvSpPr>
          <p:nvPr/>
        </p:nvSpPr>
        <p:spPr>
          <a:xfrm>
            <a:off x="3258502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acl 文档折角-628">
            <a:extLst>
              <a:ext uri="{FF2B5EF4-FFF2-40B4-BE49-F238E27FC236}">
                <a16:creationId xmlns:a16="http://schemas.microsoft.com/office/drawing/2014/main" id="{EEB85F9D-8967-4887-A961-9C3CB6F58434}"/>
              </a:ext>
            </a:extLst>
          </p:cNvPr>
          <p:cNvSpPr>
            <a:spLocks noGrp="1"/>
          </p:cNvSpPr>
          <p:nvPr/>
        </p:nvSpPr>
        <p:spPr>
          <a:xfrm>
            <a:off x="3258502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acl 规则条目-629">
            <a:extLst>
              <a:ext uri="{FF2B5EF4-FFF2-40B4-BE49-F238E27FC236}">
                <a16:creationId xmlns:a16="http://schemas.microsoft.com/office/drawing/2014/main" id="{1E23BAB3-4450-4817-AF2E-48E832A391E7}"/>
              </a:ext>
            </a:extLst>
          </p:cNvPr>
          <p:cNvSpPr>
            <a:spLocks noGrp="1"/>
          </p:cNvSpPr>
          <p:nvPr/>
        </p:nvSpPr>
        <p:spPr>
          <a:xfrm>
            <a:off x="3258502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文字 白名单命中-630">
            <a:extLst>
              <a:ext uri="{FF2B5EF4-FFF2-40B4-BE49-F238E27FC236}">
                <a16:creationId xmlns:a16="http://schemas.microsoft.com/office/drawing/2014/main" id="{84B40898-6FF3-4521-8AAE-B21477B2A8BE}"/>
              </a:ext>
            </a:extLst>
          </p:cNvPr>
          <p:cNvSpPr>
            <a:spLocks noGrp="1"/>
          </p:cNvSpPr>
          <p:nvPr/>
        </p:nvSpPr>
        <p:spPr>
          <a:xfrm>
            <a:off x="2777309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白名单命中</a:t>
            </a:r>
          </a:p>
        </p:txBody>
      </p:sp>
      <p:sp>
        <p:nvSpPr>
          <p:cNvPr id="75" name="统一风格-flat-ips 后续检测玻璃后沿-631">
            <a:extLst>
              <a:ext uri="{FF2B5EF4-FFF2-40B4-BE49-F238E27FC236}">
                <a16:creationId xmlns:a16="http://schemas.microsoft.com/office/drawing/2014/main" id="{A24865FF-198E-4121-9486-2DF791142C96}"/>
              </a:ext>
            </a:extLst>
          </p:cNvPr>
          <p:cNvSpPr>
            <a:spLocks noGrp="1"/>
          </p:cNvSpPr>
          <p:nvPr/>
        </p:nvSpPr>
        <p:spPr>
          <a:xfrm>
            <a:off x="4814207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6" name="统一风格-flat-ips 后续检测-632">
            <a:extLst>
              <a:ext uri="{FF2B5EF4-FFF2-40B4-BE49-F238E27FC236}">
                <a16:creationId xmlns:a16="http://schemas.microsoft.com/office/drawing/2014/main" id="{EA5CC200-E9B3-431C-BB61-FA73974497FD}"/>
              </a:ext>
            </a:extLst>
          </p:cNvPr>
          <p:cNvSpPr>
            <a:spLocks noGrp="1"/>
          </p:cNvSpPr>
          <p:nvPr/>
        </p:nvSpPr>
        <p:spPr>
          <a:xfrm>
            <a:off x="4814207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flat-ips 后续检测玻璃内沿-633">
            <a:extLst>
              <a:ext uri="{FF2B5EF4-FFF2-40B4-BE49-F238E27FC236}">
                <a16:creationId xmlns:a16="http://schemas.microsoft.com/office/drawing/2014/main" id="{15249829-B2BC-4CAF-87A6-811F3932E9B6}"/>
              </a:ext>
            </a:extLst>
          </p:cNvPr>
          <p:cNvSpPr>
            <a:spLocks noGrp="1"/>
          </p:cNvSpPr>
          <p:nvPr/>
        </p:nvSpPr>
        <p:spPr>
          <a:xfrm>
            <a:off x="4827066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flat-ips 后续检测透光反射面-634">
            <a:extLst>
              <a:ext uri="{FF2B5EF4-FFF2-40B4-BE49-F238E27FC236}">
                <a16:creationId xmlns:a16="http://schemas.microsoft.com/office/drawing/2014/main" id="{EED430FC-8EA4-405B-AE58-1CB8EDB52FCC}"/>
              </a:ext>
            </a:extLst>
          </p:cNvPr>
          <p:cNvSpPr>
            <a:spLocks noGrp="1"/>
          </p:cNvSpPr>
          <p:nvPr/>
        </p:nvSpPr>
        <p:spPr>
          <a:xfrm>
            <a:off x="4833257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flat-ips 后续检测边缘高光-635">
            <a:extLst>
              <a:ext uri="{FF2B5EF4-FFF2-40B4-BE49-F238E27FC236}">
                <a16:creationId xmlns:a16="http://schemas.microsoft.com/office/drawing/2014/main" id="{83D17CC2-086D-4941-ACB0-979A19EC9E27}"/>
              </a:ext>
            </a:extLst>
          </p:cNvPr>
          <p:cNvSpPr>
            <a:spLocks noGrp="1"/>
          </p:cNvSpPr>
          <p:nvPr/>
        </p:nvSpPr>
        <p:spPr>
          <a:xfrm>
            <a:off x="4814207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统一风格-ips 安全盾-636">
            <a:extLst>
              <a:ext uri="{FF2B5EF4-FFF2-40B4-BE49-F238E27FC236}">
                <a16:creationId xmlns:a16="http://schemas.microsoft.com/office/drawing/2014/main" id="{EEB76B03-1BE5-4630-A6E4-E76536CDF79D}"/>
              </a:ext>
            </a:extLst>
          </p:cNvPr>
          <p:cNvSpPr>
            <a:spLocks noGrp="1"/>
          </p:cNvSpPr>
          <p:nvPr/>
        </p:nvSpPr>
        <p:spPr>
          <a:xfrm>
            <a:off x="5360806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A4BBDC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1" name="统一风格-ips 检测透镜-637">
            <a:extLst>
              <a:ext uri="{FF2B5EF4-FFF2-40B4-BE49-F238E27FC236}">
                <a16:creationId xmlns:a16="http://schemas.microsoft.com/office/drawing/2014/main" id="{C8F85E89-5EC7-455E-80A7-B98BA7C6029A}"/>
              </a:ext>
            </a:extLst>
          </p:cNvPr>
          <p:cNvSpPr>
            <a:spLocks noGrp="1"/>
          </p:cNvSpPr>
          <p:nvPr/>
        </p:nvSpPr>
        <p:spPr>
          <a:xfrm>
            <a:off x="5360806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7857" cap="rnd">
            <a:solidFill>
              <a:srgbClr val="A4BBDC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2" name="统一风格-ips 检测手柄-638">
            <a:extLst>
              <a:ext uri="{FF2B5EF4-FFF2-40B4-BE49-F238E27FC236}">
                <a16:creationId xmlns:a16="http://schemas.microsoft.com/office/drawing/2014/main" id="{08B7EA39-B46B-443A-BD3C-AB18FD3183B2}"/>
              </a:ext>
            </a:extLst>
          </p:cNvPr>
          <p:cNvSpPr>
            <a:spLocks noGrp="1"/>
          </p:cNvSpPr>
          <p:nvPr/>
        </p:nvSpPr>
        <p:spPr>
          <a:xfrm>
            <a:off x="5360806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7857" cap="rnd">
            <a:solidFill>
              <a:srgbClr val="A4BBDC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3" name="统一风格-文字 后续检测-639">
            <a:extLst>
              <a:ext uri="{FF2B5EF4-FFF2-40B4-BE49-F238E27FC236}">
                <a16:creationId xmlns:a16="http://schemas.microsoft.com/office/drawing/2014/main" id="{B17D7015-5B44-4F24-BD36-248CAB7747BE}"/>
              </a:ext>
            </a:extLst>
          </p:cNvPr>
          <p:cNvSpPr>
            <a:spLocks noGrp="1"/>
          </p:cNvSpPr>
          <p:nvPr/>
        </p:nvSpPr>
        <p:spPr>
          <a:xfrm>
            <a:off x="4879612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后续检测</a:t>
            </a:r>
          </a:p>
        </p:txBody>
      </p:sp>
      <p:sp>
        <p:nvSpPr>
          <p:cNvPr id="84" name="统一风格-flat-ips 业务服务玻璃后沿-640">
            <a:extLst>
              <a:ext uri="{FF2B5EF4-FFF2-40B4-BE49-F238E27FC236}">
                <a16:creationId xmlns:a16="http://schemas.microsoft.com/office/drawing/2014/main" id="{0CD11829-CCD9-4F2D-92A9-FA18598DC0B7}"/>
              </a:ext>
            </a:extLst>
          </p:cNvPr>
          <p:cNvSpPr>
            <a:spLocks noGrp="1"/>
          </p:cNvSpPr>
          <p:nvPr/>
        </p:nvSpPr>
        <p:spPr>
          <a:xfrm>
            <a:off x="6916511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5" name="统一风格-flat-ips 业务服务-641">
            <a:extLst>
              <a:ext uri="{FF2B5EF4-FFF2-40B4-BE49-F238E27FC236}">
                <a16:creationId xmlns:a16="http://schemas.microsoft.com/office/drawing/2014/main" id="{5553A00E-76B0-4634-B8FC-76457EA04BD9}"/>
              </a:ext>
            </a:extLst>
          </p:cNvPr>
          <p:cNvSpPr>
            <a:spLocks noGrp="1"/>
          </p:cNvSpPr>
          <p:nvPr/>
        </p:nvSpPr>
        <p:spPr>
          <a:xfrm>
            <a:off x="6916511" y="4636044"/>
            <a:ext cx="1541689" cy="1027793"/>
          </a:xfrm>
          <a:prstGeom prst="roundRect">
            <a:avLst>
              <a:gd name="adj" fmla="val 83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统一风格-flat-ips 业务服务玻璃内沿-642">
            <a:extLst>
              <a:ext uri="{FF2B5EF4-FFF2-40B4-BE49-F238E27FC236}">
                <a16:creationId xmlns:a16="http://schemas.microsoft.com/office/drawing/2014/main" id="{1212C6A4-D9D3-4E76-81B8-D46FB698728B}"/>
              </a:ext>
            </a:extLst>
          </p:cNvPr>
          <p:cNvSpPr>
            <a:spLocks noGrp="1"/>
          </p:cNvSpPr>
          <p:nvPr/>
        </p:nvSpPr>
        <p:spPr>
          <a:xfrm>
            <a:off x="6929369" y="4648903"/>
            <a:ext cx="1515972" cy="1002075"/>
          </a:xfrm>
          <a:prstGeom prst="roundRect">
            <a:avLst>
              <a:gd name="adj" fmla="val 73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统一风格-flat-ips 业务服务透光反射面-643">
            <a:extLst>
              <a:ext uri="{FF2B5EF4-FFF2-40B4-BE49-F238E27FC236}">
                <a16:creationId xmlns:a16="http://schemas.microsoft.com/office/drawing/2014/main" id="{82C1436B-1366-468B-8709-51A018955FBA}"/>
              </a:ext>
            </a:extLst>
          </p:cNvPr>
          <p:cNvSpPr>
            <a:spLocks noGrp="1"/>
          </p:cNvSpPr>
          <p:nvPr/>
        </p:nvSpPr>
        <p:spPr>
          <a:xfrm>
            <a:off x="6935561" y="4655094"/>
            <a:ext cx="1503589" cy="989693"/>
          </a:xfrm>
          <a:custGeom>
            <a:avLst/>
            <a:gdLst/>
            <a:ahLst/>
            <a:cxnLst/>
            <a:rect l="0" t="0" r="0" b="0"/>
            <a:pathLst>
              <a:path w="1503589" h="989693">
                <a:moveTo>
                  <a:pt x="76200" y="0"/>
                </a:moveTo>
                <a:lnTo>
                  <a:pt x="962297" y="0"/>
                </a:lnTo>
                <a:lnTo>
                  <a:pt x="390933" y="989693"/>
                </a:lnTo>
                <a:lnTo>
                  <a:pt x="76200" y="989693"/>
                </a:lnTo>
                <a:cubicBezTo>
                  <a:pt x="28575" y="989693"/>
                  <a:pt x="0" y="961118"/>
                  <a:pt x="0" y="91349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8" name="统一风格-flat-ips 业务服务边缘高光-644">
            <a:extLst>
              <a:ext uri="{FF2B5EF4-FFF2-40B4-BE49-F238E27FC236}">
                <a16:creationId xmlns:a16="http://schemas.microsoft.com/office/drawing/2014/main" id="{58EC87CA-9461-4304-A9CD-9EEFBA3C0D07}"/>
              </a:ext>
            </a:extLst>
          </p:cNvPr>
          <p:cNvSpPr>
            <a:spLocks noGrp="1"/>
          </p:cNvSpPr>
          <p:nvPr/>
        </p:nvSpPr>
        <p:spPr>
          <a:xfrm>
            <a:off x="6916511" y="4636044"/>
            <a:ext cx="1541689" cy="1027793"/>
          </a:xfrm>
          <a:custGeom>
            <a:avLst/>
            <a:gdLst/>
            <a:ahLst/>
            <a:cxnLst/>
            <a:rect l="0" t="0" r="0" b="0"/>
            <a:pathLst>
              <a:path w="1541689" h="102779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9" name="统一风格-server 服务器机架-645">
            <a:extLst>
              <a:ext uri="{FF2B5EF4-FFF2-40B4-BE49-F238E27FC236}">
                <a16:creationId xmlns:a16="http://schemas.microsoft.com/office/drawing/2014/main" id="{73D1B471-F6EF-428E-A2D8-F3C280876F1E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0" name="统一风格-server 机架状态-646">
            <a:extLst>
              <a:ext uri="{FF2B5EF4-FFF2-40B4-BE49-F238E27FC236}">
                <a16:creationId xmlns:a16="http://schemas.microsoft.com/office/drawing/2014/main" id="{A0ED19BA-4C6E-4AC5-A09A-16AC0772607C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1" name="统一风格-server 指示灯-647">
            <a:extLst>
              <a:ext uri="{FF2B5EF4-FFF2-40B4-BE49-F238E27FC236}">
                <a16:creationId xmlns:a16="http://schemas.microsoft.com/office/drawing/2014/main" id="{1EF31D87-CDF9-416A-BA55-DE2984888A10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2" name="统一风格-server 服务器机架-648">
            <a:extLst>
              <a:ext uri="{FF2B5EF4-FFF2-40B4-BE49-F238E27FC236}">
                <a16:creationId xmlns:a16="http://schemas.microsoft.com/office/drawing/2014/main" id="{0F2141D1-8607-46BA-95AA-175B006CA61C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" name="统一风格-server 机架状态-649">
            <a:extLst>
              <a:ext uri="{FF2B5EF4-FFF2-40B4-BE49-F238E27FC236}">
                <a16:creationId xmlns:a16="http://schemas.microsoft.com/office/drawing/2014/main" id="{A1D9F7BE-5D57-4A26-A34D-D17E06EC1398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4" name="统一风格-server 指示灯-650">
            <a:extLst>
              <a:ext uri="{FF2B5EF4-FFF2-40B4-BE49-F238E27FC236}">
                <a16:creationId xmlns:a16="http://schemas.microsoft.com/office/drawing/2014/main" id="{79A48EF9-AB75-46B3-9CDA-34EF4084A2EE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5" name="统一风格-server 服务器机架-651">
            <a:extLst>
              <a:ext uri="{FF2B5EF4-FFF2-40B4-BE49-F238E27FC236}">
                <a16:creationId xmlns:a16="http://schemas.microsoft.com/office/drawing/2014/main" id="{2F1D883C-2CEB-4744-BBFC-0F85F889F83F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6" name="统一风格-server 机架状态-652">
            <a:extLst>
              <a:ext uri="{FF2B5EF4-FFF2-40B4-BE49-F238E27FC236}">
                <a16:creationId xmlns:a16="http://schemas.microsoft.com/office/drawing/2014/main" id="{B5F06E4F-17B9-4F1B-8E3D-DEF3489E90B9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7" name="统一风格-server 指示灯-653">
            <a:extLst>
              <a:ext uri="{FF2B5EF4-FFF2-40B4-BE49-F238E27FC236}">
                <a16:creationId xmlns:a16="http://schemas.microsoft.com/office/drawing/2014/main" id="{6DBA9949-81DE-45FB-BF78-0782149C56C0}"/>
              </a:ext>
            </a:extLst>
          </p:cNvPr>
          <p:cNvSpPr>
            <a:spLocks noGrp="1"/>
          </p:cNvSpPr>
          <p:nvPr/>
        </p:nvSpPr>
        <p:spPr>
          <a:xfrm>
            <a:off x="7463110" y="474816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8" name="统一风格-文字 业务服务-654">
            <a:extLst>
              <a:ext uri="{FF2B5EF4-FFF2-40B4-BE49-F238E27FC236}">
                <a16:creationId xmlns:a16="http://schemas.microsoft.com/office/drawing/2014/main" id="{73AE6BB1-19A9-4C8D-8485-97912AB2F5E3}"/>
              </a:ext>
            </a:extLst>
          </p:cNvPr>
          <p:cNvSpPr>
            <a:spLocks noGrp="1"/>
          </p:cNvSpPr>
          <p:nvPr/>
        </p:nvSpPr>
        <p:spPr>
          <a:xfrm>
            <a:off x="6981916" y="5280751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cxnSp>
        <p:nvCxnSpPr>
          <p:cNvPr id="99" name="统一拓扑-flat-ips-连线-8">
            <a:extLst>
              <a:ext uri="{FF2B5EF4-FFF2-40B4-BE49-F238E27FC236}">
                <a16:creationId xmlns:a16="http://schemas.microsoft.com/office/drawing/2014/main" id="{686938F3-9108-4E4C-9F29-C51EE0F51324}"/>
              </a:ext>
            </a:extLst>
          </p:cNvPr>
          <p:cNvCxnSpPr/>
          <p:nvPr/>
        </p:nvCxnSpPr>
        <p:spPr>
          <a:xfrm>
            <a:off x="2151289" y="5149941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00" name="统一拓扑-flat-ips-连线-9">
            <a:extLst>
              <a:ext uri="{FF2B5EF4-FFF2-40B4-BE49-F238E27FC236}">
                <a16:creationId xmlns:a16="http://schemas.microsoft.com/office/drawing/2014/main" id="{024B92A5-66AF-4193-BF16-D9DE0DEB99D3}"/>
              </a:ext>
            </a:extLst>
          </p:cNvPr>
          <p:cNvCxnSpPr/>
          <p:nvPr/>
        </p:nvCxnSpPr>
        <p:spPr>
          <a:xfrm>
            <a:off x="6355896" y="5149941"/>
            <a:ext cx="560614" cy="0"/>
          </a:xfrm>
          <a:prstGeom prst="straightConnector1">
            <a:avLst/>
          </a:prstGeom>
          <a:ln w="15417">
            <a:solidFill>
              <a:srgbClr val="B8C9E2"/>
            </a:solidFill>
            <a:prstDash val="dash"/>
            <a:tailEnd type="triangle" w="sm" len="sm"/>
          </a:ln>
        </p:spPr>
      </p:cxnSp>
      <p:cxnSp>
        <p:nvCxnSpPr>
          <p:cNvPr id="101" name="统一拓扑-flat-ips-连线-10">
            <a:extLst>
              <a:ext uri="{FF2B5EF4-FFF2-40B4-BE49-F238E27FC236}">
                <a16:creationId xmlns:a16="http://schemas.microsoft.com/office/drawing/2014/main" id="{F614A3D6-8290-47E8-B4C2-6B35AFA7ED0C}"/>
              </a:ext>
            </a:extLst>
          </p:cNvPr>
          <p:cNvCxnSpPr/>
          <p:nvPr/>
        </p:nvCxnSpPr>
        <p:spPr>
          <a:xfrm flipV="1">
            <a:off x="3478076" y="4280989"/>
            <a:ext cx="0" cy="355056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02" name="统一拓扑-flat-ips-连线-11">
            <a:extLst>
              <a:ext uri="{FF2B5EF4-FFF2-40B4-BE49-F238E27FC236}">
                <a16:creationId xmlns:a16="http://schemas.microsoft.com/office/drawing/2014/main" id="{D33D0805-EF85-47FB-B142-E195EE6E909A}"/>
              </a:ext>
            </a:extLst>
          </p:cNvPr>
          <p:cNvCxnSpPr/>
          <p:nvPr/>
        </p:nvCxnSpPr>
        <p:spPr>
          <a:xfrm>
            <a:off x="3478076" y="4280989"/>
            <a:ext cx="420460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03" name="统一拓扑-flat-ips-连线-12">
            <a:extLst>
              <a:ext uri="{FF2B5EF4-FFF2-40B4-BE49-F238E27FC236}">
                <a16:creationId xmlns:a16="http://schemas.microsoft.com/office/drawing/2014/main" id="{6DF164F4-8DCA-4444-88F9-758E8AEC75AB}"/>
              </a:ext>
            </a:extLst>
          </p:cNvPr>
          <p:cNvCxnSpPr/>
          <p:nvPr/>
        </p:nvCxnSpPr>
        <p:spPr>
          <a:xfrm>
            <a:off x="7682684" y="4280989"/>
            <a:ext cx="0" cy="355056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04" name="统一风格-flat-ips 关系文字衬底-655">
            <a:extLst>
              <a:ext uri="{FF2B5EF4-FFF2-40B4-BE49-F238E27FC236}">
                <a16:creationId xmlns:a16="http://schemas.microsoft.com/office/drawing/2014/main" id="{53CF019C-4FCE-489A-90A2-D8DD9858B8E0}"/>
              </a:ext>
            </a:extLst>
          </p:cNvPr>
          <p:cNvSpPr>
            <a:spLocks noGrp="1"/>
          </p:cNvSpPr>
          <p:nvPr/>
        </p:nvSpPr>
        <p:spPr>
          <a:xfrm>
            <a:off x="3935911" y="3991338"/>
            <a:ext cx="3999049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统一风格-文字 直接放行，按检测例外管理-656">
            <a:extLst>
              <a:ext uri="{FF2B5EF4-FFF2-40B4-BE49-F238E27FC236}">
                <a16:creationId xmlns:a16="http://schemas.microsoft.com/office/drawing/2014/main" id="{FAED3B8F-6717-40B4-9E5D-083AF016D22E}"/>
              </a:ext>
            </a:extLst>
          </p:cNvPr>
          <p:cNvSpPr>
            <a:spLocks noGrp="1"/>
          </p:cNvSpPr>
          <p:nvPr/>
        </p:nvSpPr>
        <p:spPr>
          <a:xfrm>
            <a:off x="3973286" y="3991338"/>
            <a:ext cx="3924300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直接放行，按检测例外管理</a:t>
            </a:r>
          </a:p>
        </p:txBody>
      </p:sp>
      <p:sp>
        <p:nvSpPr>
          <p:cNvPr id="106" name="版式分隔线">
            <a:extLst>
              <a:ext uri="{FF2B5EF4-FFF2-40B4-BE49-F238E27FC236}">
                <a16:creationId xmlns:a16="http://schemas.microsoft.com/office/drawing/2014/main" id="{DB460C46-3DAC-41E9-9296-D45D1CA235AF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版式分隔线">
            <a:extLst>
              <a:ext uri="{FF2B5EF4-FFF2-40B4-BE49-F238E27FC236}">
                <a16:creationId xmlns:a16="http://schemas.microsoft.com/office/drawing/2014/main" id="{16EED7CF-68EA-4B00-86F2-ABC6BDA6A069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xt-107">
            <a:extLst>
              <a:ext uri="{FF2B5EF4-FFF2-40B4-BE49-F238E27FC236}">
                <a16:creationId xmlns:a16="http://schemas.microsoft.com/office/drawing/2014/main" id="{CA241D71-223F-4EF6-A268-7258E834B73E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正常授权</a:t>
            </a:r>
          </a:p>
        </p:txBody>
      </p:sp>
      <p:sp>
        <p:nvSpPr>
          <p:cNvPr id="109" name="txt-108">
            <a:extLst>
              <a:ext uri="{FF2B5EF4-FFF2-40B4-BE49-F238E27FC236}">
                <a16:creationId xmlns:a16="http://schemas.microsoft.com/office/drawing/2014/main" id="{0C285BF0-CFE7-4559-82DF-5C84BB58585F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允许必要业务，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同时保留后续威胁检测</a:t>
            </a:r>
          </a:p>
        </p:txBody>
      </p:sp>
      <p:sp>
        <p:nvSpPr>
          <p:cNvPr id="110" name="版式分隔线">
            <a:extLst>
              <a:ext uri="{FF2B5EF4-FFF2-40B4-BE49-F238E27FC236}">
                <a16:creationId xmlns:a16="http://schemas.microsoft.com/office/drawing/2014/main" id="{539A3D37-7E83-4841-896E-BAEAC538D44D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xt-110">
            <a:extLst>
              <a:ext uri="{FF2B5EF4-FFF2-40B4-BE49-F238E27FC236}">
                <a16:creationId xmlns:a16="http://schemas.microsoft.com/office/drawing/2014/main" id="{17EC305C-11D6-47AA-B407-D562F2915565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误报处理</a:t>
            </a:r>
          </a:p>
        </p:txBody>
      </p:sp>
      <p:sp>
        <p:nvSpPr>
          <p:cNvPr id="112" name="txt-111">
            <a:extLst>
              <a:ext uri="{FF2B5EF4-FFF2-40B4-BE49-F238E27FC236}">
                <a16:creationId xmlns:a16="http://schemas.microsoft.com/office/drawing/2014/main" id="{405BE3D4-4D66-44F8-B41E-36B61BC7BE91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定位 IPS 规则 ID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评估影响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限定例外范围</a:t>
            </a:r>
          </a:p>
        </p:txBody>
      </p:sp>
      <p:sp>
        <p:nvSpPr>
          <p:cNvPr id="113" name="版式分隔线">
            <a:extLst>
              <a:ext uri="{FF2B5EF4-FFF2-40B4-BE49-F238E27FC236}">
                <a16:creationId xmlns:a16="http://schemas.microsoft.com/office/drawing/2014/main" id="{028C65D4-DF90-45D3-B836-08B130FB3E22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xt-113">
            <a:extLst>
              <a:ext uri="{FF2B5EF4-FFF2-40B4-BE49-F238E27FC236}">
                <a16:creationId xmlns:a16="http://schemas.microsoft.com/office/drawing/2014/main" id="{2BA135B2-D2D5-4C40-AC1C-8DAA109A5026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例外管理</a:t>
            </a:r>
          </a:p>
        </p:txBody>
      </p:sp>
      <p:sp>
        <p:nvSpPr>
          <p:cNvPr id="115" name="txt-114">
            <a:extLst>
              <a:ext uri="{FF2B5EF4-FFF2-40B4-BE49-F238E27FC236}">
                <a16:creationId xmlns:a16="http://schemas.microsoft.com/office/drawing/2014/main" id="{EC373085-6E1D-4593-BA5F-03C5B8EA1986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记录审批与有效时间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明确恢复条件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9025673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3  CFW 使用规范">
            <a:extLst>
              <a:ext uri="{FF2B5EF4-FFF2-40B4-BE49-F238E27FC236}">
                <a16:creationId xmlns:a16="http://schemas.microsoft.com/office/drawing/2014/main" id="{ED23AFEA-036E-4CDF-B977-ECD911B50F5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域名策略的匹配方式与适用条件-143">
            <a:extLst>
              <a:ext uri="{FF2B5EF4-FFF2-40B4-BE49-F238E27FC236}">
                <a16:creationId xmlns:a16="http://schemas.microsoft.com/office/drawing/2014/main" id="{66C37729-AC4E-484E-A068-82500A5DD35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域名策略的匹配方式与适用条件</a:t>
            </a:r>
          </a:p>
        </p:txBody>
      </p:sp>
      <p:sp>
        <p:nvSpPr>
          <p:cNvPr id="3" name="统一风格-文字 域名放行能否生效，取决于匹配方式、协议字段和解析到的地址-144">
            <a:extLst>
              <a:ext uri="{FF2B5EF4-FFF2-40B4-BE49-F238E27FC236}">
                <a16:creationId xmlns:a16="http://schemas.microsoft.com/office/drawing/2014/main" id="{AC6884A4-5123-4EEB-AFEB-77099F4963D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域名放行能否生效，取决于匹配方式、协议字段和解析到的地址</a:t>
            </a:r>
          </a:p>
        </p:txBody>
      </p:sp>
      <p:cxnSp>
        <p:nvCxnSpPr>
          <p:cNvPr id="4" name="知识图示连接-11">
            <a:extLst>
              <a:ext uri="{FF2B5EF4-FFF2-40B4-BE49-F238E27FC236}">
                <a16:creationId xmlns:a16="http://schemas.microsoft.com/office/drawing/2014/main" id="{AD0D2843-70C5-4265-B923-CEEF5DDC3EB4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统一风格-文字 依据华为云访问控制策略说明。具体可用边界、协议和识别能力以实际产品版本为准。-145">
            <a:extLst>
              <a:ext uri="{FF2B5EF4-FFF2-40B4-BE49-F238E27FC236}">
                <a16:creationId xmlns:a16="http://schemas.microsoft.com/office/drawing/2014/main" id="{4BD986DE-12EA-4C4F-8DC4-0B5D3F83726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依据华为云访问控制策略说明。具体可用边界、协议和识别能力以实际产品版本为准。</a:t>
            </a:r>
          </a:p>
        </p:txBody>
      </p:sp>
      <p:sp>
        <p:nvSpPr>
          <p:cNvPr id="6" name="正文-36">
            <a:extLst>
              <a:ext uri="{FF2B5EF4-FFF2-40B4-BE49-F238E27FC236}">
                <a16:creationId xmlns:a16="http://schemas.microsoft.com/office/drawing/2014/main" id="{713C1D2B-BD9A-4881-8483-D420B571294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7" name="统一风格-知识重点表玻璃后沿-147">
            <a:extLst>
              <a:ext uri="{FF2B5EF4-FFF2-40B4-BE49-F238E27FC236}">
                <a16:creationId xmlns:a16="http://schemas.microsoft.com/office/drawing/2014/main" id="{432DFB82-ED07-4E58-97D4-8577103DC9BE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457450"/>
          </a:xfrm>
          <a:prstGeom prst="roundRect">
            <a:avLst>
              <a:gd name="adj" fmla="val 348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148">
            <a:extLst>
              <a:ext uri="{FF2B5EF4-FFF2-40B4-BE49-F238E27FC236}">
                <a16:creationId xmlns:a16="http://schemas.microsoft.com/office/drawing/2014/main" id="{32B03CF5-5462-4AB9-8A25-F1F20962910B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457450"/>
          </a:xfrm>
          <a:prstGeom prst="roundRect">
            <a:avLst>
              <a:gd name="adj" fmla="val 348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149">
            <a:extLst>
              <a:ext uri="{FF2B5EF4-FFF2-40B4-BE49-F238E27FC236}">
                <a16:creationId xmlns:a16="http://schemas.microsoft.com/office/drawing/2014/main" id="{D93046D6-D447-4315-9AB1-A9AF4708F029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431733"/>
          </a:xfrm>
          <a:prstGeom prst="roundRect">
            <a:avLst>
              <a:gd name="adj" fmla="val 301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150">
            <a:extLst>
              <a:ext uri="{FF2B5EF4-FFF2-40B4-BE49-F238E27FC236}">
                <a16:creationId xmlns:a16="http://schemas.microsoft.com/office/drawing/2014/main" id="{EB0EC8A1-22F4-4F8C-BEF2-5F077C235206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457450"/>
          </a:xfrm>
          <a:custGeom>
            <a:avLst/>
            <a:gdLst/>
            <a:ahLst/>
            <a:cxnLst/>
            <a:rect l="0" t="0" r="0" b="0"/>
            <a:pathLst>
              <a:path w="11106150" h="24574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EC0667-BB1B-4E40-8CAC-3D9FB4666EA6}"/>
              </a:ext>
            </a:extLst>
          </p:cNvPr>
          <p:cNvGraphicFramePr/>
          <p:nvPr/>
        </p:nvGraphicFramePr>
        <p:xfrm>
          <a:off x="609600" y="2143125"/>
          <a:ext cx="10972800" cy="23241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匹配方式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匹配依据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配置与维护重点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应用型域名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HTTP、HTTPS 等受支持应用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优先通过 Host 或 SNI 识别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确认应用与字段可识别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不能承诺全部加密流量都可精确识别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网络型域名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对域名进行 DNS 解析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按解析出的 IP 地址过滤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核对真实解析结果与访问目的 IP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 CDN、动态地址与解析变化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统一风格-域名维护玻璃后沿-151">
            <a:extLst>
              <a:ext uri="{FF2B5EF4-FFF2-40B4-BE49-F238E27FC236}">
                <a16:creationId xmlns:a16="http://schemas.microsoft.com/office/drawing/2014/main" id="{AE3A697C-CC8B-44E9-A9A9-1878B45AB01F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0287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域名维护-152">
            <a:extLst>
              <a:ext uri="{FF2B5EF4-FFF2-40B4-BE49-F238E27FC236}">
                <a16:creationId xmlns:a16="http://schemas.microsoft.com/office/drawing/2014/main" id="{92F800C3-4FCE-413D-B272-42C4F28AC342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0287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域名维护玻璃内沿-153">
            <a:extLst>
              <a:ext uri="{FF2B5EF4-FFF2-40B4-BE49-F238E27FC236}">
                <a16:creationId xmlns:a16="http://schemas.microsoft.com/office/drawing/2014/main" id="{9C2874DC-8370-4A21-A05F-C9C1CEC8B48B}"/>
              </a:ext>
            </a:extLst>
          </p:cNvPr>
          <p:cNvSpPr>
            <a:spLocks noGrp="1"/>
          </p:cNvSpPr>
          <p:nvPr/>
        </p:nvSpPr>
        <p:spPr>
          <a:xfrm>
            <a:off x="622459" y="4813459"/>
            <a:ext cx="10947083" cy="1002983"/>
          </a:xfrm>
          <a:prstGeom prst="roundRect">
            <a:avLst>
              <a:gd name="adj" fmla="val 731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域名维护边缘高光-154">
            <a:extLst>
              <a:ext uri="{FF2B5EF4-FFF2-40B4-BE49-F238E27FC236}">
                <a16:creationId xmlns:a16="http://schemas.microsoft.com/office/drawing/2014/main" id="{B62617EC-3DF7-403E-9E8B-9D359032F36C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1028700"/>
          </a:xfrm>
          <a:custGeom>
            <a:avLst/>
            <a:gdLst/>
            <a:ahLst/>
            <a:cxnLst/>
            <a:rect l="0" t="0" r="0" b="0"/>
            <a:pathLst>
              <a:path w="10972800" h="10287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维护与验收-155">
            <a:extLst>
              <a:ext uri="{FF2B5EF4-FFF2-40B4-BE49-F238E27FC236}">
                <a16:creationId xmlns:a16="http://schemas.microsoft.com/office/drawing/2014/main" id="{12C765C1-AF81-4BF6-9BAB-B672466228B2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19716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维护与验收</a:t>
            </a:r>
          </a:p>
        </p:txBody>
      </p:sp>
      <p:sp>
        <p:nvSpPr>
          <p:cNvPr id="17" name="统一风格-文字 业务 Owner 参与解析与地址组维护，变更后验证实际日志命中。 避免用整片云厂商网段长期替代具体业务依赖。-156">
            <a:extLst>
              <a:ext uri="{FF2B5EF4-FFF2-40B4-BE49-F238E27FC236}">
                <a16:creationId xmlns:a16="http://schemas.microsoft.com/office/drawing/2014/main" id="{4B2548AE-CBFE-44FB-BA40-2E21F86ECE55}"/>
              </a:ext>
            </a:extLst>
          </p:cNvPr>
          <p:cNvSpPr>
            <a:spLocks noGrp="1"/>
          </p:cNvSpPr>
          <p:nvPr/>
        </p:nvSpPr>
        <p:spPr>
          <a:xfrm>
            <a:off x="3162300" y="4905375"/>
            <a:ext cx="82010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 Owner 参与解析与地址组维护，变更后验证实际日志命中。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避免用整片云厂商网段长期替代具体业务依赖。</a:t>
            </a:r>
          </a:p>
        </p:txBody>
      </p:sp>
    </p:spTree>
    <p:extLst>
      <p:ext uri="{BB962C8B-B14F-4D97-AF65-F5344CB8AC3E}">
        <p14:creationId xmlns:p14="http://schemas.microsoft.com/office/powerpoint/2010/main" val="6462525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-03  CFW 使用规范">
            <a:extLst>
              <a:ext uri="{FF2B5EF4-FFF2-40B4-BE49-F238E27FC236}">
                <a16:creationId xmlns:a16="http://schemas.microsoft.com/office/drawing/2014/main" id="{CFAD5E9F-A82A-4D8B-96AB-AC0E0A9C189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IPS 观察模式、拦截模式与误报处置-158">
            <a:extLst>
              <a:ext uri="{FF2B5EF4-FFF2-40B4-BE49-F238E27FC236}">
                <a16:creationId xmlns:a16="http://schemas.microsoft.com/office/drawing/2014/main" id="{CDE63CF7-E40A-4AED-8EC1-F2C77BA433C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IPS 观察模式、拦截模式与误报处置</a:t>
            </a:r>
          </a:p>
        </p:txBody>
      </p:sp>
      <p:sp>
        <p:nvSpPr>
          <p:cNvPr id="3" name="统一风格-文字 观察仅记录事件；拦截分宽松、中等、严格，单条规则动作可能覆盖全局模式-159">
            <a:extLst>
              <a:ext uri="{FF2B5EF4-FFF2-40B4-BE49-F238E27FC236}">
                <a16:creationId xmlns:a16="http://schemas.microsoft.com/office/drawing/2014/main" id="{853B4519-BF39-442C-BC19-40A5BD0D8BA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观察仅记录事件；拦截分宽松、中等、严格，单条规则动作可能覆盖全局模式</a:t>
            </a:r>
          </a:p>
        </p:txBody>
      </p:sp>
      <p:cxnSp>
        <p:nvCxnSpPr>
          <p:cNvPr id="4" name="知识图示连接-12">
            <a:extLst>
              <a:ext uri="{FF2B5EF4-FFF2-40B4-BE49-F238E27FC236}">
                <a16:creationId xmlns:a16="http://schemas.microsoft.com/office/drawing/2014/main" id="{FF6529E7-8467-48DE-BF8B-B2FECB97EAD4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误报处置采用实施建议流程。单条 IPS 规则的动作修改可能覆盖全局模式，需单独复核。">
            <a:extLst>
              <a:ext uri="{FF2B5EF4-FFF2-40B4-BE49-F238E27FC236}">
                <a16:creationId xmlns:a16="http://schemas.microsoft.com/office/drawing/2014/main" id="{B422EBCA-680C-455C-845C-D65C40D6CF6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误报处置采用实施建议流程。单条 IPS 规则的动作修改可能覆盖全局模式，需单独复核。</a:t>
            </a:r>
          </a:p>
        </p:txBody>
      </p:sp>
      <p:sp>
        <p:nvSpPr>
          <p:cNvPr id="6" name="正文-37">
            <a:extLst>
              <a:ext uri="{FF2B5EF4-FFF2-40B4-BE49-F238E27FC236}">
                <a16:creationId xmlns:a16="http://schemas.microsoft.com/office/drawing/2014/main" id="{8EB7BB19-72C5-4603-8CD3-EBE0908BA64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7" name="统一风格-知识重点表玻璃后沿-162">
            <a:extLst>
              <a:ext uri="{FF2B5EF4-FFF2-40B4-BE49-F238E27FC236}">
                <a16:creationId xmlns:a16="http://schemas.microsoft.com/office/drawing/2014/main" id="{B13D1EC9-5B7D-4C10-B978-776A8FA68784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343150"/>
          </a:xfrm>
          <a:prstGeom prst="roundRect">
            <a:avLst>
              <a:gd name="adj" fmla="val 36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163">
            <a:extLst>
              <a:ext uri="{FF2B5EF4-FFF2-40B4-BE49-F238E27FC236}">
                <a16:creationId xmlns:a16="http://schemas.microsoft.com/office/drawing/2014/main" id="{2AD3D205-CB15-4516-87BE-E16E2F25E138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343150"/>
          </a:xfrm>
          <a:prstGeom prst="roundRect">
            <a:avLst>
              <a:gd name="adj" fmla="val 36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164">
            <a:extLst>
              <a:ext uri="{FF2B5EF4-FFF2-40B4-BE49-F238E27FC236}">
                <a16:creationId xmlns:a16="http://schemas.microsoft.com/office/drawing/2014/main" id="{C9DBFA4B-D97A-4FBD-8E97-27CFE7F1831F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317433"/>
          </a:xfrm>
          <a:prstGeom prst="roundRect">
            <a:avLst>
              <a:gd name="adj" fmla="val 316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165">
            <a:extLst>
              <a:ext uri="{FF2B5EF4-FFF2-40B4-BE49-F238E27FC236}">
                <a16:creationId xmlns:a16="http://schemas.microsoft.com/office/drawing/2014/main" id="{ED6F8A3B-5FC5-481C-8D59-6E44193AF041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343150"/>
          </a:xfrm>
          <a:custGeom>
            <a:avLst/>
            <a:gdLst/>
            <a:ahLst/>
            <a:cxnLst/>
            <a:rect l="0" t="0" r="0" b="0"/>
            <a:pathLst>
              <a:path w="11106150" h="2343150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4D08596-A3CF-42AF-AADB-F553E4EC8C79}"/>
              </a:ext>
            </a:extLst>
          </p:cNvPr>
          <p:cNvGraphicFramePr/>
          <p:nvPr/>
        </p:nvGraphicFramePr>
        <p:xfrm>
          <a:off x="609600" y="2143125"/>
          <a:ext cx="10972800" cy="2209800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流量处理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上线检查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观察模式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检测并记录攻击事件日志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不执行该模式下的攻击拦截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用于评估命中与业务影响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不能把“有日志”当作已拦截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拦截模式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根据配置的防护模式和规则动作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对相应攻击流量实施拦截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单条规则修改后可覆盖全局模式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复核其实际动作与业务影响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统一风格-定位玻璃后沿-166">
            <a:extLst>
              <a:ext uri="{FF2B5EF4-FFF2-40B4-BE49-F238E27FC236}">
                <a16:creationId xmlns:a16="http://schemas.microsoft.com/office/drawing/2014/main" id="{CAC5AD30-D53C-48EE-8384-1AD71E2275CB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统一风格-定位-167">
            <a:extLst>
              <a:ext uri="{FF2B5EF4-FFF2-40B4-BE49-F238E27FC236}">
                <a16:creationId xmlns:a16="http://schemas.microsoft.com/office/drawing/2014/main" id="{1AA75D53-5EAE-4AFE-A0E7-D1466B1E81D1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定位玻璃内沿-168">
            <a:extLst>
              <a:ext uri="{FF2B5EF4-FFF2-40B4-BE49-F238E27FC236}">
                <a16:creationId xmlns:a16="http://schemas.microsoft.com/office/drawing/2014/main" id="{7E37E264-511D-4B52-907A-E4041DEA162B}"/>
              </a:ext>
            </a:extLst>
          </p:cNvPr>
          <p:cNvSpPr>
            <a:spLocks noGrp="1"/>
          </p:cNvSpPr>
          <p:nvPr/>
        </p:nvSpPr>
        <p:spPr>
          <a:xfrm>
            <a:off x="622459" y="4718209"/>
            <a:ext cx="338423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定位透光反射面-169">
            <a:extLst>
              <a:ext uri="{FF2B5EF4-FFF2-40B4-BE49-F238E27FC236}">
                <a16:creationId xmlns:a16="http://schemas.microsoft.com/office/drawing/2014/main" id="{2F5F2DCF-575D-4250-BB7D-01A281C38E01}"/>
              </a:ext>
            </a:extLst>
          </p:cNvPr>
          <p:cNvSpPr>
            <a:spLocks noGrp="1"/>
          </p:cNvSpPr>
          <p:nvPr/>
        </p:nvSpPr>
        <p:spPr>
          <a:xfrm>
            <a:off x="628650" y="4724400"/>
            <a:ext cx="3371850" cy="1104900"/>
          </a:xfrm>
          <a:custGeom>
            <a:avLst/>
            <a:gdLst/>
            <a:ahLst/>
            <a:cxnLst/>
            <a:rect l="0" t="0" r="0" b="0"/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定位边缘高光-170">
            <a:extLst>
              <a:ext uri="{FF2B5EF4-FFF2-40B4-BE49-F238E27FC236}">
                <a16:creationId xmlns:a16="http://schemas.microsoft.com/office/drawing/2014/main" id="{43103841-F6F4-49A6-B5E4-7225D6E15343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3409950" cy="1143000"/>
          </a:xfrm>
          <a:custGeom>
            <a:avLst/>
            <a:gdLst/>
            <a:ahLst/>
            <a:cxnLst/>
            <a:rect l="0" t="0" r="0" b="0"/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文字 定位-171">
            <a:extLst>
              <a:ext uri="{FF2B5EF4-FFF2-40B4-BE49-F238E27FC236}">
                <a16:creationId xmlns:a16="http://schemas.microsoft.com/office/drawing/2014/main" id="{6262D96D-EF6D-455F-9C58-A5054BD23607}"/>
              </a:ext>
            </a:extLst>
          </p:cNvPr>
          <p:cNvSpPr>
            <a:spLocks noGrp="1"/>
          </p:cNvSpPr>
          <p:nvPr/>
        </p:nvSpPr>
        <p:spPr>
          <a:xfrm>
            <a:off x="790575" y="4791075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8" name="统一风格-文字 记录规则 ID 关联攻击与业务日志-172">
            <a:extLst>
              <a:ext uri="{FF2B5EF4-FFF2-40B4-BE49-F238E27FC236}">
                <a16:creationId xmlns:a16="http://schemas.microsoft.com/office/drawing/2014/main" id="{409E617C-7BCC-4D2C-82D5-E3AC51463694}"/>
              </a:ext>
            </a:extLst>
          </p:cNvPr>
          <p:cNvSpPr>
            <a:spLocks noGrp="1"/>
          </p:cNvSpPr>
          <p:nvPr/>
        </p:nvSpPr>
        <p:spPr>
          <a:xfrm>
            <a:off x="790575" y="5200650"/>
            <a:ext cx="3028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记录规则 ID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关联攻击与业务日志</a:t>
            </a:r>
          </a:p>
        </p:txBody>
      </p:sp>
      <p:sp>
        <p:nvSpPr>
          <p:cNvPr id="19" name="统一风格-限定玻璃后沿-173">
            <a:extLst>
              <a:ext uri="{FF2B5EF4-FFF2-40B4-BE49-F238E27FC236}">
                <a16:creationId xmlns:a16="http://schemas.microsoft.com/office/drawing/2014/main" id="{F7DB584C-6EEC-4A23-93B2-8559BADF0F05}"/>
              </a:ext>
            </a:extLst>
          </p:cNvPr>
          <p:cNvSpPr>
            <a:spLocks noGrp="1"/>
          </p:cNvSpPr>
          <p:nvPr/>
        </p:nvSpPr>
        <p:spPr>
          <a:xfrm>
            <a:off x="4391025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统一风格-限定-174">
            <a:extLst>
              <a:ext uri="{FF2B5EF4-FFF2-40B4-BE49-F238E27FC236}">
                <a16:creationId xmlns:a16="http://schemas.microsoft.com/office/drawing/2014/main" id="{A7AF3BDE-F4F3-4121-8A96-F2C27BC0CD02}"/>
              </a:ext>
            </a:extLst>
          </p:cNvPr>
          <p:cNvSpPr>
            <a:spLocks noGrp="1"/>
          </p:cNvSpPr>
          <p:nvPr/>
        </p:nvSpPr>
        <p:spPr>
          <a:xfrm>
            <a:off x="4391025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限定玻璃内沿-175">
            <a:extLst>
              <a:ext uri="{FF2B5EF4-FFF2-40B4-BE49-F238E27FC236}">
                <a16:creationId xmlns:a16="http://schemas.microsoft.com/office/drawing/2014/main" id="{F5217852-1DD7-4659-B5FF-A915870446A3}"/>
              </a:ext>
            </a:extLst>
          </p:cNvPr>
          <p:cNvSpPr>
            <a:spLocks noGrp="1"/>
          </p:cNvSpPr>
          <p:nvPr/>
        </p:nvSpPr>
        <p:spPr>
          <a:xfrm>
            <a:off x="4403884" y="4718209"/>
            <a:ext cx="338423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限定透光反射面-176">
            <a:extLst>
              <a:ext uri="{FF2B5EF4-FFF2-40B4-BE49-F238E27FC236}">
                <a16:creationId xmlns:a16="http://schemas.microsoft.com/office/drawing/2014/main" id="{46C48AF8-5364-4617-9908-D96543C5A37C}"/>
              </a:ext>
            </a:extLst>
          </p:cNvPr>
          <p:cNvSpPr>
            <a:spLocks noGrp="1"/>
          </p:cNvSpPr>
          <p:nvPr/>
        </p:nvSpPr>
        <p:spPr>
          <a:xfrm>
            <a:off x="4410075" y="4724400"/>
            <a:ext cx="3371850" cy="1104900"/>
          </a:xfrm>
          <a:custGeom>
            <a:avLst/>
            <a:gdLst/>
            <a:ahLst/>
            <a:cxnLst/>
            <a:rect l="0" t="0" r="0" b="0"/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限定边缘高光-177">
            <a:extLst>
              <a:ext uri="{FF2B5EF4-FFF2-40B4-BE49-F238E27FC236}">
                <a16:creationId xmlns:a16="http://schemas.microsoft.com/office/drawing/2014/main" id="{61112834-338B-409C-AF62-C46149424041}"/>
              </a:ext>
            </a:extLst>
          </p:cNvPr>
          <p:cNvSpPr>
            <a:spLocks noGrp="1"/>
          </p:cNvSpPr>
          <p:nvPr/>
        </p:nvSpPr>
        <p:spPr>
          <a:xfrm>
            <a:off x="4391025" y="4705350"/>
            <a:ext cx="3409950" cy="1143000"/>
          </a:xfrm>
          <a:custGeom>
            <a:avLst/>
            <a:gdLst/>
            <a:ahLst/>
            <a:cxnLst/>
            <a:rect l="0" t="0" r="0" b="0"/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文字 限定-178">
            <a:extLst>
              <a:ext uri="{FF2B5EF4-FFF2-40B4-BE49-F238E27FC236}">
                <a16:creationId xmlns:a16="http://schemas.microsoft.com/office/drawing/2014/main" id="{FE85D365-5435-43F9-8B93-F49E7571FD2E}"/>
              </a:ext>
            </a:extLst>
          </p:cNvPr>
          <p:cNvSpPr>
            <a:spLocks noGrp="1"/>
          </p:cNvSpPr>
          <p:nvPr/>
        </p:nvSpPr>
        <p:spPr>
          <a:xfrm>
            <a:off x="4572000" y="4791075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25" name="统一风格-文字 核实误报，按审批 调整最小影响范围-179">
            <a:extLst>
              <a:ext uri="{FF2B5EF4-FFF2-40B4-BE49-F238E27FC236}">
                <a16:creationId xmlns:a16="http://schemas.microsoft.com/office/drawing/2014/main" id="{D061C7EA-658F-4980-86DB-31CA28D0E433}"/>
              </a:ext>
            </a:extLst>
          </p:cNvPr>
          <p:cNvSpPr>
            <a:spLocks noGrp="1"/>
          </p:cNvSpPr>
          <p:nvPr/>
        </p:nvSpPr>
        <p:spPr>
          <a:xfrm>
            <a:off x="4572000" y="5200650"/>
            <a:ext cx="3028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核实误报，按审批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调整最小影响范围</a:t>
            </a:r>
          </a:p>
        </p:txBody>
      </p:sp>
      <p:sp>
        <p:nvSpPr>
          <p:cNvPr id="26" name="统一风格-恢复玻璃后沿-180">
            <a:extLst>
              <a:ext uri="{FF2B5EF4-FFF2-40B4-BE49-F238E27FC236}">
                <a16:creationId xmlns:a16="http://schemas.microsoft.com/office/drawing/2014/main" id="{0A4DB813-5A44-4237-BC33-CC8CC14B220A}"/>
              </a:ext>
            </a:extLst>
          </p:cNvPr>
          <p:cNvSpPr>
            <a:spLocks noGrp="1"/>
          </p:cNvSpPr>
          <p:nvPr/>
        </p:nvSpPr>
        <p:spPr>
          <a:xfrm>
            <a:off x="817245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统一风格-恢复-181">
            <a:extLst>
              <a:ext uri="{FF2B5EF4-FFF2-40B4-BE49-F238E27FC236}">
                <a16:creationId xmlns:a16="http://schemas.microsoft.com/office/drawing/2014/main" id="{57F5BED6-3DEA-4147-99EC-B7C052A2F415}"/>
              </a:ext>
            </a:extLst>
          </p:cNvPr>
          <p:cNvSpPr>
            <a:spLocks noGrp="1"/>
          </p:cNvSpPr>
          <p:nvPr/>
        </p:nvSpPr>
        <p:spPr>
          <a:xfrm>
            <a:off x="8172450" y="4705350"/>
            <a:ext cx="3409950" cy="1143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恢复玻璃内沿-182">
            <a:extLst>
              <a:ext uri="{FF2B5EF4-FFF2-40B4-BE49-F238E27FC236}">
                <a16:creationId xmlns:a16="http://schemas.microsoft.com/office/drawing/2014/main" id="{341A54EF-E122-42DF-82A5-DB267BE1C4DA}"/>
              </a:ext>
            </a:extLst>
          </p:cNvPr>
          <p:cNvSpPr>
            <a:spLocks noGrp="1"/>
          </p:cNvSpPr>
          <p:nvPr/>
        </p:nvSpPr>
        <p:spPr>
          <a:xfrm>
            <a:off x="8185309" y="4718209"/>
            <a:ext cx="3384233" cy="1117283"/>
          </a:xfrm>
          <a:prstGeom prst="roundRect">
            <a:avLst>
              <a:gd name="adj" fmla="val 65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恢复透光反射面-183">
            <a:extLst>
              <a:ext uri="{FF2B5EF4-FFF2-40B4-BE49-F238E27FC236}">
                <a16:creationId xmlns:a16="http://schemas.microsoft.com/office/drawing/2014/main" id="{7DEFD5E2-9C15-4921-AD6A-E783A708CDCC}"/>
              </a:ext>
            </a:extLst>
          </p:cNvPr>
          <p:cNvSpPr>
            <a:spLocks noGrp="1"/>
          </p:cNvSpPr>
          <p:nvPr/>
        </p:nvSpPr>
        <p:spPr>
          <a:xfrm>
            <a:off x="8191500" y="4724400"/>
            <a:ext cx="3371850" cy="1104900"/>
          </a:xfrm>
          <a:custGeom>
            <a:avLst/>
            <a:gdLst/>
            <a:ahLst/>
            <a:cxnLst/>
            <a:rect l="0" t="0" r="0" b="0"/>
            <a:pathLst>
              <a:path w="3371850" h="1104900">
                <a:moveTo>
                  <a:pt x="76200" y="0"/>
                </a:moveTo>
                <a:lnTo>
                  <a:pt x="2157984" y="0"/>
                </a:lnTo>
                <a:lnTo>
                  <a:pt x="876681" y="1104900"/>
                </a:lnTo>
                <a:lnTo>
                  <a:pt x="76200" y="1104900"/>
                </a:lnTo>
                <a:cubicBezTo>
                  <a:pt x="28575" y="1104900"/>
                  <a:pt x="0" y="1076325"/>
                  <a:pt x="0" y="1028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恢复边缘高光-184">
            <a:extLst>
              <a:ext uri="{FF2B5EF4-FFF2-40B4-BE49-F238E27FC236}">
                <a16:creationId xmlns:a16="http://schemas.microsoft.com/office/drawing/2014/main" id="{5E9AB626-7522-4D8C-9CF1-42707613748C}"/>
              </a:ext>
            </a:extLst>
          </p:cNvPr>
          <p:cNvSpPr>
            <a:spLocks noGrp="1"/>
          </p:cNvSpPr>
          <p:nvPr/>
        </p:nvSpPr>
        <p:spPr>
          <a:xfrm>
            <a:off x="8172450" y="4705350"/>
            <a:ext cx="3409950" cy="1143000"/>
          </a:xfrm>
          <a:custGeom>
            <a:avLst/>
            <a:gdLst/>
            <a:ahLst/>
            <a:cxnLst/>
            <a:rect l="0" t="0" r="0" b="0"/>
            <a:pathLst>
              <a:path w="3409950" h="1143000">
                <a:moveTo>
                  <a:pt x="95250" y="9525"/>
                </a:moveTo>
                <a:lnTo>
                  <a:pt x="3314700" y="9525"/>
                </a:lnTo>
                <a:cubicBezTo>
                  <a:pt x="3362325" y="9525"/>
                  <a:pt x="3400425" y="47625"/>
                  <a:pt x="34004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恢复-185">
            <a:extLst>
              <a:ext uri="{FF2B5EF4-FFF2-40B4-BE49-F238E27FC236}">
                <a16:creationId xmlns:a16="http://schemas.microsoft.com/office/drawing/2014/main" id="{B596312D-E801-4412-B3AC-1A2AF03C6A37}"/>
              </a:ext>
            </a:extLst>
          </p:cNvPr>
          <p:cNvSpPr>
            <a:spLocks noGrp="1"/>
          </p:cNvSpPr>
          <p:nvPr/>
        </p:nvSpPr>
        <p:spPr>
          <a:xfrm>
            <a:off x="8353425" y="4791075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32" name="统一风格-文字 记录到期与恢复条件 恢复后重新测试-186">
            <a:extLst>
              <a:ext uri="{FF2B5EF4-FFF2-40B4-BE49-F238E27FC236}">
                <a16:creationId xmlns:a16="http://schemas.microsoft.com/office/drawing/2014/main" id="{BE577693-173A-4339-8479-1E93C8CC205E}"/>
              </a:ext>
            </a:extLst>
          </p:cNvPr>
          <p:cNvSpPr>
            <a:spLocks noGrp="1"/>
          </p:cNvSpPr>
          <p:nvPr/>
        </p:nvSpPr>
        <p:spPr>
          <a:xfrm>
            <a:off x="8353425" y="5200650"/>
            <a:ext cx="30289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记录到期与恢复条件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恢复后重新测试</a:t>
            </a:r>
          </a:p>
        </p:txBody>
      </p:sp>
    </p:spTree>
    <p:extLst>
      <p:ext uri="{BB962C8B-B14F-4D97-AF65-F5344CB8AC3E}">
        <p14:creationId xmlns:p14="http://schemas.microsoft.com/office/powerpoint/2010/main" val="8344061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统一风格-文字 03  CFW 使用规范-1">
            <a:extLst>
              <a:ext uri="{FF2B5EF4-FFF2-40B4-BE49-F238E27FC236}">
                <a16:creationId xmlns:a16="http://schemas.microsoft.com/office/drawing/2014/main" id="{E648101E-5811-416A-80D4-158B3CC53B1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ER 引流与回注路径-2">
            <a:extLst>
              <a:ext uri="{FF2B5EF4-FFF2-40B4-BE49-F238E27FC236}">
                <a16:creationId xmlns:a16="http://schemas.microsoft.com/office/drawing/2014/main" id="{65E1F83D-9DA6-4B54-AD92-AB8C244C6A7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引流与回注路径</a:t>
            </a:r>
          </a:p>
        </p:txBody>
      </p:sp>
      <p:sp>
        <p:nvSpPr>
          <p:cNvPr id="3" name="统一风格-文字 以源 VPC 访问目标 VPC 为例，区分连接关联、送检路由与检查后的转发-3">
            <a:extLst>
              <a:ext uri="{FF2B5EF4-FFF2-40B4-BE49-F238E27FC236}">
                <a16:creationId xmlns:a16="http://schemas.microsoft.com/office/drawing/2014/main" id="{37BE2832-96DA-400C-97D7-0ECCB819466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以源 VPC 访问目标 VPC 为例，区分连接关联、送检路由与检查后的转发</a:t>
            </a:r>
          </a:p>
        </p:txBody>
      </p:sp>
      <p:sp>
        <p:nvSpPr>
          <p:cNvPr id="4" name="统一风格-源 VPC / ECS 1玻璃后沿-4">
            <a:extLst>
              <a:ext uri="{FF2B5EF4-FFF2-40B4-BE49-F238E27FC236}">
                <a16:creationId xmlns:a16="http://schemas.microsoft.com/office/drawing/2014/main" id="{EDF83EC6-CBE6-4FA0-A058-3C67E07A20F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" name="统一风格-源 VPC / ECS 1-5">
            <a:extLst>
              <a:ext uri="{FF2B5EF4-FFF2-40B4-BE49-F238E27FC236}">
                <a16:creationId xmlns:a16="http://schemas.microsoft.com/office/drawing/2014/main" id="{B01A8668-1BD2-4659-B48B-7973C60BC412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源 VPC / ECS 1玻璃内沿-6">
            <a:extLst>
              <a:ext uri="{FF2B5EF4-FFF2-40B4-BE49-F238E27FC236}">
                <a16:creationId xmlns:a16="http://schemas.microsoft.com/office/drawing/2014/main" id="{8001F7A2-A29F-4F20-8B84-72115A8D2B9F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3308033" cy="869633"/>
          </a:xfrm>
          <a:prstGeom prst="roundRect">
            <a:avLst>
              <a:gd name="adj" fmla="val 84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源 VPC / ECS 1透光反射面-7">
            <a:extLst>
              <a:ext uri="{FF2B5EF4-FFF2-40B4-BE49-F238E27FC236}">
                <a16:creationId xmlns:a16="http://schemas.microsoft.com/office/drawing/2014/main" id="{EB51C72D-F287-4B07-AB33-13DB3AE14086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3295650" cy="857250"/>
          </a:xfrm>
          <a:custGeom>
            <a:avLst/>
            <a:gdLst/>
            <a:ahLst/>
            <a:cxnLst/>
            <a:rect l="0" t="0" r="0" b="0"/>
            <a:pathLst>
              <a:path w="3295650" h="857250">
                <a:moveTo>
                  <a:pt x="76200" y="0"/>
                </a:moveTo>
                <a:lnTo>
                  <a:pt x="2109216" y="0"/>
                </a:lnTo>
                <a:lnTo>
                  <a:pt x="856869" y="857250"/>
                </a:lnTo>
                <a:lnTo>
                  <a:pt x="76200" y="857250"/>
                </a:lnTo>
                <a:cubicBezTo>
                  <a:pt x="28575" y="857250"/>
                  <a:pt x="0" y="828675"/>
                  <a:pt x="0" y="781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源 VPC / ECS 1边缘高光-8">
            <a:extLst>
              <a:ext uri="{FF2B5EF4-FFF2-40B4-BE49-F238E27FC236}">
                <a16:creationId xmlns:a16="http://schemas.microsoft.com/office/drawing/2014/main" id="{C527D7D7-4D95-47C6-B34C-57BB52C97EFE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33750" cy="895350"/>
          </a:xfrm>
          <a:custGeom>
            <a:avLst/>
            <a:gdLst/>
            <a:ahLst/>
            <a:cxnLst/>
            <a:rect l="0" t="0" r="0" b="0"/>
            <a:pathLst>
              <a:path w="3333750" h="895350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loud VPC 云轮廓-9">
            <a:extLst>
              <a:ext uri="{FF2B5EF4-FFF2-40B4-BE49-F238E27FC236}">
                <a16:creationId xmlns:a16="http://schemas.microsoft.com/office/drawing/2014/main" id="{C6B313CE-88B3-465B-AC50-25E50042E7CE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文字 源 VPC / ECS 1-10">
            <a:extLst>
              <a:ext uri="{FF2B5EF4-FFF2-40B4-BE49-F238E27FC236}">
                <a16:creationId xmlns:a16="http://schemas.microsoft.com/office/drawing/2014/main" id="{55AFB8D5-092D-4FF1-AC82-9C4C789A048C}"/>
              </a:ext>
            </a:extLst>
          </p:cNvPr>
          <p:cNvSpPr>
            <a:spLocks noGrp="1"/>
          </p:cNvSpPr>
          <p:nvPr/>
        </p:nvSpPr>
        <p:spPr>
          <a:xfrm>
            <a:off x="1409700" y="21145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VPC / ECS 1</a:t>
            </a:r>
          </a:p>
        </p:txBody>
      </p:sp>
      <p:sp>
        <p:nvSpPr>
          <p:cNvPr id="11" name="统一风格-文字 VPC 路由下一跳：ER-11">
            <a:extLst>
              <a:ext uri="{FF2B5EF4-FFF2-40B4-BE49-F238E27FC236}">
                <a16:creationId xmlns:a16="http://schemas.microsoft.com/office/drawing/2014/main" id="{495EFBF4-6FB5-4E61-8EAA-1CA94CEFCB3B}"/>
              </a:ext>
            </a:extLst>
          </p:cNvPr>
          <p:cNvSpPr>
            <a:spLocks noGrp="1"/>
          </p:cNvSpPr>
          <p:nvPr/>
        </p:nvSpPr>
        <p:spPr>
          <a:xfrm>
            <a:off x="1409700" y="25050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VPC 路由下一跳：ER</a:t>
            </a:r>
          </a:p>
        </p:txBody>
      </p:sp>
      <p:sp>
        <p:nvSpPr>
          <p:cNvPr id="12" name="统一风格-目标 VPC / ECS 2玻璃后沿-12">
            <a:extLst>
              <a:ext uri="{FF2B5EF4-FFF2-40B4-BE49-F238E27FC236}">
                <a16:creationId xmlns:a16="http://schemas.microsoft.com/office/drawing/2014/main" id="{74A6AE69-AFF9-46AB-8714-C078F275E198}"/>
              </a:ext>
            </a:extLst>
          </p:cNvPr>
          <p:cNvSpPr>
            <a:spLocks noGrp="1"/>
          </p:cNvSpPr>
          <p:nvPr/>
        </p:nvSpPr>
        <p:spPr>
          <a:xfrm>
            <a:off x="489585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统一风格-目标 VPC / ECS 2-13">
            <a:extLst>
              <a:ext uri="{FF2B5EF4-FFF2-40B4-BE49-F238E27FC236}">
                <a16:creationId xmlns:a16="http://schemas.microsoft.com/office/drawing/2014/main" id="{E270874E-0871-40FC-AADA-14AF0C20E212}"/>
              </a:ext>
            </a:extLst>
          </p:cNvPr>
          <p:cNvSpPr>
            <a:spLocks noGrp="1"/>
          </p:cNvSpPr>
          <p:nvPr/>
        </p:nvSpPr>
        <p:spPr>
          <a:xfrm>
            <a:off x="4895850" y="2000250"/>
            <a:ext cx="3333750" cy="89535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目标 VPC / ECS 2玻璃内沿-14">
            <a:extLst>
              <a:ext uri="{FF2B5EF4-FFF2-40B4-BE49-F238E27FC236}">
                <a16:creationId xmlns:a16="http://schemas.microsoft.com/office/drawing/2014/main" id="{FB130727-76BF-4778-811D-3CA8158B823A}"/>
              </a:ext>
            </a:extLst>
          </p:cNvPr>
          <p:cNvSpPr>
            <a:spLocks noGrp="1"/>
          </p:cNvSpPr>
          <p:nvPr/>
        </p:nvSpPr>
        <p:spPr>
          <a:xfrm>
            <a:off x="4908709" y="2013109"/>
            <a:ext cx="3308033" cy="869633"/>
          </a:xfrm>
          <a:prstGeom prst="roundRect">
            <a:avLst>
              <a:gd name="adj" fmla="val 84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目标 VPC / ECS 2透光反射面-15">
            <a:extLst>
              <a:ext uri="{FF2B5EF4-FFF2-40B4-BE49-F238E27FC236}">
                <a16:creationId xmlns:a16="http://schemas.microsoft.com/office/drawing/2014/main" id="{8A6BCCBE-59B4-4618-AA2C-7D020D86876C}"/>
              </a:ext>
            </a:extLst>
          </p:cNvPr>
          <p:cNvSpPr>
            <a:spLocks noGrp="1"/>
          </p:cNvSpPr>
          <p:nvPr/>
        </p:nvSpPr>
        <p:spPr>
          <a:xfrm>
            <a:off x="4914900" y="2019300"/>
            <a:ext cx="3295650" cy="857250"/>
          </a:xfrm>
          <a:custGeom>
            <a:avLst/>
            <a:gdLst/>
            <a:ahLst/>
            <a:cxnLst/>
            <a:rect l="0" t="0" r="0" b="0"/>
            <a:pathLst>
              <a:path w="3295650" h="857250">
                <a:moveTo>
                  <a:pt x="76200" y="0"/>
                </a:moveTo>
                <a:lnTo>
                  <a:pt x="2109216" y="0"/>
                </a:lnTo>
                <a:lnTo>
                  <a:pt x="856869" y="857250"/>
                </a:lnTo>
                <a:lnTo>
                  <a:pt x="76200" y="857250"/>
                </a:lnTo>
                <a:cubicBezTo>
                  <a:pt x="28575" y="857250"/>
                  <a:pt x="0" y="828675"/>
                  <a:pt x="0" y="781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目标 VPC / ECS 2边缘高光-16">
            <a:extLst>
              <a:ext uri="{FF2B5EF4-FFF2-40B4-BE49-F238E27FC236}">
                <a16:creationId xmlns:a16="http://schemas.microsoft.com/office/drawing/2014/main" id="{8996952F-5CE8-4209-A7C2-0DC3A8EDB2CD}"/>
              </a:ext>
            </a:extLst>
          </p:cNvPr>
          <p:cNvSpPr>
            <a:spLocks noGrp="1"/>
          </p:cNvSpPr>
          <p:nvPr/>
        </p:nvSpPr>
        <p:spPr>
          <a:xfrm>
            <a:off x="4895850" y="2000250"/>
            <a:ext cx="3333750" cy="895350"/>
          </a:xfrm>
          <a:custGeom>
            <a:avLst/>
            <a:gdLst/>
            <a:ahLst/>
            <a:cxnLst/>
            <a:rect l="0" t="0" r="0" b="0"/>
            <a:pathLst>
              <a:path w="3333750" h="895350">
                <a:moveTo>
                  <a:pt x="95250" y="9525"/>
                </a:moveTo>
                <a:lnTo>
                  <a:pt x="3238500" y="9525"/>
                </a:lnTo>
                <a:cubicBezTo>
                  <a:pt x="3286125" y="9525"/>
                  <a:pt x="3324225" y="47625"/>
                  <a:pt x="33242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cloud VPC 云轮廓-17">
            <a:extLst>
              <a:ext uri="{FF2B5EF4-FFF2-40B4-BE49-F238E27FC236}">
                <a16:creationId xmlns:a16="http://schemas.microsoft.com/office/drawing/2014/main" id="{5696DBF9-5305-46F7-8D0C-9DD24080FBB1}"/>
              </a:ext>
            </a:extLst>
          </p:cNvPr>
          <p:cNvSpPr>
            <a:spLocks noGrp="1"/>
          </p:cNvSpPr>
          <p:nvPr/>
        </p:nvSpPr>
        <p:spPr>
          <a:xfrm>
            <a:off x="5086350" y="219075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文字 目标 VPC / ECS 2-18">
            <a:extLst>
              <a:ext uri="{FF2B5EF4-FFF2-40B4-BE49-F238E27FC236}">
                <a16:creationId xmlns:a16="http://schemas.microsoft.com/office/drawing/2014/main" id="{F8B0553C-8FE4-4318-92BC-EDE970A3D0BC}"/>
              </a:ext>
            </a:extLst>
          </p:cNvPr>
          <p:cNvSpPr>
            <a:spLocks noGrp="1"/>
          </p:cNvSpPr>
          <p:nvPr/>
        </p:nvSpPr>
        <p:spPr>
          <a:xfrm>
            <a:off x="5695950" y="21145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 VPC / ECS 2</a:t>
            </a:r>
          </a:p>
        </p:txBody>
      </p:sp>
      <p:sp>
        <p:nvSpPr>
          <p:cNvPr id="19" name="统一风格-文字 接收经 CFW 放行的流量-19">
            <a:extLst>
              <a:ext uri="{FF2B5EF4-FFF2-40B4-BE49-F238E27FC236}">
                <a16:creationId xmlns:a16="http://schemas.microsoft.com/office/drawing/2014/main" id="{C0D1BD51-92D5-445E-AA4E-BFE722006AC2}"/>
              </a:ext>
            </a:extLst>
          </p:cNvPr>
          <p:cNvSpPr>
            <a:spLocks noGrp="1"/>
          </p:cNvSpPr>
          <p:nvPr/>
        </p:nvSpPr>
        <p:spPr>
          <a:xfrm>
            <a:off x="5695950" y="250507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接收经 CFW 放行的流量</a:t>
            </a:r>
          </a:p>
        </p:txBody>
      </p:sp>
      <p:cxnSp>
        <p:nvCxnSpPr>
          <p:cNvPr id="20" name="01 源 VPC 进入 ER">
            <a:extLst>
              <a:ext uri="{FF2B5EF4-FFF2-40B4-BE49-F238E27FC236}">
                <a16:creationId xmlns:a16="http://schemas.microsoft.com/office/drawing/2014/main" id="{DE81BAD3-6236-45E7-AEAA-9B8FAC4E6EC0}"/>
              </a:ext>
            </a:extLst>
          </p:cNvPr>
          <p:cNvCxnSpPr/>
          <p:nvPr/>
        </p:nvCxnSpPr>
        <p:spPr>
          <a:xfrm>
            <a:off x="2276475" y="2895600"/>
            <a:ext cx="0" cy="40005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1" name="统一风格-文字 01  请求进入-20">
            <a:extLst>
              <a:ext uri="{FF2B5EF4-FFF2-40B4-BE49-F238E27FC236}">
                <a16:creationId xmlns:a16="http://schemas.microsoft.com/office/drawing/2014/main" id="{7214CDAF-8133-4F9B-B31F-5B3CF1A09807}"/>
              </a:ext>
            </a:extLst>
          </p:cNvPr>
          <p:cNvSpPr>
            <a:spLocks noGrp="1"/>
          </p:cNvSpPr>
          <p:nvPr/>
        </p:nvSpPr>
        <p:spPr>
          <a:xfrm>
            <a:off x="2409825" y="2971800"/>
            <a:ext cx="1476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  请求进入</a:t>
            </a:r>
          </a:p>
        </p:txBody>
      </p:sp>
      <p:cxnSp>
        <p:nvCxnSpPr>
          <p:cNvPr id="22" name="04 ER 转发至目标 VPC">
            <a:extLst>
              <a:ext uri="{FF2B5EF4-FFF2-40B4-BE49-F238E27FC236}">
                <a16:creationId xmlns:a16="http://schemas.microsoft.com/office/drawing/2014/main" id="{E3A0D5EB-453C-4C54-A377-ACD3FA670FEC}"/>
              </a:ext>
            </a:extLst>
          </p:cNvPr>
          <p:cNvCxnSpPr/>
          <p:nvPr/>
        </p:nvCxnSpPr>
        <p:spPr>
          <a:xfrm flipV="1">
            <a:off x="6562725" y="2895600"/>
            <a:ext cx="0" cy="40005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23" name="统一风格-文字 04  转发目标-21">
            <a:extLst>
              <a:ext uri="{FF2B5EF4-FFF2-40B4-BE49-F238E27FC236}">
                <a16:creationId xmlns:a16="http://schemas.microsoft.com/office/drawing/2014/main" id="{E6849AB9-D833-4C1C-A864-7E99BE33BE14}"/>
              </a:ext>
            </a:extLst>
          </p:cNvPr>
          <p:cNvSpPr>
            <a:spLocks noGrp="1"/>
          </p:cNvSpPr>
          <p:nvPr/>
        </p:nvSpPr>
        <p:spPr>
          <a:xfrm>
            <a:off x="6696075" y="297180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转发目标</a:t>
            </a:r>
          </a:p>
        </p:txBody>
      </p:sp>
      <p:sp>
        <p:nvSpPr>
          <p:cNvPr id="24" name="统一风格-同一个 ER · 两张路由表玻璃后沿-22">
            <a:extLst>
              <a:ext uri="{FF2B5EF4-FFF2-40B4-BE49-F238E27FC236}">
                <a16:creationId xmlns:a16="http://schemas.microsoft.com/office/drawing/2014/main" id="{BF0444F5-60D0-4D9D-9E9F-6E66EB9B04A5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7620000" cy="1504950"/>
          </a:xfrm>
          <a:prstGeom prst="roundRect">
            <a:avLst>
              <a:gd name="adj" fmla="val 569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统一风格-同一个 ER · 两张路由表-23">
            <a:extLst>
              <a:ext uri="{FF2B5EF4-FFF2-40B4-BE49-F238E27FC236}">
                <a16:creationId xmlns:a16="http://schemas.microsoft.com/office/drawing/2014/main" id="{D242CDF5-D7D1-4FCB-971F-5DED6D630A9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7620000" cy="1504950"/>
          </a:xfrm>
          <a:prstGeom prst="roundRect">
            <a:avLst>
              <a:gd name="adj" fmla="val 569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同一个 ER · 两张路由表玻璃内沿-24">
            <a:extLst>
              <a:ext uri="{FF2B5EF4-FFF2-40B4-BE49-F238E27FC236}">
                <a16:creationId xmlns:a16="http://schemas.microsoft.com/office/drawing/2014/main" id="{D9F8DBA6-CD50-47DE-A993-CE9CAC474A60}"/>
              </a:ext>
            </a:extLst>
          </p:cNvPr>
          <p:cNvSpPr>
            <a:spLocks noGrp="1"/>
          </p:cNvSpPr>
          <p:nvPr/>
        </p:nvSpPr>
        <p:spPr>
          <a:xfrm>
            <a:off x="622459" y="3308509"/>
            <a:ext cx="7594283" cy="1479233"/>
          </a:xfrm>
          <a:prstGeom prst="roundRect">
            <a:avLst>
              <a:gd name="adj" fmla="val 495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同一个 ER · 两张路由表透光反射面-25">
            <a:extLst>
              <a:ext uri="{FF2B5EF4-FFF2-40B4-BE49-F238E27FC236}">
                <a16:creationId xmlns:a16="http://schemas.microsoft.com/office/drawing/2014/main" id="{A3879E83-3076-4FDE-A40C-8A49F79D8747}"/>
              </a:ext>
            </a:extLst>
          </p:cNvPr>
          <p:cNvSpPr>
            <a:spLocks noGrp="1"/>
          </p:cNvSpPr>
          <p:nvPr/>
        </p:nvSpPr>
        <p:spPr>
          <a:xfrm>
            <a:off x="628650" y="3314700"/>
            <a:ext cx="7581900" cy="1466850"/>
          </a:xfrm>
          <a:custGeom>
            <a:avLst/>
            <a:gdLst/>
            <a:ahLst/>
            <a:cxnLst/>
            <a:rect l="0" t="0" r="0" b="0"/>
            <a:pathLst>
              <a:path w="7581900" h="1466850">
                <a:moveTo>
                  <a:pt x="76200" y="0"/>
                </a:moveTo>
                <a:lnTo>
                  <a:pt x="4852416" y="0"/>
                </a:lnTo>
                <a:lnTo>
                  <a:pt x="1971294" y="1466850"/>
                </a:lnTo>
                <a:lnTo>
                  <a:pt x="76200" y="1466850"/>
                </a:lnTo>
                <a:cubicBezTo>
                  <a:pt x="28575" y="1466850"/>
                  <a:pt x="0" y="1438275"/>
                  <a:pt x="0" y="1390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同一个 ER · 两张路由表边缘高光-26">
            <a:extLst>
              <a:ext uri="{FF2B5EF4-FFF2-40B4-BE49-F238E27FC236}">
                <a16:creationId xmlns:a16="http://schemas.microsoft.com/office/drawing/2014/main" id="{AFEFEB50-9085-487A-B764-E1454347137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7620000" cy="1504950"/>
          </a:xfrm>
          <a:custGeom>
            <a:avLst/>
            <a:gdLst/>
            <a:ahLst/>
            <a:cxnLst/>
            <a:rect l="0" t="0" r="0" b="0"/>
            <a:pathLst>
              <a:path w="7620000" h="1504950">
                <a:moveTo>
                  <a:pt x="95250" y="9525"/>
                </a:moveTo>
                <a:lnTo>
                  <a:pt x="7524750" y="9525"/>
                </a:lnTo>
                <a:cubicBezTo>
                  <a:pt x="7572375" y="9525"/>
                  <a:pt x="7610475" y="47625"/>
                  <a:pt x="7610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router ER 路由器外形-27">
            <a:extLst>
              <a:ext uri="{FF2B5EF4-FFF2-40B4-BE49-F238E27FC236}">
                <a16:creationId xmlns:a16="http://schemas.microsoft.com/office/drawing/2014/main" id="{7F52A9BA-619B-4289-8AC5-B5AE5325D5B7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03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router ER 四向路由-28">
            <a:extLst>
              <a:ext uri="{FF2B5EF4-FFF2-40B4-BE49-F238E27FC236}">
                <a16:creationId xmlns:a16="http://schemas.microsoft.com/office/drawing/2014/main" id="{10CCE6A3-949B-4553-8123-2A50140F4690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352425" cy="35242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4032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ER  企业路由器-29">
            <a:extLst>
              <a:ext uri="{FF2B5EF4-FFF2-40B4-BE49-F238E27FC236}">
                <a16:creationId xmlns:a16="http://schemas.microsoft.com/office/drawing/2014/main" id="{85498E38-B493-435C-91C1-91FDE8CBC2BA}"/>
              </a:ext>
            </a:extLst>
          </p:cNvPr>
          <p:cNvSpPr>
            <a:spLocks noGrp="1"/>
          </p:cNvSpPr>
          <p:nvPr/>
        </p:nvSpPr>
        <p:spPr>
          <a:xfrm>
            <a:off x="1304925" y="3362325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 企业路由器</a:t>
            </a:r>
          </a:p>
        </p:txBody>
      </p:sp>
      <p:sp>
        <p:nvSpPr>
          <p:cNvPr id="32" name="统一风格-文字 同一个 ER · 按入口连接查表-30">
            <a:extLst>
              <a:ext uri="{FF2B5EF4-FFF2-40B4-BE49-F238E27FC236}">
                <a16:creationId xmlns:a16="http://schemas.microsoft.com/office/drawing/2014/main" id="{6FF3ACD9-9E46-42A5-8CDA-178D8F9B1E89}"/>
              </a:ext>
            </a:extLst>
          </p:cNvPr>
          <p:cNvSpPr>
            <a:spLocks noGrp="1"/>
          </p:cNvSpPr>
          <p:nvPr/>
        </p:nvSpPr>
        <p:spPr>
          <a:xfrm>
            <a:off x="4867275" y="34290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同一个 ER · 按入口连接查表</a:t>
            </a:r>
          </a:p>
        </p:txBody>
      </p:sp>
      <p:sp>
        <p:nvSpPr>
          <p:cNvPr id="33" name="统一风格-ER 表头分隔-31">
            <a:extLst>
              <a:ext uri="{FF2B5EF4-FFF2-40B4-BE49-F238E27FC236}">
                <a16:creationId xmlns:a16="http://schemas.microsoft.com/office/drawing/2014/main" id="{10FCAAEB-B926-4E1D-B7D2-6B79EEB53B43}"/>
              </a:ext>
            </a:extLst>
          </p:cNvPr>
          <p:cNvSpPr>
            <a:spLocks noGrp="1"/>
          </p:cNvSpPr>
          <p:nvPr/>
        </p:nvSpPr>
        <p:spPr>
          <a:xfrm>
            <a:off x="619125" y="3838575"/>
            <a:ext cx="760095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ER 路由表分隔-32">
            <a:extLst>
              <a:ext uri="{FF2B5EF4-FFF2-40B4-BE49-F238E27FC236}">
                <a16:creationId xmlns:a16="http://schemas.microsoft.com/office/drawing/2014/main" id="{5A83F1E8-7C38-4478-A64A-EFCD9B3EE109}"/>
              </a:ext>
            </a:extLst>
          </p:cNvPr>
          <p:cNvSpPr>
            <a:spLocks noGrp="1"/>
          </p:cNvSpPr>
          <p:nvPr/>
        </p:nvSpPr>
        <p:spPr>
          <a:xfrm>
            <a:off x="4419600" y="3962400"/>
            <a:ext cx="0" cy="695325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er-RT1  送检路由表-33">
            <a:extLst>
              <a:ext uri="{FF2B5EF4-FFF2-40B4-BE49-F238E27FC236}">
                <a16:creationId xmlns:a16="http://schemas.microsoft.com/office/drawing/2014/main" id="{7A147244-AAAA-4625-AD65-159D5BB70AED}"/>
              </a:ext>
            </a:extLst>
          </p:cNvPr>
          <p:cNvSpPr>
            <a:spLocks noGrp="1"/>
          </p:cNvSpPr>
          <p:nvPr/>
        </p:nvSpPr>
        <p:spPr>
          <a:xfrm>
            <a:off x="828675" y="3895725"/>
            <a:ext cx="3362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  送检路由表</a:t>
            </a:r>
          </a:p>
        </p:txBody>
      </p:sp>
      <p:sp>
        <p:nvSpPr>
          <p:cNvPr id="36" name="统一风格-文字 关联：源、目的业务 VPC 连接 下一跳：CFW 自动连接-34">
            <a:extLst>
              <a:ext uri="{FF2B5EF4-FFF2-40B4-BE49-F238E27FC236}">
                <a16:creationId xmlns:a16="http://schemas.microsoft.com/office/drawing/2014/main" id="{51E1C486-F488-4748-A444-92AD4B3AB268}"/>
              </a:ext>
            </a:extLst>
          </p:cNvPr>
          <p:cNvSpPr>
            <a:spLocks noGrp="1"/>
          </p:cNvSpPr>
          <p:nvPr/>
        </p:nvSpPr>
        <p:spPr>
          <a:xfrm>
            <a:off x="828675" y="4248150"/>
            <a:ext cx="33623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关联：源、目的业务 VPC 连接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下一跳：CFW 自动连接</a:t>
            </a:r>
          </a:p>
        </p:txBody>
      </p:sp>
      <p:sp>
        <p:nvSpPr>
          <p:cNvPr id="37" name="统一风格-文字 er-RT2  转发路由表-35">
            <a:extLst>
              <a:ext uri="{FF2B5EF4-FFF2-40B4-BE49-F238E27FC236}">
                <a16:creationId xmlns:a16="http://schemas.microsoft.com/office/drawing/2014/main" id="{D3682F25-F6A8-4D06-8677-0FB9B5648C67}"/>
              </a:ext>
            </a:extLst>
          </p:cNvPr>
          <p:cNvSpPr>
            <a:spLocks noGrp="1"/>
          </p:cNvSpPr>
          <p:nvPr/>
        </p:nvSpPr>
        <p:spPr>
          <a:xfrm>
            <a:off x="4657725" y="3895725"/>
            <a:ext cx="33623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  转发路由表</a:t>
            </a:r>
          </a:p>
        </p:txBody>
      </p:sp>
      <p:sp>
        <p:nvSpPr>
          <p:cNvPr id="38" name="统一风格-文字 关联：CFW 自动连接 传播：学习业务 VPC 路由-36">
            <a:extLst>
              <a:ext uri="{FF2B5EF4-FFF2-40B4-BE49-F238E27FC236}">
                <a16:creationId xmlns:a16="http://schemas.microsoft.com/office/drawing/2014/main" id="{318AA1F9-D762-4F2C-8CD1-6A0108A03262}"/>
              </a:ext>
            </a:extLst>
          </p:cNvPr>
          <p:cNvSpPr>
            <a:spLocks noGrp="1"/>
          </p:cNvSpPr>
          <p:nvPr/>
        </p:nvSpPr>
        <p:spPr>
          <a:xfrm>
            <a:off x="4657725" y="4248150"/>
            <a:ext cx="33623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关联：CFW 自动连接</a:t>
            </a:r>
          </a:p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传播：学习业务 VPC 路由</a:t>
            </a:r>
          </a:p>
        </p:txBody>
      </p:sp>
      <p:cxnSp>
        <p:nvCxnSpPr>
          <p:cNvPr id="39" name="02 er-RT1 送检 CFW">
            <a:extLst>
              <a:ext uri="{FF2B5EF4-FFF2-40B4-BE49-F238E27FC236}">
                <a16:creationId xmlns:a16="http://schemas.microsoft.com/office/drawing/2014/main" id="{EC90D90F-51B9-4952-8E87-748542552D4D}"/>
              </a:ext>
            </a:extLst>
          </p:cNvPr>
          <p:cNvCxnSpPr/>
          <p:nvPr/>
        </p:nvCxnSpPr>
        <p:spPr>
          <a:xfrm>
            <a:off x="2514600" y="4800600"/>
            <a:ext cx="0" cy="5715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40" name="统一风格-文字 02  送检-37">
            <a:extLst>
              <a:ext uri="{FF2B5EF4-FFF2-40B4-BE49-F238E27FC236}">
                <a16:creationId xmlns:a16="http://schemas.microsoft.com/office/drawing/2014/main" id="{D2AEEF76-464D-4BA7-AF37-65CE53C2FD50}"/>
              </a:ext>
            </a:extLst>
          </p:cNvPr>
          <p:cNvSpPr>
            <a:spLocks noGrp="1"/>
          </p:cNvSpPr>
          <p:nvPr/>
        </p:nvSpPr>
        <p:spPr>
          <a:xfrm>
            <a:off x="2667000" y="4943475"/>
            <a:ext cx="1428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  送检</a:t>
            </a:r>
          </a:p>
        </p:txBody>
      </p:sp>
      <p:cxnSp>
        <p:nvCxnSpPr>
          <p:cNvPr id="41" name="03 CFW 放行回注 er-RT2">
            <a:extLst>
              <a:ext uri="{FF2B5EF4-FFF2-40B4-BE49-F238E27FC236}">
                <a16:creationId xmlns:a16="http://schemas.microsoft.com/office/drawing/2014/main" id="{9CF3CBA0-9527-46D7-A6BA-999F21ED72AC}"/>
              </a:ext>
            </a:extLst>
          </p:cNvPr>
          <p:cNvCxnSpPr/>
          <p:nvPr/>
        </p:nvCxnSpPr>
        <p:spPr>
          <a:xfrm flipV="1">
            <a:off x="6324600" y="4800600"/>
            <a:ext cx="0" cy="571500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42" name="统一风格-文字 03  放行回注-38">
            <a:extLst>
              <a:ext uri="{FF2B5EF4-FFF2-40B4-BE49-F238E27FC236}">
                <a16:creationId xmlns:a16="http://schemas.microsoft.com/office/drawing/2014/main" id="{237AD803-B3A6-4C2B-8E92-8AE1895F64C5}"/>
              </a:ext>
            </a:extLst>
          </p:cNvPr>
          <p:cNvSpPr>
            <a:spLocks noGrp="1"/>
          </p:cNvSpPr>
          <p:nvPr/>
        </p:nvSpPr>
        <p:spPr>
          <a:xfrm>
            <a:off x="6477000" y="4943475"/>
            <a:ext cx="1714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03  放行回注</a:t>
            </a:r>
          </a:p>
        </p:txBody>
      </p:sp>
      <p:sp>
        <p:nvSpPr>
          <p:cNvPr id="43" name="统一风格-CFW 与 ER 等宽模块玻璃后沿-39">
            <a:extLst>
              <a:ext uri="{FF2B5EF4-FFF2-40B4-BE49-F238E27FC236}">
                <a16:creationId xmlns:a16="http://schemas.microsoft.com/office/drawing/2014/main" id="{AF793FA2-6B1A-439C-A7F6-2BAFCB24F5A2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762000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CFW 与 ER 等宽模块-40">
            <a:extLst>
              <a:ext uri="{FF2B5EF4-FFF2-40B4-BE49-F238E27FC236}">
                <a16:creationId xmlns:a16="http://schemas.microsoft.com/office/drawing/2014/main" id="{0FE9F28A-F922-49FD-A340-46ACEE112666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7620000" cy="666750"/>
          </a:xfrm>
          <a:prstGeom prst="roundRect">
            <a:avLst>
              <a:gd name="adj" fmla="val 1285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CFW 与 ER 等宽模块玻璃内沿-41">
            <a:extLst>
              <a:ext uri="{FF2B5EF4-FFF2-40B4-BE49-F238E27FC236}">
                <a16:creationId xmlns:a16="http://schemas.microsoft.com/office/drawing/2014/main" id="{2151FD06-1545-4DFF-8642-E2F642B3375F}"/>
              </a:ext>
            </a:extLst>
          </p:cNvPr>
          <p:cNvSpPr>
            <a:spLocks noGrp="1"/>
          </p:cNvSpPr>
          <p:nvPr/>
        </p:nvSpPr>
        <p:spPr>
          <a:xfrm>
            <a:off x="622459" y="5384959"/>
            <a:ext cx="7594283" cy="641033"/>
          </a:xfrm>
          <a:prstGeom prst="roundRect">
            <a:avLst>
              <a:gd name="adj" fmla="val 114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CFW 与 ER 等宽模块透光反射面-42">
            <a:extLst>
              <a:ext uri="{FF2B5EF4-FFF2-40B4-BE49-F238E27FC236}">
                <a16:creationId xmlns:a16="http://schemas.microsoft.com/office/drawing/2014/main" id="{67E4A02A-2A85-47D5-8E44-933AC9E0C427}"/>
              </a:ext>
            </a:extLst>
          </p:cNvPr>
          <p:cNvSpPr>
            <a:spLocks noGrp="1"/>
          </p:cNvSpPr>
          <p:nvPr/>
        </p:nvSpPr>
        <p:spPr>
          <a:xfrm>
            <a:off x="628650" y="5391150"/>
            <a:ext cx="7581900" cy="628650"/>
          </a:xfrm>
          <a:custGeom>
            <a:avLst/>
            <a:gdLst/>
            <a:ahLst/>
            <a:cxnLst/>
            <a:rect l="0" t="0" r="0" b="0"/>
            <a:pathLst>
              <a:path w="7581900" h="628650">
                <a:moveTo>
                  <a:pt x="76200" y="0"/>
                </a:moveTo>
                <a:lnTo>
                  <a:pt x="4852416" y="0"/>
                </a:lnTo>
                <a:lnTo>
                  <a:pt x="1971294" y="628650"/>
                </a:lnTo>
                <a:lnTo>
                  <a:pt x="76200" y="628650"/>
                </a:lnTo>
                <a:cubicBezTo>
                  <a:pt x="28575" y="628650"/>
                  <a:pt x="0" y="600075"/>
                  <a:pt x="0" y="5524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CFW 与 ER 等宽模块边缘高光-43">
            <a:extLst>
              <a:ext uri="{FF2B5EF4-FFF2-40B4-BE49-F238E27FC236}">
                <a16:creationId xmlns:a16="http://schemas.microsoft.com/office/drawing/2014/main" id="{7D862A0C-128D-4BCA-AE6C-5DDE26451B8B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7620000" cy="666750"/>
          </a:xfrm>
          <a:custGeom>
            <a:avLst/>
            <a:gdLst/>
            <a:ahLst/>
            <a:cxnLst/>
            <a:rect l="0" t="0" r="0" b="0"/>
            <a:pathLst>
              <a:path w="7620000" h="666750">
                <a:moveTo>
                  <a:pt x="95250" y="9525"/>
                </a:moveTo>
                <a:lnTo>
                  <a:pt x="7524750" y="9525"/>
                </a:lnTo>
                <a:cubicBezTo>
                  <a:pt x="7572375" y="9525"/>
                  <a:pt x="7610475" y="47625"/>
                  <a:pt x="7610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firewall CFW 砖墙-44">
            <a:extLst>
              <a:ext uri="{FF2B5EF4-FFF2-40B4-BE49-F238E27FC236}">
                <a16:creationId xmlns:a16="http://schemas.microsoft.com/office/drawing/2014/main" id="{5B510175-0DBF-4046-BD7A-4B59F83A652B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firewall CFW 砖缝-45">
            <a:extLst>
              <a:ext uri="{FF2B5EF4-FFF2-40B4-BE49-F238E27FC236}">
                <a16:creationId xmlns:a16="http://schemas.microsoft.com/office/drawing/2014/main" id="{CD244996-9257-4F36-824E-9CBBF04CBD35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firewall CFW 前景衬底-46">
            <a:extLst>
              <a:ext uri="{FF2B5EF4-FFF2-40B4-BE49-F238E27FC236}">
                <a16:creationId xmlns:a16="http://schemas.microsoft.com/office/drawing/2014/main" id="{01DBE0C1-CBE1-4456-992B-B8A7A762E12D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firewall CFW 简洁火焰-47">
            <a:extLst>
              <a:ext uri="{FF2B5EF4-FFF2-40B4-BE49-F238E27FC236}">
                <a16:creationId xmlns:a16="http://schemas.microsoft.com/office/drawing/2014/main" id="{201661F4-F3BF-4253-A94B-DF59A4FD5EAA}"/>
              </a:ext>
            </a:extLst>
          </p:cNvPr>
          <p:cNvSpPr>
            <a:spLocks noGrp="1"/>
          </p:cNvSpPr>
          <p:nvPr/>
        </p:nvSpPr>
        <p:spPr>
          <a:xfrm>
            <a:off x="3181350" y="5476875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820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文字 CFW-48">
            <a:extLst>
              <a:ext uri="{FF2B5EF4-FFF2-40B4-BE49-F238E27FC236}">
                <a16:creationId xmlns:a16="http://schemas.microsoft.com/office/drawing/2014/main" id="{C4332D83-4654-43AE-97B5-0157F20E7B3B}"/>
              </a:ext>
            </a:extLst>
          </p:cNvPr>
          <p:cNvSpPr>
            <a:spLocks noGrp="1"/>
          </p:cNvSpPr>
          <p:nvPr/>
        </p:nvSpPr>
        <p:spPr>
          <a:xfrm>
            <a:off x="3790950" y="54197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53" name="统一风格-文字 策略与威胁检测-49">
            <a:extLst>
              <a:ext uri="{FF2B5EF4-FFF2-40B4-BE49-F238E27FC236}">
                <a16:creationId xmlns:a16="http://schemas.microsoft.com/office/drawing/2014/main" id="{5D3DC03E-933C-4266-9B4E-12839C556B14}"/>
              </a:ext>
            </a:extLst>
          </p:cNvPr>
          <p:cNvSpPr>
            <a:spLocks noGrp="1"/>
          </p:cNvSpPr>
          <p:nvPr/>
        </p:nvSpPr>
        <p:spPr>
          <a:xfrm>
            <a:off x="3790950" y="5743575"/>
            <a:ext cx="2381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策略与威胁检测</a:t>
            </a:r>
          </a:p>
        </p:txBody>
      </p:sp>
      <p:sp>
        <p:nvSpPr>
          <p:cNvPr id="54" name="统一风格-讲解区分隔-50">
            <a:extLst>
              <a:ext uri="{FF2B5EF4-FFF2-40B4-BE49-F238E27FC236}">
                <a16:creationId xmlns:a16="http://schemas.microsoft.com/office/drawing/2014/main" id="{DFE0AB28-FED6-4CF5-ACE4-9AA63F99D95C}"/>
              </a:ext>
            </a:extLst>
          </p:cNvPr>
          <p:cNvSpPr>
            <a:spLocks noGrp="1"/>
          </p:cNvSpPr>
          <p:nvPr/>
        </p:nvSpPr>
        <p:spPr>
          <a:xfrm>
            <a:off x="8620125" y="2076450"/>
            <a:ext cx="0" cy="386715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讲解标题短线-51">
            <a:extLst>
              <a:ext uri="{FF2B5EF4-FFF2-40B4-BE49-F238E27FC236}">
                <a16:creationId xmlns:a16="http://schemas.microsoft.com/office/drawing/2014/main" id="{A2638D73-42FB-42A0-BF09-B6F074991382}"/>
              </a:ext>
            </a:extLst>
          </p:cNvPr>
          <p:cNvSpPr>
            <a:spLocks noGrp="1"/>
          </p:cNvSpPr>
          <p:nvPr/>
        </p:nvSpPr>
        <p:spPr>
          <a:xfrm>
            <a:off x="8886825" y="205740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文字 连接关联-52">
            <a:extLst>
              <a:ext uri="{FF2B5EF4-FFF2-40B4-BE49-F238E27FC236}">
                <a16:creationId xmlns:a16="http://schemas.microsoft.com/office/drawing/2014/main" id="{8837BE5D-9B5E-4BFC-9AA2-7629DF9AE4EF}"/>
              </a:ext>
            </a:extLst>
          </p:cNvPr>
          <p:cNvSpPr>
            <a:spLocks noGrp="1"/>
          </p:cNvSpPr>
          <p:nvPr/>
        </p:nvSpPr>
        <p:spPr>
          <a:xfrm>
            <a:off x="8886825" y="2143125"/>
            <a:ext cx="2695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连接关联</a:t>
            </a:r>
          </a:p>
        </p:txBody>
      </p:sp>
      <p:sp>
        <p:nvSpPr>
          <p:cNvPr id="57" name="统一风格-文字 入口连接关联哪张路由表， 就用哪张表查找下一跳。-53">
            <a:extLst>
              <a:ext uri="{FF2B5EF4-FFF2-40B4-BE49-F238E27FC236}">
                <a16:creationId xmlns:a16="http://schemas.microsoft.com/office/drawing/2014/main" id="{48967115-B309-4668-BF95-474CAD33AAE7}"/>
              </a:ext>
            </a:extLst>
          </p:cNvPr>
          <p:cNvSpPr>
            <a:spLocks noGrp="1"/>
          </p:cNvSpPr>
          <p:nvPr/>
        </p:nvSpPr>
        <p:spPr>
          <a:xfrm>
            <a:off x="8886825" y="2552700"/>
            <a:ext cx="2695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入口连接关联哪张路由表，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就用哪张表查找下一跳。</a:t>
            </a:r>
          </a:p>
        </p:txBody>
      </p:sp>
      <p:sp>
        <p:nvSpPr>
          <p:cNvPr id="58" name="统一风格-讲解标题短线-54">
            <a:extLst>
              <a:ext uri="{FF2B5EF4-FFF2-40B4-BE49-F238E27FC236}">
                <a16:creationId xmlns:a16="http://schemas.microsoft.com/office/drawing/2014/main" id="{CA89D0F9-1A5E-4F5F-BD66-2784468730D3}"/>
              </a:ext>
            </a:extLst>
          </p:cNvPr>
          <p:cNvSpPr>
            <a:spLocks noGrp="1"/>
          </p:cNvSpPr>
          <p:nvPr/>
        </p:nvSpPr>
        <p:spPr>
          <a:xfrm>
            <a:off x="8886825" y="3362325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路由与传播-55">
            <a:extLst>
              <a:ext uri="{FF2B5EF4-FFF2-40B4-BE49-F238E27FC236}">
                <a16:creationId xmlns:a16="http://schemas.microsoft.com/office/drawing/2014/main" id="{1576C79F-89D7-4C2B-808F-76F41D1D764D}"/>
              </a:ext>
            </a:extLst>
          </p:cNvPr>
          <p:cNvSpPr>
            <a:spLocks noGrp="1"/>
          </p:cNvSpPr>
          <p:nvPr/>
        </p:nvSpPr>
        <p:spPr>
          <a:xfrm>
            <a:off x="8886825" y="3448050"/>
            <a:ext cx="2695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路由与传播</a:t>
            </a:r>
          </a:p>
        </p:txBody>
      </p:sp>
      <p:sp>
        <p:nvSpPr>
          <p:cNvPr id="60" name="统一风格-文字 RT1 指向 CFW。 RT2 学习并转发业务路由。-56">
            <a:extLst>
              <a:ext uri="{FF2B5EF4-FFF2-40B4-BE49-F238E27FC236}">
                <a16:creationId xmlns:a16="http://schemas.microsoft.com/office/drawing/2014/main" id="{11EBF732-306C-41C4-A21F-BEB63E3392B5}"/>
              </a:ext>
            </a:extLst>
          </p:cNvPr>
          <p:cNvSpPr>
            <a:spLocks noGrp="1"/>
          </p:cNvSpPr>
          <p:nvPr/>
        </p:nvSpPr>
        <p:spPr>
          <a:xfrm>
            <a:off x="8886825" y="3857625"/>
            <a:ext cx="2695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RT1 指向 CFW。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RT2 学习并转发业务路由。</a:t>
            </a:r>
          </a:p>
        </p:txBody>
      </p:sp>
      <p:sp>
        <p:nvSpPr>
          <p:cNvPr id="61" name="统一风格-讲解标题短线-57">
            <a:extLst>
              <a:ext uri="{FF2B5EF4-FFF2-40B4-BE49-F238E27FC236}">
                <a16:creationId xmlns:a16="http://schemas.microsoft.com/office/drawing/2014/main" id="{383FC1D8-5E42-4364-A4F2-EE0718D413F1}"/>
              </a:ext>
            </a:extLst>
          </p:cNvPr>
          <p:cNvSpPr>
            <a:spLocks noGrp="1"/>
          </p:cNvSpPr>
          <p:nvPr/>
        </p:nvSpPr>
        <p:spPr>
          <a:xfrm>
            <a:off x="8886825" y="4667250"/>
            <a:ext cx="3429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文字 请求与响应-58">
            <a:extLst>
              <a:ext uri="{FF2B5EF4-FFF2-40B4-BE49-F238E27FC236}">
                <a16:creationId xmlns:a16="http://schemas.microsoft.com/office/drawing/2014/main" id="{BADEAE4F-B309-4C51-90E5-19B4411635F0}"/>
              </a:ext>
            </a:extLst>
          </p:cNvPr>
          <p:cNvSpPr>
            <a:spLocks noGrp="1"/>
          </p:cNvSpPr>
          <p:nvPr/>
        </p:nvSpPr>
        <p:spPr>
          <a:xfrm>
            <a:off x="8886825" y="4752975"/>
            <a:ext cx="2695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请求与响应</a:t>
            </a:r>
          </a:p>
        </p:txBody>
      </p:sp>
      <p:sp>
        <p:nvSpPr>
          <p:cNvPr id="63" name="统一风格-文字 两端 VPC 均关联 RT1。 响应也按相反方向经过 CFW。-59">
            <a:extLst>
              <a:ext uri="{FF2B5EF4-FFF2-40B4-BE49-F238E27FC236}">
                <a16:creationId xmlns:a16="http://schemas.microsoft.com/office/drawing/2014/main" id="{8B2AF911-0736-4B4D-9308-B15EEB67765C}"/>
              </a:ext>
            </a:extLst>
          </p:cNvPr>
          <p:cNvSpPr>
            <a:spLocks noGrp="1"/>
          </p:cNvSpPr>
          <p:nvPr/>
        </p:nvSpPr>
        <p:spPr>
          <a:xfrm>
            <a:off x="8886825" y="5162550"/>
            <a:ext cx="2695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两端 VPC 均关联 RT1。</a:t>
            </a:r>
          </a:p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响应也按相反方向经过 CFW。</a:t>
            </a:r>
          </a:p>
        </p:txBody>
      </p:sp>
      <p:sp>
        <p:nvSpPr>
          <p:cNvPr id="64" name="统一风格-页脚分隔-60">
            <a:extLst>
              <a:ext uri="{FF2B5EF4-FFF2-40B4-BE49-F238E27FC236}">
                <a16:creationId xmlns:a16="http://schemas.microsoft.com/office/drawing/2014/main" id="{C217C94F-77EB-4165-9051-BA7FF93C91F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8573">
            <a:solidFill>
              <a:srgbClr val="B8CB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统一风格-文字 示意图按已开启 VPC 边界防护且路由匹配的路径展示。业务连通与 CFW 实际送检需分别验证。-61">
            <a:extLst>
              <a:ext uri="{FF2B5EF4-FFF2-40B4-BE49-F238E27FC236}">
                <a16:creationId xmlns:a16="http://schemas.microsoft.com/office/drawing/2014/main" id="{72850EA6-8062-4F42-8121-8F05741825D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示意图按已开启 VPC 边界防护且路由匹配的路径展示。业务连通与 CFW 实际送检需分别验证。</a:t>
            </a:r>
          </a:p>
        </p:txBody>
      </p:sp>
      <p:sp>
        <p:nvSpPr>
          <p:cNvPr id="66" name="统一风格-文字 57-62">
            <a:extLst>
              <a:ext uri="{FF2B5EF4-FFF2-40B4-BE49-F238E27FC236}">
                <a16:creationId xmlns:a16="http://schemas.microsoft.com/office/drawing/2014/main" id="{9E4A3F6A-33F9-4F89-A3C1-5505EFE56E5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665938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正文-03  CFW 使用规范">
            <a:extLst>
              <a:ext uri="{FF2B5EF4-FFF2-40B4-BE49-F238E27FC236}">
                <a16:creationId xmlns:a16="http://schemas.microsoft.com/office/drawing/2014/main" id="{F170C91B-075D-4748-9751-A01316A79CD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统一风格-文字 跨 VPC 连接的去程与回程检查-2">
            <a:extLst>
              <a:ext uri="{FF2B5EF4-FFF2-40B4-BE49-F238E27FC236}">
                <a16:creationId xmlns:a16="http://schemas.microsoft.com/office/drawing/2014/main" id="{1A423D5C-6C3B-427F-8D55-36E6843E288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跨 VPC 连接的去程与回程检查</a:t>
            </a:r>
          </a:p>
        </p:txBody>
      </p:sp>
      <p:sp>
        <p:nvSpPr>
          <p:cNvPr id="3" name="统一风格-文字 两端安全组分别核验，VPC 路由与 ER 路由分别查表-3">
            <a:extLst>
              <a:ext uri="{FF2B5EF4-FFF2-40B4-BE49-F238E27FC236}">
                <a16:creationId xmlns:a16="http://schemas.microsoft.com/office/drawing/2014/main" id="{A995A358-FBE1-457A-B4D8-09C4100646F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目的 VPC 入向与回程分别查表，两端安全组按连接方向核验</a:t>
            </a:r>
          </a:p>
        </p:txBody>
      </p:sp>
      <p:sp>
        <p:nvSpPr>
          <p:cNvPr id="4" name="统一风格-应用 VPC 域玻璃后沿-4">
            <a:extLst>
              <a:ext uri="{FF2B5EF4-FFF2-40B4-BE49-F238E27FC236}">
                <a16:creationId xmlns:a16="http://schemas.microsoft.com/office/drawing/2014/main" id="{596D9225-EE25-4330-844B-40D84985D61A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5" name="统一风格-应用 VPC 域-5">
            <a:extLst>
              <a:ext uri="{FF2B5EF4-FFF2-40B4-BE49-F238E27FC236}">
                <a16:creationId xmlns:a16="http://schemas.microsoft.com/office/drawing/2014/main" id="{53EB67F6-B007-42F5-9D61-3FAD078DD348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6" name="统一风格-应用 VPC 域玻璃内沿-6">
            <a:extLst>
              <a:ext uri="{FF2B5EF4-FFF2-40B4-BE49-F238E27FC236}">
                <a16:creationId xmlns:a16="http://schemas.microsoft.com/office/drawing/2014/main" id="{1F8500BF-03A5-4907-9AC7-C869CDB34E30}"/>
              </a:ext>
            </a:extLst>
          </p:cNvPr>
          <p:cNvSpPr>
            <a:spLocks noGrp="1"/>
          </p:cNvSpPr>
          <p:nvPr/>
        </p:nvSpPr>
        <p:spPr>
          <a:xfrm>
            <a:off x="622459" y="2146459"/>
            <a:ext cx="2831783" cy="3022283"/>
          </a:xfrm>
          <a:prstGeom prst="roundRect">
            <a:avLst>
              <a:gd name="adj" fmla="val 259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" name="统一风格-应用 VPC 域边缘高光-7">
            <a:extLst>
              <a:ext uri="{FF2B5EF4-FFF2-40B4-BE49-F238E27FC236}">
                <a16:creationId xmlns:a16="http://schemas.microsoft.com/office/drawing/2014/main" id="{D71B48F4-1B56-4FF5-841D-F78C8C198F30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857500" cy="3048000"/>
          </a:xfrm>
          <a:custGeom>
            <a:avLst/>
            <a:gdLst/>
            <a:ahLst/>
            <a:cxnLst/>
            <a:rect l="0" t="0" r="0" b="0"/>
            <a:pathLst>
              <a:path w="2857500" h="3048000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8" name="统一风格-数据 VPC 域玻璃后沿-8">
            <a:extLst>
              <a:ext uri="{FF2B5EF4-FFF2-40B4-BE49-F238E27FC236}">
                <a16:creationId xmlns:a16="http://schemas.microsoft.com/office/drawing/2014/main" id="{11F213F0-F469-4D2F-8DD9-C9FBCAED56FE}"/>
              </a:ext>
            </a:extLst>
          </p:cNvPr>
          <p:cNvSpPr>
            <a:spLocks noGrp="1"/>
          </p:cNvSpPr>
          <p:nvPr/>
        </p:nvSpPr>
        <p:spPr>
          <a:xfrm>
            <a:off x="87249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9" name="统一风格-数据 VPC 域-9">
            <a:extLst>
              <a:ext uri="{FF2B5EF4-FFF2-40B4-BE49-F238E27FC236}">
                <a16:creationId xmlns:a16="http://schemas.microsoft.com/office/drawing/2014/main" id="{E33813B2-6E5D-45EE-A9C5-F2F058E096A6}"/>
              </a:ext>
            </a:extLst>
          </p:cNvPr>
          <p:cNvSpPr>
            <a:spLocks noGrp="1"/>
          </p:cNvSpPr>
          <p:nvPr/>
        </p:nvSpPr>
        <p:spPr>
          <a:xfrm>
            <a:off x="8724900" y="2133600"/>
            <a:ext cx="2857500" cy="3048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0" name="统一风格-数据 VPC 域玻璃内沿-10">
            <a:extLst>
              <a:ext uri="{FF2B5EF4-FFF2-40B4-BE49-F238E27FC236}">
                <a16:creationId xmlns:a16="http://schemas.microsoft.com/office/drawing/2014/main" id="{8E89553A-7599-497B-94CB-C353BAE65A1D}"/>
              </a:ext>
            </a:extLst>
          </p:cNvPr>
          <p:cNvSpPr>
            <a:spLocks noGrp="1"/>
          </p:cNvSpPr>
          <p:nvPr/>
        </p:nvSpPr>
        <p:spPr>
          <a:xfrm>
            <a:off x="8737759" y="2146459"/>
            <a:ext cx="2831783" cy="3022283"/>
          </a:xfrm>
          <a:prstGeom prst="roundRect">
            <a:avLst>
              <a:gd name="adj" fmla="val 259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1" name="统一风格-数据 VPC 域边缘高光-11">
            <a:extLst>
              <a:ext uri="{FF2B5EF4-FFF2-40B4-BE49-F238E27FC236}">
                <a16:creationId xmlns:a16="http://schemas.microsoft.com/office/drawing/2014/main" id="{2D7F6660-D490-441C-88D2-DC84CD26112F}"/>
              </a:ext>
            </a:extLst>
          </p:cNvPr>
          <p:cNvSpPr>
            <a:spLocks noGrp="1"/>
          </p:cNvSpPr>
          <p:nvPr/>
        </p:nvSpPr>
        <p:spPr>
          <a:xfrm>
            <a:off x="8724900" y="2133600"/>
            <a:ext cx="2857500" cy="3048000"/>
          </a:xfrm>
          <a:custGeom>
            <a:avLst/>
            <a:gdLst/>
            <a:ahLst/>
            <a:cxnLst/>
            <a:rect l="0" t="0" r="0" b="0"/>
            <a:pathLst>
              <a:path w="2857500" h="3048000">
                <a:moveTo>
                  <a:pt x="95250" y="9525"/>
                </a:moveTo>
                <a:lnTo>
                  <a:pt x="2762250" y="9525"/>
                </a:lnTo>
                <a:cubicBezTo>
                  <a:pt x="2809875" y="9525"/>
                  <a:pt x="2847975" y="47625"/>
                  <a:pt x="2847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" name="统一风格-cloud VPC 云轮廓-12">
            <a:extLst>
              <a:ext uri="{FF2B5EF4-FFF2-40B4-BE49-F238E27FC236}">
                <a16:creationId xmlns:a16="http://schemas.microsoft.com/office/drawing/2014/main" id="{F31C5EE9-C561-45B2-8F3C-F459AC6E9292}"/>
              </a:ext>
            </a:extLst>
          </p:cNvPr>
          <p:cNvSpPr>
            <a:spLocks noGrp="1"/>
          </p:cNvSpPr>
          <p:nvPr/>
        </p:nvSpPr>
        <p:spPr>
          <a:xfrm>
            <a:off x="790575" y="225742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411" cap="rnd">
            <a:solidFill>
              <a:srgbClr val="2053C3"/>
            </a:solidFill>
            <a:round/>
          </a:ln>
        </p:spPr>
      </p:sp>
      <p:sp>
        <p:nvSpPr>
          <p:cNvPr id="13" name="统一风格-文字 应用 VPC-13">
            <a:extLst>
              <a:ext uri="{FF2B5EF4-FFF2-40B4-BE49-F238E27FC236}">
                <a16:creationId xmlns:a16="http://schemas.microsoft.com/office/drawing/2014/main" id="{28DB553F-ABD1-42EF-9FC8-0378868B9FD2}"/>
              </a:ext>
            </a:extLst>
          </p:cNvPr>
          <p:cNvSpPr>
            <a:spLocks noGrp="1"/>
          </p:cNvSpPr>
          <p:nvPr/>
        </p:nvSpPr>
        <p:spPr>
          <a:xfrm>
            <a:off x="1276350" y="223837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0.0/16-14">
            <a:extLst>
              <a:ext uri="{FF2B5EF4-FFF2-40B4-BE49-F238E27FC236}">
                <a16:creationId xmlns:a16="http://schemas.microsoft.com/office/drawing/2014/main" id="{4810A9DE-6F6B-4CBA-B8D3-5505C7340A5B}"/>
              </a:ext>
            </a:extLst>
          </p:cNvPr>
          <p:cNvSpPr>
            <a:spLocks noGrp="1"/>
          </p:cNvSpPr>
          <p:nvPr/>
        </p:nvSpPr>
        <p:spPr>
          <a:xfrm>
            <a:off x="1276350" y="248602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10.20.0.0/16</a:t>
            </a:r>
          </a:p>
        </p:txBody>
      </p:sp>
      <p:sp>
        <p:nvSpPr>
          <p:cNvPr id="15" name="统一风格-cloud VPC 云轮廓-15">
            <a:extLst>
              <a:ext uri="{FF2B5EF4-FFF2-40B4-BE49-F238E27FC236}">
                <a16:creationId xmlns:a16="http://schemas.microsoft.com/office/drawing/2014/main" id="{731CC06F-391E-494E-8F82-DE5E7F36C052}"/>
              </a:ext>
            </a:extLst>
          </p:cNvPr>
          <p:cNvSpPr>
            <a:spLocks noGrp="1"/>
          </p:cNvSpPr>
          <p:nvPr/>
        </p:nvSpPr>
        <p:spPr>
          <a:xfrm>
            <a:off x="8905875" y="2257425"/>
            <a:ext cx="361950" cy="3619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4411" cap="rnd">
            <a:solidFill>
              <a:srgbClr val="2053C3"/>
            </a:solidFill>
            <a:round/>
          </a:ln>
        </p:spPr>
      </p:sp>
      <p:sp>
        <p:nvSpPr>
          <p:cNvPr id="16" name="统一风格-文字 数据 VPC-16">
            <a:extLst>
              <a:ext uri="{FF2B5EF4-FFF2-40B4-BE49-F238E27FC236}">
                <a16:creationId xmlns:a16="http://schemas.microsoft.com/office/drawing/2014/main" id="{636F8907-28FF-48D2-949A-D31731B6CF9E}"/>
              </a:ext>
            </a:extLst>
          </p:cNvPr>
          <p:cNvSpPr>
            <a:spLocks noGrp="1"/>
          </p:cNvSpPr>
          <p:nvPr/>
        </p:nvSpPr>
        <p:spPr>
          <a:xfrm>
            <a:off x="9391650" y="223837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17" name="统一风格-文字 10.30.0.0/16-17">
            <a:extLst>
              <a:ext uri="{FF2B5EF4-FFF2-40B4-BE49-F238E27FC236}">
                <a16:creationId xmlns:a16="http://schemas.microsoft.com/office/drawing/2014/main" id="{F23652AB-269A-4803-993B-A89D94182D96}"/>
              </a:ext>
            </a:extLst>
          </p:cNvPr>
          <p:cNvSpPr>
            <a:spLocks noGrp="1"/>
          </p:cNvSpPr>
          <p:nvPr/>
        </p:nvSpPr>
        <p:spPr>
          <a:xfrm>
            <a:off x="9391650" y="2486025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10.30.0.0/16</a:t>
            </a:r>
          </a:p>
        </p:txBody>
      </p:sp>
      <p:sp>
        <p:nvSpPr>
          <p:cNvPr id="18" name="统一风格-源主机玻璃后沿-18">
            <a:extLst>
              <a:ext uri="{FF2B5EF4-FFF2-40B4-BE49-F238E27FC236}">
                <a16:creationId xmlns:a16="http://schemas.microsoft.com/office/drawing/2014/main" id="{C0C5BE30-84D0-4FB7-A6A4-C114BEE0A587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统一风格-源主机-19">
            <a:extLst>
              <a:ext uri="{FF2B5EF4-FFF2-40B4-BE49-F238E27FC236}">
                <a16:creationId xmlns:a16="http://schemas.microsoft.com/office/drawing/2014/main" id="{8F79B276-7207-4303-9909-652387072D7A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20" name="统一风格-源主机玻璃内沿-20">
            <a:extLst>
              <a:ext uri="{FF2B5EF4-FFF2-40B4-BE49-F238E27FC236}">
                <a16:creationId xmlns:a16="http://schemas.microsoft.com/office/drawing/2014/main" id="{750B1FAE-039C-478B-83A2-A7B236426BD3}"/>
              </a:ext>
            </a:extLst>
          </p:cNvPr>
          <p:cNvSpPr>
            <a:spLocks noGrp="1"/>
          </p:cNvSpPr>
          <p:nvPr/>
        </p:nvSpPr>
        <p:spPr>
          <a:xfrm>
            <a:off x="812959" y="2737009"/>
            <a:ext cx="245078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21" name="统一风格-源主机透光反射面-21">
            <a:extLst>
              <a:ext uri="{FF2B5EF4-FFF2-40B4-BE49-F238E27FC236}">
                <a16:creationId xmlns:a16="http://schemas.microsoft.com/office/drawing/2014/main" id="{82484263-0ADE-40EA-BA57-354BC8D79F8A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438400" cy="533400"/>
          </a:xfrm>
          <a:custGeom>
            <a:avLst/>
            <a:gdLst/>
            <a:ahLst/>
            <a:cxnLst/>
            <a:rect l="0" t="0" r="0" b="0"/>
            <a:pathLst>
              <a:path w="2438400" h="533400">
                <a:moveTo>
                  <a:pt x="76200" y="0"/>
                </a:moveTo>
                <a:lnTo>
                  <a:pt x="1560576" y="0"/>
                </a:lnTo>
                <a:lnTo>
                  <a:pt x="633984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22" name="统一风格-源主机边缘高光-22">
            <a:extLst>
              <a:ext uri="{FF2B5EF4-FFF2-40B4-BE49-F238E27FC236}">
                <a16:creationId xmlns:a16="http://schemas.microsoft.com/office/drawing/2014/main" id="{9CCBFC51-1B67-47A5-AC49-0DE5ED56EBC7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476500" cy="571500"/>
          </a:xfrm>
          <a:custGeom>
            <a:avLst/>
            <a:gdLst/>
            <a:ahLst/>
            <a:cxnLst/>
            <a:rect l="0" t="0" r="0" b="0"/>
            <a:pathLst>
              <a:path w="2476500" h="57150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23" name="统一风格-server 服务器机架-23">
            <a:extLst>
              <a:ext uri="{FF2B5EF4-FFF2-40B4-BE49-F238E27FC236}">
                <a16:creationId xmlns:a16="http://schemas.microsoft.com/office/drawing/2014/main" id="{317F733E-C294-40EC-AF4C-F0F06111BD56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24" name="统一风格-server 机架状态-24">
            <a:extLst>
              <a:ext uri="{FF2B5EF4-FFF2-40B4-BE49-F238E27FC236}">
                <a16:creationId xmlns:a16="http://schemas.microsoft.com/office/drawing/2014/main" id="{7FD4D2AD-A801-45E9-85EB-6FCCC818A95B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25" name="统一风格-server 指示灯-25">
            <a:extLst>
              <a:ext uri="{FF2B5EF4-FFF2-40B4-BE49-F238E27FC236}">
                <a16:creationId xmlns:a16="http://schemas.microsoft.com/office/drawing/2014/main" id="{0B44414D-9C2E-446D-990E-05DCBAFD0CC0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6" name="统一风格-server 服务器机架-26">
            <a:extLst>
              <a:ext uri="{FF2B5EF4-FFF2-40B4-BE49-F238E27FC236}">
                <a16:creationId xmlns:a16="http://schemas.microsoft.com/office/drawing/2014/main" id="{794F7FEA-AFCC-4CE4-A9E3-ADDB64470140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27" name="统一风格-server 机架状态-27">
            <a:extLst>
              <a:ext uri="{FF2B5EF4-FFF2-40B4-BE49-F238E27FC236}">
                <a16:creationId xmlns:a16="http://schemas.microsoft.com/office/drawing/2014/main" id="{4462F4F0-63E6-4478-BC98-0281EDD0E3D1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28" name="统一风格-server 指示灯-28">
            <a:extLst>
              <a:ext uri="{FF2B5EF4-FFF2-40B4-BE49-F238E27FC236}">
                <a16:creationId xmlns:a16="http://schemas.microsoft.com/office/drawing/2014/main" id="{BCDC4081-D47C-4218-8F0F-E6E980DC4686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29" name="统一风格-server 服务器机架-29">
            <a:extLst>
              <a:ext uri="{FF2B5EF4-FFF2-40B4-BE49-F238E27FC236}">
                <a16:creationId xmlns:a16="http://schemas.microsoft.com/office/drawing/2014/main" id="{0E46F294-6691-4B59-98D3-748C27668F21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30" name="统一风格-server 机架状态-30">
            <a:extLst>
              <a:ext uri="{FF2B5EF4-FFF2-40B4-BE49-F238E27FC236}">
                <a16:creationId xmlns:a16="http://schemas.microsoft.com/office/drawing/2014/main" id="{76EB8627-0096-4297-AD98-033B3CC6633E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31" name="统一风格-server 指示灯-31">
            <a:extLst>
              <a:ext uri="{FF2B5EF4-FFF2-40B4-BE49-F238E27FC236}">
                <a16:creationId xmlns:a16="http://schemas.microsoft.com/office/drawing/2014/main" id="{3548695F-DBB8-4FA6-8F76-4C4538150F29}"/>
              </a:ext>
            </a:extLst>
          </p:cNvPr>
          <p:cNvSpPr>
            <a:spLocks noGrp="1"/>
          </p:cNvSpPr>
          <p:nvPr/>
        </p:nvSpPr>
        <p:spPr>
          <a:xfrm>
            <a:off x="9239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32" name="统一风格-文字 源主机-32">
            <a:extLst>
              <a:ext uri="{FF2B5EF4-FFF2-40B4-BE49-F238E27FC236}">
                <a16:creationId xmlns:a16="http://schemas.microsoft.com/office/drawing/2014/main" id="{88224FA3-9250-4D43-8FE2-08DA50B21317}"/>
              </a:ext>
            </a:extLst>
          </p:cNvPr>
          <p:cNvSpPr>
            <a:spLocks noGrp="1"/>
          </p:cNvSpPr>
          <p:nvPr/>
        </p:nvSpPr>
        <p:spPr>
          <a:xfrm>
            <a:off x="1419225" y="2781300"/>
            <a:ext cx="1733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源主机</a:t>
            </a:r>
          </a:p>
        </p:txBody>
      </p:sp>
      <p:sp>
        <p:nvSpPr>
          <p:cNvPr id="33" name="统一风格-文字 10.20.10.15-33">
            <a:extLst>
              <a:ext uri="{FF2B5EF4-FFF2-40B4-BE49-F238E27FC236}">
                <a16:creationId xmlns:a16="http://schemas.microsoft.com/office/drawing/2014/main" id="{711B414A-5A65-49F4-BAAC-05F7C3BB2577}"/>
              </a:ext>
            </a:extLst>
          </p:cNvPr>
          <p:cNvSpPr>
            <a:spLocks noGrp="1"/>
          </p:cNvSpPr>
          <p:nvPr/>
        </p:nvSpPr>
        <p:spPr>
          <a:xfrm>
            <a:off x="1419225" y="304800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34" name="统一风格-源安全组 · 出方向玻璃后沿-34">
            <a:extLst>
              <a:ext uri="{FF2B5EF4-FFF2-40B4-BE49-F238E27FC236}">
                <a16:creationId xmlns:a16="http://schemas.microsoft.com/office/drawing/2014/main" id="{A7FDFEAD-2BEC-4B9F-AF13-7C1635B6574F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5" name="统一风格-源安全组 · 出方向-35">
            <a:extLst>
              <a:ext uri="{FF2B5EF4-FFF2-40B4-BE49-F238E27FC236}">
                <a16:creationId xmlns:a16="http://schemas.microsoft.com/office/drawing/2014/main" id="{967622B6-020D-4F24-B9C0-4FEA46EA9818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36" name="统一风格-源安全组 · 出方向玻璃内沿-36">
            <a:extLst>
              <a:ext uri="{FF2B5EF4-FFF2-40B4-BE49-F238E27FC236}">
                <a16:creationId xmlns:a16="http://schemas.microsoft.com/office/drawing/2014/main" id="{0883AA7D-75D0-4C6D-9544-C59BB67AA65C}"/>
              </a:ext>
            </a:extLst>
          </p:cNvPr>
          <p:cNvSpPr>
            <a:spLocks noGrp="1"/>
          </p:cNvSpPr>
          <p:nvPr/>
        </p:nvSpPr>
        <p:spPr>
          <a:xfrm>
            <a:off x="812959" y="3518059"/>
            <a:ext cx="2450783" cy="488633"/>
          </a:xfrm>
          <a:prstGeom prst="roundRect">
            <a:avLst>
              <a:gd name="adj" fmla="val 150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37" name="统一风格-源安全组 · 出方向透光反射面-37">
            <a:extLst>
              <a:ext uri="{FF2B5EF4-FFF2-40B4-BE49-F238E27FC236}">
                <a16:creationId xmlns:a16="http://schemas.microsoft.com/office/drawing/2014/main" id="{0AAFFA3D-3935-4369-BA9C-AAFDF5DEF050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2438400" cy="476250"/>
          </a:xfrm>
          <a:custGeom>
            <a:avLst/>
            <a:gdLst/>
            <a:ahLst/>
            <a:cxnLst/>
            <a:rect l="0" t="0" r="0" b="0"/>
            <a:pathLst>
              <a:path w="2438400" h="476250">
                <a:moveTo>
                  <a:pt x="76200" y="0"/>
                </a:moveTo>
                <a:lnTo>
                  <a:pt x="1560576" y="0"/>
                </a:lnTo>
                <a:lnTo>
                  <a:pt x="633984" y="476250"/>
                </a:lnTo>
                <a:lnTo>
                  <a:pt x="76200" y="476250"/>
                </a:lnTo>
                <a:cubicBezTo>
                  <a:pt x="28575" y="476250"/>
                  <a:pt x="0" y="447675"/>
                  <a:pt x="0" y="400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38" name="统一风格-源安全组 · 出方向边缘高光-38">
            <a:extLst>
              <a:ext uri="{FF2B5EF4-FFF2-40B4-BE49-F238E27FC236}">
                <a16:creationId xmlns:a16="http://schemas.microsoft.com/office/drawing/2014/main" id="{DCD67A7E-2C47-4B4B-B11C-14B540932496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476500" cy="514350"/>
          </a:xfrm>
          <a:custGeom>
            <a:avLst/>
            <a:gdLst/>
            <a:ahLst/>
            <a:cxnLst/>
            <a:rect l="0" t="0" r="0" b="0"/>
            <a:pathLst>
              <a:path w="2476500" h="5143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39" name="统一风格-lock 安全盾-39">
            <a:extLst>
              <a:ext uri="{FF2B5EF4-FFF2-40B4-BE49-F238E27FC236}">
                <a16:creationId xmlns:a16="http://schemas.microsoft.com/office/drawing/2014/main" id="{470B00CB-8A28-4E8C-9D2B-3C4D84880C56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40" name="统一风格-lock 锁梁-40">
            <a:extLst>
              <a:ext uri="{FF2B5EF4-FFF2-40B4-BE49-F238E27FC236}">
                <a16:creationId xmlns:a16="http://schemas.microsoft.com/office/drawing/2014/main" id="{F5B792D2-6DCD-4DCC-93FD-AEF746B9282B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41" name="统一风格-lock 锁体-41">
            <a:extLst>
              <a:ext uri="{FF2B5EF4-FFF2-40B4-BE49-F238E27FC236}">
                <a16:creationId xmlns:a16="http://schemas.microsoft.com/office/drawing/2014/main" id="{02AD9CA6-F9AD-4F3D-B033-40DA97CE3683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3273" cap="rnd">
            <a:solidFill>
              <a:srgbClr val="2053C3"/>
            </a:solidFill>
            <a:round/>
          </a:ln>
        </p:spPr>
      </p:sp>
      <p:sp>
        <p:nvSpPr>
          <p:cNvPr id="42" name="统一风格-lock 锁孔-42">
            <a:extLst>
              <a:ext uri="{FF2B5EF4-FFF2-40B4-BE49-F238E27FC236}">
                <a16:creationId xmlns:a16="http://schemas.microsoft.com/office/drawing/2014/main" id="{D26915AD-F4F3-4C7A-AD6D-B18CA0009CF8}"/>
              </a:ext>
            </a:extLst>
          </p:cNvPr>
          <p:cNvSpPr>
            <a:spLocks noGrp="1"/>
          </p:cNvSpPr>
          <p:nvPr/>
        </p:nvSpPr>
        <p:spPr>
          <a:xfrm>
            <a:off x="9239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43" name="统一风格-文字 源安全组 · 出方向-43">
            <a:extLst>
              <a:ext uri="{FF2B5EF4-FFF2-40B4-BE49-F238E27FC236}">
                <a16:creationId xmlns:a16="http://schemas.microsoft.com/office/drawing/2014/main" id="{1D4122CE-C500-4EEE-AFF9-A0374C6E4170}"/>
              </a:ext>
            </a:extLst>
          </p:cNvPr>
          <p:cNvSpPr>
            <a:spLocks noGrp="1"/>
          </p:cNvSpPr>
          <p:nvPr/>
        </p:nvSpPr>
        <p:spPr>
          <a:xfrm>
            <a:off x="1419225" y="3629025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源安全组 · 出方向</a:t>
            </a:r>
          </a:p>
        </p:txBody>
      </p:sp>
      <p:sp>
        <p:nvSpPr>
          <p:cNvPr id="44" name="统一风格-源 VPC 路由表玻璃后沿-44">
            <a:extLst>
              <a:ext uri="{FF2B5EF4-FFF2-40B4-BE49-F238E27FC236}">
                <a16:creationId xmlns:a16="http://schemas.microsoft.com/office/drawing/2014/main" id="{10670F94-B8F5-4E9F-AE13-F4A4AE10205D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统一风格-源 VPC 路由表-45">
            <a:extLst>
              <a:ext uri="{FF2B5EF4-FFF2-40B4-BE49-F238E27FC236}">
                <a16:creationId xmlns:a16="http://schemas.microsoft.com/office/drawing/2014/main" id="{63F5A986-1BE9-4533-A5E1-07B709808813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46" name="统一风格-源 VPC 路由表玻璃内沿-46">
            <a:extLst>
              <a:ext uri="{FF2B5EF4-FFF2-40B4-BE49-F238E27FC236}">
                <a16:creationId xmlns:a16="http://schemas.microsoft.com/office/drawing/2014/main" id="{77BF7B63-D152-4E42-9AC5-68D6925B7736}"/>
              </a:ext>
            </a:extLst>
          </p:cNvPr>
          <p:cNvSpPr>
            <a:spLocks noGrp="1"/>
          </p:cNvSpPr>
          <p:nvPr/>
        </p:nvSpPr>
        <p:spPr>
          <a:xfrm>
            <a:off x="812959" y="4299109"/>
            <a:ext cx="2450783" cy="717233"/>
          </a:xfrm>
          <a:prstGeom prst="roundRect">
            <a:avLst>
              <a:gd name="adj" fmla="val 1022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47" name="统一风格-源 VPC 路由表透光反射面-47">
            <a:extLst>
              <a:ext uri="{FF2B5EF4-FFF2-40B4-BE49-F238E27FC236}">
                <a16:creationId xmlns:a16="http://schemas.microsoft.com/office/drawing/2014/main" id="{49ADD31B-D7D2-40E3-90A6-9A0E63C7040B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2438400" cy="704850"/>
          </a:xfrm>
          <a:custGeom>
            <a:avLst/>
            <a:gdLst/>
            <a:ahLst/>
            <a:cxnLst/>
            <a:rect l="0" t="0" r="0" b="0"/>
            <a:pathLst>
              <a:path w="2438400" h="704850">
                <a:moveTo>
                  <a:pt x="76200" y="0"/>
                </a:moveTo>
                <a:lnTo>
                  <a:pt x="1560576" y="0"/>
                </a:lnTo>
                <a:lnTo>
                  <a:pt x="633984" y="704850"/>
                </a:lnTo>
                <a:lnTo>
                  <a:pt x="76200" y="704850"/>
                </a:lnTo>
                <a:cubicBezTo>
                  <a:pt x="28575" y="704850"/>
                  <a:pt x="0" y="676275"/>
                  <a:pt x="0" y="628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48" name="统一风格-源 VPC 路由表边缘高光-48">
            <a:extLst>
              <a:ext uri="{FF2B5EF4-FFF2-40B4-BE49-F238E27FC236}">
                <a16:creationId xmlns:a16="http://schemas.microsoft.com/office/drawing/2014/main" id="{25A9E104-C5A1-4415-9BAF-3590E929966C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476500" cy="742950"/>
          </a:xfrm>
          <a:custGeom>
            <a:avLst/>
            <a:gdLst/>
            <a:ahLst/>
            <a:cxnLst/>
            <a:rect l="0" t="0" r="0" b="0"/>
            <a:pathLst>
              <a:path w="2476500" h="7429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49" name="统一风格-route-table VPC 路由表外框-49">
            <a:extLst>
              <a:ext uri="{FF2B5EF4-FFF2-40B4-BE49-F238E27FC236}">
                <a16:creationId xmlns:a16="http://schemas.microsoft.com/office/drawing/2014/main" id="{E3F26909-E280-4249-9F20-E0756A13C521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50" name="统一风格-route-table 路由表列与表头-50">
            <a:extLst>
              <a:ext uri="{FF2B5EF4-FFF2-40B4-BE49-F238E27FC236}">
                <a16:creationId xmlns:a16="http://schemas.microsoft.com/office/drawing/2014/main" id="{B9FCCD03-BC83-4E74-B056-64779D4A261A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51" name="统一风格-route-table 目的网段条目-51">
            <a:extLst>
              <a:ext uri="{FF2B5EF4-FFF2-40B4-BE49-F238E27FC236}">
                <a16:creationId xmlns:a16="http://schemas.microsoft.com/office/drawing/2014/main" id="{73540F41-37E2-4377-A6B2-9C6ED51D862E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52" name="统一风格-route-table 下一跳箭头-52">
            <a:extLst>
              <a:ext uri="{FF2B5EF4-FFF2-40B4-BE49-F238E27FC236}">
                <a16:creationId xmlns:a16="http://schemas.microsoft.com/office/drawing/2014/main" id="{3AC91165-741C-4A97-8579-86E6C47AAF24}"/>
              </a:ext>
            </a:extLst>
          </p:cNvPr>
          <p:cNvSpPr>
            <a:spLocks noGrp="1"/>
          </p:cNvSpPr>
          <p:nvPr/>
        </p:nvSpPr>
        <p:spPr>
          <a:xfrm>
            <a:off x="9239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53" name="统一风格-文字 源 VPC 路由表-53">
            <a:extLst>
              <a:ext uri="{FF2B5EF4-FFF2-40B4-BE49-F238E27FC236}">
                <a16:creationId xmlns:a16="http://schemas.microsoft.com/office/drawing/2014/main" id="{E1B02C2A-3B42-469B-BF51-1B6789F62A89}"/>
              </a:ext>
            </a:extLst>
          </p:cNvPr>
          <p:cNvSpPr>
            <a:spLocks noGrp="1"/>
          </p:cNvSpPr>
          <p:nvPr/>
        </p:nvSpPr>
        <p:spPr>
          <a:xfrm>
            <a:off x="1438275" y="4362450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VPC 路由表</a:t>
            </a:r>
          </a:p>
        </p:txBody>
      </p:sp>
      <p:sp>
        <p:nvSpPr>
          <p:cNvPr id="54" name="统一风格-文字 10.30.0.0/16 → ER-54">
            <a:extLst>
              <a:ext uri="{FF2B5EF4-FFF2-40B4-BE49-F238E27FC236}">
                <a16:creationId xmlns:a16="http://schemas.microsoft.com/office/drawing/2014/main" id="{571A780D-ABB1-4FEF-80E3-3EF3BB27E7DD}"/>
              </a:ext>
            </a:extLst>
          </p:cNvPr>
          <p:cNvSpPr>
            <a:spLocks noGrp="1"/>
          </p:cNvSpPr>
          <p:nvPr/>
        </p:nvSpPr>
        <p:spPr>
          <a:xfrm>
            <a:off x="1438275" y="469582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10.30.0.0/16 → ER</a:t>
            </a:r>
          </a:p>
        </p:txBody>
      </p:sp>
      <p:sp>
        <p:nvSpPr>
          <p:cNvPr id="55" name="统一风格-目标服务玻璃后沿-55">
            <a:extLst>
              <a:ext uri="{FF2B5EF4-FFF2-40B4-BE49-F238E27FC236}">
                <a16:creationId xmlns:a16="http://schemas.microsoft.com/office/drawing/2014/main" id="{A2556A57-0A28-44C8-BC61-173D73DFCCE3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6" name="统一风格-目标服务-56">
            <a:extLst>
              <a:ext uri="{FF2B5EF4-FFF2-40B4-BE49-F238E27FC236}">
                <a16:creationId xmlns:a16="http://schemas.microsoft.com/office/drawing/2014/main" id="{07C1575C-C3CD-4294-80F5-11640BB517CA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4765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57" name="统一风格-目标服务玻璃内沿-57">
            <a:extLst>
              <a:ext uri="{FF2B5EF4-FFF2-40B4-BE49-F238E27FC236}">
                <a16:creationId xmlns:a16="http://schemas.microsoft.com/office/drawing/2014/main" id="{0A151EBD-0D5B-461D-926E-91248087EB13}"/>
              </a:ext>
            </a:extLst>
          </p:cNvPr>
          <p:cNvSpPr>
            <a:spLocks noGrp="1"/>
          </p:cNvSpPr>
          <p:nvPr/>
        </p:nvSpPr>
        <p:spPr>
          <a:xfrm>
            <a:off x="8928259" y="2737009"/>
            <a:ext cx="2450783" cy="545783"/>
          </a:xfrm>
          <a:prstGeom prst="roundRect">
            <a:avLst>
              <a:gd name="adj" fmla="val 134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58" name="统一风格-目标服务透光反射面-58">
            <a:extLst>
              <a:ext uri="{FF2B5EF4-FFF2-40B4-BE49-F238E27FC236}">
                <a16:creationId xmlns:a16="http://schemas.microsoft.com/office/drawing/2014/main" id="{1058C310-052D-41C7-B3A1-F31052417959}"/>
              </a:ext>
            </a:extLst>
          </p:cNvPr>
          <p:cNvSpPr>
            <a:spLocks noGrp="1"/>
          </p:cNvSpPr>
          <p:nvPr/>
        </p:nvSpPr>
        <p:spPr>
          <a:xfrm>
            <a:off x="8934450" y="2743200"/>
            <a:ext cx="2438400" cy="533400"/>
          </a:xfrm>
          <a:custGeom>
            <a:avLst/>
            <a:gdLst/>
            <a:ahLst/>
            <a:cxnLst/>
            <a:rect l="0" t="0" r="0" b="0"/>
            <a:pathLst>
              <a:path w="2438400" h="533400">
                <a:moveTo>
                  <a:pt x="76200" y="0"/>
                </a:moveTo>
                <a:lnTo>
                  <a:pt x="1560576" y="0"/>
                </a:lnTo>
                <a:lnTo>
                  <a:pt x="633984" y="533400"/>
                </a:lnTo>
                <a:lnTo>
                  <a:pt x="76200" y="533400"/>
                </a:lnTo>
                <a:cubicBezTo>
                  <a:pt x="28575" y="533400"/>
                  <a:pt x="0" y="504825"/>
                  <a:pt x="0" y="457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59" name="统一风格-目标服务边缘高光-59">
            <a:extLst>
              <a:ext uri="{FF2B5EF4-FFF2-40B4-BE49-F238E27FC236}">
                <a16:creationId xmlns:a16="http://schemas.microsoft.com/office/drawing/2014/main" id="{CCC7B72D-1B19-4F07-907F-D867C3FE8698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476500" cy="571500"/>
          </a:xfrm>
          <a:custGeom>
            <a:avLst/>
            <a:gdLst/>
            <a:ahLst/>
            <a:cxnLst/>
            <a:rect l="0" t="0" r="0" b="0"/>
            <a:pathLst>
              <a:path w="2476500" h="57150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60" name="统一风格-server 服务器机架-60">
            <a:extLst>
              <a:ext uri="{FF2B5EF4-FFF2-40B4-BE49-F238E27FC236}">
                <a16:creationId xmlns:a16="http://schemas.microsoft.com/office/drawing/2014/main" id="{6F877C27-2CE3-408B-97C5-BD49718CE871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1" name="统一风格-server 机架状态-61">
            <a:extLst>
              <a:ext uri="{FF2B5EF4-FFF2-40B4-BE49-F238E27FC236}">
                <a16:creationId xmlns:a16="http://schemas.microsoft.com/office/drawing/2014/main" id="{5E138787-49AB-4D19-BBD6-445DB838DD8F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2" name="统一风格-server 指示灯-62">
            <a:extLst>
              <a:ext uri="{FF2B5EF4-FFF2-40B4-BE49-F238E27FC236}">
                <a16:creationId xmlns:a16="http://schemas.microsoft.com/office/drawing/2014/main" id="{55E7838F-8280-4AC2-91DE-90A64D1975D3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3" name="统一风格-server 服务器机架-63">
            <a:extLst>
              <a:ext uri="{FF2B5EF4-FFF2-40B4-BE49-F238E27FC236}">
                <a16:creationId xmlns:a16="http://schemas.microsoft.com/office/drawing/2014/main" id="{84789394-2593-4328-B134-DB0FA8E3C4C0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4" name="统一风格-server 机架状态-64">
            <a:extLst>
              <a:ext uri="{FF2B5EF4-FFF2-40B4-BE49-F238E27FC236}">
                <a16:creationId xmlns:a16="http://schemas.microsoft.com/office/drawing/2014/main" id="{820EB2FD-514D-4935-B11D-534AD88A12F3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5" name="统一风格-server 指示灯-65">
            <a:extLst>
              <a:ext uri="{FF2B5EF4-FFF2-40B4-BE49-F238E27FC236}">
                <a16:creationId xmlns:a16="http://schemas.microsoft.com/office/drawing/2014/main" id="{D97C2AAD-F469-41F0-B699-67CD328CD6CB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6" name="统一风格-server 服务器机架-66">
            <a:extLst>
              <a:ext uri="{FF2B5EF4-FFF2-40B4-BE49-F238E27FC236}">
                <a16:creationId xmlns:a16="http://schemas.microsoft.com/office/drawing/2014/main" id="{08B73366-1DD3-4CC8-963F-CD8E4D928860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67" name="统一风格-server 机架状态-67">
            <a:extLst>
              <a:ext uri="{FF2B5EF4-FFF2-40B4-BE49-F238E27FC236}">
                <a16:creationId xmlns:a16="http://schemas.microsoft.com/office/drawing/2014/main" id="{0916D088-D0B0-4F38-A2FD-AF01B532CCE6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68" name="统一风格-server 指示灯-68">
            <a:extLst>
              <a:ext uri="{FF2B5EF4-FFF2-40B4-BE49-F238E27FC236}">
                <a16:creationId xmlns:a16="http://schemas.microsoft.com/office/drawing/2014/main" id="{A7EEB886-2BDA-4B08-B61A-4B473183B1A9}"/>
              </a:ext>
            </a:extLst>
          </p:cNvPr>
          <p:cNvSpPr>
            <a:spLocks noGrp="1"/>
          </p:cNvSpPr>
          <p:nvPr/>
        </p:nvSpPr>
        <p:spPr>
          <a:xfrm>
            <a:off x="9039225" y="2828925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</p:sp>
      <p:sp>
        <p:nvSpPr>
          <p:cNvPr id="69" name="统一风格-文字 目标服务-69">
            <a:extLst>
              <a:ext uri="{FF2B5EF4-FFF2-40B4-BE49-F238E27FC236}">
                <a16:creationId xmlns:a16="http://schemas.microsoft.com/office/drawing/2014/main" id="{8C20F877-DD16-493B-A385-FE004E3EB56E}"/>
              </a:ext>
            </a:extLst>
          </p:cNvPr>
          <p:cNvSpPr>
            <a:spLocks noGrp="1"/>
          </p:cNvSpPr>
          <p:nvPr/>
        </p:nvSpPr>
        <p:spPr>
          <a:xfrm>
            <a:off x="9534525" y="2781300"/>
            <a:ext cx="1733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目标服务</a:t>
            </a:r>
          </a:p>
        </p:txBody>
      </p:sp>
      <p:sp>
        <p:nvSpPr>
          <p:cNvPr id="70" name="统一风格-文字 10.30.20.10 : 3306-70">
            <a:extLst>
              <a:ext uri="{FF2B5EF4-FFF2-40B4-BE49-F238E27FC236}">
                <a16:creationId xmlns:a16="http://schemas.microsoft.com/office/drawing/2014/main" id="{6DF5CF9E-AC23-4148-8F97-158B4EEB9D94}"/>
              </a:ext>
            </a:extLst>
          </p:cNvPr>
          <p:cNvSpPr>
            <a:spLocks noGrp="1"/>
          </p:cNvSpPr>
          <p:nvPr/>
        </p:nvSpPr>
        <p:spPr>
          <a:xfrm>
            <a:off x="9534525" y="304800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 : 3306</a:t>
            </a:r>
          </a:p>
        </p:txBody>
      </p:sp>
      <p:sp>
        <p:nvSpPr>
          <p:cNvPr id="71" name="统一风格-目的安全组 · 入方向玻璃后沿-71">
            <a:extLst>
              <a:ext uri="{FF2B5EF4-FFF2-40B4-BE49-F238E27FC236}">
                <a16:creationId xmlns:a16="http://schemas.microsoft.com/office/drawing/2014/main" id="{51E1175C-9432-423E-B0D3-F50BEF8F0135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2" name="统一风格-目的安全组 · 入方向-72">
            <a:extLst>
              <a:ext uri="{FF2B5EF4-FFF2-40B4-BE49-F238E27FC236}">
                <a16:creationId xmlns:a16="http://schemas.microsoft.com/office/drawing/2014/main" id="{4C4D1348-679E-4175-9D10-987B42B38377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476500" cy="51435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73" name="统一风格-目的安全组 · 入方向玻璃内沿-73">
            <a:extLst>
              <a:ext uri="{FF2B5EF4-FFF2-40B4-BE49-F238E27FC236}">
                <a16:creationId xmlns:a16="http://schemas.microsoft.com/office/drawing/2014/main" id="{06F08349-D2DB-4E54-B313-FB69719C2137}"/>
              </a:ext>
            </a:extLst>
          </p:cNvPr>
          <p:cNvSpPr>
            <a:spLocks noGrp="1"/>
          </p:cNvSpPr>
          <p:nvPr/>
        </p:nvSpPr>
        <p:spPr>
          <a:xfrm>
            <a:off x="8928259" y="3518059"/>
            <a:ext cx="2450783" cy="488633"/>
          </a:xfrm>
          <a:prstGeom prst="roundRect">
            <a:avLst>
              <a:gd name="adj" fmla="val 150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74" name="统一风格-目的安全组 · 入方向透光反射面-74">
            <a:extLst>
              <a:ext uri="{FF2B5EF4-FFF2-40B4-BE49-F238E27FC236}">
                <a16:creationId xmlns:a16="http://schemas.microsoft.com/office/drawing/2014/main" id="{A6093B88-6568-400D-9810-A32446EC7B4D}"/>
              </a:ext>
            </a:extLst>
          </p:cNvPr>
          <p:cNvSpPr>
            <a:spLocks noGrp="1"/>
          </p:cNvSpPr>
          <p:nvPr/>
        </p:nvSpPr>
        <p:spPr>
          <a:xfrm>
            <a:off x="8934450" y="3524250"/>
            <a:ext cx="2438400" cy="476250"/>
          </a:xfrm>
          <a:custGeom>
            <a:avLst/>
            <a:gdLst/>
            <a:ahLst/>
            <a:cxnLst/>
            <a:rect l="0" t="0" r="0" b="0"/>
            <a:pathLst>
              <a:path w="2438400" h="476250">
                <a:moveTo>
                  <a:pt x="76200" y="0"/>
                </a:moveTo>
                <a:lnTo>
                  <a:pt x="1560576" y="0"/>
                </a:lnTo>
                <a:lnTo>
                  <a:pt x="633984" y="476250"/>
                </a:lnTo>
                <a:lnTo>
                  <a:pt x="76200" y="476250"/>
                </a:lnTo>
                <a:cubicBezTo>
                  <a:pt x="28575" y="476250"/>
                  <a:pt x="0" y="447675"/>
                  <a:pt x="0" y="4000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75" name="统一风格-目的安全组 · 入方向边缘高光-75">
            <a:extLst>
              <a:ext uri="{FF2B5EF4-FFF2-40B4-BE49-F238E27FC236}">
                <a16:creationId xmlns:a16="http://schemas.microsoft.com/office/drawing/2014/main" id="{B931467A-1A50-4A5D-8EF9-21408CD8E586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476500" cy="514350"/>
          </a:xfrm>
          <a:custGeom>
            <a:avLst/>
            <a:gdLst/>
            <a:ahLst/>
            <a:cxnLst/>
            <a:rect l="0" t="0" r="0" b="0"/>
            <a:pathLst>
              <a:path w="2476500" h="5143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76" name="统一风格-lock 安全盾-76">
            <a:extLst>
              <a:ext uri="{FF2B5EF4-FFF2-40B4-BE49-F238E27FC236}">
                <a16:creationId xmlns:a16="http://schemas.microsoft.com/office/drawing/2014/main" id="{C43F9B7B-8E02-4919-A5A9-AFC2E110B1F0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77" name="统一风格-lock 锁梁-77">
            <a:extLst>
              <a:ext uri="{FF2B5EF4-FFF2-40B4-BE49-F238E27FC236}">
                <a16:creationId xmlns:a16="http://schemas.microsoft.com/office/drawing/2014/main" id="{890BFCB9-B176-4988-AD74-92D0F75785C9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78" name="统一风格-lock 锁体-78">
            <a:extLst>
              <a:ext uri="{FF2B5EF4-FFF2-40B4-BE49-F238E27FC236}">
                <a16:creationId xmlns:a16="http://schemas.microsoft.com/office/drawing/2014/main" id="{FDD34183-4613-4759-BD0E-E328B7BCB6B5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3273" cap="rnd">
            <a:solidFill>
              <a:srgbClr val="2053C3"/>
            </a:solidFill>
            <a:round/>
          </a:ln>
        </p:spPr>
      </p:sp>
      <p:sp>
        <p:nvSpPr>
          <p:cNvPr id="79" name="统一风格-lock 锁孔-79">
            <a:extLst>
              <a:ext uri="{FF2B5EF4-FFF2-40B4-BE49-F238E27FC236}">
                <a16:creationId xmlns:a16="http://schemas.microsoft.com/office/drawing/2014/main" id="{331A3B59-B014-4D36-A7B6-82C51279455E}"/>
              </a:ext>
            </a:extLst>
          </p:cNvPr>
          <p:cNvSpPr>
            <a:spLocks noGrp="1"/>
          </p:cNvSpPr>
          <p:nvPr/>
        </p:nvSpPr>
        <p:spPr>
          <a:xfrm>
            <a:off x="9039225" y="36004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80" name="统一风格-文字 目的安全组 · 入方向-80">
            <a:extLst>
              <a:ext uri="{FF2B5EF4-FFF2-40B4-BE49-F238E27FC236}">
                <a16:creationId xmlns:a16="http://schemas.microsoft.com/office/drawing/2014/main" id="{E321C576-4507-45A5-A35B-24BEAD8E40DF}"/>
              </a:ext>
            </a:extLst>
          </p:cNvPr>
          <p:cNvSpPr>
            <a:spLocks noGrp="1"/>
          </p:cNvSpPr>
          <p:nvPr/>
        </p:nvSpPr>
        <p:spPr>
          <a:xfrm>
            <a:off x="9534525" y="3629025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目的安全组 · 入方向</a:t>
            </a:r>
          </a:p>
        </p:txBody>
      </p:sp>
      <p:cxnSp>
        <p:nvCxnSpPr>
          <p:cNvPr id="92" name="端到端路径-1">
            <a:extLst>
              <a:ext uri="{FF2B5EF4-FFF2-40B4-BE49-F238E27FC236}">
                <a16:creationId xmlns:a16="http://schemas.microsoft.com/office/drawing/2014/main" id="{0BDFE0DA-5AEA-4544-B41B-02F8DB892919}"/>
              </a:ext>
            </a:extLst>
          </p:cNvPr>
          <p:cNvCxnSpPr/>
          <p:nvPr/>
        </p:nvCxnSpPr>
        <p:spPr>
          <a:xfrm>
            <a:off x="2038350" y="3295650"/>
            <a:ext cx="0" cy="20955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3" name="端到端路径-2">
            <a:extLst>
              <a:ext uri="{FF2B5EF4-FFF2-40B4-BE49-F238E27FC236}">
                <a16:creationId xmlns:a16="http://schemas.microsoft.com/office/drawing/2014/main" id="{71CCD36D-4BF5-44D4-A668-F0FAC4820CD2}"/>
              </a:ext>
            </a:extLst>
          </p:cNvPr>
          <p:cNvCxnSpPr/>
          <p:nvPr/>
        </p:nvCxnSpPr>
        <p:spPr>
          <a:xfrm>
            <a:off x="2038350" y="4019550"/>
            <a:ext cx="0" cy="26670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94" name="端到端路径-3">
            <a:extLst>
              <a:ext uri="{FF2B5EF4-FFF2-40B4-BE49-F238E27FC236}">
                <a16:creationId xmlns:a16="http://schemas.microsoft.com/office/drawing/2014/main" id="{5434DF4E-03E6-4B2B-860A-AAE9F4D10C60}"/>
              </a:ext>
            </a:extLst>
          </p:cNvPr>
          <p:cNvCxnSpPr/>
          <p:nvPr/>
        </p:nvCxnSpPr>
        <p:spPr>
          <a:xfrm flipV="1">
            <a:off x="10153650" y="3295650"/>
            <a:ext cx="0" cy="20955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97" name="统一风格-同一个 ER 路由域玻璃后沿-93">
            <a:extLst>
              <a:ext uri="{FF2B5EF4-FFF2-40B4-BE49-F238E27FC236}">
                <a16:creationId xmlns:a16="http://schemas.microsoft.com/office/drawing/2014/main" id="{52B9E872-83C9-433F-ACC5-B78F2A6B2DF2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4305300" cy="188595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</p:sp>
      <p:sp>
        <p:nvSpPr>
          <p:cNvPr id="98" name="统一风格-同一个 ER 路由域-94">
            <a:extLst>
              <a:ext uri="{FF2B5EF4-FFF2-40B4-BE49-F238E27FC236}">
                <a16:creationId xmlns:a16="http://schemas.microsoft.com/office/drawing/2014/main" id="{BAF2C4C4-6871-479A-A22B-E395231002E1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4305300" cy="188595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99" name="统一风格-同一个 ER 路由域玻璃内沿-95">
            <a:extLst>
              <a:ext uri="{FF2B5EF4-FFF2-40B4-BE49-F238E27FC236}">
                <a16:creationId xmlns:a16="http://schemas.microsoft.com/office/drawing/2014/main" id="{2FD25260-0109-4562-A37D-009D42AA0A9E}"/>
              </a:ext>
            </a:extLst>
          </p:cNvPr>
          <p:cNvSpPr>
            <a:spLocks noGrp="1"/>
          </p:cNvSpPr>
          <p:nvPr/>
        </p:nvSpPr>
        <p:spPr>
          <a:xfrm>
            <a:off x="3956209" y="2146459"/>
            <a:ext cx="4279583" cy="1860233"/>
          </a:xfrm>
          <a:prstGeom prst="roundRect">
            <a:avLst>
              <a:gd name="adj" fmla="val 394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0" name="统一风格-同一个 ER 路由域边缘高光-96">
            <a:extLst>
              <a:ext uri="{FF2B5EF4-FFF2-40B4-BE49-F238E27FC236}">
                <a16:creationId xmlns:a16="http://schemas.microsoft.com/office/drawing/2014/main" id="{7281A416-1529-4452-8F4F-18652B4A8846}"/>
              </a:ext>
            </a:extLst>
          </p:cNvPr>
          <p:cNvSpPr>
            <a:spLocks noGrp="1"/>
          </p:cNvSpPr>
          <p:nvPr/>
        </p:nvSpPr>
        <p:spPr>
          <a:xfrm>
            <a:off x="3943350" y="2133600"/>
            <a:ext cx="4305300" cy="1885950"/>
          </a:xfrm>
          <a:custGeom>
            <a:avLst/>
            <a:gdLst/>
            <a:ahLst/>
            <a:cxnLst/>
            <a:rect l="0" t="0" r="0" b="0"/>
            <a:pathLst>
              <a:path w="4305300" h="1885950">
                <a:moveTo>
                  <a:pt x="95250" y="9525"/>
                </a:moveTo>
                <a:lnTo>
                  <a:pt x="4210050" y="9525"/>
                </a:lnTo>
                <a:cubicBezTo>
                  <a:pt x="4257675" y="9525"/>
                  <a:pt x="4295775" y="47625"/>
                  <a:pt x="4295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1" name="统一风格-router ER 路由器外形-97">
            <a:extLst>
              <a:ext uri="{FF2B5EF4-FFF2-40B4-BE49-F238E27FC236}">
                <a16:creationId xmlns:a16="http://schemas.microsoft.com/office/drawing/2014/main" id="{D92AAED6-1AF9-4EFD-9EB6-DD9E5D548D96}"/>
              </a:ext>
            </a:extLst>
          </p:cNvPr>
          <p:cNvSpPr>
            <a:spLocks noGrp="1"/>
          </p:cNvSpPr>
          <p:nvPr/>
        </p:nvSpPr>
        <p:spPr>
          <a:xfrm>
            <a:off x="4133850" y="22955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307" cap="rnd">
            <a:solidFill>
              <a:srgbClr val="2053C3"/>
            </a:solidFill>
            <a:round/>
          </a:ln>
        </p:spPr>
      </p:sp>
      <p:sp>
        <p:nvSpPr>
          <p:cNvPr id="102" name="统一风格-router ER 四向路由-98">
            <a:extLst>
              <a:ext uri="{FF2B5EF4-FFF2-40B4-BE49-F238E27FC236}">
                <a16:creationId xmlns:a16="http://schemas.microsoft.com/office/drawing/2014/main" id="{DA22D56F-F429-4E39-8DC9-7909276C0F43}"/>
              </a:ext>
            </a:extLst>
          </p:cNvPr>
          <p:cNvSpPr>
            <a:spLocks noGrp="1"/>
          </p:cNvSpPr>
          <p:nvPr/>
        </p:nvSpPr>
        <p:spPr>
          <a:xfrm>
            <a:off x="4133850" y="2295525"/>
            <a:ext cx="409575" cy="4095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6307" cap="rnd">
            <a:solidFill>
              <a:srgbClr val="2053C3"/>
            </a:solidFill>
            <a:round/>
          </a:ln>
        </p:spPr>
      </p:sp>
      <p:sp>
        <p:nvSpPr>
          <p:cNvPr id="103" name="统一风格-文字 ER · 同一个企业路由器-99">
            <a:extLst>
              <a:ext uri="{FF2B5EF4-FFF2-40B4-BE49-F238E27FC236}">
                <a16:creationId xmlns:a16="http://schemas.microsoft.com/office/drawing/2014/main" id="{BC535568-A537-4293-9103-AE097F12FD68}"/>
              </a:ext>
            </a:extLst>
          </p:cNvPr>
          <p:cNvSpPr>
            <a:spLocks noGrp="1"/>
          </p:cNvSpPr>
          <p:nvPr/>
        </p:nvSpPr>
        <p:spPr>
          <a:xfrm>
            <a:off x="4676775" y="2324100"/>
            <a:ext cx="33623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 · 同一个企业路由器</a:t>
            </a:r>
          </a:p>
        </p:txBody>
      </p:sp>
      <p:sp>
        <p:nvSpPr>
          <p:cNvPr id="104" name="统一风格-er-RT1玻璃后沿-100">
            <a:extLst>
              <a:ext uri="{FF2B5EF4-FFF2-40B4-BE49-F238E27FC236}">
                <a16:creationId xmlns:a16="http://schemas.microsoft.com/office/drawing/2014/main" id="{A59EEEAB-422E-4B51-AFE4-2BFAF6D24CC7}"/>
              </a:ext>
            </a:extLst>
          </p:cNvPr>
          <p:cNvSpPr>
            <a:spLocks noGrp="1"/>
          </p:cNvSpPr>
          <p:nvPr/>
        </p:nvSpPr>
        <p:spPr>
          <a:xfrm>
            <a:off x="41338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5" name="统一风格-er-RT1-101">
            <a:extLst>
              <a:ext uri="{FF2B5EF4-FFF2-40B4-BE49-F238E27FC236}">
                <a16:creationId xmlns:a16="http://schemas.microsoft.com/office/drawing/2014/main" id="{7E4BB6D0-4F04-478B-A955-898C844443C9}"/>
              </a:ext>
            </a:extLst>
          </p:cNvPr>
          <p:cNvSpPr>
            <a:spLocks noGrp="1"/>
          </p:cNvSpPr>
          <p:nvPr/>
        </p:nvSpPr>
        <p:spPr>
          <a:xfrm>
            <a:off x="41338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06" name="统一风格-er-RT1玻璃内沿-102">
            <a:extLst>
              <a:ext uri="{FF2B5EF4-FFF2-40B4-BE49-F238E27FC236}">
                <a16:creationId xmlns:a16="http://schemas.microsoft.com/office/drawing/2014/main" id="{E2109D62-1C9D-4EBE-8964-11BC8A5A8F24}"/>
              </a:ext>
            </a:extLst>
          </p:cNvPr>
          <p:cNvSpPr>
            <a:spLocks noGrp="1"/>
          </p:cNvSpPr>
          <p:nvPr/>
        </p:nvSpPr>
        <p:spPr>
          <a:xfrm>
            <a:off x="4146709" y="2956084"/>
            <a:ext cx="1822133" cy="926783"/>
          </a:xfrm>
          <a:prstGeom prst="roundRect">
            <a:avLst>
              <a:gd name="adj" fmla="val 79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07" name="统一风格-er-RT1透光反射面-103">
            <a:extLst>
              <a:ext uri="{FF2B5EF4-FFF2-40B4-BE49-F238E27FC236}">
                <a16:creationId xmlns:a16="http://schemas.microsoft.com/office/drawing/2014/main" id="{DB56A435-CA7A-48A3-9ED8-6A7F627A66A5}"/>
              </a:ext>
            </a:extLst>
          </p:cNvPr>
          <p:cNvSpPr>
            <a:spLocks noGrp="1"/>
          </p:cNvSpPr>
          <p:nvPr/>
        </p:nvSpPr>
        <p:spPr>
          <a:xfrm>
            <a:off x="4152900" y="2962275"/>
            <a:ext cx="1809750" cy="914400"/>
          </a:xfrm>
          <a:custGeom>
            <a:avLst/>
            <a:gdLst/>
            <a:ahLst/>
            <a:cxnLst/>
            <a:rect l="0" t="0" r="0" b="0"/>
            <a:pathLst>
              <a:path w="1809750" h="914400">
                <a:moveTo>
                  <a:pt x="76200" y="0"/>
                </a:moveTo>
                <a:lnTo>
                  <a:pt x="1158240" y="0"/>
                </a:lnTo>
                <a:lnTo>
                  <a:pt x="470535" y="914400"/>
                </a:lnTo>
                <a:lnTo>
                  <a:pt x="76200" y="914400"/>
                </a:lnTo>
                <a:cubicBezTo>
                  <a:pt x="28575" y="914400"/>
                  <a:pt x="0" y="885825"/>
                  <a:pt x="0" y="838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08" name="统一风格-er-RT1边缘高光-104">
            <a:extLst>
              <a:ext uri="{FF2B5EF4-FFF2-40B4-BE49-F238E27FC236}">
                <a16:creationId xmlns:a16="http://schemas.microsoft.com/office/drawing/2014/main" id="{6EF6A2B1-D217-4529-BDB4-4A994F53C3BB}"/>
              </a:ext>
            </a:extLst>
          </p:cNvPr>
          <p:cNvSpPr>
            <a:spLocks noGrp="1"/>
          </p:cNvSpPr>
          <p:nvPr/>
        </p:nvSpPr>
        <p:spPr>
          <a:xfrm>
            <a:off x="4133850" y="2943225"/>
            <a:ext cx="1847850" cy="952500"/>
          </a:xfrm>
          <a:custGeom>
            <a:avLst/>
            <a:gdLst/>
            <a:ahLst/>
            <a:cxnLst/>
            <a:rect l="0" t="0" r="0" b="0"/>
            <a:pathLst>
              <a:path w="1847850" h="952500">
                <a:moveTo>
                  <a:pt x="95250" y="9525"/>
                </a:moveTo>
                <a:lnTo>
                  <a:pt x="1752600" y="9525"/>
                </a:lnTo>
                <a:cubicBezTo>
                  <a:pt x="1800225" y="9525"/>
                  <a:pt x="1838325" y="47625"/>
                  <a:pt x="183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09" name="统一风格-route-table VPC 路由表外框-105">
            <a:extLst>
              <a:ext uri="{FF2B5EF4-FFF2-40B4-BE49-F238E27FC236}">
                <a16:creationId xmlns:a16="http://schemas.microsoft.com/office/drawing/2014/main" id="{BD056206-3CE4-4284-AB09-DA6C13188B0E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</p:sp>
      <p:sp>
        <p:nvSpPr>
          <p:cNvPr id="110" name="统一风格-route-table 路由表列与表头-106">
            <a:extLst>
              <a:ext uri="{FF2B5EF4-FFF2-40B4-BE49-F238E27FC236}">
                <a16:creationId xmlns:a16="http://schemas.microsoft.com/office/drawing/2014/main" id="{80928810-B1F0-4331-B019-4BC5914977BF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11" name="统一风格-route-table 目的网段条目-107">
            <a:extLst>
              <a:ext uri="{FF2B5EF4-FFF2-40B4-BE49-F238E27FC236}">
                <a16:creationId xmlns:a16="http://schemas.microsoft.com/office/drawing/2014/main" id="{4AFBC04C-8952-4F66-9C91-40A899F7CE53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12" name="统一风格-route-table 下一跳箭头-108">
            <a:extLst>
              <a:ext uri="{FF2B5EF4-FFF2-40B4-BE49-F238E27FC236}">
                <a16:creationId xmlns:a16="http://schemas.microsoft.com/office/drawing/2014/main" id="{B22F08B8-4B86-420E-8B50-AFF7E6C90101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13" name="统一风格-文字 er-RT1-109">
            <a:extLst>
              <a:ext uri="{FF2B5EF4-FFF2-40B4-BE49-F238E27FC236}">
                <a16:creationId xmlns:a16="http://schemas.microsoft.com/office/drawing/2014/main" id="{89C2074B-B5DB-4684-8F50-F1A35AD728E1}"/>
              </a:ext>
            </a:extLst>
          </p:cNvPr>
          <p:cNvSpPr>
            <a:spLocks noGrp="1"/>
          </p:cNvSpPr>
          <p:nvPr/>
        </p:nvSpPr>
        <p:spPr>
          <a:xfrm>
            <a:off x="4705350" y="3057525"/>
            <a:ext cx="1162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er-RT1</a:t>
            </a:r>
          </a:p>
        </p:txBody>
      </p:sp>
      <p:sp>
        <p:nvSpPr>
          <p:cNvPr id="114" name="统一风格-文字 关联业务 VPC 连接 送检至 CFW-110">
            <a:extLst>
              <a:ext uri="{FF2B5EF4-FFF2-40B4-BE49-F238E27FC236}">
                <a16:creationId xmlns:a16="http://schemas.microsoft.com/office/drawing/2014/main" id="{97463C26-3A50-4CE1-8E0C-E91E7059F996}"/>
              </a:ext>
            </a:extLst>
          </p:cNvPr>
          <p:cNvSpPr>
            <a:spLocks noGrp="1"/>
          </p:cNvSpPr>
          <p:nvPr/>
        </p:nvSpPr>
        <p:spPr>
          <a:xfrm>
            <a:off x="4276725" y="346710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关联业务 VPC 连接</a:t>
            </a:r>
          </a:p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送检至 CFW</a:t>
            </a:r>
          </a:p>
        </p:txBody>
      </p:sp>
      <p:sp>
        <p:nvSpPr>
          <p:cNvPr id="115" name="统一风格-er-RT2玻璃后沿-111">
            <a:extLst>
              <a:ext uri="{FF2B5EF4-FFF2-40B4-BE49-F238E27FC236}">
                <a16:creationId xmlns:a16="http://schemas.microsoft.com/office/drawing/2014/main" id="{C069FCF4-06B9-4E0F-AC75-EDC8FCE78DC4}"/>
              </a:ext>
            </a:extLst>
          </p:cNvPr>
          <p:cNvSpPr>
            <a:spLocks noGrp="1"/>
          </p:cNvSpPr>
          <p:nvPr/>
        </p:nvSpPr>
        <p:spPr>
          <a:xfrm>
            <a:off x="61912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6" name="统一风格-er-RT2-112">
            <a:extLst>
              <a:ext uri="{FF2B5EF4-FFF2-40B4-BE49-F238E27FC236}">
                <a16:creationId xmlns:a16="http://schemas.microsoft.com/office/drawing/2014/main" id="{EFAB4F15-0972-431E-AAD6-CCED8169EC1A}"/>
              </a:ext>
            </a:extLst>
          </p:cNvPr>
          <p:cNvSpPr>
            <a:spLocks noGrp="1"/>
          </p:cNvSpPr>
          <p:nvPr/>
        </p:nvSpPr>
        <p:spPr>
          <a:xfrm>
            <a:off x="6191250" y="2943225"/>
            <a:ext cx="1847850" cy="9525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17" name="统一风格-er-RT2玻璃内沿-113">
            <a:extLst>
              <a:ext uri="{FF2B5EF4-FFF2-40B4-BE49-F238E27FC236}">
                <a16:creationId xmlns:a16="http://schemas.microsoft.com/office/drawing/2014/main" id="{33BE7E84-A70B-437A-B7D3-4B78B17123E6}"/>
              </a:ext>
            </a:extLst>
          </p:cNvPr>
          <p:cNvSpPr>
            <a:spLocks noGrp="1"/>
          </p:cNvSpPr>
          <p:nvPr/>
        </p:nvSpPr>
        <p:spPr>
          <a:xfrm>
            <a:off x="6204109" y="2956084"/>
            <a:ext cx="1822133" cy="926783"/>
          </a:xfrm>
          <a:prstGeom prst="roundRect">
            <a:avLst>
              <a:gd name="adj" fmla="val 79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18" name="统一风格-er-RT2透光反射面-114">
            <a:extLst>
              <a:ext uri="{FF2B5EF4-FFF2-40B4-BE49-F238E27FC236}">
                <a16:creationId xmlns:a16="http://schemas.microsoft.com/office/drawing/2014/main" id="{4B2A4D38-DA1F-4C21-A0F5-409FEB9B5E89}"/>
              </a:ext>
            </a:extLst>
          </p:cNvPr>
          <p:cNvSpPr>
            <a:spLocks noGrp="1"/>
          </p:cNvSpPr>
          <p:nvPr/>
        </p:nvSpPr>
        <p:spPr>
          <a:xfrm>
            <a:off x="6210300" y="2962275"/>
            <a:ext cx="1809750" cy="914400"/>
          </a:xfrm>
          <a:custGeom>
            <a:avLst/>
            <a:gdLst/>
            <a:ahLst/>
            <a:cxnLst/>
            <a:rect l="0" t="0" r="0" b="0"/>
            <a:pathLst>
              <a:path w="1809750" h="914400">
                <a:moveTo>
                  <a:pt x="76200" y="0"/>
                </a:moveTo>
                <a:lnTo>
                  <a:pt x="1158240" y="0"/>
                </a:lnTo>
                <a:lnTo>
                  <a:pt x="470535" y="914400"/>
                </a:lnTo>
                <a:lnTo>
                  <a:pt x="76200" y="914400"/>
                </a:lnTo>
                <a:cubicBezTo>
                  <a:pt x="28575" y="914400"/>
                  <a:pt x="0" y="885825"/>
                  <a:pt x="0" y="8382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19" name="统一风格-er-RT2边缘高光-115">
            <a:extLst>
              <a:ext uri="{FF2B5EF4-FFF2-40B4-BE49-F238E27FC236}">
                <a16:creationId xmlns:a16="http://schemas.microsoft.com/office/drawing/2014/main" id="{25B1DF53-46FE-42E5-8579-13099040A39B}"/>
              </a:ext>
            </a:extLst>
          </p:cNvPr>
          <p:cNvSpPr>
            <a:spLocks noGrp="1"/>
          </p:cNvSpPr>
          <p:nvPr/>
        </p:nvSpPr>
        <p:spPr>
          <a:xfrm>
            <a:off x="6191250" y="2943225"/>
            <a:ext cx="1847850" cy="952500"/>
          </a:xfrm>
          <a:custGeom>
            <a:avLst/>
            <a:gdLst/>
            <a:ahLst/>
            <a:cxnLst/>
            <a:rect l="0" t="0" r="0" b="0"/>
            <a:pathLst>
              <a:path w="1847850" h="952500">
                <a:moveTo>
                  <a:pt x="95250" y="9525"/>
                </a:moveTo>
                <a:lnTo>
                  <a:pt x="1752600" y="9525"/>
                </a:lnTo>
                <a:cubicBezTo>
                  <a:pt x="1800225" y="9525"/>
                  <a:pt x="1838325" y="47625"/>
                  <a:pt x="18383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20" name="统一风格-route-table VPC 路由表外框-116">
            <a:extLst>
              <a:ext uri="{FF2B5EF4-FFF2-40B4-BE49-F238E27FC236}">
                <a16:creationId xmlns:a16="http://schemas.microsoft.com/office/drawing/2014/main" id="{BD797B6A-E3AD-4A6B-97C1-2022A0E14571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2894" cap="rnd">
            <a:solidFill>
              <a:srgbClr val="2053C3"/>
            </a:solidFill>
            <a:round/>
          </a:ln>
        </p:spPr>
      </p:sp>
      <p:sp>
        <p:nvSpPr>
          <p:cNvPr id="121" name="统一风格-route-table 路由表列与表头-117">
            <a:extLst>
              <a:ext uri="{FF2B5EF4-FFF2-40B4-BE49-F238E27FC236}">
                <a16:creationId xmlns:a16="http://schemas.microsoft.com/office/drawing/2014/main" id="{4EC84EFC-4FBD-4923-BBB6-3E0BD1D27817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22" name="统一风格-route-table 目的网段条目-118">
            <a:extLst>
              <a:ext uri="{FF2B5EF4-FFF2-40B4-BE49-F238E27FC236}">
                <a16:creationId xmlns:a16="http://schemas.microsoft.com/office/drawing/2014/main" id="{B83C8460-7276-4825-BD81-41A6FC2E32E3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23" name="统一风格-route-table 下一跳箭头-119">
            <a:extLst>
              <a:ext uri="{FF2B5EF4-FFF2-40B4-BE49-F238E27FC236}">
                <a16:creationId xmlns:a16="http://schemas.microsoft.com/office/drawing/2014/main" id="{0BB7C8F9-4125-481C-B042-69153781783B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323850" cy="3238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2894" cap="rnd">
            <a:solidFill>
              <a:srgbClr val="2053C3"/>
            </a:solidFill>
            <a:round/>
          </a:ln>
        </p:spPr>
      </p:sp>
      <p:sp>
        <p:nvSpPr>
          <p:cNvPr id="124" name="统一风格-文字 er-RT2-120">
            <a:extLst>
              <a:ext uri="{FF2B5EF4-FFF2-40B4-BE49-F238E27FC236}">
                <a16:creationId xmlns:a16="http://schemas.microsoft.com/office/drawing/2014/main" id="{86AB6B9A-922B-4DF3-AADD-9BD9C3715C10}"/>
              </a:ext>
            </a:extLst>
          </p:cNvPr>
          <p:cNvSpPr>
            <a:spLocks noGrp="1"/>
          </p:cNvSpPr>
          <p:nvPr/>
        </p:nvSpPr>
        <p:spPr>
          <a:xfrm>
            <a:off x="6762750" y="3057525"/>
            <a:ext cx="1162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er-RT2</a:t>
            </a:r>
          </a:p>
        </p:txBody>
      </p:sp>
      <p:sp>
        <p:nvSpPr>
          <p:cNvPr id="125" name="统一风格-文字 关联 CFW 连接 转发至目标 VPC-121">
            <a:extLst>
              <a:ext uri="{FF2B5EF4-FFF2-40B4-BE49-F238E27FC236}">
                <a16:creationId xmlns:a16="http://schemas.microsoft.com/office/drawing/2014/main" id="{120F1D84-CB11-4CB5-ADDA-F863CCE9504E}"/>
              </a:ext>
            </a:extLst>
          </p:cNvPr>
          <p:cNvSpPr>
            <a:spLocks noGrp="1"/>
          </p:cNvSpPr>
          <p:nvPr/>
        </p:nvSpPr>
        <p:spPr>
          <a:xfrm>
            <a:off x="6334125" y="346710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关联 CFW 连接</a:t>
            </a:r>
          </a:p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转发至目标 VPC</a:t>
            </a:r>
          </a:p>
        </p:txBody>
      </p:sp>
      <p:cxnSp>
        <p:nvCxnSpPr>
          <p:cNvPr id="126" name="端到端路径-5">
            <a:extLst>
              <a:ext uri="{FF2B5EF4-FFF2-40B4-BE49-F238E27FC236}">
                <a16:creationId xmlns:a16="http://schemas.microsoft.com/office/drawing/2014/main" id="{C32F0977-3CC5-4A4B-B591-5879F1548429}"/>
              </a:ext>
            </a:extLst>
          </p:cNvPr>
          <p:cNvCxnSpPr/>
          <p:nvPr/>
        </p:nvCxnSpPr>
        <p:spPr>
          <a:xfrm>
            <a:off x="3276600" y="4657725"/>
            <a:ext cx="438150" cy="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</a:ln>
        </p:spPr>
      </p:cxnSp>
      <p:cxnSp>
        <p:nvCxnSpPr>
          <p:cNvPr id="127" name="端到端路径-6">
            <a:extLst>
              <a:ext uri="{FF2B5EF4-FFF2-40B4-BE49-F238E27FC236}">
                <a16:creationId xmlns:a16="http://schemas.microsoft.com/office/drawing/2014/main" id="{D444BB4F-1014-4501-A7DF-C5FE3A8B7AAB}"/>
              </a:ext>
            </a:extLst>
          </p:cNvPr>
          <p:cNvCxnSpPr/>
          <p:nvPr/>
        </p:nvCxnSpPr>
        <p:spPr>
          <a:xfrm flipV="1">
            <a:off x="3714750" y="3419475"/>
            <a:ext cx="0" cy="123825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</a:ln>
        </p:spPr>
      </p:cxnSp>
      <p:cxnSp>
        <p:nvCxnSpPr>
          <p:cNvPr id="128" name="端到端路径-7">
            <a:extLst>
              <a:ext uri="{FF2B5EF4-FFF2-40B4-BE49-F238E27FC236}">
                <a16:creationId xmlns:a16="http://schemas.microsoft.com/office/drawing/2014/main" id="{0773D837-2C48-4CB6-86C1-CFAB2A7D3FE0}"/>
              </a:ext>
            </a:extLst>
          </p:cNvPr>
          <p:cNvCxnSpPr/>
          <p:nvPr/>
        </p:nvCxnSpPr>
        <p:spPr>
          <a:xfrm>
            <a:off x="3714750" y="3419475"/>
            <a:ext cx="419100" cy="0"/>
          </a:xfrm>
          <a:prstGeom prst="straightConnector1">
            <a:avLst/>
          </a:prstGeom>
          <a:ln w="15240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162" name="统一风格-第58页 CFW 与 ER 等宽模块玻璃后沿-63">
            <a:extLst>
              <a:ext uri="{FF2B5EF4-FFF2-40B4-BE49-F238E27FC236}">
                <a16:creationId xmlns:a16="http://schemas.microsoft.com/office/drawing/2014/main" id="{9845671C-99A6-4FE4-84AF-BB748A7F669B}"/>
              </a:ext>
            </a:extLst>
          </p:cNvPr>
          <p:cNvSpPr>
            <a:spLocks noGrp="1"/>
          </p:cNvSpPr>
          <p:nvPr/>
        </p:nvSpPr>
        <p:spPr>
          <a:xfrm>
            <a:off x="3943350" y="4267200"/>
            <a:ext cx="4305300" cy="9144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3" name="统一风格-第58页 CFW 与 ER 等宽模块-64">
            <a:extLst>
              <a:ext uri="{FF2B5EF4-FFF2-40B4-BE49-F238E27FC236}">
                <a16:creationId xmlns:a16="http://schemas.microsoft.com/office/drawing/2014/main" id="{DB57A5C2-9D64-43FC-8B31-0165F0D93EA7}"/>
              </a:ext>
            </a:extLst>
          </p:cNvPr>
          <p:cNvSpPr>
            <a:spLocks noGrp="1"/>
          </p:cNvSpPr>
          <p:nvPr/>
        </p:nvSpPr>
        <p:spPr>
          <a:xfrm>
            <a:off x="3943350" y="4267200"/>
            <a:ext cx="4305300" cy="9144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64" name="统一风格-第58页 CFW 与 ER 等宽模块玻璃内沿-65">
            <a:extLst>
              <a:ext uri="{FF2B5EF4-FFF2-40B4-BE49-F238E27FC236}">
                <a16:creationId xmlns:a16="http://schemas.microsoft.com/office/drawing/2014/main" id="{7EF4DEA7-013A-47D5-A441-C5D9E0848404}"/>
              </a:ext>
            </a:extLst>
          </p:cNvPr>
          <p:cNvSpPr>
            <a:spLocks noGrp="1"/>
          </p:cNvSpPr>
          <p:nvPr/>
        </p:nvSpPr>
        <p:spPr>
          <a:xfrm>
            <a:off x="3956209" y="4280059"/>
            <a:ext cx="4279583" cy="888683"/>
          </a:xfrm>
          <a:prstGeom prst="roundRect">
            <a:avLst>
              <a:gd name="adj" fmla="val 82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65" name="统一风格-第58页 CFW 与 ER 等宽模块透光反射面-66">
            <a:extLst>
              <a:ext uri="{FF2B5EF4-FFF2-40B4-BE49-F238E27FC236}">
                <a16:creationId xmlns:a16="http://schemas.microsoft.com/office/drawing/2014/main" id="{5B4D1AC6-0B9A-49BC-9722-5F0827E5BD7B}"/>
              </a:ext>
            </a:extLst>
          </p:cNvPr>
          <p:cNvSpPr>
            <a:spLocks noGrp="1"/>
          </p:cNvSpPr>
          <p:nvPr/>
        </p:nvSpPr>
        <p:spPr>
          <a:xfrm>
            <a:off x="3962400" y="4286250"/>
            <a:ext cx="4267200" cy="876300"/>
          </a:xfrm>
          <a:custGeom>
            <a:avLst/>
            <a:gdLst/>
            <a:ahLst/>
            <a:cxnLst/>
            <a:rect l="0" t="0" r="0" b="0"/>
            <a:pathLst>
              <a:path w="4267200" h="876300">
                <a:moveTo>
                  <a:pt x="76200" y="0"/>
                </a:moveTo>
                <a:lnTo>
                  <a:pt x="2731008" y="0"/>
                </a:lnTo>
                <a:lnTo>
                  <a:pt x="1109472" y="876300"/>
                </a:lnTo>
                <a:lnTo>
                  <a:pt x="76200" y="876300"/>
                </a:lnTo>
                <a:cubicBezTo>
                  <a:pt x="28575" y="876300"/>
                  <a:pt x="0" y="847725"/>
                  <a:pt x="0" y="8001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66" name="统一风格-第58页 CFW 与 ER 等宽模块边缘高光-67">
            <a:extLst>
              <a:ext uri="{FF2B5EF4-FFF2-40B4-BE49-F238E27FC236}">
                <a16:creationId xmlns:a16="http://schemas.microsoft.com/office/drawing/2014/main" id="{0FB05251-BCF7-4196-92DD-16C5D603C34D}"/>
              </a:ext>
            </a:extLst>
          </p:cNvPr>
          <p:cNvSpPr>
            <a:spLocks noGrp="1"/>
          </p:cNvSpPr>
          <p:nvPr/>
        </p:nvSpPr>
        <p:spPr>
          <a:xfrm>
            <a:off x="3943350" y="4267200"/>
            <a:ext cx="4305300" cy="914400"/>
          </a:xfrm>
          <a:custGeom>
            <a:avLst/>
            <a:gdLst/>
            <a:ahLst/>
            <a:cxnLst/>
            <a:rect l="0" t="0" r="0" b="0"/>
            <a:pathLst>
              <a:path w="4305300" h="914400">
                <a:moveTo>
                  <a:pt x="95250" y="9525"/>
                </a:moveTo>
                <a:lnTo>
                  <a:pt x="4210050" y="9525"/>
                </a:lnTo>
                <a:cubicBezTo>
                  <a:pt x="4257675" y="9525"/>
                  <a:pt x="4295775" y="47625"/>
                  <a:pt x="42957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37" name="统一风格-firewall CFW 砖墙-127">
            <a:extLst>
              <a:ext uri="{FF2B5EF4-FFF2-40B4-BE49-F238E27FC236}">
                <a16:creationId xmlns:a16="http://schemas.microsoft.com/office/drawing/2014/main" id="{9AB3FA44-6597-496D-B47A-32BC1190C5BC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9720" cap="rnd">
            <a:solidFill>
              <a:srgbClr val="2053C3"/>
            </a:solidFill>
            <a:round/>
          </a:ln>
        </p:spPr>
      </p:sp>
      <p:sp>
        <p:nvSpPr>
          <p:cNvPr id="138" name="统一风格-firewall CFW 砖缝-128">
            <a:extLst>
              <a:ext uri="{FF2B5EF4-FFF2-40B4-BE49-F238E27FC236}">
                <a16:creationId xmlns:a16="http://schemas.microsoft.com/office/drawing/2014/main" id="{298E5906-D2D7-4A2D-80BD-CE4AC24A4C53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9720" cap="rnd">
            <a:solidFill>
              <a:srgbClr val="2053C3"/>
            </a:solidFill>
            <a:round/>
          </a:ln>
        </p:spPr>
      </p:sp>
      <p:sp>
        <p:nvSpPr>
          <p:cNvPr id="139" name="统一风格-firewall CFW 前景衬底-129">
            <a:extLst>
              <a:ext uri="{FF2B5EF4-FFF2-40B4-BE49-F238E27FC236}">
                <a16:creationId xmlns:a16="http://schemas.microsoft.com/office/drawing/2014/main" id="{0E02EBD8-D60A-4EDB-97DD-B42CFEAF8B36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</p:sp>
      <p:sp>
        <p:nvSpPr>
          <p:cNvPr id="140" name="统一风格-firewall CFW 简洁火焰-130">
            <a:extLst>
              <a:ext uri="{FF2B5EF4-FFF2-40B4-BE49-F238E27FC236}">
                <a16:creationId xmlns:a16="http://schemas.microsoft.com/office/drawing/2014/main" id="{ADFDC0FF-6045-4D72-A0E1-22BA435511B5}"/>
              </a:ext>
            </a:extLst>
          </p:cNvPr>
          <p:cNvSpPr>
            <a:spLocks noGrp="1"/>
          </p:cNvSpPr>
          <p:nvPr/>
        </p:nvSpPr>
        <p:spPr>
          <a:xfrm>
            <a:off x="5153025" y="446722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9720" cap="rnd">
            <a:solidFill>
              <a:srgbClr val="2053C3"/>
            </a:solidFill>
            <a:round/>
          </a:ln>
        </p:spPr>
      </p:sp>
      <p:sp>
        <p:nvSpPr>
          <p:cNvPr id="141" name="统一风格-文字 CFW-131">
            <a:extLst>
              <a:ext uri="{FF2B5EF4-FFF2-40B4-BE49-F238E27FC236}">
                <a16:creationId xmlns:a16="http://schemas.microsoft.com/office/drawing/2014/main" id="{04866BBE-2DED-41F3-9B1C-C37873719F0C}"/>
              </a:ext>
            </a:extLst>
          </p:cNvPr>
          <p:cNvSpPr>
            <a:spLocks noGrp="1"/>
          </p:cNvSpPr>
          <p:nvPr/>
        </p:nvSpPr>
        <p:spPr>
          <a:xfrm>
            <a:off x="5800725" y="4410075"/>
            <a:ext cx="12668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142" name="统一风格-文字 策略与威胁检测-132">
            <a:extLst>
              <a:ext uri="{FF2B5EF4-FFF2-40B4-BE49-F238E27FC236}">
                <a16:creationId xmlns:a16="http://schemas.microsoft.com/office/drawing/2014/main" id="{6563774E-FA13-4B58-B07B-71BE1BD55384}"/>
              </a:ext>
            </a:extLst>
          </p:cNvPr>
          <p:cNvSpPr>
            <a:spLocks noGrp="1"/>
          </p:cNvSpPr>
          <p:nvPr/>
        </p:nvSpPr>
        <p:spPr>
          <a:xfrm>
            <a:off x="5800725" y="4791075"/>
            <a:ext cx="12668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策略与威胁检测</a:t>
            </a:r>
          </a:p>
        </p:txBody>
      </p:sp>
      <p:cxnSp>
        <p:nvCxnSpPr>
          <p:cNvPr id="158" name="端到端路径-18">
            <a:extLst>
              <a:ext uri="{FF2B5EF4-FFF2-40B4-BE49-F238E27FC236}">
                <a16:creationId xmlns:a16="http://schemas.microsoft.com/office/drawing/2014/main" id="{5D6A712D-38FD-434D-84CA-3417D67CE09D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  <a:prstDash val="solid"/>
          </a:ln>
        </p:spPr>
      </p:cxnSp>
      <p:sp>
        <p:nvSpPr>
          <p:cNvPr id="159" name="统一风格-文字 安全组有状态：已放行连接的响应流量自动允许；新建反向连接仍需核验。ACL、主机防火墙与服务监听另行检查。-141">
            <a:extLst>
              <a:ext uri="{FF2B5EF4-FFF2-40B4-BE49-F238E27FC236}">
                <a16:creationId xmlns:a16="http://schemas.microsoft.com/office/drawing/2014/main" id="{D29390F4-56FC-459C-822F-704F59307BA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安全组有状态：已放行连接的响应流量自动允许；新建反向连接仍需核验。ACL、主机防火墙与服务监听另行检查。</a:t>
            </a:r>
          </a:p>
        </p:txBody>
      </p:sp>
      <p:sp>
        <p:nvSpPr>
          <p:cNvPr id="160" name="正文-39">
            <a:extLst>
              <a:ext uri="{FF2B5EF4-FFF2-40B4-BE49-F238E27FC236}">
                <a16:creationId xmlns:a16="http://schemas.microsoft.com/office/drawing/2014/main" id="{235564AF-3B52-4267-84CC-49C7A063ABA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cxnSp>
        <p:nvCxnSpPr>
          <p:cNvPr id="167" name="第58页 RT1 垂直送检">
            <a:extLst>
              <a:ext uri="{FF2B5EF4-FFF2-40B4-BE49-F238E27FC236}">
                <a16:creationId xmlns:a16="http://schemas.microsoft.com/office/drawing/2014/main" id="{16D75EAF-649B-4CEC-B3F0-5173CE1CDC3F}"/>
              </a:ext>
            </a:extLst>
          </p:cNvPr>
          <p:cNvCxnSpPr/>
          <p:nvPr/>
        </p:nvCxnSpPr>
        <p:spPr>
          <a:xfrm>
            <a:off x="5057775" y="3895725"/>
            <a:ext cx="0" cy="371475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168" name="第58页 CFW 垂直回注 RT2">
            <a:extLst>
              <a:ext uri="{FF2B5EF4-FFF2-40B4-BE49-F238E27FC236}">
                <a16:creationId xmlns:a16="http://schemas.microsoft.com/office/drawing/2014/main" id="{8BB988B9-6573-4C9C-B272-9194D882B6E2}"/>
              </a:ext>
            </a:extLst>
          </p:cNvPr>
          <p:cNvCxnSpPr/>
          <p:nvPr/>
        </p:nvCxnSpPr>
        <p:spPr>
          <a:xfrm flipV="1">
            <a:off x="7115175" y="3895725"/>
            <a:ext cx="0" cy="371475"/>
          </a:xfrm>
          <a:prstGeom prst="straightConnector1">
            <a:avLst/>
          </a:prstGeom>
          <a:ln w="16193">
            <a:solidFill>
              <a:srgbClr val="7293CE"/>
            </a:solidFill>
            <a:tailEnd type="triangle" w="sm" len="sm"/>
          </a:ln>
        </p:spPr>
      </p:cxnSp>
      <p:sp>
        <p:nvSpPr>
          <p:cNvPr id="169" name="统一风格-文字 送检-68">
            <a:extLst>
              <a:ext uri="{FF2B5EF4-FFF2-40B4-BE49-F238E27FC236}">
                <a16:creationId xmlns:a16="http://schemas.microsoft.com/office/drawing/2014/main" id="{543B865D-C722-40E8-86BA-69F9D53875DB}"/>
              </a:ext>
            </a:extLst>
          </p:cNvPr>
          <p:cNvSpPr>
            <a:spLocks noGrp="1"/>
          </p:cNvSpPr>
          <p:nvPr/>
        </p:nvSpPr>
        <p:spPr>
          <a:xfrm>
            <a:off x="4267200" y="4029075"/>
            <a:ext cx="6953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送检</a:t>
            </a:r>
          </a:p>
        </p:txBody>
      </p:sp>
      <p:sp>
        <p:nvSpPr>
          <p:cNvPr id="170" name="统一风格-文字 放行回注-69">
            <a:extLst>
              <a:ext uri="{FF2B5EF4-FFF2-40B4-BE49-F238E27FC236}">
                <a16:creationId xmlns:a16="http://schemas.microsoft.com/office/drawing/2014/main" id="{AA99F07D-4649-4907-93A9-CD18C765D60B}"/>
              </a:ext>
            </a:extLst>
          </p:cNvPr>
          <p:cNvSpPr>
            <a:spLocks noGrp="1"/>
          </p:cNvSpPr>
          <p:nvPr/>
        </p:nvSpPr>
        <p:spPr>
          <a:xfrm>
            <a:off x="7258050" y="4029075"/>
            <a:ext cx="971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放行回注</a:t>
            </a:r>
          </a:p>
        </p:txBody>
      </p:sp>
      <p:sp>
        <p:nvSpPr>
          <p:cNvPr id="171" name="统一风格-目的 VPC 入向有效路由表玻璃后沿-150">
            <a:extLst>
              <a:ext uri="{FF2B5EF4-FFF2-40B4-BE49-F238E27FC236}">
                <a16:creationId xmlns:a16="http://schemas.microsoft.com/office/drawing/2014/main" id="{6CCCA348-C478-412A-8461-16387B5B48E2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2" name="统一风格-目的 VPC 入向有效路由表-151">
            <a:extLst>
              <a:ext uri="{FF2B5EF4-FFF2-40B4-BE49-F238E27FC236}">
                <a16:creationId xmlns:a16="http://schemas.microsoft.com/office/drawing/2014/main" id="{E8D942FE-B74E-4DBF-99AC-9D2FD246696B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476500" cy="742950"/>
          </a:xfrm>
          <a:prstGeom prst="roundRect">
            <a:avLst>
              <a:gd name="adj" fmla="val 1153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73" name="统一风格-目的 VPC 入向有效路由表玻璃内沿-152">
            <a:extLst>
              <a:ext uri="{FF2B5EF4-FFF2-40B4-BE49-F238E27FC236}">
                <a16:creationId xmlns:a16="http://schemas.microsoft.com/office/drawing/2014/main" id="{48DAEBAC-EE91-41B9-9D38-753DD4752FDB}"/>
              </a:ext>
            </a:extLst>
          </p:cNvPr>
          <p:cNvSpPr>
            <a:spLocks noGrp="1"/>
          </p:cNvSpPr>
          <p:nvPr/>
        </p:nvSpPr>
        <p:spPr>
          <a:xfrm>
            <a:off x="8928259" y="4299109"/>
            <a:ext cx="2450783" cy="717233"/>
          </a:xfrm>
          <a:prstGeom prst="roundRect">
            <a:avLst>
              <a:gd name="adj" fmla="val 1022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74" name="统一风格-目的 VPC 入向有效路由表透光反射面-153">
            <a:extLst>
              <a:ext uri="{FF2B5EF4-FFF2-40B4-BE49-F238E27FC236}">
                <a16:creationId xmlns:a16="http://schemas.microsoft.com/office/drawing/2014/main" id="{4E599831-9080-4F7E-99B2-DFD8C22F41B7}"/>
              </a:ext>
            </a:extLst>
          </p:cNvPr>
          <p:cNvSpPr>
            <a:spLocks noGrp="1"/>
          </p:cNvSpPr>
          <p:nvPr/>
        </p:nvSpPr>
        <p:spPr>
          <a:xfrm>
            <a:off x="8934450" y="4305300"/>
            <a:ext cx="2438400" cy="704850"/>
          </a:xfrm>
          <a:custGeom>
            <a:avLst/>
            <a:gdLst/>
            <a:ahLst/>
            <a:cxnLst/>
            <a:rect l="0" t="0" r="0" b="0"/>
            <a:pathLst>
              <a:path w="2438400" h="704850">
                <a:moveTo>
                  <a:pt x="76200" y="0"/>
                </a:moveTo>
                <a:lnTo>
                  <a:pt x="1560576" y="0"/>
                </a:lnTo>
                <a:lnTo>
                  <a:pt x="633984" y="704850"/>
                </a:lnTo>
                <a:lnTo>
                  <a:pt x="76200" y="704850"/>
                </a:lnTo>
                <a:cubicBezTo>
                  <a:pt x="28575" y="704850"/>
                  <a:pt x="0" y="676275"/>
                  <a:pt x="0" y="628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</p:sp>
      <p:sp>
        <p:nvSpPr>
          <p:cNvPr id="175" name="统一风格-目的 VPC 入向有效路由表边缘高光-154">
            <a:extLst>
              <a:ext uri="{FF2B5EF4-FFF2-40B4-BE49-F238E27FC236}">
                <a16:creationId xmlns:a16="http://schemas.microsoft.com/office/drawing/2014/main" id="{BF1D92AE-8DAD-467C-8A98-ED76CC635EE1}"/>
              </a:ext>
            </a:extLst>
          </p:cNvPr>
          <p:cNvSpPr>
            <a:spLocks noGrp="1"/>
          </p:cNvSpPr>
          <p:nvPr/>
        </p:nvSpPr>
        <p:spPr>
          <a:xfrm>
            <a:off x="8915400" y="4286250"/>
            <a:ext cx="2476500" cy="742950"/>
          </a:xfrm>
          <a:custGeom>
            <a:avLst/>
            <a:gdLst/>
            <a:ahLst/>
            <a:cxnLst/>
            <a:rect l="0" t="0" r="0" b="0"/>
            <a:pathLst>
              <a:path w="2476500" h="742950">
                <a:moveTo>
                  <a:pt x="95250" y="9525"/>
                </a:moveTo>
                <a:lnTo>
                  <a:pt x="2381250" y="9525"/>
                </a:lnTo>
                <a:cubicBezTo>
                  <a:pt x="2428875" y="9525"/>
                  <a:pt x="2466975" y="47625"/>
                  <a:pt x="24669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76" name="统一风格-route-table VPC 路由表外框-155">
            <a:extLst>
              <a:ext uri="{FF2B5EF4-FFF2-40B4-BE49-F238E27FC236}">
                <a16:creationId xmlns:a16="http://schemas.microsoft.com/office/drawing/2014/main" id="{1257566A-1822-4A77-A54D-510500E1106A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5928" cap="rnd">
            <a:solidFill>
              <a:srgbClr val="2053C3"/>
            </a:solidFill>
            <a:round/>
          </a:ln>
        </p:spPr>
      </p:sp>
      <p:sp>
        <p:nvSpPr>
          <p:cNvPr id="177" name="统一风格-route-table 路由表列与表头-156">
            <a:extLst>
              <a:ext uri="{FF2B5EF4-FFF2-40B4-BE49-F238E27FC236}">
                <a16:creationId xmlns:a16="http://schemas.microsoft.com/office/drawing/2014/main" id="{B36C73C4-416C-4067-B2BA-DB0E3382CD4D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178" name="统一风格-route-table 目的网段条目-157">
            <a:extLst>
              <a:ext uri="{FF2B5EF4-FFF2-40B4-BE49-F238E27FC236}">
                <a16:creationId xmlns:a16="http://schemas.microsoft.com/office/drawing/2014/main" id="{675F36A4-C8CA-462A-B0FC-3485CCBDB84A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179" name="统一风格-route-table 下一跳箭头-158">
            <a:extLst>
              <a:ext uri="{FF2B5EF4-FFF2-40B4-BE49-F238E27FC236}">
                <a16:creationId xmlns:a16="http://schemas.microsoft.com/office/drawing/2014/main" id="{AB62C3F5-473D-4880-B897-D714C763F25B}"/>
              </a:ext>
            </a:extLst>
          </p:cNvPr>
          <p:cNvSpPr>
            <a:spLocks noGrp="1"/>
          </p:cNvSpPr>
          <p:nvPr/>
        </p:nvSpPr>
        <p:spPr>
          <a:xfrm>
            <a:off x="9039225" y="4438650"/>
            <a:ext cx="400050" cy="40005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5928" cap="rnd">
            <a:solidFill>
              <a:srgbClr val="2053C3"/>
            </a:solidFill>
            <a:round/>
          </a:ln>
        </p:spPr>
      </p:sp>
      <p:sp>
        <p:nvSpPr>
          <p:cNvPr id="180" name="统一风格-文字 入向 VPC 路由表-159">
            <a:extLst>
              <a:ext uri="{FF2B5EF4-FFF2-40B4-BE49-F238E27FC236}">
                <a16:creationId xmlns:a16="http://schemas.microsoft.com/office/drawing/2014/main" id="{4C2566A5-AE5C-4634-9F3C-0EAB47181ECB}"/>
              </a:ext>
            </a:extLst>
          </p:cNvPr>
          <p:cNvSpPr>
            <a:spLocks noGrp="1"/>
          </p:cNvSpPr>
          <p:nvPr/>
        </p:nvSpPr>
        <p:spPr>
          <a:xfrm>
            <a:off x="9553575" y="4333875"/>
            <a:ext cx="1733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入向 VPC 路由表</a:t>
            </a:r>
          </a:p>
        </p:txBody>
      </p:sp>
      <p:sp>
        <p:nvSpPr>
          <p:cNvPr id="181" name="统一风格-文字 ER 接入子网关联表 目标子网 → Local-160">
            <a:extLst>
              <a:ext uri="{FF2B5EF4-FFF2-40B4-BE49-F238E27FC236}">
                <a16:creationId xmlns:a16="http://schemas.microsoft.com/office/drawing/2014/main" id="{5DD9447B-5095-42A1-915F-73624E8A8EF7}"/>
              </a:ext>
            </a:extLst>
          </p:cNvPr>
          <p:cNvSpPr>
            <a:spLocks noGrp="1"/>
          </p:cNvSpPr>
          <p:nvPr/>
        </p:nvSpPr>
        <p:spPr>
          <a:xfrm>
            <a:off x="9553575" y="4629150"/>
            <a:ext cx="1733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 接入子网关联表</a:t>
            </a:r>
          </a:p>
          <a:p>
            <a:pPr algn="l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目标子网 → Local</a:t>
            </a:r>
          </a:p>
        </p:txBody>
      </p:sp>
      <p:sp>
        <p:nvSpPr>
          <p:cNvPr id="182" name="统一风格-RT2 向目的 VPC 连接转发-161">
            <a:extLst>
              <a:ext uri="{FF2B5EF4-FFF2-40B4-BE49-F238E27FC236}">
                <a16:creationId xmlns:a16="http://schemas.microsoft.com/office/drawing/2014/main" id="{97C8CE95-7001-4BBF-B406-981C8714B816}"/>
              </a:ext>
            </a:extLst>
          </p:cNvPr>
          <p:cNvSpPr>
            <a:spLocks noGrp="1"/>
          </p:cNvSpPr>
          <p:nvPr/>
        </p:nvSpPr>
        <p:spPr>
          <a:xfrm>
            <a:off x="8039100" y="3419475"/>
            <a:ext cx="552450" cy="0"/>
          </a:xfrm>
          <a:prstGeom prst="line">
            <a:avLst/>
          </a:prstGeom>
          <a:noFill/>
          <a:ln w="9525">
            <a:solidFill>
              <a:srgbClr val="2053C3"/>
            </a:solidFill>
          </a:ln>
        </p:spPr>
      </p:sp>
      <p:sp>
        <p:nvSpPr>
          <p:cNvPr id="183" name="统一风格-目的 VPC 连接入口-162">
            <a:extLst>
              <a:ext uri="{FF2B5EF4-FFF2-40B4-BE49-F238E27FC236}">
                <a16:creationId xmlns:a16="http://schemas.microsoft.com/office/drawing/2014/main" id="{565FF7AC-8528-4EAA-ACA5-29DCD316845A}"/>
              </a:ext>
            </a:extLst>
          </p:cNvPr>
          <p:cNvSpPr>
            <a:spLocks noGrp="1"/>
          </p:cNvSpPr>
          <p:nvPr/>
        </p:nvSpPr>
        <p:spPr>
          <a:xfrm>
            <a:off x="8591550" y="3419475"/>
            <a:ext cx="0" cy="1238250"/>
          </a:xfrm>
          <a:prstGeom prst="line">
            <a:avLst/>
          </a:prstGeom>
          <a:noFill/>
          <a:ln w="9525">
            <a:solidFill>
              <a:srgbClr val="2053C3"/>
            </a:solidFill>
          </a:ln>
        </p:spPr>
      </p:sp>
      <p:cxnSp>
        <p:nvCxnSpPr>
          <p:cNvPr id="184" name="进入目的 VPC 后查入向路由">
            <a:extLst>
              <a:ext uri="{FF2B5EF4-FFF2-40B4-BE49-F238E27FC236}">
                <a16:creationId xmlns:a16="http://schemas.microsoft.com/office/drawing/2014/main" id="{7F6E2D7C-9FCD-4F8C-A6AF-CD0167EDE5C5}"/>
              </a:ext>
            </a:extLst>
          </p:cNvPr>
          <p:cNvCxnSpPr/>
          <p:nvPr/>
        </p:nvCxnSpPr>
        <p:spPr>
          <a:xfrm>
            <a:off x="8591550" y="4657725"/>
            <a:ext cx="323850" cy="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cxnSp>
        <p:nvCxnSpPr>
          <p:cNvPr id="185" name="入向路由到目的安全组">
            <a:extLst>
              <a:ext uri="{FF2B5EF4-FFF2-40B4-BE49-F238E27FC236}">
                <a16:creationId xmlns:a16="http://schemas.microsoft.com/office/drawing/2014/main" id="{9E132673-3304-4C61-99F7-7C5939F94DED}"/>
              </a:ext>
            </a:extLst>
          </p:cNvPr>
          <p:cNvCxnSpPr/>
          <p:nvPr/>
        </p:nvCxnSpPr>
        <p:spPr>
          <a:xfrm flipV="1">
            <a:off x="10153650" y="4019550"/>
            <a:ext cx="0" cy="266700"/>
          </a:xfrm>
          <a:prstGeom prst="straightConnector1">
            <a:avLst/>
          </a:prstGeom>
          <a:ln w="16193">
            <a:solidFill>
              <a:srgbClr val="2053C3"/>
            </a:solidFill>
            <a:tailEnd type="triangle" w="sm" len="sm"/>
          </a:ln>
        </p:spPr>
      </p:cxnSp>
      <p:sp>
        <p:nvSpPr>
          <p:cNvPr id="186" name="统一风格-目标主机回程查表说明玻璃后沿-163">
            <a:extLst>
              <a:ext uri="{FF2B5EF4-FFF2-40B4-BE49-F238E27FC236}">
                <a16:creationId xmlns:a16="http://schemas.microsoft.com/office/drawing/2014/main" id="{D6F9BBAB-EC82-48DD-AB16-CBEE7642AD00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7" name="统一风格-目标主机回程查表说明-164">
            <a:extLst>
              <a:ext uri="{FF2B5EF4-FFF2-40B4-BE49-F238E27FC236}">
                <a16:creationId xmlns:a16="http://schemas.microsoft.com/office/drawing/2014/main" id="{46EFF411-4161-42F0-8214-BECF367943A4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552450"/>
          </a:xfrm>
          <a:prstGeom prst="roundRect">
            <a:avLst>
              <a:gd name="adj" fmla="val 155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</p:sp>
      <p:sp>
        <p:nvSpPr>
          <p:cNvPr id="188" name="统一风格-目标主机回程查表说明玻璃内沿-165">
            <a:extLst>
              <a:ext uri="{FF2B5EF4-FFF2-40B4-BE49-F238E27FC236}">
                <a16:creationId xmlns:a16="http://schemas.microsoft.com/office/drawing/2014/main" id="{D77A5A6A-FE96-4BF6-8DCD-A15C82B9ECB0}"/>
              </a:ext>
            </a:extLst>
          </p:cNvPr>
          <p:cNvSpPr>
            <a:spLocks noGrp="1"/>
          </p:cNvSpPr>
          <p:nvPr/>
        </p:nvSpPr>
        <p:spPr>
          <a:xfrm>
            <a:off x="622459" y="5375434"/>
            <a:ext cx="10947083" cy="526733"/>
          </a:xfrm>
          <a:prstGeom prst="roundRect">
            <a:avLst>
              <a:gd name="adj" fmla="val 139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</p:sp>
      <p:sp>
        <p:nvSpPr>
          <p:cNvPr id="189" name="统一风格-目标主机回程查表说明边缘高光-166">
            <a:extLst>
              <a:ext uri="{FF2B5EF4-FFF2-40B4-BE49-F238E27FC236}">
                <a16:creationId xmlns:a16="http://schemas.microsoft.com/office/drawing/2014/main" id="{88168BB9-38D9-4C1A-AD37-EF2ADF314EBC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72800" cy="552450"/>
          </a:xfrm>
          <a:custGeom>
            <a:avLst/>
            <a:gdLst/>
            <a:ahLst/>
            <a:cxnLst/>
            <a:rect l="0" t="0" r="0" b="0"/>
            <a:pathLst>
              <a:path w="10972800" h="5524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</p:sp>
      <p:sp>
        <p:nvSpPr>
          <p:cNvPr id="190" name="统一风格-route-table VPC 路由表外框-167">
            <a:extLst>
              <a:ext uri="{FF2B5EF4-FFF2-40B4-BE49-F238E27FC236}">
                <a16:creationId xmlns:a16="http://schemas.microsoft.com/office/drawing/2014/main" id="{7D0D5E7C-4C50-40B4-A800-D8D41B9592D3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95250"/>
                </a:moveTo>
                <a:lnTo>
                  <a:pt x="514350" y="95250"/>
                </a:lnTo>
                <a:cubicBezTo>
                  <a:pt x="535305" y="95250"/>
                  <a:pt x="552450" y="112395"/>
                  <a:pt x="552450" y="133350"/>
                </a:cubicBezTo>
                <a:lnTo>
                  <a:pt x="552450" y="476250"/>
                </a:lnTo>
                <a:cubicBezTo>
                  <a:pt x="552450" y="497205"/>
                  <a:pt x="535305" y="514350"/>
                  <a:pt x="514350" y="514350"/>
                </a:cubicBezTo>
                <a:lnTo>
                  <a:pt x="95250" y="514350"/>
                </a:lnTo>
                <a:cubicBezTo>
                  <a:pt x="74295" y="514350"/>
                  <a:pt x="57150" y="497205"/>
                  <a:pt x="57150" y="476250"/>
                </a:cubicBezTo>
                <a:lnTo>
                  <a:pt x="57150" y="133350"/>
                </a:lnTo>
                <a:cubicBezTo>
                  <a:pt x="57150" y="112395"/>
                  <a:pt x="74295" y="95250"/>
                  <a:pt x="95250" y="95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3273" cap="rnd">
            <a:solidFill>
              <a:srgbClr val="2053C3"/>
            </a:solidFill>
            <a:round/>
          </a:ln>
        </p:spPr>
      </p:sp>
      <p:sp>
        <p:nvSpPr>
          <p:cNvPr id="191" name="统一风格-route-table 路由表列与表头-168">
            <a:extLst>
              <a:ext uri="{FF2B5EF4-FFF2-40B4-BE49-F238E27FC236}">
                <a16:creationId xmlns:a16="http://schemas.microsoft.com/office/drawing/2014/main" id="{259A87E4-513A-47B9-97D5-184F03320B94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19075"/>
                </a:moveTo>
                <a:lnTo>
                  <a:pt x="552450" y="219075"/>
                </a:lnTo>
                <a:moveTo>
                  <a:pt x="304800" y="219075"/>
                </a:moveTo>
                <a:lnTo>
                  <a:pt x="304800" y="51435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192" name="统一风格-route-table 目的网段条目-169">
            <a:extLst>
              <a:ext uri="{FF2B5EF4-FFF2-40B4-BE49-F238E27FC236}">
                <a16:creationId xmlns:a16="http://schemas.microsoft.com/office/drawing/2014/main" id="{BCE4BA57-F3DE-47D3-90DD-6B4A725A0637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14325"/>
                </a:moveTo>
                <a:lnTo>
                  <a:pt x="228600" y="314325"/>
                </a:lnTo>
                <a:moveTo>
                  <a:pt x="123825" y="419100"/>
                </a:moveTo>
                <a:lnTo>
                  <a:pt x="228600" y="4191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193" name="统一风格-route-table 下一跳箭头-170">
            <a:extLst>
              <a:ext uri="{FF2B5EF4-FFF2-40B4-BE49-F238E27FC236}">
                <a16:creationId xmlns:a16="http://schemas.microsoft.com/office/drawing/2014/main" id="{F79A062C-90B7-46D6-AFF3-B7D6D0E41BA5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71475" y="314325"/>
                </a:moveTo>
                <a:lnTo>
                  <a:pt x="485775" y="314325"/>
                </a:lnTo>
                <a:moveTo>
                  <a:pt x="447675" y="276225"/>
                </a:moveTo>
                <a:lnTo>
                  <a:pt x="485775" y="314325"/>
                </a:lnTo>
                <a:lnTo>
                  <a:pt x="447675" y="352425"/>
                </a:lnTo>
                <a:moveTo>
                  <a:pt x="371475" y="419100"/>
                </a:moveTo>
                <a:lnTo>
                  <a:pt x="485775" y="419100"/>
                </a:lnTo>
                <a:moveTo>
                  <a:pt x="447675" y="381000"/>
                </a:moveTo>
                <a:lnTo>
                  <a:pt x="485775" y="419100"/>
                </a:lnTo>
                <a:lnTo>
                  <a:pt x="447675" y="457200"/>
                </a:lnTo>
              </a:path>
            </a:pathLst>
          </a:custGeom>
          <a:noFill/>
          <a:ln w="13273" cap="rnd">
            <a:solidFill>
              <a:srgbClr val="2053C3"/>
            </a:solidFill>
            <a:round/>
          </a:ln>
        </p:spPr>
      </p:sp>
      <p:sp>
        <p:nvSpPr>
          <p:cNvPr id="194" name="统一风格-文字 回程查表-171">
            <a:extLst>
              <a:ext uri="{FF2B5EF4-FFF2-40B4-BE49-F238E27FC236}">
                <a16:creationId xmlns:a16="http://schemas.microsoft.com/office/drawing/2014/main" id="{5A404D1C-73F4-4647-86BA-61512769CEA9}"/>
              </a:ext>
            </a:extLst>
          </p:cNvPr>
          <p:cNvSpPr>
            <a:spLocks noGrp="1"/>
          </p:cNvSpPr>
          <p:nvPr/>
        </p:nvSpPr>
        <p:spPr>
          <a:xfrm>
            <a:off x="1238250" y="5467350"/>
            <a:ext cx="1190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回程查表</a:t>
            </a:r>
          </a:p>
        </p:txBody>
      </p:sp>
      <p:sp>
        <p:nvSpPr>
          <p:cNvPr id="195" name="统一风格-文字 目标主机所在子网关联的路由表：10.20.0.0/16 → ER，再经 RT1、CFW、RT2 返回。 入向与回程可能使用不同 VPC 路由表。已允许连接的响应由安全组状态机制放通。-172">
            <a:extLst>
              <a:ext uri="{FF2B5EF4-FFF2-40B4-BE49-F238E27FC236}">
                <a16:creationId xmlns:a16="http://schemas.microsoft.com/office/drawing/2014/main" id="{4E6D230F-E291-490D-9151-D3DFB1D198E6}"/>
              </a:ext>
            </a:extLst>
          </p:cNvPr>
          <p:cNvSpPr>
            <a:spLocks noGrp="1"/>
          </p:cNvSpPr>
          <p:nvPr/>
        </p:nvSpPr>
        <p:spPr>
          <a:xfrm>
            <a:off x="2543175" y="5391150"/>
            <a:ext cx="88106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目标主机所在子网关联的路由表：10.20.0.0/16 → ER，再经 RT1、CFW、RT2 返回。</a:t>
            </a:r>
          </a:p>
          <a:p>
            <a:pPr algn="l">
              <a:def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入向与回程可能使用不同 VPC 路由表。已允许连接的响应由安全组状态机制放通。</a:t>
            </a:r>
          </a:p>
        </p:txBody>
      </p:sp>
    </p:spTree>
    <p:extLst>
      <p:ext uri="{BB962C8B-B14F-4D97-AF65-F5344CB8AC3E}">
        <p14:creationId xmlns:p14="http://schemas.microsoft.com/office/powerpoint/2010/main" val="4035443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2EA0DA2C-6E0E-404B-A8CA-5C83BDA39E9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54ED511-25D5-42C8-B5C4-67435C75F99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接入验收需要覆盖四组配置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0ACC1C9F-EB77-4E7B-84D7-5F8149D246B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VPC 边界新接入默认放行；连接、关联、传播、VPC 路由与显式策略一起验收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C8E8335-A425-4048-81A0-20EC9064544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41A3782-E6F8-4C18-B994-C7A1EF4976D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0">
            <a:extLst>
              <a:ext uri="{FF2B5EF4-FFF2-40B4-BE49-F238E27FC236}">
                <a16:creationId xmlns:a16="http://schemas.microsoft.com/office/drawing/2014/main" id="{7AF5CAC5-62A2-4C81-BBD0-A3AAEFE24C7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7" name="统一风格-表格玻璃容器玻璃后沿-417">
            <a:extLst>
              <a:ext uri="{FF2B5EF4-FFF2-40B4-BE49-F238E27FC236}">
                <a16:creationId xmlns:a16="http://schemas.microsoft.com/office/drawing/2014/main" id="{07ACD347-F288-4299-A11F-6CD86E95EBFA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418">
            <a:extLst>
              <a:ext uri="{FF2B5EF4-FFF2-40B4-BE49-F238E27FC236}">
                <a16:creationId xmlns:a16="http://schemas.microsoft.com/office/drawing/2014/main" id="{B11BC704-F6C0-4C9C-8C49-831CBB18CCA2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419">
            <a:extLst>
              <a:ext uri="{FF2B5EF4-FFF2-40B4-BE49-F238E27FC236}">
                <a16:creationId xmlns:a16="http://schemas.microsoft.com/office/drawing/2014/main" id="{84818115-4DB5-4066-9B66-6BFCD14D6790}"/>
              </a:ext>
            </a:extLst>
          </p:cNvPr>
          <p:cNvSpPr>
            <a:spLocks noGrp="1"/>
          </p:cNvSpPr>
          <p:nvPr/>
        </p:nvSpPr>
        <p:spPr>
          <a:xfrm>
            <a:off x="546259" y="2184559"/>
            <a:ext cx="11099483" cy="3784283"/>
          </a:xfrm>
          <a:prstGeom prst="roundRect">
            <a:avLst>
              <a:gd name="adj" fmla="val 19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420">
            <a:extLst>
              <a:ext uri="{FF2B5EF4-FFF2-40B4-BE49-F238E27FC236}">
                <a16:creationId xmlns:a16="http://schemas.microsoft.com/office/drawing/2014/main" id="{2D99D069-B554-4044-B19A-94C2D4527D67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custGeom>
            <a:avLst/>
            <a:gdLst/>
            <a:ahLst/>
            <a:cxnLst/>
            <a:rect l="0" t="0" r="0" b="0"/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D5AB6A-3E45-4D92-927E-63515957BA99}"/>
              </a:ext>
            </a:extLst>
          </p:cNvPr>
          <p:cNvGraphicFramePr/>
          <p:nvPr/>
        </p:nvGraphicFramePr>
        <p:xfrm>
          <a:off x="609600" y="2247900"/>
          <a:ext cx="10972800" cy="36576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配置对象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失败时的典型表现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与 ER 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 VPC 均有正确连接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只有一侧接入或目标不可达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 关联与传播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业务连接送检，CFW 连接返回转发并学习 VPC 路由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绕过检查或形成错误路径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侧路由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对端网段下一跳与子网关联正确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只部分主机经过 CFW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策略与覆盖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已有阻断规则、日志、正反用例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接入即中断，或接入后仍过宽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4591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文-03  CFW 使用规范">
            <a:extLst>
              <a:ext uri="{FF2B5EF4-FFF2-40B4-BE49-F238E27FC236}">
                <a16:creationId xmlns:a16="http://schemas.microsoft.com/office/drawing/2014/main" id="{0ED202B3-981A-4326-AF41-A7FF124728B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95065FF-8065-4ABF-A2A0-2571B0AF436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存量业务的策略收敛过程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CFF3C489-C0DD-466F-8486-8F9AFB53E65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从已确认的依赖出发，分范围建立精确授权与兜底阻断</a:t>
            </a:r>
          </a:p>
        </p:txBody>
      </p:sp>
      <p:sp>
        <p:nvSpPr>
          <p:cNvPr id="4" name="正文-实施建议流程。VPC 边界接入默认放行，范围内兜底阻断需要显式配置">
            <a:extLst>
              <a:ext uri="{FF2B5EF4-FFF2-40B4-BE49-F238E27FC236}">
                <a16:creationId xmlns:a16="http://schemas.microsoft.com/office/drawing/2014/main" id="{9F6C188B-2C0E-41D4-94EA-C876121B9CA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实施建议流程。VPC 边界接入默认放行，范围内兜底阻断需要显式配置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F6958B4-03ED-41A1-A5C4-EF86CC2124E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1">
            <a:extLst>
              <a:ext uri="{FF2B5EF4-FFF2-40B4-BE49-F238E27FC236}">
                <a16:creationId xmlns:a16="http://schemas.microsoft.com/office/drawing/2014/main" id="{B023C136-8F78-46B6-8F61-D873EDFEBD8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7" name="统一风格-策略收敛阶段模块玻璃后沿-421">
            <a:extLst>
              <a:ext uri="{FF2B5EF4-FFF2-40B4-BE49-F238E27FC236}">
                <a16:creationId xmlns:a16="http://schemas.microsoft.com/office/drawing/2014/main" id="{4493E5F8-5D0C-4C94-801E-208FBD58978C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策略收敛阶段模块-422">
            <a:extLst>
              <a:ext uri="{FF2B5EF4-FFF2-40B4-BE49-F238E27FC236}">
                <a16:creationId xmlns:a16="http://schemas.microsoft.com/office/drawing/2014/main" id="{B25CA5DC-975E-4AAE-93B4-4B194511333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策略收敛阶段模块玻璃内沿-423">
            <a:extLst>
              <a:ext uri="{FF2B5EF4-FFF2-40B4-BE49-F238E27FC236}">
                <a16:creationId xmlns:a16="http://schemas.microsoft.com/office/drawing/2014/main" id="{E5826242-6771-4A8B-940C-C392DA1BF2E5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策略收敛阶段模块透光反射面-424">
            <a:extLst>
              <a:ext uri="{FF2B5EF4-FFF2-40B4-BE49-F238E27FC236}">
                <a16:creationId xmlns:a16="http://schemas.microsoft.com/office/drawing/2014/main" id="{BF6D5405-B49A-4374-B67D-8F83D49703CE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策略收敛阶段模块边缘高光-425">
            <a:extLst>
              <a:ext uri="{FF2B5EF4-FFF2-40B4-BE49-F238E27FC236}">
                <a16:creationId xmlns:a16="http://schemas.microsoft.com/office/drawing/2014/main" id="{B4B99013-8BBE-4664-9DE3-5E2B775ECB8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6FCCC0D6-5B96-46D7-AB10-077AC9B24052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策略收敛阶段-1">
            <a:extLst>
              <a:ext uri="{FF2B5EF4-FFF2-40B4-BE49-F238E27FC236}">
                <a16:creationId xmlns:a16="http://schemas.microsoft.com/office/drawing/2014/main" id="{82EDEC20-5D3A-48E2-8900-E42AAC8EAC3F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xt-13">
            <a:extLst>
              <a:ext uri="{FF2B5EF4-FFF2-40B4-BE49-F238E27FC236}">
                <a16:creationId xmlns:a16="http://schemas.microsoft.com/office/drawing/2014/main" id="{2BF5B964-39C6-4034-A3F4-6255E326D4E0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业务基线</a:t>
            </a:r>
          </a:p>
        </p:txBody>
      </p:sp>
      <p:sp>
        <p:nvSpPr>
          <p:cNvPr id="15" name="txt-14">
            <a:extLst>
              <a:ext uri="{FF2B5EF4-FFF2-40B4-BE49-F238E27FC236}">
                <a16:creationId xmlns:a16="http://schemas.microsoft.com/office/drawing/2014/main" id="{6E458AFB-1D4D-4B63-8ABC-3B9DE1F41EC9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记录真实业务流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覆盖周期性任务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确认 Owner 与基线</a:t>
            </a:r>
          </a:p>
        </p:txBody>
      </p:sp>
      <p:sp>
        <p:nvSpPr>
          <p:cNvPr id="16" name="统一风格-策略收敛阶段模块玻璃后沿-426">
            <a:extLst>
              <a:ext uri="{FF2B5EF4-FFF2-40B4-BE49-F238E27FC236}">
                <a16:creationId xmlns:a16="http://schemas.microsoft.com/office/drawing/2014/main" id="{5EF4A18A-03C2-49E9-AF5E-6CE850F56C76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策略收敛阶段模块-427">
            <a:extLst>
              <a:ext uri="{FF2B5EF4-FFF2-40B4-BE49-F238E27FC236}">
                <a16:creationId xmlns:a16="http://schemas.microsoft.com/office/drawing/2014/main" id="{99E18308-54B1-4B97-8076-F506A8672D9A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策略收敛阶段模块玻璃内沿-428">
            <a:extLst>
              <a:ext uri="{FF2B5EF4-FFF2-40B4-BE49-F238E27FC236}">
                <a16:creationId xmlns:a16="http://schemas.microsoft.com/office/drawing/2014/main" id="{D15C3DD7-B412-438E-8865-1422E27C400B}"/>
              </a:ext>
            </a:extLst>
          </p:cNvPr>
          <p:cNvSpPr>
            <a:spLocks noGrp="1"/>
          </p:cNvSpPr>
          <p:nvPr/>
        </p:nvSpPr>
        <p:spPr>
          <a:xfrm>
            <a:off x="33656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策略收敛阶段模块透光反射面-429">
            <a:extLst>
              <a:ext uri="{FF2B5EF4-FFF2-40B4-BE49-F238E27FC236}">
                <a16:creationId xmlns:a16="http://schemas.microsoft.com/office/drawing/2014/main" id="{EA5D6DA9-493E-401E-87A2-2C2A5AB904EB}"/>
              </a:ext>
            </a:extLst>
          </p:cNvPr>
          <p:cNvSpPr>
            <a:spLocks noGrp="1"/>
          </p:cNvSpPr>
          <p:nvPr/>
        </p:nvSpPr>
        <p:spPr>
          <a:xfrm>
            <a:off x="33718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策略收敛阶段模块边缘高光-430">
            <a:extLst>
              <a:ext uri="{FF2B5EF4-FFF2-40B4-BE49-F238E27FC236}">
                <a16:creationId xmlns:a16="http://schemas.microsoft.com/office/drawing/2014/main" id="{7E31EAC0-6241-414F-B4CC-946519D98771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4EF8638E-3271-450C-87BC-E4E51B9B4B36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策略收敛阶段-2">
            <a:extLst>
              <a:ext uri="{FF2B5EF4-FFF2-40B4-BE49-F238E27FC236}">
                <a16:creationId xmlns:a16="http://schemas.microsoft.com/office/drawing/2014/main" id="{8E0FA4AC-9911-4EC8-AAE3-15DC9A4E2E24}"/>
              </a:ext>
            </a:extLst>
          </p:cNvPr>
          <p:cNvSpPr>
            <a:spLocks noGrp="1"/>
          </p:cNvSpPr>
          <p:nvPr/>
        </p:nvSpPr>
        <p:spPr>
          <a:xfrm>
            <a:off x="35433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xt-22">
            <a:extLst>
              <a:ext uri="{FF2B5EF4-FFF2-40B4-BE49-F238E27FC236}">
                <a16:creationId xmlns:a16="http://schemas.microsoft.com/office/drawing/2014/main" id="{E4C8BE11-82C6-4A7E-89C8-E66A1B04C0A9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规则准备</a:t>
            </a:r>
          </a:p>
        </p:txBody>
      </p:sp>
      <p:sp>
        <p:nvSpPr>
          <p:cNvPr id="24" name="txt-23">
            <a:extLst>
              <a:ext uri="{FF2B5EF4-FFF2-40B4-BE49-F238E27FC236}">
                <a16:creationId xmlns:a16="http://schemas.microsoft.com/office/drawing/2014/main" id="{A87606D5-96B9-4B99-885E-DFA542D1C0C0}"/>
              </a:ext>
            </a:extLst>
          </p:cNvPr>
          <p:cNvSpPr>
            <a:spLocks noGrp="1"/>
          </p:cNvSpPr>
          <p:nvPr/>
        </p:nvSpPr>
        <p:spPr>
          <a:xfrm>
            <a:off x="35242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准备精确放行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检查顺序及例外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保存规则与路由前态</a:t>
            </a:r>
          </a:p>
        </p:txBody>
      </p:sp>
      <p:sp>
        <p:nvSpPr>
          <p:cNvPr id="25" name="统一风格-策略收敛阶段模块玻璃后沿-431">
            <a:extLst>
              <a:ext uri="{FF2B5EF4-FFF2-40B4-BE49-F238E27FC236}">
                <a16:creationId xmlns:a16="http://schemas.microsoft.com/office/drawing/2014/main" id="{398CE8DF-0983-4754-AA91-AE2FC3BE0FA2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6" name="统一风格-策略收敛阶段模块-432">
            <a:extLst>
              <a:ext uri="{FF2B5EF4-FFF2-40B4-BE49-F238E27FC236}">
                <a16:creationId xmlns:a16="http://schemas.microsoft.com/office/drawing/2014/main" id="{C71CC294-DD55-4FF1-A0E5-49F0EA75574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策略收敛阶段模块玻璃内沿-433">
            <a:extLst>
              <a:ext uri="{FF2B5EF4-FFF2-40B4-BE49-F238E27FC236}">
                <a16:creationId xmlns:a16="http://schemas.microsoft.com/office/drawing/2014/main" id="{B5D35DE3-4663-4E44-996E-1FFA759B835F}"/>
              </a:ext>
            </a:extLst>
          </p:cNvPr>
          <p:cNvSpPr>
            <a:spLocks noGrp="1"/>
          </p:cNvSpPr>
          <p:nvPr/>
        </p:nvSpPr>
        <p:spPr>
          <a:xfrm>
            <a:off x="61088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策略收敛阶段模块透光反射面-434">
            <a:extLst>
              <a:ext uri="{FF2B5EF4-FFF2-40B4-BE49-F238E27FC236}">
                <a16:creationId xmlns:a16="http://schemas.microsoft.com/office/drawing/2014/main" id="{8E4DD018-5C3E-4339-9A0D-B24505A2FF92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策略收敛阶段模块边缘高光-435">
            <a:extLst>
              <a:ext uri="{FF2B5EF4-FFF2-40B4-BE49-F238E27FC236}">
                <a16:creationId xmlns:a16="http://schemas.microsoft.com/office/drawing/2014/main" id="{FD48FE3F-E841-47DA-9782-EF2162142CE2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txt-29">
            <a:extLst>
              <a:ext uri="{FF2B5EF4-FFF2-40B4-BE49-F238E27FC236}">
                <a16:creationId xmlns:a16="http://schemas.microsoft.com/office/drawing/2014/main" id="{70A286A8-7C1C-4D22-A9F0-549B3DA5C214}"/>
              </a:ext>
            </a:extLst>
          </p:cNvPr>
          <p:cNvSpPr>
            <a:spLocks noGrp="1"/>
          </p:cNvSpPr>
          <p:nvPr/>
        </p:nvSpPr>
        <p:spPr>
          <a:xfrm>
            <a:off x="62674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策略收敛阶段-3">
            <a:extLst>
              <a:ext uri="{FF2B5EF4-FFF2-40B4-BE49-F238E27FC236}">
                <a16:creationId xmlns:a16="http://schemas.microsoft.com/office/drawing/2014/main" id="{C29FAE82-035B-42E8-A3DA-73C18F7543CD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xt-31">
            <a:extLst>
              <a:ext uri="{FF2B5EF4-FFF2-40B4-BE49-F238E27FC236}">
                <a16:creationId xmlns:a16="http://schemas.microsoft.com/office/drawing/2014/main" id="{658A894D-7B61-461D-80C8-C40365270687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分范围收敛</a:t>
            </a:r>
          </a:p>
        </p:txBody>
      </p:sp>
      <p:sp>
        <p:nvSpPr>
          <p:cNvPr id="33" name="txt-32">
            <a:extLst>
              <a:ext uri="{FF2B5EF4-FFF2-40B4-BE49-F238E27FC236}">
                <a16:creationId xmlns:a16="http://schemas.microsoft.com/office/drawing/2014/main" id="{95386C5F-AFA7-433E-AA8F-D44074837CF0}"/>
              </a:ext>
            </a:extLst>
          </p:cNvPr>
          <p:cNvSpPr>
            <a:spLocks noGrp="1"/>
          </p:cNvSpPr>
          <p:nvPr/>
        </p:nvSpPr>
        <p:spPr>
          <a:xfrm>
            <a:off x="62674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选定首批业务范围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发布显式兜底阻断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观察业务与日志</a:t>
            </a:r>
          </a:p>
        </p:txBody>
      </p:sp>
      <p:sp>
        <p:nvSpPr>
          <p:cNvPr id="34" name="统一风格-策略收敛阶段模块玻璃后沿-436">
            <a:extLst>
              <a:ext uri="{FF2B5EF4-FFF2-40B4-BE49-F238E27FC236}">
                <a16:creationId xmlns:a16="http://schemas.microsoft.com/office/drawing/2014/main" id="{505FCD8B-6E66-47F7-A40B-E30B470AF3B5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5" name="统一风格-策略收敛阶段模块-437">
            <a:extLst>
              <a:ext uri="{FF2B5EF4-FFF2-40B4-BE49-F238E27FC236}">
                <a16:creationId xmlns:a16="http://schemas.microsoft.com/office/drawing/2014/main" id="{795089C8-872B-4289-A272-068A0A17AE63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514600" cy="2667000"/>
          </a:xfrm>
          <a:prstGeom prst="roundRect">
            <a:avLst>
              <a:gd name="adj" fmla="val 340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策略收敛阶段模块玻璃内沿-438">
            <a:extLst>
              <a:ext uri="{FF2B5EF4-FFF2-40B4-BE49-F238E27FC236}">
                <a16:creationId xmlns:a16="http://schemas.microsoft.com/office/drawing/2014/main" id="{0EE3B982-073C-497D-B638-4CA065364578}"/>
              </a:ext>
            </a:extLst>
          </p:cNvPr>
          <p:cNvSpPr>
            <a:spLocks noGrp="1"/>
          </p:cNvSpPr>
          <p:nvPr/>
        </p:nvSpPr>
        <p:spPr>
          <a:xfrm>
            <a:off x="8852059" y="2108359"/>
            <a:ext cx="2488883" cy="2641283"/>
          </a:xfrm>
          <a:prstGeom prst="roundRect">
            <a:avLst>
              <a:gd name="adj" fmla="val 294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策略收敛阶段模块透光反射面-439">
            <a:extLst>
              <a:ext uri="{FF2B5EF4-FFF2-40B4-BE49-F238E27FC236}">
                <a16:creationId xmlns:a16="http://schemas.microsoft.com/office/drawing/2014/main" id="{263956B2-728F-4BFE-93AA-5A32A604F783}"/>
              </a:ext>
            </a:extLst>
          </p:cNvPr>
          <p:cNvSpPr>
            <a:spLocks noGrp="1"/>
          </p:cNvSpPr>
          <p:nvPr/>
        </p:nvSpPr>
        <p:spPr>
          <a:xfrm>
            <a:off x="8858250" y="2114550"/>
            <a:ext cx="2476500" cy="2628900"/>
          </a:xfrm>
          <a:custGeom>
            <a:avLst/>
            <a:gdLst/>
            <a:ahLst/>
            <a:cxnLst/>
            <a:rect l="0" t="0" r="0" b="0"/>
            <a:pathLst>
              <a:path w="2476500" h="2628900">
                <a:moveTo>
                  <a:pt x="76200" y="0"/>
                </a:moveTo>
                <a:lnTo>
                  <a:pt x="1584960" y="0"/>
                </a:lnTo>
                <a:lnTo>
                  <a:pt x="643890" y="2628900"/>
                </a:lnTo>
                <a:lnTo>
                  <a:pt x="76200" y="2628900"/>
                </a:lnTo>
                <a:cubicBezTo>
                  <a:pt x="28575" y="2628900"/>
                  <a:pt x="0" y="2600325"/>
                  <a:pt x="0" y="25527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策略收敛阶段模块边缘高光-440">
            <a:extLst>
              <a:ext uri="{FF2B5EF4-FFF2-40B4-BE49-F238E27FC236}">
                <a16:creationId xmlns:a16="http://schemas.microsoft.com/office/drawing/2014/main" id="{7EBC958B-74A9-4602-93D9-59F7F4227BD5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514600" cy="2667000"/>
          </a:xfrm>
          <a:custGeom>
            <a:avLst/>
            <a:gdLst/>
            <a:ahLst/>
            <a:cxnLst/>
            <a:rect l="0" t="0" r="0" b="0"/>
            <a:pathLst>
              <a:path w="2514600" h="2667000">
                <a:moveTo>
                  <a:pt x="95250" y="9525"/>
                </a:moveTo>
                <a:lnTo>
                  <a:pt x="2419350" y="9525"/>
                </a:lnTo>
                <a:cubicBezTo>
                  <a:pt x="2466975" y="9525"/>
                  <a:pt x="2505075" y="47625"/>
                  <a:pt x="25050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txt-38">
            <a:extLst>
              <a:ext uri="{FF2B5EF4-FFF2-40B4-BE49-F238E27FC236}">
                <a16:creationId xmlns:a16="http://schemas.microsoft.com/office/drawing/2014/main" id="{0800E75B-B751-4CD2-B1D6-B75E7987D437}"/>
              </a:ext>
            </a:extLst>
          </p:cNvPr>
          <p:cNvSpPr>
            <a:spLocks noGrp="1"/>
          </p:cNvSpPr>
          <p:nvPr/>
        </p:nvSpPr>
        <p:spPr>
          <a:xfrm>
            <a:off x="9010650" y="22288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" name="策略收敛阶段-4">
            <a:extLst>
              <a:ext uri="{FF2B5EF4-FFF2-40B4-BE49-F238E27FC236}">
                <a16:creationId xmlns:a16="http://schemas.microsoft.com/office/drawing/2014/main" id="{E08B48B3-B665-4808-9C14-9AF346C6F5C3}"/>
              </a:ext>
            </a:extLst>
          </p:cNvPr>
          <p:cNvSpPr>
            <a:spLocks noGrp="1"/>
          </p:cNvSpPr>
          <p:nvPr/>
        </p:nvSpPr>
        <p:spPr>
          <a:xfrm>
            <a:off x="9029700" y="2876550"/>
            <a:ext cx="76200" cy="76200"/>
          </a:xfrm>
          <a:prstGeom prst="ellipse">
            <a:avLst/>
          </a:prstGeom>
          <a:solidFill>
            <a:srgbClr val="002FA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xt-40">
            <a:extLst>
              <a:ext uri="{FF2B5EF4-FFF2-40B4-BE49-F238E27FC236}">
                <a16:creationId xmlns:a16="http://schemas.microsoft.com/office/drawing/2014/main" id="{C0D068B3-2BBA-42FF-8E40-7E8C66833805}"/>
              </a:ext>
            </a:extLst>
          </p:cNvPr>
          <p:cNvSpPr>
            <a:spLocks noGrp="1"/>
          </p:cNvSpPr>
          <p:nvPr/>
        </p:nvSpPr>
        <p:spPr>
          <a:xfrm>
            <a:off x="9010650" y="31432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验收与复核</a:t>
            </a:r>
          </a:p>
        </p:txBody>
      </p:sp>
      <p:sp>
        <p:nvSpPr>
          <p:cNvPr id="42" name="txt-41">
            <a:extLst>
              <a:ext uri="{FF2B5EF4-FFF2-40B4-BE49-F238E27FC236}">
                <a16:creationId xmlns:a16="http://schemas.microsoft.com/office/drawing/2014/main" id="{4B892572-959A-418E-8B5D-70F1AD0EBD50}"/>
              </a:ext>
            </a:extLst>
          </p:cNvPr>
          <p:cNvSpPr>
            <a:spLocks noGrp="1"/>
          </p:cNvSpPr>
          <p:nvPr/>
        </p:nvSpPr>
        <p:spPr>
          <a:xfrm>
            <a:off x="9010650" y="3676650"/>
            <a:ext cx="219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新建应通与应拒绝连接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关键交易回归</a:t>
            </a:r>
          </a:p>
          <a:p>
            <a:pPr algn="l">
              <a:def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到期复核并扩围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0C1230-C5FC-4EDC-9BBE-076BEC0A93E8}"/>
              </a:ext>
            </a:extLst>
          </p:cNvPr>
          <p:cNvCxnSpPr>
            <a:stCxn id="13" idx="6"/>
            <a:endCxn id="22" idx="2"/>
          </p:cNvCxnSpPr>
          <p:nvPr/>
        </p:nvCxnSpPr>
        <p:spPr>
          <a:xfrm>
            <a:off x="876300" y="2914650"/>
            <a:ext cx="2667000" cy="0"/>
          </a:xfrm>
          <a:prstGeom prst="straightConnector1">
            <a:avLst/>
          </a:prstGeom>
          <a:ln w="9525">
            <a:solidFill>
              <a:srgbClr val="A9BEDF"/>
            </a:solidFill>
            <a:tailEnd type="triangle" w="sm" len="sm"/>
          </a:ln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6030FA1-960D-40BB-B2FF-D94916B0B52B}"/>
              </a:ext>
            </a:extLst>
          </p:cNvPr>
          <p:cNvCxnSpPr>
            <a:stCxn id="22" idx="6"/>
            <a:endCxn id="31" idx="2"/>
          </p:cNvCxnSpPr>
          <p:nvPr/>
        </p:nvCxnSpPr>
        <p:spPr>
          <a:xfrm>
            <a:off x="3619500" y="2914650"/>
            <a:ext cx="2667000" cy="0"/>
          </a:xfrm>
          <a:prstGeom prst="straightConnector1">
            <a:avLst/>
          </a:prstGeom>
          <a:ln w="9525">
            <a:solidFill>
              <a:srgbClr val="A9BEDF"/>
            </a:solidFill>
            <a:tailEnd type="triangle" w="sm" len="sm"/>
          </a:ln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442A3C2-7307-4C0D-91F9-089333A9038A}"/>
              </a:ext>
            </a:extLst>
          </p:cNvPr>
          <p:cNvCxnSpPr>
            <a:stCxn id="31" idx="6"/>
            <a:endCxn id="40" idx="2"/>
          </p:cNvCxnSpPr>
          <p:nvPr/>
        </p:nvCxnSpPr>
        <p:spPr>
          <a:xfrm>
            <a:off x="6362700" y="2914650"/>
            <a:ext cx="2667000" cy="0"/>
          </a:xfrm>
          <a:prstGeom prst="straightConnector1">
            <a:avLst/>
          </a:prstGeom>
          <a:ln w="9525">
            <a:solidFill>
              <a:srgbClr val="A9BEDF"/>
            </a:solidFill>
            <a:tailEnd type="triangle" w="sm" len="sm"/>
          </a:ln>
        </p:spPr>
      </p:cxnSp>
      <p:sp>
        <p:nvSpPr>
          <p:cNvPr id="46" name="版式分隔线">
            <a:extLst>
              <a:ext uri="{FF2B5EF4-FFF2-40B4-BE49-F238E27FC236}">
                <a16:creationId xmlns:a16="http://schemas.microsoft.com/office/drawing/2014/main" id="{34274105-7E73-42AB-BF10-1E0B05ECAC4A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10972800" cy="0"/>
          </a:xfrm>
          <a:prstGeom prst="line">
            <a:avLst/>
          </a:prstGeom>
          <a:noFill/>
          <a:ln w="6668">
            <a:solidFill>
              <a:srgbClr val="B6C8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xt-46">
            <a:extLst>
              <a:ext uri="{FF2B5EF4-FFF2-40B4-BE49-F238E27FC236}">
                <a16:creationId xmlns:a16="http://schemas.microsoft.com/office/drawing/2014/main" id="{E3661DAE-2C6D-4BCC-B9C7-4B33F5CEB9D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2247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开始阻断前</a:t>
            </a:r>
          </a:p>
        </p:txBody>
      </p:sp>
      <p:sp>
        <p:nvSpPr>
          <p:cNvPr id="48" name="txt-47">
            <a:extLst>
              <a:ext uri="{FF2B5EF4-FFF2-40B4-BE49-F238E27FC236}">
                <a16:creationId xmlns:a16="http://schemas.microsoft.com/office/drawing/2014/main" id="{BD175BFA-BCAC-45B8-9A0D-3C9EF6D05000}"/>
              </a:ext>
            </a:extLst>
          </p:cNvPr>
          <p:cNvSpPr>
            <a:spLocks noGrp="1"/>
          </p:cNvSpPr>
          <p:nvPr/>
        </p:nvSpPr>
        <p:spPr>
          <a:xfrm>
            <a:off x="3352800" y="5200650"/>
            <a:ext cx="82296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观察窗口覆盖备份、批处理与月结等周期。</a:t>
            </a:r>
          </a:p>
          <a:p>
            <a:pPr algn="l">
              <a:def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关键交易、错误率或时延触发门槛时，恢复前态并复测。</a:t>
            </a:r>
          </a:p>
        </p:txBody>
      </p:sp>
    </p:spTree>
    <p:extLst>
      <p:ext uri="{BB962C8B-B14F-4D97-AF65-F5344CB8AC3E}">
        <p14:creationId xmlns:p14="http://schemas.microsoft.com/office/powerpoint/2010/main" val="10298438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E67D0109-6691-4915-981D-55B3CF8B145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7264511-CBC7-490C-9F73-1DF2D1C3373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访问申请应能直接转换为策略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6A8AD72E-DFE9-4316-A28B-2C00A26070F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源端口通常动态分配；工单、Owner、有效期与回滚记录随申请一起维护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341F8B28-6CE0-43AA-99DA-959E5550541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示例请求单 CHG-DEMO-001 为虚构，不代表真实审批记录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50C0A9B-F098-4A0B-89F1-E40B8A5A528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2">
            <a:extLst>
              <a:ext uri="{FF2B5EF4-FFF2-40B4-BE49-F238E27FC236}">
                <a16:creationId xmlns:a16="http://schemas.microsoft.com/office/drawing/2014/main" id="{4AB93F80-D95A-4565-BD54-E7F38EAEE34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sp>
        <p:nvSpPr>
          <p:cNvPr id="7" name="统一风格-表格玻璃容器玻璃后沿-441">
            <a:extLst>
              <a:ext uri="{FF2B5EF4-FFF2-40B4-BE49-F238E27FC236}">
                <a16:creationId xmlns:a16="http://schemas.microsoft.com/office/drawing/2014/main" id="{A03CA5AE-AAB2-4053-A2F5-742A5F467011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11125200" cy="3914775"/>
          </a:xfrm>
          <a:prstGeom prst="roundRect">
            <a:avLst>
              <a:gd name="adj" fmla="val 219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442">
            <a:extLst>
              <a:ext uri="{FF2B5EF4-FFF2-40B4-BE49-F238E27FC236}">
                <a16:creationId xmlns:a16="http://schemas.microsoft.com/office/drawing/2014/main" id="{6269F446-0C58-45DC-9CCE-9989A7129059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11125200" cy="3914775"/>
          </a:xfrm>
          <a:prstGeom prst="roundRect">
            <a:avLst>
              <a:gd name="adj" fmla="val 219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443">
            <a:extLst>
              <a:ext uri="{FF2B5EF4-FFF2-40B4-BE49-F238E27FC236}">
                <a16:creationId xmlns:a16="http://schemas.microsoft.com/office/drawing/2014/main" id="{257BD597-556C-4A63-AD8E-6AF289FD1DB3}"/>
              </a:ext>
            </a:extLst>
          </p:cNvPr>
          <p:cNvSpPr>
            <a:spLocks noGrp="1"/>
          </p:cNvSpPr>
          <p:nvPr/>
        </p:nvSpPr>
        <p:spPr>
          <a:xfrm>
            <a:off x="546259" y="2060734"/>
            <a:ext cx="11099483" cy="3889058"/>
          </a:xfrm>
          <a:prstGeom prst="roundRect">
            <a:avLst>
              <a:gd name="adj" fmla="val 188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444">
            <a:extLst>
              <a:ext uri="{FF2B5EF4-FFF2-40B4-BE49-F238E27FC236}">
                <a16:creationId xmlns:a16="http://schemas.microsoft.com/office/drawing/2014/main" id="{B8E35191-B228-4C51-9119-1B2FD6BB98B0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11125200" cy="3914775"/>
          </a:xfrm>
          <a:custGeom>
            <a:avLst/>
            <a:gdLst/>
            <a:ahLst/>
            <a:cxnLst/>
            <a:rect l="0" t="0" r="0" b="0"/>
            <a:pathLst>
              <a:path w="11125200" h="39147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5C679ED-2248-40F4-80D8-964BAFD575F0}"/>
              </a:ext>
            </a:extLst>
          </p:cNvPr>
          <p:cNvGraphicFramePr/>
          <p:nvPr/>
        </p:nvGraphicFramePr>
        <p:xfrm>
          <a:off x="609600" y="2124075"/>
          <a:ext cx="10972800" cy="376237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48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申请示例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业务与记录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订单服务访问自建数据库，CHG-DEMO-001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连接发起方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10.20.10.15/32，应用 VPC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连接接收方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10.30.20.10/32，数据 VPC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端口与协议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TCP，源端口 Any，目的端口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生效范围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VPC 边界，按审批窗口发布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管理与验收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负责人、有效期与复核、正反用例和回滚门槛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3749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-03  CFW 使用规范">
            <a:extLst>
              <a:ext uri="{FF2B5EF4-FFF2-40B4-BE49-F238E27FC236}">
                <a16:creationId xmlns:a16="http://schemas.microsoft.com/office/drawing/2014/main" id="{E0BE8298-BB37-4257-BCC2-D4E5AD18135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CA90D437-7274-42D2-B0D7-87569B76A23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业务访问矩阵示例</a:t>
            </a:r>
          </a:p>
        </p:txBody>
      </p:sp>
      <p:sp>
        <p:nvSpPr>
          <p:cNvPr id="3" name="正文-配置原则：仅批准明确业务流。表内规则需同步核对安全组与其他控制层">
            <a:extLst>
              <a:ext uri="{FF2B5EF4-FFF2-40B4-BE49-F238E27FC236}">
                <a16:creationId xmlns:a16="http://schemas.microsoft.com/office/drawing/2014/main" id="{414BA720-0480-4A00-95DA-C30939B7DE7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配置原则：仅批准明确业务流。表内规则需同步核对安全组与其他控制层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6D181AEE-68D2-4E50-A30D-78223837FF6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43">
            <a:extLst>
              <a:ext uri="{FF2B5EF4-FFF2-40B4-BE49-F238E27FC236}">
                <a16:creationId xmlns:a16="http://schemas.microsoft.com/office/drawing/2014/main" id="{B035AF3E-BE38-471E-B813-15724CB56D8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  <p:sp>
        <p:nvSpPr>
          <p:cNvPr id="6" name="统一风格-表格玻璃容器玻璃后沿-445">
            <a:extLst>
              <a:ext uri="{FF2B5EF4-FFF2-40B4-BE49-F238E27FC236}">
                <a16:creationId xmlns:a16="http://schemas.microsoft.com/office/drawing/2014/main" id="{0C1E3C72-F913-46E0-BA8D-4AFB06BD0C62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表格玻璃容器-446">
            <a:extLst>
              <a:ext uri="{FF2B5EF4-FFF2-40B4-BE49-F238E27FC236}">
                <a16:creationId xmlns:a16="http://schemas.microsoft.com/office/drawing/2014/main" id="{866D3A67-5D82-4D27-953F-2C96961A75EA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玻璃内沿-447">
            <a:extLst>
              <a:ext uri="{FF2B5EF4-FFF2-40B4-BE49-F238E27FC236}">
                <a16:creationId xmlns:a16="http://schemas.microsoft.com/office/drawing/2014/main" id="{E55365F1-B06A-45A6-BB6F-7C07B6E283F8}"/>
              </a:ext>
            </a:extLst>
          </p:cNvPr>
          <p:cNvSpPr>
            <a:spLocks noGrp="1"/>
          </p:cNvSpPr>
          <p:nvPr/>
        </p:nvSpPr>
        <p:spPr>
          <a:xfrm>
            <a:off x="546259" y="2184559"/>
            <a:ext cx="11099483" cy="3784283"/>
          </a:xfrm>
          <a:prstGeom prst="roundRect">
            <a:avLst>
              <a:gd name="adj" fmla="val 19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边缘高光-448">
            <a:extLst>
              <a:ext uri="{FF2B5EF4-FFF2-40B4-BE49-F238E27FC236}">
                <a16:creationId xmlns:a16="http://schemas.microsoft.com/office/drawing/2014/main" id="{9B1E5043-37A3-436E-8B35-AA60EEF2E76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custGeom>
            <a:avLst/>
            <a:gdLst/>
            <a:ahLst/>
            <a:cxnLst/>
            <a:rect l="0" t="0" r="0" b="0"/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6DF0A-3F38-41F5-BC62-4B6248CD3408}"/>
              </a:ext>
            </a:extLst>
          </p:cNvPr>
          <p:cNvGraphicFramePr/>
          <p:nvPr/>
        </p:nvGraphicFramePr>
        <p:xfrm>
          <a:off x="609600" y="2247900"/>
          <a:ext cx="10972800" cy="36576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动作与依据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放行，订单服务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10.40.10.5/32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放行，受控运维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10.30.20.10/32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阻断，无运维需求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测试环境地址组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生产数据地址组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阻断，环境隔离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已纳管业务源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已核验业务范围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其他流量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兜底阻断，依赖梳理完成后启用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2598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EB9833CC-2588-4C4E-85E6-B88161118DB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EF006AE-1EEF-4CC4-A7DD-B261DCD72BD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规则填写示例与发布前复核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D041C1EC-0E82-4B1B-AD22-59258D22C6A8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先确认防护对象，再复核规则，最后核对日志；启用时可能立即生效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3B07C69-C9CD-4C3D-B529-7E46B48E3C1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启用规则可能立即生效。先复核范围与顺序，再在批准窗口发布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C521E306-FA8F-41EF-A1FE-8625A561877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4">
            <a:extLst>
              <a:ext uri="{FF2B5EF4-FFF2-40B4-BE49-F238E27FC236}">
                <a16:creationId xmlns:a16="http://schemas.microsoft.com/office/drawing/2014/main" id="{FEF5868E-43FA-409D-9B0D-53FE872F223D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7" name="统一风格-表格玻璃容器玻璃后沿-657">
            <a:extLst>
              <a:ext uri="{FF2B5EF4-FFF2-40B4-BE49-F238E27FC236}">
                <a16:creationId xmlns:a16="http://schemas.microsoft.com/office/drawing/2014/main" id="{345BB89C-B45E-4AE8-89B7-9C34748A6F19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867150"/>
          </a:xfrm>
          <a:prstGeom prst="roundRect">
            <a:avLst>
              <a:gd name="adj" fmla="val 2217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658">
            <a:extLst>
              <a:ext uri="{FF2B5EF4-FFF2-40B4-BE49-F238E27FC236}">
                <a16:creationId xmlns:a16="http://schemas.microsoft.com/office/drawing/2014/main" id="{9405B123-5AC1-47B8-AD0B-8E941F7439E5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867150"/>
          </a:xfrm>
          <a:prstGeom prst="roundRect">
            <a:avLst>
              <a:gd name="adj" fmla="val 2217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659">
            <a:extLst>
              <a:ext uri="{FF2B5EF4-FFF2-40B4-BE49-F238E27FC236}">
                <a16:creationId xmlns:a16="http://schemas.microsoft.com/office/drawing/2014/main" id="{8567DB81-8EA3-4678-864F-0190142791C4}"/>
              </a:ext>
            </a:extLst>
          </p:cNvPr>
          <p:cNvSpPr>
            <a:spLocks noGrp="1"/>
          </p:cNvSpPr>
          <p:nvPr/>
        </p:nvSpPr>
        <p:spPr>
          <a:xfrm>
            <a:off x="546259" y="2098834"/>
            <a:ext cx="11099483" cy="3841433"/>
          </a:xfrm>
          <a:prstGeom prst="roundRect">
            <a:avLst>
              <a:gd name="adj" fmla="val 190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660">
            <a:extLst>
              <a:ext uri="{FF2B5EF4-FFF2-40B4-BE49-F238E27FC236}">
                <a16:creationId xmlns:a16="http://schemas.microsoft.com/office/drawing/2014/main" id="{2C5F9E37-942A-4336-83CC-E88C7A6EC6B8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867150"/>
          </a:xfrm>
          <a:custGeom>
            <a:avLst/>
            <a:gdLst/>
            <a:ahLst/>
            <a:cxnLst/>
            <a:rect l="0" t="0" r="0" b="0"/>
            <a:pathLst>
              <a:path w="11125200" h="38671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12C23C-021E-4E49-8CDB-0D4AC3168143}"/>
              </a:ext>
            </a:extLst>
          </p:cNvPr>
          <p:cNvGraphicFramePr/>
          <p:nvPr/>
        </p:nvGraphicFramePr>
        <p:xfrm>
          <a:off x="609600" y="2162175"/>
          <a:ext cx="10972800" cy="37147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填写示例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复核要点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防护对象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应用与数据 VPC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检查资产与路径已接入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 / 目的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/ 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地址范围与实际观测一致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/ 动作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TCP，源 Any，目的 3306，放行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客户端源端口通常动态分配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 / 启用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可先建停用规则，复核后按窗口启用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排查宽泛规则与优先模块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 / 管理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订单数据库访问，关联工单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Owner、复核与回滚可追溯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5523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-03  CFW 使用规范">
            <a:extLst>
              <a:ext uri="{FF2B5EF4-FFF2-40B4-BE49-F238E27FC236}">
                <a16:creationId xmlns:a16="http://schemas.microsoft.com/office/drawing/2014/main" id="{71E9874A-869E-4710-A215-6A66B74D4F2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CD86E73-0563-44C6-AB44-8C0BECDC69E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一条宽泛放行可以使阻断规则失效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D279FA02-FC69-4C2D-BE4B-31CCC28B1D4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先判断实际首条命中，再审查授权是否超出业务需要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C88A7219-C52E-4131-B8D5-5B844E7D16A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仅把 SSH 阻断移到最前面仍会保留其他过宽访问，需要收敛原始授权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0CB114BE-D35F-4CD6-A570-3295D0DD282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5">
            <a:extLst>
              <a:ext uri="{FF2B5EF4-FFF2-40B4-BE49-F238E27FC236}">
                <a16:creationId xmlns:a16="http://schemas.microsoft.com/office/drawing/2014/main" id="{7AFBD6BA-B4BB-4069-ACBB-52AE8A499467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7" name="统一风格-表格玻璃容器玻璃后沿-522">
            <a:extLst>
              <a:ext uri="{FF2B5EF4-FFF2-40B4-BE49-F238E27FC236}">
                <a16:creationId xmlns:a16="http://schemas.microsoft.com/office/drawing/2014/main" id="{70791627-913C-4603-A35F-460305C3660F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2819400"/>
          </a:xfrm>
          <a:prstGeom prst="roundRect">
            <a:avLst>
              <a:gd name="adj" fmla="val 304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523">
            <a:extLst>
              <a:ext uri="{FF2B5EF4-FFF2-40B4-BE49-F238E27FC236}">
                <a16:creationId xmlns:a16="http://schemas.microsoft.com/office/drawing/2014/main" id="{9C214009-29E7-4C52-A79D-85DB38B5723C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2819400"/>
          </a:xfrm>
          <a:prstGeom prst="roundRect">
            <a:avLst>
              <a:gd name="adj" fmla="val 304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524">
            <a:extLst>
              <a:ext uri="{FF2B5EF4-FFF2-40B4-BE49-F238E27FC236}">
                <a16:creationId xmlns:a16="http://schemas.microsoft.com/office/drawing/2014/main" id="{0D86F3C1-78BA-4CA0-A284-8C23B73637EC}"/>
              </a:ext>
            </a:extLst>
          </p:cNvPr>
          <p:cNvSpPr>
            <a:spLocks noGrp="1"/>
          </p:cNvSpPr>
          <p:nvPr/>
        </p:nvSpPr>
        <p:spPr>
          <a:xfrm>
            <a:off x="546259" y="2098834"/>
            <a:ext cx="11099483" cy="2793683"/>
          </a:xfrm>
          <a:prstGeom prst="roundRect">
            <a:avLst>
              <a:gd name="adj" fmla="val 262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525">
            <a:extLst>
              <a:ext uri="{FF2B5EF4-FFF2-40B4-BE49-F238E27FC236}">
                <a16:creationId xmlns:a16="http://schemas.microsoft.com/office/drawing/2014/main" id="{85190081-CA3E-4D11-9F2B-92A40D5AFEDA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2819400"/>
          </a:xfrm>
          <a:custGeom>
            <a:avLst/>
            <a:gdLst/>
            <a:ahLst/>
            <a:cxnLst/>
            <a:rect l="0" t="0" r="0" b="0"/>
            <a:pathLst>
              <a:path w="11125200" h="28194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7D4592-33B2-4CC5-AE8C-D411A59AD664}"/>
              </a:ext>
            </a:extLst>
          </p:cNvPr>
          <p:cNvGraphicFramePr/>
          <p:nvPr/>
        </p:nvGraphicFramePr>
        <p:xfrm>
          <a:off x="609600" y="2162175"/>
          <a:ext cx="10972800" cy="26670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源与目的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10.20.0.0/16 到 10.30.0.0/16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DCE9FF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到 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已审核业务范围内的其他流量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Any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xt-10">
            <a:extLst>
              <a:ext uri="{FF2B5EF4-FFF2-40B4-BE49-F238E27FC236}">
                <a16:creationId xmlns:a16="http://schemas.microsoft.com/office/drawing/2014/main" id="{1F6B4EB9-3AEC-4FA9-861C-2B8951F5D7B8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SSH 新连接首先命中第 1 条</a:t>
            </a:r>
          </a:p>
        </p:txBody>
      </p:sp>
      <p:sp>
        <p:nvSpPr>
          <p:cNvPr id="13" name="txt-11">
            <a:extLst>
              <a:ext uri="{FF2B5EF4-FFF2-40B4-BE49-F238E27FC236}">
                <a16:creationId xmlns:a16="http://schemas.microsoft.com/office/drawing/2014/main" id="{9877FBA6-223E-4157-A7A0-D9D338713B00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223906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3  CFW 使用规范">
            <a:extLst>
              <a:ext uri="{FF2B5EF4-FFF2-40B4-BE49-F238E27FC236}">
                <a16:creationId xmlns:a16="http://schemas.microsoft.com/office/drawing/2014/main" id="{C42BBC7B-304F-4B20-A318-ADA90258276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677849C2-965D-4695-B504-484F122AC68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出方向控制需要覆盖低频业务依赖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7E8466C8-AAB5-4546-B088-EBF52373BB8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从业务外联清单建立策略，避免一次性放开全部 TCP 443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6882B44-41CE-4D50-BF5E-D15E5B3A4FA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域名规则依赖边界、协议与匹配方式。变更后需要以实际日志验证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BBA47829-BA46-4753-9E11-6A7AD6B159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6">
            <a:extLst>
              <a:ext uri="{FF2B5EF4-FFF2-40B4-BE49-F238E27FC236}">
                <a16:creationId xmlns:a16="http://schemas.microsoft.com/office/drawing/2014/main" id="{24BB1D1C-8833-4F42-92DA-2FC0695DCA4D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7" name="统一风格-表格玻璃容器玻璃后沿-526">
            <a:extLst>
              <a:ext uri="{FF2B5EF4-FFF2-40B4-BE49-F238E27FC236}">
                <a16:creationId xmlns:a16="http://schemas.microsoft.com/office/drawing/2014/main" id="{A1D96920-2034-4417-A55D-90042E1DD0E9}"/>
              </a:ext>
            </a:extLst>
          </p:cNvPr>
          <p:cNvSpPr>
            <a:spLocks noGrp="1"/>
          </p:cNvSpPr>
          <p:nvPr/>
        </p:nvSpPr>
        <p:spPr>
          <a:xfrm>
            <a:off x="533400" y="210502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527">
            <a:extLst>
              <a:ext uri="{FF2B5EF4-FFF2-40B4-BE49-F238E27FC236}">
                <a16:creationId xmlns:a16="http://schemas.microsoft.com/office/drawing/2014/main" id="{72B7B21A-D558-4706-BE41-FE61E6D04693}"/>
              </a:ext>
            </a:extLst>
          </p:cNvPr>
          <p:cNvSpPr>
            <a:spLocks noGrp="1"/>
          </p:cNvSpPr>
          <p:nvPr/>
        </p:nvSpPr>
        <p:spPr>
          <a:xfrm>
            <a:off x="533400" y="210502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528">
            <a:extLst>
              <a:ext uri="{FF2B5EF4-FFF2-40B4-BE49-F238E27FC236}">
                <a16:creationId xmlns:a16="http://schemas.microsoft.com/office/drawing/2014/main" id="{73E6CE96-B657-4F17-A547-46BE1F82DFD6}"/>
              </a:ext>
            </a:extLst>
          </p:cNvPr>
          <p:cNvSpPr>
            <a:spLocks noGrp="1"/>
          </p:cNvSpPr>
          <p:nvPr/>
        </p:nvSpPr>
        <p:spPr>
          <a:xfrm>
            <a:off x="546259" y="2117884"/>
            <a:ext cx="11099483" cy="3698558"/>
          </a:xfrm>
          <a:prstGeom prst="roundRect">
            <a:avLst>
              <a:gd name="adj" fmla="val 19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529">
            <a:extLst>
              <a:ext uri="{FF2B5EF4-FFF2-40B4-BE49-F238E27FC236}">
                <a16:creationId xmlns:a16="http://schemas.microsoft.com/office/drawing/2014/main" id="{7D341C2C-34B1-4365-BB03-D02395ABC26C}"/>
              </a:ext>
            </a:extLst>
          </p:cNvPr>
          <p:cNvSpPr>
            <a:spLocks noGrp="1"/>
          </p:cNvSpPr>
          <p:nvPr/>
        </p:nvSpPr>
        <p:spPr>
          <a:xfrm>
            <a:off x="533400" y="2105025"/>
            <a:ext cx="11125200" cy="3724275"/>
          </a:xfrm>
          <a:custGeom>
            <a:avLst/>
            <a:gdLst/>
            <a:ahLst/>
            <a:cxnLst/>
            <a:rect l="0" t="0" r="0" b="0"/>
            <a:pathLst>
              <a:path w="11125200" h="37242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7E1ABE-923D-4EC0-9E9F-66E49361D29D}"/>
              </a:ext>
            </a:extLst>
          </p:cNvPr>
          <p:cNvGraphicFramePr/>
          <p:nvPr/>
        </p:nvGraphicFramePr>
        <p:xfrm>
          <a:off x="609600" y="2181225"/>
          <a:ext cx="10972800" cy="35718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依赖类别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申请要说明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验证样例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API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目的域名、协议、业务负责人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请求完成且命中预期规则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软件与补丁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批准仓库、更新窗口、维护人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下载与更新流程正常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基础服务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DNS、时间同步、证书和监控依赖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解析、校时与告警正常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低频任务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备份、月结、批处理与故障切换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覆盖任务周期后再收敛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7865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文-03  CFW 使用规范">
            <a:extLst>
              <a:ext uri="{FF2B5EF4-FFF2-40B4-BE49-F238E27FC236}">
                <a16:creationId xmlns:a16="http://schemas.microsoft.com/office/drawing/2014/main" id="{B980667E-08D6-484A-BD8A-7E330B7B700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  CFW 使用规范</a:t>
            </a:r>
          </a:p>
        </p:txBody>
      </p:sp>
      <p:sp>
        <p:nvSpPr>
          <p:cNvPr id="2" name="正文-应用访问自建数据库的配置与验证">
            <a:extLst>
              <a:ext uri="{FF2B5EF4-FFF2-40B4-BE49-F238E27FC236}">
                <a16:creationId xmlns:a16="http://schemas.microsoft.com/office/drawing/2014/main" id="{D78A559E-DAF6-416B-AC65-495FAE3BA4E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应用访问自建数据库的配置与验证</a:t>
            </a:r>
          </a:p>
        </p:txBody>
      </p:sp>
      <p:sp>
        <p:nvSpPr>
          <p:cNvPr id="3" name="正文-操作前确认 3306 监听、双向引流与其他控制层正常">
            <a:extLst>
              <a:ext uri="{FF2B5EF4-FFF2-40B4-BE49-F238E27FC236}">
                <a16:creationId xmlns:a16="http://schemas.microsoft.com/office/drawing/2014/main" id="{48644602-D929-41DC-9F38-312376316FE5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操作前确认 3306 监听、双向引流与其他控制层正常</a:t>
            </a:r>
          </a:p>
        </p:txBody>
      </p:sp>
      <p:sp>
        <p:nvSpPr>
          <p:cNvPr id="4" name="正文-示例环境为 Windows ECS，示例地址均为虚构。TCP 探测通过后仍需验证数据库业务">
            <a:extLst>
              <a:ext uri="{FF2B5EF4-FFF2-40B4-BE49-F238E27FC236}">
                <a16:creationId xmlns:a16="http://schemas.microsoft.com/office/drawing/2014/main" id="{CDC6C7A9-2BEE-41BD-93F7-38AE285BD0D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示例环境为 Windows ECS，示例地址均为虚构。TCP 探测通过后仍需验证数据库业务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E99E65C0-AF02-4EAC-80D8-DF8E9AB933D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7">
            <a:extLst>
              <a:ext uri="{FF2B5EF4-FFF2-40B4-BE49-F238E27FC236}">
                <a16:creationId xmlns:a16="http://schemas.microsoft.com/office/drawing/2014/main" id="{0CAAB9A3-C712-4428-AA33-A58F11B1D71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7" name="txt-6">
            <a:extLst>
              <a:ext uri="{FF2B5EF4-FFF2-40B4-BE49-F238E27FC236}">
                <a16:creationId xmlns:a16="http://schemas.microsoft.com/office/drawing/2014/main" id="{A849C9C6-943A-41EF-AFFA-4BB330F7FB43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正文-需求确认">
            <a:extLst>
              <a:ext uri="{FF2B5EF4-FFF2-40B4-BE49-F238E27FC236}">
                <a16:creationId xmlns:a16="http://schemas.microsoft.com/office/drawing/2014/main" id="{0CC47D81-D8CB-4019-BBAB-EDA568B1C4DD}"/>
              </a:ext>
            </a:extLst>
          </p:cNvPr>
          <p:cNvSpPr>
            <a:spLocks noGrp="1"/>
          </p:cNvSpPr>
          <p:nvPr/>
        </p:nvSpPr>
        <p:spPr>
          <a:xfrm>
            <a:off x="1238250" y="211455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9" name="txt-8">
            <a:extLst>
              <a:ext uri="{FF2B5EF4-FFF2-40B4-BE49-F238E27FC236}">
                <a16:creationId xmlns:a16="http://schemas.microsoft.com/office/drawing/2014/main" id="{08BE50ED-8E03-4582-9E25-D72F03576B62}"/>
              </a:ext>
            </a:extLst>
          </p:cNvPr>
          <p:cNvSpPr>
            <a:spLocks noGrp="1"/>
          </p:cNvSpPr>
          <p:nvPr/>
        </p:nvSpPr>
        <p:spPr>
          <a:xfrm>
            <a:off x="1238250" y="243840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确认地址、端口、工单与回滚前态</a:t>
            </a:r>
          </a:p>
        </p:txBody>
      </p:sp>
      <p:sp>
        <p:nvSpPr>
          <p:cNvPr id="10" name="txt-9">
            <a:extLst>
              <a:ext uri="{FF2B5EF4-FFF2-40B4-BE49-F238E27FC236}">
                <a16:creationId xmlns:a16="http://schemas.microsoft.com/office/drawing/2014/main" id="{465E8E17-2288-428D-B3E0-B92B4831C19A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正文-规则发布">
            <a:extLst>
              <a:ext uri="{FF2B5EF4-FFF2-40B4-BE49-F238E27FC236}">
                <a16:creationId xmlns:a16="http://schemas.microsoft.com/office/drawing/2014/main" id="{C8D41832-2F24-40D2-96E9-2EBF63A41AA5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规则发布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23E86ABD-B0D4-4680-8384-EDB398AEC4A0}"/>
              </a:ext>
            </a:extLst>
          </p:cNvPr>
          <p:cNvSpPr>
            <a:spLocks noGrp="1"/>
          </p:cNvSpPr>
          <p:nvPr/>
        </p:nvSpPr>
        <p:spPr>
          <a:xfrm>
            <a:off x="1238250" y="318135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在批准窗口启用精确放行并复核顺序</a:t>
            </a:r>
          </a:p>
        </p:txBody>
      </p:sp>
      <p:sp>
        <p:nvSpPr>
          <p:cNvPr id="13" name="txt-12">
            <a:extLst>
              <a:ext uri="{FF2B5EF4-FFF2-40B4-BE49-F238E27FC236}">
                <a16:creationId xmlns:a16="http://schemas.microsoft.com/office/drawing/2014/main" id="{72BBF20F-24F2-4994-BFEA-1B4D780DE1B2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正文-连接测试">
            <a:extLst>
              <a:ext uri="{FF2B5EF4-FFF2-40B4-BE49-F238E27FC236}">
                <a16:creationId xmlns:a16="http://schemas.microsoft.com/office/drawing/2014/main" id="{14A27B7A-4663-4F8D-8EED-7C11F50F0F5C}"/>
              </a:ext>
            </a:extLst>
          </p:cNvPr>
          <p:cNvSpPr>
            <a:spLocks noGrp="1"/>
          </p:cNvSpPr>
          <p:nvPr/>
        </p:nvSpPr>
        <p:spPr>
          <a:xfrm>
            <a:off x="1238250" y="360045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连接测试</a:t>
            </a:r>
          </a:p>
        </p:txBody>
      </p:sp>
      <p:sp>
        <p:nvSpPr>
          <p:cNvPr id="15" name="txt-14">
            <a:extLst>
              <a:ext uri="{FF2B5EF4-FFF2-40B4-BE49-F238E27FC236}">
                <a16:creationId xmlns:a16="http://schemas.microsoft.com/office/drawing/2014/main" id="{6CBD48AA-3A1E-4F33-A029-D3950850F259}"/>
              </a:ext>
            </a:extLst>
          </p:cNvPr>
          <p:cNvSpPr>
            <a:spLocks noGrp="1"/>
          </p:cNvSpPr>
          <p:nvPr/>
        </p:nvSpPr>
        <p:spPr>
          <a:xfrm>
            <a:off x="1238250" y="392430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从应用主机新建 3306 和 22 连接</a:t>
            </a:r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1F6123DF-C88C-40A2-9916-0449A3835364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正文-业务与日志核验">
            <a:extLst>
              <a:ext uri="{FF2B5EF4-FFF2-40B4-BE49-F238E27FC236}">
                <a16:creationId xmlns:a16="http://schemas.microsoft.com/office/drawing/2014/main" id="{EDBB3755-6DC3-48EB-8433-4582B341AC61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业务与日志核验</a:t>
            </a:r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84BA42FB-5CC6-47AC-B0DC-3C6288EA4531}"/>
              </a:ext>
            </a:extLst>
          </p:cNvPr>
          <p:cNvSpPr>
            <a:spLocks noGrp="1"/>
          </p:cNvSpPr>
          <p:nvPr/>
        </p:nvSpPr>
        <p:spPr>
          <a:xfrm>
            <a:off x="1238250" y="466725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核对日志动作、命中规则与业务查询</a:t>
            </a:r>
          </a:p>
        </p:txBody>
      </p:sp>
      <p:sp>
        <p:nvSpPr>
          <p:cNvPr id="19" name="txt-18">
            <a:extLst>
              <a:ext uri="{FF2B5EF4-FFF2-40B4-BE49-F238E27FC236}">
                <a16:creationId xmlns:a16="http://schemas.microsoft.com/office/drawing/2014/main" id="{F58098EE-2E7D-47A9-BB91-DC3EED2DE16E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正文-验收留证">
            <a:extLst>
              <a:ext uri="{FF2B5EF4-FFF2-40B4-BE49-F238E27FC236}">
                <a16:creationId xmlns:a16="http://schemas.microsoft.com/office/drawing/2014/main" id="{A600FA0B-988A-4E56-8227-46C5A19B1832}"/>
              </a:ext>
            </a:extLst>
          </p:cNvPr>
          <p:cNvSpPr>
            <a:spLocks noGrp="1"/>
          </p:cNvSpPr>
          <p:nvPr/>
        </p:nvSpPr>
        <p:spPr>
          <a:xfrm>
            <a:off x="1238250" y="5086350"/>
            <a:ext cx="371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验收留证</a:t>
            </a:r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CAC7BE6E-FF08-4027-BB78-B7245A1D3A44}"/>
              </a:ext>
            </a:extLst>
          </p:cNvPr>
          <p:cNvSpPr>
            <a:spLocks noGrp="1"/>
          </p:cNvSpPr>
          <p:nvPr/>
        </p:nvSpPr>
        <p:spPr>
          <a:xfrm>
            <a:off x="1238250" y="5410200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保存规则差异、测试和日志记录</a:t>
            </a:r>
          </a:p>
        </p:txBody>
      </p:sp>
      <p:sp>
        <p:nvSpPr>
          <p:cNvPr id="22" name="统一风格-可编辑 PowerShell 演示玻璃后沿-661">
            <a:extLst>
              <a:ext uri="{FF2B5EF4-FFF2-40B4-BE49-F238E27FC236}">
                <a16:creationId xmlns:a16="http://schemas.microsoft.com/office/drawing/2014/main" id="{DD9988D1-DAF6-45F9-80CC-DF8D9300C048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61150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统一风格-可编辑 PowerShell 演示-662">
            <a:extLst>
              <a:ext uri="{FF2B5EF4-FFF2-40B4-BE49-F238E27FC236}">
                <a16:creationId xmlns:a16="http://schemas.microsoft.com/office/drawing/2014/main" id="{EC435B68-ADD5-4152-A122-5648B384CBBE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61150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可编辑 PowerShell 演示玻璃内沿-663">
            <a:extLst>
              <a:ext uri="{FF2B5EF4-FFF2-40B4-BE49-F238E27FC236}">
                <a16:creationId xmlns:a16="http://schemas.microsoft.com/office/drawing/2014/main" id="{FF2AC29F-A685-4426-B732-BFEB08A27C57}"/>
              </a:ext>
            </a:extLst>
          </p:cNvPr>
          <p:cNvSpPr>
            <a:spLocks noGrp="1"/>
          </p:cNvSpPr>
          <p:nvPr/>
        </p:nvSpPr>
        <p:spPr>
          <a:xfrm>
            <a:off x="5480209" y="2146459"/>
            <a:ext cx="6089333" cy="2650808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可编辑 PowerShell 演示透光反射面-664">
            <a:extLst>
              <a:ext uri="{FF2B5EF4-FFF2-40B4-BE49-F238E27FC236}">
                <a16:creationId xmlns:a16="http://schemas.microsoft.com/office/drawing/2014/main" id="{C281F376-73D5-4363-830D-7E70EC2E08E6}"/>
              </a:ext>
            </a:extLst>
          </p:cNvPr>
          <p:cNvSpPr>
            <a:spLocks noGrp="1"/>
          </p:cNvSpPr>
          <p:nvPr/>
        </p:nvSpPr>
        <p:spPr>
          <a:xfrm>
            <a:off x="5486400" y="2152650"/>
            <a:ext cx="6076950" cy="2638425"/>
          </a:xfrm>
          <a:custGeom>
            <a:avLst/>
            <a:gdLst/>
            <a:ahLst/>
            <a:cxnLst/>
            <a:rect l="0" t="0" r="0" b="0"/>
            <a:pathLst>
              <a:path w="6076950" h="2638425">
                <a:moveTo>
                  <a:pt x="76200" y="0"/>
                </a:moveTo>
                <a:lnTo>
                  <a:pt x="3889248" y="0"/>
                </a:lnTo>
                <a:lnTo>
                  <a:pt x="1580007" y="2638425"/>
                </a:lnTo>
                <a:lnTo>
                  <a:pt x="76200" y="2638425"/>
                </a:lnTo>
                <a:cubicBezTo>
                  <a:pt x="28575" y="2638425"/>
                  <a:pt x="0" y="2609850"/>
                  <a:pt x="0" y="2562225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可编辑 PowerShell 演示边缘高光-665">
            <a:extLst>
              <a:ext uri="{FF2B5EF4-FFF2-40B4-BE49-F238E27FC236}">
                <a16:creationId xmlns:a16="http://schemas.microsoft.com/office/drawing/2014/main" id="{7FB3D55A-70A3-4E84-A6AD-CA3E510F6374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6115050" cy="2676525"/>
          </a:xfrm>
          <a:custGeom>
            <a:avLst/>
            <a:gdLst/>
            <a:ahLst/>
            <a:cxnLst/>
            <a:rect l="0" t="0" r="0" b="0"/>
            <a:pathLst>
              <a:path w="6115050" h="2676525">
                <a:moveTo>
                  <a:pt x="95250" y="9525"/>
                </a:moveTo>
                <a:lnTo>
                  <a:pt x="6019800" y="9525"/>
                </a:lnTo>
                <a:cubicBezTo>
                  <a:pt x="6067425" y="9525"/>
                  <a:pt x="6105525" y="47625"/>
                  <a:pt x="61055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版式分隔线">
            <a:extLst>
              <a:ext uri="{FF2B5EF4-FFF2-40B4-BE49-F238E27FC236}">
                <a16:creationId xmlns:a16="http://schemas.microsoft.com/office/drawing/2014/main" id="{008AA560-6417-4879-B49C-E4D1ACB22117}"/>
              </a:ext>
            </a:extLst>
          </p:cNvPr>
          <p:cNvSpPr>
            <a:spLocks noGrp="1"/>
          </p:cNvSpPr>
          <p:nvPr/>
        </p:nvSpPr>
        <p:spPr>
          <a:xfrm>
            <a:off x="5467350" y="2724150"/>
            <a:ext cx="6115050" cy="0"/>
          </a:xfrm>
          <a:prstGeom prst="line">
            <a:avLst/>
          </a:prstGeom>
          <a:noFill/>
          <a:ln w="6668">
            <a:solidFill>
              <a:srgbClr val="CFDF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xt-27">
            <a:extLst>
              <a:ext uri="{FF2B5EF4-FFF2-40B4-BE49-F238E27FC236}">
                <a16:creationId xmlns:a16="http://schemas.microsoft.com/office/drawing/2014/main" id="{74435E49-C382-44C4-9570-661E0B3BC22A}"/>
              </a:ext>
            </a:extLst>
          </p:cNvPr>
          <p:cNvSpPr>
            <a:spLocks noGrp="1"/>
          </p:cNvSpPr>
          <p:nvPr/>
        </p:nvSpPr>
        <p:spPr>
          <a:xfrm>
            <a:off x="5676900" y="2324100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Windows ECS 10.20.10.15   /   PowerShell</a:t>
            </a:r>
          </a:p>
        </p:txBody>
      </p:sp>
      <p:sp>
        <p:nvSpPr>
          <p:cNvPr id="29" name="txt-28">
            <a:extLst>
              <a:ext uri="{FF2B5EF4-FFF2-40B4-BE49-F238E27FC236}">
                <a16:creationId xmlns:a16="http://schemas.microsoft.com/office/drawing/2014/main" id="{79A82D34-6F2C-4272-B9F6-F91ED5DF0B39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Test-NetConnection 10.30.20.10 -Port 3306</a:t>
            </a:r>
          </a:p>
        </p:txBody>
      </p:sp>
      <p:sp>
        <p:nvSpPr>
          <p:cNvPr id="30" name="txt-29">
            <a:extLst>
              <a:ext uri="{FF2B5EF4-FFF2-40B4-BE49-F238E27FC236}">
                <a16:creationId xmlns:a16="http://schemas.microsoft.com/office/drawing/2014/main" id="{58DAF3E5-418E-4FFB-905C-AC592A85B42A}"/>
              </a:ext>
            </a:extLst>
          </p:cNvPr>
          <p:cNvSpPr>
            <a:spLocks noGrp="1"/>
          </p:cNvSpPr>
          <p:nvPr/>
        </p:nvSpPr>
        <p:spPr>
          <a:xfrm>
            <a:off x="5676900" y="3267075"/>
            <a:ext cx="5715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预期  TcpTestSucceeded : True</a:t>
            </a:r>
          </a:p>
        </p:txBody>
      </p:sp>
      <p:sp>
        <p:nvSpPr>
          <p:cNvPr id="31" name="txt-30">
            <a:extLst>
              <a:ext uri="{FF2B5EF4-FFF2-40B4-BE49-F238E27FC236}">
                <a16:creationId xmlns:a16="http://schemas.microsoft.com/office/drawing/2014/main" id="{6B835A2F-7284-4000-A50D-3F3B22A36D22}"/>
              </a:ext>
            </a:extLst>
          </p:cNvPr>
          <p:cNvSpPr>
            <a:spLocks noGrp="1"/>
          </p:cNvSpPr>
          <p:nvPr/>
        </p:nvSpPr>
        <p:spPr>
          <a:xfrm>
            <a:off x="5676900" y="3819525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Test-NetConnection 10.30.20.10 -Port 22</a:t>
            </a:r>
          </a:p>
        </p:txBody>
      </p:sp>
      <p:sp>
        <p:nvSpPr>
          <p:cNvPr id="32" name="txt-31">
            <a:extLst>
              <a:ext uri="{FF2B5EF4-FFF2-40B4-BE49-F238E27FC236}">
                <a16:creationId xmlns:a16="http://schemas.microsoft.com/office/drawing/2014/main" id="{29C79ACB-D890-417E-8EC5-F8D60E0C4B0E}"/>
              </a:ext>
            </a:extLst>
          </p:cNvPr>
          <p:cNvSpPr>
            <a:spLocks noGrp="1"/>
          </p:cNvSpPr>
          <p:nvPr/>
        </p:nvSpPr>
        <p:spPr>
          <a:xfrm>
            <a:off x="5676900" y="4210050"/>
            <a:ext cx="5715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预期  TcpTestSucceeded : False</a:t>
            </a:r>
          </a:p>
        </p:txBody>
      </p:sp>
      <p:sp>
        <p:nvSpPr>
          <p:cNvPr id="33" name="txt-32">
            <a:extLst>
              <a:ext uri="{FF2B5EF4-FFF2-40B4-BE49-F238E27FC236}">
                <a16:creationId xmlns:a16="http://schemas.microsoft.com/office/drawing/2014/main" id="{D89558A0-CEF8-4C2D-9BAE-D46A0B2842B8}"/>
              </a:ext>
            </a:extLst>
          </p:cNvPr>
          <p:cNvSpPr>
            <a:spLocks noGrp="1"/>
          </p:cNvSpPr>
          <p:nvPr/>
        </p:nvSpPr>
        <p:spPr>
          <a:xfrm>
            <a:off x="5467350" y="5105400"/>
            <a:ext cx="61150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验收必须同时满足</a:t>
            </a:r>
          </a:p>
        </p:txBody>
      </p:sp>
      <p:sp>
        <p:nvSpPr>
          <p:cNvPr id="34" name="txt-33">
            <a:extLst>
              <a:ext uri="{FF2B5EF4-FFF2-40B4-BE49-F238E27FC236}">
                <a16:creationId xmlns:a16="http://schemas.microsoft.com/office/drawing/2014/main" id="{95FB99CE-4E46-45A6-92AA-435527F11FE6}"/>
              </a:ext>
            </a:extLst>
          </p:cNvPr>
          <p:cNvSpPr>
            <a:spLocks noGrp="1"/>
          </p:cNvSpPr>
          <p:nvPr/>
        </p:nvSpPr>
        <p:spPr>
          <a:xfrm>
            <a:off x="5467350" y="5524500"/>
            <a:ext cx="6115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3306 成功且数据库查询正常</a:t>
            </a:r>
          </a:p>
          <a:p>
            <a:pPr algn="l">
              <a:def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22 失败且命中预期阻断日志</a:t>
            </a:r>
          </a:p>
        </p:txBody>
      </p:sp>
    </p:spTree>
    <p:extLst>
      <p:ext uri="{BB962C8B-B14F-4D97-AF65-F5344CB8AC3E}">
        <p14:creationId xmlns:p14="http://schemas.microsoft.com/office/powerpoint/2010/main" val="17754196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-04  变更与排障">
            <a:extLst>
              <a:ext uri="{FF2B5EF4-FFF2-40B4-BE49-F238E27FC236}">
                <a16:creationId xmlns:a16="http://schemas.microsoft.com/office/drawing/2014/main" id="{C5AE26AD-6361-4CA1-ACDF-A3C07430F94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426CF617-DB72-4AF0-B217-9D00F8ED56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访问控制的岗位责任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AABB13D3-D554-4941-807B-5F62C04A483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小团队可兼任岗位；高影响变更和宽泛放行由另一人独立复核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3BB0247B-99A2-4958-97CF-2E60FC12067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48">
            <a:extLst>
              <a:ext uri="{FF2B5EF4-FFF2-40B4-BE49-F238E27FC236}">
                <a16:creationId xmlns:a16="http://schemas.microsoft.com/office/drawing/2014/main" id="{BA9756A4-AF21-47C0-9AB8-D699CB7FFE0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sp>
        <p:nvSpPr>
          <p:cNvPr id="6" name="统一风格-表格玻璃容器玻璃后沿-681">
            <a:extLst>
              <a:ext uri="{FF2B5EF4-FFF2-40B4-BE49-F238E27FC236}">
                <a16:creationId xmlns:a16="http://schemas.microsoft.com/office/drawing/2014/main" id="{0FED5810-348A-4BD3-9187-79B91C2836C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表格玻璃容器-682">
            <a:extLst>
              <a:ext uri="{FF2B5EF4-FFF2-40B4-BE49-F238E27FC236}">
                <a16:creationId xmlns:a16="http://schemas.microsoft.com/office/drawing/2014/main" id="{2B4A8BC4-55E9-4691-A881-9B582B17B32F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prstGeom prst="roundRect">
            <a:avLst>
              <a:gd name="adj" fmla="val 22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玻璃内沿-683">
            <a:extLst>
              <a:ext uri="{FF2B5EF4-FFF2-40B4-BE49-F238E27FC236}">
                <a16:creationId xmlns:a16="http://schemas.microsoft.com/office/drawing/2014/main" id="{3BC8ADA0-1D25-4675-B0BE-F8C05381D184}"/>
              </a:ext>
            </a:extLst>
          </p:cNvPr>
          <p:cNvSpPr>
            <a:spLocks noGrp="1"/>
          </p:cNvSpPr>
          <p:nvPr/>
        </p:nvSpPr>
        <p:spPr>
          <a:xfrm>
            <a:off x="546259" y="2184559"/>
            <a:ext cx="11099483" cy="3784283"/>
          </a:xfrm>
          <a:prstGeom prst="roundRect">
            <a:avLst>
              <a:gd name="adj" fmla="val 193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边缘高光-684">
            <a:extLst>
              <a:ext uri="{FF2B5EF4-FFF2-40B4-BE49-F238E27FC236}">
                <a16:creationId xmlns:a16="http://schemas.microsoft.com/office/drawing/2014/main" id="{9F3A1E9A-FE0F-4642-9A52-645403EB38BD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1125200" cy="3810000"/>
          </a:xfrm>
          <a:custGeom>
            <a:avLst/>
            <a:gdLst/>
            <a:ahLst/>
            <a:cxnLst/>
            <a:rect l="0" t="0" r="0" b="0"/>
            <a:pathLst>
              <a:path w="11125200" h="381000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4C47BA-560A-4356-A946-7B6953B22F6E}"/>
              </a:ext>
            </a:extLst>
          </p:cNvPr>
          <p:cNvGraphicFramePr/>
          <p:nvPr/>
        </p:nvGraphicFramePr>
        <p:xfrm>
          <a:off x="609600" y="2247900"/>
          <a:ext cx="10972800" cy="36576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负责事项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交付证据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Owner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说明依赖、确认必要性与业务验收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端口依据、业务回归结果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网络/平台工程师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确认地址、路由、接入与回程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拓扑、路由快照、覆盖记录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安全管理员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审查最小权限、策略顺序与例外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规则评审、风险与例外记录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变更负责人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安排窗口、协调验证与决定回滚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工单、验收与回滚结论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3595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正文-04  变更与排障">
            <a:extLst>
              <a:ext uri="{FF2B5EF4-FFF2-40B4-BE49-F238E27FC236}">
                <a16:creationId xmlns:a16="http://schemas.microsoft.com/office/drawing/2014/main" id="{EA61294C-DFE1-4A71-9F6E-24AFF24AE5C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E7C6A9B4-216C-43B8-9814-94E902F6C72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规则变更从申请到复核形成闭环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8E8F1057-F54F-4C34-8ADD-BCD9AB243E6F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回滚门槛与恢复前态应在发布前准备</a:t>
            </a:r>
          </a:p>
        </p:txBody>
      </p:sp>
      <p:sp>
        <p:nvSpPr>
          <p:cNvPr id="4" name="正文-流程与职责为管理建议，需由企业正式确认后采用">
            <a:extLst>
              <a:ext uri="{FF2B5EF4-FFF2-40B4-BE49-F238E27FC236}">
                <a16:creationId xmlns:a16="http://schemas.microsoft.com/office/drawing/2014/main" id="{995D4AC1-257F-4AD6-87FD-5E2C375871D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流程与职责为管理建议，需由企业正式确认后采用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30CE946-84C8-41A5-9EEF-8E865A970B1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49">
            <a:extLst>
              <a:ext uri="{FF2B5EF4-FFF2-40B4-BE49-F238E27FC236}">
                <a16:creationId xmlns:a16="http://schemas.microsoft.com/office/drawing/2014/main" id="{5F2F7AB4-744C-4732-AF9A-4C17055449F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7" name="统一风格-lifecycle 01 申请玻璃后沿-685">
            <a:extLst>
              <a:ext uri="{FF2B5EF4-FFF2-40B4-BE49-F238E27FC236}">
                <a16:creationId xmlns:a16="http://schemas.microsoft.com/office/drawing/2014/main" id="{4DA31425-A5A6-4439-BA48-0226D9DF29B1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lifecycle 01 申请-686">
            <a:extLst>
              <a:ext uri="{FF2B5EF4-FFF2-40B4-BE49-F238E27FC236}">
                <a16:creationId xmlns:a16="http://schemas.microsoft.com/office/drawing/2014/main" id="{A8AB110D-B3EA-459F-AE11-E107920F5B89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lifecycle 01 申请玻璃内沿-687">
            <a:extLst>
              <a:ext uri="{FF2B5EF4-FFF2-40B4-BE49-F238E27FC236}">
                <a16:creationId xmlns:a16="http://schemas.microsoft.com/office/drawing/2014/main" id="{A43B477C-E414-4CBB-9505-1702C7E6E950}"/>
              </a:ext>
            </a:extLst>
          </p:cNvPr>
          <p:cNvSpPr>
            <a:spLocks noGrp="1"/>
          </p:cNvSpPr>
          <p:nvPr/>
        </p:nvSpPr>
        <p:spPr>
          <a:xfrm>
            <a:off x="622459" y="2098108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lifecycle 01 申请透光反射面-688">
            <a:extLst>
              <a:ext uri="{FF2B5EF4-FFF2-40B4-BE49-F238E27FC236}">
                <a16:creationId xmlns:a16="http://schemas.microsoft.com/office/drawing/2014/main" id="{88B75A82-7A50-4E49-ABCC-2D8ACC167C4D}"/>
              </a:ext>
            </a:extLst>
          </p:cNvPr>
          <p:cNvSpPr>
            <a:spLocks noGrp="1"/>
          </p:cNvSpPr>
          <p:nvPr/>
        </p:nvSpPr>
        <p:spPr>
          <a:xfrm>
            <a:off x="628650" y="2104299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lifecycle 01 申请边缘高光-689">
            <a:extLst>
              <a:ext uri="{FF2B5EF4-FFF2-40B4-BE49-F238E27FC236}">
                <a16:creationId xmlns:a16="http://schemas.microsoft.com/office/drawing/2014/main" id="{3165D7D0-954E-492A-9524-97B3FFC48BD6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doc 规则文档-690">
            <a:extLst>
              <a:ext uri="{FF2B5EF4-FFF2-40B4-BE49-F238E27FC236}">
                <a16:creationId xmlns:a16="http://schemas.microsoft.com/office/drawing/2014/main" id="{FCA7A660-7181-48D4-B742-5015FB9A6408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doc 文档折角-691">
            <a:extLst>
              <a:ext uri="{FF2B5EF4-FFF2-40B4-BE49-F238E27FC236}">
                <a16:creationId xmlns:a16="http://schemas.microsoft.com/office/drawing/2014/main" id="{3B968A39-FE69-4DB2-945F-2BE7C42F31B2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doc 规则条目-692">
            <a:extLst>
              <a:ext uri="{FF2B5EF4-FFF2-40B4-BE49-F238E27FC236}">
                <a16:creationId xmlns:a16="http://schemas.microsoft.com/office/drawing/2014/main" id="{FF981610-00DD-4C70-83E1-9F0D54419BB4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01 申请-693">
            <a:extLst>
              <a:ext uri="{FF2B5EF4-FFF2-40B4-BE49-F238E27FC236}">
                <a16:creationId xmlns:a16="http://schemas.microsoft.com/office/drawing/2014/main" id="{4A2FA801-62D1-4890-863B-ABF2523C66CB}"/>
              </a:ext>
            </a:extLst>
          </p:cNvPr>
          <p:cNvSpPr>
            <a:spLocks noGrp="1"/>
          </p:cNvSpPr>
          <p:nvPr/>
        </p:nvSpPr>
        <p:spPr>
          <a:xfrm>
            <a:off x="1385116" y="2244090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申请</a:t>
            </a:r>
          </a:p>
        </p:txBody>
      </p:sp>
      <p:sp>
        <p:nvSpPr>
          <p:cNvPr id="16" name="统一风格-lifecycle 02 评审玻璃后沿-694">
            <a:extLst>
              <a:ext uri="{FF2B5EF4-FFF2-40B4-BE49-F238E27FC236}">
                <a16:creationId xmlns:a16="http://schemas.microsoft.com/office/drawing/2014/main" id="{46970752-6334-4BE2-9110-35380E98FF68}"/>
              </a:ext>
            </a:extLst>
          </p:cNvPr>
          <p:cNvSpPr>
            <a:spLocks noGrp="1"/>
          </p:cNvSpPr>
          <p:nvPr/>
        </p:nvSpPr>
        <p:spPr>
          <a:xfrm>
            <a:off x="3450046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lifecycle 02 评审-695">
            <a:extLst>
              <a:ext uri="{FF2B5EF4-FFF2-40B4-BE49-F238E27FC236}">
                <a16:creationId xmlns:a16="http://schemas.microsoft.com/office/drawing/2014/main" id="{0D3FBDEA-F77C-43FE-A89B-6802A785B9D8}"/>
              </a:ext>
            </a:extLst>
          </p:cNvPr>
          <p:cNvSpPr>
            <a:spLocks noGrp="1"/>
          </p:cNvSpPr>
          <p:nvPr/>
        </p:nvSpPr>
        <p:spPr>
          <a:xfrm>
            <a:off x="3450046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lifecycle 02 评审玻璃内沿-696">
            <a:extLst>
              <a:ext uri="{FF2B5EF4-FFF2-40B4-BE49-F238E27FC236}">
                <a16:creationId xmlns:a16="http://schemas.microsoft.com/office/drawing/2014/main" id="{8BA0B638-CE5D-43D9-BBF6-E2AE9A2463F3}"/>
              </a:ext>
            </a:extLst>
          </p:cNvPr>
          <p:cNvSpPr>
            <a:spLocks noGrp="1"/>
          </p:cNvSpPr>
          <p:nvPr/>
        </p:nvSpPr>
        <p:spPr>
          <a:xfrm>
            <a:off x="3462904" y="2098108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lifecycle 02 评审透光反射面-697">
            <a:extLst>
              <a:ext uri="{FF2B5EF4-FFF2-40B4-BE49-F238E27FC236}">
                <a16:creationId xmlns:a16="http://schemas.microsoft.com/office/drawing/2014/main" id="{D3D01E8A-B757-4AE4-86A1-7A4BF26802C8}"/>
              </a:ext>
            </a:extLst>
          </p:cNvPr>
          <p:cNvSpPr>
            <a:spLocks noGrp="1"/>
          </p:cNvSpPr>
          <p:nvPr/>
        </p:nvSpPr>
        <p:spPr>
          <a:xfrm>
            <a:off x="3469096" y="2104299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lifecycle 02 评审边缘高光-698">
            <a:extLst>
              <a:ext uri="{FF2B5EF4-FFF2-40B4-BE49-F238E27FC236}">
                <a16:creationId xmlns:a16="http://schemas.microsoft.com/office/drawing/2014/main" id="{C44CD33A-C456-403F-A0D6-9B1A39718D85}"/>
              </a:ext>
            </a:extLst>
          </p:cNvPr>
          <p:cNvSpPr>
            <a:spLocks noGrp="1"/>
          </p:cNvSpPr>
          <p:nvPr/>
        </p:nvSpPr>
        <p:spPr>
          <a:xfrm>
            <a:off x="3450046" y="2085249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hield 安全盾-699">
            <a:extLst>
              <a:ext uri="{FF2B5EF4-FFF2-40B4-BE49-F238E27FC236}">
                <a16:creationId xmlns:a16="http://schemas.microsoft.com/office/drawing/2014/main" id="{32E59B6F-EDC7-491C-9762-166CA13AFD16}"/>
              </a:ext>
            </a:extLst>
          </p:cNvPr>
          <p:cNvSpPr>
            <a:spLocks noGrp="1"/>
          </p:cNvSpPr>
          <p:nvPr/>
        </p:nvSpPr>
        <p:spPr>
          <a:xfrm>
            <a:off x="3608886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hield 核验标记-700">
            <a:extLst>
              <a:ext uri="{FF2B5EF4-FFF2-40B4-BE49-F238E27FC236}">
                <a16:creationId xmlns:a16="http://schemas.microsoft.com/office/drawing/2014/main" id="{F4FD8262-AACD-4470-ABCC-3F15D427F871}"/>
              </a:ext>
            </a:extLst>
          </p:cNvPr>
          <p:cNvSpPr>
            <a:spLocks noGrp="1"/>
          </p:cNvSpPr>
          <p:nvPr/>
        </p:nvSpPr>
        <p:spPr>
          <a:xfrm>
            <a:off x="3608886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文字 02 评审-701">
            <a:extLst>
              <a:ext uri="{FF2B5EF4-FFF2-40B4-BE49-F238E27FC236}">
                <a16:creationId xmlns:a16="http://schemas.microsoft.com/office/drawing/2014/main" id="{32751EF3-94BC-4A5A-A2B3-4126BDC5A0DF}"/>
              </a:ext>
            </a:extLst>
          </p:cNvPr>
          <p:cNvSpPr>
            <a:spLocks noGrp="1"/>
          </p:cNvSpPr>
          <p:nvPr/>
        </p:nvSpPr>
        <p:spPr>
          <a:xfrm>
            <a:off x="4225562" y="2244090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评审</a:t>
            </a:r>
          </a:p>
        </p:txBody>
      </p:sp>
      <p:sp>
        <p:nvSpPr>
          <p:cNvPr id="24" name="统一风格-lifecycle 03 快照玻璃后沿-702">
            <a:extLst>
              <a:ext uri="{FF2B5EF4-FFF2-40B4-BE49-F238E27FC236}">
                <a16:creationId xmlns:a16="http://schemas.microsoft.com/office/drawing/2014/main" id="{33A2335C-CB60-4C8D-BA5C-1509B9CFC910}"/>
              </a:ext>
            </a:extLst>
          </p:cNvPr>
          <p:cNvSpPr>
            <a:spLocks noGrp="1"/>
          </p:cNvSpPr>
          <p:nvPr/>
        </p:nvSpPr>
        <p:spPr>
          <a:xfrm>
            <a:off x="6290491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统一风格-lifecycle 03 快照-703">
            <a:extLst>
              <a:ext uri="{FF2B5EF4-FFF2-40B4-BE49-F238E27FC236}">
                <a16:creationId xmlns:a16="http://schemas.microsoft.com/office/drawing/2014/main" id="{C1B24A1F-F8CE-4DE0-8AEB-1B20C56482B6}"/>
              </a:ext>
            </a:extLst>
          </p:cNvPr>
          <p:cNvSpPr>
            <a:spLocks noGrp="1"/>
          </p:cNvSpPr>
          <p:nvPr/>
        </p:nvSpPr>
        <p:spPr>
          <a:xfrm>
            <a:off x="6290491" y="2085249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lifecycle 03 快照玻璃内沿-704">
            <a:extLst>
              <a:ext uri="{FF2B5EF4-FFF2-40B4-BE49-F238E27FC236}">
                <a16:creationId xmlns:a16="http://schemas.microsoft.com/office/drawing/2014/main" id="{45448654-7CBA-4533-9F63-32F376EFF0F3}"/>
              </a:ext>
            </a:extLst>
          </p:cNvPr>
          <p:cNvSpPr>
            <a:spLocks noGrp="1"/>
          </p:cNvSpPr>
          <p:nvPr/>
        </p:nvSpPr>
        <p:spPr>
          <a:xfrm>
            <a:off x="6303350" y="2098108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lifecycle 03 快照透光反射面-705">
            <a:extLst>
              <a:ext uri="{FF2B5EF4-FFF2-40B4-BE49-F238E27FC236}">
                <a16:creationId xmlns:a16="http://schemas.microsoft.com/office/drawing/2014/main" id="{46F9EB5D-1FC2-4528-8F85-36C46BE71224}"/>
              </a:ext>
            </a:extLst>
          </p:cNvPr>
          <p:cNvSpPr>
            <a:spLocks noGrp="1"/>
          </p:cNvSpPr>
          <p:nvPr/>
        </p:nvSpPr>
        <p:spPr>
          <a:xfrm>
            <a:off x="6309541" y="2104299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lifecycle 03 快照边缘高光-706">
            <a:extLst>
              <a:ext uri="{FF2B5EF4-FFF2-40B4-BE49-F238E27FC236}">
                <a16:creationId xmlns:a16="http://schemas.microsoft.com/office/drawing/2014/main" id="{0BE31E20-35D6-409B-A70D-207C65E58FB5}"/>
              </a:ext>
            </a:extLst>
          </p:cNvPr>
          <p:cNvSpPr>
            <a:spLocks noGrp="1"/>
          </p:cNvSpPr>
          <p:nvPr/>
        </p:nvSpPr>
        <p:spPr>
          <a:xfrm>
            <a:off x="6290491" y="2085249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db 数据库柱体-707">
            <a:extLst>
              <a:ext uri="{FF2B5EF4-FFF2-40B4-BE49-F238E27FC236}">
                <a16:creationId xmlns:a16="http://schemas.microsoft.com/office/drawing/2014/main" id="{D7E98EC2-6361-4C29-8107-95C60DF49B90}"/>
              </a:ext>
            </a:extLst>
          </p:cNvPr>
          <p:cNvSpPr>
            <a:spLocks noGrp="1"/>
          </p:cNvSpPr>
          <p:nvPr/>
        </p:nvSpPr>
        <p:spPr>
          <a:xfrm>
            <a:off x="6449332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db 数据库分层-708">
            <a:extLst>
              <a:ext uri="{FF2B5EF4-FFF2-40B4-BE49-F238E27FC236}">
                <a16:creationId xmlns:a16="http://schemas.microsoft.com/office/drawing/2014/main" id="{B0FC4B7D-98A4-4538-BAC7-19F07623BDDB}"/>
              </a:ext>
            </a:extLst>
          </p:cNvPr>
          <p:cNvSpPr>
            <a:spLocks noGrp="1"/>
          </p:cNvSpPr>
          <p:nvPr/>
        </p:nvSpPr>
        <p:spPr>
          <a:xfrm>
            <a:off x="6449332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文字 03 快照-709">
            <a:extLst>
              <a:ext uri="{FF2B5EF4-FFF2-40B4-BE49-F238E27FC236}">
                <a16:creationId xmlns:a16="http://schemas.microsoft.com/office/drawing/2014/main" id="{60326E40-51FE-41CC-8956-932D4A5D9F8A}"/>
              </a:ext>
            </a:extLst>
          </p:cNvPr>
          <p:cNvSpPr>
            <a:spLocks noGrp="1"/>
          </p:cNvSpPr>
          <p:nvPr/>
        </p:nvSpPr>
        <p:spPr>
          <a:xfrm>
            <a:off x="7066008" y="2244090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快照</a:t>
            </a:r>
          </a:p>
        </p:txBody>
      </p:sp>
      <p:sp>
        <p:nvSpPr>
          <p:cNvPr id="32" name="统一风格-lifecycle 04 发布玻璃后沿-710">
            <a:extLst>
              <a:ext uri="{FF2B5EF4-FFF2-40B4-BE49-F238E27FC236}">
                <a16:creationId xmlns:a16="http://schemas.microsoft.com/office/drawing/2014/main" id="{BCE5F5E2-DED9-445C-82DA-F723FAD6A293}"/>
              </a:ext>
            </a:extLst>
          </p:cNvPr>
          <p:cNvSpPr>
            <a:spLocks noGrp="1"/>
          </p:cNvSpPr>
          <p:nvPr/>
        </p:nvSpPr>
        <p:spPr>
          <a:xfrm>
            <a:off x="6290491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3" name="统一风格-lifecycle 04 发布-711">
            <a:extLst>
              <a:ext uri="{FF2B5EF4-FFF2-40B4-BE49-F238E27FC236}">
                <a16:creationId xmlns:a16="http://schemas.microsoft.com/office/drawing/2014/main" id="{B0DECF71-2B5A-4DE5-89A9-590950D509BD}"/>
              </a:ext>
            </a:extLst>
          </p:cNvPr>
          <p:cNvSpPr>
            <a:spLocks noGrp="1"/>
          </p:cNvSpPr>
          <p:nvPr/>
        </p:nvSpPr>
        <p:spPr>
          <a:xfrm>
            <a:off x="6290491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lifecycle 04 发布玻璃内沿-712">
            <a:extLst>
              <a:ext uri="{FF2B5EF4-FFF2-40B4-BE49-F238E27FC236}">
                <a16:creationId xmlns:a16="http://schemas.microsoft.com/office/drawing/2014/main" id="{27692686-311D-4746-8FFC-DCBD1BF775A3}"/>
              </a:ext>
            </a:extLst>
          </p:cNvPr>
          <p:cNvSpPr>
            <a:spLocks noGrp="1"/>
          </p:cNvSpPr>
          <p:nvPr/>
        </p:nvSpPr>
        <p:spPr>
          <a:xfrm>
            <a:off x="6303350" y="3621110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lifecycle 04 发布透光反射面-713">
            <a:extLst>
              <a:ext uri="{FF2B5EF4-FFF2-40B4-BE49-F238E27FC236}">
                <a16:creationId xmlns:a16="http://schemas.microsoft.com/office/drawing/2014/main" id="{44176AA5-4400-4386-BAEF-143911A44271}"/>
              </a:ext>
            </a:extLst>
          </p:cNvPr>
          <p:cNvSpPr>
            <a:spLocks noGrp="1"/>
          </p:cNvSpPr>
          <p:nvPr/>
        </p:nvSpPr>
        <p:spPr>
          <a:xfrm>
            <a:off x="6309541" y="3627301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lifecycle 04 发布边缘高光-714">
            <a:extLst>
              <a:ext uri="{FF2B5EF4-FFF2-40B4-BE49-F238E27FC236}">
                <a16:creationId xmlns:a16="http://schemas.microsoft.com/office/drawing/2014/main" id="{E49BED75-9522-4EFB-A81F-25AF297B11F8}"/>
              </a:ext>
            </a:extLst>
          </p:cNvPr>
          <p:cNvSpPr>
            <a:spLocks noGrp="1"/>
          </p:cNvSpPr>
          <p:nvPr/>
        </p:nvSpPr>
        <p:spPr>
          <a:xfrm>
            <a:off x="6290491" y="3608251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doc 规则文档-715">
            <a:extLst>
              <a:ext uri="{FF2B5EF4-FFF2-40B4-BE49-F238E27FC236}">
                <a16:creationId xmlns:a16="http://schemas.microsoft.com/office/drawing/2014/main" id="{505C1FCF-8B8D-4548-82CC-625DD9AEC837}"/>
              </a:ext>
            </a:extLst>
          </p:cNvPr>
          <p:cNvSpPr>
            <a:spLocks noGrp="1"/>
          </p:cNvSpPr>
          <p:nvPr/>
        </p:nvSpPr>
        <p:spPr>
          <a:xfrm>
            <a:off x="6449332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doc 文档折角-716">
            <a:extLst>
              <a:ext uri="{FF2B5EF4-FFF2-40B4-BE49-F238E27FC236}">
                <a16:creationId xmlns:a16="http://schemas.microsoft.com/office/drawing/2014/main" id="{1DC8E652-12D1-4AED-B8FF-A7E1E2B932AC}"/>
              </a:ext>
            </a:extLst>
          </p:cNvPr>
          <p:cNvSpPr>
            <a:spLocks noGrp="1"/>
          </p:cNvSpPr>
          <p:nvPr/>
        </p:nvSpPr>
        <p:spPr>
          <a:xfrm>
            <a:off x="6449332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doc 规则条目-717">
            <a:extLst>
              <a:ext uri="{FF2B5EF4-FFF2-40B4-BE49-F238E27FC236}">
                <a16:creationId xmlns:a16="http://schemas.microsoft.com/office/drawing/2014/main" id="{AA9E4894-66ED-406C-9221-1B4E7D0F0103}"/>
              </a:ext>
            </a:extLst>
          </p:cNvPr>
          <p:cNvSpPr>
            <a:spLocks noGrp="1"/>
          </p:cNvSpPr>
          <p:nvPr/>
        </p:nvSpPr>
        <p:spPr>
          <a:xfrm>
            <a:off x="6449332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文字 04 发布-718">
            <a:extLst>
              <a:ext uri="{FF2B5EF4-FFF2-40B4-BE49-F238E27FC236}">
                <a16:creationId xmlns:a16="http://schemas.microsoft.com/office/drawing/2014/main" id="{C13E5AEF-91C0-44C0-A198-7F72780E8826}"/>
              </a:ext>
            </a:extLst>
          </p:cNvPr>
          <p:cNvSpPr>
            <a:spLocks noGrp="1"/>
          </p:cNvSpPr>
          <p:nvPr/>
        </p:nvSpPr>
        <p:spPr>
          <a:xfrm>
            <a:off x="7066008" y="3767092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04 发布</a:t>
            </a:r>
          </a:p>
        </p:txBody>
      </p:sp>
      <p:sp>
        <p:nvSpPr>
          <p:cNvPr id="41" name="统一风格-lifecycle 05 验收玻璃后沿-719">
            <a:extLst>
              <a:ext uri="{FF2B5EF4-FFF2-40B4-BE49-F238E27FC236}">
                <a16:creationId xmlns:a16="http://schemas.microsoft.com/office/drawing/2014/main" id="{58092CB9-F9CE-4A2A-ADF5-17AD99498142}"/>
              </a:ext>
            </a:extLst>
          </p:cNvPr>
          <p:cNvSpPr>
            <a:spLocks noGrp="1"/>
          </p:cNvSpPr>
          <p:nvPr/>
        </p:nvSpPr>
        <p:spPr>
          <a:xfrm>
            <a:off x="3450046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统一风格-lifecycle 05 验收-720">
            <a:extLst>
              <a:ext uri="{FF2B5EF4-FFF2-40B4-BE49-F238E27FC236}">
                <a16:creationId xmlns:a16="http://schemas.microsoft.com/office/drawing/2014/main" id="{1D69490C-DDB0-47AA-8149-D40F6968B5FF}"/>
              </a:ext>
            </a:extLst>
          </p:cNvPr>
          <p:cNvSpPr>
            <a:spLocks noGrp="1"/>
          </p:cNvSpPr>
          <p:nvPr/>
        </p:nvSpPr>
        <p:spPr>
          <a:xfrm>
            <a:off x="3450046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lifecycle 05 验收玻璃内沿-721">
            <a:extLst>
              <a:ext uri="{FF2B5EF4-FFF2-40B4-BE49-F238E27FC236}">
                <a16:creationId xmlns:a16="http://schemas.microsoft.com/office/drawing/2014/main" id="{9C4F1693-5FCA-47E6-B8A1-BE9F896C7768}"/>
              </a:ext>
            </a:extLst>
          </p:cNvPr>
          <p:cNvSpPr>
            <a:spLocks noGrp="1"/>
          </p:cNvSpPr>
          <p:nvPr/>
        </p:nvSpPr>
        <p:spPr>
          <a:xfrm>
            <a:off x="3462904" y="3621110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lifecycle 05 验收透光反射面-722">
            <a:extLst>
              <a:ext uri="{FF2B5EF4-FFF2-40B4-BE49-F238E27FC236}">
                <a16:creationId xmlns:a16="http://schemas.microsoft.com/office/drawing/2014/main" id="{3ACBDC58-9855-4581-AA8B-B95CBCF37019}"/>
              </a:ext>
            </a:extLst>
          </p:cNvPr>
          <p:cNvSpPr>
            <a:spLocks noGrp="1"/>
          </p:cNvSpPr>
          <p:nvPr/>
        </p:nvSpPr>
        <p:spPr>
          <a:xfrm>
            <a:off x="3469096" y="3627301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lifecycle 05 验收边缘高光-723">
            <a:extLst>
              <a:ext uri="{FF2B5EF4-FFF2-40B4-BE49-F238E27FC236}">
                <a16:creationId xmlns:a16="http://schemas.microsoft.com/office/drawing/2014/main" id="{07EF3296-73D5-48B7-9638-6FF282565042}"/>
              </a:ext>
            </a:extLst>
          </p:cNvPr>
          <p:cNvSpPr>
            <a:spLocks noGrp="1"/>
          </p:cNvSpPr>
          <p:nvPr/>
        </p:nvSpPr>
        <p:spPr>
          <a:xfrm>
            <a:off x="3450046" y="3608251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shield 安全盾-724">
            <a:extLst>
              <a:ext uri="{FF2B5EF4-FFF2-40B4-BE49-F238E27FC236}">
                <a16:creationId xmlns:a16="http://schemas.microsoft.com/office/drawing/2014/main" id="{B28DD917-8DC7-4B18-AD30-8D8288C5F2DD}"/>
              </a:ext>
            </a:extLst>
          </p:cNvPr>
          <p:cNvSpPr>
            <a:spLocks noGrp="1"/>
          </p:cNvSpPr>
          <p:nvPr/>
        </p:nvSpPr>
        <p:spPr>
          <a:xfrm>
            <a:off x="3608886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shield 核验标记-725">
            <a:extLst>
              <a:ext uri="{FF2B5EF4-FFF2-40B4-BE49-F238E27FC236}">
                <a16:creationId xmlns:a16="http://schemas.microsoft.com/office/drawing/2014/main" id="{131944FB-EE4D-453D-8392-D1ED9B1A52D2}"/>
              </a:ext>
            </a:extLst>
          </p:cNvPr>
          <p:cNvSpPr>
            <a:spLocks noGrp="1"/>
          </p:cNvSpPr>
          <p:nvPr/>
        </p:nvSpPr>
        <p:spPr>
          <a:xfrm>
            <a:off x="3608886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304800"/>
                </a:moveTo>
                <a:lnTo>
                  <a:pt x="276225" y="371475"/>
                </a:lnTo>
                <a:lnTo>
                  <a:pt x="409575" y="2381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文字 05 验收-726">
            <a:extLst>
              <a:ext uri="{FF2B5EF4-FFF2-40B4-BE49-F238E27FC236}">
                <a16:creationId xmlns:a16="http://schemas.microsoft.com/office/drawing/2014/main" id="{4F0DC102-B631-4A90-B37C-8578C9FC6E9A}"/>
              </a:ext>
            </a:extLst>
          </p:cNvPr>
          <p:cNvSpPr>
            <a:spLocks noGrp="1"/>
          </p:cNvSpPr>
          <p:nvPr/>
        </p:nvSpPr>
        <p:spPr>
          <a:xfrm>
            <a:off x="4225562" y="3767092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05 验收</a:t>
            </a:r>
          </a:p>
        </p:txBody>
      </p:sp>
      <p:sp>
        <p:nvSpPr>
          <p:cNvPr id="49" name="统一风格-lifecycle 06 复核玻璃后沿-727">
            <a:extLst>
              <a:ext uri="{FF2B5EF4-FFF2-40B4-BE49-F238E27FC236}">
                <a16:creationId xmlns:a16="http://schemas.microsoft.com/office/drawing/2014/main" id="{B98AE0CB-E599-45E5-9105-746E319C8AA3}"/>
              </a:ext>
            </a:extLst>
          </p:cNvPr>
          <p:cNvSpPr>
            <a:spLocks noGrp="1"/>
          </p:cNvSpPr>
          <p:nvPr/>
        </p:nvSpPr>
        <p:spPr>
          <a:xfrm>
            <a:off x="609600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0" name="统一风格-lifecycle 06 复核-728">
            <a:extLst>
              <a:ext uri="{FF2B5EF4-FFF2-40B4-BE49-F238E27FC236}">
                <a16:creationId xmlns:a16="http://schemas.microsoft.com/office/drawing/2014/main" id="{707D1B4D-A44B-4B40-BA4E-C713ADEFA236}"/>
              </a:ext>
            </a:extLst>
          </p:cNvPr>
          <p:cNvSpPr>
            <a:spLocks noGrp="1"/>
          </p:cNvSpPr>
          <p:nvPr/>
        </p:nvSpPr>
        <p:spPr>
          <a:xfrm>
            <a:off x="609600" y="3608251"/>
            <a:ext cx="2167709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lifecycle 06 复核玻璃内沿-729">
            <a:extLst>
              <a:ext uri="{FF2B5EF4-FFF2-40B4-BE49-F238E27FC236}">
                <a16:creationId xmlns:a16="http://schemas.microsoft.com/office/drawing/2014/main" id="{659F0DBF-0579-4E72-8700-D49893CC0A54}"/>
              </a:ext>
            </a:extLst>
          </p:cNvPr>
          <p:cNvSpPr>
            <a:spLocks noGrp="1"/>
          </p:cNvSpPr>
          <p:nvPr/>
        </p:nvSpPr>
        <p:spPr>
          <a:xfrm>
            <a:off x="622459" y="3621110"/>
            <a:ext cx="2141991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lifecycle 06 复核透光反射面-730">
            <a:extLst>
              <a:ext uri="{FF2B5EF4-FFF2-40B4-BE49-F238E27FC236}">
                <a16:creationId xmlns:a16="http://schemas.microsoft.com/office/drawing/2014/main" id="{930CEECE-0D94-4909-825A-80F83471E95C}"/>
              </a:ext>
            </a:extLst>
          </p:cNvPr>
          <p:cNvSpPr>
            <a:spLocks noGrp="1"/>
          </p:cNvSpPr>
          <p:nvPr/>
        </p:nvSpPr>
        <p:spPr>
          <a:xfrm>
            <a:off x="628650" y="3627301"/>
            <a:ext cx="2129609" cy="877570"/>
          </a:xfrm>
          <a:custGeom>
            <a:avLst/>
            <a:gdLst/>
            <a:ahLst/>
            <a:cxnLst/>
            <a:rect l="0" t="0" r="0" b="0"/>
            <a:pathLst>
              <a:path w="2129609" h="877570">
                <a:moveTo>
                  <a:pt x="76200" y="0"/>
                </a:moveTo>
                <a:lnTo>
                  <a:pt x="1362949" y="0"/>
                </a:lnTo>
                <a:lnTo>
                  <a:pt x="553698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lifecycle 06 复核边缘高光-731">
            <a:extLst>
              <a:ext uri="{FF2B5EF4-FFF2-40B4-BE49-F238E27FC236}">
                <a16:creationId xmlns:a16="http://schemas.microsoft.com/office/drawing/2014/main" id="{02DDB02A-4FC4-4E2B-B1AE-14F900A3B45C}"/>
              </a:ext>
            </a:extLst>
          </p:cNvPr>
          <p:cNvSpPr>
            <a:spLocks noGrp="1"/>
          </p:cNvSpPr>
          <p:nvPr/>
        </p:nvSpPr>
        <p:spPr>
          <a:xfrm>
            <a:off x="609600" y="3608251"/>
            <a:ext cx="2167709" cy="915670"/>
          </a:xfrm>
          <a:custGeom>
            <a:avLst/>
            <a:gdLst/>
            <a:ahLst/>
            <a:cxnLst/>
            <a:rect l="0" t="0" r="0" b="0"/>
            <a:pathLst>
              <a:path w="2167709" h="915670">
                <a:moveTo>
                  <a:pt x="95250" y="9525"/>
                </a:moveTo>
                <a:lnTo>
                  <a:pt x="2072459" y="9525"/>
                </a:lnTo>
                <a:cubicBezTo>
                  <a:pt x="2120084" y="9525"/>
                  <a:pt x="2158184" y="47625"/>
                  <a:pt x="21581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ips 安全盾-732">
            <a:extLst>
              <a:ext uri="{FF2B5EF4-FFF2-40B4-BE49-F238E27FC236}">
                <a16:creationId xmlns:a16="http://schemas.microsoft.com/office/drawing/2014/main" id="{93201E00-DBC0-4894-9AFA-F133ABEAE7DA}"/>
              </a:ext>
            </a:extLst>
          </p:cNvPr>
          <p:cNvSpPr>
            <a:spLocks noGrp="1"/>
          </p:cNvSpPr>
          <p:nvPr/>
        </p:nvSpPr>
        <p:spPr>
          <a:xfrm>
            <a:off x="768441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统一风格-ips 检测透镜-733">
            <a:extLst>
              <a:ext uri="{FF2B5EF4-FFF2-40B4-BE49-F238E27FC236}">
                <a16:creationId xmlns:a16="http://schemas.microsoft.com/office/drawing/2014/main" id="{1D470949-3327-4099-B2B0-524EE70409BD}"/>
              </a:ext>
            </a:extLst>
          </p:cNvPr>
          <p:cNvSpPr>
            <a:spLocks noGrp="1"/>
          </p:cNvSpPr>
          <p:nvPr/>
        </p:nvSpPr>
        <p:spPr>
          <a:xfrm>
            <a:off x="768441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33375" y="228600"/>
                </a:moveTo>
                <a:cubicBezTo>
                  <a:pt x="428625" y="228600"/>
                  <a:pt x="428625" y="371475"/>
                  <a:pt x="333375" y="371475"/>
                </a:cubicBezTo>
                <a:cubicBezTo>
                  <a:pt x="238125" y="371475"/>
                  <a:pt x="238125" y="228600"/>
                  <a:pt x="333375" y="22860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ips 检测手柄-734">
            <a:extLst>
              <a:ext uri="{FF2B5EF4-FFF2-40B4-BE49-F238E27FC236}">
                <a16:creationId xmlns:a16="http://schemas.microsoft.com/office/drawing/2014/main" id="{52D87EA6-64B4-4CDB-B7D0-2A943A671917}"/>
              </a:ext>
            </a:extLst>
          </p:cNvPr>
          <p:cNvSpPr>
            <a:spLocks noGrp="1"/>
          </p:cNvSpPr>
          <p:nvPr/>
        </p:nvSpPr>
        <p:spPr>
          <a:xfrm>
            <a:off x="768441" y="383249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81000" y="361950"/>
                </a:moveTo>
                <a:lnTo>
                  <a:pt x="447675" y="4381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文字 06 复核-735">
            <a:extLst>
              <a:ext uri="{FF2B5EF4-FFF2-40B4-BE49-F238E27FC236}">
                <a16:creationId xmlns:a16="http://schemas.microsoft.com/office/drawing/2014/main" id="{37B4ED59-833C-4D6A-A3EC-FB350928434B}"/>
              </a:ext>
            </a:extLst>
          </p:cNvPr>
          <p:cNvSpPr>
            <a:spLocks noGrp="1"/>
          </p:cNvSpPr>
          <p:nvPr/>
        </p:nvSpPr>
        <p:spPr>
          <a:xfrm>
            <a:off x="1385116" y="3767092"/>
            <a:ext cx="1289413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06 复核</a:t>
            </a:r>
          </a:p>
        </p:txBody>
      </p:sp>
      <p:cxnSp>
        <p:nvCxnSpPr>
          <p:cNvPr id="58" name="统一拓扑-lifecycle-连线-1">
            <a:extLst>
              <a:ext uri="{FF2B5EF4-FFF2-40B4-BE49-F238E27FC236}">
                <a16:creationId xmlns:a16="http://schemas.microsoft.com/office/drawing/2014/main" id="{C734F302-01A8-4768-97BE-7FC428ECE920}"/>
              </a:ext>
            </a:extLst>
          </p:cNvPr>
          <p:cNvCxnSpPr/>
          <p:nvPr/>
        </p:nvCxnSpPr>
        <p:spPr>
          <a:xfrm>
            <a:off x="2777309" y="2543084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9" name="统一拓扑-lifecycle-连线-2">
            <a:extLst>
              <a:ext uri="{FF2B5EF4-FFF2-40B4-BE49-F238E27FC236}">
                <a16:creationId xmlns:a16="http://schemas.microsoft.com/office/drawing/2014/main" id="{464699BE-D217-4B25-B948-89069840277A}"/>
              </a:ext>
            </a:extLst>
          </p:cNvPr>
          <p:cNvCxnSpPr/>
          <p:nvPr/>
        </p:nvCxnSpPr>
        <p:spPr>
          <a:xfrm>
            <a:off x="5617754" y="2543084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0" name="统一拓扑-lifecycle-连线-3">
            <a:extLst>
              <a:ext uri="{FF2B5EF4-FFF2-40B4-BE49-F238E27FC236}">
                <a16:creationId xmlns:a16="http://schemas.microsoft.com/office/drawing/2014/main" id="{BB1C20DD-3263-4875-BE8E-A1B0ED5FAC93}"/>
              </a:ext>
            </a:extLst>
          </p:cNvPr>
          <p:cNvCxnSpPr/>
          <p:nvPr/>
        </p:nvCxnSpPr>
        <p:spPr>
          <a:xfrm>
            <a:off x="7374346" y="3000919"/>
            <a:ext cx="0" cy="607332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1" name="统一拓扑-lifecycle-连线-4">
            <a:extLst>
              <a:ext uri="{FF2B5EF4-FFF2-40B4-BE49-F238E27FC236}">
                <a16:creationId xmlns:a16="http://schemas.microsoft.com/office/drawing/2014/main" id="{D191F469-FAC9-46F7-92D6-005F6F6CABE6}"/>
              </a:ext>
            </a:extLst>
          </p:cNvPr>
          <p:cNvCxnSpPr/>
          <p:nvPr/>
        </p:nvCxnSpPr>
        <p:spPr>
          <a:xfrm flipH="1">
            <a:off x="5617754" y="4066086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2" name="统一拓扑-lifecycle-连线-5">
            <a:extLst>
              <a:ext uri="{FF2B5EF4-FFF2-40B4-BE49-F238E27FC236}">
                <a16:creationId xmlns:a16="http://schemas.microsoft.com/office/drawing/2014/main" id="{AF5B665B-7F25-48A7-B249-A6DA4DFA9EBD}"/>
              </a:ext>
            </a:extLst>
          </p:cNvPr>
          <p:cNvCxnSpPr/>
          <p:nvPr/>
        </p:nvCxnSpPr>
        <p:spPr>
          <a:xfrm flipH="1">
            <a:off x="2777309" y="4066086"/>
            <a:ext cx="672737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63" name="统一拓扑-lifecycle-连线-6">
            <a:extLst>
              <a:ext uri="{FF2B5EF4-FFF2-40B4-BE49-F238E27FC236}">
                <a16:creationId xmlns:a16="http://schemas.microsoft.com/office/drawing/2014/main" id="{F60CF3B0-B4F8-4A32-A995-2D6A10C906C1}"/>
              </a:ext>
            </a:extLst>
          </p:cNvPr>
          <p:cNvCxnSpPr/>
          <p:nvPr/>
        </p:nvCxnSpPr>
        <p:spPr>
          <a:xfrm flipH="1">
            <a:off x="497477" y="4066086"/>
            <a:ext cx="112123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64" name="统一拓扑-lifecycle-连线-7">
            <a:extLst>
              <a:ext uri="{FF2B5EF4-FFF2-40B4-BE49-F238E27FC236}">
                <a16:creationId xmlns:a16="http://schemas.microsoft.com/office/drawing/2014/main" id="{40AC310D-B82F-4C80-8EDD-9F41A21F0890}"/>
              </a:ext>
            </a:extLst>
          </p:cNvPr>
          <p:cNvCxnSpPr/>
          <p:nvPr/>
        </p:nvCxnSpPr>
        <p:spPr>
          <a:xfrm flipV="1">
            <a:off x="497477" y="2543084"/>
            <a:ext cx="0" cy="1523002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65" name="统一拓扑-lifecycle-连线-8">
            <a:extLst>
              <a:ext uri="{FF2B5EF4-FFF2-40B4-BE49-F238E27FC236}">
                <a16:creationId xmlns:a16="http://schemas.microsoft.com/office/drawing/2014/main" id="{584785FB-30DB-48C4-832C-672F6957DA07}"/>
              </a:ext>
            </a:extLst>
          </p:cNvPr>
          <p:cNvCxnSpPr/>
          <p:nvPr/>
        </p:nvCxnSpPr>
        <p:spPr>
          <a:xfrm>
            <a:off x="497477" y="2543084"/>
            <a:ext cx="112123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66" name="统一风格-lifecycle 回滚玻璃后沿-736">
            <a:extLst>
              <a:ext uri="{FF2B5EF4-FFF2-40B4-BE49-F238E27FC236}">
                <a16:creationId xmlns:a16="http://schemas.microsoft.com/office/drawing/2014/main" id="{973AA0B7-0382-440F-A7C4-C81E1B2FA331}"/>
              </a:ext>
            </a:extLst>
          </p:cNvPr>
          <p:cNvSpPr>
            <a:spLocks noGrp="1"/>
          </p:cNvSpPr>
          <p:nvPr/>
        </p:nvSpPr>
        <p:spPr>
          <a:xfrm>
            <a:off x="2795996" y="5159284"/>
            <a:ext cx="3475809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7" name="统一风格-lifecycle 回滚-737">
            <a:extLst>
              <a:ext uri="{FF2B5EF4-FFF2-40B4-BE49-F238E27FC236}">
                <a16:creationId xmlns:a16="http://schemas.microsoft.com/office/drawing/2014/main" id="{9BF91493-C2F8-4612-9511-9F1625C01AFB}"/>
              </a:ext>
            </a:extLst>
          </p:cNvPr>
          <p:cNvSpPr>
            <a:spLocks noGrp="1"/>
          </p:cNvSpPr>
          <p:nvPr/>
        </p:nvSpPr>
        <p:spPr>
          <a:xfrm>
            <a:off x="2795996" y="5159284"/>
            <a:ext cx="3475809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lifecycle 回滚玻璃内沿-738">
            <a:extLst>
              <a:ext uri="{FF2B5EF4-FFF2-40B4-BE49-F238E27FC236}">
                <a16:creationId xmlns:a16="http://schemas.microsoft.com/office/drawing/2014/main" id="{DE1CCF9E-9F58-455E-8F01-9D37D85BE237}"/>
              </a:ext>
            </a:extLst>
          </p:cNvPr>
          <p:cNvSpPr>
            <a:spLocks noGrp="1"/>
          </p:cNvSpPr>
          <p:nvPr/>
        </p:nvSpPr>
        <p:spPr>
          <a:xfrm>
            <a:off x="2808854" y="5172143"/>
            <a:ext cx="3450091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lifecycle 回滚边缘高光-739">
            <a:extLst>
              <a:ext uri="{FF2B5EF4-FFF2-40B4-BE49-F238E27FC236}">
                <a16:creationId xmlns:a16="http://schemas.microsoft.com/office/drawing/2014/main" id="{5ADD3EE1-8D96-48BF-A247-B5EF1BDA0E00}"/>
              </a:ext>
            </a:extLst>
          </p:cNvPr>
          <p:cNvSpPr>
            <a:spLocks noGrp="1"/>
          </p:cNvSpPr>
          <p:nvPr/>
        </p:nvSpPr>
        <p:spPr>
          <a:xfrm>
            <a:off x="2795996" y="5159284"/>
            <a:ext cx="3475809" cy="607332"/>
          </a:xfrm>
          <a:custGeom>
            <a:avLst/>
            <a:gdLst/>
            <a:ahLst/>
            <a:cxnLst/>
            <a:rect l="0" t="0" r="0" b="0"/>
            <a:pathLst>
              <a:path w="3475809" h="607332">
                <a:moveTo>
                  <a:pt x="95250" y="9525"/>
                </a:moveTo>
                <a:lnTo>
                  <a:pt x="3380559" y="9525"/>
                </a:lnTo>
                <a:cubicBezTo>
                  <a:pt x="3428184" y="9525"/>
                  <a:pt x="3466284" y="47625"/>
                  <a:pt x="346628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" name="统一风格-文字 触发回滚门槛，恢复已记录前态-740">
            <a:extLst>
              <a:ext uri="{FF2B5EF4-FFF2-40B4-BE49-F238E27FC236}">
                <a16:creationId xmlns:a16="http://schemas.microsoft.com/office/drawing/2014/main" id="{D2B9F6BA-F4DD-4A1C-91F4-9F77A322F923}"/>
              </a:ext>
            </a:extLst>
          </p:cNvPr>
          <p:cNvSpPr>
            <a:spLocks noGrp="1"/>
          </p:cNvSpPr>
          <p:nvPr/>
        </p:nvSpPr>
        <p:spPr>
          <a:xfrm>
            <a:off x="2908119" y="5271407"/>
            <a:ext cx="3251563" cy="3830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触发回滚门槛，恢复已记录前态</a:t>
            </a:r>
          </a:p>
        </p:txBody>
      </p:sp>
      <p:cxnSp>
        <p:nvCxnSpPr>
          <p:cNvPr id="71" name="统一拓扑-lifecycle-连线-9">
            <a:extLst>
              <a:ext uri="{FF2B5EF4-FFF2-40B4-BE49-F238E27FC236}">
                <a16:creationId xmlns:a16="http://schemas.microsoft.com/office/drawing/2014/main" id="{2FC7E5A4-63A6-4863-8C3F-F06019806674}"/>
              </a:ext>
            </a:extLst>
          </p:cNvPr>
          <p:cNvCxnSpPr/>
          <p:nvPr/>
        </p:nvCxnSpPr>
        <p:spPr>
          <a:xfrm>
            <a:off x="4533900" y="4523921"/>
            <a:ext cx="0" cy="635363"/>
          </a:xfrm>
          <a:prstGeom prst="straightConnector1">
            <a:avLst/>
          </a:prstGeom>
          <a:ln w="15417">
            <a:solidFill>
              <a:srgbClr val="2053C3"/>
            </a:solidFill>
            <a:prstDash val="dash"/>
            <a:tailEnd type="triangle" w="sm" len="sm"/>
          </a:ln>
        </p:spPr>
      </p:cxnSp>
      <p:sp>
        <p:nvSpPr>
          <p:cNvPr id="72" name="统一风格-lifecycle 关系文字衬底-741">
            <a:extLst>
              <a:ext uri="{FF2B5EF4-FFF2-40B4-BE49-F238E27FC236}">
                <a16:creationId xmlns:a16="http://schemas.microsoft.com/office/drawing/2014/main" id="{7F79BC20-221A-4F03-AAF1-39A207C9080F}"/>
              </a:ext>
            </a:extLst>
          </p:cNvPr>
          <p:cNvSpPr>
            <a:spLocks noGrp="1"/>
          </p:cNvSpPr>
          <p:nvPr/>
        </p:nvSpPr>
        <p:spPr>
          <a:xfrm>
            <a:off x="4683397" y="4729480"/>
            <a:ext cx="1382849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文字 未通过-742">
            <a:extLst>
              <a:ext uri="{FF2B5EF4-FFF2-40B4-BE49-F238E27FC236}">
                <a16:creationId xmlns:a16="http://schemas.microsoft.com/office/drawing/2014/main" id="{F1F55EC8-B9D7-40D8-BED7-70D1D5D826F0}"/>
              </a:ext>
            </a:extLst>
          </p:cNvPr>
          <p:cNvSpPr>
            <a:spLocks noGrp="1"/>
          </p:cNvSpPr>
          <p:nvPr/>
        </p:nvSpPr>
        <p:spPr>
          <a:xfrm>
            <a:off x="4720771" y="4729480"/>
            <a:ext cx="1308100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74" name="版式分隔线">
            <a:extLst>
              <a:ext uri="{FF2B5EF4-FFF2-40B4-BE49-F238E27FC236}">
                <a16:creationId xmlns:a16="http://schemas.microsoft.com/office/drawing/2014/main" id="{0281D4C9-1EFF-432F-A2BD-C2196CCF20B8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版式分隔线">
            <a:extLst>
              <a:ext uri="{FF2B5EF4-FFF2-40B4-BE49-F238E27FC236}">
                <a16:creationId xmlns:a16="http://schemas.microsoft.com/office/drawing/2014/main" id="{3FA3430F-DFB6-489C-BE1C-E42E6E453DC8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xt-75">
            <a:extLst>
              <a:ext uri="{FF2B5EF4-FFF2-40B4-BE49-F238E27FC236}">
                <a16:creationId xmlns:a16="http://schemas.microsoft.com/office/drawing/2014/main" id="{46FB2404-AB64-4CC0-BE9C-EC740433800D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77" name="txt-76">
            <a:extLst>
              <a:ext uri="{FF2B5EF4-FFF2-40B4-BE49-F238E27FC236}">
                <a16:creationId xmlns:a16="http://schemas.microsoft.com/office/drawing/2014/main" id="{D9C68972-762B-41AF-8318-F06F92A314F4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规则、对象组、路由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都保留变更前态</a:t>
            </a:r>
          </a:p>
        </p:txBody>
      </p:sp>
      <p:sp>
        <p:nvSpPr>
          <p:cNvPr id="78" name="版式分隔线">
            <a:extLst>
              <a:ext uri="{FF2B5EF4-FFF2-40B4-BE49-F238E27FC236}">
                <a16:creationId xmlns:a16="http://schemas.microsoft.com/office/drawing/2014/main" id="{DAF97426-66C3-47BE-89EB-D1BF11A34F7B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xt-78">
            <a:extLst>
              <a:ext uri="{FF2B5EF4-FFF2-40B4-BE49-F238E27FC236}">
                <a16:creationId xmlns:a16="http://schemas.microsoft.com/office/drawing/2014/main" id="{7DF244CD-6258-41F5-BFEF-621CCF9BB2B2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0" name="txt-79">
            <a:extLst>
              <a:ext uri="{FF2B5EF4-FFF2-40B4-BE49-F238E27FC236}">
                <a16:creationId xmlns:a16="http://schemas.microsoft.com/office/drawing/2014/main" id="{434F0C37-73C8-4D73-BBDA-3289A31DEA5E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关键交易结果、错误率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时延与策略命中</a:t>
            </a:r>
          </a:p>
        </p:txBody>
      </p:sp>
      <p:sp>
        <p:nvSpPr>
          <p:cNvPr id="81" name="版式分隔线">
            <a:extLst>
              <a:ext uri="{FF2B5EF4-FFF2-40B4-BE49-F238E27FC236}">
                <a16:creationId xmlns:a16="http://schemas.microsoft.com/office/drawing/2014/main" id="{88055672-EC3C-40EE-A856-C35CD7716E06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txt-81">
            <a:extLst>
              <a:ext uri="{FF2B5EF4-FFF2-40B4-BE49-F238E27FC236}">
                <a16:creationId xmlns:a16="http://schemas.microsoft.com/office/drawing/2014/main" id="{91513CA3-43F0-4140-B365-094946942D93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83" name="txt-82">
            <a:extLst>
              <a:ext uri="{FF2B5EF4-FFF2-40B4-BE49-F238E27FC236}">
                <a16:creationId xmlns:a16="http://schemas.microsoft.com/office/drawing/2014/main" id="{60681572-D711-4A24-99DC-C6385F182B5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达到约定门槛即执行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1668669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4  变更与排障">
            <a:extLst>
              <a:ext uri="{FF2B5EF4-FFF2-40B4-BE49-F238E27FC236}">
                <a16:creationId xmlns:a16="http://schemas.microsoft.com/office/drawing/2014/main" id="{776E8BF2-F2A6-4A35-9D98-A33AFDFB6FB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统一风格-文字 回滚门槛与最小恢复动作-188">
            <a:extLst>
              <a:ext uri="{FF2B5EF4-FFF2-40B4-BE49-F238E27FC236}">
                <a16:creationId xmlns:a16="http://schemas.microsoft.com/office/drawing/2014/main" id="{19C59CC0-933B-456F-B3FB-0A4880D24AF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回滚门槛与最小恢复动作</a:t>
            </a:r>
          </a:p>
        </p:txBody>
      </p:sp>
      <p:sp>
        <p:nvSpPr>
          <p:cNvPr id="3" name="统一风格-文字 发布前由业务与变更负责人填写具体阈值，或明确可判断的失败结果-189">
            <a:extLst>
              <a:ext uri="{FF2B5EF4-FFF2-40B4-BE49-F238E27FC236}">
                <a16:creationId xmlns:a16="http://schemas.microsoft.com/office/drawing/2014/main" id="{6A14CE99-7C56-4701-9D5F-982E5D3AA49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发布前由业务与变更负责人填写具体阈值，或明确可判断的失败结果</a:t>
            </a:r>
          </a:p>
        </p:txBody>
      </p:sp>
      <p:cxnSp>
        <p:nvCxnSpPr>
          <p:cNvPr id="4" name="知识图示连接-13">
            <a:extLst>
              <a:ext uri="{FF2B5EF4-FFF2-40B4-BE49-F238E27FC236}">
                <a16:creationId xmlns:a16="http://schemas.microsoft.com/office/drawing/2014/main" id="{55338F30-8503-4088-B717-EE5FE427A76B}"/>
              </a:ext>
            </a:extLst>
          </p:cNvPr>
          <p:cNvCxnSpPr/>
          <p:nvPr/>
        </p:nvCxnSpPr>
        <p:spPr>
          <a:xfrm>
            <a:off x="609600" y="6086475"/>
            <a:ext cx="10972800" cy="0"/>
          </a:xfrm>
          <a:prstGeom prst="straightConnector1">
            <a:avLst/>
          </a:prstGeom>
          <a:ln w="6668">
            <a:solidFill>
              <a:srgbClr val="E3EBF6"/>
            </a:solidFill>
          </a:ln>
        </p:spPr>
      </p:cxnSp>
      <p:sp>
        <p:nvSpPr>
          <p:cNvPr id="5" name="正文-管理建议：恢复到已记录前态后，重新验证关键业务、访问限制与防护覆盖。">
            <a:extLst>
              <a:ext uri="{FF2B5EF4-FFF2-40B4-BE49-F238E27FC236}">
                <a16:creationId xmlns:a16="http://schemas.microsoft.com/office/drawing/2014/main" id="{706727B1-8C0F-42C9-ABF5-1FBF3D71700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管理建议：恢复到已记录前态后，重新验证关键业务、访问限制与防护覆盖。</a:t>
            </a:r>
          </a:p>
        </p:txBody>
      </p:sp>
      <p:sp>
        <p:nvSpPr>
          <p:cNvPr id="6" name="正文-50">
            <a:extLst>
              <a:ext uri="{FF2B5EF4-FFF2-40B4-BE49-F238E27FC236}">
                <a16:creationId xmlns:a16="http://schemas.microsoft.com/office/drawing/2014/main" id="{E609A753-0578-45A9-8F82-E320563EE8A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7" name="统一风格-知识重点表玻璃后沿-192">
            <a:extLst>
              <a:ext uri="{FF2B5EF4-FFF2-40B4-BE49-F238E27FC236}">
                <a16:creationId xmlns:a16="http://schemas.microsoft.com/office/drawing/2014/main" id="{BC67815E-6777-4521-AE54-4E072DFC49CA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知识重点表-193">
            <a:extLst>
              <a:ext uri="{FF2B5EF4-FFF2-40B4-BE49-F238E27FC236}">
                <a16:creationId xmlns:a16="http://schemas.microsoft.com/office/drawing/2014/main" id="{909EF0AF-1C32-4022-8189-AF93F2CDB76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prstGeom prst="roundRect">
            <a:avLst>
              <a:gd name="adj" fmla="val 320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知识重点表玻璃内沿-194">
            <a:extLst>
              <a:ext uri="{FF2B5EF4-FFF2-40B4-BE49-F238E27FC236}">
                <a16:creationId xmlns:a16="http://schemas.microsoft.com/office/drawing/2014/main" id="{F25871BF-D39B-4128-994A-6C37BB07DBB8}"/>
              </a:ext>
            </a:extLst>
          </p:cNvPr>
          <p:cNvSpPr>
            <a:spLocks noGrp="1"/>
          </p:cNvSpPr>
          <p:nvPr/>
        </p:nvSpPr>
        <p:spPr>
          <a:xfrm>
            <a:off x="555784" y="2089309"/>
            <a:ext cx="11080433" cy="2650808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知识重点表边缘高光-195">
            <a:extLst>
              <a:ext uri="{FF2B5EF4-FFF2-40B4-BE49-F238E27FC236}">
                <a16:creationId xmlns:a16="http://schemas.microsoft.com/office/drawing/2014/main" id="{2434AD24-9D69-405B-A344-EEDC46E9723D}"/>
              </a:ext>
            </a:extLst>
          </p:cNvPr>
          <p:cNvSpPr>
            <a:spLocks noGrp="1"/>
          </p:cNvSpPr>
          <p:nvPr/>
        </p:nvSpPr>
        <p:spPr>
          <a:xfrm>
            <a:off x="542925" y="2076450"/>
            <a:ext cx="11106150" cy="2676525"/>
          </a:xfrm>
          <a:custGeom>
            <a:avLst/>
            <a:gdLst/>
            <a:ahLst/>
            <a:cxnLst/>
            <a:rect l="0" t="0" r="0" b="0"/>
            <a:pathLst>
              <a:path w="11106150" h="2676525">
                <a:moveTo>
                  <a:pt x="95250" y="9525"/>
                </a:moveTo>
                <a:lnTo>
                  <a:pt x="11010900" y="9525"/>
                </a:lnTo>
                <a:cubicBezTo>
                  <a:pt x="11058525" y="9525"/>
                  <a:pt x="11096625" y="47625"/>
                  <a:pt x="1109662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91DCAE-F24C-475D-929E-F32A0469FDBD}"/>
              </a:ext>
            </a:extLst>
          </p:cNvPr>
          <p:cNvGraphicFramePr/>
          <p:nvPr/>
        </p:nvGraphicFramePr>
        <p:xfrm>
          <a:off x="609600" y="2143125"/>
          <a:ext cx="10972800" cy="25431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79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发布前准备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触发后的动作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>
                      <a:solidFill>
                        <a:srgbClr val="D9E5F7"/>
                      </a:solidFill>
                      <a:prstDash val="soli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回滚门槛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关键交易失败、错误率或时延越界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由业务与变更负责人事先约定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达到约定条件即启动恢复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阈值按业务基线单独确定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规则恢复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保存获批的规则与对象组前态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恢复上一版规则配置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或停用本次新增的规则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9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路由恢复</a:t>
                      </a:r>
                    </a:p>
                  </a:txBody>
                  <a:tcPr anchor="ctr">
                    <a:lnL w="5715">
                      <a:solidFill>
                        <a:srgbClr val="D9E5F7"/>
                      </a:solidFill>
                      <a:prstDash val="soli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保存目的、下一跳、关联与传播前态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按记录恢复受影响路由</a:t>
                      </a:r>
                    </a:p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确认去程与回程重新一致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9E5F7"/>
                      </a:solidFill>
                      <a:prstDash val="solid"/>
                    </a:lnR>
                    <a:lnT w="5715" cap="flat" cmpd="sng" algn="ctr">
                      <a:solidFill>
                        <a:srgbClr val="D9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9E5F7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统一风格-整体关闭 CFW玻璃后沿-196">
            <a:extLst>
              <a:ext uri="{FF2B5EF4-FFF2-40B4-BE49-F238E27FC236}">
                <a16:creationId xmlns:a16="http://schemas.microsoft.com/office/drawing/2014/main" id="{905B1800-F819-482D-8E5D-3C19D0CAE633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整体关闭 CFW-197">
            <a:extLst>
              <a:ext uri="{FF2B5EF4-FFF2-40B4-BE49-F238E27FC236}">
                <a16:creationId xmlns:a16="http://schemas.microsoft.com/office/drawing/2014/main" id="{97867C9A-D453-4289-9608-1B5576120DFD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828675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整体关闭 CFW玻璃内沿-198">
            <a:extLst>
              <a:ext uri="{FF2B5EF4-FFF2-40B4-BE49-F238E27FC236}">
                <a16:creationId xmlns:a16="http://schemas.microsoft.com/office/drawing/2014/main" id="{F75DBDD8-E503-4937-8703-454C8572383A}"/>
              </a:ext>
            </a:extLst>
          </p:cNvPr>
          <p:cNvSpPr>
            <a:spLocks noGrp="1"/>
          </p:cNvSpPr>
          <p:nvPr/>
        </p:nvSpPr>
        <p:spPr>
          <a:xfrm>
            <a:off x="622459" y="5051584"/>
            <a:ext cx="10947083" cy="802958"/>
          </a:xfrm>
          <a:prstGeom prst="roundRect">
            <a:avLst>
              <a:gd name="adj" fmla="val 913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整体关闭 CFW边缘高光-199">
            <a:extLst>
              <a:ext uri="{FF2B5EF4-FFF2-40B4-BE49-F238E27FC236}">
                <a16:creationId xmlns:a16="http://schemas.microsoft.com/office/drawing/2014/main" id="{26A9A877-12BD-4E95-A20B-200633E4C532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828675"/>
          </a:xfrm>
          <a:custGeom>
            <a:avLst/>
            <a:gdLst/>
            <a:ahLst/>
            <a:cxnLst/>
            <a:rect l="0" t="0" r="0" b="0"/>
            <a:pathLst>
              <a:path w="10972800" h="82867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文字 整体关闭 CFW-200">
            <a:extLst>
              <a:ext uri="{FF2B5EF4-FFF2-40B4-BE49-F238E27FC236}">
                <a16:creationId xmlns:a16="http://schemas.microsoft.com/office/drawing/2014/main" id="{E2CB5C1F-975C-411D-90CD-A2C2863AF9DF}"/>
              </a:ext>
            </a:extLst>
          </p:cNvPr>
          <p:cNvSpPr>
            <a:spLocks noGrp="1"/>
          </p:cNvSpPr>
          <p:nvPr/>
        </p:nvSpPr>
        <p:spPr>
          <a:xfrm>
            <a:off x="790575" y="5153025"/>
            <a:ext cx="1666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整体关闭 CFW</a:t>
            </a:r>
          </a:p>
        </p:txBody>
      </p:sp>
      <p:sp>
        <p:nvSpPr>
          <p:cNvPr id="17" name="统一风格-文字 会改变检查覆盖；如需应急采用，记录风险、持续时间与恢复负责人。-201">
            <a:extLst>
              <a:ext uri="{FF2B5EF4-FFF2-40B4-BE49-F238E27FC236}">
                <a16:creationId xmlns:a16="http://schemas.microsoft.com/office/drawing/2014/main" id="{F8FB4749-7D53-416B-9DFE-EEA376464767}"/>
              </a:ext>
            </a:extLst>
          </p:cNvPr>
          <p:cNvSpPr>
            <a:spLocks noGrp="1"/>
          </p:cNvSpPr>
          <p:nvPr/>
        </p:nvSpPr>
        <p:spPr>
          <a:xfrm>
            <a:off x="2524125" y="5133975"/>
            <a:ext cx="88487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会改变检查覆盖；如需应急采用，记录风险、持续时间与恢复负责人。</a:t>
            </a:r>
          </a:p>
        </p:txBody>
      </p:sp>
    </p:spTree>
    <p:extLst>
      <p:ext uri="{BB962C8B-B14F-4D97-AF65-F5344CB8AC3E}">
        <p14:creationId xmlns:p14="http://schemas.microsoft.com/office/powerpoint/2010/main" val="18246755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文-04  变更与排障">
            <a:extLst>
              <a:ext uri="{FF2B5EF4-FFF2-40B4-BE49-F238E27FC236}">
                <a16:creationId xmlns:a16="http://schemas.microsoft.com/office/drawing/2014/main" id="{9CC1FA48-1C99-4B01-B336-2EE6A6A95ED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F5DF52B9-A37D-474C-AA27-C4E860B323F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验收记录同时覆盖成功、拒绝与路径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7ACFDC4C-B64F-481A-8907-44D334962A19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记录测试时间与时区、源、目的、协议和端口，关联对应日志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AC59F1D3-2CDE-4611-A378-3B63124FE9A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“连接失败”需结合预期阻断日志解释，避免把服务未监听当作策略生效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5D7C350B-E6F1-45E2-857D-9D972446682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1">
            <a:extLst>
              <a:ext uri="{FF2B5EF4-FFF2-40B4-BE49-F238E27FC236}">
                <a16:creationId xmlns:a16="http://schemas.microsoft.com/office/drawing/2014/main" id="{18F63574-60BE-4158-BE1F-556D597976F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7" name="统一风格-表格玻璃容器玻璃后沿-743">
            <a:extLst>
              <a:ext uri="{FF2B5EF4-FFF2-40B4-BE49-F238E27FC236}">
                <a16:creationId xmlns:a16="http://schemas.microsoft.com/office/drawing/2014/main" id="{852D6D2A-52FB-4E2C-A333-8EBDF9DF18D8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744">
            <a:extLst>
              <a:ext uri="{FF2B5EF4-FFF2-40B4-BE49-F238E27FC236}">
                <a16:creationId xmlns:a16="http://schemas.microsoft.com/office/drawing/2014/main" id="{E8383CD1-EC85-4F91-9DE6-C108DD5D9AEC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11125200" cy="3724275"/>
          </a:xfrm>
          <a:prstGeom prst="roundRect">
            <a:avLst>
              <a:gd name="adj" fmla="val 230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745">
            <a:extLst>
              <a:ext uri="{FF2B5EF4-FFF2-40B4-BE49-F238E27FC236}">
                <a16:creationId xmlns:a16="http://schemas.microsoft.com/office/drawing/2014/main" id="{BF82908E-0411-421B-B95F-D389EF13575C}"/>
              </a:ext>
            </a:extLst>
          </p:cNvPr>
          <p:cNvSpPr>
            <a:spLocks noGrp="1"/>
          </p:cNvSpPr>
          <p:nvPr/>
        </p:nvSpPr>
        <p:spPr>
          <a:xfrm>
            <a:off x="546259" y="2175034"/>
            <a:ext cx="11099483" cy="3698558"/>
          </a:xfrm>
          <a:prstGeom prst="roundRect">
            <a:avLst>
              <a:gd name="adj" fmla="val 198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746">
            <a:extLst>
              <a:ext uri="{FF2B5EF4-FFF2-40B4-BE49-F238E27FC236}">
                <a16:creationId xmlns:a16="http://schemas.microsoft.com/office/drawing/2014/main" id="{EC22C1AE-FF9F-43C7-B9A7-9D58CA72E405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11125200" cy="3724275"/>
          </a:xfrm>
          <a:custGeom>
            <a:avLst/>
            <a:gdLst/>
            <a:ahLst/>
            <a:cxnLst/>
            <a:rect l="0" t="0" r="0" b="0"/>
            <a:pathLst>
              <a:path w="11125200" h="37242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3AEE26-9EE8-4AE9-BB75-9C1F82F67D09}"/>
              </a:ext>
            </a:extLst>
          </p:cNvPr>
          <p:cNvGraphicFramePr/>
          <p:nvPr/>
        </p:nvGraphicFramePr>
        <p:xfrm>
          <a:off x="609600" y="2238375"/>
          <a:ext cx="10972800" cy="35718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验证示例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验收记录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访问目标 TCP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连接结果、交易结果、规则命中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同一来源访问目标 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失败结果与预期阻断日志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新建会话并核对对应防护边界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实例、边界、源目的与时间一致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DNS、监控、备份与关键交易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关键依赖正常，回滚步骤已验证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3590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文-04  变更与排障">
            <a:extLst>
              <a:ext uri="{FF2B5EF4-FFF2-40B4-BE49-F238E27FC236}">
                <a16:creationId xmlns:a16="http://schemas.microsoft.com/office/drawing/2014/main" id="{B368B17F-2516-40A9-99FD-35AEFF0D8FC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9F2007B6-9996-4EBB-9C5C-9A6FDB061C9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日志筛选与命中结果示意</a:t>
            </a:r>
          </a:p>
        </p:txBody>
      </p:sp>
      <p:sp>
        <p:nvSpPr>
          <p:cNvPr id="3" name="正文-虚构示例：访问控制查规则动作，攻击事件查 IPS，流量日志核对上报">
            <a:extLst>
              <a:ext uri="{FF2B5EF4-FFF2-40B4-BE49-F238E27FC236}">
                <a16:creationId xmlns:a16="http://schemas.microsoft.com/office/drawing/2014/main" id="{F2BC4793-85A6-4DF5-A11C-E97FD61D9291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虚构示例：访问控制查规则动作，攻击事件查 IPS，流量日志核对上报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A8F10ED4-E98A-4F57-9BA2-90890E3AC5C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流量日志存在会话结束上报等机制。暂未查到日志时先核对上报与筛选条件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36F730B-C007-4E24-B866-2970E4E46D1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2">
            <a:extLst>
              <a:ext uri="{FF2B5EF4-FFF2-40B4-BE49-F238E27FC236}">
                <a16:creationId xmlns:a16="http://schemas.microsoft.com/office/drawing/2014/main" id="{B0F69299-47BF-4AF4-A78F-01FFC6D62B2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7" name="统一风格-official-log-saved 访问控制日志玻璃后沿-747">
            <a:extLst>
              <a:ext uri="{FF2B5EF4-FFF2-40B4-BE49-F238E27FC236}">
                <a16:creationId xmlns:a16="http://schemas.microsoft.com/office/drawing/2014/main" id="{EB4DBF4E-88C6-41A6-B316-CBAB007C40C3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2714625"/>
          </a:xfrm>
          <a:prstGeom prst="roundRect">
            <a:avLst>
              <a:gd name="adj" fmla="val 315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official-log-saved 访问控制日志-748">
            <a:extLst>
              <a:ext uri="{FF2B5EF4-FFF2-40B4-BE49-F238E27FC236}">
                <a16:creationId xmlns:a16="http://schemas.microsoft.com/office/drawing/2014/main" id="{2DFA0C5B-8C10-4B86-AE04-D833811F72E6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2714625"/>
          </a:xfrm>
          <a:prstGeom prst="roundRect">
            <a:avLst>
              <a:gd name="adj" fmla="val 315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official-log-saved 访问控制日志玻璃内沿-749">
            <a:extLst>
              <a:ext uri="{FF2B5EF4-FFF2-40B4-BE49-F238E27FC236}">
                <a16:creationId xmlns:a16="http://schemas.microsoft.com/office/drawing/2014/main" id="{989169E4-457B-4524-8839-049C16543B23}"/>
              </a:ext>
            </a:extLst>
          </p:cNvPr>
          <p:cNvSpPr>
            <a:spLocks noGrp="1"/>
          </p:cNvSpPr>
          <p:nvPr/>
        </p:nvSpPr>
        <p:spPr>
          <a:xfrm>
            <a:off x="622459" y="2041684"/>
            <a:ext cx="10947083" cy="2688908"/>
          </a:xfrm>
          <a:prstGeom prst="roundRect">
            <a:avLst>
              <a:gd name="adj" fmla="val 272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official-log-saved 访问控制日志边缘高光-750">
            <a:extLst>
              <a:ext uri="{FF2B5EF4-FFF2-40B4-BE49-F238E27FC236}">
                <a16:creationId xmlns:a16="http://schemas.microsoft.com/office/drawing/2014/main" id="{8421E14D-1E68-4A93-AE4A-7496A1A94E86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2714625"/>
          </a:xfrm>
          <a:custGeom>
            <a:avLst/>
            <a:gdLst/>
            <a:ahLst/>
            <a:cxnLst/>
            <a:rect l="0" t="0" r="0" b="0"/>
            <a:pathLst>
              <a:path w="10972800" h="2714625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攻击事件日志-751">
            <a:extLst>
              <a:ext uri="{FF2B5EF4-FFF2-40B4-BE49-F238E27FC236}">
                <a16:creationId xmlns:a16="http://schemas.microsoft.com/office/drawing/2014/main" id="{16A93B3C-CE17-4388-90ED-FF714025C78C}"/>
              </a:ext>
            </a:extLst>
          </p:cNvPr>
          <p:cNvSpPr>
            <a:spLocks noGrp="1"/>
          </p:cNvSpPr>
          <p:nvPr/>
        </p:nvSpPr>
        <p:spPr>
          <a:xfrm>
            <a:off x="896983" y="2093459"/>
            <a:ext cx="2612571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攻击事件日志</a:t>
            </a:r>
          </a:p>
        </p:txBody>
      </p:sp>
      <p:sp>
        <p:nvSpPr>
          <p:cNvPr id="12" name="统一风格-文字 访问控制日志-752">
            <a:extLst>
              <a:ext uri="{FF2B5EF4-FFF2-40B4-BE49-F238E27FC236}">
                <a16:creationId xmlns:a16="http://schemas.microsoft.com/office/drawing/2014/main" id="{84F7CCCC-7285-4042-9959-16A91416A9C4}"/>
              </a:ext>
            </a:extLst>
          </p:cNvPr>
          <p:cNvSpPr>
            <a:spLocks noGrp="1"/>
          </p:cNvSpPr>
          <p:nvPr/>
        </p:nvSpPr>
        <p:spPr>
          <a:xfrm>
            <a:off x="4410891" y="2093459"/>
            <a:ext cx="2952206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访问控制日志</a:t>
            </a:r>
          </a:p>
        </p:txBody>
      </p:sp>
      <p:sp>
        <p:nvSpPr>
          <p:cNvPr id="13" name="统一风格-文字 流量日志-753">
            <a:extLst>
              <a:ext uri="{FF2B5EF4-FFF2-40B4-BE49-F238E27FC236}">
                <a16:creationId xmlns:a16="http://schemas.microsoft.com/office/drawing/2014/main" id="{79918476-8110-4039-AEC3-A4F96D71BD60}"/>
              </a:ext>
            </a:extLst>
          </p:cNvPr>
          <p:cNvSpPr>
            <a:spLocks noGrp="1"/>
          </p:cNvSpPr>
          <p:nvPr/>
        </p:nvSpPr>
        <p:spPr>
          <a:xfrm>
            <a:off x="8316686" y="2093459"/>
            <a:ext cx="2743200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流量日志</a:t>
            </a:r>
          </a:p>
        </p:txBody>
      </p:sp>
      <p:cxnSp>
        <p:nvCxnSpPr>
          <p:cNvPr id="14" name="统一拓扑-official-log-saved-连线-1">
            <a:extLst>
              <a:ext uri="{FF2B5EF4-FFF2-40B4-BE49-F238E27FC236}">
                <a16:creationId xmlns:a16="http://schemas.microsoft.com/office/drawing/2014/main" id="{E0729643-1674-4AB4-BBB0-1B9B487DDEEC}"/>
              </a:ext>
            </a:extLst>
          </p:cNvPr>
          <p:cNvCxnSpPr/>
          <p:nvPr/>
        </p:nvCxnSpPr>
        <p:spPr>
          <a:xfrm>
            <a:off x="4528457" y="2384312"/>
            <a:ext cx="2717074" cy="0"/>
          </a:xfrm>
          <a:prstGeom prst="straightConnector1">
            <a:avLst/>
          </a:prstGeom>
          <a:ln w="9695">
            <a:solidFill>
              <a:srgbClr val="2053C3"/>
            </a:solidFill>
            <a:prstDash val="solid"/>
          </a:ln>
        </p:spPr>
      </p:cxnSp>
      <p:sp>
        <p:nvSpPr>
          <p:cNvPr id="15" name="统一风格-文字 VPC 边界-754">
            <a:extLst>
              <a:ext uri="{FF2B5EF4-FFF2-40B4-BE49-F238E27FC236}">
                <a16:creationId xmlns:a16="http://schemas.microsoft.com/office/drawing/2014/main" id="{435809BE-053E-4CA7-8890-9F47B1B135AD}"/>
              </a:ext>
            </a:extLst>
          </p:cNvPr>
          <p:cNvSpPr>
            <a:spLocks noGrp="1"/>
          </p:cNvSpPr>
          <p:nvPr/>
        </p:nvSpPr>
        <p:spPr>
          <a:xfrm>
            <a:off x="949234" y="2468336"/>
            <a:ext cx="2286000" cy="24560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</a:t>
            </a:r>
          </a:p>
        </p:txBody>
      </p:sp>
      <p:sp>
        <p:nvSpPr>
          <p:cNvPr id="16" name="统一风格-文字 源 IP：10.20.10.15-755">
            <a:extLst>
              <a:ext uri="{FF2B5EF4-FFF2-40B4-BE49-F238E27FC236}">
                <a16:creationId xmlns:a16="http://schemas.microsoft.com/office/drawing/2014/main" id="{AA706285-8CE1-4910-8966-2D2A0E305052}"/>
              </a:ext>
            </a:extLst>
          </p:cNvPr>
          <p:cNvSpPr>
            <a:spLocks noGrp="1"/>
          </p:cNvSpPr>
          <p:nvPr/>
        </p:nvSpPr>
        <p:spPr>
          <a:xfrm>
            <a:off x="949234" y="2785042"/>
            <a:ext cx="4767943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 IP：10.20.10.15</a:t>
            </a:r>
          </a:p>
        </p:txBody>
      </p:sp>
      <p:sp>
        <p:nvSpPr>
          <p:cNvPr id="17" name="统一风格-文字 目的 IP：10.30.20.10-756">
            <a:extLst>
              <a:ext uri="{FF2B5EF4-FFF2-40B4-BE49-F238E27FC236}">
                <a16:creationId xmlns:a16="http://schemas.microsoft.com/office/drawing/2014/main" id="{10AF9AAF-2BA4-4CF5-B3BC-BF6D0E079231}"/>
              </a:ext>
            </a:extLst>
          </p:cNvPr>
          <p:cNvSpPr>
            <a:spLocks noGrp="1"/>
          </p:cNvSpPr>
          <p:nvPr/>
        </p:nvSpPr>
        <p:spPr>
          <a:xfrm>
            <a:off x="6226629" y="2785042"/>
            <a:ext cx="4963886" cy="2714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目的 IP：10.30.20.10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2FF73D2-28D1-4E6C-BDD5-7FF8E3C15C7B}"/>
              </a:ext>
            </a:extLst>
          </p:cNvPr>
          <p:cNvGraphicFramePr/>
          <p:nvPr/>
        </p:nvGraphicFramePr>
        <p:xfrm>
          <a:off x="870857" y="3243943"/>
          <a:ext cx="10450286" cy="1331459"/>
        </p:xfrm>
        <a:graphic>
          <a:graphicData uri="http://schemas.openxmlformats.org/drawingml/2006/table">
            <a:tbl>
              <a:tblPr/>
              <a:tblGrid>
                <a:gridCol w="2090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1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38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 IP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IP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 / 端口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命中规则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2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订单数据库访问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2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10.30.20.10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 SSH 访问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版式分隔线">
            <a:extLst>
              <a:ext uri="{FF2B5EF4-FFF2-40B4-BE49-F238E27FC236}">
                <a16:creationId xmlns:a16="http://schemas.microsoft.com/office/drawing/2014/main" id="{4FD3CDA1-C0C5-4049-B279-6AFF63B9130B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xt-18">
            <a:extLst>
              <a:ext uri="{FF2B5EF4-FFF2-40B4-BE49-F238E27FC236}">
                <a16:creationId xmlns:a16="http://schemas.microsoft.com/office/drawing/2014/main" id="{45D0431E-BC1E-43D5-9059-491A9174166B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01 确认范围</a:t>
            </a:r>
          </a:p>
        </p:txBody>
      </p:sp>
      <p:sp>
        <p:nvSpPr>
          <p:cNvPr id="21" name="txt-19">
            <a:extLst>
              <a:ext uri="{FF2B5EF4-FFF2-40B4-BE49-F238E27FC236}">
                <a16:creationId xmlns:a16="http://schemas.microsoft.com/office/drawing/2014/main" id="{5EA83E1F-752A-4140-B0F0-30C9606FA79E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3238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实例、日志类型与防护边界</a:t>
            </a:r>
          </a:p>
        </p:txBody>
      </p:sp>
      <p:sp>
        <p:nvSpPr>
          <p:cNvPr id="22" name="版式分隔线">
            <a:extLst>
              <a:ext uri="{FF2B5EF4-FFF2-40B4-BE49-F238E27FC236}">
                <a16:creationId xmlns:a16="http://schemas.microsoft.com/office/drawing/2014/main" id="{08D6476B-6B1D-4250-BCB9-454ACF0C4AE4}"/>
              </a:ext>
            </a:extLst>
          </p:cNvPr>
          <p:cNvSpPr>
            <a:spLocks noGrp="1"/>
          </p:cNvSpPr>
          <p:nvPr/>
        </p:nvSpPr>
        <p:spPr>
          <a:xfrm>
            <a:off x="4524375" y="486727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xt-21">
            <a:extLst>
              <a:ext uri="{FF2B5EF4-FFF2-40B4-BE49-F238E27FC236}">
                <a16:creationId xmlns:a16="http://schemas.microsoft.com/office/drawing/2014/main" id="{31025AE8-A964-435A-86E5-2BD27244C456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02 筛选业务流</a:t>
            </a:r>
          </a:p>
        </p:txBody>
      </p:sp>
      <p:sp>
        <p:nvSpPr>
          <p:cNvPr id="24" name="txt-22">
            <a:extLst>
              <a:ext uri="{FF2B5EF4-FFF2-40B4-BE49-F238E27FC236}">
                <a16:creationId xmlns:a16="http://schemas.microsoft.com/office/drawing/2014/main" id="{020858A4-F7E9-4ACD-BE08-8ABD705D53FC}"/>
              </a:ext>
            </a:extLst>
          </p:cNvPr>
          <p:cNvSpPr>
            <a:spLocks noGrp="1"/>
          </p:cNvSpPr>
          <p:nvPr/>
        </p:nvSpPr>
        <p:spPr>
          <a:xfrm>
            <a:off x="4524375" y="5362575"/>
            <a:ext cx="3238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时间、源目的、协议与端口</a:t>
            </a:r>
          </a:p>
        </p:txBody>
      </p:sp>
      <p:sp>
        <p:nvSpPr>
          <p:cNvPr id="25" name="版式分隔线">
            <a:extLst>
              <a:ext uri="{FF2B5EF4-FFF2-40B4-BE49-F238E27FC236}">
                <a16:creationId xmlns:a16="http://schemas.microsoft.com/office/drawing/2014/main" id="{4FA3335C-28C1-4539-9241-8ABDBC5BA447}"/>
              </a:ext>
            </a:extLst>
          </p:cNvPr>
          <p:cNvSpPr>
            <a:spLocks noGrp="1"/>
          </p:cNvSpPr>
          <p:nvPr/>
        </p:nvSpPr>
        <p:spPr>
          <a:xfrm>
            <a:off x="8439150" y="486727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xt-24">
            <a:extLst>
              <a:ext uri="{FF2B5EF4-FFF2-40B4-BE49-F238E27FC236}">
                <a16:creationId xmlns:a16="http://schemas.microsoft.com/office/drawing/2014/main" id="{28DD3A5D-2E86-4E1C-912A-338F5001283D}"/>
              </a:ext>
            </a:extLst>
          </p:cNvPr>
          <p:cNvSpPr>
            <a:spLocks noGrp="1"/>
          </p:cNvSpPr>
          <p:nvPr/>
        </p:nvSpPr>
        <p:spPr>
          <a:xfrm>
            <a:off x="8439150" y="4953000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03 关联结果</a:t>
            </a:r>
          </a:p>
        </p:txBody>
      </p:sp>
      <p:sp>
        <p:nvSpPr>
          <p:cNvPr id="27" name="txt-25">
            <a:extLst>
              <a:ext uri="{FF2B5EF4-FFF2-40B4-BE49-F238E27FC236}">
                <a16:creationId xmlns:a16="http://schemas.microsoft.com/office/drawing/2014/main" id="{A4A8F51B-A7D0-438B-9115-1AB5F7CC9002}"/>
              </a:ext>
            </a:extLst>
          </p:cNvPr>
          <p:cNvSpPr>
            <a:spLocks noGrp="1"/>
          </p:cNvSpPr>
          <p:nvPr/>
        </p:nvSpPr>
        <p:spPr>
          <a:xfrm>
            <a:off x="8439150" y="5362575"/>
            <a:ext cx="314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17234613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正文-04  变更与排障">
            <a:extLst>
              <a:ext uri="{FF2B5EF4-FFF2-40B4-BE49-F238E27FC236}">
                <a16:creationId xmlns:a16="http://schemas.microsoft.com/office/drawing/2014/main" id="{8AC8DFC5-94F7-44E1-924F-87477374C8E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  变更与排障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7D5AD90-A512-4AF8-86DC-21AF2BA3199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排障按证据分支推进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E17F15BD-DEC9-4521-B0D6-FFA13956845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先确定检查点的观测结果，再定位具体控制层</a:t>
            </a:r>
          </a:p>
        </p:txBody>
      </p:sp>
      <p:sp>
        <p:nvSpPr>
          <p:cNvPr id="4" name="正文-逻辑架构示意，具体配置以实际区域、版本与网络路径为准">
            <a:extLst>
              <a:ext uri="{FF2B5EF4-FFF2-40B4-BE49-F238E27FC236}">
                <a16:creationId xmlns:a16="http://schemas.microsoft.com/office/drawing/2014/main" id="{A8727658-834B-406D-9203-A314A3B8714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逻辑架构示意，具体配置以实际区域、版本与网络路径为准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E8B39867-7276-49CD-A0F9-498AA5E549B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3">
            <a:extLst>
              <a:ext uri="{FF2B5EF4-FFF2-40B4-BE49-F238E27FC236}">
                <a16:creationId xmlns:a16="http://schemas.microsoft.com/office/drawing/2014/main" id="{074878A1-4317-4DE1-81BE-EA15C69E5A2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cxnSp>
        <p:nvCxnSpPr>
          <p:cNvPr id="7" name="统一拓扑-triage-连线-1">
            <a:extLst>
              <a:ext uri="{FF2B5EF4-FFF2-40B4-BE49-F238E27FC236}">
                <a16:creationId xmlns:a16="http://schemas.microsoft.com/office/drawing/2014/main" id="{C3E37955-C17C-4CD6-B3C6-249C9536B8C8}"/>
              </a:ext>
            </a:extLst>
          </p:cNvPr>
          <p:cNvCxnSpPr/>
          <p:nvPr/>
        </p:nvCxnSpPr>
        <p:spPr>
          <a:xfrm>
            <a:off x="4533900" y="2561771"/>
            <a:ext cx="0" cy="26162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8" name="统一拓扑-triage-连线-2">
            <a:extLst>
              <a:ext uri="{FF2B5EF4-FFF2-40B4-BE49-F238E27FC236}">
                <a16:creationId xmlns:a16="http://schemas.microsoft.com/office/drawing/2014/main" id="{CE74FEF6-70F8-4656-BC89-8C9C41BC5069}"/>
              </a:ext>
            </a:extLst>
          </p:cNvPr>
          <p:cNvCxnSpPr/>
          <p:nvPr/>
        </p:nvCxnSpPr>
        <p:spPr>
          <a:xfrm>
            <a:off x="4533900" y="3365319"/>
            <a:ext cx="0" cy="149497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9" name="统一拓扑-triage-连线-3">
            <a:extLst>
              <a:ext uri="{FF2B5EF4-FFF2-40B4-BE49-F238E27FC236}">
                <a16:creationId xmlns:a16="http://schemas.microsoft.com/office/drawing/2014/main" id="{E35CEF5E-4E5B-4C10-94EC-1D7008FCBDF3}"/>
              </a:ext>
            </a:extLst>
          </p:cNvPr>
          <p:cNvCxnSpPr/>
          <p:nvPr/>
        </p:nvCxnSpPr>
        <p:spPr>
          <a:xfrm flipH="1">
            <a:off x="2525032" y="3514816"/>
            <a:ext cx="200886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0" name="统一拓扑-triage-连线-4">
            <a:extLst>
              <a:ext uri="{FF2B5EF4-FFF2-40B4-BE49-F238E27FC236}">
                <a16:creationId xmlns:a16="http://schemas.microsoft.com/office/drawing/2014/main" id="{D24930EA-5572-44D0-A0D2-A7B88DD345B7}"/>
              </a:ext>
            </a:extLst>
          </p:cNvPr>
          <p:cNvCxnSpPr/>
          <p:nvPr/>
        </p:nvCxnSpPr>
        <p:spPr>
          <a:xfrm>
            <a:off x="2525032" y="3514816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1" name="统一拓扑-triage-连线-5">
            <a:extLst>
              <a:ext uri="{FF2B5EF4-FFF2-40B4-BE49-F238E27FC236}">
                <a16:creationId xmlns:a16="http://schemas.microsoft.com/office/drawing/2014/main" id="{11C356C9-006A-48FC-B858-8053B60EE8EB}"/>
              </a:ext>
            </a:extLst>
          </p:cNvPr>
          <p:cNvCxnSpPr/>
          <p:nvPr/>
        </p:nvCxnSpPr>
        <p:spPr>
          <a:xfrm>
            <a:off x="4533900" y="3365319"/>
            <a:ext cx="0" cy="149497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2" name="统一拓扑-triage-连线-6">
            <a:extLst>
              <a:ext uri="{FF2B5EF4-FFF2-40B4-BE49-F238E27FC236}">
                <a16:creationId xmlns:a16="http://schemas.microsoft.com/office/drawing/2014/main" id="{F197EACB-47DA-4578-9766-2246898BC0BE}"/>
              </a:ext>
            </a:extLst>
          </p:cNvPr>
          <p:cNvCxnSpPr/>
          <p:nvPr/>
        </p:nvCxnSpPr>
        <p:spPr>
          <a:xfrm>
            <a:off x="4533900" y="3514816"/>
            <a:ext cx="200886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3" name="统一拓扑-triage-连线-7">
            <a:extLst>
              <a:ext uri="{FF2B5EF4-FFF2-40B4-BE49-F238E27FC236}">
                <a16:creationId xmlns:a16="http://schemas.microsoft.com/office/drawing/2014/main" id="{9CB1E696-C93A-4E78-9995-FEF9D1E4C2DD}"/>
              </a:ext>
            </a:extLst>
          </p:cNvPr>
          <p:cNvCxnSpPr/>
          <p:nvPr/>
        </p:nvCxnSpPr>
        <p:spPr>
          <a:xfrm>
            <a:off x="6542768" y="3514816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4" name="统一拓扑-triage-连线-8">
            <a:extLst>
              <a:ext uri="{FF2B5EF4-FFF2-40B4-BE49-F238E27FC236}">
                <a16:creationId xmlns:a16="http://schemas.microsoft.com/office/drawing/2014/main" id="{17881721-9FCB-43DA-ADAD-118311C58697}"/>
              </a:ext>
            </a:extLst>
          </p:cNvPr>
          <p:cNvCxnSpPr/>
          <p:nvPr/>
        </p:nvCxnSpPr>
        <p:spPr>
          <a:xfrm>
            <a:off x="2525032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5" name="统一拓扑-triage-连线-9">
            <a:extLst>
              <a:ext uri="{FF2B5EF4-FFF2-40B4-BE49-F238E27FC236}">
                <a16:creationId xmlns:a16="http://schemas.microsoft.com/office/drawing/2014/main" id="{D5EFF9D2-322D-4A2A-8646-4F06CED6267D}"/>
              </a:ext>
            </a:extLst>
          </p:cNvPr>
          <p:cNvCxnSpPr/>
          <p:nvPr/>
        </p:nvCxnSpPr>
        <p:spPr>
          <a:xfrm flipH="1">
            <a:off x="1525270" y="4346394"/>
            <a:ext cx="999762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6" name="统一拓扑-triage-连线-10">
            <a:extLst>
              <a:ext uri="{FF2B5EF4-FFF2-40B4-BE49-F238E27FC236}">
                <a16:creationId xmlns:a16="http://schemas.microsoft.com/office/drawing/2014/main" id="{2E1B0D13-4483-42C5-B984-13BE07242ACB}"/>
              </a:ext>
            </a:extLst>
          </p:cNvPr>
          <p:cNvCxnSpPr/>
          <p:nvPr/>
        </p:nvCxnSpPr>
        <p:spPr>
          <a:xfrm>
            <a:off x="152527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17" name="统一拓扑-triage-连线-11">
            <a:extLst>
              <a:ext uri="{FF2B5EF4-FFF2-40B4-BE49-F238E27FC236}">
                <a16:creationId xmlns:a16="http://schemas.microsoft.com/office/drawing/2014/main" id="{16C2B563-D562-4DFF-A432-CA74B0EB88BF}"/>
              </a:ext>
            </a:extLst>
          </p:cNvPr>
          <p:cNvCxnSpPr/>
          <p:nvPr/>
        </p:nvCxnSpPr>
        <p:spPr>
          <a:xfrm>
            <a:off x="2525032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8" name="统一拓扑-triage-连线-12">
            <a:extLst>
              <a:ext uri="{FF2B5EF4-FFF2-40B4-BE49-F238E27FC236}">
                <a16:creationId xmlns:a16="http://schemas.microsoft.com/office/drawing/2014/main" id="{AE7DF3EC-9F34-4055-ACBC-E590E0F78814}"/>
              </a:ext>
            </a:extLst>
          </p:cNvPr>
          <p:cNvCxnSpPr/>
          <p:nvPr/>
        </p:nvCxnSpPr>
        <p:spPr>
          <a:xfrm>
            <a:off x="2525032" y="4346394"/>
            <a:ext cx="96238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19" name="统一拓扑-triage-连线-13">
            <a:extLst>
              <a:ext uri="{FF2B5EF4-FFF2-40B4-BE49-F238E27FC236}">
                <a16:creationId xmlns:a16="http://schemas.microsoft.com/office/drawing/2014/main" id="{94873733-8C8E-403C-BD57-CC44445D2228}"/>
              </a:ext>
            </a:extLst>
          </p:cNvPr>
          <p:cNvCxnSpPr/>
          <p:nvPr/>
        </p:nvCxnSpPr>
        <p:spPr>
          <a:xfrm>
            <a:off x="348742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0" name="统一拓扑-triage-连线-14">
            <a:extLst>
              <a:ext uri="{FF2B5EF4-FFF2-40B4-BE49-F238E27FC236}">
                <a16:creationId xmlns:a16="http://schemas.microsoft.com/office/drawing/2014/main" id="{C5FA5EFF-DA61-4FDA-BC28-823EC467C502}"/>
              </a:ext>
            </a:extLst>
          </p:cNvPr>
          <p:cNvCxnSpPr/>
          <p:nvPr/>
        </p:nvCxnSpPr>
        <p:spPr>
          <a:xfrm>
            <a:off x="6542768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1" name="统一拓扑-triage-连线-15">
            <a:extLst>
              <a:ext uri="{FF2B5EF4-FFF2-40B4-BE49-F238E27FC236}">
                <a16:creationId xmlns:a16="http://schemas.microsoft.com/office/drawing/2014/main" id="{3EB8E37A-1EBF-4363-80FA-12DBD31481D7}"/>
              </a:ext>
            </a:extLst>
          </p:cNvPr>
          <p:cNvCxnSpPr/>
          <p:nvPr/>
        </p:nvCxnSpPr>
        <p:spPr>
          <a:xfrm flipH="1">
            <a:off x="5580380" y="4346394"/>
            <a:ext cx="962388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2" name="统一拓扑-triage-连线-16">
            <a:extLst>
              <a:ext uri="{FF2B5EF4-FFF2-40B4-BE49-F238E27FC236}">
                <a16:creationId xmlns:a16="http://schemas.microsoft.com/office/drawing/2014/main" id="{43F975C6-6640-485D-B14D-1B5099054ADF}"/>
              </a:ext>
            </a:extLst>
          </p:cNvPr>
          <p:cNvCxnSpPr/>
          <p:nvPr/>
        </p:nvCxnSpPr>
        <p:spPr>
          <a:xfrm>
            <a:off x="558038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3" name="统一拓扑-triage-连线-17">
            <a:extLst>
              <a:ext uri="{FF2B5EF4-FFF2-40B4-BE49-F238E27FC236}">
                <a16:creationId xmlns:a16="http://schemas.microsoft.com/office/drawing/2014/main" id="{C8BD4B6D-8AF6-48DA-8DC2-FC7387EF644F}"/>
              </a:ext>
            </a:extLst>
          </p:cNvPr>
          <p:cNvCxnSpPr/>
          <p:nvPr/>
        </p:nvCxnSpPr>
        <p:spPr>
          <a:xfrm>
            <a:off x="6542768" y="4243614"/>
            <a:ext cx="0" cy="102779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4" name="统一拓扑-triage-连线-18">
            <a:extLst>
              <a:ext uri="{FF2B5EF4-FFF2-40B4-BE49-F238E27FC236}">
                <a16:creationId xmlns:a16="http://schemas.microsoft.com/office/drawing/2014/main" id="{9CD92E5C-10E4-4964-893A-AD19F9C5383F}"/>
              </a:ext>
            </a:extLst>
          </p:cNvPr>
          <p:cNvCxnSpPr/>
          <p:nvPr/>
        </p:nvCxnSpPr>
        <p:spPr>
          <a:xfrm>
            <a:off x="6542768" y="4346394"/>
            <a:ext cx="999762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</a:ln>
        </p:spPr>
      </p:cxnSp>
      <p:cxnSp>
        <p:nvCxnSpPr>
          <p:cNvPr id="25" name="统一拓扑-triage-连线-19">
            <a:extLst>
              <a:ext uri="{FF2B5EF4-FFF2-40B4-BE49-F238E27FC236}">
                <a16:creationId xmlns:a16="http://schemas.microsoft.com/office/drawing/2014/main" id="{5F7F8EE6-93F6-41C6-A835-4CFF14D95764}"/>
              </a:ext>
            </a:extLst>
          </p:cNvPr>
          <p:cNvCxnSpPr/>
          <p:nvPr/>
        </p:nvCxnSpPr>
        <p:spPr>
          <a:xfrm>
            <a:off x="7542530" y="4346394"/>
            <a:ext cx="0" cy="186871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26" name="统一拓扑-triage-连线-20">
            <a:extLst>
              <a:ext uri="{FF2B5EF4-FFF2-40B4-BE49-F238E27FC236}">
                <a16:creationId xmlns:a16="http://schemas.microsoft.com/office/drawing/2014/main" id="{E7CCAF10-5C41-4EDF-AD7F-B91F87CCF77D}"/>
              </a:ext>
            </a:extLst>
          </p:cNvPr>
          <p:cNvCxnSpPr/>
          <p:nvPr/>
        </p:nvCxnSpPr>
        <p:spPr>
          <a:xfrm>
            <a:off x="152527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7" name="统一拓扑-triage-连线-21">
            <a:extLst>
              <a:ext uri="{FF2B5EF4-FFF2-40B4-BE49-F238E27FC236}">
                <a16:creationId xmlns:a16="http://schemas.microsoft.com/office/drawing/2014/main" id="{4D203BFD-8497-46A4-97E0-B481D2EC714E}"/>
              </a:ext>
            </a:extLst>
          </p:cNvPr>
          <p:cNvCxnSpPr/>
          <p:nvPr/>
        </p:nvCxnSpPr>
        <p:spPr>
          <a:xfrm>
            <a:off x="1525270" y="5327469"/>
            <a:ext cx="300863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8" name="统一拓扑-triage-连线-22">
            <a:extLst>
              <a:ext uri="{FF2B5EF4-FFF2-40B4-BE49-F238E27FC236}">
                <a16:creationId xmlns:a16="http://schemas.microsoft.com/office/drawing/2014/main" id="{E3285CD9-5881-47EE-9B05-DDD25BA599C4}"/>
              </a:ext>
            </a:extLst>
          </p:cNvPr>
          <p:cNvCxnSpPr/>
          <p:nvPr/>
        </p:nvCxnSpPr>
        <p:spPr>
          <a:xfrm>
            <a:off x="348742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9" name="统一拓扑-triage-连线-23">
            <a:extLst>
              <a:ext uri="{FF2B5EF4-FFF2-40B4-BE49-F238E27FC236}">
                <a16:creationId xmlns:a16="http://schemas.microsoft.com/office/drawing/2014/main" id="{98808CDB-9CAD-42FA-B400-93D04B86A73E}"/>
              </a:ext>
            </a:extLst>
          </p:cNvPr>
          <p:cNvCxnSpPr/>
          <p:nvPr/>
        </p:nvCxnSpPr>
        <p:spPr>
          <a:xfrm>
            <a:off x="3487420" y="5327469"/>
            <a:ext cx="104648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0" name="统一拓扑-triage-连线-24">
            <a:extLst>
              <a:ext uri="{FF2B5EF4-FFF2-40B4-BE49-F238E27FC236}">
                <a16:creationId xmlns:a16="http://schemas.microsoft.com/office/drawing/2014/main" id="{96FC50A9-91FB-4B4E-A7B8-E720542F0EE7}"/>
              </a:ext>
            </a:extLst>
          </p:cNvPr>
          <p:cNvCxnSpPr/>
          <p:nvPr/>
        </p:nvCxnSpPr>
        <p:spPr>
          <a:xfrm>
            <a:off x="558038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1" name="统一拓扑-triage-连线-25">
            <a:extLst>
              <a:ext uri="{FF2B5EF4-FFF2-40B4-BE49-F238E27FC236}">
                <a16:creationId xmlns:a16="http://schemas.microsoft.com/office/drawing/2014/main" id="{5F165B11-3BD0-42B7-8C63-5205F72B7B64}"/>
              </a:ext>
            </a:extLst>
          </p:cNvPr>
          <p:cNvCxnSpPr/>
          <p:nvPr/>
        </p:nvCxnSpPr>
        <p:spPr>
          <a:xfrm flipH="1">
            <a:off x="4533900" y="5327469"/>
            <a:ext cx="104648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2" name="统一拓扑-triage-连线-26">
            <a:extLst>
              <a:ext uri="{FF2B5EF4-FFF2-40B4-BE49-F238E27FC236}">
                <a16:creationId xmlns:a16="http://schemas.microsoft.com/office/drawing/2014/main" id="{9E58DB9D-36E5-4C8A-981E-A793604CE6CC}"/>
              </a:ext>
            </a:extLst>
          </p:cNvPr>
          <p:cNvCxnSpPr/>
          <p:nvPr/>
        </p:nvCxnSpPr>
        <p:spPr>
          <a:xfrm>
            <a:off x="7542530" y="5140597"/>
            <a:ext cx="0" cy="186871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3" name="统一拓扑-triage-连线-27">
            <a:extLst>
              <a:ext uri="{FF2B5EF4-FFF2-40B4-BE49-F238E27FC236}">
                <a16:creationId xmlns:a16="http://schemas.microsoft.com/office/drawing/2014/main" id="{A8B3A87C-C842-49CD-BC05-7C5F7851B8B0}"/>
              </a:ext>
            </a:extLst>
          </p:cNvPr>
          <p:cNvCxnSpPr/>
          <p:nvPr/>
        </p:nvCxnSpPr>
        <p:spPr>
          <a:xfrm flipH="1">
            <a:off x="4533900" y="5327469"/>
            <a:ext cx="3008630" cy="0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34" name="统一拓扑-triage-连线-28">
            <a:extLst>
              <a:ext uri="{FF2B5EF4-FFF2-40B4-BE49-F238E27FC236}">
                <a16:creationId xmlns:a16="http://schemas.microsoft.com/office/drawing/2014/main" id="{BFA42E42-BCE9-4A51-BC4F-88092D666F4B}"/>
              </a:ext>
            </a:extLst>
          </p:cNvPr>
          <p:cNvCxnSpPr/>
          <p:nvPr/>
        </p:nvCxnSpPr>
        <p:spPr>
          <a:xfrm>
            <a:off x="4533900" y="5327469"/>
            <a:ext cx="0" cy="140154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5" name="统一风格-triage 业务访问失败玻璃后沿-757">
            <a:extLst>
              <a:ext uri="{FF2B5EF4-FFF2-40B4-BE49-F238E27FC236}">
                <a16:creationId xmlns:a16="http://schemas.microsoft.com/office/drawing/2014/main" id="{47809BEF-5FA5-4501-922E-34D351DCB558}"/>
              </a:ext>
            </a:extLst>
          </p:cNvPr>
          <p:cNvSpPr>
            <a:spLocks noGrp="1"/>
          </p:cNvSpPr>
          <p:nvPr/>
        </p:nvSpPr>
        <p:spPr>
          <a:xfrm>
            <a:off x="2945493" y="2047875"/>
            <a:ext cx="3176814" cy="513896"/>
          </a:xfrm>
          <a:prstGeom prst="roundRect">
            <a:avLst>
              <a:gd name="adj" fmla="val 1668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triage 业务访问失败-758">
            <a:extLst>
              <a:ext uri="{FF2B5EF4-FFF2-40B4-BE49-F238E27FC236}">
                <a16:creationId xmlns:a16="http://schemas.microsoft.com/office/drawing/2014/main" id="{B1A686AE-5279-4AFC-BFDA-5ECC9D043541}"/>
              </a:ext>
            </a:extLst>
          </p:cNvPr>
          <p:cNvSpPr>
            <a:spLocks noGrp="1"/>
          </p:cNvSpPr>
          <p:nvPr/>
        </p:nvSpPr>
        <p:spPr>
          <a:xfrm>
            <a:off x="2945493" y="2047875"/>
            <a:ext cx="3176814" cy="513896"/>
          </a:xfrm>
          <a:prstGeom prst="roundRect">
            <a:avLst>
              <a:gd name="adj" fmla="val 1668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triage 业务访问失败玻璃内沿-759">
            <a:extLst>
              <a:ext uri="{FF2B5EF4-FFF2-40B4-BE49-F238E27FC236}">
                <a16:creationId xmlns:a16="http://schemas.microsoft.com/office/drawing/2014/main" id="{5C28CAC5-99F5-4B96-BBF0-8BF347E21903}"/>
              </a:ext>
            </a:extLst>
          </p:cNvPr>
          <p:cNvSpPr>
            <a:spLocks noGrp="1"/>
          </p:cNvSpPr>
          <p:nvPr/>
        </p:nvSpPr>
        <p:spPr>
          <a:xfrm>
            <a:off x="2958352" y="2060734"/>
            <a:ext cx="3151097" cy="488179"/>
          </a:xfrm>
          <a:prstGeom prst="roundRect">
            <a:avLst>
              <a:gd name="adj" fmla="val 1502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triage 业务访问失败边缘高光-760">
            <a:extLst>
              <a:ext uri="{FF2B5EF4-FFF2-40B4-BE49-F238E27FC236}">
                <a16:creationId xmlns:a16="http://schemas.microsoft.com/office/drawing/2014/main" id="{68580D10-CC07-475B-A93A-5402B471DADC}"/>
              </a:ext>
            </a:extLst>
          </p:cNvPr>
          <p:cNvSpPr>
            <a:spLocks noGrp="1"/>
          </p:cNvSpPr>
          <p:nvPr/>
        </p:nvSpPr>
        <p:spPr>
          <a:xfrm>
            <a:off x="2945493" y="2047875"/>
            <a:ext cx="3176814" cy="513896"/>
          </a:xfrm>
          <a:custGeom>
            <a:avLst/>
            <a:gdLst/>
            <a:ahLst/>
            <a:cxnLst/>
            <a:rect l="0" t="0" r="0" b="0"/>
            <a:pathLst>
              <a:path w="3176814" h="513896">
                <a:moveTo>
                  <a:pt x="95250" y="9525"/>
                </a:moveTo>
                <a:lnTo>
                  <a:pt x="3081564" y="9525"/>
                </a:lnTo>
                <a:cubicBezTo>
                  <a:pt x="3129189" y="9525"/>
                  <a:pt x="3167289" y="47625"/>
                  <a:pt x="3167289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业务访问失败-761">
            <a:extLst>
              <a:ext uri="{FF2B5EF4-FFF2-40B4-BE49-F238E27FC236}">
                <a16:creationId xmlns:a16="http://schemas.microsoft.com/office/drawing/2014/main" id="{ABA4558E-6918-4DCA-8E34-8E7408B7245B}"/>
              </a:ext>
            </a:extLst>
          </p:cNvPr>
          <p:cNvSpPr>
            <a:spLocks noGrp="1"/>
          </p:cNvSpPr>
          <p:nvPr/>
        </p:nvSpPr>
        <p:spPr>
          <a:xfrm>
            <a:off x="3038929" y="2113280"/>
            <a:ext cx="2989943" cy="3830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业务访问失败</a:t>
            </a:r>
          </a:p>
        </p:txBody>
      </p:sp>
      <p:sp>
        <p:nvSpPr>
          <p:cNvPr id="40" name="统一风格-triage 源、目的、时间确认玻璃后沿-762">
            <a:extLst>
              <a:ext uri="{FF2B5EF4-FFF2-40B4-BE49-F238E27FC236}">
                <a16:creationId xmlns:a16="http://schemas.microsoft.com/office/drawing/2014/main" id="{C6B1A851-079B-484B-A3B5-721BB25F2DA7}"/>
              </a:ext>
            </a:extLst>
          </p:cNvPr>
          <p:cNvSpPr>
            <a:spLocks noGrp="1"/>
          </p:cNvSpPr>
          <p:nvPr/>
        </p:nvSpPr>
        <p:spPr>
          <a:xfrm>
            <a:off x="2945493" y="2823391"/>
            <a:ext cx="3176814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triage 源、目的、时间确认-763">
            <a:extLst>
              <a:ext uri="{FF2B5EF4-FFF2-40B4-BE49-F238E27FC236}">
                <a16:creationId xmlns:a16="http://schemas.microsoft.com/office/drawing/2014/main" id="{4553EDB2-0F79-4B8F-ACBF-C1CC15C40BE0}"/>
              </a:ext>
            </a:extLst>
          </p:cNvPr>
          <p:cNvSpPr>
            <a:spLocks noGrp="1"/>
          </p:cNvSpPr>
          <p:nvPr/>
        </p:nvSpPr>
        <p:spPr>
          <a:xfrm>
            <a:off x="2945493" y="2823391"/>
            <a:ext cx="3176814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triage 源、目的、时间确认玻璃内沿-764">
            <a:extLst>
              <a:ext uri="{FF2B5EF4-FFF2-40B4-BE49-F238E27FC236}">
                <a16:creationId xmlns:a16="http://schemas.microsoft.com/office/drawing/2014/main" id="{5241682D-CDD4-42D2-9245-7534786C8F20}"/>
              </a:ext>
            </a:extLst>
          </p:cNvPr>
          <p:cNvSpPr>
            <a:spLocks noGrp="1"/>
          </p:cNvSpPr>
          <p:nvPr/>
        </p:nvSpPr>
        <p:spPr>
          <a:xfrm>
            <a:off x="2958352" y="2836250"/>
            <a:ext cx="3151097" cy="516210"/>
          </a:xfrm>
          <a:prstGeom prst="roundRect">
            <a:avLst>
              <a:gd name="adj" fmla="val 14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triage 源、目的、时间确认边缘高光-765">
            <a:extLst>
              <a:ext uri="{FF2B5EF4-FFF2-40B4-BE49-F238E27FC236}">
                <a16:creationId xmlns:a16="http://schemas.microsoft.com/office/drawing/2014/main" id="{5B34B5CF-AF45-4172-9552-8FFA36E677D9}"/>
              </a:ext>
            </a:extLst>
          </p:cNvPr>
          <p:cNvSpPr>
            <a:spLocks noGrp="1"/>
          </p:cNvSpPr>
          <p:nvPr/>
        </p:nvSpPr>
        <p:spPr>
          <a:xfrm>
            <a:off x="2945493" y="2823391"/>
            <a:ext cx="3176814" cy="541927"/>
          </a:xfrm>
          <a:custGeom>
            <a:avLst/>
            <a:gdLst/>
            <a:ahLst/>
            <a:cxnLst/>
            <a:rect l="0" t="0" r="0" b="0"/>
            <a:pathLst>
              <a:path w="3176814" h="541927">
                <a:moveTo>
                  <a:pt x="95250" y="9525"/>
                </a:moveTo>
                <a:lnTo>
                  <a:pt x="3081564" y="9525"/>
                </a:lnTo>
                <a:cubicBezTo>
                  <a:pt x="3129189" y="9525"/>
                  <a:pt x="3167289" y="47625"/>
                  <a:pt x="3167289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源、目的、时间确认-766">
            <a:extLst>
              <a:ext uri="{FF2B5EF4-FFF2-40B4-BE49-F238E27FC236}">
                <a16:creationId xmlns:a16="http://schemas.microsoft.com/office/drawing/2014/main" id="{09F23C3C-19B6-4569-894E-6821056225EA}"/>
              </a:ext>
            </a:extLst>
          </p:cNvPr>
          <p:cNvSpPr>
            <a:spLocks noGrp="1"/>
          </p:cNvSpPr>
          <p:nvPr/>
        </p:nvSpPr>
        <p:spPr>
          <a:xfrm>
            <a:off x="3038929" y="2888796"/>
            <a:ext cx="2989943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源、目的、时间确认</a:t>
            </a:r>
          </a:p>
        </p:txBody>
      </p:sp>
      <p:sp>
        <p:nvSpPr>
          <p:cNvPr id="45" name="统一风格-triage 有 CFW 日志玻璃后沿-767">
            <a:extLst>
              <a:ext uri="{FF2B5EF4-FFF2-40B4-BE49-F238E27FC236}">
                <a16:creationId xmlns:a16="http://schemas.microsoft.com/office/drawing/2014/main" id="{5557049D-9E50-4E04-B06E-81A93F8845EB}"/>
              </a:ext>
            </a:extLst>
          </p:cNvPr>
          <p:cNvSpPr>
            <a:spLocks noGrp="1"/>
          </p:cNvSpPr>
          <p:nvPr/>
        </p:nvSpPr>
        <p:spPr>
          <a:xfrm>
            <a:off x="1030061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triage 有 CFW 日志-768">
            <a:extLst>
              <a:ext uri="{FF2B5EF4-FFF2-40B4-BE49-F238E27FC236}">
                <a16:creationId xmlns:a16="http://schemas.microsoft.com/office/drawing/2014/main" id="{85A2C233-55D9-465E-9614-4B011E3D3EFA}"/>
              </a:ext>
            </a:extLst>
          </p:cNvPr>
          <p:cNvSpPr>
            <a:spLocks noGrp="1"/>
          </p:cNvSpPr>
          <p:nvPr/>
        </p:nvSpPr>
        <p:spPr>
          <a:xfrm>
            <a:off x="1030061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triage 有 CFW 日志玻璃内沿-769">
            <a:extLst>
              <a:ext uri="{FF2B5EF4-FFF2-40B4-BE49-F238E27FC236}">
                <a16:creationId xmlns:a16="http://schemas.microsoft.com/office/drawing/2014/main" id="{36EADE7A-207A-446B-8195-7946DA8C2845}"/>
              </a:ext>
            </a:extLst>
          </p:cNvPr>
          <p:cNvSpPr>
            <a:spLocks noGrp="1"/>
          </p:cNvSpPr>
          <p:nvPr/>
        </p:nvSpPr>
        <p:spPr>
          <a:xfrm>
            <a:off x="1042919" y="3714546"/>
            <a:ext cx="2964225" cy="516210"/>
          </a:xfrm>
          <a:prstGeom prst="roundRect">
            <a:avLst>
              <a:gd name="adj" fmla="val 14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triage 有 CFW 日志边缘高光-770">
            <a:extLst>
              <a:ext uri="{FF2B5EF4-FFF2-40B4-BE49-F238E27FC236}">
                <a16:creationId xmlns:a16="http://schemas.microsoft.com/office/drawing/2014/main" id="{ECF2D295-E876-46CA-8AE6-E121315A8C75}"/>
              </a:ext>
            </a:extLst>
          </p:cNvPr>
          <p:cNvSpPr>
            <a:spLocks noGrp="1"/>
          </p:cNvSpPr>
          <p:nvPr/>
        </p:nvSpPr>
        <p:spPr>
          <a:xfrm>
            <a:off x="1030061" y="3701687"/>
            <a:ext cx="2989943" cy="541927"/>
          </a:xfrm>
          <a:custGeom>
            <a:avLst/>
            <a:gdLst/>
            <a:ahLst/>
            <a:cxnLst/>
            <a:rect l="0" t="0" r="0" b="0"/>
            <a:pathLst>
              <a:path w="2989943" h="541927">
                <a:moveTo>
                  <a:pt x="95250" y="9525"/>
                </a:moveTo>
                <a:lnTo>
                  <a:pt x="2894693" y="9525"/>
                </a:lnTo>
                <a:cubicBezTo>
                  <a:pt x="2942318" y="9525"/>
                  <a:pt x="2980418" y="47625"/>
                  <a:pt x="298041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有 CFW 日志-771">
            <a:extLst>
              <a:ext uri="{FF2B5EF4-FFF2-40B4-BE49-F238E27FC236}">
                <a16:creationId xmlns:a16="http://schemas.microsoft.com/office/drawing/2014/main" id="{BA9E3AF2-293B-4B0F-BFBA-EE61D020EA7B}"/>
              </a:ext>
            </a:extLst>
          </p:cNvPr>
          <p:cNvSpPr>
            <a:spLocks noGrp="1"/>
          </p:cNvSpPr>
          <p:nvPr/>
        </p:nvSpPr>
        <p:spPr>
          <a:xfrm>
            <a:off x="1123496" y="3767092"/>
            <a:ext cx="2803071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有 CFW 日志</a:t>
            </a:r>
          </a:p>
        </p:txBody>
      </p:sp>
      <p:sp>
        <p:nvSpPr>
          <p:cNvPr id="50" name="统一风格-triage 暂未查到日志玻璃后沿-772">
            <a:extLst>
              <a:ext uri="{FF2B5EF4-FFF2-40B4-BE49-F238E27FC236}">
                <a16:creationId xmlns:a16="http://schemas.microsoft.com/office/drawing/2014/main" id="{96D9DE65-99EA-4605-ADB0-B0B4B9A75911}"/>
              </a:ext>
            </a:extLst>
          </p:cNvPr>
          <p:cNvSpPr>
            <a:spLocks noGrp="1"/>
          </p:cNvSpPr>
          <p:nvPr/>
        </p:nvSpPr>
        <p:spPr>
          <a:xfrm>
            <a:off x="5047796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统一风格-triage 暂未查到日志-773">
            <a:extLst>
              <a:ext uri="{FF2B5EF4-FFF2-40B4-BE49-F238E27FC236}">
                <a16:creationId xmlns:a16="http://schemas.microsoft.com/office/drawing/2014/main" id="{78A2C3E8-1719-4661-B6C3-EDF1C74FDDC3}"/>
              </a:ext>
            </a:extLst>
          </p:cNvPr>
          <p:cNvSpPr>
            <a:spLocks noGrp="1"/>
          </p:cNvSpPr>
          <p:nvPr/>
        </p:nvSpPr>
        <p:spPr>
          <a:xfrm>
            <a:off x="5047796" y="3701687"/>
            <a:ext cx="2989943" cy="541927"/>
          </a:xfrm>
          <a:prstGeom prst="roundRect">
            <a:avLst>
              <a:gd name="adj" fmla="val 1581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统一风格-triage 暂未查到日志玻璃内沿-774">
            <a:extLst>
              <a:ext uri="{FF2B5EF4-FFF2-40B4-BE49-F238E27FC236}">
                <a16:creationId xmlns:a16="http://schemas.microsoft.com/office/drawing/2014/main" id="{31B816B9-F409-48FA-A8CD-F55537B2BCD5}"/>
              </a:ext>
            </a:extLst>
          </p:cNvPr>
          <p:cNvSpPr>
            <a:spLocks noGrp="1"/>
          </p:cNvSpPr>
          <p:nvPr/>
        </p:nvSpPr>
        <p:spPr>
          <a:xfrm>
            <a:off x="5060655" y="3714546"/>
            <a:ext cx="2964225" cy="516210"/>
          </a:xfrm>
          <a:prstGeom prst="roundRect">
            <a:avLst>
              <a:gd name="adj" fmla="val 1420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统一风格-triage 暂未查到日志边缘高光-775">
            <a:extLst>
              <a:ext uri="{FF2B5EF4-FFF2-40B4-BE49-F238E27FC236}">
                <a16:creationId xmlns:a16="http://schemas.microsoft.com/office/drawing/2014/main" id="{E83BBE8B-00CF-40CB-BE0E-381550BB7149}"/>
              </a:ext>
            </a:extLst>
          </p:cNvPr>
          <p:cNvSpPr>
            <a:spLocks noGrp="1"/>
          </p:cNvSpPr>
          <p:nvPr/>
        </p:nvSpPr>
        <p:spPr>
          <a:xfrm>
            <a:off x="5047796" y="3701687"/>
            <a:ext cx="2989943" cy="541927"/>
          </a:xfrm>
          <a:custGeom>
            <a:avLst/>
            <a:gdLst/>
            <a:ahLst/>
            <a:cxnLst/>
            <a:rect l="0" t="0" r="0" b="0"/>
            <a:pathLst>
              <a:path w="2989943" h="541927">
                <a:moveTo>
                  <a:pt x="95250" y="9525"/>
                </a:moveTo>
                <a:lnTo>
                  <a:pt x="2894693" y="9525"/>
                </a:lnTo>
                <a:cubicBezTo>
                  <a:pt x="2942318" y="9525"/>
                  <a:pt x="2980418" y="47625"/>
                  <a:pt x="2980418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统一风格-文字 暂未查到日志-776">
            <a:extLst>
              <a:ext uri="{FF2B5EF4-FFF2-40B4-BE49-F238E27FC236}">
                <a16:creationId xmlns:a16="http://schemas.microsoft.com/office/drawing/2014/main" id="{9666F02D-44D2-4D20-B664-F28656E2C8E9}"/>
              </a:ext>
            </a:extLst>
          </p:cNvPr>
          <p:cNvSpPr>
            <a:spLocks noGrp="1"/>
          </p:cNvSpPr>
          <p:nvPr/>
        </p:nvSpPr>
        <p:spPr>
          <a:xfrm>
            <a:off x="5141232" y="3767092"/>
            <a:ext cx="2803071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暂未查到日志</a:t>
            </a:r>
          </a:p>
        </p:txBody>
      </p:sp>
      <p:sp>
        <p:nvSpPr>
          <p:cNvPr id="55" name="统一风格-triage 访问控制动作&#10;与命中规则玻璃后沿-777">
            <a:extLst>
              <a:ext uri="{FF2B5EF4-FFF2-40B4-BE49-F238E27FC236}">
                <a16:creationId xmlns:a16="http://schemas.microsoft.com/office/drawing/2014/main" id="{B7536D4D-9457-4F20-B876-B27BB645DEDE}"/>
              </a:ext>
            </a:extLst>
          </p:cNvPr>
          <p:cNvSpPr>
            <a:spLocks noGrp="1"/>
          </p:cNvSpPr>
          <p:nvPr/>
        </p:nvSpPr>
        <p:spPr>
          <a:xfrm>
            <a:off x="6469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统一风格-triage 访问控制动作&#10;与命中规则-778">
            <a:extLst>
              <a:ext uri="{FF2B5EF4-FFF2-40B4-BE49-F238E27FC236}">
                <a16:creationId xmlns:a16="http://schemas.microsoft.com/office/drawing/2014/main" id="{233FC64F-9787-4F3C-90A4-AFA00E63327E}"/>
              </a:ext>
            </a:extLst>
          </p:cNvPr>
          <p:cNvSpPr>
            <a:spLocks noGrp="1"/>
          </p:cNvSpPr>
          <p:nvPr/>
        </p:nvSpPr>
        <p:spPr>
          <a:xfrm>
            <a:off x="6469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统一风格-triage 访问控制动作&#10;与命中规则玻璃内沿-779">
            <a:extLst>
              <a:ext uri="{FF2B5EF4-FFF2-40B4-BE49-F238E27FC236}">
                <a16:creationId xmlns:a16="http://schemas.microsoft.com/office/drawing/2014/main" id="{29584099-2C44-4FA9-84EB-B7B3953A7ACE}"/>
              </a:ext>
            </a:extLst>
          </p:cNvPr>
          <p:cNvSpPr>
            <a:spLocks noGrp="1"/>
          </p:cNvSpPr>
          <p:nvPr/>
        </p:nvSpPr>
        <p:spPr>
          <a:xfrm>
            <a:off x="65983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triage 访问控制动作&#10;与命中规则边缘高光-780">
            <a:extLst>
              <a:ext uri="{FF2B5EF4-FFF2-40B4-BE49-F238E27FC236}">
                <a16:creationId xmlns:a16="http://schemas.microsoft.com/office/drawing/2014/main" id="{B5AA11ED-E304-449C-ADC5-5579CBC6F620}"/>
              </a:ext>
            </a:extLst>
          </p:cNvPr>
          <p:cNvSpPr>
            <a:spLocks noGrp="1"/>
          </p:cNvSpPr>
          <p:nvPr/>
        </p:nvSpPr>
        <p:spPr>
          <a:xfrm>
            <a:off x="64697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9" name="统一风格-文字 访问控制动作 与命中规则-781">
            <a:extLst>
              <a:ext uri="{FF2B5EF4-FFF2-40B4-BE49-F238E27FC236}">
                <a16:creationId xmlns:a16="http://schemas.microsoft.com/office/drawing/2014/main" id="{DE037D23-632C-4ADB-AAF6-B05358F44AF4}"/>
              </a:ext>
            </a:extLst>
          </p:cNvPr>
          <p:cNvSpPr>
            <a:spLocks noGrp="1"/>
          </p:cNvSpPr>
          <p:nvPr/>
        </p:nvSpPr>
        <p:spPr>
          <a:xfrm>
            <a:off x="74041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访问控制动作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与命中规则</a:t>
            </a:r>
          </a:p>
        </p:txBody>
      </p:sp>
      <p:sp>
        <p:nvSpPr>
          <p:cNvPr id="60" name="统一风格-triage 攻击事件&#10;与 IPS 规则玻璃后沿-782">
            <a:extLst>
              <a:ext uri="{FF2B5EF4-FFF2-40B4-BE49-F238E27FC236}">
                <a16:creationId xmlns:a16="http://schemas.microsoft.com/office/drawing/2014/main" id="{35660B5E-7511-4AF1-B15D-FF74CFC1539E}"/>
              </a:ext>
            </a:extLst>
          </p:cNvPr>
          <p:cNvSpPr>
            <a:spLocks noGrp="1"/>
          </p:cNvSpPr>
          <p:nvPr/>
        </p:nvSpPr>
        <p:spPr>
          <a:xfrm>
            <a:off x="26091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triage 攻击事件&#10;与 IPS 规则-783">
            <a:extLst>
              <a:ext uri="{FF2B5EF4-FFF2-40B4-BE49-F238E27FC236}">
                <a16:creationId xmlns:a16="http://schemas.microsoft.com/office/drawing/2014/main" id="{8D13C58F-FE9C-4785-A9E3-F568D0476DBC}"/>
              </a:ext>
            </a:extLst>
          </p:cNvPr>
          <p:cNvSpPr>
            <a:spLocks noGrp="1"/>
          </p:cNvSpPr>
          <p:nvPr/>
        </p:nvSpPr>
        <p:spPr>
          <a:xfrm>
            <a:off x="26091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triage 攻击事件&#10;与 IPS 规则玻璃内沿-784">
            <a:extLst>
              <a:ext uri="{FF2B5EF4-FFF2-40B4-BE49-F238E27FC236}">
                <a16:creationId xmlns:a16="http://schemas.microsoft.com/office/drawing/2014/main" id="{1B69582E-DF3D-4F85-8A08-189B8B23FA96}"/>
              </a:ext>
            </a:extLst>
          </p:cNvPr>
          <p:cNvSpPr>
            <a:spLocks noGrp="1"/>
          </p:cNvSpPr>
          <p:nvPr/>
        </p:nvSpPr>
        <p:spPr>
          <a:xfrm>
            <a:off x="262198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triage 攻击事件&#10;与 IPS 规则边缘高光-785">
            <a:extLst>
              <a:ext uri="{FF2B5EF4-FFF2-40B4-BE49-F238E27FC236}">
                <a16:creationId xmlns:a16="http://schemas.microsoft.com/office/drawing/2014/main" id="{DC8578F8-ED5D-44D7-966D-1592C393EDFD}"/>
              </a:ext>
            </a:extLst>
          </p:cNvPr>
          <p:cNvSpPr>
            <a:spLocks noGrp="1"/>
          </p:cNvSpPr>
          <p:nvPr/>
        </p:nvSpPr>
        <p:spPr>
          <a:xfrm>
            <a:off x="260912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4" name="统一风格-文字 攻击事件 与 IPS 规则-786">
            <a:extLst>
              <a:ext uri="{FF2B5EF4-FFF2-40B4-BE49-F238E27FC236}">
                <a16:creationId xmlns:a16="http://schemas.microsoft.com/office/drawing/2014/main" id="{4E715D38-F8CD-439A-834E-A66E6F51CAB5}"/>
              </a:ext>
            </a:extLst>
          </p:cNvPr>
          <p:cNvSpPr>
            <a:spLocks noGrp="1"/>
          </p:cNvSpPr>
          <p:nvPr/>
        </p:nvSpPr>
        <p:spPr>
          <a:xfrm>
            <a:off x="270256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攻击事件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 IPS 规则</a:t>
            </a:r>
          </a:p>
        </p:txBody>
      </p:sp>
      <p:sp>
        <p:nvSpPr>
          <p:cNvPr id="65" name="统一风格-triage 实例、边界&#10;与上报条件玻璃后沿-787">
            <a:extLst>
              <a:ext uri="{FF2B5EF4-FFF2-40B4-BE49-F238E27FC236}">
                <a16:creationId xmlns:a16="http://schemas.microsoft.com/office/drawing/2014/main" id="{0D096202-EF0E-4187-B2C7-4BCC8BFEA40A}"/>
              </a:ext>
            </a:extLst>
          </p:cNvPr>
          <p:cNvSpPr>
            <a:spLocks noGrp="1"/>
          </p:cNvSpPr>
          <p:nvPr/>
        </p:nvSpPr>
        <p:spPr>
          <a:xfrm>
            <a:off x="45712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统一风格-triage 实例、边界&#10;与上报条件-788">
            <a:extLst>
              <a:ext uri="{FF2B5EF4-FFF2-40B4-BE49-F238E27FC236}">
                <a16:creationId xmlns:a16="http://schemas.microsoft.com/office/drawing/2014/main" id="{74370252-1F54-4366-957F-F5DF21C11A88}"/>
              </a:ext>
            </a:extLst>
          </p:cNvPr>
          <p:cNvSpPr>
            <a:spLocks noGrp="1"/>
          </p:cNvSpPr>
          <p:nvPr/>
        </p:nvSpPr>
        <p:spPr>
          <a:xfrm>
            <a:off x="457127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统一风格-triage 实例、边界&#10;与上报条件玻璃内沿-789">
            <a:extLst>
              <a:ext uri="{FF2B5EF4-FFF2-40B4-BE49-F238E27FC236}">
                <a16:creationId xmlns:a16="http://schemas.microsoft.com/office/drawing/2014/main" id="{3861C3C9-3825-4B8D-8B9F-10DC537A8A8E}"/>
              </a:ext>
            </a:extLst>
          </p:cNvPr>
          <p:cNvSpPr>
            <a:spLocks noGrp="1"/>
          </p:cNvSpPr>
          <p:nvPr/>
        </p:nvSpPr>
        <p:spPr>
          <a:xfrm>
            <a:off x="458413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统一风格-triage 实例、边界&#10;与上报条件边缘高光-790">
            <a:extLst>
              <a:ext uri="{FF2B5EF4-FFF2-40B4-BE49-F238E27FC236}">
                <a16:creationId xmlns:a16="http://schemas.microsoft.com/office/drawing/2014/main" id="{17904F5C-9BEE-46B7-88C2-B03EF1DF20F8}"/>
              </a:ext>
            </a:extLst>
          </p:cNvPr>
          <p:cNvSpPr>
            <a:spLocks noGrp="1"/>
          </p:cNvSpPr>
          <p:nvPr/>
        </p:nvSpPr>
        <p:spPr>
          <a:xfrm>
            <a:off x="457127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" name="统一风格-文字 实例、边界 与上报条件-791">
            <a:extLst>
              <a:ext uri="{FF2B5EF4-FFF2-40B4-BE49-F238E27FC236}">
                <a16:creationId xmlns:a16="http://schemas.microsoft.com/office/drawing/2014/main" id="{F4AF10B3-3609-4761-890F-2C7A66BA5D36}"/>
              </a:ext>
            </a:extLst>
          </p:cNvPr>
          <p:cNvSpPr>
            <a:spLocks noGrp="1"/>
          </p:cNvSpPr>
          <p:nvPr/>
        </p:nvSpPr>
        <p:spPr>
          <a:xfrm>
            <a:off x="466471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实例、边界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与上报条件</a:t>
            </a:r>
          </a:p>
        </p:txBody>
      </p:sp>
      <p:sp>
        <p:nvSpPr>
          <p:cNvPr id="70" name="统一风格-triage 路由与引流&#10;覆盖玻璃后沿-792">
            <a:extLst>
              <a:ext uri="{FF2B5EF4-FFF2-40B4-BE49-F238E27FC236}">
                <a16:creationId xmlns:a16="http://schemas.microsoft.com/office/drawing/2014/main" id="{B98F2582-7967-4944-8DBC-BC18C3849C81}"/>
              </a:ext>
            </a:extLst>
          </p:cNvPr>
          <p:cNvSpPr>
            <a:spLocks noGrp="1"/>
          </p:cNvSpPr>
          <p:nvPr/>
        </p:nvSpPr>
        <p:spPr>
          <a:xfrm>
            <a:off x="65334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统一风格-triage 路由与引流&#10;覆盖-793">
            <a:extLst>
              <a:ext uri="{FF2B5EF4-FFF2-40B4-BE49-F238E27FC236}">
                <a16:creationId xmlns:a16="http://schemas.microsoft.com/office/drawing/2014/main" id="{EC109E66-884E-4BE6-A63B-C4240AC10DE6}"/>
              </a:ext>
            </a:extLst>
          </p:cNvPr>
          <p:cNvSpPr>
            <a:spLocks noGrp="1"/>
          </p:cNvSpPr>
          <p:nvPr/>
        </p:nvSpPr>
        <p:spPr>
          <a:xfrm>
            <a:off x="6533424" y="4533265"/>
            <a:ext cx="1756591" cy="607332"/>
          </a:xfrm>
          <a:prstGeom prst="roundRect">
            <a:avLst>
              <a:gd name="adj" fmla="val 1411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统一风格-triage 路由与引流&#10;覆盖玻璃内沿-794">
            <a:extLst>
              <a:ext uri="{FF2B5EF4-FFF2-40B4-BE49-F238E27FC236}">
                <a16:creationId xmlns:a16="http://schemas.microsoft.com/office/drawing/2014/main" id="{C912C8BD-A2C3-4C2A-A906-B597078A0861}"/>
              </a:ext>
            </a:extLst>
          </p:cNvPr>
          <p:cNvSpPr>
            <a:spLocks noGrp="1"/>
          </p:cNvSpPr>
          <p:nvPr/>
        </p:nvSpPr>
        <p:spPr>
          <a:xfrm>
            <a:off x="6546283" y="4546124"/>
            <a:ext cx="1730874" cy="581615"/>
          </a:xfrm>
          <a:prstGeom prst="roundRect">
            <a:avLst>
              <a:gd name="adj" fmla="val 12610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统一风格-triage 路由与引流&#10;覆盖边缘高光-795">
            <a:extLst>
              <a:ext uri="{FF2B5EF4-FFF2-40B4-BE49-F238E27FC236}">
                <a16:creationId xmlns:a16="http://schemas.microsoft.com/office/drawing/2014/main" id="{F1E779EE-7160-4B89-BF58-1986DCB938CC}"/>
              </a:ext>
            </a:extLst>
          </p:cNvPr>
          <p:cNvSpPr>
            <a:spLocks noGrp="1"/>
          </p:cNvSpPr>
          <p:nvPr/>
        </p:nvSpPr>
        <p:spPr>
          <a:xfrm>
            <a:off x="6533424" y="4533265"/>
            <a:ext cx="1756591" cy="607332"/>
          </a:xfrm>
          <a:custGeom>
            <a:avLst/>
            <a:gdLst/>
            <a:ahLst/>
            <a:cxnLst/>
            <a:rect l="0" t="0" r="0" b="0"/>
            <a:pathLst>
              <a:path w="1756591" h="607332">
                <a:moveTo>
                  <a:pt x="95250" y="9525"/>
                </a:moveTo>
                <a:lnTo>
                  <a:pt x="1661341" y="9525"/>
                </a:lnTo>
                <a:cubicBezTo>
                  <a:pt x="1708966" y="9525"/>
                  <a:pt x="1747066" y="47625"/>
                  <a:pt x="174706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4" name="统一风格-文字 路由与引流 覆盖-796">
            <a:extLst>
              <a:ext uri="{FF2B5EF4-FFF2-40B4-BE49-F238E27FC236}">
                <a16:creationId xmlns:a16="http://schemas.microsoft.com/office/drawing/2014/main" id="{BD2365BD-0624-4D64-BD94-F55863EE1D62}"/>
              </a:ext>
            </a:extLst>
          </p:cNvPr>
          <p:cNvSpPr>
            <a:spLocks noGrp="1"/>
          </p:cNvSpPr>
          <p:nvPr/>
        </p:nvSpPr>
        <p:spPr>
          <a:xfrm>
            <a:off x="6626860" y="4598670"/>
            <a:ext cx="1569720" cy="47652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路由与引流</a:t>
            </a:r>
          </a:p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75" name="统一风格-triage 安全组、主机防火墙、服务监听玻璃后沿-797">
            <a:extLst>
              <a:ext uri="{FF2B5EF4-FFF2-40B4-BE49-F238E27FC236}">
                <a16:creationId xmlns:a16="http://schemas.microsoft.com/office/drawing/2014/main" id="{9CA45A04-6F0D-46DD-9AC0-4B0F0FCAA2C8}"/>
              </a:ext>
            </a:extLst>
          </p:cNvPr>
          <p:cNvSpPr>
            <a:spLocks noGrp="1"/>
          </p:cNvSpPr>
          <p:nvPr/>
        </p:nvSpPr>
        <p:spPr>
          <a:xfrm>
            <a:off x="2011136" y="5467622"/>
            <a:ext cx="5045529" cy="467179"/>
          </a:xfrm>
          <a:prstGeom prst="roundRect">
            <a:avLst>
              <a:gd name="adj" fmla="val 1835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统一风格-triage 安全组、主机防火墙、服务监听-798">
            <a:extLst>
              <a:ext uri="{FF2B5EF4-FFF2-40B4-BE49-F238E27FC236}">
                <a16:creationId xmlns:a16="http://schemas.microsoft.com/office/drawing/2014/main" id="{D1BDD607-C9CB-4DDF-A37D-EFFD2438B9CF}"/>
              </a:ext>
            </a:extLst>
          </p:cNvPr>
          <p:cNvSpPr>
            <a:spLocks noGrp="1"/>
          </p:cNvSpPr>
          <p:nvPr/>
        </p:nvSpPr>
        <p:spPr>
          <a:xfrm>
            <a:off x="2011136" y="5467622"/>
            <a:ext cx="5045529" cy="467179"/>
          </a:xfrm>
          <a:prstGeom prst="roundRect">
            <a:avLst>
              <a:gd name="adj" fmla="val 1835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统一风格-triage 安全组、主机防火墙、服务监听玻璃内沿-799">
            <a:extLst>
              <a:ext uri="{FF2B5EF4-FFF2-40B4-BE49-F238E27FC236}">
                <a16:creationId xmlns:a16="http://schemas.microsoft.com/office/drawing/2014/main" id="{2831C6DD-F100-486A-B15E-8B490265A734}"/>
              </a:ext>
            </a:extLst>
          </p:cNvPr>
          <p:cNvSpPr>
            <a:spLocks noGrp="1"/>
          </p:cNvSpPr>
          <p:nvPr/>
        </p:nvSpPr>
        <p:spPr>
          <a:xfrm>
            <a:off x="2023994" y="5480481"/>
            <a:ext cx="5019811" cy="441461"/>
          </a:xfrm>
          <a:prstGeom prst="roundRect">
            <a:avLst>
              <a:gd name="adj" fmla="val 1661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统一风格-triage 安全组、主机防火墙、服务监听边缘高光-800">
            <a:extLst>
              <a:ext uri="{FF2B5EF4-FFF2-40B4-BE49-F238E27FC236}">
                <a16:creationId xmlns:a16="http://schemas.microsoft.com/office/drawing/2014/main" id="{A3FDABD3-9D5D-497A-BD71-D3ED94384B3D}"/>
              </a:ext>
            </a:extLst>
          </p:cNvPr>
          <p:cNvSpPr>
            <a:spLocks noGrp="1"/>
          </p:cNvSpPr>
          <p:nvPr/>
        </p:nvSpPr>
        <p:spPr>
          <a:xfrm>
            <a:off x="2011136" y="5467622"/>
            <a:ext cx="5045529" cy="467179"/>
          </a:xfrm>
          <a:custGeom>
            <a:avLst/>
            <a:gdLst/>
            <a:ahLst/>
            <a:cxnLst/>
            <a:rect l="0" t="0" r="0" b="0"/>
            <a:pathLst>
              <a:path w="5045529" h="467179">
                <a:moveTo>
                  <a:pt x="95250" y="9525"/>
                </a:moveTo>
                <a:lnTo>
                  <a:pt x="4950279" y="9525"/>
                </a:lnTo>
                <a:cubicBezTo>
                  <a:pt x="4997904" y="9525"/>
                  <a:pt x="5036004" y="47625"/>
                  <a:pt x="503600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统一风格-文字 安全组、主机防火墙、服务监听-801">
            <a:extLst>
              <a:ext uri="{FF2B5EF4-FFF2-40B4-BE49-F238E27FC236}">
                <a16:creationId xmlns:a16="http://schemas.microsoft.com/office/drawing/2014/main" id="{BBD2449B-9332-41DE-9D24-2FB321B0DCC8}"/>
              </a:ext>
            </a:extLst>
          </p:cNvPr>
          <p:cNvSpPr>
            <a:spLocks noGrp="1"/>
          </p:cNvSpPr>
          <p:nvPr/>
        </p:nvSpPr>
        <p:spPr>
          <a:xfrm>
            <a:off x="2104571" y="5533027"/>
            <a:ext cx="4858657" cy="336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安全组、主机防火墙、服务监听</a:t>
            </a:r>
          </a:p>
        </p:txBody>
      </p:sp>
      <p:sp>
        <p:nvSpPr>
          <p:cNvPr id="80" name="版式分隔线">
            <a:extLst>
              <a:ext uri="{FF2B5EF4-FFF2-40B4-BE49-F238E27FC236}">
                <a16:creationId xmlns:a16="http://schemas.microsoft.com/office/drawing/2014/main" id="{BC429696-861E-4F7E-891C-A2738F7826AF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版式分隔线">
            <a:extLst>
              <a:ext uri="{FF2B5EF4-FFF2-40B4-BE49-F238E27FC236}">
                <a16:creationId xmlns:a16="http://schemas.microsoft.com/office/drawing/2014/main" id="{96C9F552-956C-4EF0-AEEC-4E4FF21CDABA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txt-81">
            <a:extLst>
              <a:ext uri="{FF2B5EF4-FFF2-40B4-BE49-F238E27FC236}">
                <a16:creationId xmlns:a16="http://schemas.microsoft.com/office/drawing/2014/main" id="{1ED63414-9B24-44A2-BBED-A7E0C8DC9C6E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有日志</a:t>
            </a:r>
          </a:p>
        </p:txBody>
      </p:sp>
      <p:sp>
        <p:nvSpPr>
          <p:cNvPr id="83" name="txt-82">
            <a:extLst>
              <a:ext uri="{FF2B5EF4-FFF2-40B4-BE49-F238E27FC236}">
                <a16:creationId xmlns:a16="http://schemas.microsoft.com/office/drawing/2014/main" id="{AEF8A369-144A-4811-894E-DA33721E1023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看访问控制动作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再看攻击事件与 IPS</a:t>
            </a:r>
          </a:p>
        </p:txBody>
      </p:sp>
      <p:sp>
        <p:nvSpPr>
          <p:cNvPr id="84" name="版式分隔线">
            <a:extLst>
              <a:ext uri="{FF2B5EF4-FFF2-40B4-BE49-F238E27FC236}">
                <a16:creationId xmlns:a16="http://schemas.microsoft.com/office/drawing/2014/main" id="{676AB14F-7AB1-4082-B7EB-97647A4F1302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xt-84">
            <a:extLst>
              <a:ext uri="{FF2B5EF4-FFF2-40B4-BE49-F238E27FC236}">
                <a16:creationId xmlns:a16="http://schemas.microsoft.com/office/drawing/2014/main" id="{02C27D23-1224-4F71-ADCF-FD6357BE4ECA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无即时日志</a:t>
            </a:r>
          </a:p>
        </p:txBody>
      </p:sp>
      <p:sp>
        <p:nvSpPr>
          <p:cNvPr id="86" name="txt-85">
            <a:extLst>
              <a:ext uri="{FF2B5EF4-FFF2-40B4-BE49-F238E27FC236}">
                <a16:creationId xmlns:a16="http://schemas.microsoft.com/office/drawing/2014/main" id="{E0E6FDC9-64BB-4E40-875B-5AC730C9DB53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核对筛选、上报和路径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避免直接增加 Any 放行</a:t>
            </a:r>
          </a:p>
        </p:txBody>
      </p:sp>
      <p:sp>
        <p:nvSpPr>
          <p:cNvPr id="87" name="版式分隔线">
            <a:extLst>
              <a:ext uri="{FF2B5EF4-FFF2-40B4-BE49-F238E27FC236}">
                <a16:creationId xmlns:a16="http://schemas.microsoft.com/office/drawing/2014/main" id="{6FA86ADA-BF39-4FD3-B161-93389A2AAE44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txt-87">
            <a:extLst>
              <a:ext uri="{FF2B5EF4-FFF2-40B4-BE49-F238E27FC236}">
                <a16:creationId xmlns:a16="http://schemas.microsoft.com/office/drawing/2014/main" id="{98B77C79-9A52-48D3-A013-840496E05D01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端到端</a:t>
            </a:r>
          </a:p>
        </p:txBody>
      </p:sp>
      <p:sp>
        <p:nvSpPr>
          <p:cNvPr id="89" name="txt-88">
            <a:extLst>
              <a:ext uri="{FF2B5EF4-FFF2-40B4-BE49-F238E27FC236}">
                <a16:creationId xmlns:a16="http://schemas.microsoft.com/office/drawing/2014/main" id="{BED32468-4A51-4372-8217-D744304ED4B7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源端确认是否发出，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目标端确认收到与监听。</a:t>
            </a:r>
          </a:p>
        </p:txBody>
      </p:sp>
    </p:spTree>
    <p:extLst>
      <p:ext uri="{BB962C8B-B14F-4D97-AF65-F5344CB8AC3E}">
        <p14:creationId xmlns:p14="http://schemas.microsoft.com/office/powerpoint/2010/main" val="12109602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文-05  典型故障分析">
            <a:extLst>
              <a:ext uri="{FF2B5EF4-FFF2-40B4-BE49-F238E27FC236}">
                <a16:creationId xmlns:a16="http://schemas.microsoft.com/office/drawing/2014/main" id="{7302153D-5156-4DDE-9B2A-468CF04213F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942D9513-0D3C-47C0-AB33-C534D886E81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案例一：CFW 放行后仍然连接超时</a:t>
            </a:r>
          </a:p>
        </p:txBody>
      </p:sp>
      <p:sp>
        <p:nvSpPr>
          <p:cNvPr id="3" name="正文-双向引流正常、CFW 已放行，目标服务已监听；继续检查目的端安全组">
            <a:extLst>
              <a:ext uri="{FF2B5EF4-FFF2-40B4-BE49-F238E27FC236}">
                <a16:creationId xmlns:a16="http://schemas.microsoft.com/office/drawing/2014/main" id="{D129975E-E059-4F37-A49C-4D0BE7F3F6BD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双向引流正常、CFW 已放行，目标服务已监听；继续检查目的端安全组</a:t>
            </a:r>
          </a:p>
        </p:txBody>
      </p:sp>
      <p:sp>
        <p:nvSpPr>
          <p:cNvPr id="4" name="正文-场景前提：无 NAT，源端出方向及其他控制层正常。">
            <a:extLst>
              <a:ext uri="{FF2B5EF4-FFF2-40B4-BE49-F238E27FC236}">
                <a16:creationId xmlns:a16="http://schemas.microsoft.com/office/drawing/2014/main" id="{AC3BA2CB-825F-4AF6-9272-F31C0D589EF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场景前提：无 NAT，源端出方向及其他控制层正常。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711AD9B8-93BC-4E8A-A714-F1AC5CA3293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4">
            <a:extLst>
              <a:ext uri="{FF2B5EF4-FFF2-40B4-BE49-F238E27FC236}">
                <a16:creationId xmlns:a16="http://schemas.microsoft.com/office/drawing/2014/main" id="{C31A2592-0FB4-442A-BF8E-4EB7E0CA4CE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73</a:t>
            </a:r>
          </a:p>
        </p:txBody>
      </p:sp>
      <p:sp>
        <p:nvSpPr>
          <p:cNvPr id="7" name="统一风格-case-sg 应用服务器玻璃后沿-802">
            <a:extLst>
              <a:ext uri="{FF2B5EF4-FFF2-40B4-BE49-F238E27FC236}">
                <a16:creationId xmlns:a16="http://schemas.microsoft.com/office/drawing/2014/main" id="{57272AD3-1341-4B1D-9EEB-5B898CAFDF88}"/>
              </a:ext>
            </a:extLst>
          </p:cNvPr>
          <p:cNvSpPr>
            <a:spLocks noGrp="1"/>
          </p:cNvSpPr>
          <p:nvPr/>
        </p:nvSpPr>
        <p:spPr>
          <a:xfrm>
            <a:off x="609600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ase-sg 应用服务器-803">
            <a:extLst>
              <a:ext uri="{FF2B5EF4-FFF2-40B4-BE49-F238E27FC236}">
                <a16:creationId xmlns:a16="http://schemas.microsoft.com/office/drawing/2014/main" id="{8F467E82-674B-4238-A273-FAB7C9E648C9}"/>
              </a:ext>
            </a:extLst>
          </p:cNvPr>
          <p:cNvSpPr>
            <a:spLocks noGrp="1"/>
          </p:cNvSpPr>
          <p:nvPr/>
        </p:nvSpPr>
        <p:spPr>
          <a:xfrm>
            <a:off x="609600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ase-sg 应用服务器玻璃内沿-804">
            <a:extLst>
              <a:ext uri="{FF2B5EF4-FFF2-40B4-BE49-F238E27FC236}">
                <a16:creationId xmlns:a16="http://schemas.microsoft.com/office/drawing/2014/main" id="{78C25761-4167-423A-B951-844FD45C3DA1}"/>
              </a:ext>
            </a:extLst>
          </p:cNvPr>
          <p:cNvSpPr>
            <a:spLocks noGrp="1"/>
          </p:cNvSpPr>
          <p:nvPr/>
        </p:nvSpPr>
        <p:spPr>
          <a:xfrm>
            <a:off x="622459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ase-sg 应用服务器透光反射面-805">
            <a:extLst>
              <a:ext uri="{FF2B5EF4-FFF2-40B4-BE49-F238E27FC236}">
                <a16:creationId xmlns:a16="http://schemas.microsoft.com/office/drawing/2014/main" id="{6C656D01-4EA4-404E-BC86-332E68578E74}"/>
              </a:ext>
            </a:extLst>
          </p:cNvPr>
          <p:cNvSpPr>
            <a:spLocks noGrp="1"/>
          </p:cNvSpPr>
          <p:nvPr/>
        </p:nvSpPr>
        <p:spPr>
          <a:xfrm>
            <a:off x="628650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ase-sg 应用服务器边缘高光-806">
            <a:extLst>
              <a:ext uri="{FF2B5EF4-FFF2-40B4-BE49-F238E27FC236}">
                <a16:creationId xmlns:a16="http://schemas.microsoft.com/office/drawing/2014/main" id="{E6B5AE69-42B0-4891-8B6A-7923C4623DB6}"/>
              </a:ext>
            </a:extLst>
          </p:cNvPr>
          <p:cNvSpPr>
            <a:spLocks noGrp="1"/>
          </p:cNvSpPr>
          <p:nvPr/>
        </p:nvSpPr>
        <p:spPr>
          <a:xfrm>
            <a:off x="609600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server 服务器机架-807">
            <a:extLst>
              <a:ext uri="{FF2B5EF4-FFF2-40B4-BE49-F238E27FC236}">
                <a16:creationId xmlns:a16="http://schemas.microsoft.com/office/drawing/2014/main" id="{56819933-C711-49B0-B03B-76DAD0E331DB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server 机架状态-808">
            <a:extLst>
              <a:ext uri="{FF2B5EF4-FFF2-40B4-BE49-F238E27FC236}">
                <a16:creationId xmlns:a16="http://schemas.microsoft.com/office/drawing/2014/main" id="{08D864A9-F827-44FA-90A6-EFFE324DC657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server 指示灯-809">
            <a:extLst>
              <a:ext uri="{FF2B5EF4-FFF2-40B4-BE49-F238E27FC236}">
                <a16:creationId xmlns:a16="http://schemas.microsoft.com/office/drawing/2014/main" id="{7DBAA0D1-7069-4047-925B-85246CB232FC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server 服务器机架-810">
            <a:extLst>
              <a:ext uri="{FF2B5EF4-FFF2-40B4-BE49-F238E27FC236}">
                <a16:creationId xmlns:a16="http://schemas.microsoft.com/office/drawing/2014/main" id="{2FFD240C-87EA-40E5-BD98-121B471E4B21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server 机架状态-811">
            <a:extLst>
              <a:ext uri="{FF2B5EF4-FFF2-40B4-BE49-F238E27FC236}">
                <a16:creationId xmlns:a16="http://schemas.microsoft.com/office/drawing/2014/main" id="{C055EDF1-A53D-42E2-9D76-764F69722F8A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server 指示灯-812">
            <a:extLst>
              <a:ext uri="{FF2B5EF4-FFF2-40B4-BE49-F238E27FC236}">
                <a16:creationId xmlns:a16="http://schemas.microsoft.com/office/drawing/2014/main" id="{62ADA3E6-9A3C-4CC5-8326-C6C294622EC1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server 服务器机架-813">
            <a:extLst>
              <a:ext uri="{FF2B5EF4-FFF2-40B4-BE49-F238E27FC236}">
                <a16:creationId xmlns:a16="http://schemas.microsoft.com/office/drawing/2014/main" id="{AAC7FAF5-B16D-4A75-A443-9730889960B7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server 机架状态-814">
            <a:extLst>
              <a:ext uri="{FF2B5EF4-FFF2-40B4-BE49-F238E27FC236}">
                <a16:creationId xmlns:a16="http://schemas.microsoft.com/office/drawing/2014/main" id="{5458A929-00D1-4546-9402-AAE5A8B5BA7D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server 指示灯-815">
            <a:extLst>
              <a:ext uri="{FF2B5EF4-FFF2-40B4-BE49-F238E27FC236}">
                <a16:creationId xmlns:a16="http://schemas.microsoft.com/office/drawing/2014/main" id="{953D0E64-21AD-40BD-8312-F9957ED2B52C}"/>
              </a:ext>
            </a:extLst>
          </p:cNvPr>
          <p:cNvSpPr>
            <a:spLocks noGrp="1"/>
          </p:cNvSpPr>
          <p:nvPr/>
        </p:nvSpPr>
        <p:spPr>
          <a:xfrm>
            <a:off x="1156199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应用服务器-816">
            <a:extLst>
              <a:ext uri="{FF2B5EF4-FFF2-40B4-BE49-F238E27FC236}">
                <a16:creationId xmlns:a16="http://schemas.microsoft.com/office/drawing/2014/main" id="{C434A81F-E9C6-4988-A3C0-50EB26647170}"/>
              </a:ext>
            </a:extLst>
          </p:cNvPr>
          <p:cNvSpPr>
            <a:spLocks noGrp="1"/>
          </p:cNvSpPr>
          <p:nvPr/>
        </p:nvSpPr>
        <p:spPr>
          <a:xfrm>
            <a:off x="675005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应用服务器</a:t>
            </a:r>
          </a:p>
        </p:txBody>
      </p:sp>
      <p:sp>
        <p:nvSpPr>
          <p:cNvPr id="22" name="统一风格-文字 10.20.10.15-817">
            <a:extLst>
              <a:ext uri="{FF2B5EF4-FFF2-40B4-BE49-F238E27FC236}">
                <a16:creationId xmlns:a16="http://schemas.microsoft.com/office/drawing/2014/main" id="{F913E753-425A-457B-9AA3-8D5531899CC6}"/>
              </a:ext>
            </a:extLst>
          </p:cNvPr>
          <p:cNvSpPr>
            <a:spLocks noGrp="1"/>
          </p:cNvSpPr>
          <p:nvPr/>
        </p:nvSpPr>
        <p:spPr>
          <a:xfrm>
            <a:off x="675005" y="3981994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23" name="统一风格-case-sg CFW：放行玻璃后沿-818">
            <a:extLst>
              <a:ext uri="{FF2B5EF4-FFF2-40B4-BE49-F238E27FC236}">
                <a16:creationId xmlns:a16="http://schemas.microsoft.com/office/drawing/2014/main" id="{1755FFF6-AB75-40C6-9CCF-9D425ED4A7EE}"/>
              </a:ext>
            </a:extLst>
          </p:cNvPr>
          <p:cNvSpPr>
            <a:spLocks noGrp="1"/>
          </p:cNvSpPr>
          <p:nvPr/>
        </p:nvSpPr>
        <p:spPr>
          <a:xfrm>
            <a:off x="2711904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统一风格-case-sg CFW：放行-819">
            <a:extLst>
              <a:ext uri="{FF2B5EF4-FFF2-40B4-BE49-F238E27FC236}">
                <a16:creationId xmlns:a16="http://schemas.microsoft.com/office/drawing/2014/main" id="{75EA1E19-0862-434F-BFC9-1CACD4D73E1C}"/>
              </a:ext>
            </a:extLst>
          </p:cNvPr>
          <p:cNvSpPr>
            <a:spLocks noGrp="1"/>
          </p:cNvSpPr>
          <p:nvPr/>
        </p:nvSpPr>
        <p:spPr>
          <a:xfrm>
            <a:off x="2711904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case-sg CFW：放行玻璃内沿-820">
            <a:extLst>
              <a:ext uri="{FF2B5EF4-FFF2-40B4-BE49-F238E27FC236}">
                <a16:creationId xmlns:a16="http://schemas.microsoft.com/office/drawing/2014/main" id="{F0452C44-73F1-4826-8919-F5C640826E3E}"/>
              </a:ext>
            </a:extLst>
          </p:cNvPr>
          <p:cNvSpPr>
            <a:spLocks noGrp="1"/>
          </p:cNvSpPr>
          <p:nvPr/>
        </p:nvSpPr>
        <p:spPr>
          <a:xfrm>
            <a:off x="2724762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case-sg CFW：放行透光反射面-821">
            <a:extLst>
              <a:ext uri="{FF2B5EF4-FFF2-40B4-BE49-F238E27FC236}">
                <a16:creationId xmlns:a16="http://schemas.microsoft.com/office/drawing/2014/main" id="{A62F8C77-3C64-420B-B8C8-DD2C1EE87CD0}"/>
              </a:ext>
            </a:extLst>
          </p:cNvPr>
          <p:cNvSpPr>
            <a:spLocks noGrp="1"/>
          </p:cNvSpPr>
          <p:nvPr/>
        </p:nvSpPr>
        <p:spPr>
          <a:xfrm>
            <a:off x="2730954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case-sg CFW：放行边缘高光-822">
            <a:extLst>
              <a:ext uri="{FF2B5EF4-FFF2-40B4-BE49-F238E27FC236}">
                <a16:creationId xmlns:a16="http://schemas.microsoft.com/office/drawing/2014/main" id="{76F07246-CB27-4EA2-ACAE-11EB8B02E3DF}"/>
              </a:ext>
            </a:extLst>
          </p:cNvPr>
          <p:cNvSpPr>
            <a:spLocks noGrp="1"/>
          </p:cNvSpPr>
          <p:nvPr/>
        </p:nvSpPr>
        <p:spPr>
          <a:xfrm>
            <a:off x="2711904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firewall CFW 砖墙-823">
            <a:extLst>
              <a:ext uri="{FF2B5EF4-FFF2-40B4-BE49-F238E27FC236}">
                <a16:creationId xmlns:a16="http://schemas.microsoft.com/office/drawing/2014/main" id="{B03B37D6-9C62-4A0C-8A66-D5486FA33C57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firewall CFW 砖缝-824">
            <a:extLst>
              <a:ext uri="{FF2B5EF4-FFF2-40B4-BE49-F238E27FC236}">
                <a16:creationId xmlns:a16="http://schemas.microsoft.com/office/drawing/2014/main" id="{081DFF4F-D62F-4781-A620-15F0291A262D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firewall CFW 前景衬底-825">
            <a:extLst>
              <a:ext uri="{FF2B5EF4-FFF2-40B4-BE49-F238E27FC236}">
                <a16:creationId xmlns:a16="http://schemas.microsoft.com/office/drawing/2014/main" id="{F7CC3CB8-8510-4545-B129-F0A47424B311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firewall CFW 简洁火焰-826">
            <a:extLst>
              <a:ext uri="{FF2B5EF4-FFF2-40B4-BE49-F238E27FC236}">
                <a16:creationId xmlns:a16="http://schemas.microsoft.com/office/drawing/2014/main" id="{56E2E012-3EE8-4CE0-AA47-4FDCCE2E78D9}"/>
              </a:ext>
            </a:extLst>
          </p:cNvPr>
          <p:cNvSpPr>
            <a:spLocks noGrp="1"/>
          </p:cNvSpPr>
          <p:nvPr/>
        </p:nvSpPr>
        <p:spPr>
          <a:xfrm>
            <a:off x="3258502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文字 CFW：放行-827">
            <a:extLst>
              <a:ext uri="{FF2B5EF4-FFF2-40B4-BE49-F238E27FC236}">
                <a16:creationId xmlns:a16="http://schemas.microsoft.com/office/drawing/2014/main" id="{0FA3E842-FCE7-4B4A-B8A9-4423D8054AFB}"/>
              </a:ext>
            </a:extLst>
          </p:cNvPr>
          <p:cNvSpPr>
            <a:spLocks noGrp="1"/>
          </p:cNvSpPr>
          <p:nvPr/>
        </p:nvSpPr>
        <p:spPr>
          <a:xfrm>
            <a:off x="2777309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CFW：放行</a:t>
            </a:r>
          </a:p>
        </p:txBody>
      </p:sp>
      <p:sp>
        <p:nvSpPr>
          <p:cNvPr id="33" name="统一风格-case-sg 数据安全组玻璃后沿-828">
            <a:extLst>
              <a:ext uri="{FF2B5EF4-FFF2-40B4-BE49-F238E27FC236}">
                <a16:creationId xmlns:a16="http://schemas.microsoft.com/office/drawing/2014/main" id="{0F682039-998E-4CBE-ABE2-275F1A963CE0}"/>
              </a:ext>
            </a:extLst>
          </p:cNvPr>
          <p:cNvSpPr>
            <a:spLocks noGrp="1"/>
          </p:cNvSpPr>
          <p:nvPr/>
        </p:nvSpPr>
        <p:spPr>
          <a:xfrm>
            <a:off x="4814207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统一风格-case-sg 数据安全组-829">
            <a:extLst>
              <a:ext uri="{FF2B5EF4-FFF2-40B4-BE49-F238E27FC236}">
                <a16:creationId xmlns:a16="http://schemas.microsoft.com/office/drawing/2014/main" id="{5BE51C6A-E4FF-4FC1-A049-0472F95497EB}"/>
              </a:ext>
            </a:extLst>
          </p:cNvPr>
          <p:cNvSpPr>
            <a:spLocks noGrp="1"/>
          </p:cNvSpPr>
          <p:nvPr/>
        </p:nvSpPr>
        <p:spPr>
          <a:xfrm>
            <a:off x="4814207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case-sg 数据安全组玻璃内沿-830">
            <a:extLst>
              <a:ext uri="{FF2B5EF4-FFF2-40B4-BE49-F238E27FC236}">
                <a16:creationId xmlns:a16="http://schemas.microsoft.com/office/drawing/2014/main" id="{CF911ADA-69AD-4A65-B503-E21CBD823AEB}"/>
              </a:ext>
            </a:extLst>
          </p:cNvPr>
          <p:cNvSpPr>
            <a:spLocks noGrp="1"/>
          </p:cNvSpPr>
          <p:nvPr/>
        </p:nvSpPr>
        <p:spPr>
          <a:xfrm>
            <a:off x="4827066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case-sg 数据安全组透光反射面-831">
            <a:extLst>
              <a:ext uri="{FF2B5EF4-FFF2-40B4-BE49-F238E27FC236}">
                <a16:creationId xmlns:a16="http://schemas.microsoft.com/office/drawing/2014/main" id="{15C9F246-36AB-4745-866D-E2BF184BFAFB}"/>
              </a:ext>
            </a:extLst>
          </p:cNvPr>
          <p:cNvSpPr>
            <a:spLocks noGrp="1"/>
          </p:cNvSpPr>
          <p:nvPr/>
        </p:nvSpPr>
        <p:spPr>
          <a:xfrm>
            <a:off x="4833257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case-sg 数据安全组边缘高光-832">
            <a:extLst>
              <a:ext uri="{FF2B5EF4-FFF2-40B4-BE49-F238E27FC236}">
                <a16:creationId xmlns:a16="http://schemas.microsoft.com/office/drawing/2014/main" id="{E7EBE6FB-C3CD-463B-8AD5-02DF05658D46}"/>
              </a:ext>
            </a:extLst>
          </p:cNvPr>
          <p:cNvSpPr>
            <a:spLocks noGrp="1"/>
          </p:cNvSpPr>
          <p:nvPr/>
        </p:nvSpPr>
        <p:spPr>
          <a:xfrm>
            <a:off x="4814207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lock 安全盾-833">
            <a:extLst>
              <a:ext uri="{FF2B5EF4-FFF2-40B4-BE49-F238E27FC236}">
                <a16:creationId xmlns:a16="http://schemas.microsoft.com/office/drawing/2014/main" id="{A8D0DE29-75CE-4FCD-A543-74F51B1E86B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47625"/>
                </a:moveTo>
                <a:cubicBezTo>
                  <a:pt x="381000" y="104775"/>
                  <a:pt x="457200" y="123825"/>
                  <a:pt x="533400" y="142875"/>
                </a:cubicBezTo>
                <a:lnTo>
                  <a:pt x="504825" y="361950"/>
                </a:lnTo>
                <a:cubicBezTo>
                  <a:pt x="485775" y="457200"/>
                  <a:pt x="400050" y="523875"/>
                  <a:pt x="304800" y="571500"/>
                </a:cubicBezTo>
                <a:cubicBezTo>
                  <a:pt x="209550" y="523875"/>
                  <a:pt x="123825" y="457200"/>
                  <a:pt x="104775" y="361950"/>
                </a:cubicBezTo>
                <a:lnTo>
                  <a:pt x="76200" y="142875"/>
                </a:lnTo>
                <a:cubicBezTo>
                  <a:pt x="152400" y="123825"/>
                  <a:pt x="228600" y="104775"/>
                  <a:pt x="304800" y="476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lock 锁梁-834">
            <a:extLst>
              <a:ext uri="{FF2B5EF4-FFF2-40B4-BE49-F238E27FC236}">
                <a16:creationId xmlns:a16="http://schemas.microsoft.com/office/drawing/2014/main" id="{33382363-D9ED-41BC-953E-D04E11D76FE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28600" y="276225"/>
                </a:moveTo>
                <a:lnTo>
                  <a:pt x="228600" y="228600"/>
                </a:lnTo>
                <a:cubicBezTo>
                  <a:pt x="228600" y="123825"/>
                  <a:pt x="381000" y="123825"/>
                  <a:pt x="381000" y="228600"/>
                </a:cubicBezTo>
                <a:lnTo>
                  <a:pt x="381000" y="2762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lock 锁体-835">
            <a:extLst>
              <a:ext uri="{FF2B5EF4-FFF2-40B4-BE49-F238E27FC236}">
                <a16:creationId xmlns:a16="http://schemas.microsoft.com/office/drawing/2014/main" id="{135DEBC1-DB45-4AB1-8A71-A8DA4DED755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0025" y="276225"/>
                </a:moveTo>
                <a:lnTo>
                  <a:pt x="409575" y="276225"/>
                </a:lnTo>
                <a:lnTo>
                  <a:pt x="409575" y="438150"/>
                </a:lnTo>
                <a:lnTo>
                  <a:pt x="200025" y="4381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lock 锁孔-836">
            <a:extLst>
              <a:ext uri="{FF2B5EF4-FFF2-40B4-BE49-F238E27FC236}">
                <a16:creationId xmlns:a16="http://schemas.microsoft.com/office/drawing/2014/main" id="{F9A1A630-C6AF-4B90-9558-B75DFCBA3FFA}"/>
              </a:ext>
            </a:extLst>
          </p:cNvPr>
          <p:cNvSpPr>
            <a:spLocks noGrp="1"/>
          </p:cNvSpPr>
          <p:nvPr/>
        </p:nvSpPr>
        <p:spPr>
          <a:xfrm>
            <a:off x="5360806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333375"/>
                </a:moveTo>
                <a:lnTo>
                  <a:pt x="304800" y="3810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文字 数据安全组-837">
            <a:extLst>
              <a:ext uri="{FF2B5EF4-FFF2-40B4-BE49-F238E27FC236}">
                <a16:creationId xmlns:a16="http://schemas.microsoft.com/office/drawing/2014/main" id="{DB3CCBB4-AF16-473A-9616-AD0D3B50628A}"/>
              </a:ext>
            </a:extLst>
          </p:cNvPr>
          <p:cNvSpPr>
            <a:spLocks noGrp="1"/>
          </p:cNvSpPr>
          <p:nvPr/>
        </p:nvSpPr>
        <p:spPr>
          <a:xfrm>
            <a:off x="4879612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数据安全组</a:t>
            </a:r>
          </a:p>
        </p:txBody>
      </p:sp>
      <p:sp>
        <p:nvSpPr>
          <p:cNvPr id="43" name="统一风格-case-sg 数据库玻璃后沿-838">
            <a:extLst>
              <a:ext uri="{FF2B5EF4-FFF2-40B4-BE49-F238E27FC236}">
                <a16:creationId xmlns:a16="http://schemas.microsoft.com/office/drawing/2014/main" id="{442F10D1-A0F3-44F0-8143-CBC6D0CA2A92}"/>
              </a:ext>
            </a:extLst>
          </p:cNvPr>
          <p:cNvSpPr>
            <a:spLocks noGrp="1"/>
          </p:cNvSpPr>
          <p:nvPr/>
        </p:nvSpPr>
        <p:spPr>
          <a:xfrm>
            <a:off x="6916511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4" name="统一风格-case-sg 数据库-839">
            <a:extLst>
              <a:ext uri="{FF2B5EF4-FFF2-40B4-BE49-F238E27FC236}">
                <a16:creationId xmlns:a16="http://schemas.microsoft.com/office/drawing/2014/main" id="{96005422-6569-4C02-834E-60102E9B01D8}"/>
              </a:ext>
            </a:extLst>
          </p:cNvPr>
          <p:cNvSpPr>
            <a:spLocks noGrp="1"/>
          </p:cNvSpPr>
          <p:nvPr/>
        </p:nvSpPr>
        <p:spPr>
          <a:xfrm>
            <a:off x="6916511" y="2748643"/>
            <a:ext cx="1541689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case-sg 数据库玻璃内沿-840">
            <a:extLst>
              <a:ext uri="{FF2B5EF4-FFF2-40B4-BE49-F238E27FC236}">
                <a16:creationId xmlns:a16="http://schemas.microsoft.com/office/drawing/2014/main" id="{179799CD-0731-4828-B40D-15896EB80FB4}"/>
              </a:ext>
            </a:extLst>
          </p:cNvPr>
          <p:cNvSpPr>
            <a:spLocks noGrp="1"/>
          </p:cNvSpPr>
          <p:nvPr/>
        </p:nvSpPr>
        <p:spPr>
          <a:xfrm>
            <a:off x="6929369" y="2761502"/>
            <a:ext cx="1515972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case-sg 数据库透光反射面-841">
            <a:extLst>
              <a:ext uri="{FF2B5EF4-FFF2-40B4-BE49-F238E27FC236}">
                <a16:creationId xmlns:a16="http://schemas.microsoft.com/office/drawing/2014/main" id="{448195D4-E4A2-475B-B939-0F587E3F05F4}"/>
              </a:ext>
            </a:extLst>
          </p:cNvPr>
          <p:cNvSpPr>
            <a:spLocks noGrp="1"/>
          </p:cNvSpPr>
          <p:nvPr/>
        </p:nvSpPr>
        <p:spPr>
          <a:xfrm>
            <a:off x="6935561" y="2767693"/>
            <a:ext cx="1503589" cy="1120503"/>
          </a:xfrm>
          <a:custGeom>
            <a:avLst/>
            <a:gdLst/>
            <a:ahLst/>
            <a:cxnLst/>
            <a:rect l="0" t="0" r="0" b="0"/>
            <a:pathLst>
              <a:path w="1503589" h="1120503">
                <a:moveTo>
                  <a:pt x="76200" y="0"/>
                </a:moveTo>
                <a:lnTo>
                  <a:pt x="962297" y="0"/>
                </a:lnTo>
                <a:lnTo>
                  <a:pt x="390933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case-sg 数据库边缘高光-842">
            <a:extLst>
              <a:ext uri="{FF2B5EF4-FFF2-40B4-BE49-F238E27FC236}">
                <a16:creationId xmlns:a16="http://schemas.microsoft.com/office/drawing/2014/main" id="{EB2F9C59-2278-4659-ABF4-B291D49BD706}"/>
              </a:ext>
            </a:extLst>
          </p:cNvPr>
          <p:cNvSpPr>
            <a:spLocks noGrp="1"/>
          </p:cNvSpPr>
          <p:nvPr/>
        </p:nvSpPr>
        <p:spPr>
          <a:xfrm>
            <a:off x="6916511" y="2748643"/>
            <a:ext cx="1541689" cy="1158603"/>
          </a:xfrm>
          <a:custGeom>
            <a:avLst/>
            <a:gdLst/>
            <a:ahLst/>
            <a:cxnLst/>
            <a:rect l="0" t="0" r="0" b="0"/>
            <a:pathLst>
              <a:path w="1541689" h="1158603">
                <a:moveTo>
                  <a:pt x="95250" y="9525"/>
                </a:moveTo>
                <a:lnTo>
                  <a:pt x="1446439" y="9525"/>
                </a:lnTo>
                <a:cubicBezTo>
                  <a:pt x="1494064" y="9525"/>
                  <a:pt x="1532164" y="47625"/>
                  <a:pt x="153216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统一风格-db 数据库柱体-843">
            <a:extLst>
              <a:ext uri="{FF2B5EF4-FFF2-40B4-BE49-F238E27FC236}">
                <a16:creationId xmlns:a16="http://schemas.microsoft.com/office/drawing/2014/main" id="{EBA9DBC9-7A88-4CCE-92AC-FCD06D5978E7}"/>
              </a:ext>
            </a:extLst>
          </p:cNvPr>
          <p:cNvSpPr>
            <a:spLocks noGrp="1"/>
          </p:cNvSpPr>
          <p:nvPr/>
        </p:nvSpPr>
        <p:spPr>
          <a:xfrm>
            <a:off x="7463110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38100"/>
                  <a:pt x="533400" y="38100"/>
                  <a:pt x="533400" y="133350"/>
                </a:cubicBezTo>
                <a:lnTo>
                  <a:pt x="533400" y="476250"/>
                </a:lnTo>
                <a:cubicBezTo>
                  <a:pt x="533400" y="571500"/>
                  <a:pt x="76200" y="571500"/>
                  <a:pt x="76200" y="4762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db 数据库分层-844">
            <a:extLst>
              <a:ext uri="{FF2B5EF4-FFF2-40B4-BE49-F238E27FC236}">
                <a16:creationId xmlns:a16="http://schemas.microsoft.com/office/drawing/2014/main" id="{F1F331EE-36B9-41AD-BE9E-8E53951F9F7C}"/>
              </a:ext>
            </a:extLst>
          </p:cNvPr>
          <p:cNvSpPr>
            <a:spLocks noGrp="1"/>
          </p:cNvSpPr>
          <p:nvPr/>
        </p:nvSpPr>
        <p:spPr>
          <a:xfrm>
            <a:off x="7463110" y="2860766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76200" y="133350"/>
                </a:moveTo>
                <a:cubicBezTo>
                  <a:pt x="76200" y="228600"/>
                  <a:pt x="533400" y="228600"/>
                  <a:pt x="533400" y="133350"/>
                </a:cubicBezTo>
                <a:moveTo>
                  <a:pt x="76200" y="304800"/>
                </a:moveTo>
                <a:cubicBezTo>
                  <a:pt x="76200" y="400050"/>
                  <a:pt x="533400" y="400050"/>
                  <a:pt x="533400" y="304800"/>
                </a:cubicBez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文字 数据库-845">
            <a:extLst>
              <a:ext uri="{FF2B5EF4-FFF2-40B4-BE49-F238E27FC236}">
                <a16:creationId xmlns:a16="http://schemas.microsoft.com/office/drawing/2014/main" id="{38A2E154-83C3-43D7-B962-940DB01409EC}"/>
              </a:ext>
            </a:extLst>
          </p:cNvPr>
          <p:cNvSpPr>
            <a:spLocks noGrp="1"/>
          </p:cNvSpPr>
          <p:nvPr/>
        </p:nvSpPr>
        <p:spPr>
          <a:xfrm>
            <a:off x="6981916" y="3393349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51" name="统一风格-文字 10.30.20.10-846">
            <a:extLst>
              <a:ext uri="{FF2B5EF4-FFF2-40B4-BE49-F238E27FC236}">
                <a16:creationId xmlns:a16="http://schemas.microsoft.com/office/drawing/2014/main" id="{AC827DE3-F7E6-4FF7-8F43-2C756485BAE6}"/>
              </a:ext>
            </a:extLst>
          </p:cNvPr>
          <p:cNvSpPr>
            <a:spLocks noGrp="1"/>
          </p:cNvSpPr>
          <p:nvPr/>
        </p:nvSpPr>
        <p:spPr>
          <a:xfrm>
            <a:off x="6981916" y="3981994"/>
            <a:ext cx="1410879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cxnSp>
        <p:nvCxnSpPr>
          <p:cNvPr id="52" name="统一拓扑-case-sg-连线-1">
            <a:extLst>
              <a:ext uri="{FF2B5EF4-FFF2-40B4-BE49-F238E27FC236}">
                <a16:creationId xmlns:a16="http://schemas.microsoft.com/office/drawing/2014/main" id="{311049C5-E17F-4A08-800F-7ABCC1E662EE}"/>
              </a:ext>
            </a:extLst>
          </p:cNvPr>
          <p:cNvCxnSpPr/>
          <p:nvPr/>
        </p:nvCxnSpPr>
        <p:spPr>
          <a:xfrm>
            <a:off x="2151289" y="3327944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3" name="统一拓扑-case-sg-连线-2">
            <a:extLst>
              <a:ext uri="{FF2B5EF4-FFF2-40B4-BE49-F238E27FC236}">
                <a16:creationId xmlns:a16="http://schemas.microsoft.com/office/drawing/2014/main" id="{DB95811F-7E4B-47FF-933F-04A2D87EBBC9}"/>
              </a:ext>
            </a:extLst>
          </p:cNvPr>
          <p:cNvCxnSpPr/>
          <p:nvPr/>
        </p:nvCxnSpPr>
        <p:spPr>
          <a:xfrm>
            <a:off x="4253593" y="3327944"/>
            <a:ext cx="560614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54" name="统一拓扑-case-sg-连线-3">
            <a:extLst>
              <a:ext uri="{FF2B5EF4-FFF2-40B4-BE49-F238E27FC236}">
                <a16:creationId xmlns:a16="http://schemas.microsoft.com/office/drawing/2014/main" id="{C909B903-5952-48A9-A9A5-7FF2720BFBB2}"/>
              </a:ext>
            </a:extLst>
          </p:cNvPr>
          <p:cNvCxnSpPr/>
          <p:nvPr/>
        </p:nvCxnSpPr>
        <p:spPr>
          <a:xfrm>
            <a:off x="6355896" y="3327944"/>
            <a:ext cx="560614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cxnSp>
        <p:nvCxnSpPr>
          <p:cNvPr id="55" name="统一拓扑-case-sg-连线-4">
            <a:extLst>
              <a:ext uri="{FF2B5EF4-FFF2-40B4-BE49-F238E27FC236}">
                <a16:creationId xmlns:a16="http://schemas.microsoft.com/office/drawing/2014/main" id="{C65615B6-2030-4934-9762-FE2E874F3143}"/>
              </a:ext>
            </a:extLst>
          </p:cNvPr>
          <p:cNvCxnSpPr/>
          <p:nvPr/>
        </p:nvCxnSpPr>
        <p:spPr>
          <a:xfrm>
            <a:off x="6542768" y="3234509"/>
            <a:ext cx="186871" cy="186871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6" name="统一拓扑-case-sg-连线-5">
            <a:extLst>
              <a:ext uri="{FF2B5EF4-FFF2-40B4-BE49-F238E27FC236}">
                <a16:creationId xmlns:a16="http://schemas.microsoft.com/office/drawing/2014/main" id="{D94D5292-E96D-43B0-8FB0-FBA5C1E9A278}"/>
              </a:ext>
            </a:extLst>
          </p:cNvPr>
          <p:cNvCxnSpPr/>
          <p:nvPr/>
        </p:nvCxnSpPr>
        <p:spPr>
          <a:xfrm flipH="1">
            <a:off x="6542768" y="3234509"/>
            <a:ext cx="186871" cy="186871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7" name="统一风格-case-sg 关系文字衬底-847">
            <a:extLst>
              <a:ext uri="{FF2B5EF4-FFF2-40B4-BE49-F238E27FC236}">
                <a16:creationId xmlns:a16="http://schemas.microsoft.com/office/drawing/2014/main" id="{BE2EF8EF-CD34-425F-BD6D-796FAD54117B}"/>
              </a:ext>
            </a:extLst>
          </p:cNvPr>
          <p:cNvSpPr>
            <a:spLocks noGrp="1"/>
          </p:cNvSpPr>
          <p:nvPr/>
        </p:nvSpPr>
        <p:spPr>
          <a:xfrm>
            <a:off x="1983105" y="2393587"/>
            <a:ext cx="1728561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统一风格-文字 TCP 3306-848">
            <a:extLst>
              <a:ext uri="{FF2B5EF4-FFF2-40B4-BE49-F238E27FC236}">
                <a16:creationId xmlns:a16="http://schemas.microsoft.com/office/drawing/2014/main" id="{EBD97C1F-F6C2-4686-AB93-B24CAB423F13}"/>
              </a:ext>
            </a:extLst>
          </p:cNvPr>
          <p:cNvSpPr>
            <a:spLocks noGrp="1"/>
          </p:cNvSpPr>
          <p:nvPr/>
        </p:nvSpPr>
        <p:spPr>
          <a:xfrm>
            <a:off x="2020479" y="2393587"/>
            <a:ext cx="1653812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TCP 3306</a:t>
            </a:r>
          </a:p>
        </p:txBody>
      </p:sp>
      <p:sp>
        <p:nvSpPr>
          <p:cNvPr id="59" name="统一风格-case-sg 安全组条件玻璃后沿-849">
            <a:extLst>
              <a:ext uri="{FF2B5EF4-FFF2-40B4-BE49-F238E27FC236}">
                <a16:creationId xmlns:a16="http://schemas.microsoft.com/office/drawing/2014/main" id="{7654C278-E3C7-4837-89EE-DF53249E111F}"/>
              </a:ext>
            </a:extLst>
          </p:cNvPr>
          <p:cNvSpPr>
            <a:spLocks noGrp="1"/>
          </p:cNvSpPr>
          <p:nvPr/>
        </p:nvSpPr>
        <p:spPr>
          <a:xfrm>
            <a:off x="4244249" y="4692106"/>
            <a:ext cx="2429329" cy="90632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0" name="统一风格-case-sg 安全组条件-850">
            <a:extLst>
              <a:ext uri="{FF2B5EF4-FFF2-40B4-BE49-F238E27FC236}">
                <a16:creationId xmlns:a16="http://schemas.microsoft.com/office/drawing/2014/main" id="{62D2526E-7C75-48AE-935B-FD3704CD7C28}"/>
              </a:ext>
            </a:extLst>
          </p:cNvPr>
          <p:cNvSpPr>
            <a:spLocks noGrp="1"/>
          </p:cNvSpPr>
          <p:nvPr/>
        </p:nvSpPr>
        <p:spPr>
          <a:xfrm>
            <a:off x="4244249" y="4692106"/>
            <a:ext cx="2429329" cy="90632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统一风格-case-sg 安全组条件玻璃内沿-851">
            <a:extLst>
              <a:ext uri="{FF2B5EF4-FFF2-40B4-BE49-F238E27FC236}">
                <a16:creationId xmlns:a16="http://schemas.microsoft.com/office/drawing/2014/main" id="{6FD22F78-D309-44C9-84E8-DBE278CFE6C6}"/>
              </a:ext>
            </a:extLst>
          </p:cNvPr>
          <p:cNvSpPr>
            <a:spLocks noGrp="1"/>
          </p:cNvSpPr>
          <p:nvPr/>
        </p:nvSpPr>
        <p:spPr>
          <a:xfrm>
            <a:off x="4257108" y="4704964"/>
            <a:ext cx="2403611" cy="880609"/>
          </a:xfrm>
          <a:prstGeom prst="roundRect">
            <a:avLst>
              <a:gd name="adj" fmla="val 832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统一风格-case-sg 安全组条件边缘高光-852">
            <a:extLst>
              <a:ext uri="{FF2B5EF4-FFF2-40B4-BE49-F238E27FC236}">
                <a16:creationId xmlns:a16="http://schemas.microsoft.com/office/drawing/2014/main" id="{E53EAA8E-02AD-45F0-A7B4-2A13F56AF135}"/>
              </a:ext>
            </a:extLst>
          </p:cNvPr>
          <p:cNvSpPr>
            <a:spLocks noGrp="1"/>
          </p:cNvSpPr>
          <p:nvPr/>
        </p:nvSpPr>
        <p:spPr>
          <a:xfrm>
            <a:off x="4244249" y="4692106"/>
            <a:ext cx="2429329" cy="906326"/>
          </a:xfrm>
          <a:custGeom>
            <a:avLst/>
            <a:gdLst/>
            <a:ahLst/>
            <a:cxnLst/>
            <a:rect l="0" t="0" r="0" b="0"/>
            <a:pathLst>
              <a:path w="2429329" h="906326">
                <a:moveTo>
                  <a:pt x="95250" y="9525"/>
                </a:moveTo>
                <a:lnTo>
                  <a:pt x="2334079" y="9525"/>
                </a:lnTo>
                <a:cubicBezTo>
                  <a:pt x="2381704" y="9525"/>
                  <a:pt x="2419804" y="47625"/>
                  <a:pt x="241980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统一风格-文字 允许来源-853">
            <a:extLst>
              <a:ext uri="{FF2B5EF4-FFF2-40B4-BE49-F238E27FC236}">
                <a16:creationId xmlns:a16="http://schemas.microsoft.com/office/drawing/2014/main" id="{214DDFA6-AE66-4350-A819-8B7145B2421E}"/>
              </a:ext>
            </a:extLst>
          </p:cNvPr>
          <p:cNvSpPr>
            <a:spLocks noGrp="1"/>
          </p:cNvSpPr>
          <p:nvPr/>
        </p:nvSpPr>
        <p:spPr>
          <a:xfrm>
            <a:off x="4347029" y="4785541"/>
            <a:ext cx="2223770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允许来源</a:t>
            </a:r>
          </a:p>
        </p:txBody>
      </p:sp>
      <p:sp>
        <p:nvSpPr>
          <p:cNvPr id="64" name="统一风格-文字 10.20.20.0/24-854">
            <a:extLst>
              <a:ext uri="{FF2B5EF4-FFF2-40B4-BE49-F238E27FC236}">
                <a16:creationId xmlns:a16="http://schemas.microsoft.com/office/drawing/2014/main" id="{2224B1F0-BA0C-4780-8A5D-A981DABE870C}"/>
              </a:ext>
            </a:extLst>
          </p:cNvPr>
          <p:cNvSpPr>
            <a:spLocks noGrp="1"/>
          </p:cNvSpPr>
          <p:nvPr/>
        </p:nvSpPr>
        <p:spPr>
          <a:xfrm>
            <a:off x="4347029" y="5149941"/>
            <a:ext cx="2223770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6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10.20.20.0/24</a:t>
            </a:r>
          </a:p>
        </p:txBody>
      </p:sp>
      <p:sp>
        <p:nvSpPr>
          <p:cNvPr id="65" name="统一风格-文字 服务已监听 3306-855">
            <a:extLst>
              <a:ext uri="{FF2B5EF4-FFF2-40B4-BE49-F238E27FC236}">
                <a16:creationId xmlns:a16="http://schemas.microsoft.com/office/drawing/2014/main" id="{3BEA238E-2AD8-4294-8C30-1C2808218305}"/>
              </a:ext>
            </a:extLst>
          </p:cNvPr>
          <p:cNvSpPr>
            <a:spLocks noGrp="1"/>
          </p:cNvSpPr>
          <p:nvPr/>
        </p:nvSpPr>
        <p:spPr>
          <a:xfrm>
            <a:off x="6823075" y="4878977"/>
            <a:ext cx="1635125" cy="700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服务已监听 3306</a:t>
            </a:r>
          </a:p>
        </p:txBody>
      </p:sp>
      <p:sp>
        <p:nvSpPr>
          <p:cNvPr id="66" name="版式分隔线">
            <a:extLst>
              <a:ext uri="{FF2B5EF4-FFF2-40B4-BE49-F238E27FC236}">
                <a16:creationId xmlns:a16="http://schemas.microsoft.com/office/drawing/2014/main" id="{6FC66075-9CBE-45B9-8393-0EB6D300485D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版式分隔线">
            <a:extLst>
              <a:ext uri="{FF2B5EF4-FFF2-40B4-BE49-F238E27FC236}">
                <a16:creationId xmlns:a16="http://schemas.microsoft.com/office/drawing/2014/main" id="{D0D01935-2655-4A16-96B4-B75DC94A1D29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xt-67">
            <a:extLst>
              <a:ext uri="{FF2B5EF4-FFF2-40B4-BE49-F238E27FC236}">
                <a16:creationId xmlns:a16="http://schemas.microsoft.com/office/drawing/2014/main" id="{7195ADC6-45FC-4890-9AA6-2579C6061909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9" name="txt-68">
            <a:extLst>
              <a:ext uri="{FF2B5EF4-FFF2-40B4-BE49-F238E27FC236}">
                <a16:creationId xmlns:a16="http://schemas.microsoft.com/office/drawing/2014/main" id="{B13C0329-80FF-4B54-ACAF-8B42431087C4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双向引流正常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数据库已监听 3306</a:t>
            </a:r>
          </a:p>
        </p:txBody>
      </p:sp>
      <p:sp>
        <p:nvSpPr>
          <p:cNvPr id="70" name="版式分隔线">
            <a:extLst>
              <a:ext uri="{FF2B5EF4-FFF2-40B4-BE49-F238E27FC236}">
                <a16:creationId xmlns:a16="http://schemas.microsoft.com/office/drawing/2014/main" id="{5387048E-8242-4696-A168-6443100DC542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正文-检查重点">
            <a:extLst>
              <a:ext uri="{FF2B5EF4-FFF2-40B4-BE49-F238E27FC236}">
                <a16:creationId xmlns:a16="http://schemas.microsoft.com/office/drawing/2014/main" id="{FA21978A-B9C0-46E4-99CC-0C89D7E9BBF5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</p:txBody>
      </p:sp>
      <p:sp>
        <p:nvSpPr>
          <p:cNvPr id="72" name="正文-核对实际应用源 与安全组允许来源">
            <a:extLst>
              <a:ext uri="{FF2B5EF4-FFF2-40B4-BE49-F238E27FC236}">
                <a16:creationId xmlns:a16="http://schemas.microsoft.com/office/drawing/2014/main" id="{8E7760BD-384E-4311-BE4E-16EA6B355DF7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核对实际应用源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与安全组允许来源</a:t>
            </a:r>
          </a:p>
        </p:txBody>
      </p:sp>
      <p:sp>
        <p:nvSpPr>
          <p:cNvPr id="73" name="版式分隔线">
            <a:extLst>
              <a:ext uri="{FF2B5EF4-FFF2-40B4-BE49-F238E27FC236}">
                <a16:creationId xmlns:a16="http://schemas.microsoft.com/office/drawing/2014/main" id="{1989B493-F87F-48B6-A68C-D5C3924487CF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正文-修复要求">
            <a:extLst>
              <a:ext uri="{FF2B5EF4-FFF2-40B4-BE49-F238E27FC236}">
                <a16:creationId xmlns:a16="http://schemas.microsoft.com/office/drawing/2014/main" id="{236E1181-4A97-4A02-98BA-6E2124B0021D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修复要求</a:t>
            </a:r>
          </a:p>
        </p:txBody>
      </p:sp>
      <p:sp>
        <p:nvSpPr>
          <p:cNvPr id="75" name="txt-74">
            <a:extLst>
              <a:ext uri="{FF2B5EF4-FFF2-40B4-BE49-F238E27FC236}">
                <a16:creationId xmlns:a16="http://schemas.microsoft.com/office/drawing/2014/main" id="{28960234-8800-4798-8ED8-74C83BB617F0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最小修改、正反用例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7165867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5  典型故障分析">
            <a:extLst>
              <a:ext uri="{FF2B5EF4-FFF2-40B4-BE49-F238E27FC236}">
                <a16:creationId xmlns:a16="http://schemas.microsoft.com/office/drawing/2014/main" id="{862DAE34-DE46-405A-AF71-B1997D4E6B6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正文-案例一分析：数据安全组来源不匹配">
            <a:extLst>
              <a:ext uri="{FF2B5EF4-FFF2-40B4-BE49-F238E27FC236}">
                <a16:creationId xmlns:a16="http://schemas.microsoft.com/office/drawing/2014/main" id="{57929E43-641D-49A5-985D-37AE3021C7F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案例一分析：数据安全组来源不匹配</a:t>
            </a:r>
          </a:p>
        </p:txBody>
      </p:sp>
      <p:sp>
        <p:nvSpPr>
          <p:cNvPr id="3" name="正文-最小授权面向实际发起方，修改后同时验证业务与未授权访问。">
            <a:extLst>
              <a:ext uri="{FF2B5EF4-FFF2-40B4-BE49-F238E27FC236}">
                <a16:creationId xmlns:a16="http://schemas.microsoft.com/office/drawing/2014/main" id="{93F7C46E-0604-4124-BAB3-550C7836A95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最小授权面向实际发起方，修改后同时验证业务与未授权访问。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15310841-6E7D-4C31-A750-44728BCE0B8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55">
            <a:extLst>
              <a:ext uri="{FF2B5EF4-FFF2-40B4-BE49-F238E27FC236}">
                <a16:creationId xmlns:a16="http://schemas.microsoft.com/office/drawing/2014/main" id="{A3E1EB81-A728-4289-B4D1-62B89C3C4EC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74</a:t>
            </a:r>
          </a:p>
        </p:txBody>
      </p:sp>
      <p:sp>
        <p:nvSpPr>
          <p:cNvPr id="6" name="统一风格-案例诊断与修复玻璃后沿-856">
            <a:extLst>
              <a:ext uri="{FF2B5EF4-FFF2-40B4-BE49-F238E27FC236}">
                <a16:creationId xmlns:a16="http://schemas.microsoft.com/office/drawing/2014/main" id="{72F9C89A-3C15-44F8-BB1B-F1BC692DC78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案例诊断与修复-857">
            <a:extLst>
              <a:ext uri="{FF2B5EF4-FFF2-40B4-BE49-F238E27FC236}">
                <a16:creationId xmlns:a16="http://schemas.microsoft.com/office/drawing/2014/main" id="{EE7EE57D-FB28-4AD0-B3BC-1DA8957F90E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案例诊断与修复玻璃内沿-858">
            <a:extLst>
              <a:ext uri="{FF2B5EF4-FFF2-40B4-BE49-F238E27FC236}">
                <a16:creationId xmlns:a16="http://schemas.microsoft.com/office/drawing/2014/main" id="{425FBBF3-51F3-46FA-A0CC-943FF5D22176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1094708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案例诊断与修复透光反射面-859">
            <a:extLst>
              <a:ext uri="{FF2B5EF4-FFF2-40B4-BE49-F238E27FC236}">
                <a16:creationId xmlns:a16="http://schemas.microsoft.com/office/drawing/2014/main" id="{3DCE8A86-B6AB-47B4-9997-4E1078FB968E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934700" cy="1219200"/>
          </a:xfrm>
          <a:custGeom>
            <a:avLst/>
            <a:gdLst/>
            <a:ahLst/>
            <a:cxnLst/>
            <a:rect l="0" t="0" r="0" b="0"/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案例诊断与修复边缘高光-860">
            <a:extLst>
              <a:ext uri="{FF2B5EF4-FFF2-40B4-BE49-F238E27FC236}">
                <a16:creationId xmlns:a16="http://schemas.microsoft.com/office/drawing/2014/main" id="{E46EAF8C-4A8F-44D2-A26F-57B33B2B201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custGeom>
            <a:avLst/>
            <a:gdLst/>
            <a:ahLst/>
            <a:cxnLst/>
            <a:rect l="0" t="0" r="0" b="0"/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39E859D3-4368-4B06-9843-6905708612C4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053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10.20.10.15 不属于允许的 10.20.20.0/24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440D9B3F-C2BA-4168-9D9B-3E70C18EA53E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34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经审批为实际应用来源增加 TCP 3306 的精确授权。</a:t>
            </a:r>
          </a:p>
        </p:txBody>
      </p:sp>
      <p:sp>
        <p:nvSpPr>
          <p:cNvPr id="13" name="统一风格-表格玻璃容器玻璃后沿-861">
            <a:extLst>
              <a:ext uri="{FF2B5EF4-FFF2-40B4-BE49-F238E27FC236}">
                <a16:creationId xmlns:a16="http://schemas.microsoft.com/office/drawing/2014/main" id="{AE8E9D26-A052-48A8-AE5A-E6FB8D41F512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-862">
            <a:extLst>
              <a:ext uri="{FF2B5EF4-FFF2-40B4-BE49-F238E27FC236}">
                <a16:creationId xmlns:a16="http://schemas.microsoft.com/office/drawing/2014/main" id="{D9B1B7DB-E147-4BC9-A38C-185A3B8CB196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表格玻璃容器玻璃内沿-863">
            <a:extLst>
              <a:ext uri="{FF2B5EF4-FFF2-40B4-BE49-F238E27FC236}">
                <a16:creationId xmlns:a16="http://schemas.microsoft.com/office/drawing/2014/main" id="{04CE3C4F-63ED-4CA3-9DEB-664108893B3E}"/>
              </a:ext>
            </a:extLst>
          </p:cNvPr>
          <p:cNvSpPr>
            <a:spLocks noGrp="1"/>
          </p:cNvSpPr>
          <p:nvPr/>
        </p:nvSpPr>
        <p:spPr>
          <a:xfrm>
            <a:off x="546259" y="3508534"/>
            <a:ext cx="11099483" cy="2403158"/>
          </a:xfrm>
          <a:prstGeom prst="roundRect">
            <a:avLst>
              <a:gd name="adj" fmla="val 30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表格玻璃容器边缘高光-864">
            <a:extLst>
              <a:ext uri="{FF2B5EF4-FFF2-40B4-BE49-F238E27FC236}">
                <a16:creationId xmlns:a16="http://schemas.microsoft.com/office/drawing/2014/main" id="{26C07045-F0A2-4F7D-9117-ADE4B368D9DB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custGeom>
            <a:avLst/>
            <a:gdLst/>
            <a:ahLst/>
            <a:cxnLst/>
            <a:rect l="0" t="0" r="0" b="0"/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AA1DE43-3FAD-429B-8AE8-CFA47963B1D0}"/>
              </a:ext>
            </a:extLst>
          </p:cNvPr>
          <p:cNvGraphicFramePr/>
          <p:nvPr/>
        </p:nvGraphicFramePr>
        <p:xfrm>
          <a:off x="609600" y="3571875"/>
          <a:ext cx="10972800" cy="22764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10.20.10.15 访问 10.30.20.10:3306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连接成功且业务回归通过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同源访问目标 TCP 22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按基线拒绝，关联阻断证据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规则差异、测试时间与 CFW 命中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能够关联 CHG-DEMO-001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284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正文-05  典型故障分析">
            <a:extLst>
              <a:ext uri="{FF2B5EF4-FFF2-40B4-BE49-F238E27FC236}">
                <a16:creationId xmlns:a16="http://schemas.microsoft.com/office/drawing/2014/main" id="{4259AF59-73C6-4A14-8D51-433BED559F6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D63F5AAE-48B6-4956-B920-BA57B084B88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案例二：SSH 阻断规则为何没有生效</a:t>
            </a:r>
          </a:p>
        </p:txBody>
      </p:sp>
      <p:sp>
        <p:nvSpPr>
          <p:cNvPr id="3" name="正文-新建 SSH 连接命中首条 Any 放行，后续 TCP 22 阻断未执行">
            <a:extLst>
              <a:ext uri="{FF2B5EF4-FFF2-40B4-BE49-F238E27FC236}">
                <a16:creationId xmlns:a16="http://schemas.microsoft.com/office/drawing/2014/main" id="{4EF7CBF4-B5BF-459A-AC13-4AFC8448E966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新建 SSH 连接命中首条 Any 放行，后续 TCP 22 阻断未执行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1A26330-CF67-4363-AFA0-1A9FDC31FF9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假设无白名单、黑名单或其他高优先级功能影响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5070668D-2966-4094-AD7E-CF6103555E4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6">
            <a:extLst>
              <a:ext uri="{FF2B5EF4-FFF2-40B4-BE49-F238E27FC236}">
                <a16:creationId xmlns:a16="http://schemas.microsoft.com/office/drawing/2014/main" id="{A9B3D5D7-E096-4CD0-90DC-26DEE0CA335B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7" name="统一风格-case-order 新建 SSH 连接玻璃后沿-865">
            <a:extLst>
              <a:ext uri="{FF2B5EF4-FFF2-40B4-BE49-F238E27FC236}">
                <a16:creationId xmlns:a16="http://schemas.microsoft.com/office/drawing/2014/main" id="{B5D5E1AA-2C9A-4723-B167-89E32AB58DFB}"/>
              </a:ext>
            </a:extLst>
          </p:cNvPr>
          <p:cNvSpPr>
            <a:spLocks noGrp="1"/>
          </p:cNvSpPr>
          <p:nvPr/>
        </p:nvSpPr>
        <p:spPr>
          <a:xfrm>
            <a:off x="6096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ase-order 新建 SSH 连接-866">
            <a:extLst>
              <a:ext uri="{FF2B5EF4-FFF2-40B4-BE49-F238E27FC236}">
                <a16:creationId xmlns:a16="http://schemas.microsoft.com/office/drawing/2014/main" id="{CE7780B2-6E33-40AA-9760-07A4A63C899D}"/>
              </a:ext>
            </a:extLst>
          </p:cNvPr>
          <p:cNvSpPr>
            <a:spLocks noGrp="1"/>
          </p:cNvSpPr>
          <p:nvPr/>
        </p:nvSpPr>
        <p:spPr>
          <a:xfrm>
            <a:off x="6096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ase-order 新建 SSH 连接玻璃内沿-867">
            <a:extLst>
              <a:ext uri="{FF2B5EF4-FFF2-40B4-BE49-F238E27FC236}">
                <a16:creationId xmlns:a16="http://schemas.microsoft.com/office/drawing/2014/main" id="{068D1571-4F1A-4497-8A83-B8187C302769}"/>
              </a:ext>
            </a:extLst>
          </p:cNvPr>
          <p:cNvSpPr>
            <a:spLocks noGrp="1"/>
          </p:cNvSpPr>
          <p:nvPr/>
        </p:nvSpPr>
        <p:spPr>
          <a:xfrm>
            <a:off x="622459" y="3322116"/>
            <a:ext cx="1282383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ase-order 新建 SSH 连接透光反射面-868">
            <a:extLst>
              <a:ext uri="{FF2B5EF4-FFF2-40B4-BE49-F238E27FC236}">
                <a16:creationId xmlns:a16="http://schemas.microsoft.com/office/drawing/2014/main" id="{32A30342-EF71-4CDB-925B-EAF490E3205D}"/>
              </a:ext>
            </a:extLst>
          </p:cNvPr>
          <p:cNvSpPr>
            <a:spLocks noGrp="1"/>
          </p:cNvSpPr>
          <p:nvPr/>
        </p:nvSpPr>
        <p:spPr>
          <a:xfrm>
            <a:off x="628650" y="3328307"/>
            <a:ext cx="1270000" cy="1120503"/>
          </a:xfrm>
          <a:custGeom>
            <a:avLst/>
            <a:gdLst/>
            <a:ahLst/>
            <a:cxnLst/>
            <a:rect l="0" t="0" r="0" b="0"/>
            <a:pathLst>
              <a:path w="1270000" h="1120503">
                <a:moveTo>
                  <a:pt x="76200" y="0"/>
                </a:moveTo>
                <a:lnTo>
                  <a:pt x="812800" y="0"/>
                </a:lnTo>
                <a:lnTo>
                  <a:pt x="330200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ase-order 新建 SSH 连接边缘高光-869">
            <a:extLst>
              <a:ext uri="{FF2B5EF4-FFF2-40B4-BE49-F238E27FC236}">
                <a16:creationId xmlns:a16="http://schemas.microsoft.com/office/drawing/2014/main" id="{A96F4A6A-5A4C-40F4-B505-A307329A39A9}"/>
              </a:ext>
            </a:extLst>
          </p:cNvPr>
          <p:cNvSpPr>
            <a:spLocks noGrp="1"/>
          </p:cNvSpPr>
          <p:nvPr/>
        </p:nvSpPr>
        <p:spPr>
          <a:xfrm>
            <a:off x="609600" y="3309257"/>
            <a:ext cx="1308100" cy="1158603"/>
          </a:xfrm>
          <a:custGeom>
            <a:avLst/>
            <a:gdLst/>
            <a:ahLst/>
            <a:cxnLst/>
            <a:rect l="0" t="0" r="0" b="0"/>
            <a:pathLst>
              <a:path w="1308100" h="1158603">
                <a:moveTo>
                  <a:pt x="95250" y="9525"/>
                </a:moveTo>
                <a:lnTo>
                  <a:pt x="1212850" y="9525"/>
                </a:lnTo>
                <a:cubicBezTo>
                  <a:pt x="1260475" y="9525"/>
                  <a:pt x="1298575" y="47625"/>
                  <a:pt x="12985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laptop 终端屏幕-870">
            <a:extLst>
              <a:ext uri="{FF2B5EF4-FFF2-40B4-BE49-F238E27FC236}">
                <a16:creationId xmlns:a16="http://schemas.microsoft.com/office/drawing/2014/main" id="{60E23655-CDF6-4C93-8EC2-2035F2ACE47E}"/>
              </a:ext>
            </a:extLst>
          </p:cNvPr>
          <p:cNvSpPr>
            <a:spLocks noGrp="1"/>
          </p:cNvSpPr>
          <p:nvPr/>
        </p:nvSpPr>
        <p:spPr>
          <a:xfrm>
            <a:off x="10394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66675"/>
                </a:moveTo>
                <a:lnTo>
                  <a:pt x="514350" y="66675"/>
                </a:lnTo>
                <a:lnTo>
                  <a:pt x="514350" y="419100"/>
                </a:lnTo>
                <a:lnTo>
                  <a:pt x="95250" y="41910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laptop 终端底座-871">
            <a:extLst>
              <a:ext uri="{FF2B5EF4-FFF2-40B4-BE49-F238E27FC236}">
                <a16:creationId xmlns:a16="http://schemas.microsoft.com/office/drawing/2014/main" id="{1C5E90A4-8DF3-461E-A831-3ED120C82587}"/>
              </a:ext>
            </a:extLst>
          </p:cNvPr>
          <p:cNvSpPr>
            <a:spLocks noGrp="1"/>
          </p:cNvSpPr>
          <p:nvPr/>
        </p:nvSpPr>
        <p:spPr>
          <a:xfrm>
            <a:off x="10394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95250" y="419100"/>
                </a:moveTo>
                <a:lnTo>
                  <a:pt x="514350" y="419100"/>
                </a:lnTo>
                <a:lnTo>
                  <a:pt x="571500" y="514350"/>
                </a:lnTo>
                <a:lnTo>
                  <a:pt x="3810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laptop 终端内容-872">
            <a:extLst>
              <a:ext uri="{FF2B5EF4-FFF2-40B4-BE49-F238E27FC236}">
                <a16:creationId xmlns:a16="http://schemas.microsoft.com/office/drawing/2014/main" id="{3B5FA3FA-18A2-488D-8BD9-3B9F354358F1}"/>
              </a:ext>
            </a:extLst>
          </p:cNvPr>
          <p:cNvSpPr>
            <a:spLocks noGrp="1"/>
          </p:cNvSpPr>
          <p:nvPr/>
        </p:nvSpPr>
        <p:spPr>
          <a:xfrm>
            <a:off x="10394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90500" y="190500"/>
                </a:moveTo>
                <a:lnTo>
                  <a:pt x="409575" y="1905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文字 新建 SSH 连接-873">
            <a:extLst>
              <a:ext uri="{FF2B5EF4-FFF2-40B4-BE49-F238E27FC236}">
                <a16:creationId xmlns:a16="http://schemas.microsoft.com/office/drawing/2014/main" id="{E7134BB4-9FD1-472A-8F39-B7CEC04D220D}"/>
              </a:ext>
            </a:extLst>
          </p:cNvPr>
          <p:cNvSpPr>
            <a:spLocks noGrp="1"/>
          </p:cNvSpPr>
          <p:nvPr/>
        </p:nvSpPr>
        <p:spPr>
          <a:xfrm>
            <a:off x="675005" y="3907246"/>
            <a:ext cx="1177290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新建 SSH 连接</a:t>
            </a:r>
          </a:p>
        </p:txBody>
      </p:sp>
      <p:sp>
        <p:nvSpPr>
          <p:cNvPr id="16" name="统一风格-case-order SSH 建连成功玻璃后沿-874">
            <a:extLst>
              <a:ext uri="{FF2B5EF4-FFF2-40B4-BE49-F238E27FC236}">
                <a16:creationId xmlns:a16="http://schemas.microsoft.com/office/drawing/2014/main" id="{28D29AEE-B13F-4BDB-9D27-5D9D2DF4D3B8}"/>
              </a:ext>
            </a:extLst>
          </p:cNvPr>
          <p:cNvSpPr>
            <a:spLocks noGrp="1"/>
          </p:cNvSpPr>
          <p:nvPr/>
        </p:nvSpPr>
        <p:spPr>
          <a:xfrm>
            <a:off x="71501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统一风格-case-order SSH 建连成功-875">
            <a:extLst>
              <a:ext uri="{FF2B5EF4-FFF2-40B4-BE49-F238E27FC236}">
                <a16:creationId xmlns:a16="http://schemas.microsoft.com/office/drawing/2014/main" id="{8CEACFF1-8604-4FAE-A6AA-49AFE5DB99AF}"/>
              </a:ext>
            </a:extLst>
          </p:cNvPr>
          <p:cNvSpPr>
            <a:spLocks noGrp="1"/>
          </p:cNvSpPr>
          <p:nvPr/>
        </p:nvSpPr>
        <p:spPr>
          <a:xfrm>
            <a:off x="7150100" y="3309257"/>
            <a:ext cx="1308100" cy="1158603"/>
          </a:xfrm>
          <a:prstGeom prst="roundRect">
            <a:avLst>
              <a:gd name="adj" fmla="val 739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case-order SSH 建连成功玻璃内沿-876">
            <a:extLst>
              <a:ext uri="{FF2B5EF4-FFF2-40B4-BE49-F238E27FC236}">
                <a16:creationId xmlns:a16="http://schemas.microsoft.com/office/drawing/2014/main" id="{75524B08-5014-4C9B-80B5-1D4F67677EAC}"/>
              </a:ext>
            </a:extLst>
          </p:cNvPr>
          <p:cNvSpPr>
            <a:spLocks noGrp="1"/>
          </p:cNvSpPr>
          <p:nvPr/>
        </p:nvSpPr>
        <p:spPr>
          <a:xfrm>
            <a:off x="7162959" y="3322116"/>
            <a:ext cx="1282383" cy="1132885"/>
          </a:xfrm>
          <a:prstGeom prst="roundRect">
            <a:avLst>
              <a:gd name="adj" fmla="val 647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case-order SSH 建连成功透光反射面-877">
            <a:extLst>
              <a:ext uri="{FF2B5EF4-FFF2-40B4-BE49-F238E27FC236}">
                <a16:creationId xmlns:a16="http://schemas.microsoft.com/office/drawing/2014/main" id="{20C15F2D-AB51-4999-A004-B112A5743ED1}"/>
              </a:ext>
            </a:extLst>
          </p:cNvPr>
          <p:cNvSpPr>
            <a:spLocks noGrp="1"/>
          </p:cNvSpPr>
          <p:nvPr/>
        </p:nvSpPr>
        <p:spPr>
          <a:xfrm>
            <a:off x="7169150" y="3328307"/>
            <a:ext cx="1270000" cy="1120503"/>
          </a:xfrm>
          <a:custGeom>
            <a:avLst/>
            <a:gdLst/>
            <a:ahLst/>
            <a:cxnLst/>
            <a:rect l="0" t="0" r="0" b="0"/>
            <a:pathLst>
              <a:path w="1270000" h="1120503">
                <a:moveTo>
                  <a:pt x="76200" y="0"/>
                </a:moveTo>
                <a:lnTo>
                  <a:pt x="812800" y="0"/>
                </a:lnTo>
                <a:lnTo>
                  <a:pt x="330200" y="1120503"/>
                </a:lnTo>
                <a:lnTo>
                  <a:pt x="76200" y="1120503"/>
                </a:lnTo>
                <a:cubicBezTo>
                  <a:pt x="28575" y="1120503"/>
                  <a:pt x="0" y="1091928"/>
                  <a:pt x="0" y="1044303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ase-order SSH 建连成功边缘高光-878">
            <a:extLst>
              <a:ext uri="{FF2B5EF4-FFF2-40B4-BE49-F238E27FC236}">
                <a16:creationId xmlns:a16="http://schemas.microsoft.com/office/drawing/2014/main" id="{4C7E22DF-F524-46A5-A388-F47F5962C041}"/>
              </a:ext>
            </a:extLst>
          </p:cNvPr>
          <p:cNvSpPr>
            <a:spLocks noGrp="1"/>
          </p:cNvSpPr>
          <p:nvPr/>
        </p:nvSpPr>
        <p:spPr>
          <a:xfrm>
            <a:off x="7150100" y="3309257"/>
            <a:ext cx="1308100" cy="1158603"/>
          </a:xfrm>
          <a:custGeom>
            <a:avLst/>
            <a:gdLst/>
            <a:ahLst/>
            <a:cxnLst/>
            <a:rect l="0" t="0" r="0" b="0"/>
            <a:pathLst>
              <a:path w="1308100" h="1158603">
                <a:moveTo>
                  <a:pt x="95250" y="9525"/>
                </a:moveTo>
                <a:lnTo>
                  <a:pt x="1212850" y="9525"/>
                </a:lnTo>
                <a:cubicBezTo>
                  <a:pt x="1260475" y="9525"/>
                  <a:pt x="1298575" y="47625"/>
                  <a:pt x="12985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server 服务器机架-879">
            <a:extLst>
              <a:ext uri="{FF2B5EF4-FFF2-40B4-BE49-F238E27FC236}">
                <a16:creationId xmlns:a16="http://schemas.microsoft.com/office/drawing/2014/main" id="{C7953DDD-B279-4C71-A592-E71548E59F5E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76200"/>
                </a:moveTo>
                <a:lnTo>
                  <a:pt x="523875" y="76200"/>
                </a:lnTo>
                <a:cubicBezTo>
                  <a:pt x="542925" y="76200"/>
                  <a:pt x="552450" y="85725"/>
                  <a:pt x="552450" y="104775"/>
                </a:cubicBezTo>
                <a:lnTo>
                  <a:pt x="552450" y="180975"/>
                </a:lnTo>
                <a:cubicBezTo>
                  <a:pt x="552450" y="200025"/>
                  <a:pt x="542925" y="209550"/>
                  <a:pt x="523875" y="209550"/>
                </a:cubicBezTo>
                <a:lnTo>
                  <a:pt x="85725" y="209550"/>
                </a:lnTo>
                <a:cubicBezTo>
                  <a:pt x="66675" y="209550"/>
                  <a:pt x="57150" y="200025"/>
                  <a:pt x="57150" y="180975"/>
                </a:cubicBezTo>
                <a:lnTo>
                  <a:pt x="57150" y="104775"/>
                </a:lnTo>
                <a:cubicBezTo>
                  <a:pt x="57150" y="85725"/>
                  <a:pt x="66675" y="76200"/>
                  <a:pt x="85725" y="762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server 机架状态-880">
            <a:extLst>
              <a:ext uri="{FF2B5EF4-FFF2-40B4-BE49-F238E27FC236}">
                <a16:creationId xmlns:a16="http://schemas.microsoft.com/office/drawing/2014/main" id="{F4C9F016-1BCF-486F-A43F-9CE616C7DE67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142875"/>
                </a:moveTo>
                <a:lnTo>
                  <a:pt x="304800" y="14287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server 指示灯-881">
            <a:extLst>
              <a:ext uri="{FF2B5EF4-FFF2-40B4-BE49-F238E27FC236}">
                <a16:creationId xmlns:a16="http://schemas.microsoft.com/office/drawing/2014/main" id="{6A382561-5A54-4CD2-B67C-5905B08191A4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133350"/>
                </a:moveTo>
                <a:lnTo>
                  <a:pt x="476250" y="133350"/>
                </a:lnTo>
                <a:lnTo>
                  <a:pt x="476250" y="152400"/>
                </a:lnTo>
                <a:lnTo>
                  <a:pt x="466725" y="15240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server 服务器机架-882">
            <a:extLst>
              <a:ext uri="{FF2B5EF4-FFF2-40B4-BE49-F238E27FC236}">
                <a16:creationId xmlns:a16="http://schemas.microsoft.com/office/drawing/2014/main" id="{18A9C3A8-7AA4-410B-A819-CE3358B101A2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238125"/>
                </a:moveTo>
                <a:lnTo>
                  <a:pt x="523875" y="238125"/>
                </a:lnTo>
                <a:cubicBezTo>
                  <a:pt x="542925" y="238125"/>
                  <a:pt x="552450" y="247650"/>
                  <a:pt x="552450" y="266700"/>
                </a:cubicBezTo>
                <a:lnTo>
                  <a:pt x="552450" y="342900"/>
                </a:lnTo>
                <a:cubicBezTo>
                  <a:pt x="552450" y="361950"/>
                  <a:pt x="542925" y="371475"/>
                  <a:pt x="523875" y="371475"/>
                </a:cubicBezTo>
                <a:lnTo>
                  <a:pt x="85725" y="371475"/>
                </a:lnTo>
                <a:cubicBezTo>
                  <a:pt x="66675" y="371475"/>
                  <a:pt x="57150" y="361950"/>
                  <a:pt x="57150" y="342900"/>
                </a:cubicBezTo>
                <a:lnTo>
                  <a:pt x="57150" y="266700"/>
                </a:lnTo>
                <a:cubicBezTo>
                  <a:pt x="57150" y="247650"/>
                  <a:pt x="66675" y="238125"/>
                  <a:pt x="85725" y="23812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server 机架状态-883">
            <a:extLst>
              <a:ext uri="{FF2B5EF4-FFF2-40B4-BE49-F238E27FC236}">
                <a16:creationId xmlns:a16="http://schemas.microsoft.com/office/drawing/2014/main" id="{E1D3B0B4-3522-4F86-8E69-1D45F2F25973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304800"/>
                </a:moveTo>
                <a:lnTo>
                  <a:pt x="304800" y="30480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server 指示灯-884">
            <a:extLst>
              <a:ext uri="{FF2B5EF4-FFF2-40B4-BE49-F238E27FC236}">
                <a16:creationId xmlns:a16="http://schemas.microsoft.com/office/drawing/2014/main" id="{CDFBAD1C-3CDA-4D15-90E3-7152BE223643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295275"/>
                </a:moveTo>
                <a:lnTo>
                  <a:pt x="476250" y="295275"/>
                </a:lnTo>
                <a:lnTo>
                  <a:pt x="476250" y="314325"/>
                </a:lnTo>
                <a:lnTo>
                  <a:pt x="466725" y="314325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统一风格-server 服务器机架-885">
            <a:extLst>
              <a:ext uri="{FF2B5EF4-FFF2-40B4-BE49-F238E27FC236}">
                <a16:creationId xmlns:a16="http://schemas.microsoft.com/office/drawing/2014/main" id="{6EBBB5F7-EB77-4399-9CB0-56EEF94ED313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85725" y="400050"/>
                </a:moveTo>
                <a:lnTo>
                  <a:pt x="523875" y="400050"/>
                </a:lnTo>
                <a:cubicBezTo>
                  <a:pt x="542925" y="400050"/>
                  <a:pt x="552450" y="409575"/>
                  <a:pt x="552450" y="428625"/>
                </a:cubicBezTo>
                <a:lnTo>
                  <a:pt x="552450" y="504825"/>
                </a:lnTo>
                <a:cubicBezTo>
                  <a:pt x="552450" y="523875"/>
                  <a:pt x="542925" y="533400"/>
                  <a:pt x="523875" y="533400"/>
                </a:cubicBezTo>
                <a:lnTo>
                  <a:pt x="85725" y="533400"/>
                </a:lnTo>
                <a:cubicBezTo>
                  <a:pt x="66675" y="533400"/>
                  <a:pt x="57150" y="523875"/>
                  <a:pt x="57150" y="504825"/>
                </a:cubicBezTo>
                <a:lnTo>
                  <a:pt x="57150" y="428625"/>
                </a:lnTo>
                <a:cubicBezTo>
                  <a:pt x="57150" y="409575"/>
                  <a:pt x="66675" y="400050"/>
                  <a:pt x="85725" y="40005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server 机架状态-886">
            <a:extLst>
              <a:ext uri="{FF2B5EF4-FFF2-40B4-BE49-F238E27FC236}">
                <a16:creationId xmlns:a16="http://schemas.microsoft.com/office/drawing/2014/main" id="{C876FC7D-247C-416E-8689-5D95E5C5CFC6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23825" y="466725"/>
                </a:moveTo>
                <a:lnTo>
                  <a:pt x="304800" y="466725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统一风格-server 指示灯-887">
            <a:extLst>
              <a:ext uri="{FF2B5EF4-FFF2-40B4-BE49-F238E27FC236}">
                <a16:creationId xmlns:a16="http://schemas.microsoft.com/office/drawing/2014/main" id="{D857849F-2F54-4482-BEE7-4508D0148008}"/>
              </a:ext>
            </a:extLst>
          </p:cNvPr>
          <p:cNvSpPr>
            <a:spLocks noGrp="1"/>
          </p:cNvSpPr>
          <p:nvPr/>
        </p:nvSpPr>
        <p:spPr>
          <a:xfrm>
            <a:off x="7579904" y="3421380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66725" y="457200"/>
                </a:moveTo>
                <a:lnTo>
                  <a:pt x="476250" y="457200"/>
                </a:lnTo>
                <a:lnTo>
                  <a:pt x="476250" y="476250"/>
                </a:lnTo>
                <a:lnTo>
                  <a:pt x="466725" y="476250"/>
                </a:lnTo>
                <a:close/>
              </a:path>
            </a:pathLst>
          </a:custGeom>
          <a:solidFill>
            <a:srgbClr val="2053C3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文字 SSH 建连成功-888">
            <a:extLst>
              <a:ext uri="{FF2B5EF4-FFF2-40B4-BE49-F238E27FC236}">
                <a16:creationId xmlns:a16="http://schemas.microsoft.com/office/drawing/2014/main" id="{53A8C5D1-16E2-45E5-9122-EFA913987C84}"/>
              </a:ext>
            </a:extLst>
          </p:cNvPr>
          <p:cNvSpPr>
            <a:spLocks noGrp="1"/>
          </p:cNvSpPr>
          <p:nvPr/>
        </p:nvSpPr>
        <p:spPr>
          <a:xfrm>
            <a:off x="7215505" y="3907246"/>
            <a:ext cx="1177290" cy="4111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1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SSH 建连成功</a:t>
            </a:r>
          </a:p>
        </p:txBody>
      </p:sp>
      <p:cxnSp>
        <p:nvCxnSpPr>
          <p:cNvPr id="31" name="统一拓扑-case-order-连线-1">
            <a:extLst>
              <a:ext uri="{FF2B5EF4-FFF2-40B4-BE49-F238E27FC236}">
                <a16:creationId xmlns:a16="http://schemas.microsoft.com/office/drawing/2014/main" id="{7FEE47D6-0506-4699-A9B8-767A4ABF2FC9}"/>
              </a:ext>
            </a:extLst>
          </p:cNvPr>
          <p:cNvCxnSpPr/>
          <p:nvPr/>
        </p:nvCxnSpPr>
        <p:spPr>
          <a:xfrm>
            <a:off x="1917700" y="3888559"/>
            <a:ext cx="420461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cxnSp>
        <p:nvCxnSpPr>
          <p:cNvPr id="32" name="统一拓扑-case-order-连线-2">
            <a:extLst>
              <a:ext uri="{FF2B5EF4-FFF2-40B4-BE49-F238E27FC236}">
                <a16:creationId xmlns:a16="http://schemas.microsoft.com/office/drawing/2014/main" id="{9792EB23-A732-46BB-A4E1-CE557CAC5E8F}"/>
              </a:ext>
            </a:extLst>
          </p:cNvPr>
          <p:cNvCxnSpPr/>
          <p:nvPr/>
        </p:nvCxnSpPr>
        <p:spPr>
          <a:xfrm>
            <a:off x="6729639" y="3888559"/>
            <a:ext cx="420461" cy="0"/>
          </a:xfrm>
          <a:prstGeom prst="straightConnector1">
            <a:avLst/>
          </a:prstGeom>
          <a:ln w="15417">
            <a:solidFill>
              <a:srgbClr val="2053C3"/>
            </a:solidFill>
            <a:prstDash val="solid"/>
            <a:tailEnd type="triangle" w="sm" len="sm"/>
          </a:ln>
        </p:spPr>
      </p:cxnSp>
      <p:sp>
        <p:nvSpPr>
          <p:cNvPr id="33" name="统一风格-case-order ACL 规则列表玻璃后沿-889">
            <a:extLst>
              <a:ext uri="{FF2B5EF4-FFF2-40B4-BE49-F238E27FC236}">
                <a16:creationId xmlns:a16="http://schemas.microsoft.com/office/drawing/2014/main" id="{265EAB54-27C9-4252-8008-3D5D6F78FC34}"/>
              </a:ext>
            </a:extLst>
          </p:cNvPr>
          <p:cNvSpPr>
            <a:spLocks noGrp="1"/>
          </p:cNvSpPr>
          <p:nvPr/>
        </p:nvSpPr>
        <p:spPr>
          <a:xfrm>
            <a:off x="2338161" y="2169341"/>
            <a:ext cx="4391479" cy="3513183"/>
          </a:xfrm>
          <a:prstGeom prst="roundRect">
            <a:avLst>
              <a:gd name="adj" fmla="val 244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统一风格-case-order ACL 规则列表-890">
            <a:extLst>
              <a:ext uri="{FF2B5EF4-FFF2-40B4-BE49-F238E27FC236}">
                <a16:creationId xmlns:a16="http://schemas.microsoft.com/office/drawing/2014/main" id="{992ADF84-4675-4F1C-A436-9EF675BD1085}"/>
              </a:ext>
            </a:extLst>
          </p:cNvPr>
          <p:cNvSpPr>
            <a:spLocks noGrp="1"/>
          </p:cNvSpPr>
          <p:nvPr/>
        </p:nvSpPr>
        <p:spPr>
          <a:xfrm>
            <a:off x="2338161" y="2169341"/>
            <a:ext cx="4391479" cy="3513183"/>
          </a:xfrm>
          <a:prstGeom prst="roundRect">
            <a:avLst>
              <a:gd name="adj" fmla="val 244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case-order ACL 规则列表玻璃内沿-891">
            <a:extLst>
              <a:ext uri="{FF2B5EF4-FFF2-40B4-BE49-F238E27FC236}">
                <a16:creationId xmlns:a16="http://schemas.microsoft.com/office/drawing/2014/main" id="{15CD800B-7A6B-403B-84DE-3B8BABA0542F}"/>
              </a:ext>
            </a:extLst>
          </p:cNvPr>
          <p:cNvSpPr>
            <a:spLocks noGrp="1"/>
          </p:cNvSpPr>
          <p:nvPr/>
        </p:nvSpPr>
        <p:spPr>
          <a:xfrm>
            <a:off x="2351019" y="2182200"/>
            <a:ext cx="4365761" cy="3487465"/>
          </a:xfrm>
          <a:prstGeom prst="roundRect">
            <a:avLst>
              <a:gd name="adj" fmla="val 210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case-order ACL 规则列表边缘高光-892">
            <a:extLst>
              <a:ext uri="{FF2B5EF4-FFF2-40B4-BE49-F238E27FC236}">
                <a16:creationId xmlns:a16="http://schemas.microsoft.com/office/drawing/2014/main" id="{6D353D48-94D7-4F75-B70C-E43AD8F6D875}"/>
              </a:ext>
            </a:extLst>
          </p:cNvPr>
          <p:cNvSpPr>
            <a:spLocks noGrp="1"/>
          </p:cNvSpPr>
          <p:nvPr/>
        </p:nvSpPr>
        <p:spPr>
          <a:xfrm>
            <a:off x="2338161" y="2169341"/>
            <a:ext cx="4391479" cy="3513183"/>
          </a:xfrm>
          <a:custGeom>
            <a:avLst/>
            <a:gdLst/>
            <a:ahLst/>
            <a:cxnLst/>
            <a:rect l="0" t="0" r="0" b="0"/>
            <a:pathLst>
              <a:path w="4391479" h="3513183">
                <a:moveTo>
                  <a:pt x="95250" y="9525"/>
                </a:moveTo>
                <a:lnTo>
                  <a:pt x="4296229" y="9525"/>
                </a:lnTo>
                <a:cubicBezTo>
                  <a:pt x="4343854" y="9525"/>
                  <a:pt x="4381954" y="47625"/>
                  <a:pt x="4381954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文字 按顺序匹配 ACL-893">
            <a:extLst>
              <a:ext uri="{FF2B5EF4-FFF2-40B4-BE49-F238E27FC236}">
                <a16:creationId xmlns:a16="http://schemas.microsoft.com/office/drawing/2014/main" id="{E4BBB884-35D1-4D7D-AD0E-1BDAA0B8E3E6}"/>
              </a:ext>
            </a:extLst>
          </p:cNvPr>
          <p:cNvSpPr>
            <a:spLocks noGrp="1"/>
          </p:cNvSpPr>
          <p:nvPr/>
        </p:nvSpPr>
        <p:spPr>
          <a:xfrm>
            <a:off x="2515689" y="2281464"/>
            <a:ext cx="4036423" cy="3176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按顺序匹配 ACL</a:t>
            </a:r>
          </a:p>
        </p:txBody>
      </p:sp>
      <p:sp>
        <p:nvSpPr>
          <p:cNvPr id="38" name="统一风格-case-order 规则行-894">
            <a:extLst>
              <a:ext uri="{FF2B5EF4-FFF2-40B4-BE49-F238E27FC236}">
                <a16:creationId xmlns:a16="http://schemas.microsoft.com/office/drawing/2014/main" id="{B2D14CCC-1AEC-4DC8-89AD-ACE2D344068C}"/>
              </a:ext>
            </a:extLst>
          </p:cNvPr>
          <p:cNvSpPr>
            <a:spLocks noGrp="1"/>
          </p:cNvSpPr>
          <p:nvPr/>
        </p:nvSpPr>
        <p:spPr>
          <a:xfrm>
            <a:off x="2440940" y="2776674"/>
            <a:ext cx="4185920" cy="859609"/>
          </a:xfrm>
          <a:prstGeom prst="rect">
            <a:avLst/>
          </a:prstGeom>
          <a:solidFill>
            <a:srgbClr val="D8E6FF">
              <a:alpha val="8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文字 1-895">
            <a:extLst>
              <a:ext uri="{FF2B5EF4-FFF2-40B4-BE49-F238E27FC236}">
                <a16:creationId xmlns:a16="http://schemas.microsoft.com/office/drawing/2014/main" id="{2F4C61C0-1571-4395-8A9C-71551B4FBE09}"/>
              </a:ext>
            </a:extLst>
          </p:cNvPr>
          <p:cNvSpPr>
            <a:spLocks noGrp="1"/>
          </p:cNvSpPr>
          <p:nvPr/>
        </p:nvSpPr>
        <p:spPr>
          <a:xfrm>
            <a:off x="2525032" y="2944858"/>
            <a:ext cx="420461" cy="4858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0" name="统一风格-文字 应用 VPC 到数据 VPC-896">
            <a:extLst>
              <a:ext uri="{FF2B5EF4-FFF2-40B4-BE49-F238E27FC236}">
                <a16:creationId xmlns:a16="http://schemas.microsoft.com/office/drawing/2014/main" id="{A6A8EB17-6574-4661-9E58-7F9767D21DE0}"/>
              </a:ext>
            </a:extLst>
          </p:cNvPr>
          <p:cNvSpPr>
            <a:spLocks noGrp="1"/>
          </p:cNvSpPr>
          <p:nvPr/>
        </p:nvSpPr>
        <p:spPr>
          <a:xfrm>
            <a:off x="3038929" y="2842079"/>
            <a:ext cx="2476046" cy="327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 到数据 VPC</a:t>
            </a:r>
          </a:p>
        </p:txBody>
      </p:sp>
      <p:sp>
        <p:nvSpPr>
          <p:cNvPr id="41" name="统一风格-文字 Any 放行-897">
            <a:extLst>
              <a:ext uri="{FF2B5EF4-FFF2-40B4-BE49-F238E27FC236}">
                <a16:creationId xmlns:a16="http://schemas.microsoft.com/office/drawing/2014/main" id="{D252B99D-75B8-4E23-A071-0730BA40C5CB}"/>
              </a:ext>
            </a:extLst>
          </p:cNvPr>
          <p:cNvSpPr>
            <a:spLocks noGrp="1"/>
          </p:cNvSpPr>
          <p:nvPr/>
        </p:nvSpPr>
        <p:spPr>
          <a:xfrm>
            <a:off x="3038929" y="3215821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Any 放行</a:t>
            </a:r>
          </a:p>
        </p:txBody>
      </p:sp>
      <p:sp>
        <p:nvSpPr>
          <p:cNvPr id="42" name="统一风格-文字 已命中-898">
            <a:extLst>
              <a:ext uri="{FF2B5EF4-FFF2-40B4-BE49-F238E27FC236}">
                <a16:creationId xmlns:a16="http://schemas.microsoft.com/office/drawing/2014/main" id="{CAE70F0E-4E09-448C-8B59-F986E111DBB9}"/>
              </a:ext>
            </a:extLst>
          </p:cNvPr>
          <p:cNvSpPr>
            <a:spLocks noGrp="1"/>
          </p:cNvSpPr>
          <p:nvPr/>
        </p:nvSpPr>
        <p:spPr>
          <a:xfrm>
            <a:off x="5580380" y="2916827"/>
            <a:ext cx="981075" cy="588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已命中</a:t>
            </a:r>
          </a:p>
        </p:txBody>
      </p:sp>
      <p:sp>
        <p:nvSpPr>
          <p:cNvPr id="43" name="统一风格-case-order 规则行-899">
            <a:extLst>
              <a:ext uri="{FF2B5EF4-FFF2-40B4-BE49-F238E27FC236}">
                <a16:creationId xmlns:a16="http://schemas.microsoft.com/office/drawing/2014/main" id="{61179F2B-6CE9-4A0A-8CA4-50F7DCC8C3F1}"/>
              </a:ext>
            </a:extLst>
          </p:cNvPr>
          <p:cNvSpPr>
            <a:spLocks noGrp="1"/>
          </p:cNvSpPr>
          <p:nvPr/>
        </p:nvSpPr>
        <p:spPr>
          <a:xfrm>
            <a:off x="2440940" y="3692344"/>
            <a:ext cx="4185920" cy="859609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文字 2-900">
            <a:extLst>
              <a:ext uri="{FF2B5EF4-FFF2-40B4-BE49-F238E27FC236}">
                <a16:creationId xmlns:a16="http://schemas.microsoft.com/office/drawing/2014/main" id="{E1A55384-47DB-46B2-8F46-E25EDA2D3B7C}"/>
              </a:ext>
            </a:extLst>
          </p:cNvPr>
          <p:cNvSpPr>
            <a:spLocks noGrp="1"/>
          </p:cNvSpPr>
          <p:nvPr/>
        </p:nvSpPr>
        <p:spPr>
          <a:xfrm>
            <a:off x="2525032" y="3860528"/>
            <a:ext cx="420461" cy="4858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5" name="统一风格-文字 10.20.10.15 到 10.30.20.10-901">
            <a:extLst>
              <a:ext uri="{FF2B5EF4-FFF2-40B4-BE49-F238E27FC236}">
                <a16:creationId xmlns:a16="http://schemas.microsoft.com/office/drawing/2014/main" id="{6CEA5F39-51E9-4200-BEE2-CA06F659FC71}"/>
              </a:ext>
            </a:extLst>
          </p:cNvPr>
          <p:cNvSpPr>
            <a:spLocks noGrp="1"/>
          </p:cNvSpPr>
          <p:nvPr/>
        </p:nvSpPr>
        <p:spPr>
          <a:xfrm>
            <a:off x="3038929" y="3757749"/>
            <a:ext cx="2476046" cy="327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 到 10.30.20.10</a:t>
            </a:r>
          </a:p>
        </p:txBody>
      </p:sp>
      <p:sp>
        <p:nvSpPr>
          <p:cNvPr id="46" name="统一风格-文字 TCP 22 阻断-902">
            <a:extLst>
              <a:ext uri="{FF2B5EF4-FFF2-40B4-BE49-F238E27FC236}">
                <a16:creationId xmlns:a16="http://schemas.microsoft.com/office/drawing/2014/main" id="{7024DD63-0E62-40A9-906D-1D813570FB2F}"/>
              </a:ext>
            </a:extLst>
          </p:cNvPr>
          <p:cNvSpPr>
            <a:spLocks noGrp="1"/>
          </p:cNvSpPr>
          <p:nvPr/>
        </p:nvSpPr>
        <p:spPr>
          <a:xfrm>
            <a:off x="3038929" y="4131491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TCP 22 阻断</a:t>
            </a:r>
          </a:p>
        </p:txBody>
      </p:sp>
      <p:sp>
        <p:nvSpPr>
          <p:cNvPr id="47" name="统一风格-文字 未继续匹配-903">
            <a:extLst>
              <a:ext uri="{FF2B5EF4-FFF2-40B4-BE49-F238E27FC236}">
                <a16:creationId xmlns:a16="http://schemas.microsoft.com/office/drawing/2014/main" id="{4707DA25-BEAA-4C48-AF16-96A2EF91253C}"/>
              </a:ext>
            </a:extLst>
          </p:cNvPr>
          <p:cNvSpPr>
            <a:spLocks noGrp="1"/>
          </p:cNvSpPr>
          <p:nvPr/>
        </p:nvSpPr>
        <p:spPr>
          <a:xfrm>
            <a:off x="5580380" y="3832497"/>
            <a:ext cx="981075" cy="588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未继续匹配</a:t>
            </a:r>
          </a:p>
        </p:txBody>
      </p:sp>
      <p:sp>
        <p:nvSpPr>
          <p:cNvPr id="48" name="统一风格-case-order 规则行-904">
            <a:extLst>
              <a:ext uri="{FF2B5EF4-FFF2-40B4-BE49-F238E27FC236}">
                <a16:creationId xmlns:a16="http://schemas.microsoft.com/office/drawing/2014/main" id="{A1931DE6-1A76-4D9F-B117-9CCFFB3DAB54}"/>
              </a:ext>
            </a:extLst>
          </p:cNvPr>
          <p:cNvSpPr>
            <a:spLocks noGrp="1"/>
          </p:cNvSpPr>
          <p:nvPr/>
        </p:nvSpPr>
        <p:spPr>
          <a:xfrm>
            <a:off x="2440940" y="4608014"/>
            <a:ext cx="4185920" cy="859609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统一风格-文字 3-905">
            <a:extLst>
              <a:ext uri="{FF2B5EF4-FFF2-40B4-BE49-F238E27FC236}">
                <a16:creationId xmlns:a16="http://schemas.microsoft.com/office/drawing/2014/main" id="{554ECF66-C248-4CDD-9EF5-DE1F00A438B1}"/>
              </a:ext>
            </a:extLst>
          </p:cNvPr>
          <p:cNvSpPr>
            <a:spLocks noGrp="1"/>
          </p:cNvSpPr>
          <p:nvPr/>
        </p:nvSpPr>
        <p:spPr>
          <a:xfrm>
            <a:off x="2525032" y="4776198"/>
            <a:ext cx="420461" cy="4858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7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0" name="统一风格-文字 其余流量阻断-906">
            <a:extLst>
              <a:ext uri="{FF2B5EF4-FFF2-40B4-BE49-F238E27FC236}">
                <a16:creationId xmlns:a16="http://schemas.microsoft.com/office/drawing/2014/main" id="{0562940F-3223-4805-B60C-F042F99CAB73}"/>
              </a:ext>
            </a:extLst>
          </p:cNvPr>
          <p:cNvSpPr>
            <a:spLocks noGrp="1"/>
          </p:cNvSpPr>
          <p:nvPr/>
        </p:nvSpPr>
        <p:spPr>
          <a:xfrm>
            <a:off x="3038929" y="4673419"/>
            <a:ext cx="2476046" cy="327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其余流量阻断</a:t>
            </a:r>
          </a:p>
        </p:txBody>
      </p:sp>
      <p:sp>
        <p:nvSpPr>
          <p:cNvPr id="51" name="统一风格-文字 -907">
            <a:extLst>
              <a:ext uri="{FF2B5EF4-FFF2-40B4-BE49-F238E27FC236}">
                <a16:creationId xmlns:a16="http://schemas.microsoft.com/office/drawing/2014/main" id="{F1C36788-C786-4D9E-B7C1-9BEAAEE87A66}"/>
              </a:ext>
            </a:extLst>
          </p:cNvPr>
          <p:cNvSpPr>
            <a:spLocks noGrp="1"/>
          </p:cNvSpPr>
          <p:nvPr/>
        </p:nvSpPr>
        <p:spPr>
          <a:xfrm>
            <a:off x="3038929" y="5047161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2" name="统一风格-文字 未继续匹配-908">
            <a:extLst>
              <a:ext uri="{FF2B5EF4-FFF2-40B4-BE49-F238E27FC236}">
                <a16:creationId xmlns:a16="http://schemas.microsoft.com/office/drawing/2014/main" id="{BDCB4993-18DC-4A5E-A45B-EC4BEEDA91F1}"/>
              </a:ext>
            </a:extLst>
          </p:cNvPr>
          <p:cNvSpPr>
            <a:spLocks noGrp="1"/>
          </p:cNvSpPr>
          <p:nvPr/>
        </p:nvSpPr>
        <p:spPr>
          <a:xfrm>
            <a:off x="5580380" y="4748167"/>
            <a:ext cx="981075" cy="588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1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未继续匹配</a:t>
            </a:r>
          </a:p>
        </p:txBody>
      </p:sp>
      <p:sp>
        <p:nvSpPr>
          <p:cNvPr id="53" name="版式分隔线">
            <a:extLst>
              <a:ext uri="{FF2B5EF4-FFF2-40B4-BE49-F238E27FC236}">
                <a16:creationId xmlns:a16="http://schemas.microsoft.com/office/drawing/2014/main" id="{A0D61F59-8178-4BF1-9659-BC8D06659100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版式分隔线">
            <a:extLst>
              <a:ext uri="{FF2B5EF4-FFF2-40B4-BE49-F238E27FC236}">
                <a16:creationId xmlns:a16="http://schemas.microsoft.com/office/drawing/2014/main" id="{A0D7ECE3-E314-441B-BA26-68F38D6B8859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txt-54">
            <a:extLst>
              <a:ext uri="{FF2B5EF4-FFF2-40B4-BE49-F238E27FC236}">
                <a16:creationId xmlns:a16="http://schemas.microsoft.com/office/drawing/2014/main" id="{521A3319-7C62-41DC-B534-4797B4152449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56" name="txt-55">
            <a:extLst>
              <a:ext uri="{FF2B5EF4-FFF2-40B4-BE49-F238E27FC236}">
                <a16:creationId xmlns:a16="http://schemas.microsoft.com/office/drawing/2014/main" id="{3E240F4A-14D9-48AC-8482-9540A6599874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新建连接命中首条规则</a:t>
            </a:r>
          </a:p>
        </p:txBody>
      </p:sp>
      <p:sp>
        <p:nvSpPr>
          <p:cNvPr id="57" name="版式分隔线">
            <a:extLst>
              <a:ext uri="{FF2B5EF4-FFF2-40B4-BE49-F238E27FC236}">
                <a16:creationId xmlns:a16="http://schemas.microsoft.com/office/drawing/2014/main" id="{7317B7F2-DEBF-42A9-9105-0D891428E132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正文-检查重点">
            <a:extLst>
              <a:ext uri="{FF2B5EF4-FFF2-40B4-BE49-F238E27FC236}">
                <a16:creationId xmlns:a16="http://schemas.microsoft.com/office/drawing/2014/main" id="{7D28B572-E569-4C8C-BEA0-1E64A9C2ACAD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</p:txBody>
      </p:sp>
      <p:sp>
        <p:nvSpPr>
          <p:cNvPr id="59" name="正文-检查首条命中与规则顺序 审查整体授权范围">
            <a:extLst>
              <a:ext uri="{FF2B5EF4-FFF2-40B4-BE49-F238E27FC236}">
                <a16:creationId xmlns:a16="http://schemas.microsoft.com/office/drawing/2014/main" id="{5C4ACAEC-934D-40F7-A697-816EB7A7EF0C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检查首条命中与规则顺序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审查整体授权范围</a:t>
            </a:r>
          </a:p>
        </p:txBody>
      </p:sp>
      <p:sp>
        <p:nvSpPr>
          <p:cNvPr id="60" name="版式分隔线">
            <a:extLst>
              <a:ext uri="{FF2B5EF4-FFF2-40B4-BE49-F238E27FC236}">
                <a16:creationId xmlns:a16="http://schemas.microsoft.com/office/drawing/2014/main" id="{57009192-9DF0-4C79-B655-F875E7A50EBD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正文-修复要求">
            <a:extLst>
              <a:ext uri="{FF2B5EF4-FFF2-40B4-BE49-F238E27FC236}">
                <a16:creationId xmlns:a16="http://schemas.microsoft.com/office/drawing/2014/main" id="{3347DBF7-D21E-4B8B-883C-5B487E739BA4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修复要求</a:t>
            </a:r>
          </a:p>
        </p:txBody>
      </p:sp>
      <p:sp>
        <p:nvSpPr>
          <p:cNvPr id="62" name="正文-收敛过宽规则， 保留数据库业务。">
            <a:extLst>
              <a:ext uri="{FF2B5EF4-FFF2-40B4-BE49-F238E27FC236}">
                <a16:creationId xmlns:a16="http://schemas.microsoft.com/office/drawing/2014/main" id="{6F8C1F09-FEBC-4F54-A9E4-7AF54C1AF907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收敛过宽规则，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保留数据库业务。</a:t>
            </a:r>
          </a:p>
        </p:txBody>
      </p:sp>
    </p:spTree>
    <p:extLst>
      <p:ext uri="{BB962C8B-B14F-4D97-AF65-F5344CB8AC3E}">
        <p14:creationId xmlns:p14="http://schemas.microsoft.com/office/powerpoint/2010/main" val="5416576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5  典型故障分析">
            <a:extLst>
              <a:ext uri="{FF2B5EF4-FFF2-40B4-BE49-F238E27FC236}">
                <a16:creationId xmlns:a16="http://schemas.microsoft.com/office/drawing/2014/main" id="{81B35F6D-A9F2-4220-A319-F3417933E67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正文-案例二分析：首条 Any 放行遮蔽后续规则">
            <a:extLst>
              <a:ext uri="{FF2B5EF4-FFF2-40B4-BE49-F238E27FC236}">
                <a16:creationId xmlns:a16="http://schemas.microsoft.com/office/drawing/2014/main" id="{44559EF5-F84F-44B7-A75F-799CC4419D1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案例二分析：首条 Any 放行遮蔽后续规则</a:t>
            </a:r>
          </a:p>
        </p:txBody>
      </p:sp>
      <p:sp>
        <p:nvSpPr>
          <p:cNvPr id="3" name="正文-收敛宽泛授权后，以新建业务连接和未授权连接共同验收。">
            <a:extLst>
              <a:ext uri="{FF2B5EF4-FFF2-40B4-BE49-F238E27FC236}">
                <a16:creationId xmlns:a16="http://schemas.microsoft.com/office/drawing/2014/main" id="{AD7A1EA4-AC10-41F2-8A40-5DDF5054119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收敛宽泛授权后，以新建业务连接和未授权连接共同验收。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2E752498-499D-4998-A61E-2B1FB44FE8E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57">
            <a:extLst>
              <a:ext uri="{FF2B5EF4-FFF2-40B4-BE49-F238E27FC236}">
                <a16:creationId xmlns:a16="http://schemas.microsoft.com/office/drawing/2014/main" id="{DF54BC4D-E3F4-4022-BB2C-34FFB22D89D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76</a:t>
            </a:r>
          </a:p>
        </p:txBody>
      </p:sp>
      <p:sp>
        <p:nvSpPr>
          <p:cNvPr id="6" name="统一风格-案例诊断与修复玻璃后沿-909">
            <a:extLst>
              <a:ext uri="{FF2B5EF4-FFF2-40B4-BE49-F238E27FC236}">
                <a16:creationId xmlns:a16="http://schemas.microsoft.com/office/drawing/2014/main" id="{E2BAFCAF-09D7-4BF7-B990-5014987AF72E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案例诊断与修复-910">
            <a:extLst>
              <a:ext uri="{FF2B5EF4-FFF2-40B4-BE49-F238E27FC236}">
                <a16:creationId xmlns:a16="http://schemas.microsoft.com/office/drawing/2014/main" id="{B3CFAABC-5543-4B4D-8C1C-97FE3EBA6D9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案例诊断与修复玻璃内沿-911">
            <a:extLst>
              <a:ext uri="{FF2B5EF4-FFF2-40B4-BE49-F238E27FC236}">
                <a16:creationId xmlns:a16="http://schemas.microsoft.com/office/drawing/2014/main" id="{C51648DD-43AC-42E4-B574-8D7ADCD16A0A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1094708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案例诊断与修复透光反射面-912">
            <a:extLst>
              <a:ext uri="{FF2B5EF4-FFF2-40B4-BE49-F238E27FC236}">
                <a16:creationId xmlns:a16="http://schemas.microsoft.com/office/drawing/2014/main" id="{47FEFDD3-3A76-40C7-B65A-6E77032B51B1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934700" cy="1219200"/>
          </a:xfrm>
          <a:custGeom>
            <a:avLst/>
            <a:gdLst/>
            <a:ahLst/>
            <a:cxnLst/>
            <a:rect l="0" t="0" r="0" b="0"/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案例诊断与修复边缘高光-913">
            <a:extLst>
              <a:ext uri="{FF2B5EF4-FFF2-40B4-BE49-F238E27FC236}">
                <a16:creationId xmlns:a16="http://schemas.microsoft.com/office/drawing/2014/main" id="{9A6CC3E0-92C1-4545-A7B1-C702E3C9B971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custGeom>
            <a:avLst/>
            <a:gdLst/>
            <a:ahLst/>
            <a:cxnLst/>
            <a:rect l="0" t="0" r="0" b="0"/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11BF688A-9ED3-443C-9D7D-84CAD944AB3F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053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ACL 在首条规则命中后停止继续匹配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7E174A22-54C3-46AF-AA82-88595FAA7B32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34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以已批准的源、目的与 TCP 3306 放行替换宽泛 Any 规则。</a:t>
            </a:r>
          </a:p>
        </p:txBody>
      </p:sp>
      <p:sp>
        <p:nvSpPr>
          <p:cNvPr id="13" name="统一风格-表格玻璃容器玻璃后沿-914">
            <a:extLst>
              <a:ext uri="{FF2B5EF4-FFF2-40B4-BE49-F238E27FC236}">
                <a16:creationId xmlns:a16="http://schemas.microsoft.com/office/drawing/2014/main" id="{11AF2678-1247-4BF4-B545-8AD812FF6153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-915">
            <a:extLst>
              <a:ext uri="{FF2B5EF4-FFF2-40B4-BE49-F238E27FC236}">
                <a16:creationId xmlns:a16="http://schemas.microsoft.com/office/drawing/2014/main" id="{5F2E7AF0-6E08-4B48-A118-54BCA966E89B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表格玻璃容器玻璃内沿-916">
            <a:extLst>
              <a:ext uri="{FF2B5EF4-FFF2-40B4-BE49-F238E27FC236}">
                <a16:creationId xmlns:a16="http://schemas.microsoft.com/office/drawing/2014/main" id="{46EEF7F3-26AD-439D-9A04-DDE237D6F1B1}"/>
              </a:ext>
            </a:extLst>
          </p:cNvPr>
          <p:cNvSpPr>
            <a:spLocks noGrp="1"/>
          </p:cNvSpPr>
          <p:nvPr/>
        </p:nvSpPr>
        <p:spPr>
          <a:xfrm>
            <a:off x="546259" y="3508534"/>
            <a:ext cx="11099483" cy="2403158"/>
          </a:xfrm>
          <a:prstGeom prst="roundRect">
            <a:avLst>
              <a:gd name="adj" fmla="val 30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表格玻璃容器边缘高光-917">
            <a:extLst>
              <a:ext uri="{FF2B5EF4-FFF2-40B4-BE49-F238E27FC236}">
                <a16:creationId xmlns:a16="http://schemas.microsoft.com/office/drawing/2014/main" id="{D8E3F3B4-496A-4E5B-8EFB-728E11416612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custGeom>
            <a:avLst/>
            <a:gdLst/>
            <a:ahLst/>
            <a:cxnLst/>
            <a:rect l="0" t="0" r="0" b="0"/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81696B4-D776-4630-AFA4-9A9E00159023}"/>
              </a:ext>
            </a:extLst>
          </p:cNvPr>
          <p:cNvGraphicFramePr/>
          <p:nvPr/>
        </p:nvGraphicFramePr>
        <p:xfrm>
          <a:off x="609600" y="3571875"/>
          <a:ext cx="10972800" cy="22764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规则集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精确业务放行、获批运维、范围内兜底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依赖梳理完成后启用阻断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新建数据库连接与业务交易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命中精确放行，业务正常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SSH 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命中预期阻断，拒绝成功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7778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正文-05  典型故障分析">
            <a:extLst>
              <a:ext uri="{FF2B5EF4-FFF2-40B4-BE49-F238E27FC236}">
                <a16:creationId xmlns:a16="http://schemas.microsoft.com/office/drawing/2014/main" id="{3D7094E6-8082-4953-AC1B-A7C1C9F6839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86659BCA-C1CE-4422-A6D8-A5DE5485B8A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案例三：业务正常却看不到 CFW 流量</a:t>
            </a:r>
          </a:p>
        </p:txBody>
      </p:sp>
      <p:sp>
        <p:nvSpPr>
          <p:cNvPr id="3" name="正文-目标网段命中旧对等连接，业务可达但未进入预期 ER / CFW 检查路径">
            <a:extLst>
              <a:ext uri="{FF2B5EF4-FFF2-40B4-BE49-F238E27FC236}">
                <a16:creationId xmlns:a16="http://schemas.microsoft.com/office/drawing/2014/main" id="{E30B63B0-14E1-4331-AF4D-5479E12FEFF7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目标网段命中旧对等连接，业务可达但未进入预期 ER / CFW 检查路径</a:t>
            </a:r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CE6DC540-8748-450B-AB2E-2E593658F08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仅调整批准的业务范围，先评估旧互联是否还承载其他业务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AAD6BE1C-F6C7-4A26-8FE9-8507E88219A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58">
            <a:extLst>
              <a:ext uri="{FF2B5EF4-FFF2-40B4-BE49-F238E27FC236}">
                <a16:creationId xmlns:a16="http://schemas.microsoft.com/office/drawing/2014/main" id="{3B96E17A-B383-462F-B7A8-B8BA4E5426C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77</a:t>
            </a:r>
          </a:p>
        </p:txBody>
      </p:sp>
      <p:sp>
        <p:nvSpPr>
          <p:cNvPr id="7" name="统一风格-case-bypass 应用 VPC玻璃后沿-918">
            <a:extLst>
              <a:ext uri="{FF2B5EF4-FFF2-40B4-BE49-F238E27FC236}">
                <a16:creationId xmlns:a16="http://schemas.microsoft.com/office/drawing/2014/main" id="{3032A6A4-D744-4CB2-BE44-220F81F5061D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统一风格-case-bypass 应用 VPC-919">
            <a:extLst>
              <a:ext uri="{FF2B5EF4-FFF2-40B4-BE49-F238E27FC236}">
                <a16:creationId xmlns:a16="http://schemas.microsoft.com/office/drawing/2014/main" id="{475EF53F-27F2-490B-BDC2-55BBE6C0D379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case-bypass 应用 VPC玻璃内沿-920">
            <a:extLst>
              <a:ext uri="{FF2B5EF4-FFF2-40B4-BE49-F238E27FC236}">
                <a16:creationId xmlns:a16="http://schemas.microsoft.com/office/drawing/2014/main" id="{F1D626F3-D124-44A6-B593-E016907884F6}"/>
              </a:ext>
            </a:extLst>
          </p:cNvPr>
          <p:cNvSpPr>
            <a:spLocks noGrp="1"/>
          </p:cNvSpPr>
          <p:nvPr/>
        </p:nvSpPr>
        <p:spPr>
          <a:xfrm>
            <a:off x="622459" y="2098108"/>
            <a:ext cx="2216740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case-bypass 应用 VPC透光反射面-921">
            <a:extLst>
              <a:ext uri="{FF2B5EF4-FFF2-40B4-BE49-F238E27FC236}">
                <a16:creationId xmlns:a16="http://schemas.microsoft.com/office/drawing/2014/main" id="{8597490A-9263-43AF-93BE-5332D7717BF2}"/>
              </a:ext>
            </a:extLst>
          </p:cNvPr>
          <p:cNvSpPr>
            <a:spLocks noGrp="1"/>
          </p:cNvSpPr>
          <p:nvPr/>
        </p:nvSpPr>
        <p:spPr>
          <a:xfrm>
            <a:off x="628650" y="2104299"/>
            <a:ext cx="2204357" cy="877570"/>
          </a:xfrm>
          <a:custGeom>
            <a:avLst/>
            <a:gdLst/>
            <a:ahLst/>
            <a:cxnLst/>
            <a:rect l="0" t="0" r="0" b="0"/>
            <a:pathLst>
              <a:path w="2204357" h="877570">
                <a:moveTo>
                  <a:pt x="76200" y="0"/>
                </a:moveTo>
                <a:lnTo>
                  <a:pt x="1410789" y="0"/>
                </a:lnTo>
                <a:lnTo>
                  <a:pt x="573133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case-bypass 应用 VPC边缘高光-922">
            <a:extLst>
              <a:ext uri="{FF2B5EF4-FFF2-40B4-BE49-F238E27FC236}">
                <a16:creationId xmlns:a16="http://schemas.microsoft.com/office/drawing/2014/main" id="{940AEDF7-F369-4849-9E00-3643563ABCAC}"/>
              </a:ext>
            </a:extLst>
          </p:cNvPr>
          <p:cNvSpPr>
            <a:spLocks noGrp="1"/>
          </p:cNvSpPr>
          <p:nvPr/>
        </p:nvSpPr>
        <p:spPr>
          <a:xfrm>
            <a:off x="609600" y="2085249"/>
            <a:ext cx="2242457" cy="915670"/>
          </a:xfrm>
          <a:custGeom>
            <a:avLst/>
            <a:gdLst/>
            <a:ahLst/>
            <a:cxnLst/>
            <a:rect l="0" t="0" r="0" b="0"/>
            <a:pathLst>
              <a:path w="2242457" h="915670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cloud VPC 云轮廓-923">
            <a:extLst>
              <a:ext uri="{FF2B5EF4-FFF2-40B4-BE49-F238E27FC236}">
                <a16:creationId xmlns:a16="http://schemas.microsoft.com/office/drawing/2014/main" id="{77A2C495-FF66-4AD2-B615-A32F397F77A0}"/>
              </a:ext>
            </a:extLst>
          </p:cNvPr>
          <p:cNvSpPr>
            <a:spLocks noGrp="1"/>
          </p:cNvSpPr>
          <p:nvPr/>
        </p:nvSpPr>
        <p:spPr>
          <a:xfrm>
            <a:off x="768441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应用 VPC-924">
            <a:extLst>
              <a:ext uri="{FF2B5EF4-FFF2-40B4-BE49-F238E27FC236}">
                <a16:creationId xmlns:a16="http://schemas.microsoft.com/office/drawing/2014/main" id="{E4475498-F45E-45BF-8322-2FC2ABABD03B}"/>
              </a:ext>
            </a:extLst>
          </p:cNvPr>
          <p:cNvSpPr>
            <a:spLocks noGrp="1"/>
          </p:cNvSpPr>
          <p:nvPr/>
        </p:nvSpPr>
        <p:spPr>
          <a:xfrm>
            <a:off x="1385116" y="2244090"/>
            <a:ext cx="1364161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应用 VPC</a:t>
            </a:r>
          </a:p>
        </p:txBody>
      </p:sp>
      <p:sp>
        <p:nvSpPr>
          <p:cNvPr id="14" name="统一风格-文字 10.20.10.15-925">
            <a:extLst>
              <a:ext uri="{FF2B5EF4-FFF2-40B4-BE49-F238E27FC236}">
                <a16:creationId xmlns:a16="http://schemas.microsoft.com/office/drawing/2014/main" id="{F3421B03-4CA1-40CC-9B45-DE505F182567}"/>
              </a:ext>
            </a:extLst>
          </p:cNvPr>
          <p:cNvSpPr>
            <a:spLocks noGrp="1"/>
          </p:cNvSpPr>
          <p:nvPr/>
        </p:nvSpPr>
        <p:spPr>
          <a:xfrm>
            <a:off x="1385116" y="2571115"/>
            <a:ext cx="1364161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10.20.10.15</a:t>
            </a:r>
          </a:p>
        </p:txBody>
      </p:sp>
      <p:sp>
        <p:nvSpPr>
          <p:cNvPr id="15" name="统一风格-case-bypass 数据 VPC玻璃后沿-926">
            <a:extLst>
              <a:ext uri="{FF2B5EF4-FFF2-40B4-BE49-F238E27FC236}">
                <a16:creationId xmlns:a16="http://schemas.microsoft.com/office/drawing/2014/main" id="{52A57566-B6E0-4F13-841F-631070E5FCC8}"/>
              </a:ext>
            </a:extLst>
          </p:cNvPr>
          <p:cNvSpPr>
            <a:spLocks noGrp="1"/>
          </p:cNvSpPr>
          <p:nvPr/>
        </p:nvSpPr>
        <p:spPr>
          <a:xfrm>
            <a:off x="6215743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统一风格-case-bypass 数据 VPC-927">
            <a:extLst>
              <a:ext uri="{FF2B5EF4-FFF2-40B4-BE49-F238E27FC236}">
                <a16:creationId xmlns:a16="http://schemas.microsoft.com/office/drawing/2014/main" id="{A613E765-2EE8-47CC-907A-5AD69FC101EF}"/>
              </a:ext>
            </a:extLst>
          </p:cNvPr>
          <p:cNvSpPr>
            <a:spLocks noGrp="1"/>
          </p:cNvSpPr>
          <p:nvPr/>
        </p:nvSpPr>
        <p:spPr>
          <a:xfrm>
            <a:off x="6215743" y="2085249"/>
            <a:ext cx="2242457" cy="915670"/>
          </a:xfrm>
          <a:prstGeom prst="roundRect">
            <a:avLst>
              <a:gd name="adj" fmla="val 936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统一风格-case-bypass 数据 VPC玻璃内沿-928">
            <a:extLst>
              <a:ext uri="{FF2B5EF4-FFF2-40B4-BE49-F238E27FC236}">
                <a16:creationId xmlns:a16="http://schemas.microsoft.com/office/drawing/2014/main" id="{D412918A-2E55-4AA0-97FD-2A0CDD24F42D}"/>
              </a:ext>
            </a:extLst>
          </p:cNvPr>
          <p:cNvSpPr>
            <a:spLocks noGrp="1"/>
          </p:cNvSpPr>
          <p:nvPr/>
        </p:nvSpPr>
        <p:spPr>
          <a:xfrm>
            <a:off x="6228602" y="2098108"/>
            <a:ext cx="2216740" cy="889952"/>
          </a:xfrm>
          <a:prstGeom prst="roundRect">
            <a:avLst>
              <a:gd name="adj" fmla="val 8241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case-bypass 数据 VPC透光反射面-929">
            <a:extLst>
              <a:ext uri="{FF2B5EF4-FFF2-40B4-BE49-F238E27FC236}">
                <a16:creationId xmlns:a16="http://schemas.microsoft.com/office/drawing/2014/main" id="{E7E6E7D5-2D94-43FB-82AC-5F4F81B28646}"/>
              </a:ext>
            </a:extLst>
          </p:cNvPr>
          <p:cNvSpPr>
            <a:spLocks noGrp="1"/>
          </p:cNvSpPr>
          <p:nvPr/>
        </p:nvSpPr>
        <p:spPr>
          <a:xfrm>
            <a:off x="6234793" y="2104299"/>
            <a:ext cx="2204357" cy="877570"/>
          </a:xfrm>
          <a:custGeom>
            <a:avLst/>
            <a:gdLst/>
            <a:ahLst/>
            <a:cxnLst/>
            <a:rect l="0" t="0" r="0" b="0"/>
            <a:pathLst>
              <a:path w="2204357" h="877570">
                <a:moveTo>
                  <a:pt x="76200" y="0"/>
                </a:moveTo>
                <a:lnTo>
                  <a:pt x="1410789" y="0"/>
                </a:lnTo>
                <a:lnTo>
                  <a:pt x="573133" y="877570"/>
                </a:lnTo>
                <a:lnTo>
                  <a:pt x="76200" y="877570"/>
                </a:lnTo>
                <a:cubicBezTo>
                  <a:pt x="28575" y="877570"/>
                  <a:pt x="0" y="848995"/>
                  <a:pt x="0" y="80137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case-bypass 数据 VPC边缘高光-930">
            <a:extLst>
              <a:ext uri="{FF2B5EF4-FFF2-40B4-BE49-F238E27FC236}">
                <a16:creationId xmlns:a16="http://schemas.microsoft.com/office/drawing/2014/main" id="{8EDCFF65-F044-45B2-A93B-237F01369F22}"/>
              </a:ext>
            </a:extLst>
          </p:cNvPr>
          <p:cNvSpPr>
            <a:spLocks noGrp="1"/>
          </p:cNvSpPr>
          <p:nvPr/>
        </p:nvSpPr>
        <p:spPr>
          <a:xfrm>
            <a:off x="6215743" y="2085249"/>
            <a:ext cx="2242457" cy="915670"/>
          </a:xfrm>
          <a:custGeom>
            <a:avLst/>
            <a:gdLst/>
            <a:ahLst/>
            <a:cxnLst/>
            <a:rect l="0" t="0" r="0" b="0"/>
            <a:pathLst>
              <a:path w="2242457" h="915670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cloud VPC 云轮廓-931">
            <a:extLst>
              <a:ext uri="{FF2B5EF4-FFF2-40B4-BE49-F238E27FC236}">
                <a16:creationId xmlns:a16="http://schemas.microsoft.com/office/drawing/2014/main" id="{A23F58C9-4EA3-4836-93BC-229BB5B2CD68}"/>
              </a:ext>
            </a:extLst>
          </p:cNvPr>
          <p:cNvSpPr>
            <a:spLocks noGrp="1"/>
          </p:cNvSpPr>
          <p:nvPr/>
        </p:nvSpPr>
        <p:spPr>
          <a:xfrm>
            <a:off x="6374584" y="2309495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71450" y="466725"/>
                </a:moveTo>
                <a:cubicBezTo>
                  <a:pt x="85725" y="466725"/>
                  <a:pt x="28575" y="409575"/>
                  <a:pt x="28575" y="333375"/>
                </a:cubicBezTo>
                <a:cubicBezTo>
                  <a:pt x="28575" y="266700"/>
                  <a:pt x="76200" y="209550"/>
                  <a:pt x="152400" y="209550"/>
                </a:cubicBezTo>
                <a:cubicBezTo>
                  <a:pt x="180975" y="114300"/>
                  <a:pt x="257175" y="66675"/>
                  <a:pt x="342900" y="85725"/>
                </a:cubicBezTo>
                <a:cubicBezTo>
                  <a:pt x="428625" y="104775"/>
                  <a:pt x="485775" y="161925"/>
                  <a:pt x="495300" y="247650"/>
                </a:cubicBezTo>
                <a:cubicBezTo>
                  <a:pt x="561975" y="247650"/>
                  <a:pt x="600075" y="295275"/>
                  <a:pt x="600075" y="361950"/>
                </a:cubicBezTo>
                <a:cubicBezTo>
                  <a:pt x="600075" y="428625"/>
                  <a:pt x="542925" y="466725"/>
                  <a:pt x="476250" y="466725"/>
                </a:cubicBezTo>
                <a:lnTo>
                  <a:pt x="171450" y="46672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文字 数据 VPC-932">
            <a:extLst>
              <a:ext uri="{FF2B5EF4-FFF2-40B4-BE49-F238E27FC236}">
                <a16:creationId xmlns:a16="http://schemas.microsoft.com/office/drawing/2014/main" id="{2574BAAC-0593-48D5-B801-17D8F57DC1D4}"/>
              </a:ext>
            </a:extLst>
          </p:cNvPr>
          <p:cNvSpPr>
            <a:spLocks noGrp="1"/>
          </p:cNvSpPr>
          <p:nvPr/>
        </p:nvSpPr>
        <p:spPr>
          <a:xfrm>
            <a:off x="6991259" y="2244090"/>
            <a:ext cx="1364161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数据 VPC</a:t>
            </a:r>
          </a:p>
        </p:txBody>
      </p:sp>
      <p:sp>
        <p:nvSpPr>
          <p:cNvPr id="22" name="统一风格-文字 10.30.20.10-933">
            <a:extLst>
              <a:ext uri="{FF2B5EF4-FFF2-40B4-BE49-F238E27FC236}">
                <a16:creationId xmlns:a16="http://schemas.microsoft.com/office/drawing/2014/main" id="{7F73F54E-BB39-4A4A-A300-AE67C3C022C3}"/>
              </a:ext>
            </a:extLst>
          </p:cNvPr>
          <p:cNvSpPr>
            <a:spLocks noGrp="1"/>
          </p:cNvSpPr>
          <p:nvPr/>
        </p:nvSpPr>
        <p:spPr>
          <a:xfrm>
            <a:off x="6991259" y="2571115"/>
            <a:ext cx="1364161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10.30.20.10</a:t>
            </a:r>
          </a:p>
        </p:txBody>
      </p:sp>
      <p:cxnSp>
        <p:nvCxnSpPr>
          <p:cNvPr id="23" name="统一拓扑-case-bypass-连线-1">
            <a:extLst>
              <a:ext uri="{FF2B5EF4-FFF2-40B4-BE49-F238E27FC236}">
                <a16:creationId xmlns:a16="http://schemas.microsoft.com/office/drawing/2014/main" id="{827178AC-69CD-4277-A0A9-11C50A157C12}"/>
              </a:ext>
            </a:extLst>
          </p:cNvPr>
          <p:cNvCxnSpPr/>
          <p:nvPr/>
        </p:nvCxnSpPr>
        <p:spPr>
          <a:xfrm>
            <a:off x="2852057" y="2543084"/>
            <a:ext cx="3363686" cy="0"/>
          </a:xfrm>
          <a:prstGeom prst="straightConnector1">
            <a:avLst/>
          </a:prstGeom>
          <a:ln w="15417">
            <a:solidFill>
              <a:srgbClr val="647B9C"/>
            </a:solidFill>
            <a:prstDash val="dash"/>
            <a:tailEnd type="triangle" w="sm" len="sm"/>
          </a:ln>
        </p:spPr>
      </p:cxnSp>
      <p:sp>
        <p:nvSpPr>
          <p:cNvPr id="24" name="统一风格-case-bypass 关系文字衬底-934">
            <a:extLst>
              <a:ext uri="{FF2B5EF4-FFF2-40B4-BE49-F238E27FC236}">
                <a16:creationId xmlns:a16="http://schemas.microsoft.com/office/drawing/2014/main" id="{86D18F13-A720-42AE-8F87-EADF2C3DDA84}"/>
              </a:ext>
            </a:extLst>
          </p:cNvPr>
          <p:cNvSpPr>
            <a:spLocks noGrp="1"/>
          </p:cNvSpPr>
          <p:nvPr/>
        </p:nvSpPr>
        <p:spPr>
          <a:xfrm>
            <a:off x="2926806" y="2169341"/>
            <a:ext cx="3232876" cy="2616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文字 旧对等连接：实际命中-935">
            <a:extLst>
              <a:ext uri="{FF2B5EF4-FFF2-40B4-BE49-F238E27FC236}">
                <a16:creationId xmlns:a16="http://schemas.microsoft.com/office/drawing/2014/main" id="{5104A53F-7DA5-4CAB-BE83-ADADF368AD5F}"/>
              </a:ext>
            </a:extLst>
          </p:cNvPr>
          <p:cNvSpPr>
            <a:spLocks noGrp="1"/>
          </p:cNvSpPr>
          <p:nvPr/>
        </p:nvSpPr>
        <p:spPr>
          <a:xfrm>
            <a:off x="2964180" y="2169341"/>
            <a:ext cx="3158127" cy="2616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旧对等连接：实际命中</a:t>
            </a:r>
          </a:p>
        </p:txBody>
      </p:sp>
      <p:cxnSp>
        <p:nvCxnSpPr>
          <p:cNvPr id="26" name="统一拓扑-case-bypass-连线-2">
            <a:extLst>
              <a:ext uri="{FF2B5EF4-FFF2-40B4-BE49-F238E27FC236}">
                <a16:creationId xmlns:a16="http://schemas.microsoft.com/office/drawing/2014/main" id="{93C61F79-5036-43F7-84DE-394DEE6562E8}"/>
              </a:ext>
            </a:extLst>
          </p:cNvPr>
          <p:cNvCxnSpPr/>
          <p:nvPr/>
        </p:nvCxnSpPr>
        <p:spPr>
          <a:xfrm>
            <a:off x="1730829" y="3000919"/>
            <a:ext cx="0" cy="672737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cxnSp>
        <p:nvCxnSpPr>
          <p:cNvPr id="27" name="统一拓扑-case-bypass-连线-3">
            <a:extLst>
              <a:ext uri="{FF2B5EF4-FFF2-40B4-BE49-F238E27FC236}">
                <a16:creationId xmlns:a16="http://schemas.microsoft.com/office/drawing/2014/main" id="{1B0BBC53-74A8-4F1F-9EA8-03E1E2672450}"/>
              </a:ext>
            </a:extLst>
          </p:cNvPr>
          <p:cNvCxnSpPr/>
          <p:nvPr/>
        </p:nvCxnSpPr>
        <p:spPr>
          <a:xfrm>
            <a:off x="7336971" y="3000919"/>
            <a:ext cx="0" cy="672737"/>
          </a:xfrm>
          <a:prstGeom prst="straightConnector1">
            <a:avLst/>
          </a:prstGeom>
          <a:ln w="15417">
            <a:solidFill>
              <a:srgbClr val="B8CBE9"/>
            </a:solidFill>
            <a:prstDash val="solid"/>
          </a:ln>
        </p:spPr>
      </p:cxnSp>
      <p:sp>
        <p:nvSpPr>
          <p:cNvPr id="28" name="统一风格-case-bypass ER 单一共享路由域玻璃后沿-936">
            <a:extLst>
              <a:ext uri="{FF2B5EF4-FFF2-40B4-BE49-F238E27FC236}">
                <a16:creationId xmlns:a16="http://schemas.microsoft.com/office/drawing/2014/main" id="{CA8AE101-5570-45CD-9694-E089416352D8}"/>
              </a:ext>
            </a:extLst>
          </p:cNvPr>
          <p:cNvSpPr>
            <a:spLocks noGrp="1"/>
          </p:cNvSpPr>
          <p:nvPr/>
        </p:nvSpPr>
        <p:spPr>
          <a:xfrm>
            <a:off x="1170214" y="3673656"/>
            <a:ext cx="6727371" cy="971731"/>
          </a:xfrm>
          <a:prstGeom prst="roundRect">
            <a:avLst>
              <a:gd name="adj" fmla="val 8822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9" name="统一风格-case-bypass ER 单一共享路由域-937">
            <a:extLst>
              <a:ext uri="{FF2B5EF4-FFF2-40B4-BE49-F238E27FC236}">
                <a16:creationId xmlns:a16="http://schemas.microsoft.com/office/drawing/2014/main" id="{B5168D43-4B9A-44D0-B708-15D32364CB46}"/>
              </a:ext>
            </a:extLst>
          </p:cNvPr>
          <p:cNvSpPr>
            <a:spLocks noGrp="1"/>
          </p:cNvSpPr>
          <p:nvPr/>
        </p:nvSpPr>
        <p:spPr>
          <a:xfrm>
            <a:off x="1170214" y="3673656"/>
            <a:ext cx="6727371" cy="971731"/>
          </a:xfrm>
          <a:prstGeom prst="roundRect">
            <a:avLst>
              <a:gd name="adj" fmla="val 8822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case-bypass ER 单一共享路由域玻璃内沿-938">
            <a:extLst>
              <a:ext uri="{FF2B5EF4-FFF2-40B4-BE49-F238E27FC236}">
                <a16:creationId xmlns:a16="http://schemas.microsoft.com/office/drawing/2014/main" id="{BBE756CB-CBF7-434A-A32E-192931A1F09D}"/>
              </a:ext>
            </a:extLst>
          </p:cNvPr>
          <p:cNvSpPr>
            <a:spLocks noGrp="1"/>
          </p:cNvSpPr>
          <p:nvPr/>
        </p:nvSpPr>
        <p:spPr>
          <a:xfrm>
            <a:off x="1183073" y="3686515"/>
            <a:ext cx="6701654" cy="946014"/>
          </a:xfrm>
          <a:prstGeom prst="roundRect">
            <a:avLst>
              <a:gd name="adj" fmla="val 7753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case-bypass ER 单一共享路由域透光反射面-939">
            <a:extLst>
              <a:ext uri="{FF2B5EF4-FFF2-40B4-BE49-F238E27FC236}">
                <a16:creationId xmlns:a16="http://schemas.microsoft.com/office/drawing/2014/main" id="{EF28E4CE-B61D-47E2-B081-9C1141B0E0B8}"/>
              </a:ext>
            </a:extLst>
          </p:cNvPr>
          <p:cNvSpPr>
            <a:spLocks noGrp="1"/>
          </p:cNvSpPr>
          <p:nvPr/>
        </p:nvSpPr>
        <p:spPr>
          <a:xfrm>
            <a:off x="1189264" y="3692706"/>
            <a:ext cx="6689271" cy="933631"/>
          </a:xfrm>
          <a:custGeom>
            <a:avLst/>
            <a:gdLst/>
            <a:ahLst/>
            <a:cxnLst/>
            <a:rect l="0" t="0" r="0" b="0"/>
            <a:pathLst>
              <a:path w="6689271" h="933631">
                <a:moveTo>
                  <a:pt x="76200" y="0"/>
                </a:moveTo>
                <a:lnTo>
                  <a:pt x="4281134" y="0"/>
                </a:lnTo>
                <a:lnTo>
                  <a:pt x="1739211" y="933631"/>
                </a:lnTo>
                <a:lnTo>
                  <a:pt x="76200" y="933631"/>
                </a:lnTo>
                <a:cubicBezTo>
                  <a:pt x="28575" y="933631"/>
                  <a:pt x="0" y="905056"/>
                  <a:pt x="0" y="857431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case-bypass ER 单一共享路由域边缘高光-940">
            <a:extLst>
              <a:ext uri="{FF2B5EF4-FFF2-40B4-BE49-F238E27FC236}">
                <a16:creationId xmlns:a16="http://schemas.microsoft.com/office/drawing/2014/main" id="{F88BF756-F3B5-48B6-B6AA-A0F4742025CF}"/>
              </a:ext>
            </a:extLst>
          </p:cNvPr>
          <p:cNvSpPr>
            <a:spLocks noGrp="1"/>
          </p:cNvSpPr>
          <p:nvPr/>
        </p:nvSpPr>
        <p:spPr>
          <a:xfrm>
            <a:off x="1170214" y="3673656"/>
            <a:ext cx="6727371" cy="971731"/>
          </a:xfrm>
          <a:custGeom>
            <a:avLst/>
            <a:gdLst/>
            <a:ahLst/>
            <a:cxnLst/>
            <a:rect l="0" t="0" r="0" b="0"/>
            <a:pathLst>
              <a:path w="6727371" h="971731">
                <a:moveTo>
                  <a:pt x="95250" y="9525"/>
                </a:moveTo>
                <a:lnTo>
                  <a:pt x="6632121" y="9525"/>
                </a:lnTo>
                <a:cubicBezTo>
                  <a:pt x="6679746" y="9525"/>
                  <a:pt x="6717846" y="47625"/>
                  <a:pt x="6717846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统一风格-router ER 路由器外形-941">
            <a:extLst>
              <a:ext uri="{FF2B5EF4-FFF2-40B4-BE49-F238E27FC236}">
                <a16:creationId xmlns:a16="http://schemas.microsoft.com/office/drawing/2014/main" id="{B40B92B7-3464-46B4-91D8-015BCE83AF68}"/>
              </a:ext>
            </a:extLst>
          </p:cNvPr>
          <p:cNvSpPr>
            <a:spLocks noGrp="1"/>
          </p:cNvSpPr>
          <p:nvPr/>
        </p:nvSpPr>
        <p:spPr>
          <a:xfrm>
            <a:off x="1338399" y="3795123"/>
            <a:ext cx="429804" cy="429804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8575"/>
                </a:moveTo>
                <a:cubicBezTo>
                  <a:pt x="457200" y="28575"/>
                  <a:pt x="581025" y="152400"/>
                  <a:pt x="581025" y="304800"/>
                </a:cubicBezTo>
                <a:cubicBezTo>
                  <a:pt x="581025" y="457200"/>
                  <a:pt x="457200" y="581025"/>
                  <a:pt x="304800" y="581025"/>
                </a:cubicBezTo>
                <a:cubicBezTo>
                  <a:pt x="152400" y="581025"/>
                  <a:pt x="28575" y="457200"/>
                  <a:pt x="28575" y="304800"/>
                </a:cubicBezTo>
                <a:cubicBezTo>
                  <a:pt x="28575" y="152400"/>
                  <a:pt x="152400" y="28575"/>
                  <a:pt x="304800" y="2857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11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统一风格-router ER 四向路由-942">
            <a:extLst>
              <a:ext uri="{FF2B5EF4-FFF2-40B4-BE49-F238E27FC236}">
                <a16:creationId xmlns:a16="http://schemas.microsoft.com/office/drawing/2014/main" id="{2766BF96-E91F-44E7-ACC6-C03AAECBC315}"/>
              </a:ext>
            </a:extLst>
          </p:cNvPr>
          <p:cNvSpPr>
            <a:spLocks noGrp="1"/>
          </p:cNvSpPr>
          <p:nvPr/>
        </p:nvSpPr>
        <p:spPr>
          <a:xfrm>
            <a:off x="1338399" y="3795123"/>
            <a:ext cx="429804" cy="429804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04800" y="238125"/>
                </a:moveTo>
                <a:lnTo>
                  <a:pt x="304800" y="133350"/>
                </a:lnTo>
                <a:moveTo>
                  <a:pt x="247650" y="190500"/>
                </a:moveTo>
                <a:lnTo>
                  <a:pt x="304800" y="133350"/>
                </a:lnTo>
                <a:lnTo>
                  <a:pt x="361950" y="190500"/>
                </a:lnTo>
                <a:moveTo>
                  <a:pt x="371475" y="304800"/>
                </a:moveTo>
                <a:lnTo>
                  <a:pt x="476250" y="304800"/>
                </a:lnTo>
                <a:moveTo>
                  <a:pt x="419100" y="247650"/>
                </a:moveTo>
                <a:lnTo>
                  <a:pt x="476250" y="304800"/>
                </a:lnTo>
                <a:lnTo>
                  <a:pt x="419100" y="361950"/>
                </a:lnTo>
                <a:moveTo>
                  <a:pt x="304800" y="371475"/>
                </a:moveTo>
                <a:lnTo>
                  <a:pt x="304800" y="476250"/>
                </a:lnTo>
                <a:moveTo>
                  <a:pt x="247650" y="419100"/>
                </a:moveTo>
                <a:lnTo>
                  <a:pt x="304800" y="476250"/>
                </a:lnTo>
                <a:lnTo>
                  <a:pt x="361950" y="419100"/>
                </a:lnTo>
                <a:moveTo>
                  <a:pt x="238125" y="304800"/>
                </a:moveTo>
                <a:lnTo>
                  <a:pt x="133350" y="304800"/>
                </a:lnTo>
                <a:moveTo>
                  <a:pt x="190500" y="247650"/>
                </a:moveTo>
                <a:lnTo>
                  <a:pt x="133350" y="304800"/>
                </a:lnTo>
                <a:lnTo>
                  <a:pt x="190500" y="361950"/>
                </a:lnTo>
              </a:path>
            </a:pathLst>
          </a:custGeom>
          <a:noFill/>
          <a:ln w="17113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文字 同一个 ER 实例-943">
            <a:extLst>
              <a:ext uri="{FF2B5EF4-FFF2-40B4-BE49-F238E27FC236}">
                <a16:creationId xmlns:a16="http://schemas.microsoft.com/office/drawing/2014/main" id="{1A10BF53-6B6C-42C4-A200-DFB74A910834}"/>
              </a:ext>
            </a:extLst>
          </p:cNvPr>
          <p:cNvSpPr>
            <a:spLocks noGrp="1"/>
          </p:cNvSpPr>
          <p:nvPr/>
        </p:nvSpPr>
        <p:spPr>
          <a:xfrm>
            <a:off x="1955074" y="3785779"/>
            <a:ext cx="5793014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9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同一个 ER 实例</a:t>
            </a:r>
          </a:p>
        </p:txBody>
      </p:sp>
      <p:sp>
        <p:nvSpPr>
          <p:cNvPr id="36" name="统一风格-文字 er-RT1 送检-944">
            <a:extLst>
              <a:ext uri="{FF2B5EF4-FFF2-40B4-BE49-F238E27FC236}">
                <a16:creationId xmlns:a16="http://schemas.microsoft.com/office/drawing/2014/main" id="{1C5E010D-0E2A-405B-94B0-32832ADDB261}"/>
              </a:ext>
            </a:extLst>
          </p:cNvPr>
          <p:cNvSpPr>
            <a:spLocks noGrp="1"/>
          </p:cNvSpPr>
          <p:nvPr/>
        </p:nvSpPr>
        <p:spPr>
          <a:xfrm>
            <a:off x="1964418" y="4215584"/>
            <a:ext cx="2429329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er-RT1 送检</a:t>
            </a:r>
          </a:p>
        </p:txBody>
      </p:sp>
      <p:sp>
        <p:nvSpPr>
          <p:cNvPr id="37" name="统一风格-文字 er-RT2 转发至目标 VPC-945">
            <a:extLst>
              <a:ext uri="{FF2B5EF4-FFF2-40B4-BE49-F238E27FC236}">
                <a16:creationId xmlns:a16="http://schemas.microsoft.com/office/drawing/2014/main" id="{31EA1F87-C6BA-4CBF-AD7D-63D6DBA29A7E}"/>
              </a:ext>
            </a:extLst>
          </p:cNvPr>
          <p:cNvSpPr>
            <a:spLocks noGrp="1"/>
          </p:cNvSpPr>
          <p:nvPr/>
        </p:nvSpPr>
        <p:spPr>
          <a:xfrm>
            <a:off x="4617992" y="4215584"/>
            <a:ext cx="3036661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8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er-RT2 转发至目标 VPC</a:t>
            </a:r>
          </a:p>
        </p:txBody>
      </p:sp>
      <p:sp>
        <p:nvSpPr>
          <p:cNvPr id="38" name="统一风格-case-bypass CFW玻璃后沿-946">
            <a:extLst>
              <a:ext uri="{FF2B5EF4-FFF2-40B4-BE49-F238E27FC236}">
                <a16:creationId xmlns:a16="http://schemas.microsoft.com/office/drawing/2014/main" id="{7C317E06-6BAB-4A8C-A028-A469C2B6DB0E}"/>
              </a:ext>
            </a:extLst>
          </p:cNvPr>
          <p:cNvSpPr>
            <a:spLocks noGrp="1"/>
          </p:cNvSpPr>
          <p:nvPr/>
        </p:nvSpPr>
        <p:spPr>
          <a:xfrm>
            <a:off x="3412671" y="5047161"/>
            <a:ext cx="2242457" cy="859609"/>
          </a:xfrm>
          <a:prstGeom prst="roundRect">
            <a:avLst>
              <a:gd name="adj" fmla="val 997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统一风格-case-bypass CFW-947">
            <a:extLst>
              <a:ext uri="{FF2B5EF4-FFF2-40B4-BE49-F238E27FC236}">
                <a16:creationId xmlns:a16="http://schemas.microsoft.com/office/drawing/2014/main" id="{6B8FBA8F-9E32-4A77-92E0-FC2483AC8D36}"/>
              </a:ext>
            </a:extLst>
          </p:cNvPr>
          <p:cNvSpPr>
            <a:spLocks noGrp="1"/>
          </p:cNvSpPr>
          <p:nvPr/>
        </p:nvSpPr>
        <p:spPr>
          <a:xfrm>
            <a:off x="3412671" y="5047161"/>
            <a:ext cx="2242457" cy="859609"/>
          </a:xfrm>
          <a:prstGeom prst="roundRect">
            <a:avLst>
              <a:gd name="adj" fmla="val 997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case-bypass CFW玻璃内沿-948">
            <a:extLst>
              <a:ext uri="{FF2B5EF4-FFF2-40B4-BE49-F238E27FC236}">
                <a16:creationId xmlns:a16="http://schemas.microsoft.com/office/drawing/2014/main" id="{DF7EDA62-B138-4F40-881E-CE33DF853AB7}"/>
              </a:ext>
            </a:extLst>
          </p:cNvPr>
          <p:cNvSpPr>
            <a:spLocks noGrp="1"/>
          </p:cNvSpPr>
          <p:nvPr/>
        </p:nvSpPr>
        <p:spPr>
          <a:xfrm>
            <a:off x="3425530" y="5060020"/>
            <a:ext cx="2216740" cy="833891"/>
          </a:xfrm>
          <a:prstGeom prst="roundRect">
            <a:avLst>
              <a:gd name="adj" fmla="val 879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case-bypass CFW透光反射面-949">
            <a:extLst>
              <a:ext uri="{FF2B5EF4-FFF2-40B4-BE49-F238E27FC236}">
                <a16:creationId xmlns:a16="http://schemas.microsoft.com/office/drawing/2014/main" id="{17D09776-3859-4FEC-BECA-97FFCDCADD64}"/>
              </a:ext>
            </a:extLst>
          </p:cNvPr>
          <p:cNvSpPr>
            <a:spLocks noGrp="1"/>
          </p:cNvSpPr>
          <p:nvPr/>
        </p:nvSpPr>
        <p:spPr>
          <a:xfrm>
            <a:off x="3431721" y="5066211"/>
            <a:ext cx="2204357" cy="821509"/>
          </a:xfrm>
          <a:custGeom>
            <a:avLst/>
            <a:gdLst/>
            <a:ahLst/>
            <a:cxnLst/>
            <a:rect l="0" t="0" r="0" b="0"/>
            <a:pathLst>
              <a:path w="2204357" h="821509">
                <a:moveTo>
                  <a:pt x="76200" y="0"/>
                </a:moveTo>
                <a:lnTo>
                  <a:pt x="1410789" y="0"/>
                </a:lnTo>
                <a:lnTo>
                  <a:pt x="573133" y="821509"/>
                </a:lnTo>
                <a:lnTo>
                  <a:pt x="76200" y="821509"/>
                </a:lnTo>
                <a:cubicBezTo>
                  <a:pt x="28575" y="821509"/>
                  <a:pt x="0" y="792934"/>
                  <a:pt x="0" y="745309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统一风格-case-bypass CFW边缘高光-950">
            <a:extLst>
              <a:ext uri="{FF2B5EF4-FFF2-40B4-BE49-F238E27FC236}">
                <a16:creationId xmlns:a16="http://schemas.microsoft.com/office/drawing/2014/main" id="{6BB1B71C-DC98-4037-8335-402E31B1F1A4}"/>
              </a:ext>
            </a:extLst>
          </p:cNvPr>
          <p:cNvSpPr>
            <a:spLocks noGrp="1"/>
          </p:cNvSpPr>
          <p:nvPr/>
        </p:nvSpPr>
        <p:spPr>
          <a:xfrm>
            <a:off x="3412671" y="5047161"/>
            <a:ext cx="2242457" cy="859609"/>
          </a:xfrm>
          <a:custGeom>
            <a:avLst/>
            <a:gdLst/>
            <a:ahLst/>
            <a:cxnLst/>
            <a:rect l="0" t="0" r="0" b="0"/>
            <a:pathLst>
              <a:path w="2242457" h="859609">
                <a:moveTo>
                  <a:pt x="95250" y="9525"/>
                </a:moveTo>
                <a:lnTo>
                  <a:pt x="2147207" y="9525"/>
                </a:lnTo>
                <a:cubicBezTo>
                  <a:pt x="2194832" y="9525"/>
                  <a:pt x="2232932" y="47625"/>
                  <a:pt x="2232932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firewall CFW 砖墙-951">
            <a:extLst>
              <a:ext uri="{FF2B5EF4-FFF2-40B4-BE49-F238E27FC236}">
                <a16:creationId xmlns:a16="http://schemas.microsoft.com/office/drawing/2014/main" id="{8CAF190F-7A04-41CA-B2B3-F501DE7D77A6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95250"/>
                </a:moveTo>
                <a:lnTo>
                  <a:pt x="552450" y="95250"/>
                </a:lnTo>
                <a:lnTo>
                  <a:pt x="552450" y="514350"/>
                </a:lnTo>
                <a:lnTo>
                  <a:pt x="57150" y="514350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统一风格-firewall CFW 砖缝-952">
            <a:extLst>
              <a:ext uri="{FF2B5EF4-FFF2-40B4-BE49-F238E27FC236}">
                <a16:creationId xmlns:a16="http://schemas.microsoft.com/office/drawing/2014/main" id="{4D92BB1B-2F56-4737-9D43-08CEDCCF80BA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57150" y="238125"/>
                </a:moveTo>
                <a:lnTo>
                  <a:pt x="552450" y="238125"/>
                </a:lnTo>
                <a:moveTo>
                  <a:pt x="57150" y="371475"/>
                </a:moveTo>
                <a:lnTo>
                  <a:pt x="552450" y="371475"/>
                </a:lnTo>
                <a:moveTo>
                  <a:pt x="219075" y="95250"/>
                </a:moveTo>
                <a:lnTo>
                  <a:pt x="219075" y="238125"/>
                </a:lnTo>
                <a:moveTo>
                  <a:pt x="390525" y="95250"/>
                </a:moveTo>
                <a:lnTo>
                  <a:pt x="390525" y="238125"/>
                </a:lnTo>
                <a:moveTo>
                  <a:pt x="304800" y="238125"/>
                </a:moveTo>
                <a:lnTo>
                  <a:pt x="304800" y="371475"/>
                </a:lnTo>
                <a:moveTo>
                  <a:pt x="219075" y="371475"/>
                </a:moveTo>
                <a:lnTo>
                  <a:pt x="219075" y="514350"/>
                </a:lnTo>
                <a:moveTo>
                  <a:pt x="390525" y="371475"/>
                </a:moveTo>
                <a:lnTo>
                  <a:pt x="390525" y="514350"/>
                </a:lnTo>
              </a:path>
            </a:pathLst>
          </a:custGeom>
          <a:noFill/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统一风格-firewall CFW 前景衬底-953">
            <a:extLst>
              <a:ext uri="{FF2B5EF4-FFF2-40B4-BE49-F238E27FC236}">
                <a16:creationId xmlns:a16="http://schemas.microsoft.com/office/drawing/2014/main" id="{68C4DF8D-FD2F-460D-82B8-BA58FF2DD276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28588"/>
                </a:moveTo>
                <a:cubicBezTo>
                  <a:pt x="371475" y="209550"/>
                  <a:pt x="442913" y="264795"/>
                  <a:pt x="442913" y="347663"/>
                </a:cubicBezTo>
                <a:cubicBezTo>
                  <a:pt x="442913" y="431483"/>
                  <a:pt x="381000" y="481013"/>
                  <a:pt x="304800" y="481013"/>
                </a:cubicBezTo>
                <a:cubicBezTo>
                  <a:pt x="223838" y="481013"/>
                  <a:pt x="166688" y="428625"/>
                  <a:pt x="166688" y="357188"/>
                </a:cubicBezTo>
                <a:cubicBezTo>
                  <a:pt x="166688" y="295275"/>
                  <a:pt x="219075" y="255270"/>
                  <a:pt x="261938" y="228600"/>
                </a:cubicBezTo>
                <a:cubicBezTo>
                  <a:pt x="304800" y="201930"/>
                  <a:pt x="309563" y="152400"/>
                  <a:pt x="342900" y="128588"/>
                </a:cubicBezTo>
                <a:close/>
              </a:path>
            </a:pathLst>
          </a:custGeom>
          <a:solidFill>
            <a:srgbClr val="F5F9FF"/>
          </a:soli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统一风格-firewall CFW 简洁火焰-954">
            <a:extLst>
              <a:ext uri="{FF2B5EF4-FFF2-40B4-BE49-F238E27FC236}">
                <a16:creationId xmlns:a16="http://schemas.microsoft.com/office/drawing/2014/main" id="{EBB0B6DB-5077-46C2-9D80-F185337E86BF}"/>
              </a:ext>
            </a:extLst>
          </p:cNvPr>
          <p:cNvSpPr>
            <a:spLocks noGrp="1"/>
          </p:cNvSpPr>
          <p:nvPr/>
        </p:nvSpPr>
        <p:spPr>
          <a:xfrm>
            <a:off x="3571512" y="5271407"/>
            <a:ext cx="448491" cy="448491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342900" y="152400"/>
                </a:moveTo>
                <a:cubicBezTo>
                  <a:pt x="352425" y="219075"/>
                  <a:pt x="419100" y="266700"/>
                  <a:pt x="419100" y="347663"/>
                </a:cubicBezTo>
                <a:cubicBezTo>
                  <a:pt x="419100" y="416243"/>
                  <a:pt x="371475" y="457200"/>
                  <a:pt x="304800" y="457200"/>
                </a:cubicBezTo>
                <a:cubicBezTo>
                  <a:pt x="238125" y="457200"/>
                  <a:pt x="190500" y="414338"/>
                  <a:pt x="190500" y="357188"/>
                </a:cubicBezTo>
                <a:cubicBezTo>
                  <a:pt x="190500" y="309563"/>
                  <a:pt x="223838" y="281940"/>
                  <a:pt x="247650" y="247650"/>
                </a:cubicBezTo>
                <a:cubicBezTo>
                  <a:pt x="238125" y="299085"/>
                  <a:pt x="271463" y="329565"/>
                  <a:pt x="300038" y="298133"/>
                </a:cubicBezTo>
                <a:cubicBezTo>
                  <a:pt x="332423" y="262890"/>
                  <a:pt x="332423" y="203835"/>
                  <a:pt x="342900" y="152400"/>
                </a:cubicBezTo>
                <a:close/>
              </a:path>
            </a:pathLst>
          </a:custGeom>
          <a:solidFill>
            <a:srgbClr val="F5F9FF"/>
          </a:solidFill>
          <a:ln w="17857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统一风格-文字 CFW-955">
            <a:extLst>
              <a:ext uri="{FF2B5EF4-FFF2-40B4-BE49-F238E27FC236}">
                <a16:creationId xmlns:a16="http://schemas.microsoft.com/office/drawing/2014/main" id="{FDABB301-975B-4A39-9560-F3E1BD897A27}"/>
              </a:ext>
            </a:extLst>
          </p:cNvPr>
          <p:cNvSpPr>
            <a:spLocks noGrp="1"/>
          </p:cNvSpPr>
          <p:nvPr/>
        </p:nvSpPr>
        <p:spPr>
          <a:xfrm>
            <a:off x="4188188" y="5206002"/>
            <a:ext cx="1364161" cy="2803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4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</a:t>
            </a:r>
          </a:p>
        </p:txBody>
      </p:sp>
      <p:sp>
        <p:nvSpPr>
          <p:cNvPr id="48" name="统一风格-文字 预期检查路径-956">
            <a:extLst>
              <a:ext uri="{FF2B5EF4-FFF2-40B4-BE49-F238E27FC236}">
                <a16:creationId xmlns:a16="http://schemas.microsoft.com/office/drawing/2014/main" id="{206977AF-707F-463B-83A7-ED4E7060EF56}"/>
              </a:ext>
            </a:extLst>
          </p:cNvPr>
          <p:cNvSpPr>
            <a:spLocks noGrp="1"/>
          </p:cNvSpPr>
          <p:nvPr/>
        </p:nvSpPr>
        <p:spPr>
          <a:xfrm>
            <a:off x="4188188" y="5533027"/>
            <a:ext cx="1364161" cy="2989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1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预期检查路径</a:t>
            </a:r>
          </a:p>
        </p:txBody>
      </p:sp>
      <p:cxnSp>
        <p:nvCxnSpPr>
          <p:cNvPr id="49" name="统一拓扑-case-bypass-连线-4">
            <a:extLst>
              <a:ext uri="{FF2B5EF4-FFF2-40B4-BE49-F238E27FC236}">
                <a16:creationId xmlns:a16="http://schemas.microsoft.com/office/drawing/2014/main" id="{4D98894D-DCBA-4258-BBAA-81989ABFF704}"/>
              </a:ext>
            </a:extLst>
          </p:cNvPr>
          <p:cNvCxnSpPr/>
          <p:nvPr/>
        </p:nvCxnSpPr>
        <p:spPr>
          <a:xfrm>
            <a:off x="2936149" y="4645388"/>
            <a:ext cx="0" cy="186871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</a:ln>
        </p:spPr>
      </p:cxnSp>
      <p:cxnSp>
        <p:nvCxnSpPr>
          <p:cNvPr id="50" name="统一拓扑-case-bypass-连线-5">
            <a:extLst>
              <a:ext uri="{FF2B5EF4-FFF2-40B4-BE49-F238E27FC236}">
                <a16:creationId xmlns:a16="http://schemas.microsoft.com/office/drawing/2014/main" id="{6B59001C-02A0-4A64-8F3B-6A038B5554C6}"/>
              </a:ext>
            </a:extLst>
          </p:cNvPr>
          <p:cNvCxnSpPr/>
          <p:nvPr/>
        </p:nvCxnSpPr>
        <p:spPr>
          <a:xfrm>
            <a:off x="2936149" y="4832259"/>
            <a:ext cx="822234" cy="0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</a:ln>
        </p:spPr>
      </p:cxnSp>
      <p:cxnSp>
        <p:nvCxnSpPr>
          <p:cNvPr id="51" name="统一拓扑-case-bypass-连线-6">
            <a:extLst>
              <a:ext uri="{FF2B5EF4-FFF2-40B4-BE49-F238E27FC236}">
                <a16:creationId xmlns:a16="http://schemas.microsoft.com/office/drawing/2014/main" id="{E0C5C7F5-602B-4205-AA43-B7EE5F616FFC}"/>
              </a:ext>
            </a:extLst>
          </p:cNvPr>
          <p:cNvCxnSpPr/>
          <p:nvPr/>
        </p:nvCxnSpPr>
        <p:spPr>
          <a:xfrm>
            <a:off x="3758384" y="4832259"/>
            <a:ext cx="0" cy="214902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  <a:tailEnd type="triangle" w="sm" len="sm"/>
          </a:ln>
        </p:spPr>
      </p:cxnSp>
      <p:cxnSp>
        <p:nvCxnSpPr>
          <p:cNvPr id="52" name="统一拓扑-case-bypass-连线-7">
            <a:extLst>
              <a:ext uri="{FF2B5EF4-FFF2-40B4-BE49-F238E27FC236}">
                <a16:creationId xmlns:a16="http://schemas.microsoft.com/office/drawing/2014/main" id="{902804B6-16F2-4833-B60E-D600D8FCC5FF}"/>
              </a:ext>
            </a:extLst>
          </p:cNvPr>
          <p:cNvCxnSpPr/>
          <p:nvPr/>
        </p:nvCxnSpPr>
        <p:spPr>
          <a:xfrm>
            <a:off x="5655129" y="5476966"/>
            <a:ext cx="1037136" cy="0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</a:ln>
        </p:spPr>
      </p:cxnSp>
      <p:cxnSp>
        <p:nvCxnSpPr>
          <p:cNvPr id="53" name="统一拓扑-case-bypass-连线-8">
            <a:extLst>
              <a:ext uri="{FF2B5EF4-FFF2-40B4-BE49-F238E27FC236}">
                <a16:creationId xmlns:a16="http://schemas.microsoft.com/office/drawing/2014/main" id="{39F32997-6C37-4EBA-BB09-4DEF06961641}"/>
              </a:ext>
            </a:extLst>
          </p:cNvPr>
          <p:cNvCxnSpPr/>
          <p:nvPr/>
        </p:nvCxnSpPr>
        <p:spPr>
          <a:xfrm flipV="1">
            <a:off x="6692265" y="4645388"/>
            <a:ext cx="0" cy="831578"/>
          </a:xfrm>
          <a:prstGeom prst="straightConnector1">
            <a:avLst/>
          </a:prstGeom>
          <a:ln w="15417">
            <a:solidFill>
              <a:srgbClr val="7293CE"/>
            </a:solidFill>
            <a:prstDash val="solid"/>
            <a:tailEnd type="triangle" w="sm" len="sm"/>
          </a:ln>
        </p:spPr>
      </p:cxnSp>
      <p:sp>
        <p:nvSpPr>
          <p:cNvPr id="54" name="统一风格-文字 未看到该业务流-957">
            <a:extLst>
              <a:ext uri="{FF2B5EF4-FFF2-40B4-BE49-F238E27FC236}">
                <a16:creationId xmlns:a16="http://schemas.microsoft.com/office/drawing/2014/main" id="{153728C7-9161-4702-AD30-2790FAB0FF32}"/>
              </a:ext>
            </a:extLst>
          </p:cNvPr>
          <p:cNvSpPr>
            <a:spLocks noGrp="1"/>
          </p:cNvSpPr>
          <p:nvPr/>
        </p:nvSpPr>
        <p:spPr>
          <a:xfrm>
            <a:off x="6309179" y="5589089"/>
            <a:ext cx="2055586" cy="289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4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未看到该业务流</a:t>
            </a:r>
          </a:p>
        </p:txBody>
      </p:sp>
      <p:cxnSp>
        <p:nvCxnSpPr>
          <p:cNvPr id="55" name="统一拓扑-case-bypass-连线-9">
            <a:extLst>
              <a:ext uri="{FF2B5EF4-FFF2-40B4-BE49-F238E27FC236}">
                <a16:creationId xmlns:a16="http://schemas.microsoft.com/office/drawing/2014/main" id="{C15A0DEF-7006-4794-8E22-2D92E0158957}"/>
              </a:ext>
            </a:extLst>
          </p:cNvPr>
          <p:cNvCxnSpPr/>
          <p:nvPr/>
        </p:nvCxnSpPr>
        <p:spPr>
          <a:xfrm>
            <a:off x="6094276" y="5654494"/>
            <a:ext cx="130810" cy="130810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cxnSp>
        <p:nvCxnSpPr>
          <p:cNvPr id="56" name="统一拓扑-case-bypass-连线-10">
            <a:extLst>
              <a:ext uri="{FF2B5EF4-FFF2-40B4-BE49-F238E27FC236}">
                <a16:creationId xmlns:a16="http://schemas.microsoft.com/office/drawing/2014/main" id="{AD7890E4-0677-44CA-9810-74D2CF846970}"/>
              </a:ext>
            </a:extLst>
          </p:cNvPr>
          <p:cNvCxnSpPr/>
          <p:nvPr/>
        </p:nvCxnSpPr>
        <p:spPr>
          <a:xfrm flipH="1">
            <a:off x="6094276" y="5654494"/>
            <a:ext cx="130810" cy="130810"/>
          </a:xfrm>
          <a:prstGeom prst="straightConnector1">
            <a:avLst/>
          </a:prstGeom>
          <a:ln w="23359">
            <a:solidFill>
              <a:srgbClr val="16335F"/>
            </a:solidFill>
            <a:prstDash val="solid"/>
          </a:ln>
        </p:spPr>
      </p:cxnSp>
      <p:sp>
        <p:nvSpPr>
          <p:cNvPr id="57" name="版式分隔线">
            <a:extLst>
              <a:ext uri="{FF2B5EF4-FFF2-40B4-BE49-F238E27FC236}">
                <a16:creationId xmlns:a16="http://schemas.microsoft.com/office/drawing/2014/main" id="{D56001BA-591B-4961-A64F-76F42ED94CF2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0" cy="3476625"/>
          </a:xfrm>
          <a:prstGeom prst="line">
            <a:avLst/>
          </a:prstGeom>
          <a:noFill/>
          <a:ln w="6668">
            <a:solidFill>
              <a:srgbClr val="DFE8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版式分隔线">
            <a:extLst>
              <a:ext uri="{FF2B5EF4-FFF2-40B4-BE49-F238E27FC236}">
                <a16:creationId xmlns:a16="http://schemas.microsoft.com/office/drawing/2014/main" id="{8DF9EADA-92BA-4F87-9372-09E52431E58D}"/>
              </a:ext>
            </a:extLst>
          </p:cNvPr>
          <p:cNvSpPr>
            <a:spLocks noGrp="1"/>
          </p:cNvSpPr>
          <p:nvPr/>
        </p:nvSpPr>
        <p:spPr>
          <a:xfrm>
            <a:off x="8991600" y="205740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xt-58">
            <a:extLst>
              <a:ext uri="{FF2B5EF4-FFF2-40B4-BE49-F238E27FC236}">
                <a16:creationId xmlns:a16="http://schemas.microsoft.com/office/drawing/2014/main" id="{FCF847CE-607B-49CD-9822-E4E47ACFBB20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已排除</a:t>
            </a:r>
          </a:p>
        </p:txBody>
      </p:sp>
      <p:sp>
        <p:nvSpPr>
          <p:cNvPr id="60" name="txt-59">
            <a:extLst>
              <a:ext uri="{FF2B5EF4-FFF2-40B4-BE49-F238E27FC236}">
                <a16:creationId xmlns:a16="http://schemas.microsoft.com/office/drawing/2014/main" id="{F63BFF9F-F954-4DAB-BE87-FC55BAE96718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边界、实例、筛选时间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与上报条件问题</a:t>
            </a:r>
          </a:p>
        </p:txBody>
      </p:sp>
      <p:sp>
        <p:nvSpPr>
          <p:cNvPr id="61" name="版式分隔线">
            <a:extLst>
              <a:ext uri="{FF2B5EF4-FFF2-40B4-BE49-F238E27FC236}">
                <a16:creationId xmlns:a16="http://schemas.microsoft.com/office/drawing/2014/main" id="{A3E3C527-8371-4340-9821-F93D0237CEF0}"/>
              </a:ext>
            </a:extLst>
          </p:cNvPr>
          <p:cNvSpPr>
            <a:spLocks noGrp="1"/>
          </p:cNvSpPr>
          <p:nvPr/>
        </p:nvSpPr>
        <p:spPr>
          <a:xfrm>
            <a:off x="8991600" y="3362325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xt-61">
            <a:extLst>
              <a:ext uri="{FF2B5EF4-FFF2-40B4-BE49-F238E27FC236}">
                <a16:creationId xmlns:a16="http://schemas.microsoft.com/office/drawing/2014/main" id="{E9FA2B12-FF37-42CD-8129-33B4D03775FF}"/>
              </a:ext>
            </a:extLst>
          </p:cNvPr>
          <p:cNvSpPr>
            <a:spLocks noGrp="1"/>
          </p:cNvSpPr>
          <p:nvPr/>
        </p:nvSpPr>
        <p:spPr>
          <a:xfrm>
            <a:off x="8991600" y="3448050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已观测</a:t>
            </a:r>
          </a:p>
        </p:txBody>
      </p:sp>
      <p:sp>
        <p:nvSpPr>
          <p:cNvPr id="63" name="txt-62">
            <a:extLst>
              <a:ext uri="{FF2B5EF4-FFF2-40B4-BE49-F238E27FC236}">
                <a16:creationId xmlns:a16="http://schemas.microsoft.com/office/drawing/2014/main" id="{8388DE0A-CF2B-42E1-B4FC-EE6C93D70B74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目标网段实际命中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旧对等连接路径</a:t>
            </a:r>
          </a:p>
        </p:txBody>
      </p:sp>
      <p:sp>
        <p:nvSpPr>
          <p:cNvPr id="64" name="版式分隔线">
            <a:extLst>
              <a:ext uri="{FF2B5EF4-FFF2-40B4-BE49-F238E27FC236}">
                <a16:creationId xmlns:a16="http://schemas.microsoft.com/office/drawing/2014/main" id="{DEA7D206-DAF1-4EAD-BEAE-A83D0808115D}"/>
              </a:ext>
            </a:extLst>
          </p:cNvPr>
          <p:cNvSpPr>
            <a:spLocks noGrp="1"/>
          </p:cNvSpPr>
          <p:nvPr/>
        </p:nvSpPr>
        <p:spPr>
          <a:xfrm>
            <a:off x="8991600" y="4667250"/>
            <a:ext cx="342900" cy="0"/>
          </a:xfrm>
          <a:prstGeom prst="line">
            <a:avLst/>
          </a:prstGeom>
          <a:noFill/>
          <a:ln w="6668">
            <a:solidFill>
              <a:srgbClr val="B6CB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正文-检查重点">
            <a:extLst>
              <a:ext uri="{FF2B5EF4-FFF2-40B4-BE49-F238E27FC236}">
                <a16:creationId xmlns:a16="http://schemas.microsoft.com/office/drawing/2014/main" id="{CA8FB6EF-936F-4692-99A3-F9F4596F0378}"/>
              </a:ext>
            </a:extLst>
          </p:cNvPr>
          <p:cNvSpPr>
            <a:spLocks noGrp="1"/>
          </p:cNvSpPr>
          <p:nvPr/>
        </p:nvSpPr>
        <p:spPr>
          <a:xfrm>
            <a:off x="8991600" y="4752975"/>
            <a:ext cx="2590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</p:txBody>
      </p:sp>
      <p:sp>
        <p:nvSpPr>
          <p:cNvPr id="66" name="正文-调整批准范围内的路径， 核验覆盖与回滚前态。">
            <a:extLst>
              <a:ext uri="{FF2B5EF4-FFF2-40B4-BE49-F238E27FC236}">
                <a16:creationId xmlns:a16="http://schemas.microsoft.com/office/drawing/2014/main" id="{9DF8ACE9-4001-4080-967A-7FCECF6939F2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2590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调整批准范围内的路径，</a:t>
            </a:r>
          </a:p>
          <a:p>
            <a:pPr algn="l">
              <a:def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核验覆盖与回滚前态。</a:t>
            </a:r>
          </a:p>
        </p:txBody>
      </p:sp>
    </p:spTree>
    <p:extLst>
      <p:ext uri="{BB962C8B-B14F-4D97-AF65-F5344CB8AC3E}">
        <p14:creationId xmlns:p14="http://schemas.microsoft.com/office/powerpoint/2010/main" val="775563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文-05  典型故障分析">
            <a:extLst>
              <a:ext uri="{FF2B5EF4-FFF2-40B4-BE49-F238E27FC236}">
                <a16:creationId xmlns:a16="http://schemas.microsoft.com/office/drawing/2014/main" id="{C6690542-2862-427D-9AC9-D25396D2D17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  典型故障分析</a:t>
            </a:r>
          </a:p>
        </p:txBody>
      </p:sp>
      <p:sp>
        <p:nvSpPr>
          <p:cNvPr id="2" name="正文-案例三分析：实际流量绕过预期检查路径">
            <a:extLst>
              <a:ext uri="{FF2B5EF4-FFF2-40B4-BE49-F238E27FC236}">
                <a16:creationId xmlns:a16="http://schemas.microsoft.com/office/drawing/2014/main" id="{EFB7F388-22E9-460B-BEBC-79429A87FA4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案例三分析：实际流量绕过预期检查路径</a:t>
            </a:r>
          </a:p>
        </p:txBody>
      </p:sp>
      <p:sp>
        <p:nvSpPr>
          <p:cNvPr id="3" name="正文-路径变更前评估旧互联承载的其他业务，验收需证明流量经过 CFW。">
            <a:extLst>
              <a:ext uri="{FF2B5EF4-FFF2-40B4-BE49-F238E27FC236}">
                <a16:creationId xmlns:a16="http://schemas.microsoft.com/office/drawing/2014/main" id="{96134169-DD1B-4075-BBC0-E63331F998C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路径变更前评估旧互联承载的其他业务，验收需证明流量经过 CFW。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744A7872-7EC0-4913-A38E-30538AA3B75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59">
            <a:extLst>
              <a:ext uri="{FF2B5EF4-FFF2-40B4-BE49-F238E27FC236}">
                <a16:creationId xmlns:a16="http://schemas.microsoft.com/office/drawing/2014/main" id="{9BB97BE4-B552-4A4A-BA0E-DA40DA0A155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6" name="统一风格-案例诊断与修复玻璃后沿-958">
            <a:extLst>
              <a:ext uri="{FF2B5EF4-FFF2-40B4-BE49-F238E27FC236}">
                <a16:creationId xmlns:a16="http://schemas.microsoft.com/office/drawing/2014/main" id="{BDDDE08B-2D3A-4552-8FEB-7DDFD9B34036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案例诊断与修复-959">
            <a:extLst>
              <a:ext uri="{FF2B5EF4-FFF2-40B4-BE49-F238E27FC236}">
                <a16:creationId xmlns:a16="http://schemas.microsoft.com/office/drawing/2014/main" id="{294F0BA0-67CD-45AF-AEF3-B679C5010D68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prstGeom prst="roundRect">
            <a:avLst>
              <a:gd name="adj" fmla="val 6818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案例诊断与修复玻璃内沿-960">
            <a:extLst>
              <a:ext uri="{FF2B5EF4-FFF2-40B4-BE49-F238E27FC236}">
                <a16:creationId xmlns:a16="http://schemas.microsoft.com/office/drawing/2014/main" id="{C1AE2F11-B7E2-4BA1-8030-889D49149282}"/>
              </a:ext>
            </a:extLst>
          </p:cNvPr>
          <p:cNvSpPr>
            <a:spLocks noGrp="1"/>
          </p:cNvSpPr>
          <p:nvPr/>
        </p:nvSpPr>
        <p:spPr>
          <a:xfrm>
            <a:off x="622459" y="2013109"/>
            <a:ext cx="10947083" cy="1231583"/>
          </a:xfrm>
          <a:prstGeom prst="roundRect">
            <a:avLst>
              <a:gd name="adj" fmla="val 59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案例诊断与修复透光反射面-961">
            <a:extLst>
              <a:ext uri="{FF2B5EF4-FFF2-40B4-BE49-F238E27FC236}">
                <a16:creationId xmlns:a16="http://schemas.microsoft.com/office/drawing/2014/main" id="{B6138CD2-AD01-458C-A6FF-A829D0A6E9C2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934700" cy="1219200"/>
          </a:xfrm>
          <a:custGeom>
            <a:avLst/>
            <a:gdLst/>
            <a:ahLst/>
            <a:cxnLst/>
            <a:rect l="0" t="0" r="0" b="0"/>
            <a:pathLst>
              <a:path w="10934700" h="1219200">
                <a:moveTo>
                  <a:pt x="76200" y="0"/>
                </a:moveTo>
                <a:lnTo>
                  <a:pt x="6998208" y="0"/>
                </a:lnTo>
                <a:lnTo>
                  <a:pt x="2843022" y="1219200"/>
                </a:lnTo>
                <a:lnTo>
                  <a:pt x="76200" y="1219200"/>
                </a:lnTo>
                <a:cubicBezTo>
                  <a:pt x="28575" y="1219200"/>
                  <a:pt x="0" y="1190625"/>
                  <a:pt x="0" y="114300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案例诊断与修复边缘高光-962">
            <a:extLst>
              <a:ext uri="{FF2B5EF4-FFF2-40B4-BE49-F238E27FC236}">
                <a16:creationId xmlns:a16="http://schemas.microsoft.com/office/drawing/2014/main" id="{3962F7B2-A3A8-4455-A609-5FA43737BAC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257300"/>
          </a:xfrm>
          <a:custGeom>
            <a:avLst/>
            <a:gdLst/>
            <a:ahLst/>
            <a:cxnLst/>
            <a:rect l="0" t="0" r="0" b="0"/>
            <a:pathLst>
              <a:path w="10972800" h="125730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xt-10">
            <a:extLst>
              <a:ext uri="{FF2B5EF4-FFF2-40B4-BE49-F238E27FC236}">
                <a16:creationId xmlns:a16="http://schemas.microsoft.com/office/drawing/2014/main" id="{654E441C-4DEA-477A-80CE-F05DF74178CB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053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业务访问成功，但 CFW 未覆盖实际命中的路径</a:t>
            </a:r>
          </a:p>
        </p:txBody>
      </p:sp>
      <p:sp>
        <p:nvSpPr>
          <p:cNvPr id="12" name="txt-11">
            <a:extLst>
              <a:ext uri="{FF2B5EF4-FFF2-40B4-BE49-F238E27FC236}">
                <a16:creationId xmlns:a16="http://schemas.microsoft.com/office/drawing/2014/main" id="{42713EF5-DF42-4C41-A463-0E61E891DEAE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34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批准窗口内分范围调整去回程，保留旧互联上的其他业务与可回滚前态。</a:t>
            </a:r>
          </a:p>
        </p:txBody>
      </p:sp>
      <p:sp>
        <p:nvSpPr>
          <p:cNvPr id="13" name="统一风格-表格玻璃容器玻璃后沿-963">
            <a:extLst>
              <a:ext uri="{FF2B5EF4-FFF2-40B4-BE49-F238E27FC236}">
                <a16:creationId xmlns:a16="http://schemas.microsoft.com/office/drawing/2014/main" id="{6F3B29EC-BBC8-4FB4-9791-6233F1534700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表格玻璃容器-964">
            <a:extLst>
              <a:ext uri="{FF2B5EF4-FFF2-40B4-BE49-F238E27FC236}">
                <a16:creationId xmlns:a16="http://schemas.microsoft.com/office/drawing/2014/main" id="{E83C5DAD-8DDD-4826-A135-08A29C466E5E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表格玻璃容器玻璃内沿-965">
            <a:extLst>
              <a:ext uri="{FF2B5EF4-FFF2-40B4-BE49-F238E27FC236}">
                <a16:creationId xmlns:a16="http://schemas.microsoft.com/office/drawing/2014/main" id="{EA3666BB-FAB9-478D-B19B-386CCA66AEBC}"/>
              </a:ext>
            </a:extLst>
          </p:cNvPr>
          <p:cNvSpPr>
            <a:spLocks noGrp="1"/>
          </p:cNvSpPr>
          <p:nvPr/>
        </p:nvSpPr>
        <p:spPr>
          <a:xfrm>
            <a:off x="546259" y="3508534"/>
            <a:ext cx="11099483" cy="2403158"/>
          </a:xfrm>
          <a:prstGeom prst="roundRect">
            <a:avLst>
              <a:gd name="adj" fmla="val 3052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统一风格-表格玻璃容器边缘高光-966">
            <a:extLst>
              <a:ext uri="{FF2B5EF4-FFF2-40B4-BE49-F238E27FC236}">
                <a16:creationId xmlns:a16="http://schemas.microsoft.com/office/drawing/2014/main" id="{C0E05B3D-6594-44AA-A831-18754E4D3B35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11125200" cy="2428875"/>
          </a:xfrm>
          <a:custGeom>
            <a:avLst/>
            <a:gdLst/>
            <a:ahLst/>
            <a:cxnLst/>
            <a:rect l="0" t="0" r="0" b="0"/>
            <a:pathLst>
              <a:path w="11125200" h="2428875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ECC2E1F-6FAC-467C-9323-3C6415AD5022}"/>
              </a:ext>
            </a:extLst>
          </p:cNvPr>
          <p:cNvGraphicFramePr/>
          <p:nvPr/>
        </p:nvGraphicFramePr>
        <p:xfrm>
          <a:off x="609600" y="3571875"/>
          <a:ext cx="10972800" cy="22764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旧路由、对象、业务基线快照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具备可执行的恢复步骤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应通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受控新连接完成，日志记录该业务流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业务回归通过且规则命中正确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应拒绝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发起范围内禁止连接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看到预期阻断并排除旁路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058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文-06  配置核验与巡检">
            <a:extLst>
              <a:ext uri="{FF2B5EF4-FFF2-40B4-BE49-F238E27FC236}">
                <a16:creationId xmlns:a16="http://schemas.microsoft.com/office/drawing/2014/main" id="{B3462A7B-40FF-436A-AD22-CCFBEC5F994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正文-配置核验的五个关键问题">
            <a:extLst>
              <a:ext uri="{FF2B5EF4-FFF2-40B4-BE49-F238E27FC236}">
                <a16:creationId xmlns:a16="http://schemas.microsoft.com/office/drawing/2014/main" id="{FC826CC0-553D-43FB-A9D3-A01E36CA0A7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配置核验的五个关键问题</a:t>
            </a:r>
          </a:p>
        </p:txBody>
      </p:sp>
      <p:sp>
        <p:nvSpPr>
          <p:cNvPr id="3" name="版式分隔线">
            <a:extLst>
              <a:ext uri="{FF2B5EF4-FFF2-40B4-BE49-F238E27FC236}">
                <a16:creationId xmlns:a16="http://schemas.microsoft.com/office/drawing/2014/main" id="{34F80A2A-DE23-48FD-8586-172D17DA04F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正文-60">
            <a:extLst>
              <a:ext uri="{FF2B5EF4-FFF2-40B4-BE49-F238E27FC236}">
                <a16:creationId xmlns:a16="http://schemas.microsoft.com/office/drawing/2014/main" id="{EF58B02A-7C2D-4653-B1BA-BB6593FC6D1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  <p:sp>
        <p:nvSpPr>
          <p:cNvPr id="5" name="统一风格-课堂判断题模块玻璃后沿-967">
            <a:extLst>
              <a:ext uri="{FF2B5EF4-FFF2-40B4-BE49-F238E27FC236}">
                <a16:creationId xmlns:a16="http://schemas.microsoft.com/office/drawing/2014/main" id="{6F96B5D8-D889-4885-8806-CA685A68EF7C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课堂判断题模块-968">
            <a:extLst>
              <a:ext uri="{FF2B5EF4-FFF2-40B4-BE49-F238E27FC236}">
                <a16:creationId xmlns:a16="http://schemas.microsoft.com/office/drawing/2014/main" id="{3EC0657B-3BB0-413D-87F6-891A80007DE5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课堂判断题模块玻璃内沿-969">
            <a:extLst>
              <a:ext uri="{FF2B5EF4-FFF2-40B4-BE49-F238E27FC236}">
                <a16:creationId xmlns:a16="http://schemas.microsoft.com/office/drawing/2014/main" id="{D55B5B31-EB50-4571-8813-19FAE0065506}"/>
              </a:ext>
            </a:extLst>
          </p:cNvPr>
          <p:cNvSpPr>
            <a:spLocks noGrp="1"/>
          </p:cNvSpPr>
          <p:nvPr/>
        </p:nvSpPr>
        <p:spPr>
          <a:xfrm>
            <a:off x="622459" y="2089309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课堂判断题模块边缘高光-970">
            <a:extLst>
              <a:ext uri="{FF2B5EF4-FFF2-40B4-BE49-F238E27FC236}">
                <a16:creationId xmlns:a16="http://schemas.microsoft.com/office/drawing/2014/main" id="{07FE6425-58F6-435B-B32D-A7B973DAA757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txt-8">
            <a:extLst>
              <a:ext uri="{FF2B5EF4-FFF2-40B4-BE49-F238E27FC236}">
                <a16:creationId xmlns:a16="http://schemas.microsoft.com/office/drawing/2014/main" id="{B0C5825A-1937-409D-A3C0-1F982020C277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xt-9">
            <a:extLst>
              <a:ext uri="{FF2B5EF4-FFF2-40B4-BE49-F238E27FC236}">
                <a16:creationId xmlns:a16="http://schemas.microsoft.com/office/drawing/2014/main" id="{9623EBF2-CF36-43C5-9A43-BDAFBA52A0AB}"/>
              </a:ext>
            </a:extLst>
          </p:cNvPr>
          <p:cNvSpPr>
            <a:spLocks noGrp="1"/>
          </p:cNvSpPr>
          <p:nvPr/>
        </p:nvSpPr>
        <p:spPr>
          <a:xfrm>
            <a:off x="1638300" y="220980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同一 VPC 划出应用和数据子网，是否已经完成访问隔离？</a:t>
            </a:r>
          </a:p>
        </p:txBody>
      </p:sp>
      <p:sp>
        <p:nvSpPr>
          <p:cNvPr id="11" name="统一风格-课堂判断题模块玻璃后沿-971">
            <a:extLst>
              <a:ext uri="{FF2B5EF4-FFF2-40B4-BE49-F238E27FC236}">
                <a16:creationId xmlns:a16="http://schemas.microsoft.com/office/drawing/2014/main" id="{0D78A030-7E45-43A6-B9AA-C8A2B3EAEC0B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统一风格-课堂判断题模块-972">
            <a:extLst>
              <a:ext uri="{FF2B5EF4-FFF2-40B4-BE49-F238E27FC236}">
                <a16:creationId xmlns:a16="http://schemas.microsoft.com/office/drawing/2014/main" id="{A8C2C8AF-7DD4-4236-8D0B-C8288DFAF6D4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课堂判断题模块玻璃内沿-973">
            <a:extLst>
              <a:ext uri="{FF2B5EF4-FFF2-40B4-BE49-F238E27FC236}">
                <a16:creationId xmlns:a16="http://schemas.microsoft.com/office/drawing/2014/main" id="{CB26F564-4305-4F5A-9124-229F92801247}"/>
              </a:ext>
            </a:extLst>
          </p:cNvPr>
          <p:cNvSpPr>
            <a:spLocks noGrp="1"/>
          </p:cNvSpPr>
          <p:nvPr/>
        </p:nvSpPr>
        <p:spPr>
          <a:xfrm>
            <a:off x="622459" y="2860834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课堂判断题模块边缘高光-974">
            <a:extLst>
              <a:ext uri="{FF2B5EF4-FFF2-40B4-BE49-F238E27FC236}">
                <a16:creationId xmlns:a16="http://schemas.microsoft.com/office/drawing/2014/main" id="{6F91739A-E806-402F-9B02-548D8B7DAB6F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xt-14">
            <a:extLst>
              <a:ext uri="{FF2B5EF4-FFF2-40B4-BE49-F238E27FC236}">
                <a16:creationId xmlns:a16="http://schemas.microsoft.com/office/drawing/2014/main" id="{03E0EBCB-4CF6-42D9-AB86-BE7736D312AB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50FF8378-8F63-493A-B248-D74A33ED576E}"/>
              </a:ext>
            </a:extLst>
          </p:cNvPr>
          <p:cNvSpPr>
            <a:spLocks noGrp="1"/>
          </p:cNvSpPr>
          <p:nvPr/>
        </p:nvSpPr>
        <p:spPr>
          <a:xfrm>
            <a:off x="1638300" y="2981325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边界 CFW 接入后，是否自动拒绝未配置的业务流量？</a:t>
            </a:r>
          </a:p>
        </p:txBody>
      </p:sp>
      <p:sp>
        <p:nvSpPr>
          <p:cNvPr id="17" name="统一风格-课堂判断题模块玻璃后沿-975">
            <a:extLst>
              <a:ext uri="{FF2B5EF4-FFF2-40B4-BE49-F238E27FC236}">
                <a16:creationId xmlns:a16="http://schemas.microsoft.com/office/drawing/2014/main" id="{1ADEA93C-1691-4F3D-AE5F-F56E0811DBB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统一风格-课堂判断题模块-976">
            <a:extLst>
              <a:ext uri="{FF2B5EF4-FFF2-40B4-BE49-F238E27FC236}">
                <a16:creationId xmlns:a16="http://schemas.microsoft.com/office/drawing/2014/main" id="{836ABDE9-F974-43DA-80DA-EBA01E2D80FD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统一风格-课堂判断题模块玻璃内沿-977">
            <a:extLst>
              <a:ext uri="{FF2B5EF4-FFF2-40B4-BE49-F238E27FC236}">
                <a16:creationId xmlns:a16="http://schemas.microsoft.com/office/drawing/2014/main" id="{88F4E512-AFE0-4A84-B2CA-E2B9888F4B15}"/>
              </a:ext>
            </a:extLst>
          </p:cNvPr>
          <p:cNvSpPr>
            <a:spLocks noGrp="1"/>
          </p:cNvSpPr>
          <p:nvPr/>
        </p:nvSpPr>
        <p:spPr>
          <a:xfrm>
            <a:off x="622459" y="3632359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课堂判断题模块边缘高光-978">
            <a:extLst>
              <a:ext uri="{FF2B5EF4-FFF2-40B4-BE49-F238E27FC236}">
                <a16:creationId xmlns:a16="http://schemas.microsoft.com/office/drawing/2014/main" id="{70B160F5-2723-417B-B7FB-C50404CCEF0A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BF379B3A-AB75-4A52-9C6E-24DA34B1BFD4}"/>
              </a:ext>
            </a:extLst>
          </p:cNvPr>
          <p:cNvSpPr>
            <a:spLocks noGrp="1"/>
          </p:cNvSpPr>
          <p:nvPr/>
        </p:nvSpPr>
        <p:spPr>
          <a:xfrm>
            <a:off x="800100" y="374332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xt-21">
            <a:extLst>
              <a:ext uri="{FF2B5EF4-FFF2-40B4-BE49-F238E27FC236}">
                <a16:creationId xmlns:a16="http://schemas.microsoft.com/office/drawing/2014/main" id="{F0D1EBB2-BAC1-4352-B0C4-9B773B4B1416}"/>
              </a:ext>
            </a:extLst>
          </p:cNvPr>
          <p:cNvSpPr>
            <a:spLocks noGrp="1"/>
          </p:cNvSpPr>
          <p:nvPr/>
        </p:nvSpPr>
        <p:spPr>
          <a:xfrm>
            <a:off x="1638300" y="375285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的 ACL 放行，是否代表端到端业务必定可用？</a:t>
            </a:r>
          </a:p>
        </p:txBody>
      </p:sp>
      <p:sp>
        <p:nvSpPr>
          <p:cNvPr id="23" name="统一风格-课堂判断题模块玻璃后沿-979">
            <a:extLst>
              <a:ext uri="{FF2B5EF4-FFF2-40B4-BE49-F238E27FC236}">
                <a16:creationId xmlns:a16="http://schemas.microsoft.com/office/drawing/2014/main" id="{55517529-D6C1-4BF5-B61C-6DB1A5232CF2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课堂判断题模块-980">
            <a:extLst>
              <a:ext uri="{FF2B5EF4-FFF2-40B4-BE49-F238E27FC236}">
                <a16:creationId xmlns:a16="http://schemas.microsoft.com/office/drawing/2014/main" id="{95130589-BA75-42F4-A916-045C36CA5F37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课堂判断题模块玻璃内沿-981">
            <a:extLst>
              <a:ext uri="{FF2B5EF4-FFF2-40B4-BE49-F238E27FC236}">
                <a16:creationId xmlns:a16="http://schemas.microsoft.com/office/drawing/2014/main" id="{878B4477-76CC-44CE-B051-4F8E632C1C49}"/>
              </a:ext>
            </a:extLst>
          </p:cNvPr>
          <p:cNvSpPr>
            <a:spLocks noGrp="1"/>
          </p:cNvSpPr>
          <p:nvPr/>
        </p:nvSpPr>
        <p:spPr>
          <a:xfrm>
            <a:off x="622459" y="4403884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课堂判断题模块边缘高光-982">
            <a:extLst>
              <a:ext uri="{FF2B5EF4-FFF2-40B4-BE49-F238E27FC236}">
                <a16:creationId xmlns:a16="http://schemas.microsoft.com/office/drawing/2014/main" id="{41B041B2-77DC-447A-A904-90997B7C70D9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txt-26">
            <a:extLst>
              <a:ext uri="{FF2B5EF4-FFF2-40B4-BE49-F238E27FC236}">
                <a16:creationId xmlns:a16="http://schemas.microsoft.com/office/drawing/2014/main" id="{C60BA9EC-4AF0-4090-8627-B1F3CFE3BD50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xt-27">
            <a:extLst>
              <a:ext uri="{FF2B5EF4-FFF2-40B4-BE49-F238E27FC236}">
                <a16:creationId xmlns:a16="http://schemas.microsoft.com/office/drawing/2014/main" id="{6291F9C8-68E0-40C1-A581-38B0AC67C770}"/>
              </a:ext>
            </a:extLst>
          </p:cNvPr>
          <p:cNvSpPr>
            <a:spLocks noGrp="1"/>
          </p:cNvSpPr>
          <p:nvPr/>
        </p:nvSpPr>
        <p:spPr>
          <a:xfrm>
            <a:off x="1638300" y="4524375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普通业务长期使用白名单，是否等同于 ACL 精确放行？</a:t>
            </a:r>
          </a:p>
        </p:txBody>
      </p:sp>
      <p:sp>
        <p:nvSpPr>
          <p:cNvPr id="29" name="统一风格-课堂判断题模块玻璃后沿-983">
            <a:extLst>
              <a:ext uri="{FF2B5EF4-FFF2-40B4-BE49-F238E27FC236}">
                <a16:creationId xmlns:a16="http://schemas.microsoft.com/office/drawing/2014/main" id="{378A05D2-5B35-414C-BFFE-C2327B9AAE5E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统一风格-课堂判断题模块-984">
            <a:extLst>
              <a:ext uri="{FF2B5EF4-FFF2-40B4-BE49-F238E27FC236}">
                <a16:creationId xmlns:a16="http://schemas.microsoft.com/office/drawing/2014/main" id="{F0CDDF32-42DB-41E9-809B-A06095BF25E7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628650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统一风格-课堂判断题模块玻璃内沿-985">
            <a:extLst>
              <a:ext uri="{FF2B5EF4-FFF2-40B4-BE49-F238E27FC236}">
                <a16:creationId xmlns:a16="http://schemas.microsoft.com/office/drawing/2014/main" id="{B792C81F-4313-40B1-B67C-348061ED606E}"/>
              </a:ext>
            </a:extLst>
          </p:cNvPr>
          <p:cNvSpPr>
            <a:spLocks noGrp="1"/>
          </p:cNvSpPr>
          <p:nvPr/>
        </p:nvSpPr>
        <p:spPr>
          <a:xfrm>
            <a:off x="622459" y="5175409"/>
            <a:ext cx="10947083" cy="602933"/>
          </a:xfrm>
          <a:prstGeom prst="roundRect">
            <a:avLst>
              <a:gd name="adj" fmla="val 12164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统一风格-课堂判断题模块边缘高光-986">
            <a:extLst>
              <a:ext uri="{FF2B5EF4-FFF2-40B4-BE49-F238E27FC236}">
                <a16:creationId xmlns:a16="http://schemas.microsoft.com/office/drawing/2014/main" id="{6B5E191B-41BE-4588-810F-4A2D09978E82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628650"/>
          </a:xfrm>
          <a:custGeom>
            <a:avLst/>
            <a:gdLst/>
            <a:ahLst/>
            <a:cxnLst/>
            <a:rect l="0" t="0" r="0" b="0"/>
            <a:pathLst>
              <a:path w="10972800" h="628650">
                <a:moveTo>
                  <a:pt x="95250" y="9525"/>
                </a:moveTo>
                <a:lnTo>
                  <a:pt x="10877550" y="9525"/>
                </a:lnTo>
                <a:cubicBezTo>
                  <a:pt x="10925175" y="9525"/>
                  <a:pt x="10963275" y="47625"/>
                  <a:pt x="10963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txt-32">
            <a:extLst>
              <a:ext uri="{FF2B5EF4-FFF2-40B4-BE49-F238E27FC236}">
                <a16:creationId xmlns:a16="http://schemas.microsoft.com/office/drawing/2014/main" id="{D2FB3396-F6AA-46D2-9D75-0220504B029D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txt-33">
            <a:extLst>
              <a:ext uri="{FF2B5EF4-FFF2-40B4-BE49-F238E27FC236}">
                <a16:creationId xmlns:a16="http://schemas.microsoft.com/office/drawing/2014/main" id="{F8CF6FEA-B8AE-4075-B26A-5F48AE32D3E2}"/>
              </a:ext>
            </a:extLst>
          </p:cNvPr>
          <p:cNvSpPr>
            <a:spLocks noGrp="1"/>
          </p:cNvSpPr>
          <p:nvPr/>
        </p:nvSpPr>
        <p:spPr>
          <a:xfrm>
            <a:off x="1638300" y="529590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8787317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-06  配置核验与巡检">
            <a:extLst>
              <a:ext uri="{FF2B5EF4-FFF2-40B4-BE49-F238E27FC236}">
                <a16:creationId xmlns:a16="http://schemas.microsoft.com/office/drawing/2014/main" id="{5A869226-6967-482A-A0E6-86277E60D1B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正文-配置结论与判断依据">
            <a:extLst>
              <a:ext uri="{FF2B5EF4-FFF2-40B4-BE49-F238E27FC236}">
                <a16:creationId xmlns:a16="http://schemas.microsoft.com/office/drawing/2014/main" id="{33F1D273-7BF5-4BDE-97D7-08DF6506348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配置结论与判断依据</a:t>
            </a:r>
          </a:p>
        </p:txBody>
      </p:sp>
      <p:sp>
        <p:nvSpPr>
          <p:cNvPr id="3" name="版式分隔线">
            <a:extLst>
              <a:ext uri="{FF2B5EF4-FFF2-40B4-BE49-F238E27FC236}">
                <a16:creationId xmlns:a16="http://schemas.microsoft.com/office/drawing/2014/main" id="{9FEE6785-DA8E-4E46-A18B-465A1661A05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正文-61">
            <a:extLst>
              <a:ext uri="{FF2B5EF4-FFF2-40B4-BE49-F238E27FC236}">
                <a16:creationId xmlns:a16="http://schemas.microsoft.com/office/drawing/2014/main" id="{E597B97F-2719-412E-8BAB-3109D1E4F72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5" name="统一风格-表格玻璃容器玻璃后沿-987">
            <a:extLst>
              <a:ext uri="{FF2B5EF4-FFF2-40B4-BE49-F238E27FC236}">
                <a16:creationId xmlns:a16="http://schemas.microsoft.com/office/drawing/2014/main" id="{685EB331-378A-44E8-9A9F-FD3818A1FE60}"/>
              </a:ext>
            </a:extLst>
          </p:cNvPr>
          <p:cNvSpPr>
            <a:spLocks noGrp="1"/>
          </p:cNvSpPr>
          <p:nvPr/>
        </p:nvSpPr>
        <p:spPr>
          <a:xfrm>
            <a:off x="533400" y="1962150"/>
            <a:ext cx="11125200" cy="4019550"/>
          </a:xfrm>
          <a:prstGeom prst="roundRect">
            <a:avLst>
              <a:gd name="adj" fmla="val 2133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表格玻璃容器-988">
            <a:extLst>
              <a:ext uri="{FF2B5EF4-FFF2-40B4-BE49-F238E27FC236}">
                <a16:creationId xmlns:a16="http://schemas.microsoft.com/office/drawing/2014/main" id="{80D23A02-718F-4BC3-85F4-7D32A518CC35}"/>
              </a:ext>
            </a:extLst>
          </p:cNvPr>
          <p:cNvSpPr>
            <a:spLocks noGrp="1"/>
          </p:cNvSpPr>
          <p:nvPr/>
        </p:nvSpPr>
        <p:spPr>
          <a:xfrm>
            <a:off x="533400" y="1962150"/>
            <a:ext cx="11125200" cy="4019550"/>
          </a:xfrm>
          <a:prstGeom prst="roundRect">
            <a:avLst>
              <a:gd name="adj" fmla="val 2133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表格玻璃容器玻璃内沿-989">
            <a:extLst>
              <a:ext uri="{FF2B5EF4-FFF2-40B4-BE49-F238E27FC236}">
                <a16:creationId xmlns:a16="http://schemas.microsoft.com/office/drawing/2014/main" id="{08F3F7C5-E419-4F16-A672-6B0FD2A11D8F}"/>
              </a:ext>
            </a:extLst>
          </p:cNvPr>
          <p:cNvSpPr>
            <a:spLocks noGrp="1"/>
          </p:cNvSpPr>
          <p:nvPr/>
        </p:nvSpPr>
        <p:spPr>
          <a:xfrm>
            <a:off x="546259" y="1975009"/>
            <a:ext cx="11099483" cy="3993833"/>
          </a:xfrm>
          <a:prstGeom prst="roundRect">
            <a:avLst>
              <a:gd name="adj" fmla="val 1836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边缘高光-990">
            <a:extLst>
              <a:ext uri="{FF2B5EF4-FFF2-40B4-BE49-F238E27FC236}">
                <a16:creationId xmlns:a16="http://schemas.microsoft.com/office/drawing/2014/main" id="{F554995D-6AF7-4913-BC0A-12A1FDDEBEED}"/>
              </a:ext>
            </a:extLst>
          </p:cNvPr>
          <p:cNvSpPr>
            <a:spLocks noGrp="1"/>
          </p:cNvSpPr>
          <p:nvPr/>
        </p:nvSpPr>
        <p:spPr>
          <a:xfrm>
            <a:off x="533400" y="1962150"/>
            <a:ext cx="11125200" cy="4019550"/>
          </a:xfrm>
          <a:custGeom>
            <a:avLst/>
            <a:gdLst/>
            <a:ahLst/>
            <a:cxnLst/>
            <a:rect l="0" t="0" r="0" b="0"/>
            <a:pathLst>
              <a:path w="11125200" h="40195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2C2325-70D6-44D8-8818-E86977207622}"/>
              </a:ext>
            </a:extLst>
          </p:cNvPr>
          <p:cNvGraphicFramePr/>
          <p:nvPr/>
        </p:nvGraphicFramePr>
        <p:xfrm>
          <a:off x="609600" y="2038350"/>
          <a:ext cx="10972800" cy="386715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子网划分需要配合安全策略实现隔离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文档说明 VPC 边界接入后默认放行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其他安全层、路由或服务仍可影响业务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白名单可跳过后续检测，需按例外管理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正反用例与日志共同验证策略和覆盖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4315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文-06  配置核验与巡检">
            <a:extLst>
              <a:ext uri="{FF2B5EF4-FFF2-40B4-BE49-F238E27FC236}">
                <a16:creationId xmlns:a16="http://schemas.microsoft.com/office/drawing/2014/main" id="{7FF563F4-E07E-4B8B-92F0-CD747C8F2CB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12ED48D5-2659-4C66-A62F-BC6CBD68C18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上线前与日常复核</a:t>
            </a:r>
          </a:p>
        </p:txBody>
      </p:sp>
      <p:sp>
        <p:nvSpPr>
          <p:cNvPr id="3" name="正文-实施建议：统一申请模板、明确复核责任人，并选择业务完成端到端验证">
            <a:extLst>
              <a:ext uri="{FF2B5EF4-FFF2-40B4-BE49-F238E27FC236}">
                <a16:creationId xmlns:a16="http://schemas.microsoft.com/office/drawing/2014/main" id="{F9BE7955-0AEC-4303-B61D-25B75DB3B5F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实施建议：统一申请模板、明确复核责任人，并选择业务完成端到端验证</a:t>
            </a:r>
          </a:p>
        </p:txBody>
      </p:sp>
      <p:sp>
        <p:nvSpPr>
          <p:cNvPr id="4" name="版式分隔线">
            <a:extLst>
              <a:ext uri="{FF2B5EF4-FFF2-40B4-BE49-F238E27FC236}">
                <a16:creationId xmlns:a16="http://schemas.microsoft.com/office/drawing/2014/main" id="{D71E90C2-1786-415E-B1B2-B646C40D0AF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正文-62">
            <a:extLst>
              <a:ext uri="{FF2B5EF4-FFF2-40B4-BE49-F238E27FC236}">
                <a16:creationId xmlns:a16="http://schemas.microsoft.com/office/drawing/2014/main" id="{99275402-4D46-4C26-81DC-ACBBA734B60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6" name="统一风格-上线前检查模块玻璃后沿-991">
            <a:extLst>
              <a:ext uri="{FF2B5EF4-FFF2-40B4-BE49-F238E27FC236}">
                <a16:creationId xmlns:a16="http://schemas.microsoft.com/office/drawing/2014/main" id="{F9DD9CF3-EA56-4F38-A74C-69036AB9DF1A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统一风格-上线前检查模块-992">
            <a:extLst>
              <a:ext uri="{FF2B5EF4-FFF2-40B4-BE49-F238E27FC236}">
                <a16:creationId xmlns:a16="http://schemas.microsoft.com/office/drawing/2014/main" id="{C0EA3416-285D-46E3-A449-0502A909C399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上线前检查模块玻璃内沿-993">
            <a:extLst>
              <a:ext uri="{FF2B5EF4-FFF2-40B4-BE49-F238E27FC236}">
                <a16:creationId xmlns:a16="http://schemas.microsoft.com/office/drawing/2014/main" id="{F65C725D-9595-407C-A676-8F0181663079}"/>
              </a:ext>
            </a:extLst>
          </p:cNvPr>
          <p:cNvSpPr>
            <a:spLocks noGrp="1"/>
          </p:cNvSpPr>
          <p:nvPr/>
        </p:nvSpPr>
        <p:spPr>
          <a:xfrm>
            <a:off x="622459" y="2060734"/>
            <a:ext cx="5232083" cy="3765233"/>
          </a:xfrm>
          <a:prstGeom prst="roundRect">
            <a:avLst>
              <a:gd name="adj" fmla="val 19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上线前检查模块透光反射面-994">
            <a:extLst>
              <a:ext uri="{FF2B5EF4-FFF2-40B4-BE49-F238E27FC236}">
                <a16:creationId xmlns:a16="http://schemas.microsoft.com/office/drawing/2014/main" id="{5942F2A8-FAE1-4FF5-A5A6-DD4C042EDDC8}"/>
              </a:ext>
            </a:extLst>
          </p:cNvPr>
          <p:cNvSpPr>
            <a:spLocks noGrp="1"/>
          </p:cNvSpPr>
          <p:nvPr/>
        </p:nvSpPr>
        <p:spPr>
          <a:xfrm>
            <a:off x="628650" y="2066925"/>
            <a:ext cx="5219700" cy="3752850"/>
          </a:xfrm>
          <a:custGeom>
            <a:avLst/>
            <a:gdLst/>
            <a:ahLst/>
            <a:cxnLst/>
            <a:rect l="0" t="0" r="0" b="0"/>
            <a:pathLst>
              <a:path w="5219700" h="3752850">
                <a:moveTo>
                  <a:pt x="76200" y="0"/>
                </a:moveTo>
                <a:lnTo>
                  <a:pt x="3340608" y="0"/>
                </a:lnTo>
                <a:lnTo>
                  <a:pt x="1357122" y="3752850"/>
                </a:lnTo>
                <a:lnTo>
                  <a:pt x="76200" y="3752850"/>
                </a:lnTo>
                <a:cubicBezTo>
                  <a:pt x="28575" y="3752850"/>
                  <a:pt x="0" y="3724275"/>
                  <a:pt x="0" y="3676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上线前检查模块边缘高光-995">
            <a:extLst>
              <a:ext uri="{FF2B5EF4-FFF2-40B4-BE49-F238E27FC236}">
                <a16:creationId xmlns:a16="http://schemas.microsoft.com/office/drawing/2014/main" id="{9FE6B2B7-D0B4-45D7-8E43-25006B48DFA3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257800" cy="3790950"/>
          </a:xfrm>
          <a:custGeom>
            <a:avLst/>
            <a:gdLst/>
            <a:ahLst/>
            <a:cxnLst/>
            <a:rect l="0" t="0" r="0" b="0"/>
            <a:pathLst>
              <a:path w="5257800" h="37909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日常检查模块玻璃后沿-996">
            <a:extLst>
              <a:ext uri="{FF2B5EF4-FFF2-40B4-BE49-F238E27FC236}">
                <a16:creationId xmlns:a16="http://schemas.microsoft.com/office/drawing/2014/main" id="{F481E2A0-832E-42C0-B235-4118C707BCCF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统一风格-日常检查模块-997">
            <a:extLst>
              <a:ext uri="{FF2B5EF4-FFF2-40B4-BE49-F238E27FC236}">
                <a16:creationId xmlns:a16="http://schemas.microsoft.com/office/drawing/2014/main" id="{1D0440B9-44A3-4D23-88F4-C376F311303C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5257800" cy="3790950"/>
          </a:xfrm>
          <a:prstGeom prst="roundRect">
            <a:avLst>
              <a:gd name="adj" fmla="val 2261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日常检查模块玻璃内沿-998">
            <a:extLst>
              <a:ext uri="{FF2B5EF4-FFF2-40B4-BE49-F238E27FC236}">
                <a16:creationId xmlns:a16="http://schemas.microsoft.com/office/drawing/2014/main" id="{31B0A6C7-42AC-4179-AB1F-918219701255}"/>
              </a:ext>
            </a:extLst>
          </p:cNvPr>
          <p:cNvSpPr>
            <a:spLocks noGrp="1"/>
          </p:cNvSpPr>
          <p:nvPr/>
        </p:nvSpPr>
        <p:spPr>
          <a:xfrm>
            <a:off x="6337459" y="2060734"/>
            <a:ext cx="5232083" cy="3765233"/>
          </a:xfrm>
          <a:prstGeom prst="roundRect">
            <a:avLst>
              <a:gd name="adj" fmla="val 1948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统一风格-日常检查模块透光反射面-999">
            <a:extLst>
              <a:ext uri="{FF2B5EF4-FFF2-40B4-BE49-F238E27FC236}">
                <a16:creationId xmlns:a16="http://schemas.microsoft.com/office/drawing/2014/main" id="{F9560D9F-481A-42E2-A95C-25FF737C254B}"/>
              </a:ext>
            </a:extLst>
          </p:cNvPr>
          <p:cNvSpPr>
            <a:spLocks noGrp="1"/>
          </p:cNvSpPr>
          <p:nvPr/>
        </p:nvSpPr>
        <p:spPr>
          <a:xfrm>
            <a:off x="6343650" y="2066925"/>
            <a:ext cx="5219700" cy="3752850"/>
          </a:xfrm>
          <a:custGeom>
            <a:avLst/>
            <a:gdLst/>
            <a:ahLst/>
            <a:cxnLst/>
            <a:rect l="0" t="0" r="0" b="0"/>
            <a:pathLst>
              <a:path w="5219700" h="3752850">
                <a:moveTo>
                  <a:pt x="76200" y="0"/>
                </a:moveTo>
                <a:lnTo>
                  <a:pt x="3340608" y="0"/>
                </a:lnTo>
                <a:lnTo>
                  <a:pt x="1357122" y="3752850"/>
                </a:lnTo>
                <a:lnTo>
                  <a:pt x="76200" y="3752850"/>
                </a:lnTo>
                <a:cubicBezTo>
                  <a:pt x="28575" y="3752850"/>
                  <a:pt x="0" y="3724275"/>
                  <a:pt x="0" y="3676650"/>
                </a:cubicBezTo>
                <a:lnTo>
                  <a:pt x="0" y="76200"/>
                </a:lnTo>
                <a:cubicBezTo>
                  <a:pt x="0" y="28575"/>
                  <a:pt x="28575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43000"/>
                </a:srgbClr>
              </a:gs>
              <a:gs pos="100000">
                <a:srgbClr val="FFFFFF">
                  <a:alpha val="6000"/>
                </a:srgbClr>
              </a:gs>
            </a:gsLst>
            <a:lin ang="7500000"/>
          </a:gradFill>
          <a:ln w="0" cap="rnd">
            <a:noFill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统一风格-日常检查模块边缘高光-1000">
            <a:extLst>
              <a:ext uri="{FF2B5EF4-FFF2-40B4-BE49-F238E27FC236}">
                <a16:creationId xmlns:a16="http://schemas.microsoft.com/office/drawing/2014/main" id="{E5C5A3B8-BA95-433E-A4BE-2F14C82A929C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5257800" cy="3790950"/>
          </a:xfrm>
          <a:custGeom>
            <a:avLst/>
            <a:gdLst/>
            <a:ahLst/>
            <a:cxnLst/>
            <a:rect l="0" t="0" r="0" b="0"/>
            <a:pathLst>
              <a:path w="5257800" h="3790950">
                <a:moveTo>
                  <a:pt x="95250" y="9525"/>
                </a:moveTo>
                <a:lnTo>
                  <a:pt x="5162550" y="9525"/>
                </a:lnTo>
                <a:cubicBezTo>
                  <a:pt x="5210175" y="9525"/>
                  <a:pt x="5248275" y="47625"/>
                  <a:pt x="52482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A087B097-F3A0-4462-8B1E-CDB6B4D89D69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每次上线前</a:t>
            </a:r>
          </a:p>
        </p:txBody>
      </p:sp>
      <p:sp>
        <p:nvSpPr>
          <p:cNvPr id="17" name="txt-16">
            <a:extLst>
              <a:ext uri="{FF2B5EF4-FFF2-40B4-BE49-F238E27FC236}">
                <a16:creationId xmlns:a16="http://schemas.microsoft.com/office/drawing/2014/main" id="{513CCB7A-2558-47ED-A8E1-F2EDB9DB1340}"/>
              </a:ext>
            </a:extLst>
          </p:cNvPr>
          <p:cNvSpPr>
            <a:spLocks noGrp="1"/>
          </p:cNvSpPr>
          <p:nvPr/>
        </p:nvSpPr>
        <p:spPr>
          <a:xfrm>
            <a:off x="6553200" y="22574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日常持续维护</a:t>
            </a:r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3F218240-3CB2-41E8-8290-74443B6A7213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地址、环境与业务 Owner 明确</a:t>
            </a:r>
          </a:p>
        </p:txBody>
      </p:sp>
      <p:sp>
        <p:nvSpPr>
          <p:cNvPr id="19" name="txt-18">
            <a:extLst>
              <a:ext uri="{FF2B5EF4-FFF2-40B4-BE49-F238E27FC236}">
                <a16:creationId xmlns:a16="http://schemas.microsoft.com/office/drawing/2014/main" id="{50031973-040C-48DE-A326-D40E11033AA8}"/>
              </a:ext>
            </a:extLst>
          </p:cNvPr>
          <p:cNvSpPr>
            <a:spLocks noGrp="1"/>
          </p:cNvSpPr>
          <p:nvPr/>
        </p:nvSpPr>
        <p:spPr>
          <a:xfrm>
            <a:off x="838200" y="35909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去回程和 CFW 覆盖已核验</a:t>
            </a:r>
          </a:p>
        </p:txBody>
      </p:sp>
      <p:sp>
        <p:nvSpPr>
          <p:cNvPr id="20" name="txt-19">
            <a:extLst>
              <a:ext uri="{FF2B5EF4-FFF2-40B4-BE49-F238E27FC236}">
                <a16:creationId xmlns:a16="http://schemas.microsoft.com/office/drawing/2014/main" id="{29F4267F-2CB5-41C8-BF21-175B418D5A1D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端口、顺序与例外经复核</a:t>
            </a:r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670DE0DB-9600-4CB7-AE5B-86025F4ABB29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正反用例与回滚门槛已准备</a:t>
            </a:r>
          </a:p>
        </p:txBody>
      </p:sp>
      <p:sp>
        <p:nvSpPr>
          <p:cNvPr id="22" name="txt-21">
            <a:extLst>
              <a:ext uri="{FF2B5EF4-FFF2-40B4-BE49-F238E27FC236}">
                <a16:creationId xmlns:a16="http://schemas.microsoft.com/office/drawing/2014/main" id="{2C4952BD-A017-430B-ADC7-CCBDA9CC4350}"/>
              </a:ext>
            </a:extLst>
          </p:cNvPr>
          <p:cNvSpPr>
            <a:spLocks noGrp="1"/>
          </p:cNvSpPr>
          <p:nvPr/>
        </p:nvSpPr>
        <p:spPr>
          <a:xfrm>
            <a:off x="6553200" y="29337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新增资产同步检查纳管状态</a:t>
            </a:r>
          </a:p>
        </p:txBody>
      </p:sp>
      <p:sp>
        <p:nvSpPr>
          <p:cNvPr id="23" name="txt-22">
            <a:extLst>
              <a:ext uri="{FF2B5EF4-FFF2-40B4-BE49-F238E27FC236}">
                <a16:creationId xmlns:a16="http://schemas.microsoft.com/office/drawing/2014/main" id="{22244E68-187A-4A69-B0FA-4F8B5D04ACCF}"/>
              </a:ext>
            </a:extLst>
          </p:cNvPr>
          <p:cNvSpPr>
            <a:spLocks noGrp="1"/>
          </p:cNvSpPr>
          <p:nvPr/>
        </p:nvSpPr>
        <p:spPr>
          <a:xfrm>
            <a:off x="6553200" y="35909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到期临时规则与白名单及时清理</a:t>
            </a:r>
          </a:p>
        </p:txBody>
      </p:sp>
      <p:sp>
        <p:nvSpPr>
          <p:cNvPr id="24" name="txt-23">
            <a:extLst>
              <a:ext uri="{FF2B5EF4-FFF2-40B4-BE49-F238E27FC236}">
                <a16:creationId xmlns:a16="http://schemas.microsoft.com/office/drawing/2014/main" id="{B1F89A83-22CA-4EFC-B448-F1E6D7D8A8D4}"/>
              </a:ext>
            </a:extLst>
          </p:cNvPr>
          <p:cNvSpPr>
            <a:spLocks noGrp="1"/>
          </p:cNvSpPr>
          <p:nvPr/>
        </p:nvSpPr>
        <p:spPr>
          <a:xfrm>
            <a:off x="6553200" y="42481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周期复核对象组与低频依赖</a:t>
            </a:r>
          </a:p>
        </p:txBody>
      </p:sp>
      <p:sp>
        <p:nvSpPr>
          <p:cNvPr id="25" name="txt-24">
            <a:extLst>
              <a:ext uri="{FF2B5EF4-FFF2-40B4-BE49-F238E27FC236}">
                <a16:creationId xmlns:a16="http://schemas.microsoft.com/office/drawing/2014/main" id="{20F1FA28-3460-4631-9C96-A48ABD51E54D}"/>
              </a:ext>
            </a:extLst>
          </p:cNvPr>
          <p:cNvSpPr>
            <a:spLocks noGrp="1"/>
          </p:cNvSpPr>
          <p:nvPr/>
        </p:nvSpPr>
        <p:spPr>
          <a:xfrm>
            <a:off x="6553200" y="490537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11105885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文-06  配置核验与巡检">
            <a:extLst>
              <a:ext uri="{FF2B5EF4-FFF2-40B4-BE49-F238E27FC236}">
                <a16:creationId xmlns:a16="http://schemas.microsoft.com/office/drawing/2014/main" id="{A1886C94-7DEF-40D8-8897-774172F6EC4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  配置核验与巡检</a:t>
            </a:r>
          </a:p>
        </p:txBody>
      </p:sp>
      <p:sp>
        <p:nvSpPr>
          <p:cNvPr id="2" name="txt-1">
            <a:extLst>
              <a:ext uri="{FF2B5EF4-FFF2-40B4-BE49-F238E27FC236}">
                <a16:creationId xmlns:a16="http://schemas.microsoft.com/office/drawing/2014/main" id="{96446F36-CB25-4F3B-8874-EE68B64C60A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日常巡检与规则清理</a:t>
            </a:r>
          </a:p>
        </p:txBody>
      </p:sp>
      <p:sp>
        <p:nvSpPr>
          <p:cNvPr id="3" name="txt-2">
            <a:extLst>
              <a:ext uri="{FF2B5EF4-FFF2-40B4-BE49-F238E27FC236}">
                <a16:creationId xmlns:a16="http://schemas.microsoft.com/office/drawing/2014/main" id="{6FB2AF29-7F44-4246-A29C-079AF85FFA5E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每项检查都应落实到责任人、处理动作与证据</a:t>
            </a:r>
          </a:p>
        </p:txBody>
      </p:sp>
      <p:sp>
        <p:nvSpPr>
          <p:cNvPr id="4" name="正文-频率与职责为管理建议，正式采用前需纳入企业制度。未命中不能单独作为删除依据">
            <a:extLst>
              <a:ext uri="{FF2B5EF4-FFF2-40B4-BE49-F238E27FC236}">
                <a16:creationId xmlns:a16="http://schemas.microsoft.com/office/drawing/2014/main" id="{97F9B6AD-9B7E-4030-B9CE-375344EB8DA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频率与职责为管理建议，正式采用前需纳入企业制度。未命中不能单独作为删除依据</a:t>
            </a:r>
          </a:p>
        </p:txBody>
      </p:sp>
      <p:sp>
        <p:nvSpPr>
          <p:cNvPr id="5" name="版式分隔线">
            <a:extLst>
              <a:ext uri="{FF2B5EF4-FFF2-40B4-BE49-F238E27FC236}">
                <a16:creationId xmlns:a16="http://schemas.microsoft.com/office/drawing/2014/main" id="{8B1DBA8B-2145-435F-BDED-0CCAEFBCD4F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正文-63">
            <a:extLst>
              <a:ext uri="{FF2B5EF4-FFF2-40B4-BE49-F238E27FC236}">
                <a16:creationId xmlns:a16="http://schemas.microsoft.com/office/drawing/2014/main" id="{D599B71A-3B3E-416C-A259-B77B1D538006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95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7" name="统一风格-表格玻璃容器玻璃后沿-1001">
            <a:extLst>
              <a:ext uri="{FF2B5EF4-FFF2-40B4-BE49-F238E27FC236}">
                <a16:creationId xmlns:a16="http://schemas.microsoft.com/office/drawing/2014/main" id="{2CA97D28-8FBA-47A6-9C8F-D79EDDCF896A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表格玻璃容器-1002">
            <a:extLst>
              <a:ext uri="{FF2B5EF4-FFF2-40B4-BE49-F238E27FC236}">
                <a16:creationId xmlns:a16="http://schemas.microsoft.com/office/drawing/2014/main" id="{AE1EF63F-506D-4DAA-8D76-F2655F24C08F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486150"/>
          </a:xfrm>
          <a:prstGeom prst="roundRect">
            <a:avLst>
              <a:gd name="adj" fmla="val 2459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表格玻璃容器玻璃内沿-1003">
            <a:extLst>
              <a:ext uri="{FF2B5EF4-FFF2-40B4-BE49-F238E27FC236}">
                <a16:creationId xmlns:a16="http://schemas.microsoft.com/office/drawing/2014/main" id="{9B37C946-457B-4679-9B9B-EB811DF66B15}"/>
              </a:ext>
            </a:extLst>
          </p:cNvPr>
          <p:cNvSpPr>
            <a:spLocks noGrp="1"/>
          </p:cNvSpPr>
          <p:nvPr/>
        </p:nvSpPr>
        <p:spPr>
          <a:xfrm>
            <a:off x="546259" y="2098834"/>
            <a:ext cx="11099483" cy="3460433"/>
          </a:xfrm>
          <a:prstGeom prst="roundRect">
            <a:avLst>
              <a:gd name="adj" fmla="val 2119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表格玻璃容器边缘高光-1004">
            <a:extLst>
              <a:ext uri="{FF2B5EF4-FFF2-40B4-BE49-F238E27FC236}">
                <a16:creationId xmlns:a16="http://schemas.microsoft.com/office/drawing/2014/main" id="{8F9B208C-4EF1-4580-A4E8-69A86D2340A0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1125200" cy="3486150"/>
          </a:xfrm>
          <a:custGeom>
            <a:avLst/>
            <a:gdLst/>
            <a:ahLst/>
            <a:cxnLst/>
            <a:rect l="0" t="0" r="0" b="0"/>
            <a:pathLst>
              <a:path w="11125200" h="3486150">
                <a:moveTo>
                  <a:pt x="95250" y="9525"/>
                </a:moveTo>
                <a:lnTo>
                  <a:pt x="11029950" y="9525"/>
                </a:lnTo>
                <a:cubicBezTo>
                  <a:pt x="11077575" y="9525"/>
                  <a:pt x="11115675" y="47625"/>
                  <a:pt x="111156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5613242-0FD2-4DB2-82EE-994CB210AFCE}"/>
              </a:ext>
            </a:extLst>
          </p:cNvPr>
          <p:cNvGraphicFramePr/>
          <p:nvPr/>
        </p:nvGraphicFramePr>
        <p:xfrm>
          <a:off x="609600" y="2162175"/>
          <a:ext cx="10972800" cy="3333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触发时机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责任角色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检查重点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2FA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anchor="ctr">
                    <a:lnL w="3500">
                      <a:solidFill>
                        <a:srgbClr val="C9D9F0"/>
                      </a:solidFill>
                      <a:prstDash val="solid"/>
                    </a:lnL>
                    <a:lnR w="3500">
                      <a:solidFill>
                        <a:srgbClr val="C9D9F0"/>
                      </a:solidFill>
                      <a:prstDash val="solid"/>
                    </a:lnR>
                    <a:lnT w="3500">
                      <a:solidFill>
                        <a:srgbClr val="C9D9F0"/>
                      </a:solidFill>
                      <a:prstDash val="solid"/>
                    </a:lnT>
                    <a:lnB w="3500">
                      <a:solidFill>
                        <a:srgbClr val="C9D9F0"/>
                      </a:solidFill>
                      <a:prstDash val="solid"/>
                    </a:lnB>
                    <a:solidFill>
                      <a:srgbClr val="DCE8FC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值班运维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覆盖变化、异常阻断、告警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责任人、影响与处理记录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 cap="flat" cmpd="sng" algn="ctr">
                      <a:solidFill>
                        <a:srgbClr val="C9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安全管理员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临时规则到期、宽泛授权、例外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Owner 复核、审批与差异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/ 网络 / 安全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周期依赖、引流路径、必要性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复核结论与恢复记录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FFFFF">
                        <a:alpha val="9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发生变更时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/ 平台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新资产、路由、NAT 与边界覆盖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3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工单与正反验证结果</a:t>
                      </a:r>
                    </a:p>
                  </a:txBody>
                  <a:tcPr anchor="ctr">
                    <a:lnL w="3500">
                      <a:solidFill>
                        <a:srgbClr val="E5EDF8"/>
                      </a:solidFill>
                      <a:prstDash val="solid"/>
                    </a:lnL>
                    <a:lnR w="3500">
                      <a:solidFill>
                        <a:srgbClr val="E5EDF8"/>
                      </a:solidFill>
                      <a:prstDash val="solid"/>
                    </a:lnR>
                    <a:lnT w="3500">
                      <a:solidFill>
                        <a:srgbClr val="E5EDF8"/>
                      </a:solidFill>
                      <a:prstDash val="solid"/>
                    </a:lnT>
                    <a:lnB w="3500">
                      <a:solidFill>
                        <a:srgbClr val="E5EDF8"/>
                      </a:solidFill>
                      <a:prstDash val="solid"/>
                    </a:lnB>
                    <a:solidFill>
                      <a:srgbClr val="F3F7FD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xt-10">
            <a:extLst>
              <a:ext uri="{FF2B5EF4-FFF2-40B4-BE49-F238E27FC236}">
                <a16:creationId xmlns:a16="http://schemas.microsoft.com/office/drawing/2014/main" id="{E4FF0834-AD54-4E41-8B38-2A0FAA7133DD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资产、路由或出口变化时，立即补做覆盖和正反验证。</a:t>
            </a:r>
          </a:p>
        </p:txBody>
      </p:sp>
    </p:spTree>
    <p:extLst>
      <p:ext uri="{BB962C8B-B14F-4D97-AF65-F5344CB8AC3E}">
        <p14:creationId xmlns:p14="http://schemas.microsoft.com/office/powerpoint/2010/main" val="3110126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统一风格-文字 附录-1">
            <a:extLst>
              <a:ext uri="{FF2B5EF4-FFF2-40B4-BE49-F238E27FC236}">
                <a16:creationId xmlns:a16="http://schemas.microsoft.com/office/drawing/2014/main" id="{7EE1BAA2-B2F7-469B-B16B-86282883E13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统一风格-文字 华为云官方文档索引-2">
            <a:extLst>
              <a:ext uri="{FF2B5EF4-FFF2-40B4-BE49-F238E27FC236}">
                <a16:creationId xmlns:a16="http://schemas.microsoft.com/office/drawing/2014/main" id="{1EE7113B-AFF1-438C-B300-D196747872B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华为云官方文档索引</a:t>
            </a:r>
          </a:p>
        </p:txBody>
      </p:sp>
      <p:sp>
        <p:nvSpPr>
          <p:cNvPr id="3" name="统一风格-文字 覆盖 VPC、网络互联、OBS / SWR 加固与 CFW，点击条目查看对应官方文档-3">
            <a:extLst>
              <a:ext uri="{FF2B5EF4-FFF2-40B4-BE49-F238E27FC236}">
                <a16:creationId xmlns:a16="http://schemas.microsoft.com/office/drawing/2014/main" id="{5C610A78-8B6A-4299-A05F-4DBFCAAAC654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覆盖 VPC、网络互联、OBS / SWR 加固与 CFW，点击条目查看对应官方文档</a:t>
            </a:r>
          </a:p>
        </p:txBody>
      </p:sp>
      <p:sp>
        <p:nvSpPr>
          <p:cNvPr id="4" name="统一风格-官方文档分类玻璃后沿-4">
            <a:extLst>
              <a:ext uri="{FF2B5EF4-FFF2-40B4-BE49-F238E27FC236}">
                <a16:creationId xmlns:a16="http://schemas.microsoft.com/office/drawing/2014/main" id="{10458934-A2BC-4C12-97D8-2F759F648CD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统一风格-官方文档分类-5">
            <a:extLst>
              <a:ext uri="{FF2B5EF4-FFF2-40B4-BE49-F238E27FC236}">
                <a16:creationId xmlns:a16="http://schemas.microsoft.com/office/drawing/2014/main" id="{62821115-3748-4AEC-BF0C-EF651A20988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统一风格-官方文档分类玻璃内沿-6">
            <a:extLst>
              <a:ext uri="{FF2B5EF4-FFF2-40B4-BE49-F238E27FC236}">
                <a16:creationId xmlns:a16="http://schemas.microsoft.com/office/drawing/2014/main" id="{47776606-254C-486C-8DC4-300929BEECFD}"/>
              </a:ext>
            </a:extLst>
          </p:cNvPr>
          <p:cNvSpPr>
            <a:spLocks noGrp="1"/>
          </p:cNvSpPr>
          <p:nvPr/>
        </p:nvSpPr>
        <p:spPr>
          <a:xfrm>
            <a:off x="622459" y="2108359"/>
            <a:ext cx="3403283" cy="3746183"/>
          </a:xfrm>
          <a:prstGeom prst="roundRect">
            <a:avLst>
              <a:gd name="adj" fmla="val 21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统一风格-官方文档分类边缘高光-7">
            <a:extLst>
              <a:ext uri="{FF2B5EF4-FFF2-40B4-BE49-F238E27FC236}">
                <a16:creationId xmlns:a16="http://schemas.microsoft.com/office/drawing/2014/main" id="{B8E2EEA7-827D-4560-BD40-422E21BED48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429000" cy="3771900"/>
          </a:xfrm>
          <a:custGeom>
            <a:avLst/>
            <a:gdLst/>
            <a:ahLst/>
            <a:cxnLst/>
            <a:rect l="0" t="0" r="0" b="0"/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统一风格-doc 规则文档-8">
            <a:extLst>
              <a:ext uri="{FF2B5EF4-FFF2-40B4-BE49-F238E27FC236}">
                <a16:creationId xmlns:a16="http://schemas.microsoft.com/office/drawing/2014/main" id="{D75120A9-9084-472E-9FA5-0F8AAE85528B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统一风格-doc 文档折角-9">
            <a:extLst>
              <a:ext uri="{FF2B5EF4-FFF2-40B4-BE49-F238E27FC236}">
                <a16:creationId xmlns:a16="http://schemas.microsoft.com/office/drawing/2014/main" id="{5EFE62C7-B350-41FA-91AE-58D8D72BCA7F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统一风格-doc 规则条目-10">
            <a:extLst>
              <a:ext uri="{FF2B5EF4-FFF2-40B4-BE49-F238E27FC236}">
                <a16:creationId xmlns:a16="http://schemas.microsoft.com/office/drawing/2014/main" id="{DD4484A3-18DC-41B0-AFDB-98E004A68FA9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统一风格-文字 VPC 与网络互联-11">
            <a:extLst>
              <a:ext uri="{FF2B5EF4-FFF2-40B4-BE49-F238E27FC236}">
                <a16:creationId xmlns:a16="http://schemas.microsoft.com/office/drawing/2014/main" id="{A8A00F38-1FAB-4CDF-B5FF-EC8A953DB120}"/>
              </a:ext>
            </a:extLst>
          </p:cNvPr>
          <p:cNvSpPr>
            <a:spLocks noGrp="1"/>
          </p:cNvSpPr>
          <p:nvPr/>
        </p:nvSpPr>
        <p:spPr>
          <a:xfrm>
            <a:off x="1371600" y="22955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VPC 与网络互联</a:t>
            </a:r>
          </a:p>
        </p:txBody>
      </p:sp>
      <p:sp>
        <p:nvSpPr>
          <p:cNvPr id="12" name="统一风格-分类标题分隔线-12">
            <a:extLst>
              <a:ext uri="{FF2B5EF4-FFF2-40B4-BE49-F238E27FC236}">
                <a16:creationId xmlns:a16="http://schemas.microsoft.com/office/drawing/2014/main" id="{C6BE6BF2-31EC-416A-823B-68EB56EADABF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3048000" cy="0"/>
          </a:xfrm>
          <a:prstGeom prst="line">
            <a:avLst/>
          </a:prstGeom>
          <a:noFill/>
          <a:ln w="7144">
            <a:solidFill>
              <a:srgbClr val="C8D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统一风格-文字 VPC 网络规划-13">
            <a:extLst>
              <a:ext uri="{FF2B5EF4-FFF2-40B4-BE49-F238E27FC236}">
                <a16:creationId xmlns:a16="http://schemas.microsoft.com/office/drawing/2014/main" id="{CA11E8EF-9E33-48DE-86DD-BACD6592B2A0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3"/>
              </a:rPr>
              <a:t>VPC 网络规划</a:t>
            </a:r>
          </a:p>
        </p:txBody>
      </p:sp>
      <p:sp>
        <p:nvSpPr>
          <p:cNvPr id="14" name="统一风格-文字 对等连接与传递路由-14">
            <a:extLst>
              <a:ext uri="{FF2B5EF4-FFF2-40B4-BE49-F238E27FC236}">
                <a16:creationId xmlns:a16="http://schemas.microsoft.com/office/drawing/2014/main" id="{133AB04E-5D4A-434B-A310-124ED2380EA0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4"/>
              </a:rPr>
              <a:t>对等连接与传递路由</a:t>
            </a:r>
          </a:p>
        </p:txBody>
      </p:sp>
      <p:sp>
        <p:nvSpPr>
          <p:cNvPr id="15" name="统一风格-文字 ER 共享与跨账号接入-15">
            <a:extLst>
              <a:ext uri="{FF2B5EF4-FFF2-40B4-BE49-F238E27FC236}">
                <a16:creationId xmlns:a16="http://schemas.microsoft.com/office/drawing/2014/main" id="{31D765A5-3026-4BEE-84CA-C3533D56AF61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5"/>
              </a:rPr>
              <a:t>ER 共享与跨账号接入</a:t>
            </a:r>
          </a:p>
        </p:txBody>
      </p:sp>
      <p:sp>
        <p:nvSpPr>
          <p:cNvPr id="16" name="统一风格-文字 CC 中心网络与区域限制-16">
            <a:extLst>
              <a:ext uri="{FF2B5EF4-FFF2-40B4-BE49-F238E27FC236}">
                <a16:creationId xmlns:a16="http://schemas.microsoft.com/office/drawing/2014/main" id="{C8B27FD0-4C42-4043-AB86-6FF02A821309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6"/>
              </a:rPr>
              <a:t>CC 中心网络与区域限制</a:t>
            </a:r>
          </a:p>
        </p:txBody>
      </p:sp>
      <p:sp>
        <p:nvSpPr>
          <p:cNvPr id="17" name="统一风格-文字 私网 NAT 使用说明-17">
            <a:extLst>
              <a:ext uri="{FF2B5EF4-FFF2-40B4-BE49-F238E27FC236}">
                <a16:creationId xmlns:a16="http://schemas.microsoft.com/office/drawing/2014/main" id="{4946E2BE-54A4-4364-A94B-8BDD4135122F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7"/>
              </a:rPr>
              <a:t>私网 NAT 使用说明</a:t>
            </a:r>
          </a:p>
        </p:txBody>
      </p:sp>
      <p:sp>
        <p:nvSpPr>
          <p:cNvPr id="18" name="统一风格-文字 VPCEP 规格与限制-18">
            <a:extLst>
              <a:ext uri="{FF2B5EF4-FFF2-40B4-BE49-F238E27FC236}">
                <a16:creationId xmlns:a16="http://schemas.microsoft.com/office/drawing/2014/main" id="{119D1023-5842-437D-83B9-99880DA56E37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8"/>
              </a:rPr>
              <a:t>VPCEP 规格与限制</a:t>
            </a:r>
          </a:p>
        </p:txBody>
      </p:sp>
      <p:sp>
        <p:nvSpPr>
          <p:cNvPr id="19" name="统一风格-官方文档分类玻璃后沿-19">
            <a:extLst>
              <a:ext uri="{FF2B5EF4-FFF2-40B4-BE49-F238E27FC236}">
                <a16:creationId xmlns:a16="http://schemas.microsoft.com/office/drawing/2014/main" id="{B5446E9B-C580-4DA8-BF4A-2E383E0A4729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统一风格-官方文档分类-20">
            <a:extLst>
              <a:ext uri="{FF2B5EF4-FFF2-40B4-BE49-F238E27FC236}">
                <a16:creationId xmlns:a16="http://schemas.microsoft.com/office/drawing/2014/main" id="{B47B2DBE-8159-4253-A331-6FD19843E730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统一风格-官方文档分类玻璃内沿-21">
            <a:extLst>
              <a:ext uri="{FF2B5EF4-FFF2-40B4-BE49-F238E27FC236}">
                <a16:creationId xmlns:a16="http://schemas.microsoft.com/office/drawing/2014/main" id="{1B9157E6-204A-41DD-A773-8307FEA8493C}"/>
              </a:ext>
            </a:extLst>
          </p:cNvPr>
          <p:cNvSpPr>
            <a:spLocks noGrp="1"/>
          </p:cNvSpPr>
          <p:nvPr/>
        </p:nvSpPr>
        <p:spPr>
          <a:xfrm>
            <a:off x="4394359" y="2108359"/>
            <a:ext cx="3403283" cy="3746183"/>
          </a:xfrm>
          <a:prstGeom prst="roundRect">
            <a:avLst>
              <a:gd name="adj" fmla="val 21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统一风格-官方文档分类边缘高光-22">
            <a:extLst>
              <a:ext uri="{FF2B5EF4-FFF2-40B4-BE49-F238E27FC236}">
                <a16:creationId xmlns:a16="http://schemas.microsoft.com/office/drawing/2014/main" id="{8CF9B85F-639A-4430-B73A-A94B8B721281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3771900"/>
          </a:xfrm>
          <a:custGeom>
            <a:avLst/>
            <a:gdLst/>
            <a:ahLst/>
            <a:cxnLst/>
            <a:rect l="0" t="0" r="0" b="0"/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统一风格-doc 规则文档-23">
            <a:extLst>
              <a:ext uri="{FF2B5EF4-FFF2-40B4-BE49-F238E27FC236}">
                <a16:creationId xmlns:a16="http://schemas.microsoft.com/office/drawing/2014/main" id="{F492A761-4D18-48CA-99CE-F0B7584CA037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统一风格-doc 文档折角-24">
            <a:extLst>
              <a:ext uri="{FF2B5EF4-FFF2-40B4-BE49-F238E27FC236}">
                <a16:creationId xmlns:a16="http://schemas.microsoft.com/office/drawing/2014/main" id="{7BF2D940-3BE8-4750-845E-3F7F2466CDD5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统一风格-doc 规则条目-25">
            <a:extLst>
              <a:ext uri="{FF2B5EF4-FFF2-40B4-BE49-F238E27FC236}">
                <a16:creationId xmlns:a16="http://schemas.microsoft.com/office/drawing/2014/main" id="{B03BAFA6-FEF7-4771-9EEF-78A6C64708F6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统一风格-文字 OBS / SWR 安全加固-26">
            <a:extLst>
              <a:ext uri="{FF2B5EF4-FFF2-40B4-BE49-F238E27FC236}">
                <a16:creationId xmlns:a16="http://schemas.microsoft.com/office/drawing/2014/main" id="{2EA7C1BC-573F-40BC-B6BD-D2DB8A4D03DC}"/>
              </a:ext>
            </a:extLst>
          </p:cNvPr>
          <p:cNvSpPr>
            <a:spLocks noGrp="1"/>
          </p:cNvSpPr>
          <p:nvPr/>
        </p:nvSpPr>
        <p:spPr>
          <a:xfrm>
            <a:off x="5143500" y="22955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OBS / SWR 安全加固</a:t>
            </a:r>
          </a:p>
        </p:txBody>
      </p:sp>
      <p:sp>
        <p:nvSpPr>
          <p:cNvPr id="27" name="统一风格-分类标题分隔线-27">
            <a:extLst>
              <a:ext uri="{FF2B5EF4-FFF2-40B4-BE49-F238E27FC236}">
                <a16:creationId xmlns:a16="http://schemas.microsoft.com/office/drawing/2014/main" id="{364AD941-265F-4475-A656-0C7E15E7C667}"/>
              </a:ext>
            </a:extLst>
          </p:cNvPr>
          <p:cNvSpPr>
            <a:spLocks noGrp="1"/>
          </p:cNvSpPr>
          <p:nvPr/>
        </p:nvSpPr>
        <p:spPr>
          <a:xfrm>
            <a:off x="4572000" y="2838450"/>
            <a:ext cx="3048000" cy="0"/>
          </a:xfrm>
          <a:prstGeom prst="line">
            <a:avLst/>
          </a:prstGeom>
          <a:noFill/>
          <a:ln w="7144">
            <a:solidFill>
              <a:srgbClr val="C8D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统一风格-文字 OBS 双端固定-28">
            <a:extLst>
              <a:ext uri="{FF2B5EF4-FFF2-40B4-BE49-F238E27FC236}">
                <a16:creationId xmlns:a16="http://schemas.microsoft.com/office/drawing/2014/main" id="{51E1EC09-B996-43D9-838D-4154B4BADDBF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9"/>
              </a:rPr>
              <a:t>OBS 双端固定</a:t>
            </a:r>
          </a:p>
        </p:txBody>
      </p:sp>
      <p:sp>
        <p:nvSpPr>
          <p:cNvPr id="29" name="统一风格-文字 OBS 桶策略与 HTTPS-29">
            <a:extLst>
              <a:ext uri="{FF2B5EF4-FFF2-40B4-BE49-F238E27FC236}">
                <a16:creationId xmlns:a16="http://schemas.microsoft.com/office/drawing/2014/main" id="{F8052323-466F-4D74-A207-FE5BACCBF219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0"/>
              </a:rPr>
              <a:t>OBS 桶策略与 HTTPS</a:t>
            </a:r>
          </a:p>
        </p:txBody>
      </p:sp>
      <p:sp>
        <p:nvSpPr>
          <p:cNvPr id="30" name="统一风格-文字 SWR 基础版内网访问-30">
            <a:extLst>
              <a:ext uri="{FF2B5EF4-FFF2-40B4-BE49-F238E27FC236}">
                <a16:creationId xmlns:a16="http://schemas.microsoft.com/office/drawing/2014/main" id="{1829BE13-88C4-458F-96B0-042CBBD6BA71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1"/>
              </a:rPr>
              <a:t>SWR 基础版内网访问</a:t>
            </a:r>
          </a:p>
        </p:txBody>
      </p:sp>
      <p:sp>
        <p:nvSpPr>
          <p:cNvPr id="31" name="统一风格-文字 SWR 企业版内网访问-31">
            <a:extLst>
              <a:ext uri="{FF2B5EF4-FFF2-40B4-BE49-F238E27FC236}">
                <a16:creationId xmlns:a16="http://schemas.microsoft.com/office/drawing/2014/main" id="{61A01F65-2EA8-40DD-A1BD-4A96B1F5F9B6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2"/>
              </a:rPr>
              <a:t>SWR 企业版内网访问</a:t>
            </a:r>
          </a:p>
        </p:txBody>
      </p:sp>
      <p:sp>
        <p:nvSpPr>
          <p:cNvPr id="32" name="统一风格-文字 SWR 登录与凭证-32">
            <a:extLst>
              <a:ext uri="{FF2B5EF4-FFF2-40B4-BE49-F238E27FC236}">
                <a16:creationId xmlns:a16="http://schemas.microsoft.com/office/drawing/2014/main" id="{361A230E-6D8A-42A5-950E-F1EBB6D7B556}"/>
              </a:ext>
            </a:extLst>
          </p:cNvPr>
          <p:cNvSpPr>
            <a:spLocks noGrp="1"/>
          </p:cNvSpPr>
          <p:nvPr/>
        </p:nvSpPr>
        <p:spPr>
          <a:xfrm>
            <a:off x="4572000" y="46291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3"/>
              </a:rPr>
              <a:t>SWR 登录与凭证</a:t>
            </a:r>
          </a:p>
        </p:txBody>
      </p:sp>
      <p:sp>
        <p:nvSpPr>
          <p:cNvPr id="33" name="统一风格-文字 CCE 委托拉取镜像-33">
            <a:extLst>
              <a:ext uri="{FF2B5EF4-FFF2-40B4-BE49-F238E27FC236}">
                <a16:creationId xmlns:a16="http://schemas.microsoft.com/office/drawing/2014/main" id="{8A4D71A1-E08B-4EEA-A66D-974C62F5E5C8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4"/>
              </a:rPr>
              <a:t>CCE 委托拉取镜像</a:t>
            </a:r>
          </a:p>
        </p:txBody>
      </p:sp>
      <p:sp>
        <p:nvSpPr>
          <p:cNvPr id="34" name="统一风格-官方文档分类玻璃后沿-34">
            <a:extLst>
              <a:ext uri="{FF2B5EF4-FFF2-40B4-BE49-F238E27FC236}">
                <a16:creationId xmlns:a16="http://schemas.microsoft.com/office/drawing/2014/main" id="{1F419704-4C61-47AC-AC60-E57DB130627C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D3E4FF">
                  <a:alpha val="55000"/>
                </a:srgbClr>
              </a:gs>
              <a:gs pos="100000">
                <a:srgbClr val="95B9F2">
                  <a:alpha val="24000"/>
                </a:srgbClr>
              </a:gs>
            </a:gsLst>
            <a:lin ang="78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统一风格-官方文档分类-35">
            <a:extLst>
              <a:ext uri="{FF2B5EF4-FFF2-40B4-BE49-F238E27FC236}">
                <a16:creationId xmlns:a16="http://schemas.microsoft.com/office/drawing/2014/main" id="{0B82B34F-F6FE-4D8A-9DB8-65D9EA240585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3771900"/>
          </a:xfrm>
          <a:prstGeom prst="roundRect">
            <a:avLst>
              <a:gd name="adj" fmla="val 2500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28000">
                <a:srgbClr val="EEF5FF">
                  <a:alpha val="82000"/>
                </a:srgbClr>
              </a:gs>
              <a:gs pos="69000">
                <a:srgbClr val="CDDEFA">
                  <a:alpha val="70000"/>
                </a:srgbClr>
              </a:gs>
              <a:gs pos="100000">
                <a:srgbClr val="F6FAFF">
                  <a:alpha val="85000"/>
                </a:srgbClr>
              </a:gs>
            </a:gsLst>
            <a:lin ang="7500000"/>
          </a:gradFill>
          <a:ln w="10001">
            <a:solidFill>
              <a:srgbClr val="ACC5EC">
                <a:alpha val="86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统一风格-官方文档分类玻璃内沿-36">
            <a:extLst>
              <a:ext uri="{FF2B5EF4-FFF2-40B4-BE49-F238E27FC236}">
                <a16:creationId xmlns:a16="http://schemas.microsoft.com/office/drawing/2014/main" id="{F513B048-D401-46C6-95B3-2CC1CAA91B5A}"/>
              </a:ext>
            </a:extLst>
          </p:cNvPr>
          <p:cNvSpPr>
            <a:spLocks noGrp="1"/>
          </p:cNvSpPr>
          <p:nvPr/>
        </p:nvSpPr>
        <p:spPr>
          <a:xfrm>
            <a:off x="8166259" y="2108359"/>
            <a:ext cx="3403283" cy="3746183"/>
          </a:xfrm>
          <a:prstGeom prst="roundRect">
            <a:avLst>
              <a:gd name="adj" fmla="val 2155"/>
            </a:avLst>
          </a:prstGeom>
          <a:noFill/>
          <a:ln w="7620">
            <a:solidFill>
              <a:srgbClr val="FFFFFF">
                <a:alpha val="7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统一风格-官方文档分类边缘高光-37">
            <a:extLst>
              <a:ext uri="{FF2B5EF4-FFF2-40B4-BE49-F238E27FC236}">
                <a16:creationId xmlns:a16="http://schemas.microsoft.com/office/drawing/2014/main" id="{B1A21C1A-A50D-435A-AF00-739C5527D2B3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429000" cy="3771900"/>
          </a:xfrm>
          <a:custGeom>
            <a:avLst/>
            <a:gdLst/>
            <a:ahLst/>
            <a:cxnLst/>
            <a:rect l="0" t="0" r="0" b="0"/>
            <a:pathLst>
              <a:path w="3429000" h="3771900">
                <a:moveTo>
                  <a:pt x="95250" y="9525"/>
                </a:moveTo>
                <a:lnTo>
                  <a:pt x="3333750" y="9525"/>
                </a:lnTo>
                <a:cubicBezTo>
                  <a:pt x="3381375" y="9525"/>
                  <a:pt x="3419475" y="47625"/>
                  <a:pt x="3419475" y="95250"/>
                </a:cubicBezTo>
              </a:path>
            </a:pathLst>
          </a:custGeom>
          <a:noFill/>
          <a:ln w="10001" cap="rnd">
            <a:solidFill>
              <a:srgbClr val="FFFFFF">
                <a:alpha val="95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统一风格-doc 规则文档-38">
            <a:extLst>
              <a:ext uri="{FF2B5EF4-FFF2-40B4-BE49-F238E27FC236}">
                <a16:creationId xmlns:a16="http://schemas.microsoft.com/office/drawing/2014/main" id="{F6E231E7-E7EF-4BE6-9DCA-411EFB69E109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133350" y="47625"/>
                </a:moveTo>
                <a:lnTo>
                  <a:pt x="409575" y="47625"/>
                </a:lnTo>
                <a:lnTo>
                  <a:pt x="495300" y="133350"/>
                </a:lnTo>
                <a:lnTo>
                  <a:pt x="495300" y="561975"/>
                </a:lnTo>
                <a:lnTo>
                  <a:pt x="133350" y="561975"/>
                </a:lnTo>
                <a:close/>
              </a:path>
            </a:pathLst>
          </a:custGeom>
          <a:gradFill>
            <a:gsLst>
              <a:gs pos="0">
                <a:srgbClr val="FFFFFF">
                  <a:alpha val="90000"/>
                </a:srgbClr>
              </a:gs>
              <a:gs pos="45000">
                <a:srgbClr val="D5E6FF">
                  <a:alpha val="75000"/>
                </a:srgbClr>
              </a:gs>
              <a:gs pos="100000">
                <a:srgbClr val="8AB4F5">
                  <a:alpha val="30000"/>
                </a:srgbClr>
              </a:gs>
            </a:gsLst>
            <a:lin ang="8100000"/>
          </a:gradFill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统一风格-doc 文档折角-39">
            <a:extLst>
              <a:ext uri="{FF2B5EF4-FFF2-40B4-BE49-F238E27FC236}">
                <a16:creationId xmlns:a16="http://schemas.microsoft.com/office/drawing/2014/main" id="{4CA4DFD7-12EB-4BE5-818D-6DC50763B553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409575" y="47625"/>
                </a:moveTo>
                <a:lnTo>
                  <a:pt x="409575" y="133350"/>
                </a:lnTo>
                <a:lnTo>
                  <a:pt x="495300" y="133350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统一风格-doc 规则条目-40">
            <a:extLst>
              <a:ext uri="{FF2B5EF4-FFF2-40B4-BE49-F238E27FC236}">
                <a16:creationId xmlns:a16="http://schemas.microsoft.com/office/drawing/2014/main" id="{E6B8F454-7B04-4155-8C6D-A3BBA254D53B}"/>
              </a:ext>
            </a:extLst>
          </p:cNvPr>
          <p:cNvSpPr>
            <a:spLocks noGrp="1"/>
          </p:cNvSpPr>
          <p:nvPr/>
        </p:nvSpPr>
        <p:spPr>
          <a:xfrm>
            <a:off x="8343900" y="2286000"/>
            <a:ext cx="419100" cy="419100"/>
          </a:xfrm>
          <a:custGeom>
            <a:avLst/>
            <a:gdLst/>
            <a:ahLst/>
            <a:cxnLst/>
            <a:rect l="0" t="0" r="0" b="0"/>
            <a:pathLst>
              <a:path w="609600" h="609600">
                <a:moveTo>
                  <a:pt x="209550" y="238125"/>
                </a:moveTo>
                <a:lnTo>
                  <a:pt x="409575" y="238125"/>
                </a:lnTo>
                <a:moveTo>
                  <a:pt x="209550" y="333375"/>
                </a:moveTo>
                <a:lnTo>
                  <a:pt x="409575" y="333375"/>
                </a:lnTo>
                <a:moveTo>
                  <a:pt x="209550" y="428625"/>
                </a:moveTo>
                <a:lnTo>
                  <a:pt x="361950" y="428625"/>
                </a:lnTo>
              </a:path>
            </a:pathLst>
          </a:custGeom>
          <a:noFill/>
          <a:ln w="16686" cap="rnd">
            <a:solidFill>
              <a:srgbClr val="2053C3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统一风格-文字 CFW 策略与运维-41">
            <a:extLst>
              <a:ext uri="{FF2B5EF4-FFF2-40B4-BE49-F238E27FC236}">
                <a16:creationId xmlns:a16="http://schemas.microsoft.com/office/drawing/2014/main" id="{693BE90F-3206-4E7B-80CB-25D926F019DC}"/>
              </a:ext>
            </a:extLst>
          </p:cNvPr>
          <p:cNvSpPr>
            <a:spLocks noGrp="1"/>
          </p:cNvSpPr>
          <p:nvPr/>
        </p:nvSpPr>
        <p:spPr>
          <a:xfrm>
            <a:off x="8915400" y="2295525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35F"/>
                </a:solidFill>
                <a:latin typeface="Microsoft YaHei"/>
                <a:ea typeface="Microsoft YaHei"/>
                <a:cs typeface="Microsoft YaHei"/>
              </a:rPr>
              <a:t>CFW 策略与运维</a:t>
            </a:r>
          </a:p>
        </p:txBody>
      </p:sp>
      <p:sp>
        <p:nvSpPr>
          <p:cNvPr id="42" name="统一风格-分类标题分隔线-42">
            <a:extLst>
              <a:ext uri="{FF2B5EF4-FFF2-40B4-BE49-F238E27FC236}">
                <a16:creationId xmlns:a16="http://schemas.microsoft.com/office/drawing/2014/main" id="{3176954E-897D-4BFA-8521-5FD4149D1556}"/>
              </a:ext>
            </a:extLst>
          </p:cNvPr>
          <p:cNvSpPr>
            <a:spLocks noGrp="1"/>
          </p:cNvSpPr>
          <p:nvPr/>
        </p:nvSpPr>
        <p:spPr>
          <a:xfrm>
            <a:off x="8343900" y="2838450"/>
            <a:ext cx="3048000" cy="0"/>
          </a:xfrm>
          <a:prstGeom prst="line">
            <a:avLst/>
          </a:prstGeom>
          <a:noFill/>
          <a:ln w="7144">
            <a:solidFill>
              <a:srgbClr val="C8D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统一风格-文字 VPC 边界防火墙-43">
            <a:extLst>
              <a:ext uri="{FF2B5EF4-FFF2-40B4-BE49-F238E27FC236}">
                <a16:creationId xmlns:a16="http://schemas.microsoft.com/office/drawing/2014/main" id="{046A3B69-EDB9-47DE-8383-70A022273A3B}"/>
              </a:ext>
            </a:extLst>
          </p:cNvPr>
          <p:cNvSpPr>
            <a:spLocks noGrp="1"/>
          </p:cNvSpPr>
          <p:nvPr/>
        </p:nvSpPr>
        <p:spPr>
          <a:xfrm>
            <a:off x="8343900" y="2952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5"/>
              </a:rPr>
              <a:t>VPC 边界防火墙</a:t>
            </a:r>
          </a:p>
        </p:txBody>
      </p:sp>
      <p:sp>
        <p:nvSpPr>
          <p:cNvPr id="44" name="统一风格-文字 ER 引流配置（新版）-44">
            <a:extLst>
              <a:ext uri="{FF2B5EF4-FFF2-40B4-BE49-F238E27FC236}">
                <a16:creationId xmlns:a16="http://schemas.microsoft.com/office/drawing/2014/main" id="{9B02CCDD-F71C-4F7A-AAB3-900CC0D10B3C}"/>
              </a:ext>
            </a:extLst>
          </p:cNvPr>
          <p:cNvSpPr>
            <a:spLocks noGrp="1"/>
          </p:cNvSpPr>
          <p:nvPr/>
        </p:nvSpPr>
        <p:spPr>
          <a:xfrm>
            <a:off x="8343900" y="3371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6"/>
              </a:rPr>
              <a:t>ER 引流配置（新版）</a:t>
            </a:r>
          </a:p>
        </p:txBody>
      </p:sp>
      <p:sp>
        <p:nvSpPr>
          <p:cNvPr id="45" name="统一风格-文字 访问控制策略概述-45">
            <a:extLst>
              <a:ext uri="{FF2B5EF4-FFF2-40B4-BE49-F238E27FC236}">
                <a16:creationId xmlns:a16="http://schemas.microsoft.com/office/drawing/2014/main" id="{1539E53D-32FE-49D4-BE19-8947E17A4EAF}"/>
              </a:ext>
            </a:extLst>
          </p:cNvPr>
          <p:cNvSpPr>
            <a:spLocks noGrp="1"/>
          </p:cNvSpPr>
          <p:nvPr/>
        </p:nvSpPr>
        <p:spPr>
          <a:xfrm>
            <a:off x="8343900" y="37909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7"/>
              </a:rPr>
              <a:t>访问控制策略概述</a:t>
            </a:r>
          </a:p>
        </p:txBody>
      </p:sp>
      <p:sp>
        <p:nvSpPr>
          <p:cNvPr id="46" name="统一风格-文字 IPS 入侵防御概述-46">
            <a:extLst>
              <a:ext uri="{FF2B5EF4-FFF2-40B4-BE49-F238E27FC236}">
                <a16:creationId xmlns:a16="http://schemas.microsoft.com/office/drawing/2014/main" id="{FDC8EAAC-FFA9-4ACF-B485-CBD8FAC0E0E1}"/>
              </a:ext>
            </a:extLst>
          </p:cNvPr>
          <p:cNvSpPr>
            <a:spLocks noGrp="1"/>
          </p:cNvSpPr>
          <p:nvPr/>
        </p:nvSpPr>
        <p:spPr>
          <a:xfrm>
            <a:off x="8343900" y="4210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8"/>
              </a:rPr>
              <a:t>IPS 入侵防御概述</a:t>
            </a:r>
          </a:p>
        </p:txBody>
      </p:sp>
      <p:sp>
        <p:nvSpPr>
          <p:cNvPr id="47" name="统一风格-文字 日志查询与筛选-47">
            <a:extLst>
              <a:ext uri="{FF2B5EF4-FFF2-40B4-BE49-F238E27FC236}">
                <a16:creationId xmlns:a16="http://schemas.microsoft.com/office/drawing/2014/main" id="{7099A201-9403-4CC4-92D9-FF6CDE92E4CB}"/>
              </a:ext>
            </a:extLst>
          </p:cNvPr>
          <p:cNvSpPr>
            <a:spLocks noGrp="1"/>
          </p:cNvSpPr>
          <p:nvPr/>
        </p:nvSpPr>
        <p:spPr>
          <a:xfrm>
            <a:off x="8343900" y="46291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19"/>
              </a:rPr>
              <a:t>日志查询与筛选</a:t>
            </a:r>
          </a:p>
        </p:txBody>
      </p:sp>
      <p:sp>
        <p:nvSpPr>
          <p:cNvPr id="48" name="统一风格-文字 常见故障排查索引-48">
            <a:extLst>
              <a:ext uri="{FF2B5EF4-FFF2-40B4-BE49-F238E27FC236}">
                <a16:creationId xmlns:a16="http://schemas.microsoft.com/office/drawing/2014/main" id="{C7ED2092-8BC3-4E5C-9F28-106BE828B968}"/>
              </a:ext>
            </a:extLst>
          </p:cNvPr>
          <p:cNvSpPr>
            <a:spLocks noGrp="1"/>
          </p:cNvSpPr>
          <p:nvPr/>
        </p:nvSpPr>
        <p:spPr>
          <a:xfrm>
            <a:off x="8343900" y="5048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sng">
                <a:solidFill>
                  <a:srgbClr val="002FA7"/>
                </a:solidFill>
                <a:latin typeface="Microsoft YaHei"/>
                <a:ea typeface="Microsoft YaHei"/>
                <a:cs typeface="Microsoft YaHei"/>
                <a:hlinkClick r:id="rId20"/>
              </a:rPr>
              <a:t>常见故障排查索引</a:t>
            </a:r>
          </a:p>
        </p:txBody>
      </p:sp>
      <p:sp>
        <p:nvSpPr>
          <p:cNvPr id="49" name="统一风格-页脚分隔线-49">
            <a:extLst>
              <a:ext uri="{FF2B5EF4-FFF2-40B4-BE49-F238E27FC236}">
                <a16:creationId xmlns:a16="http://schemas.microsoft.com/office/drawing/2014/main" id="{16B424BA-3727-489C-8D10-CE2D6BDA727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0972800" cy="0"/>
          </a:xfrm>
          <a:prstGeom prst="line">
            <a:avLst/>
          </a:prstGeom>
          <a:noFill/>
          <a:ln w="6668">
            <a:solidFill>
              <a:srgbClr val="E3EB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统一风格-文字 配置能力、区域支持与产品版本以当前官方文档及控制台为准，管理流程按企业制度执行。-50">
            <a:extLst>
              <a:ext uri="{FF2B5EF4-FFF2-40B4-BE49-F238E27FC236}">
                <a16:creationId xmlns:a16="http://schemas.microsoft.com/office/drawing/2014/main" id="{337D2AEE-9F68-4133-9661-C2887C30A88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配置能力、区域支持与产品版本以当前官方文档及控制台为准，管理流程按企业制度执行。</a:t>
            </a:r>
          </a:p>
        </p:txBody>
      </p:sp>
      <p:sp>
        <p:nvSpPr>
          <p:cNvPr id="51" name="统一风格-文字 83-51">
            <a:extLst>
              <a:ext uri="{FF2B5EF4-FFF2-40B4-BE49-F238E27FC236}">
                <a16:creationId xmlns:a16="http://schemas.microsoft.com/office/drawing/2014/main" id="{5C394EDD-B997-4430-954E-E8F2863E63F1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B9C"/>
                </a:solidFill>
                <a:latin typeface="Microsoft YaHei"/>
                <a:ea typeface="Microsoft YaHei"/>
                <a:cs typeface="Microsoft YaHe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42529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52400" dist="47625" dir="5400000">
              <a:srgbClr val="173E86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12615</Words>
  <Application>Microsoft Macintosh PowerPoint</Application>
  <DocSecurity>0</DocSecurity>
  <PresentationFormat>Widescreen</PresentationFormat>
  <Paragraphs>2643</Paragraphs>
  <Slides>84</Slides>
  <Notes>84</Notes>
  <HiddenSlides>12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6" baseType="lpstr">
      <vt:lpstr>Microsoft YaHei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华为云 VPC 与 CFW 使用规范</dc:title>
  <dc:creator>Walnut Exporter</dc:creator>
  <cp:lastModifiedBy>废物 雷</cp:lastModifiedBy>
  <cp:revision>56</cp:revision>
  <dcterms:created xsi:type="dcterms:W3CDTF">2026-10-17T12:02:13Z</dcterms:created>
  <dcterms:modified xsi:type="dcterms:W3CDTF">2026-10-18T12:38:52Z</dcterms:modified>
</cp:coreProperties>
</file>